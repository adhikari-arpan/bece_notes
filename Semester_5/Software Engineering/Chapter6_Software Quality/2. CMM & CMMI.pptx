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0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9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3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2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89A3B-4674-4286-8BA3-74D2FF5EAFA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72738-9E11-44C4-ABED-9F58606BF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8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Capability Maturity Model(</a:t>
            </a:r>
            <a:r>
              <a:rPr lang="en-US" dirty="0" err="1"/>
              <a:t>CMM</a:t>
            </a:r>
            <a:r>
              <a:rPr lang="en-US" dirty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intent of the maturity model is to provide an overall indication of the </a:t>
            </a:r>
            <a:r>
              <a:rPr lang="en-US" b="1" dirty="0"/>
              <a:t>“process maturity” exhibited by a software organization</a:t>
            </a:r>
            <a:r>
              <a:rPr lang="en-US" dirty="0"/>
              <a:t>.</a:t>
            </a:r>
          </a:p>
          <a:p>
            <a:r>
              <a:rPr lang="en-US" dirty="0"/>
              <a:t> That is, an indication of the </a:t>
            </a:r>
            <a:r>
              <a:rPr lang="en-US" b="1" dirty="0"/>
              <a:t>quality of the software process</a:t>
            </a:r>
            <a:r>
              <a:rPr lang="en-US" dirty="0"/>
              <a:t>, </a:t>
            </a:r>
            <a:r>
              <a:rPr lang="en-US" b="1" dirty="0"/>
              <a:t>the degree to which practitioner’s understand and apply the process</a:t>
            </a:r>
            <a:r>
              <a:rPr lang="en-US" dirty="0"/>
              <a:t>, and </a:t>
            </a:r>
            <a:r>
              <a:rPr lang="en-US" b="1" dirty="0"/>
              <a:t>the general state of software engineering practice</a:t>
            </a:r>
          </a:p>
        </p:txBody>
      </p:sp>
    </p:spTree>
    <p:extLst>
      <p:ext uri="{BB962C8B-B14F-4D97-AF65-F5344CB8AC3E}">
        <p14:creationId xmlns:p14="http://schemas.microsoft.com/office/powerpoint/2010/main" val="141768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Capability Maturity Model  suggests five levels of maturity </a:t>
            </a:r>
          </a:p>
          <a:p>
            <a:pPr marL="0" indent="0">
              <a:buNone/>
            </a:pPr>
            <a:r>
              <a:rPr lang="en-US" b="1" dirty="0"/>
              <a:t>    Level 1, Initial</a:t>
            </a:r>
          </a:p>
          <a:p>
            <a:endParaRPr lang="en-US" dirty="0"/>
          </a:p>
          <a:p>
            <a:r>
              <a:rPr lang="en-US" b="1" dirty="0"/>
              <a:t>Processes are disorganized, ad hoc and even chaotic.</a:t>
            </a:r>
          </a:p>
          <a:p>
            <a:r>
              <a:rPr lang="en-US" dirty="0"/>
              <a:t> Success likely depends on individual efforts and is not considered to be repeatable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138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    Level 2, Repeatable</a:t>
            </a:r>
            <a:endParaRPr lang="en-US" dirty="0"/>
          </a:p>
          <a:p>
            <a:r>
              <a:rPr lang="en-US" dirty="0"/>
              <a:t> Requisite processes are established, defined and documented. </a:t>
            </a:r>
          </a:p>
          <a:p>
            <a:r>
              <a:rPr lang="en-US" dirty="0"/>
              <a:t>Basic project management processes are established to track cost, schedule, and functionality. </a:t>
            </a:r>
          </a:p>
          <a:p>
            <a:r>
              <a:rPr lang="en-US" dirty="0"/>
              <a:t> requisite processes are established, defined and documented Planning and managing new products is based on experience with similar projects</a:t>
            </a:r>
          </a:p>
        </p:txBody>
      </p:sp>
    </p:spTree>
    <p:extLst>
      <p:ext uri="{BB962C8B-B14F-4D97-AF65-F5344CB8AC3E}">
        <p14:creationId xmlns:p14="http://schemas.microsoft.com/office/powerpoint/2010/main" val="236516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Level 3, Defined</a:t>
            </a:r>
          </a:p>
          <a:p>
            <a:r>
              <a:rPr lang="en-US" dirty="0"/>
              <a:t>An organization develops its own standard software development process.</a:t>
            </a:r>
          </a:p>
          <a:p>
            <a:r>
              <a:rPr lang="en-US" dirty="0"/>
              <a:t> These defined processes enable greater attention to documentation, standardization and integration.</a:t>
            </a:r>
          </a:p>
          <a:p>
            <a:r>
              <a:rPr lang="en-US" dirty="0"/>
              <a:t>All projects use an approved, tailored version of the organization’s standard software process for developing software.</a:t>
            </a:r>
          </a:p>
        </p:txBody>
      </p:sp>
    </p:spTree>
    <p:extLst>
      <p:ext uri="{BB962C8B-B14F-4D97-AF65-F5344CB8AC3E}">
        <p14:creationId xmlns:p14="http://schemas.microsoft.com/office/powerpoint/2010/main" val="39839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Level 4, Managed</a:t>
            </a:r>
          </a:p>
          <a:p>
            <a:r>
              <a:rPr lang="en-US" dirty="0"/>
              <a:t>At the managed level, an organization monitors and controls its own processes through data collection and analysis.</a:t>
            </a:r>
          </a:p>
          <a:p>
            <a:r>
              <a:rPr lang="en-US" dirty="0"/>
              <a:t>Meaningful variations in process performance can be distinguished from random noise, and trends in process and product qualities can be predicted.</a:t>
            </a:r>
          </a:p>
        </p:txBody>
      </p:sp>
    </p:spTree>
    <p:extLst>
      <p:ext uri="{BB962C8B-B14F-4D97-AF65-F5344CB8AC3E}">
        <p14:creationId xmlns:p14="http://schemas.microsoft.com/office/powerpoint/2010/main" val="39144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Level 5</a:t>
            </a:r>
            <a:r>
              <a:rPr lang="en-US" b="1"/>
              <a:t>, Optimized</a:t>
            </a:r>
            <a:endParaRPr lang="en-US" dirty="0"/>
          </a:p>
          <a:p>
            <a:r>
              <a:rPr lang="en-US" dirty="0"/>
              <a:t> Processes are constantly improved through  processes are constantly improved through monitoring feedback from processes and introducing innovative processes and functionality.</a:t>
            </a:r>
          </a:p>
          <a:p>
            <a:r>
              <a:rPr lang="en-US" dirty="0"/>
              <a:t>The organization has quantitative feedback systems in place to identify process weaknesses and strengthen them pro-actively.</a:t>
            </a:r>
          </a:p>
          <a:p>
            <a:r>
              <a:rPr lang="en-US" dirty="0"/>
              <a:t> Project teams analyze defects to determine their causes; software processes are evaluated and updated to prevent known types of defects from recurring.</a:t>
            </a:r>
          </a:p>
        </p:txBody>
      </p:sp>
    </p:spTree>
    <p:extLst>
      <p:ext uri="{BB962C8B-B14F-4D97-AF65-F5344CB8AC3E}">
        <p14:creationId xmlns:p14="http://schemas.microsoft.com/office/powerpoint/2010/main" val="388510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1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7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31AD-1D01-52C0-0C7C-0D8C7B99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0"/>
            <a:ext cx="8229600" cy="1143000"/>
          </a:xfrm>
        </p:spPr>
        <p:txBody>
          <a:bodyPr/>
          <a:lstStyle/>
          <a:p>
            <a:r>
              <a:rPr lang="en-US" dirty="0"/>
              <a:t>CMMI</a:t>
            </a:r>
          </a:p>
        </p:txBody>
      </p:sp>
    </p:spTree>
    <p:extLst>
      <p:ext uri="{BB962C8B-B14F-4D97-AF65-F5344CB8AC3E}">
        <p14:creationId xmlns:p14="http://schemas.microsoft.com/office/powerpoint/2010/main" val="4130432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Capability Maturity Model Integration (</a:t>
            </a:r>
            <a:r>
              <a:rPr lang="en-US" b="1" dirty="0" err="1"/>
              <a:t>CMMI</a:t>
            </a:r>
            <a:r>
              <a:rPr lang="en-US" b="1" dirty="0"/>
              <a:t>)</a:t>
            </a:r>
            <a:r>
              <a:rPr lang="en-US" dirty="0"/>
              <a:t> is an advanced framework.</a:t>
            </a:r>
          </a:p>
          <a:p>
            <a:r>
              <a:rPr lang="en-US" dirty="0" err="1"/>
              <a:t>CMMI</a:t>
            </a:r>
            <a:r>
              <a:rPr lang="en-US" dirty="0"/>
              <a:t> designed to improve processes across various disciplines such as software engineering, systems engineering, and people management.</a:t>
            </a:r>
          </a:p>
          <a:p>
            <a:r>
              <a:rPr lang="en-US" dirty="0"/>
              <a:t>Capability Maturity Model Integration (</a:t>
            </a:r>
            <a:r>
              <a:rPr lang="en-US" dirty="0" err="1"/>
              <a:t>CMMI</a:t>
            </a:r>
            <a:r>
              <a:rPr lang="en-US" dirty="0"/>
              <a:t>) is a successor of </a:t>
            </a:r>
            <a:r>
              <a:rPr lang="en-US" u="sng" dirty="0" err="1"/>
              <a:t>CMM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48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Maturity level 1 : Initial</a:t>
            </a:r>
            <a:endParaRPr lang="en-US" dirty="0"/>
          </a:p>
          <a:p>
            <a:pPr lvl="1" fontAlgn="base"/>
            <a:r>
              <a:rPr lang="en-US" dirty="0"/>
              <a:t>processes are poorly managed or controlled.</a:t>
            </a:r>
          </a:p>
          <a:p>
            <a:pPr lvl="1" fontAlgn="base"/>
            <a:r>
              <a:rPr lang="en-US" dirty="0"/>
              <a:t>unpredictable outcomes of processes involved.</a:t>
            </a:r>
          </a:p>
          <a:p>
            <a:pPr lvl="1" fontAlgn="base"/>
            <a:r>
              <a:rPr lang="en-US" dirty="0"/>
              <a:t>Lowest quality and highest risk.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8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Maturity level 2 : Managed</a:t>
            </a:r>
          </a:p>
          <a:p>
            <a:pPr fontAlgn="base"/>
            <a:r>
              <a:rPr lang="en-US" b="1" dirty="0"/>
              <a:t>requirements are managed.</a:t>
            </a:r>
          </a:p>
          <a:p>
            <a:pPr fontAlgn="base"/>
            <a:r>
              <a:rPr lang="en-US" b="1" dirty="0"/>
              <a:t>processes are planned and controlled.</a:t>
            </a:r>
          </a:p>
          <a:p>
            <a:pPr fontAlgn="base"/>
            <a:r>
              <a:rPr lang="en-US" b="1" dirty="0"/>
              <a:t>Quality is better than Initial level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6604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Maturity level 3 : Defined</a:t>
            </a:r>
            <a:endParaRPr lang="en-US" dirty="0"/>
          </a:p>
          <a:p>
            <a:pPr lvl="1" fontAlgn="base"/>
            <a:r>
              <a:rPr lang="en-US" dirty="0"/>
              <a:t>processes are well characterized and described using standards, proper procedures, and methods, tools, etc.</a:t>
            </a:r>
          </a:p>
          <a:p>
            <a:pPr lvl="1" fontAlgn="base"/>
            <a:r>
              <a:rPr lang="en-US" dirty="0"/>
              <a:t>Medium quality and medium risk involved.</a:t>
            </a:r>
          </a:p>
          <a:p>
            <a:pPr lvl="1" fontAlgn="base"/>
            <a:r>
              <a:rPr lang="en-US" dirty="0"/>
              <a:t>Focus is process standardization.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924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Maturity level 4 : Quantitatively managed</a:t>
            </a:r>
            <a:endParaRPr lang="en-US" dirty="0"/>
          </a:p>
          <a:p>
            <a:pPr lvl="1" fontAlgn="base"/>
            <a:r>
              <a:rPr lang="en-US" dirty="0"/>
              <a:t>Organizations control their processes using statistical and other quantitative techniques. </a:t>
            </a:r>
          </a:p>
          <a:p>
            <a:pPr lvl="1" fontAlgn="base"/>
            <a:r>
              <a:rPr lang="en-US" dirty="0"/>
              <a:t> Organizations collect data on their processes and use it to manage and improve performance.</a:t>
            </a:r>
          </a:p>
          <a:p>
            <a:pPr lvl="1" fontAlgn="base"/>
            <a:r>
              <a:rPr lang="en-US" dirty="0"/>
              <a:t>higher quality of processes is achieved.</a:t>
            </a:r>
          </a:p>
          <a:p>
            <a:pPr lvl="1" fontAlgn="base"/>
            <a:r>
              <a:rPr lang="en-US" dirty="0"/>
              <a:t>lower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988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Maturity level 5 : Optimizing</a:t>
            </a:r>
          </a:p>
          <a:p>
            <a:pPr fontAlgn="base"/>
            <a:r>
              <a:rPr lang="en-US" dirty="0"/>
              <a:t>continuous improvement in processes and their performance.</a:t>
            </a:r>
          </a:p>
          <a:p>
            <a:pPr fontAlgn="base"/>
            <a:r>
              <a:rPr lang="en-US" dirty="0"/>
              <a:t>The organization focuses on  improvement through quantitative feedback</a:t>
            </a:r>
          </a:p>
          <a:p>
            <a:pPr fontAlgn="base"/>
            <a:r>
              <a:rPr lang="en-US" dirty="0"/>
              <a:t>highest quality of processes.</a:t>
            </a:r>
          </a:p>
          <a:p>
            <a:pPr fontAlgn="base"/>
            <a:r>
              <a:rPr lang="en-US" dirty="0"/>
              <a:t>lowest risk in processes and their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8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517</Words>
  <Application>Microsoft Office PowerPoint</Application>
  <PresentationFormat>On-screen Show (4:3)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Capability Maturity Model(CMM)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CMMI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Maturity Model(CMMM)</dc:title>
  <dc:creator>Nirdosh</dc:creator>
  <cp:lastModifiedBy>Arpan Adhikari</cp:lastModifiedBy>
  <cp:revision>10</cp:revision>
  <dcterms:created xsi:type="dcterms:W3CDTF">2023-12-19T15:17:30Z</dcterms:created>
  <dcterms:modified xsi:type="dcterms:W3CDTF">2026-02-28T09:14:43Z</dcterms:modified>
</cp:coreProperties>
</file>