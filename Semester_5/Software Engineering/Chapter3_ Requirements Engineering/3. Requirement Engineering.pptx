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9" r:id="rId3"/>
    <p:sldId id="280" r:id="rId4"/>
    <p:sldId id="258" r:id="rId5"/>
    <p:sldId id="259" r:id="rId6"/>
    <p:sldId id="260" r:id="rId7"/>
    <p:sldId id="261" r:id="rId8"/>
    <p:sldId id="262" r:id="rId9"/>
    <p:sldId id="263" r:id="rId10"/>
    <p:sldId id="264" r:id="rId11"/>
    <p:sldId id="265" r:id="rId12"/>
    <p:sldId id="266" r:id="rId13"/>
    <p:sldId id="267" r:id="rId14"/>
    <p:sldId id="268" r:id="rId15"/>
    <p:sldId id="269" r:id="rId16"/>
    <p:sldId id="284" r:id="rId17"/>
    <p:sldId id="285" r:id="rId18"/>
    <p:sldId id="286" r:id="rId19"/>
    <p:sldId id="281" r:id="rId20"/>
    <p:sldId id="282" r:id="rId21"/>
    <p:sldId id="283" r:id="rId22"/>
    <p:sldId id="287" r:id="rId23"/>
    <p:sldId id="288" r:id="rId24"/>
    <p:sldId id="289" r:id="rId25"/>
    <p:sldId id="270" r:id="rId26"/>
    <p:sldId id="271" r:id="rId27"/>
    <p:sldId id="272" r:id="rId28"/>
    <p:sldId id="273" r:id="rId29"/>
    <p:sldId id="274" r:id="rId30"/>
    <p:sldId id="276" r:id="rId31"/>
    <p:sldId id="275" r:id="rId32"/>
    <p:sldId id="277" r:id="rId33"/>
    <p:sldId id="278"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6E91826-CBE4-493E-B4F2-396A99E74FA0}"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1462572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E91826-CBE4-493E-B4F2-396A99E74FA0}"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1779375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E91826-CBE4-493E-B4F2-396A99E74FA0}"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3813418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6E91826-CBE4-493E-B4F2-396A99E74FA0}"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368182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6E91826-CBE4-493E-B4F2-396A99E74FA0}" type="datetimeFigureOut">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4053938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6E91826-CBE4-493E-B4F2-396A99E74FA0}" type="datetimeFigureOut">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1222005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91826-CBE4-493E-B4F2-396A99E74FA0}" type="datetimeFigureOut">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362235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91826-CBE4-493E-B4F2-396A99E74FA0}"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1697351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91826-CBE4-493E-B4F2-396A99E74FA0}" type="datetimeFigureOut">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1493238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E91826-CBE4-493E-B4F2-396A99E74FA0}"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1984257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E91826-CBE4-493E-B4F2-396A99E74FA0}" type="datetimeFigureOut">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2F95C16-AEF6-4007-93D6-3A2FAC4CA9D6}" type="slidenum">
              <a:rPr lang="en-US" smtClean="0"/>
              <a:t>‹#›</a:t>
            </a:fld>
            <a:endParaRPr lang="en-US"/>
          </a:p>
        </p:txBody>
      </p:sp>
    </p:spTree>
    <p:extLst>
      <p:ext uri="{BB962C8B-B14F-4D97-AF65-F5344CB8AC3E}">
        <p14:creationId xmlns:p14="http://schemas.microsoft.com/office/powerpoint/2010/main" val="3253678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91826-CBE4-493E-B4F2-396A99E74FA0}" type="datetimeFigureOut">
              <a:rPr lang="en-US" smtClean="0"/>
              <a:t>2/12/2025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F95C16-AEF6-4007-93D6-3A2FAC4CA9D6}" type="slidenum">
              <a:rPr lang="en-US" smtClean="0"/>
              <a:t>‹#›</a:t>
            </a:fld>
            <a:endParaRPr lang="en-US"/>
          </a:p>
        </p:txBody>
      </p:sp>
    </p:spTree>
    <p:extLst>
      <p:ext uri="{BB962C8B-B14F-4D97-AF65-F5344CB8AC3E}">
        <p14:creationId xmlns:p14="http://schemas.microsoft.com/office/powerpoint/2010/main" val="33345630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Chapter 3 </a:t>
            </a:r>
            <a:endParaRPr lang="en-US"/>
          </a:p>
        </p:txBody>
      </p:sp>
      <p:sp>
        <p:nvSpPr>
          <p:cNvPr id="5" name="Content Placeholder 4"/>
          <p:cNvSpPr>
            <a:spLocks noGrp="1"/>
          </p:cNvSpPr>
          <p:nvPr>
            <p:ph idx="1"/>
          </p:nvPr>
        </p:nvSpPr>
        <p:spPr/>
        <p:txBody>
          <a:bodyPr/>
          <a:lstStyle/>
          <a:p>
            <a:r>
              <a:rPr lang="en-US" b="1" dirty="0"/>
              <a:t>Requirements Engineering and Principles	</a:t>
            </a:r>
            <a:endParaRPr lang="en-US" dirty="0"/>
          </a:p>
        </p:txBody>
      </p:sp>
    </p:spTree>
    <p:extLst>
      <p:ext uri="{BB962C8B-B14F-4D97-AF65-F5344CB8AC3E}">
        <p14:creationId xmlns:p14="http://schemas.microsoft.com/office/powerpoint/2010/main" val="7521849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Principles </a:t>
            </a:r>
            <a:endParaRPr lang="en-US" b="1"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err="1" smtClean="0"/>
              <a:t>1.The</a:t>
            </a:r>
            <a:r>
              <a:rPr lang="en-US" dirty="0" smtClean="0"/>
              <a:t> </a:t>
            </a:r>
            <a:r>
              <a:rPr lang="en-US" dirty="0"/>
              <a:t>information domain of a problem must be represented and understood. </a:t>
            </a:r>
            <a:endParaRPr lang="en-US" dirty="0" smtClean="0"/>
          </a:p>
          <a:p>
            <a:pPr marL="0" indent="0">
              <a:buNone/>
            </a:pPr>
            <a:r>
              <a:rPr lang="en-US" dirty="0" err="1" smtClean="0"/>
              <a:t>2.The</a:t>
            </a:r>
            <a:r>
              <a:rPr lang="en-US" dirty="0" smtClean="0"/>
              <a:t> </a:t>
            </a:r>
            <a:r>
              <a:rPr lang="en-US" dirty="0"/>
              <a:t>function that the software is to be perform must be defined. </a:t>
            </a:r>
            <a:endParaRPr lang="en-US" dirty="0" smtClean="0"/>
          </a:p>
          <a:p>
            <a:pPr marL="0" indent="0">
              <a:buNone/>
            </a:pPr>
            <a:r>
              <a:rPr lang="en-US" dirty="0" smtClean="0"/>
              <a:t>3</a:t>
            </a:r>
            <a:r>
              <a:rPr lang="en-US" dirty="0"/>
              <a:t>. The behavior of the software must be represented </a:t>
            </a:r>
            <a:endParaRPr lang="en-US" dirty="0" smtClean="0"/>
          </a:p>
          <a:p>
            <a:pPr marL="0" indent="0">
              <a:buNone/>
            </a:pPr>
            <a:r>
              <a:rPr lang="en-US" dirty="0" smtClean="0"/>
              <a:t>4</a:t>
            </a:r>
            <a:r>
              <a:rPr lang="en-US" dirty="0"/>
              <a:t>. The model that depict information, function, and behavior must be partitioned in hierarchical fashion 5. The analysis process should move from essential information toward implementation details </a:t>
            </a:r>
          </a:p>
        </p:txBody>
      </p:sp>
    </p:spTree>
    <p:extLst>
      <p:ext uri="{BB962C8B-B14F-4D97-AF65-F5344CB8AC3E}">
        <p14:creationId xmlns:p14="http://schemas.microsoft.com/office/powerpoint/2010/main" val="270690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Principles</a:t>
            </a:r>
            <a:endParaRPr lang="en-US" b="1" dirty="0"/>
          </a:p>
        </p:txBody>
      </p:sp>
      <p:sp>
        <p:nvSpPr>
          <p:cNvPr id="3" name="Content Placeholder 2"/>
          <p:cNvSpPr>
            <a:spLocks noGrp="1"/>
          </p:cNvSpPr>
          <p:nvPr>
            <p:ph idx="1"/>
          </p:nvPr>
        </p:nvSpPr>
        <p:spPr/>
        <p:txBody>
          <a:bodyPr>
            <a:normAutofit lnSpcReduction="10000"/>
          </a:bodyPr>
          <a:lstStyle/>
          <a:p>
            <a:r>
              <a:rPr lang="en-US" dirty="0"/>
              <a:t>By applying these principles, the analysis principles, the analyst approaches a problem systematically </a:t>
            </a:r>
            <a:r>
              <a:rPr lang="en-US" dirty="0" smtClean="0"/>
              <a:t>.</a:t>
            </a:r>
          </a:p>
          <a:p>
            <a:pPr marL="0" indent="0">
              <a:buNone/>
            </a:pPr>
            <a:r>
              <a:rPr lang="en-US" dirty="0"/>
              <a:t> </a:t>
            </a:r>
            <a:r>
              <a:rPr lang="en-US" dirty="0" smtClean="0"/>
              <a:t>• </a:t>
            </a:r>
            <a:r>
              <a:rPr lang="en-US" dirty="0"/>
              <a:t>Information domain is examined so that the function may be understood more completely </a:t>
            </a:r>
            <a:endParaRPr lang="en-US" dirty="0" smtClean="0"/>
          </a:p>
          <a:p>
            <a:pPr marL="0" indent="0">
              <a:buNone/>
            </a:pPr>
            <a:r>
              <a:rPr lang="en-US" dirty="0" smtClean="0"/>
              <a:t>• </a:t>
            </a:r>
            <a:r>
              <a:rPr lang="en-US" dirty="0"/>
              <a:t>Models are used so that the characteristics of function and behavior can be communicated in a compact fashion</a:t>
            </a:r>
            <a:r>
              <a:rPr lang="en-US" dirty="0" smtClean="0"/>
              <a:t>.</a:t>
            </a:r>
          </a:p>
          <a:p>
            <a:pPr marL="0" indent="0">
              <a:buNone/>
            </a:pPr>
            <a:r>
              <a:rPr lang="en-US" dirty="0" smtClean="0"/>
              <a:t> </a:t>
            </a:r>
            <a:r>
              <a:rPr lang="en-US" dirty="0"/>
              <a:t>• Partitioning is applied to reduce complexity</a:t>
            </a:r>
          </a:p>
        </p:txBody>
      </p:sp>
    </p:spTree>
    <p:extLst>
      <p:ext uri="{BB962C8B-B14F-4D97-AF65-F5344CB8AC3E}">
        <p14:creationId xmlns:p14="http://schemas.microsoft.com/office/powerpoint/2010/main" val="3517152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Analysis Principles </a:t>
            </a:r>
            <a:endParaRPr lang="en-US" b="1" dirty="0"/>
          </a:p>
        </p:txBody>
      </p:sp>
      <p:sp>
        <p:nvSpPr>
          <p:cNvPr id="3" name="Content Placeholder 2"/>
          <p:cNvSpPr>
            <a:spLocks noGrp="1"/>
          </p:cNvSpPr>
          <p:nvPr>
            <p:ph idx="1"/>
          </p:nvPr>
        </p:nvSpPr>
        <p:spPr/>
        <p:txBody>
          <a:bodyPr>
            <a:normAutofit/>
          </a:bodyPr>
          <a:lstStyle/>
          <a:p>
            <a:r>
              <a:rPr lang="en-US" dirty="0" smtClean="0"/>
              <a:t>The requirements for a system are the descriptions of what the system should do, the services that it provides and the constraints on its operation. </a:t>
            </a:r>
          </a:p>
          <a:p>
            <a:r>
              <a:rPr lang="en-US" dirty="0" smtClean="0"/>
              <a:t>These requirements reflect the needs of customers for a system that serves a certain purpose such as con trolling a device, placing an order, or finding information. </a:t>
            </a:r>
            <a:endParaRPr lang="en-US" dirty="0"/>
          </a:p>
        </p:txBody>
      </p:sp>
    </p:spTree>
    <p:extLst>
      <p:ext uri="{BB962C8B-B14F-4D97-AF65-F5344CB8AC3E}">
        <p14:creationId xmlns:p14="http://schemas.microsoft.com/office/powerpoint/2010/main" val="4726822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Requirement Engineering </a:t>
            </a:r>
            <a:endParaRPr lang="en-US" b="1" dirty="0"/>
          </a:p>
        </p:txBody>
      </p:sp>
      <p:sp>
        <p:nvSpPr>
          <p:cNvPr id="3" name="Content Placeholder 2"/>
          <p:cNvSpPr>
            <a:spLocks noGrp="1"/>
          </p:cNvSpPr>
          <p:nvPr>
            <p:ph idx="1"/>
          </p:nvPr>
        </p:nvSpPr>
        <p:spPr/>
        <p:txBody>
          <a:bodyPr/>
          <a:lstStyle/>
          <a:p>
            <a:r>
              <a:rPr lang="en-US" dirty="0" smtClean="0"/>
              <a:t>The process of finding out, analyzing, documenting and checking these services and constraints is called requirements engineering (RE).</a:t>
            </a:r>
          </a:p>
          <a:p>
            <a:endParaRPr lang="en-US" dirty="0"/>
          </a:p>
        </p:txBody>
      </p:sp>
    </p:spTree>
    <p:extLst>
      <p:ext uri="{BB962C8B-B14F-4D97-AF65-F5344CB8AC3E}">
        <p14:creationId xmlns:p14="http://schemas.microsoft.com/office/powerpoint/2010/main" val="828374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Requirement Engineering </a:t>
            </a:r>
            <a:endParaRPr lang="en-US" b="1" dirty="0"/>
          </a:p>
        </p:txBody>
      </p:sp>
      <p:sp>
        <p:nvSpPr>
          <p:cNvPr id="3" name="Content Placeholder 2"/>
          <p:cNvSpPr>
            <a:spLocks noGrp="1"/>
          </p:cNvSpPr>
          <p:nvPr>
            <p:ph idx="1"/>
          </p:nvPr>
        </p:nvSpPr>
        <p:spPr/>
        <p:txBody>
          <a:bodyPr/>
          <a:lstStyle/>
          <a:p>
            <a:r>
              <a:rPr lang="en-US" dirty="0" smtClean="0"/>
              <a:t>User requirement  - High level of abstraction</a:t>
            </a:r>
          </a:p>
          <a:p>
            <a:r>
              <a:rPr lang="en-US" dirty="0" smtClean="0"/>
              <a:t>System requirement – Detailed description </a:t>
            </a:r>
            <a:endParaRPr lang="en-US" dirty="0"/>
          </a:p>
        </p:txBody>
      </p:sp>
    </p:spTree>
    <p:extLst>
      <p:ext uri="{BB962C8B-B14F-4D97-AF65-F5344CB8AC3E}">
        <p14:creationId xmlns:p14="http://schemas.microsoft.com/office/powerpoint/2010/main" val="31439223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3101737"/>
            <a:ext cx="8229600" cy="152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31913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24451"/>
            <a:ext cx="8229600" cy="4077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87320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Functional Requirement </a:t>
            </a:r>
            <a:endParaRPr lang="en-US" b="1" dirty="0"/>
          </a:p>
        </p:txBody>
      </p:sp>
      <p:sp>
        <p:nvSpPr>
          <p:cNvPr id="3" name="Content Placeholder 2"/>
          <p:cNvSpPr>
            <a:spLocks noGrp="1"/>
          </p:cNvSpPr>
          <p:nvPr>
            <p:ph idx="1"/>
          </p:nvPr>
        </p:nvSpPr>
        <p:spPr/>
        <p:txBody>
          <a:bodyPr>
            <a:normAutofit/>
          </a:bodyPr>
          <a:lstStyle/>
          <a:p>
            <a:r>
              <a:rPr lang="en-US" dirty="0" smtClean="0"/>
              <a:t>The functional requirements for a system describe what the system should do. </a:t>
            </a:r>
          </a:p>
          <a:p>
            <a:r>
              <a:rPr lang="en-US" dirty="0" smtClean="0"/>
              <a:t>These requirements depend on the type of software being developed, the expected users of the software, and the general approach taken by the organization when writing requirements</a:t>
            </a:r>
            <a:endParaRPr lang="en-US" dirty="0"/>
          </a:p>
        </p:txBody>
      </p:sp>
    </p:spTree>
    <p:extLst>
      <p:ext uri="{BB962C8B-B14F-4D97-AF65-F5344CB8AC3E}">
        <p14:creationId xmlns:p14="http://schemas.microsoft.com/office/powerpoint/2010/main" val="40278028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Functional Requirement </a:t>
            </a:r>
            <a:endParaRPr lang="en-US" b="1" dirty="0"/>
          </a:p>
        </p:txBody>
      </p:sp>
      <p:sp>
        <p:nvSpPr>
          <p:cNvPr id="3" name="Content Placeholder 2"/>
          <p:cNvSpPr>
            <a:spLocks noGrp="1"/>
          </p:cNvSpPr>
          <p:nvPr>
            <p:ph idx="1"/>
          </p:nvPr>
        </p:nvSpPr>
        <p:spPr/>
        <p:txBody>
          <a:bodyPr/>
          <a:lstStyle/>
          <a:p>
            <a:r>
              <a:rPr lang="en-US" dirty="0" smtClean="0"/>
              <a:t>When expressed as user requirements, functional requirements are usually described in an abstract way that can be understood by system users.</a:t>
            </a:r>
          </a:p>
          <a:p>
            <a:r>
              <a:rPr lang="en-US" dirty="0" smtClean="0"/>
              <a:t> However, more specific functional system requirements describe the system functions, its inputs and outputs, exceptions, etc., in detail.</a:t>
            </a:r>
          </a:p>
          <a:p>
            <a:endParaRPr lang="en-US" dirty="0"/>
          </a:p>
        </p:txBody>
      </p:sp>
    </p:spTree>
    <p:extLst>
      <p:ext uri="{BB962C8B-B14F-4D97-AF65-F5344CB8AC3E}">
        <p14:creationId xmlns:p14="http://schemas.microsoft.com/office/powerpoint/2010/main" val="11977824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Non Functional Requirement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are requirements that are not directly concerned with the specific services delivered by the system to its users.</a:t>
            </a:r>
          </a:p>
          <a:p>
            <a:r>
              <a:rPr lang="en-US" dirty="0" smtClean="0"/>
              <a:t> They may relate to emergent system properties such as reliability, response time, and store occupancy. </a:t>
            </a:r>
          </a:p>
          <a:p>
            <a:r>
              <a:rPr lang="en-US" dirty="0" smtClean="0"/>
              <a:t>Alternatively, they may define constraints on the system implementation such as the capabilities of I/O devices or the data representations used in inter faces with other systems.</a:t>
            </a:r>
            <a:endParaRPr lang="en-US" dirty="0"/>
          </a:p>
        </p:txBody>
      </p:sp>
    </p:spTree>
    <p:extLst>
      <p:ext uri="{BB962C8B-B14F-4D97-AF65-F5344CB8AC3E}">
        <p14:creationId xmlns:p14="http://schemas.microsoft.com/office/powerpoint/2010/main" val="16653860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Non-functional Requirement </a:t>
            </a:r>
            <a:endParaRPr lang="en-US" b="1" dirty="0"/>
          </a:p>
        </p:txBody>
      </p:sp>
      <p:sp>
        <p:nvSpPr>
          <p:cNvPr id="3" name="Content Placeholder 2"/>
          <p:cNvSpPr>
            <a:spLocks noGrp="1"/>
          </p:cNvSpPr>
          <p:nvPr>
            <p:ph idx="1"/>
          </p:nvPr>
        </p:nvSpPr>
        <p:spPr/>
        <p:txBody>
          <a:bodyPr/>
          <a:lstStyle/>
          <a:p>
            <a:r>
              <a:rPr lang="en-US" dirty="0" smtClean="0"/>
              <a:t>Non-functional requirements, such as performance, security, or availability, usually specify or constrain characteristics of the system as a whole. </a:t>
            </a:r>
          </a:p>
          <a:p>
            <a:r>
              <a:rPr lang="en-US" dirty="0" smtClean="0"/>
              <a:t>Non-functional requirements are often more critical than individual functional requirements. </a:t>
            </a:r>
            <a:endParaRPr lang="en-US" dirty="0"/>
          </a:p>
        </p:txBody>
      </p:sp>
    </p:spTree>
    <p:extLst>
      <p:ext uri="{BB962C8B-B14F-4D97-AF65-F5344CB8AC3E}">
        <p14:creationId xmlns:p14="http://schemas.microsoft.com/office/powerpoint/2010/main" val="33839460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Requirements elicitation and analysis process</a:t>
            </a:r>
            <a:endParaRPr lang="en-US" b="1"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4667" y="1679862"/>
            <a:ext cx="6294665" cy="436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33096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There are two fundamental approach </a:t>
            </a:r>
            <a:endParaRPr lang="en-US" b="1" dirty="0"/>
          </a:p>
        </p:txBody>
      </p:sp>
      <p:sp>
        <p:nvSpPr>
          <p:cNvPr id="3" name="Content Placeholder 2"/>
          <p:cNvSpPr>
            <a:spLocks noGrp="1"/>
          </p:cNvSpPr>
          <p:nvPr>
            <p:ph idx="1"/>
          </p:nvPr>
        </p:nvSpPr>
        <p:spPr/>
        <p:txBody>
          <a:bodyPr/>
          <a:lstStyle/>
          <a:p>
            <a:pPr marL="514350" indent="-514350">
              <a:buAutoNum type="arabicPeriod"/>
            </a:pPr>
            <a:r>
              <a:rPr lang="en-US" b="1" dirty="0" smtClean="0"/>
              <a:t>Interviewing </a:t>
            </a:r>
          </a:p>
          <a:p>
            <a:pPr marL="514350" indent="-514350">
              <a:buAutoNum type="arabicPeriod"/>
            </a:pPr>
            <a:r>
              <a:rPr lang="en-US" b="1" dirty="0" smtClean="0"/>
              <a:t>Observation or ethnography.</a:t>
            </a:r>
            <a:endParaRPr lang="en-US" b="1" dirty="0"/>
          </a:p>
        </p:txBody>
      </p:sp>
    </p:spTree>
    <p:extLst>
      <p:ext uri="{BB962C8B-B14F-4D97-AF65-F5344CB8AC3E}">
        <p14:creationId xmlns:p14="http://schemas.microsoft.com/office/powerpoint/2010/main" val="31253020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dirty="0"/>
              <a:t>F</a:t>
            </a:r>
            <a:r>
              <a:rPr lang="en-US" b="1" dirty="0" smtClean="0"/>
              <a:t>u</a:t>
            </a:r>
            <a:r>
              <a:rPr lang="en-US" b="1" dirty="0" smtClean="0"/>
              <a:t>ndamental </a:t>
            </a:r>
            <a:r>
              <a:rPr lang="en-US" b="1" dirty="0" smtClean="0"/>
              <a:t>approach </a:t>
            </a:r>
            <a:endParaRPr lang="en-US" b="1" dirty="0"/>
          </a:p>
        </p:txBody>
      </p:sp>
      <p:sp>
        <p:nvSpPr>
          <p:cNvPr id="3" name="Content Placeholder 2"/>
          <p:cNvSpPr>
            <a:spLocks noGrp="1"/>
          </p:cNvSpPr>
          <p:nvPr>
            <p:ph idx="1"/>
          </p:nvPr>
        </p:nvSpPr>
        <p:spPr/>
        <p:txBody>
          <a:bodyPr/>
          <a:lstStyle/>
          <a:p>
            <a:pPr marL="514350" indent="-514350">
              <a:buAutoNum type="arabicPeriod"/>
            </a:pPr>
            <a:r>
              <a:rPr lang="en-US" b="1" dirty="0" smtClean="0"/>
              <a:t>Interviewing </a:t>
            </a:r>
          </a:p>
          <a:p>
            <a:pPr marL="514350" indent="-514350">
              <a:buAutoNum type="arabicPeriod"/>
            </a:pPr>
            <a:r>
              <a:rPr lang="en-US" b="1" dirty="0" smtClean="0"/>
              <a:t>Observation or ethnography</a:t>
            </a:r>
            <a:r>
              <a:rPr lang="en-US" b="1" dirty="0" smtClean="0"/>
              <a:t>.</a:t>
            </a:r>
          </a:p>
          <a:p>
            <a:pPr marL="514350" indent="-514350">
              <a:buAutoNum type="arabicPeriod"/>
            </a:pPr>
            <a:r>
              <a:rPr lang="en-US" b="1" dirty="0" smtClean="0"/>
              <a:t>Scenarios </a:t>
            </a:r>
          </a:p>
          <a:p>
            <a:pPr marL="0" indent="0">
              <a:buNone/>
            </a:pPr>
            <a:endParaRPr lang="en-US" b="1" dirty="0"/>
          </a:p>
        </p:txBody>
      </p:sp>
    </p:spTree>
    <p:extLst>
      <p:ext uri="{BB962C8B-B14F-4D97-AF65-F5344CB8AC3E}">
        <p14:creationId xmlns:p14="http://schemas.microsoft.com/office/powerpoint/2010/main" val="19620256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Interview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a:t>Formal or informal interviews with system stakeholders are part of most require </a:t>
            </a:r>
            <a:r>
              <a:rPr lang="en-US" dirty="0" err="1"/>
              <a:t>ments</a:t>
            </a:r>
            <a:r>
              <a:rPr lang="en-US" dirty="0"/>
              <a:t> engineering processes. </a:t>
            </a:r>
            <a:endParaRPr lang="en-US" dirty="0" smtClean="0"/>
          </a:p>
          <a:p>
            <a:r>
              <a:rPr lang="en-US" dirty="0" smtClean="0"/>
              <a:t>In </a:t>
            </a:r>
            <a:r>
              <a:rPr lang="en-US" dirty="0"/>
              <a:t>these interviews, the requirements engineering team puts questions to stakeholders about the system that they currently use and the sys tem to be developed. </a:t>
            </a:r>
            <a:endParaRPr lang="en-US" dirty="0" smtClean="0"/>
          </a:p>
          <a:p>
            <a:r>
              <a:rPr lang="en-US" dirty="0" smtClean="0"/>
              <a:t>Requirements </a:t>
            </a:r>
            <a:r>
              <a:rPr lang="en-US" dirty="0"/>
              <a:t>are derived from the answers to these questions</a:t>
            </a:r>
            <a:r>
              <a:rPr lang="en-US" dirty="0" smtClean="0"/>
              <a:t>.</a:t>
            </a:r>
          </a:p>
          <a:p>
            <a:r>
              <a:rPr lang="en-US" dirty="0" smtClean="0"/>
              <a:t> </a:t>
            </a:r>
            <a:r>
              <a:rPr lang="en-US" dirty="0"/>
              <a:t>Interviews may be of two types</a:t>
            </a:r>
            <a:r>
              <a:rPr lang="en-US" dirty="0" smtClean="0"/>
              <a:t>:</a:t>
            </a:r>
            <a:endParaRPr lang="en-US" dirty="0"/>
          </a:p>
        </p:txBody>
      </p:sp>
    </p:spTree>
    <p:extLst>
      <p:ext uri="{BB962C8B-B14F-4D97-AF65-F5344CB8AC3E}">
        <p14:creationId xmlns:p14="http://schemas.microsoft.com/office/powerpoint/2010/main" val="1409022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AutoNum type="arabicPeriod"/>
            </a:pPr>
            <a:r>
              <a:rPr lang="en-US" b="1" dirty="0" smtClean="0"/>
              <a:t>Closed interviews: </a:t>
            </a:r>
            <a:r>
              <a:rPr lang="en-US" dirty="0"/>
              <a:t>where the stakeholder answers a pre-defined set of questions. </a:t>
            </a:r>
            <a:endParaRPr lang="en-US" dirty="0" smtClean="0"/>
          </a:p>
          <a:p>
            <a:pPr marL="514350" indent="-514350">
              <a:buAutoNum type="arabicPeriod"/>
            </a:pPr>
            <a:r>
              <a:rPr lang="en-US" b="1" dirty="0" smtClean="0"/>
              <a:t> </a:t>
            </a:r>
            <a:r>
              <a:rPr lang="en-US" b="1" dirty="0"/>
              <a:t>Open </a:t>
            </a:r>
            <a:r>
              <a:rPr lang="en-US" b="1" dirty="0" smtClean="0"/>
              <a:t>interviews: </a:t>
            </a:r>
            <a:r>
              <a:rPr lang="en-US" dirty="0"/>
              <a:t>in which there is no pre-defined agenda. The requirements engineering team explores a range of issues with system stakeholders and hence develop a better understanding of their needs</a:t>
            </a:r>
          </a:p>
        </p:txBody>
      </p:sp>
    </p:spTree>
    <p:extLst>
      <p:ext uri="{BB962C8B-B14F-4D97-AF65-F5344CB8AC3E}">
        <p14:creationId xmlns:p14="http://schemas.microsoft.com/office/powerpoint/2010/main" val="1531548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Interviews </a:t>
            </a:r>
            <a:endParaRPr lang="en-US" b="1" dirty="0"/>
          </a:p>
        </p:txBody>
      </p:sp>
      <p:sp>
        <p:nvSpPr>
          <p:cNvPr id="3" name="Content Placeholder 2"/>
          <p:cNvSpPr>
            <a:spLocks noGrp="1"/>
          </p:cNvSpPr>
          <p:nvPr>
            <p:ph idx="1"/>
          </p:nvPr>
        </p:nvSpPr>
        <p:spPr/>
        <p:txBody>
          <a:bodyPr/>
          <a:lstStyle/>
          <a:p>
            <a:r>
              <a:rPr lang="en-US" dirty="0"/>
              <a:t>In practice, interviews with stakeholders are normally a mixture of both of these</a:t>
            </a:r>
            <a:r>
              <a:rPr lang="en-US" dirty="0" smtClean="0"/>
              <a:t>.</a:t>
            </a:r>
          </a:p>
          <a:p>
            <a:r>
              <a:rPr lang="en-US" dirty="0" smtClean="0"/>
              <a:t> </a:t>
            </a:r>
            <a:r>
              <a:rPr lang="en-US" dirty="0"/>
              <a:t>You may have to obtain the answer to certain questions but these usually lead on to other issues that are discussed in a less structured way.</a:t>
            </a:r>
          </a:p>
        </p:txBody>
      </p:sp>
    </p:spTree>
    <p:extLst>
      <p:ext uri="{BB962C8B-B14F-4D97-AF65-F5344CB8AC3E}">
        <p14:creationId xmlns:p14="http://schemas.microsoft.com/office/powerpoint/2010/main" val="1919859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Ethnography</a:t>
            </a:r>
            <a:endParaRPr lang="en-US" dirty="0"/>
          </a:p>
        </p:txBody>
      </p:sp>
      <p:sp>
        <p:nvSpPr>
          <p:cNvPr id="3" name="Content Placeholder 2"/>
          <p:cNvSpPr>
            <a:spLocks noGrp="1"/>
          </p:cNvSpPr>
          <p:nvPr>
            <p:ph idx="1"/>
          </p:nvPr>
        </p:nvSpPr>
        <p:spPr/>
        <p:txBody>
          <a:bodyPr>
            <a:normAutofit fontScale="85000" lnSpcReduction="10000"/>
          </a:bodyPr>
          <a:lstStyle/>
          <a:p>
            <a:r>
              <a:rPr lang="en-US" dirty="0"/>
              <a:t>Software systems do not exist in isolation</a:t>
            </a:r>
            <a:r>
              <a:rPr lang="en-US" dirty="0" smtClean="0"/>
              <a:t>.</a:t>
            </a:r>
          </a:p>
          <a:p>
            <a:r>
              <a:rPr lang="en-US" dirty="0" smtClean="0"/>
              <a:t> </a:t>
            </a:r>
            <a:r>
              <a:rPr lang="en-US" dirty="0"/>
              <a:t>They are used in a social and </a:t>
            </a:r>
            <a:r>
              <a:rPr lang="en-US" dirty="0" smtClean="0"/>
              <a:t>organizational </a:t>
            </a:r>
            <a:r>
              <a:rPr lang="en-US" dirty="0"/>
              <a:t>context and software system requirements may be derived or constrained by that context. </a:t>
            </a:r>
            <a:endParaRPr lang="en-US" dirty="0" smtClean="0"/>
          </a:p>
          <a:p>
            <a:r>
              <a:rPr lang="en-US" dirty="0" smtClean="0"/>
              <a:t>Satisfying </a:t>
            </a:r>
            <a:r>
              <a:rPr lang="en-US" dirty="0"/>
              <a:t>these social and organizational requirements is often critical for the success of the system. </a:t>
            </a:r>
            <a:endParaRPr lang="en-US" dirty="0" smtClean="0"/>
          </a:p>
          <a:p>
            <a:r>
              <a:rPr lang="en-US" dirty="0" smtClean="0"/>
              <a:t>One </a:t>
            </a:r>
            <a:r>
              <a:rPr lang="en-US" dirty="0"/>
              <a:t>reason why many software systems are delivered but never used is that their requirements do not take proper account of how the social and organizational context affects the practical operation of the system.</a:t>
            </a:r>
          </a:p>
        </p:txBody>
      </p:sp>
    </p:spTree>
    <p:extLst>
      <p:ext uri="{BB962C8B-B14F-4D97-AF65-F5344CB8AC3E}">
        <p14:creationId xmlns:p14="http://schemas.microsoft.com/office/powerpoint/2010/main" val="3619132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Ethnography </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Ethnography is an observational technique that can be used to understand </a:t>
            </a:r>
            <a:r>
              <a:rPr lang="en-US" b="1" dirty="0" smtClean="0"/>
              <a:t>operational processes </a:t>
            </a:r>
            <a:r>
              <a:rPr lang="en-US" b="1" dirty="0"/>
              <a:t>and help derive support requirements for these </a:t>
            </a:r>
            <a:r>
              <a:rPr lang="en-US" b="1" dirty="0" smtClean="0"/>
              <a:t>processes</a:t>
            </a:r>
          </a:p>
          <a:p>
            <a:r>
              <a:rPr lang="en-US" b="1" dirty="0" smtClean="0"/>
              <a:t>An analyst </a:t>
            </a:r>
            <a:r>
              <a:rPr lang="en-US" b="1" dirty="0"/>
              <a:t>immerses himself or herself in the working environment where the system will be used. </a:t>
            </a:r>
            <a:endParaRPr lang="en-US" b="1" dirty="0" smtClean="0"/>
          </a:p>
          <a:p>
            <a:r>
              <a:rPr lang="en-US" b="1" dirty="0" smtClean="0"/>
              <a:t>The </a:t>
            </a:r>
            <a:r>
              <a:rPr lang="en-US" b="1" dirty="0"/>
              <a:t>day-to-day work is observed and notes made of the actual tasks in which participants are involved. </a:t>
            </a:r>
            <a:endParaRPr lang="en-US" b="1" dirty="0" smtClean="0"/>
          </a:p>
          <a:p>
            <a:r>
              <a:rPr lang="en-US" b="1" dirty="0" smtClean="0"/>
              <a:t>The </a:t>
            </a:r>
            <a:r>
              <a:rPr lang="en-US" b="1" dirty="0"/>
              <a:t>value of ethnography is that it helps discover implicit system requirements that reflect the actual ways that people work, rather than the formal processes defined by the organization.</a:t>
            </a:r>
          </a:p>
        </p:txBody>
      </p:sp>
    </p:spTree>
    <p:extLst>
      <p:ext uri="{BB962C8B-B14F-4D97-AF65-F5344CB8AC3E}">
        <p14:creationId xmlns:p14="http://schemas.microsoft.com/office/powerpoint/2010/main" val="699769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Ethnography</a:t>
            </a:r>
            <a:endParaRPr lang="en-US" dirty="0"/>
          </a:p>
        </p:txBody>
      </p:sp>
      <p:sp>
        <p:nvSpPr>
          <p:cNvPr id="3" name="Content Placeholder 2"/>
          <p:cNvSpPr>
            <a:spLocks noGrp="1"/>
          </p:cNvSpPr>
          <p:nvPr>
            <p:ph idx="1"/>
          </p:nvPr>
        </p:nvSpPr>
        <p:spPr/>
        <p:txBody>
          <a:bodyPr>
            <a:normAutofit fontScale="77500" lnSpcReduction="20000"/>
          </a:bodyPr>
          <a:lstStyle/>
          <a:p>
            <a:r>
              <a:rPr lang="en-US" dirty="0"/>
              <a:t>People often find it very difficult to articulate details of their work because it is second nature to them</a:t>
            </a:r>
            <a:r>
              <a:rPr lang="en-US" dirty="0" smtClean="0"/>
              <a:t>.</a:t>
            </a:r>
          </a:p>
          <a:p>
            <a:r>
              <a:rPr lang="en-US" dirty="0" smtClean="0"/>
              <a:t> </a:t>
            </a:r>
            <a:r>
              <a:rPr lang="en-US" dirty="0"/>
              <a:t>They understand their own work but may not understand its relationship to other work in the organization</a:t>
            </a:r>
            <a:r>
              <a:rPr lang="en-US" dirty="0" smtClean="0"/>
              <a:t>.</a:t>
            </a:r>
          </a:p>
          <a:p>
            <a:r>
              <a:rPr lang="en-US" dirty="0" smtClean="0"/>
              <a:t> </a:t>
            </a:r>
            <a:r>
              <a:rPr lang="en-US" dirty="0"/>
              <a:t>Social and organizational factors that affect the work, but which are not obvious to individuals, may only become clear when noticed by an unbiased observer. </a:t>
            </a:r>
            <a:endParaRPr lang="en-US" dirty="0" smtClean="0"/>
          </a:p>
          <a:p>
            <a:r>
              <a:rPr lang="en-US" dirty="0" smtClean="0"/>
              <a:t>For </a:t>
            </a:r>
            <a:r>
              <a:rPr lang="en-US" dirty="0"/>
              <a:t>example, a work group may self-organize so that members know of each other’s work and can cover for each other if someone is absent. </a:t>
            </a:r>
            <a:endParaRPr lang="en-US" dirty="0" smtClean="0"/>
          </a:p>
          <a:p>
            <a:r>
              <a:rPr lang="en-US" dirty="0" smtClean="0"/>
              <a:t>This </a:t>
            </a:r>
            <a:r>
              <a:rPr lang="en-US" dirty="0"/>
              <a:t>may not be mentioned during an interview as the group might not see it as an integral part of their work.</a:t>
            </a:r>
          </a:p>
        </p:txBody>
      </p:sp>
    </p:spTree>
    <p:extLst>
      <p:ext uri="{BB962C8B-B14F-4D97-AF65-F5344CB8AC3E}">
        <p14:creationId xmlns:p14="http://schemas.microsoft.com/office/powerpoint/2010/main" val="1867815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Scenarios </a:t>
            </a:r>
            <a:endParaRPr lang="en-US" dirty="0"/>
          </a:p>
        </p:txBody>
      </p:sp>
      <p:sp>
        <p:nvSpPr>
          <p:cNvPr id="3" name="Content Placeholder 2"/>
          <p:cNvSpPr>
            <a:spLocks noGrp="1"/>
          </p:cNvSpPr>
          <p:nvPr>
            <p:ph idx="1"/>
          </p:nvPr>
        </p:nvSpPr>
        <p:spPr/>
        <p:txBody>
          <a:bodyPr>
            <a:normAutofit fontScale="70000" lnSpcReduction="20000"/>
          </a:bodyPr>
          <a:lstStyle/>
          <a:p>
            <a:r>
              <a:rPr lang="en-US" dirty="0"/>
              <a:t>People usually find it easier to relate to real-life examples rather than abstract descriptions. </a:t>
            </a:r>
            <a:endParaRPr lang="en-US" dirty="0" smtClean="0"/>
          </a:p>
          <a:p>
            <a:r>
              <a:rPr lang="en-US" dirty="0" smtClean="0"/>
              <a:t>They </a:t>
            </a:r>
            <a:r>
              <a:rPr lang="en-US" dirty="0"/>
              <a:t>can understand and criticize a scenario of how they might interact with a software system. </a:t>
            </a:r>
            <a:endParaRPr lang="en-US" dirty="0" smtClean="0"/>
          </a:p>
          <a:p>
            <a:r>
              <a:rPr lang="en-US" dirty="0" smtClean="0"/>
              <a:t>Requirements </a:t>
            </a:r>
            <a:r>
              <a:rPr lang="en-US" dirty="0"/>
              <a:t>engineers can use the information gained from this discussion to formulate the actual system requirements</a:t>
            </a:r>
            <a:r>
              <a:rPr lang="en-US" dirty="0" smtClean="0"/>
              <a:t>.</a:t>
            </a:r>
          </a:p>
          <a:p>
            <a:r>
              <a:rPr lang="en-US" dirty="0" smtClean="0"/>
              <a:t> </a:t>
            </a:r>
            <a:r>
              <a:rPr lang="en-US" dirty="0"/>
              <a:t>Scenarios can be particularly useful for adding detail to an outline requirements description. </a:t>
            </a:r>
            <a:endParaRPr lang="en-US" dirty="0" smtClean="0"/>
          </a:p>
          <a:p>
            <a:r>
              <a:rPr lang="en-US" dirty="0" smtClean="0"/>
              <a:t>They </a:t>
            </a:r>
            <a:r>
              <a:rPr lang="en-US" dirty="0"/>
              <a:t>are descriptions of example interaction sessions. </a:t>
            </a:r>
            <a:endParaRPr lang="en-US" dirty="0" smtClean="0"/>
          </a:p>
          <a:p>
            <a:r>
              <a:rPr lang="en-US" dirty="0" smtClean="0"/>
              <a:t>Each </a:t>
            </a:r>
            <a:r>
              <a:rPr lang="en-US" dirty="0"/>
              <a:t>scenario usually covers one or a small number of possible interactions</a:t>
            </a:r>
            <a:r>
              <a:rPr lang="en-US" dirty="0" smtClean="0"/>
              <a:t>.</a:t>
            </a:r>
          </a:p>
          <a:p>
            <a:r>
              <a:rPr lang="en-US" dirty="0"/>
              <a:t> Different forms of scenarios are developed and they provide different types of information at different levels of detail about the system.</a:t>
            </a:r>
          </a:p>
        </p:txBody>
      </p:sp>
    </p:spTree>
    <p:extLst>
      <p:ext uri="{BB962C8B-B14F-4D97-AF65-F5344CB8AC3E}">
        <p14:creationId xmlns:p14="http://schemas.microsoft.com/office/powerpoint/2010/main" val="2649282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 </a:t>
            </a:r>
            <a:endParaRPr lang="en-US" dirty="0"/>
          </a:p>
        </p:txBody>
      </p:sp>
      <p:sp>
        <p:nvSpPr>
          <p:cNvPr id="3" name="Content Placeholder 2"/>
          <p:cNvSpPr>
            <a:spLocks noGrp="1"/>
          </p:cNvSpPr>
          <p:nvPr>
            <p:ph idx="1"/>
          </p:nvPr>
        </p:nvSpPr>
        <p:spPr/>
        <p:txBody>
          <a:bodyPr>
            <a:normAutofit/>
          </a:bodyPr>
          <a:lstStyle/>
          <a:p>
            <a:r>
              <a:rPr lang="en-US" dirty="0"/>
              <a:t>A scenario starts with an outline of the interaction. </a:t>
            </a:r>
            <a:endParaRPr lang="en-US" dirty="0" smtClean="0"/>
          </a:p>
          <a:p>
            <a:r>
              <a:rPr lang="en-US" dirty="0" smtClean="0"/>
              <a:t>During </a:t>
            </a:r>
            <a:r>
              <a:rPr lang="en-US" dirty="0"/>
              <a:t>the elicitation process, details are added to this to create a complete description of that interaction</a:t>
            </a:r>
            <a:r>
              <a:rPr lang="en-US" dirty="0" smtClean="0"/>
              <a:t>.</a:t>
            </a:r>
          </a:p>
          <a:p>
            <a:r>
              <a:rPr lang="en-US" dirty="0" smtClean="0"/>
              <a:t> </a:t>
            </a:r>
            <a:r>
              <a:rPr lang="en-US" dirty="0"/>
              <a:t>At its most general, a scenario may include: </a:t>
            </a:r>
            <a:endParaRPr lang="en-US" dirty="0" smtClean="0"/>
          </a:p>
        </p:txBody>
      </p:sp>
    </p:spTree>
    <p:extLst>
      <p:ext uri="{BB962C8B-B14F-4D97-AF65-F5344CB8AC3E}">
        <p14:creationId xmlns:p14="http://schemas.microsoft.com/office/powerpoint/2010/main" val="2580629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Scenario </a:t>
            </a:r>
            <a:endParaRPr lang="en-US" b="1"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1. A description of what the system and users expects when the scenario starts</a:t>
            </a:r>
            <a:r>
              <a:rPr lang="en-US" dirty="0" smtClean="0"/>
              <a:t>.</a:t>
            </a:r>
          </a:p>
          <a:p>
            <a:pPr marL="0" indent="0">
              <a:buNone/>
            </a:pPr>
            <a:r>
              <a:rPr lang="en-US" dirty="0" smtClean="0"/>
              <a:t> </a:t>
            </a:r>
            <a:r>
              <a:rPr lang="en-US" dirty="0"/>
              <a:t>2. A description of the normal flow of events in the scenario</a:t>
            </a:r>
            <a:r>
              <a:rPr lang="en-US" dirty="0" smtClean="0"/>
              <a:t>.</a:t>
            </a:r>
          </a:p>
          <a:p>
            <a:pPr marL="0" indent="0">
              <a:buNone/>
            </a:pPr>
            <a:r>
              <a:rPr lang="en-US" dirty="0" smtClean="0"/>
              <a:t> </a:t>
            </a:r>
            <a:r>
              <a:rPr lang="en-US" dirty="0"/>
              <a:t>3. A description of what can go wrong and how this is handled. </a:t>
            </a:r>
            <a:endParaRPr lang="en-US" dirty="0" smtClean="0"/>
          </a:p>
          <a:p>
            <a:pPr marL="0" indent="0">
              <a:buNone/>
            </a:pPr>
            <a:r>
              <a:rPr lang="en-US" dirty="0" smtClean="0"/>
              <a:t>4</a:t>
            </a:r>
            <a:r>
              <a:rPr lang="en-US" dirty="0"/>
              <a:t>. Information about other activities that might be going on at the same time</a:t>
            </a:r>
            <a:r>
              <a:rPr lang="en-US" dirty="0" smtClean="0"/>
              <a:t>.</a:t>
            </a:r>
          </a:p>
          <a:p>
            <a:pPr marL="0" indent="0">
              <a:buNone/>
            </a:pPr>
            <a:r>
              <a:rPr lang="en-US" dirty="0" smtClean="0"/>
              <a:t> </a:t>
            </a:r>
            <a:r>
              <a:rPr lang="en-US" dirty="0"/>
              <a:t>5. A description of the system state when the scenario finishes</a:t>
            </a:r>
            <a:endParaRPr lang="en-US" dirty="0"/>
          </a:p>
        </p:txBody>
      </p:sp>
    </p:spTree>
    <p:extLst>
      <p:ext uri="{BB962C8B-B14F-4D97-AF65-F5344CB8AC3E}">
        <p14:creationId xmlns:p14="http://schemas.microsoft.com/office/powerpoint/2010/main" val="751736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Requirement Specification</a:t>
            </a:r>
            <a:endParaRPr lang="en-US" b="1" dirty="0"/>
          </a:p>
        </p:txBody>
      </p:sp>
      <p:sp>
        <p:nvSpPr>
          <p:cNvPr id="3" name="Content Placeholder 2"/>
          <p:cNvSpPr>
            <a:spLocks noGrp="1"/>
          </p:cNvSpPr>
          <p:nvPr>
            <p:ph idx="1"/>
          </p:nvPr>
        </p:nvSpPr>
        <p:spPr/>
        <p:txBody>
          <a:bodyPr/>
          <a:lstStyle/>
          <a:p>
            <a:r>
              <a:rPr lang="en-US" b="1" dirty="0" smtClean="0"/>
              <a:t>Use cases </a:t>
            </a:r>
          </a:p>
          <a:p>
            <a:pPr marL="0" indent="0">
              <a:buNone/>
            </a:pPr>
            <a:r>
              <a:rPr lang="en-US" dirty="0" smtClean="0"/>
              <a:t>Uses cases are a away of describing interactions between users and a system using a graphical model and structured text. </a:t>
            </a:r>
          </a:p>
          <a:p>
            <a:pPr marL="0" indent="0">
              <a:buNone/>
            </a:pPr>
            <a:endParaRPr lang="en-US" dirty="0"/>
          </a:p>
        </p:txBody>
      </p:sp>
    </p:spTree>
    <p:extLst>
      <p:ext uri="{BB962C8B-B14F-4D97-AF65-F5344CB8AC3E}">
        <p14:creationId xmlns:p14="http://schemas.microsoft.com/office/powerpoint/2010/main" val="31221406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Requirements </a:t>
            </a:r>
            <a:r>
              <a:rPr lang="en-US" b="1" dirty="0" smtClean="0"/>
              <a:t>Engineering </a:t>
            </a:r>
            <a:r>
              <a:rPr lang="en-US" b="1" dirty="0"/>
              <a:t>P</a:t>
            </a:r>
            <a:r>
              <a:rPr lang="en-US" b="1" dirty="0" smtClean="0"/>
              <a:t>rocesses</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r>
              <a:rPr lang="en-US" dirty="0"/>
              <a:t>R</a:t>
            </a:r>
            <a:r>
              <a:rPr lang="en-US" dirty="0" smtClean="0"/>
              <a:t>equirements </a:t>
            </a:r>
            <a:r>
              <a:rPr lang="en-US" dirty="0"/>
              <a:t>engineering processes may include four high-level activities. </a:t>
            </a:r>
            <a:endParaRPr lang="en-US" dirty="0" smtClean="0"/>
          </a:p>
          <a:p>
            <a:r>
              <a:rPr lang="en-US" dirty="0" smtClean="0"/>
              <a:t>These </a:t>
            </a:r>
            <a:r>
              <a:rPr lang="en-US" dirty="0"/>
              <a:t>focus on assessing if the system is useful to the business (</a:t>
            </a:r>
            <a:r>
              <a:rPr lang="en-US" b="1" dirty="0"/>
              <a:t>feasibility study</a:t>
            </a:r>
            <a:r>
              <a:rPr lang="en-US" dirty="0" smtClean="0"/>
              <a:t>)</a:t>
            </a:r>
          </a:p>
          <a:p>
            <a:r>
              <a:rPr lang="en-US" dirty="0" smtClean="0"/>
              <a:t> </a:t>
            </a:r>
            <a:r>
              <a:rPr lang="en-US" dirty="0"/>
              <a:t>discovering requirements (</a:t>
            </a:r>
            <a:r>
              <a:rPr lang="en-US" b="1" dirty="0"/>
              <a:t>elicitation and </a:t>
            </a:r>
            <a:r>
              <a:rPr lang="en-US" b="1" dirty="0" smtClean="0"/>
              <a:t>analysis</a:t>
            </a:r>
            <a:r>
              <a:rPr lang="en-US" dirty="0" smtClean="0"/>
              <a:t>)</a:t>
            </a:r>
          </a:p>
          <a:p>
            <a:r>
              <a:rPr lang="en-US" dirty="0" smtClean="0"/>
              <a:t>converting </a:t>
            </a:r>
            <a:r>
              <a:rPr lang="en-US" dirty="0"/>
              <a:t>these requirements into some standard form (</a:t>
            </a:r>
            <a:r>
              <a:rPr lang="en-US" b="1" dirty="0"/>
              <a:t>specification</a:t>
            </a:r>
            <a:r>
              <a:rPr lang="en-US" dirty="0" smtClean="0"/>
              <a:t>)</a:t>
            </a:r>
          </a:p>
          <a:p>
            <a:r>
              <a:rPr lang="en-US" dirty="0" smtClean="0"/>
              <a:t> </a:t>
            </a:r>
            <a:r>
              <a:rPr lang="en-US" dirty="0"/>
              <a:t>checking that the requirements actually define the system that the customer wants (</a:t>
            </a:r>
            <a:r>
              <a:rPr lang="en-US" b="1" dirty="0"/>
              <a:t>validation</a:t>
            </a:r>
            <a:r>
              <a:rPr lang="en-US" b="1" dirty="0" smtClean="0"/>
              <a:t>)</a:t>
            </a:r>
            <a:r>
              <a:rPr lang="en-US" dirty="0" smtClean="0"/>
              <a:t>.</a:t>
            </a:r>
          </a:p>
          <a:p>
            <a:r>
              <a:rPr lang="en-US" dirty="0" smtClean="0"/>
              <a:t> Requirement  </a:t>
            </a:r>
            <a:r>
              <a:rPr lang="en-US" dirty="0"/>
              <a:t>engineering is an </a:t>
            </a:r>
            <a:r>
              <a:rPr lang="en-US" b="1" dirty="0"/>
              <a:t>iterative process </a:t>
            </a:r>
            <a:r>
              <a:rPr lang="en-US" dirty="0"/>
              <a:t>in which the activities are interleaved.</a:t>
            </a:r>
          </a:p>
        </p:txBody>
      </p:sp>
    </p:spTree>
    <p:extLst>
      <p:ext uri="{BB962C8B-B14F-4D97-AF65-F5344CB8AC3E}">
        <p14:creationId xmlns:p14="http://schemas.microsoft.com/office/powerpoint/2010/main" val="37785449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Requirements Engineering Process</a:t>
            </a:r>
            <a:endParaRPr lang="en-US" b="1"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27361" y="1600200"/>
            <a:ext cx="668927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33777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Engineering Process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 </a:t>
            </a:r>
            <a:r>
              <a:rPr lang="en-US" dirty="0"/>
              <a:t>The activities are organized as an iterative process around a spiral, with the output being a system requirements document</a:t>
            </a:r>
            <a:r>
              <a:rPr lang="en-US" dirty="0" smtClean="0"/>
              <a:t>.</a:t>
            </a:r>
          </a:p>
          <a:p>
            <a:r>
              <a:rPr lang="en-US" dirty="0" smtClean="0"/>
              <a:t> </a:t>
            </a:r>
            <a:r>
              <a:rPr lang="en-US" dirty="0"/>
              <a:t>The amount of time and effort devoted to each activity in each iteration depends on the stage of the overall process and the type of system being developed. </a:t>
            </a:r>
            <a:endParaRPr lang="en-US" dirty="0" smtClean="0"/>
          </a:p>
          <a:p>
            <a:r>
              <a:rPr lang="en-US" dirty="0" smtClean="0"/>
              <a:t>Early </a:t>
            </a:r>
            <a:r>
              <a:rPr lang="en-US" dirty="0"/>
              <a:t>in the process, most effort will be spent on understanding high-level business </a:t>
            </a:r>
            <a:r>
              <a:rPr lang="en-US" dirty="0" smtClean="0"/>
              <a:t>and </a:t>
            </a:r>
            <a:r>
              <a:rPr lang="en-US" dirty="0"/>
              <a:t>non-functional requirements, and the user requirements for the system.</a:t>
            </a:r>
          </a:p>
          <a:p>
            <a:endParaRPr lang="en-US" dirty="0"/>
          </a:p>
        </p:txBody>
      </p:sp>
    </p:spTree>
    <p:extLst>
      <p:ext uri="{BB962C8B-B14F-4D97-AF65-F5344CB8AC3E}">
        <p14:creationId xmlns:p14="http://schemas.microsoft.com/office/powerpoint/2010/main" val="1964731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Requirement Engineering Process</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Later </a:t>
            </a:r>
            <a:r>
              <a:rPr lang="en-US" dirty="0"/>
              <a:t>in the process, in the outer rings of the spiral, more effort will be devoted to eliciting and understanding the detailed system requirements</a:t>
            </a:r>
            <a:r>
              <a:rPr lang="en-US" dirty="0" smtClean="0"/>
              <a:t>.</a:t>
            </a:r>
          </a:p>
          <a:p>
            <a:r>
              <a:rPr lang="en-US" dirty="0" smtClean="0"/>
              <a:t> </a:t>
            </a:r>
            <a:r>
              <a:rPr lang="en-US" dirty="0"/>
              <a:t>This spiral model accommodates approaches to development where the </a:t>
            </a:r>
            <a:r>
              <a:rPr lang="en-US" dirty="0" smtClean="0"/>
              <a:t>requirements </a:t>
            </a:r>
            <a:r>
              <a:rPr lang="en-US" dirty="0"/>
              <a:t>are developed to different levels of detail. </a:t>
            </a:r>
            <a:endParaRPr lang="en-US" dirty="0" smtClean="0"/>
          </a:p>
          <a:p>
            <a:r>
              <a:rPr lang="en-US" dirty="0" smtClean="0"/>
              <a:t>The </a:t>
            </a:r>
            <a:r>
              <a:rPr lang="en-US" dirty="0"/>
              <a:t>number of iterations around the spiral can vary so the spiral can be exited after some or all of the user requirements have been elicited</a:t>
            </a:r>
            <a:r>
              <a:rPr lang="en-US" dirty="0" smtClean="0"/>
              <a:t>.</a:t>
            </a:r>
          </a:p>
          <a:p>
            <a:r>
              <a:rPr lang="en-US" dirty="0" smtClean="0"/>
              <a:t> </a:t>
            </a:r>
            <a:r>
              <a:rPr lang="en-US" dirty="0"/>
              <a:t>Agile development can be used instead of prototyping so that the requirements and the system implementation are developed together. </a:t>
            </a:r>
          </a:p>
        </p:txBody>
      </p:sp>
    </p:spTree>
    <p:extLst>
      <p:ext uri="{BB962C8B-B14F-4D97-AF65-F5344CB8AC3E}">
        <p14:creationId xmlns:p14="http://schemas.microsoft.com/office/powerpoint/2010/main" val="35981818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Engineering Process</a:t>
            </a:r>
            <a:endParaRPr lang="en-US" dirty="0"/>
          </a:p>
        </p:txBody>
      </p:sp>
      <p:sp>
        <p:nvSpPr>
          <p:cNvPr id="3" name="Content Placeholder 2"/>
          <p:cNvSpPr>
            <a:spLocks noGrp="1"/>
          </p:cNvSpPr>
          <p:nvPr>
            <p:ph idx="1"/>
          </p:nvPr>
        </p:nvSpPr>
        <p:spPr/>
        <p:txBody>
          <a:bodyPr/>
          <a:lstStyle/>
          <a:p>
            <a:r>
              <a:rPr lang="en-US" dirty="0"/>
              <a:t>Some people consider requirements engineering to be the process of applying a structured analysis method, such as object-oriented </a:t>
            </a:r>
            <a:r>
              <a:rPr lang="en-US" dirty="0" smtClean="0"/>
              <a:t>analysis.</a:t>
            </a:r>
          </a:p>
          <a:p>
            <a:r>
              <a:rPr lang="en-US" dirty="0" smtClean="0"/>
              <a:t> </a:t>
            </a:r>
            <a:r>
              <a:rPr lang="en-US" dirty="0"/>
              <a:t>This involves analyzing the system and developing a set of graphical system models, such as use case models, which then serve as a system specification. </a:t>
            </a:r>
          </a:p>
          <a:p>
            <a:endParaRPr lang="en-US" dirty="0"/>
          </a:p>
        </p:txBody>
      </p:sp>
    </p:spTree>
    <p:extLst>
      <p:ext uri="{BB962C8B-B14F-4D97-AF65-F5344CB8AC3E}">
        <p14:creationId xmlns:p14="http://schemas.microsoft.com/office/powerpoint/2010/main" val="16162552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Requirement Validation</a:t>
            </a:r>
            <a:endParaRPr lang="en-US" b="1" dirty="0"/>
          </a:p>
        </p:txBody>
      </p:sp>
      <p:sp>
        <p:nvSpPr>
          <p:cNvPr id="3" name="Content Placeholder 2"/>
          <p:cNvSpPr>
            <a:spLocks noGrp="1"/>
          </p:cNvSpPr>
          <p:nvPr>
            <p:ph idx="1"/>
          </p:nvPr>
        </p:nvSpPr>
        <p:spPr/>
        <p:txBody>
          <a:bodyPr>
            <a:normAutofit/>
          </a:bodyPr>
          <a:lstStyle/>
          <a:p>
            <a:r>
              <a:rPr lang="en-US" dirty="0"/>
              <a:t>Requirements validation is the process of checking that requirements actually define the system that the customer really wants. </a:t>
            </a:r>
            <a:endParaRPr lang="en-US" dirty="0" smtClean="0"/>
          </a:p>
          <a:p>
            <a:r>
              <a:rPr lang="en-US" dirty="0" smtClean="0"/>
              <a:t>Requirements </a:t>
            </a:r>
            <a:r>
              <a:rPr lang="en-US" dirty="0"/>
              <a:t>validation is important because errors in a requirements document can lead to extensive rework costs when these problems are discovered during development or after the system is in service. </a:t>
            </a:r>
            <a:endParaRPr lang="en-US" dirty="0" smtClean="0"/>
          </a:p>
        </p:txBody>
      </p:sp>
    </p:spTree>
    <p:extLst>
      <p:ext uri="{BB962C8B-B14F-4D97-AF65-F5344CB8AC3E}">
        <p14:creationId xmlns:p14="http://schemas.microsoft.com/office/powerpoint/2010/main" val="20405735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 Validation</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During the requirements validation process, different types of </a:t>
            </a:r>
            <a:r>
              <a:rPr lang="en-US" b="1" dirty="0"/>
              <a:t>checks should </a:t>
            </a:r>
            <a:r>
              <a:rPr lang="en-US" dirty="0"/>
              <a:t>be carried out on the requirements in the requirements document</a:t>
            </a:r>
            <a:r>
              <a:rPr lang="en-US" dirty="0" smtClean="0"/>
              <a:t>.</a:t>
            </a:r>
          </a:p>
          <a:p>
            <a:pPr marL="0" indent="0">
              <a:buNone/>
            </a:pPr>
            <a:r>
              <a:rPr lang="en-US" dirty="0" smtClean="0"/>
              <a:t> </a:t>
            </a:r>
            <a:r>
              <a:rPr lang="en-US" b="1" dirty="0"/>
              <a:t>These checks include </a:t>
            </a:r>
            <a:endParaRPr lang="en-US" b="1" dirty="0" smtClean="0"/>
          </a:p>
          <a:p>
            <a:pPr marL="0" indent="0">
              <a:buNone/>
            </a:pPr>
            <a:endParaRPr lang="en-US" dirty="0"/>
          </a:p>
          <a:p>
            <a:pPr marL="0" indent="0">
              <a:buNone/>
            </a:pPr>
            <a:r>
              <a:rPr lang="en-US" dirty="0" err="1" smtClean="0"/>
              <a:t>1.</a:t>
            </a:r>
            <a:r>
              <a:rPr lang="en-US" b="1" dirty="0" err="1" smtClean="0"/>
              <a:t>Validity</a:t>
            </a:r>
            <a:r>
              <a:rPr lang="en-US" b="1" dirty="0" smtClean="0"/>
              <a:t> checks</a:t>
            </a:r>
            <a:r>
              <a:rPr lang="en-US" dirty="0" smtClean="0"/>
              <a:t>: </a:t>
            </a:r>
            <a:r>
              <a:rPr lang="en-US" dirty="0"/>
              <a:t>A user may think that a system is needed to perform certain </a:t>
            </a:r>
            <a:r>
              <a:rPr lang="en-US" dirty="0" err="1"/>
              <a:t>func</a:t>
            </a:r>
            <a:r>
              <a:rPr lang="en-US" dirty="0"/>
              <a:t> </a:t>
            </a:r>
            <a:r>
              <a:rPr lang="en-US" dirty="0" err="1"/>
              <a:t>tions</a:t>
            </a:r>
            <a:r>
              <a:rPr lang="en-US" dirty="0"/>
              <a:t>. </a:t>
            </a:r>
            <a:endParaRPr lang="en-US" dirty="0" smtClean="0"/>
          </a:p>
          <a:p>
            <a:pPr marL="0" indent="0">
              <a:buNone/>
            </a:pPr>
            <a:r>
              <a:rPr lang="en-US" dirty="0" smtClean="0"/>
              <a:t>2</a:t>
            </a:r>
            <a:r>
              <a:rPr lang="en-US" dirty="0"/>
              <a:t>. </a:t>
            </a:r>
            <a:r>
              <a:rPr lang="en-US" b="1" dirty="0"/>
              <a:t>Consistency </a:t>
            </a:r>
            <a:r>
              <a:rPr lang="en-US" b="1" dirty="0" smtClean="0"/>
              <a:t>checks: </a:t>
            </a:r>
            <a:r>
              <a:rPr lang="en-US" dirty="0"/>
              <a:t>Requirements in the document should not conflict</a:t>
            </a:r>
            <a:r>
              <a:rPr lang="en-US" dirty="0" smtClean="0"/>
              <a:t>..</a:t>
            </a:r>
          </a:p>
          <a:p>
            <a:pPr marL="0" indent="0">
              <a:buNone/>
            </a:pPr>
            <a:r>
              <a:rPr lang="en-US" dirty="0" smtClean="0"/>
              <a:t> </a:t>
            </a:r>
            <a:r>
              <a:rPr lang="en-US" dirty="0"/>
              <a:t>3. </a:t>
            </a:r>
            <a:r>
              <a:rPr lang="en-US" b="1" dirty="0"/>
              <a:t>Completeness </a:t>
            </a:r>
            <a:r>
              <a:rPr lang="en-US" b="1" dirty="0" smtClean="0"/>
              <a:t>checks: </a:t>
            </a:r>
            <a:r>
              <a:rPr lang="en-US" dirty="0"/>
              <a:t>The requirements document should include requirements that define all functions and the constraints intended by the system user. </a:t>
            </a:r>
          </a:p>
        </p:txBody>
      </p:sp>
    </p:spTree>
    <p:extLst>
      <p:ext uri="{BB962C8B-B14F-4D97-AF65-F5344CB8AC3E}">
        <p14:creationId xmlns:p14="http://schemas.microsoft.com/office/powerpoint/2010/main" val="150855911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Requirements Engineering Process</a:t>
            </a:r>
            <a:endParaRPr lang="en-US" dirty="0"/>
          </a:p>
        </p:txBody>
      </p:sp>
      <p:sp>
        <p:nvSpPr>
          <p:cNvPr id="3" name="Content Placeholder 2"/>
          <p:cNvSpPr>
            <a:spLocks noGrp="1"/>
          </p:cNvSpPr>
          <p:nvPr>
            <p:ph idx="1"/>
          </p:nvPr>
        </p:nvSpPr>
        <p:spPr/>
        <p:txBody>
          <a:bodyPr>
            <a:normAutofit/>
          </a:bodyPr>
          <a:lstStyle/>
          <a:p>
            <a:pPr marL="0" indent="0">
              <a:buNone/>
            </a:pPr>
            <a:r>
              <a:rPr lang="en-US" dirty="0"/>
              <a:t>4. </a:t>
            </a:r>
            <a:r>
              <a:rPr lang="en-US" b="1" dirty="0"/>
              <a:t>Realism checks </a:t>
            </a:r>
            <a:r>
              <a:rPr lang="en-US" b="1" dirty="0" smtClean="0"/>
              <a:t>:</a:t>
            </a:r>
            <a:r>
              <a:rPr lang="en-US" dirty="0" smtClean="0"/>
              <a:t>Using </a:t>
            </a:r>
            <a:r>
              <a:rPr lang="en-US" dirty="0"/>
              <a:t>knowledge of existing technology, the requirements should be checked to ensure that they can actually be implemented. </a:t>
            </a:r>
            <a:endParaRPr lang="en-US" dirty="0" smtClean="0"/>
          </a:p>
          <a:p>
            <a:pPr marL="0" indent="0">
              <a:buNone/>
            </a:pPr>
            <a:r>
              <a:rPr lang="en-US" dirty="0" smtClean="0"/>
              <a:t>5</a:t>
            </a:r>
            <a:r>
              <a:rPr lang="en-US" dirty="0"/>
              <a:t>. </a:t>
            </a:r>
            <a:r>
              <a:rPr lang="en-US" b="1" dirty="0" smtClean="0"/>
              <a:t>Verifiability:</a:t>
            </a:r>
            <a:r>
              <a:rPr lang="en-US" dirty="0" smtClean="0"/>
              <a:t> </a:t>
            </a:r>
            <a:r>
              <a:rPr lang="en-US" dirty="0"/>
              <a:t>To reduce the potential for dispute between customer and </a:t>
            </a:r>
            <a:r>
              <a:rPr lang="en-US" dirty="0" smtClean="0"/>
              <a:t>contractor</a:t>
            </a:r>
            <a:r>
              <a:rPr lang="en-US" dirty="0"/>
              <a:t>, system requirements should always be written so that they are verifiable. </a:t>
            </a:r>
          </a:p>
        </p:txBody>
      </p:sp>
    </p:spTree>
    <p:extLst>
      <p:ext uri="{BB962C8B-B14F-4D97-AF65-F5344CB8AC3E}">
        <p14:creationId xmlns:p14="http://schemas.microsoft.com/office/powerpoint/2010/main" val="38414865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TotalTime>
  <Words>1652</Words>
  <Application>Microsoft Office PowerPoint</Application>
  <PresentationFormat>On-screen Show (4:3)</PresentationFormat>
  <Paragraphs>121</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Chapter 3 </vt:lpstr>
      <vt:lpstr>Analysis Principles </vt:lpstr>
      <vt:lpstr>Analysis Principles</vt:lpstr>
      <vt:lpstr>Analysis Principles </vt:lpstr>
      <vt:lpstr>Requirement Engineering </vt:lpstr>
      <vt:lpstr>Requirement Engineering </vt:lpstr>
      <vt:lpstr>PowerPoint Presentation</vt:lpstr>
      <vt:lpstr>PowerPoint Presentation</vt:lpstr>
      <vt:lpstr>Functional Requirement </vt:lpstr>
      <vt:lpstr>Functional Requirement </vt:lpstr>
      <vt:lpstr>Non Functional Requirement </vt:lpstr>
      <vt:lpstr>Non-functional Requirement </vt:lpstr>
      <vt:lpstr>Requirements elicitation and analysis process</vt:lpstr>
      <vt:lpstr>There are two fundamental approach </vt:lpstr>
      <vt:lpstr> Fundamental approach </vt:lpstr>
      <vt:lpstr>Interview </vt:lpstr>
      <vt:lpstr>PowerPoint Presentation</vt:lpstr>
      <vt:lpstr>Interviews </vt:lpstr>
      <vt:lpstr>Ethnography</vt:lpstr>
      <vt:lpstr>Ethnography </vt:lpstr>
      <vt:lpstr>Ethnography</vt:lpstr>
      <vt:lpstr>Scenarios </vt:lpstr>
      <vt:lpstr>Scenario </vt:lpstr>
      <vt:lpstr>Scenario </vt:lpstr>
      <vt:lpstr>Requirement Specification</vt:lpstr>
      <vt:lpstr>Requirements Engineering Processes </vt:lpstr>
      <vt:lpstr>Requirements Engineering Process</vt:lpstr>
      <vt:lpstr>Requirements Engineering Process</vt:lpstr>
      <vt:lpstr>Requirement Engineering Process</vt:lpstr>
      <vt:lpstr>Requirements Engineering Process</vt:lpstr>
      <vt:lpstr>Requirement Validation</vt:lpstr>
      <vt:lpstr>Requirement Validation</vt:lpstr>
      <vt:lpstr>Requirements Engineering Process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21</cp:revision>
  <dcterms:created xsi:type="dcterms:W3CDTF">2025-01-17T03:15:37Z</dcterms:created>
  <dcterms:modified xsi:type="dcterms:W3CDTF">2025-02-12T08:39:49Z</dcterms:modified>
</cp:coreProperties>
</file>