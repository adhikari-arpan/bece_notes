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3" r:id="rId13"/>
    <p:sldId id="268" r:id="rId14"/>
    <p:sldId id="269" r:id="rId15"/>
    <p:sldId id="270" r:id="rId16"/>
    <p:sldId id="271" r:id="rId17"/>
    <p:sldId id="272" r:id="rId18"/>
    <p:sldId id="275" r:id="rId19"/>
    <p:sldId id="273" r:id="rId20"/>
    <p:sldId id="274" r:id="rId21"/>
    <p:sldId id="276" r:id="rId22"/>
    <p:sldId id="277" r:id="rId23"/>
    <p:sldId id="278" r:id="rId24"/>
    <p:sldId id="293" r:id="rId25"/>
    <p:sldId id="294" r:id="rId26"/>
    <p:sldId id="295" r:id="rId27"/>
    <p:sldId id="296" r:id="rId28"/>
    <p:sldId id="297" r:id="rId29"/>
    <p:sldId id="298" r:id="rId30"/>
    <p:sldId id="279" r:id="rId31"/>
    <p:sldId id="283" r:id="rId32"/>
    <p:sldId id="280" r:id="rId33"/>
    <p:sldId id="281" r:id="rId34"/>
    <p:sldId id="282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C4006-E0D5-4CA2-A5EC-D9260DED7A64}" type="datetimeFigureOut">
              <a:rPr lang="en-US" smtClean="0"/>
              <a:t>3/2/2025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F8E38-D5C5-4E5C-9B0F-7DD51D886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689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C4006-E0D5-4CA2-A5EC-D9260DED7A64}" type="datetimeFigureOut">
              <a:rPr lang="en-US" smtClean="0"/>
              <a:t>3/2/2025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F8E38-D5C5-4E5C-9B0F-7DD51D886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403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C4006-E0D5-4CA2-A5EC-D9260DED7A64}" type="datetimeFigureOut">
              <a:rPr lang="en-US" smtClean="0"/>
              <a:t>3/2/2025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F8E38-D5C5-4E5C-9B0F-7DD51D886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805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C4006-E0D5-4CA2-A5EC-D9260DED7A64}" type="datetimeFigureOut">
              <a:rPr lang="en-US" smtClean="0"/>
              <a:t>3/2/2025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F8E38-D5C5-4E5C-9B0F-7DD51D886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30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C4006-E0D5-4CA2-A5EC-D9260DED7A64}" type="datetimeFigureOut">
              <a:rPr lang="en-US" smtClean="0"/>
              <a:t>3/2/2025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F8E38-D5C5-4E5C-9B0F-7DD51D886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062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C4006-E0D5-4CA2-A5EC-D9260DED7A64}" type="datetimeFigureOut">
              <a:rPr lang="en-US" smtClean="0"/>
              <a:t>3/2/2025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F8E38-D5C5-4E5C-9B0F-7DD51D886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043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C4006-E0D5-4CA2-A5EC-D9260DED7A64}" type="datetimeFigureOut">
              <a:rPr lang="en-US" smtClean="0"/>
              <a:t>3/2/2025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F8E38-D5C5-4E5C-9B0F-7DD51D886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868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C4006-E0D5-4CA2-A5EC-D9260DED7A64}" type="datetimeFigureOut">
              <a:rPr lang="en-US" smtClean="0"/>
              <a:t>3/2/2025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F8E38-D5C5-4E5C-9B0F-7DD51D886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601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C4006-E0D5-4CA2-A5EC-D9260DED7A64}" type="datetimeFigureOut">
              <a:rPr lang="en-US" smtClean="0"/>
              <a:t>3/2/2025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F8E38-D5C5-4E5C-9B0F-7DD51D886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448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C4006-E0D5-4CA2-A5EC-D9260DED7A64}" type="datetimeFigureOut">
              <a:rPr lang="en-US" smtClean="0"/>
              <a:t>3/2/2025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F8E38-D5C5-4E5C-9B0F-7DD51D886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776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C4006-E0D5-4CA2-A5EC-D9260DED7A64}" type="datetimeFigureOut">
              <a:rPr lang="en-US" smtClean="0"/>
              <a:t>3/2/2025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F8E38-D5C5-4E5C-9B0F-7DD51D886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594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CC4006-E0D5-4CA2-A5EC-D9260DED7A64}" type="datetimeFigureOut">
              <a:rPr lang="en-US" smtClean="0"/>
              <a:t>3/2/2025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3F8E38-D5C5-4E5C-9B0F-7DD51D886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745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Advanced Software Engineering </a:t>
            </a:r>
            <a:endParaRPr lang="en-US" b="1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/>
              <a:t>Reuse-based </a:t>
            </a:r>
            <a:r>
              <a:rPr lang="en-US" dirty="0" smtClean="0"/>
              <a:t>software engineering is a software engineering strategy where the development process is geared to reusing existing software.</a:t>
            </a:r>
          </a:p>
          <a:p>
            <a:r>
              <a:rPr lang="en-US" dirty="0" smtClean="0"/>
              <a:t>Reuse-based software engineering is an approach to development that tries to maximize the reuse of existing software</a:t>
            </a:r>
          </a:p>
          <a:p>
            <a:r>
              <a:rPr lang="en-US" dirty="0" smtClean="0"/>
              <a:t>The software units that are reused may be of radically different sizes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6860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Reuse-based software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Application system reuse :</a:t>
            </a:r>
            <a:r>
              <a:rPr lang="en-US" sz="1100" dirty="0" smtClean="0"/>
              <a:t>The whole of an application system may be reused by incorporating it without changing into other systems or by configuring the application for different customers. </a:t>
            </a:r>
          </a:p>
          <a:p>
            <a:r>
              <a:rPr lang="en-US" dirty="0" smtClean="0"/>
              <a:t>Application system reuse </a:t>
            </a:r>
            <a:r>
              <a:rPr lang="en-US" sz="1200" dirty="0" smtClean="0"/>
              <a:t>Components of an application, ranging in size from </a:t>
            </a:r>
            <a:r>
              <a:rPr lang="en-US" sz="1200" dirty="0" err="1" smtClean="0"/>
              <a:t>subsys</a:t>
            </a:r>
            <a:r>
              <a:rPr lang="en-US" sz="1200" dirty="0" smtClean="0"/>
              <a:t> </a:t>
            </a:r>
            <a:r>
              <a:rPr lang="en-US" sz="1200" dirty="0" err="1" smtClean="0"/>
              <a:t>tems</a:t>
            </a:r>
            <a:r>
              <a:rPr lang="en-US" sz="1200" dirty="0" smtClean="0"/>
              <a:t> to single objects, may be reused</a:t>
            </a:r>
            <a:r>
              <a:rPr lang="en-US" dirty="0" smtClean="0"/>
              <a:t>.</a:t>
            </a:r>
          </a:p>
          <a:p>
            <a:r>
              <a:rPr lang="en-US" dirty="0" smtClean="0"/>
              <a:t>Object and function reuse </a:t>
            </a:r>
            <a:r>
              <a:rPr lang="en-US" sz="1400" dirty="0" smtClean="0"/>
              <a:t>Software components that implement a single function, such as a mathematical function, or an object class may be reused. 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215651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Reuse-based software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Software systems and components are potentially reusable entities, but their specific nature sometimes means that it is </a:t>
            </a:r>
            <a:r>
              <a:rPr lang="en-US" b="1" dirty="0" smtClean="0"/>
              <a:t>expensive </a:t>
            </a:r>
            <a:r>
              <a:rPr lang="en-US" dirty="0" smtClean="0"/>
              <a:t>to modify them for a new situation.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9104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Benefits of Re-Use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  </a:t>
            </a:r>
            <a:r>
              <a:rPr lang="en-US" b="1" dirty="0" smtClean="0"/>
              <a:t>Some benefits of re-use are:</a:t>
            </a:r>
          </a:p>
          <a:p>
            <a:pPr marL="514350" indent="-514350">
              <a:buAutoNum type="arabicPeriod"/>
            </a:pPr>
            <a:r>
              <a:rPr lang="en-US" b="1" dirty="0" smtClean="0">
                <a:solidFill>
                  <a:srgbClr val="FF0000"/>
                </a:solidFill>
              </a:rPr>
              <a:t>Increased dependability</a:t>
            </a:r>
          </a:p>
          <a:p>
            <a:pPr marL="514350" indent="-514350">
              <a:buAutoNum type="arabicPeriod"/>
            </a:pPr>
            <a:r>
              <a:rPr lang="en-US" b="1" dirty="0" smtClean="0">
                <a:solidFill>
                  <a:srgbClr val="FF0000"/>
                </a:solidFill>
              </a:rPr>
              <a:t>Reduced process risk</a:t>
            </a:r>
          </a:p>
          <a:p>
            <a:pPr marL="514350" indent="-514350">
              <a:buAutoNum type="arabicPeriod"/>
            </a:pPr>
            <a:r>
              <a:rPr lang="en-US" b="1" dirty="0" smtClean="0">
                <a:solidFill>
                  <a:srgbClr val="FF0000"/>
                </a:solidFill>
              </a:rPr>
              <a:t>Effective use of specialists </a:t>
            </a:r>
          </a:p>
          <a:p>
            <a:pPr marL="514350" indent="-514350">
              <a:buAutoNum type="arabicPeriod"/>
            </a:pPr>
            <a:r>
              <a:rPr lang="en-US" b="1" dirty="0" smtClean="0">
                <a:solidFill>
                  <a:srgbClr val="FF0000"/>
                </a:solidFill>
              </a:rPr>
              <a:t>Effective use of specialists </a:t>
            </a:r>
          </a:p>
          <a:p>
            <a:pPr marL="514350" indent="-514350">
              <a:buAutoNum type="arabicPeriod"/>
            </a:pPr>
            <a:r>
              <a:rPr lang="en-US" b="1" dirty="0" smtClean="0">
                <a:solidFill>
                  <a:srgbClr val="FF0000"/>
                </a:solidFill>
              </a:rPr>
              <a:t>Accelerated development 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4471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Problem of Re-Use 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 smtClean="0"/>
              <a:t>     Problems of re-sue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Increased maintenance costs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Lack of tool support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Not-invented-here syndrome (</a:t>
            </a:r>
            <a:r>
              <a:rPr lang="en-US" sz="1600" dirty="0" smtClean="0"/>
              <a:t>Some software engineers prefer to rewrite components because they believe they can improve on them</a:t>
            </a:r>
            <a:r>
              <a:rPr lang="en-US" dirty="0" smtClean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Creating, maintaining, and using a component library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Finding, understanding, and adapting reusable components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7124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reuse landscape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274" y="2205688"/>
            <a:ext cx="8207451" cy="3314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65681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Application frameworks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Framework </a:t>
            </a:r>
            <a:r>
              <a:rPr lang="en-US" dirty="0"/>
              <a:t>is a generic structure that is extended to </a:t>
            </a:r>
            <a:r>
              <a:rPr lang="en-US" dirty="0" smtClean="0"/>
              <a:t>create </a:t>
            </a:r>
            <a:r>
              <a:rPr lang="en-US" dirty="0"/>
              <a:t>a more specific subsystem or </a:t>
            </a:r>
            <a:r>
              <a:rPr lang="en-US" dirty="0" smtClean="0"/>
              <a:t>application</a:t>
            </a:r>
          </a:p>
          <a:p>
            <a:r>
              <a:rPr lang="en-US" dirty="0"/>
              <a:t>Frameworks provide support for generic features that are likely to be used in all applications of a similar </a:t>
            </a:r>
          </a:p>
        </p:txBody>
      </p:sp>
    </p:spTree>
    <p:extLst>
      <p:ext uri="{BB962C8B-B14F-4D97-AF65-F5344CB8AC3E}">
        <p14:creationId xmlns:p14="http://schemas.microsoft.com/office/powerpoint/2010/main" val="4122295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 </a:t>
            </a:r>
            <a:r>
              <a:rPr lang="en-US" b="1" dirty="0" smtClean="0"/>
              <a:t>Reasons </a:t>
            </a:r>
            <a:r>
              <a:rPr lang="en-US" b="1" dirty="0"/>
              <a:t>why frameworks are important</a:t>
            </a:r>
            <a:r>
              <a:rPr lang="en-US" dirty="0"/>
              <a:t>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Standardization</a:t>
            </a:r>
            <a:r>
              <a:rPr lang="en-US" dirty="0"/>
              <a:t>: </a:t>
            </a:r>
            <a:r>
              <a:rPr lang="en-US" dirty="0" smtClean="0"/>
              <a:t>Frameworks </a:t>
            </a:r>
            <a:r>
              <a:rPr lang="en-US" dirty="0"/>
              <a:t>provide a standardized way of building applications, </a:t>
            </a:r>
            <a:endParaRPr lang="en-US" dirty="0" smtClean="0"/>
          </a:p>
          <a:p>
            <a:r>
              <a:rPr lang="en-US" b="1" dirty="0"/>
              <a:t>Efficiency</a:t>
            </a:r>
            <a:r>
              <a:rPr lang="en-US" dirty="0" smtClean="0"/>
              <a:t>: Frameworks </a:t>
            </a:r>
            <a:r>
              <a:rPr lang="en-US" dirty="0"/>
              <a:t>often come with built-in features and tools that can speed up </a:t>
            </a:r>
            <a:r>
              <a:rPr lang="en-US" dirty="0" smtClean="0"/>
              <a:t>development</a:t>
            </a:r>
          </a:p>
          <a:p>
            <a:r>
              <a:rPr lang="en-US" b="1" dirty="0"/>
              <a:t>Modularity</a:t>
            </a:r>
            <a:r>
              <a:rPr lang="en-US" dirty="0"/>
              <a:t>: Frameworks often promote modular design, allowing developers to break down applications into smaller, manageable components. </a:t>
            </a:r>
            <a:endParaRPr lang="en-US" dirty="0" smtClean="0"/>
          </a:p>
          <a:p>
            <a:r>
              <a:rPr lang="en-US" b="1" dirty="0"/>
              <a:t>Security</a:t>
            </a:r>
            <a:r>
              <a:rPr lang="en-US" dirty="0"/>
              <a:t>: Many frameworks come with built-in security features </a:t>
            </a:r>
            <a:endParaRPr lang="en-US" dirty="0" smtClean="0"/>
          </a:p>
          <a:p>
            <a:r>
              <a:rPr lang="en-US" b="1" dirty="0"/>
              <a:t>Maintainability</a:t>
            </a:r>
            <a:r>
              <a:rPr lang="en-US" dirty="0"/>
              <a:t>: Code written using a framework is often easier to maintain and </a:t>
            </a:r>
            <a:r>
              <a:rPr lang="en-US" dirty="0" smtClean="0"/>
              <a:t>update</a:t>
            </a:r>
          </a:p>
          <a:p>
            <a:r>
              <a:rPr lang="en-US" b="1" dirty="0"/>
              <a:t>Scalability</a:t>
            </a:r>
            <a:r>
              <a:rPr lang="en-US" dirty="0"/>
              <a:t>: Frameworks often include features that make it easier to scale applications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0413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Web application frameworks (</a:t>
            </a:r>
            <a:r>
              <a:rPr lang="en-US" b="1" dirty="0" err="1"/>
              <a:t>WAFs</a:t>
            </a:r>
            <a:r>
              <a:rPr lang="en-US" b="1" dirty="0"/>
              <a:t>)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Web application frameworks (</a:t>
            </a:r>
            <a:r>
              <a:rPr lang="en-US" dirty="0" err="1"/>
              <a:t>WAFs</a:t>
            </a:r>
            <a:r>
              <a:rPr lang="en-US" dirty="0"/>
              <a:t>) are a more recent and very important type of framework. </a:t>
            </a:r>
            <a:endParaRPr lang="en-US" dirty="0" smtClean="0"/>
          </a:p>
          <a:p>
            <a:r>
              <a:rPr lang="en-US" dirty="0" err="1" smtClean="0"/>
              <a:t>WAFs</a:t>
            </a:r>
            <a:r>
              <a:rPr lang="en-US" dirty="0" smtClean="0"/>
              <a:t> that support the construction of dynamic websites are now widely available.</a:t>
            </a:r>
          </a:p>
          <a:p>
            <a:r>
              <a:rPr lang="en-US" dirty="0" smtClean="0"/>
              <a:t> </a:t>
            </a:r>
            <a:r>
              <a:rPr lang="en-US" dirty="0"/>
              <a:t>The architecture of a </a:t>
            </a:r>
            <a:r>
              <a:rPr lang="en-US" dirty="0" err="1"/>
              <a:t>WAF</a:t>
            </a:r>
            <a:r>
              <a:rPr lang="en-US" dirty="0"/>
              <a:t> is usually based on the Model-View Controller (</a:t>
            </a:r>
            <a:r>
              <a:rPr lang="en-US" dirty="0" err="1"/>
              <a:t>MVC</a:t>
            </a:r>
            <a:r>
              <a:rPr lang="en-US" dirty="0"/>
              <a:t>) composite </a:t>
            </a:r>
            <a:r>
              <a:rPr lang="en-US" dirty="0" smtClean="0"/>
              <a:t>pattern. </a:t>
            </a:r>
          </a:p>
        </p:txBody>
      </p:sp>
    </p:spTree>
    <p:extLst>
      <p:ext uri="{BB962C8B-B14F-4D97-AF65-F5344CB8AC3E}">
        <p14:creationId xmlns:p14="http://schemas.microsoft.com/office/powerpoint/2010/main" val="958763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Web application frameworks (</a:t>
            </a:r>
            <a:r>
              <a:rPr lang="en-US" b="1" dirty="0" err="1"/>
              <a:t>WAFs</a:t>
            </a:r>
            <a:r>
              <a:rPr lang="en-US" b="1" dirty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err="1" smtClean="0">
                <a:solidFill>
                  <a:srgbClr val="FF0000"/>
                </a:solidFill>
              </a:rPr>
              <a:t>MVC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allows for the separation of the </a:t>
            </a:r>
            <a:r>
              <a:rPr lang="en-US" b="1" dirty="0" smtClean="0">
                <a:solidFill>
                  <a:srgbClr val="FF0000"/>
                </a:solidFill>
              </a:rPr>
              <a:t>application. </a:t>
            </a:r>
          </a:p>
          <a:p>
            <a:r>
              <a:rPr lang="en-US" b="1" dirty="0" err="1" smtClean="0">
                <a:solidFill>
                  <a:srgbClr val="FF0000"/>
                </a:solidFill>
              </a:rPr>
              <a:t>MVC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framework supports the </a:t>
            </a:r>
            <a:r>
              <a:rPr lang="en-US" b="1" dirty="0" smtClean="0">
                <a:solidFill>
                  <a:srgbClr val="FF0000"/>
                </a:solidFill>
              </a:rPr>
              <a:t>presentation </a:t>
            </a:r>
            <a:r>
              <a:rPr lang="en-US" b="1" dirty="0">
                <a:solidFill>
                  <a:srgbClr val="FF0000"/>
                </a:solidFill>
              </a:rPr>
              <a:t>of data in different ways and allows interaction with each of these </a:t>
            </a:r>
            <a:r>
              <a:rPr lang="en-US" b="1" dirty="0" smtClean="0">
                <a:solidFill>
                  <a:srgbClr val="FF0000"/>
                </a:solidFill>
              </a:rPr>
              <a:t>presentations</a:t>
            </a:r>
            <a:r>
              <a:rPr lang="en-US" b="1" dirty="0">
                <a:solidFill>
                  <a:srgbClr val="FF0000"/>
                </a:solidFill>
              </a:rPr>
              <a:t>. </a:t>
            </a:r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b="1" dirty="0" smtClean="0">
                <a:solidFill>
                  <a:srgbClr val="FF0000"/>
                </a:solidFill>
              </a:rPr>
              <a:t>When </a:t>
            </a:r>
            <a:r>
              <a:rPr lang="en-US" b="1" dirty="0">
                <a:solidFill>
                  <a:srgbClr val="FF0000"/>
                </a:solidFill>
              </a:rPr>
              <a:t>the data is modified through one of the presentations, the system model is changed and the controllers associated with each view update their presentation.</a:t>
            </a:r>
          </a:p>
        </p:txBody>
      </p:sp>
    </p:spTree>
    <p:extLst>
      <p:ext uri="{BB962C8B-B14F-4D97-AF65-F5344CB8AC3E}">
        <p14:creationId xmlns:p14="http://schemas.microsoft.com/office/powerpoint/2010/main" val="1904944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 Frameworks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Frameworks are </a:t>
            </a:r>
            <a:r>
              <a:rPr lang="en-US" dirty="0" smtClean="0"/>
              <a:t>implementations </a:t>
            </a:r>
            <a:r>
              <a:rPr lang="en-US" dirty="0"/>
              <a:t>of design </a:t>
            </a:r>
            <a:r>
              <a:rPr lang="en-US" dirty="0" smtClean="0"/>
              <a:t>patterns.</a:t>
            </a:r>
          </a:p>
          <a:p>
            <a:r>
              <a:rPr lang="en-US" dirty="0" err="1" smtClean="0"/>
              <a:t>MVC</a:t>
            </a:r>
            <a:r>
              <a:rPr lang="en-US" dirty="0" smtClean="0"/>
              <a:t> </a:t>
            </a:r>
            <a:r>
              <a:rPr lang="en-US" dirty="0"/>
              <a:t>framework includes the Observer </a:t>
            </a:r>
            <a:r>
              <a:rPr lang="en-US" dirty="0" smtClean="0"/>
              <a:t>pattern.</a:t>
            </a:r>
          </a:p>
          <a:p>
            <a:r>
              <a:rPr lang="en-US" dirty="0" smtClean="0"/>
              <a:t>The </a:t>
            </a:r>
            <a:r>
              <a:rPr lang="en-US" dirty="0"/>
              <a:t>general nature of patterns and their use of abstract and concrete classes allows for extensibility. </a:t>
            </a:r>
            <a:endParaRPr lang="en-US" dirty="0" smtClean="0"/>
          </a:p>
          <a:p>
            <a:r>
              <a:rPr lang="en-US" dirty="0" smtClean="0"/>
              <a:t>Without </a:t>
            </a:r>
            <a:r>
              <a:rPr lang="en-US" dirty="0"/>
              <a:t>patterns, frameworks would, almost certainly, be impractical.</a:t>
            </a:r>
          </a:p>
        </p:txBody>
      </p:sp>
    </p:spTree>
    <p:extLst>
      <p:ext uri="{BB962C8B-B14F-4D97-AF65-F5344CB8AC3E}">
        <p14:creationId xmlns:p14="http://schemas.microsoft.com/office/powerpoint/2010/main" val="394035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MVC</a:t>
            </a:r>
            <a:r>
              <a:rPr lang="en-US" b="1" dirty="0" smtClean="0"/>
              <a:t> Framework </a:t>
            </a:r>
            <a:endParaRPr lang="en-US" b="1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362200"/>
            <a:ext cx="8229600" cy="350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51307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MVC</a:t>
            </a:r>
            <a:r>
              <a:rPr lang="en-US" b="1" dirty="0"/>
              <a:t> Framework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Although each framework includes slightly different functionality, most web application frameworks support the </a:t>
            </a:r>
            <a:r>
              <a:rPr lang="en-US" dirty="0" smtClean="0"/>
              <a:t>following </a:t>
            </a:r>
            <a:r>
              <a:rPr lang="en-US" dirty="0"/>
              <a:t>features</a:t>
            </a:r>
            <a:r>
              <a:rPr lang="en-US" dirty="0" smtClean="0"/>
              <a:t>:</a:t>
            </a:r>
            <a:endParaRPr lang="en-US" dirty="0"/>
          </a:p>
          <a:p>
            <a:r>
              <a:rPr lang="en-US" dirty="0" smtClean="0"/>
              <a:t>Security</a:t>
            </a:r>
          </a:p>
          <a:p>
            <a:r>
              <a:rPr lang="en-US" dirty="0"/>
              <a:t>Dynamic web </a:t>
            </a:r>
            <a:r>
              <a:rPr lang="en-US" dirty="0" smtClean="0"/>
              <a:t>pages</a:t>
            </a:r>
          </a:p>
          <a:p>
            <a:r>
              <a:rPr lang="en-US" dirty="0"/>
              <a:t>Database </a:t>
            </a:r>
            <a:r>
              <a:rPr lang="en-US" dirty="0" smtClean="0"/>
              <a:t>support</a:t>
            </a:r>
          </a:p>
          <a:p>
            <a:r>
              <a:rPr lang="en-US" dirty="0"/>
              <a:t>Session </a:t>
            </a:r>
            <a:r>
              <a:rPr lang="en-US" dirty="0" smtClean="0"/>
              <a:t>management</a:t>
            </a:r>
          </a:p>
          <a:p>
            <a:r>
              <a:rPr lang="en-US" dirty="0" smtClean="0"/>
              <a:t>User </a:t>
            </a:r>
            <a:r>
              <a:rPr lang="en-US" dirty="0"/>
              <a:t>interaction</a:t>
            </a:r>
          </a:p>
        </p:txBody>
      </p:sp>
    </p:spTree>
    <p:extLst>
      <p:ext uri="{BB962C8B-B14F-4D97-AF65-F5344CB8AC3E}">
        <p14:creationId xmlns:p14="http://schemas.microsoft.com/office/powerpoint/2010/main" val="1993331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Software product lines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One of the most effective approaches to reuse is to create software product lines or application families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A software product line is a set of applications with a common architecture and shared components, with each application specialized to reflect </a:t>
            </a:r>
            <a:r>
              <a:rPr lang="en-US" dirty="0" smtClean="0"/>
              <a:t>different </a:t>
            </a:r>
            <a:r>
              <a:rPr lang="en-US" dirty="0"/>
              <a:t>requirements.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core system is designed to be configured and adapted to suit the needs of different system customers. </a:t>
            </a:r>
          </a:p>
          <a:p>
            <a:r>
              <a:rPr lang="en-US" dirty="0" smtClean="0"/>
              <a:t>This </a:t>
            </a:r>
            <a:r>
              <a:rPr lang="en-US" dirty="0"/>
              <a:t>may involve the configuration of some components, implementing additional components, and modifying some of the components to reflect new requirements</a:t>
            </a:r>
          </a:p>
        </p:txBody>
      </p:sp>
    </p:spTree>
    <p:extLst>
      <p:ext uri="{BB962C8B-B14F-4D97-AF65-F5344CB8AC3E}">
        <p14:creationId xmlns:p14="http://schemas.microsoft.com/office/powerpoint/2010/main" val="1839467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Software product lines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Software product lines usually emerge from existing applications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That is, an organization develops an application then, when a similar system is required, </a:t>
            </a:r>
            <a:r>
              <a:rPr lang="en-US" dirty="0" smtClean="0"/>
              <a:t>informally </a:t>
            </a:r>
            <a:r>
              <a:rPr lang="en-US" dirty="0"/>
              <a:t>reuses code from this in the new application.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same process is used as other similar applications are developed.</a:t>
            </a:r>
          </a:p>
        </p:txBody>
      </p:sp>
    </p:spTree>
    <p:extLst>
      <p:ext uri="{BB962C8B-B14F-4D97-AF65-F5344CB8AC3E}">
        <p14:creationId xmlns:p14="http://schemas.microsoft.com/office/powerpoint/2010/main" val="1798586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Software product lines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However</a:t>
            </a:r>
            <a:r>
              <a:rPr lang="en-US" dirty="0"/>
              <a:t>, change tends to corrupt application structure so, as more new instances are developed, it becomes increasingly difficult to create a new version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Consequently, a decision to design a generic product line may then be made.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involves identifying common functionality in product instances and including this in a base application, which is then used for future development.</a:t>
            </a:r>
          </a:p>
        </p:txBody>
      </p:sp>
    </p:spTree>
    <p:extLst>
      <p:ext uri="{BB962C8B-B14F-4D97-AF65-F5344CB8AC3E}">
        <p14:creationId xmlns:p14="http://schemas.microsoft.com/office/powerpoint/2010/main" val="3185566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Software product lines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architecture of a software product line often reflects a general, </a:t>
            </a:r>
            <a:r>
              <a:rPr lang="en-US" b="1" dirty="0"/>
              <a:t>application-specific architectural style </a:t>
            </a:r>
            <a:r>
              <a:rPr lang="en-US" dirty="0"/>
              <a:t>or pattern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For example, consider a </a:t>
            </a:r>
            <a:r>
              <a:rPr lang="en-US" dirty="0" smtClean="0"/>
              <a:t>product </a:t>
            </a:r>
            <a:r>
              <a:rPr lang="en-US" dirty="0"/>
              <a:t>line system that is designed to handle vehicle </a:t>
            </a:r>
            <a:r>
              <a:rPr lang="en-US" dirty="0" err="1"/>
              <a:t>despatching</a:t>
            </a:r>
            <a:r>
              <a:rPr lang="en-US" dirty="0"/>
              <a:t> for emergency services. </a:t>
            </a:r>
          </a:p>
        </p:txBody>
      </p:sp>
    </p:spTree>
    <p:extLst>
      <p:ext uri="{BB962C8B-B14F-4D97-AF65-F5344CB8AC3E}">
        <p14:creationId xmlns:p14="http://schemas.microsoft.com/office/powerpoint/2010/main" val="2101367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vehicle </a:t>
            </a:r>
            <a:r>
              <a:rPr lang="en-US" dirty="0" err="1"/>
              <a:t>despatching</a:t>
            </a:r>
            <a:r>
              <a:rPr lang="en-US" dirty="0"/>
              <a:t> system is an example of a resource management </a:t>
            </a:r>
            <a:r>
              <a:rPr lang="en-US" dirty="0" smtClean="0"/>
              <a:t>architecture . </a:t>
            </a:r>
          </a:p>
          <a:p>
            <a:r>
              <a:rPr lang="en-US" dirty="0" smtClean="0"/>
              <a:t>You </a:t>
            </a:r>
            <a:r>
              <a:rPr lang="en-US" dirty="0"/>
              <a:t>can see how this four-layer structure is instantiated in Figure 16.8, which shows the modules that might be included in a vehicle </a:t>
            </a:r>
            <a:r>
              <a:rPr lang="en-US" dirty="0" err="1" smtClean="0"/>
              <a:t>despatching</a:t>
            </a:r>
            <a:r>
              <a:rPr lang="en-US" dirty="0" smtClean="0"/>
              <a:t> </a:t>
            </a:r>
            <a:r>
              <a:rPr lang="en-US" dirty="0"/>
              <a:t>system product line. 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277531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product line</a:t>
            </a: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107941"/>
            <a:ext cx="8229600" cy="3510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70490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product line</a:t>
            </a:r>
            <a:endParaRPr lang="en-US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008472"/>
            <a:ext cx="8229600" cy="37094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91955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/>
              <a:t>Steps </a:t>
            </a:r>
            <a:r>
              <a:rPr lang="en-US" sz="2400" b="1" dirty="0"/>
              <a:t>involved in extending a software product line to </a:t>
            </a:r>
            <a:r>
              <a:rPr lang="en-US" sz="2400" b="1" dirty="0" smtClean="0"/>
              <a:t>create </a:t>
            </a:r>
            <a:r>
              <a:rPr lang="en-US" sz="2400" b="1" dirty="0"/>
              <a:t>a new application. </a:t>
            </a:r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360" y="2982995"/>
            <a:ext cx="7849280" cy="17603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37911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Steps involved in extending a software product 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b="1" dirty="0"/>
              <a:t>Elicit stakeholder </a:t>
            </a:r>
            <a:r>
              <a:rPr lang="en-US" b="1" dirty="0" smtClean="0"/>
              <a:t>requirements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smtClean="0"/>
              <a:t> </a:t>
            </a:r>
            <a:r>
              <a:rPr lang="en-US" b="1" dirty="0"/>
              <a:t>Select the existing system that is the closest fit to the requirements </a:t>
            </a:r>
            <a:endParaRPr lang="en-US" b="1" dirty="0" smtClean="0"/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Renegotiate </a:t>
            </a:r>
            <a:r>
              <a:rPr lang="en-US" b="1" dirty="0" smtClean="0"/>
              <a:t>requirements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Adapt existing </a:t>
            </a:r>
            <a:r>
              <a:rPr lang="en-US" b="1" dirty="0" smtClean="0"/>
              <a:t>system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Deliver new family member</a:t>
            </a:r>
          </a:p>
        </p:txBody>
      </p:sp>
    </p:spTree>
    <p:extLst>
      <p:ext uri="{BB962C8B-B14F-4D97-AF65-F5344CB8AC3E}">
        <p14:creationId xmlns:p14="http://schemas.microsoft.com/office/powerpoint/2010/main" val="1138298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COTS product reuse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A commercial-off-the-shelf (COTS) product is a software system that can be adapted to the needs of different customers without changing the source code of the system. </a:t>
            </a:r>
            <a:endParaRPr lang="en-US" b="1" dirty="0" smtClean="0"/>
          </a:p>
          <a:p>
            <a:r>
              <a:rPr lang="en-US" dirty="0" smtClean="0"/>
              <a:t>Virtually </a:t>
            </a:r>
            <a:r>
              <a:rPr lang="en-US" dirty="0"/>
              <a:t>all desktop software and a wide variety of server products are COTS software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Because this software is designed for general use, it usually includes many features and functions</a:t>
            </a:r>
            <a:r>
              <a:rPr lang="en-US" dirty="0" smtClean="0"/>
              <a:t>.</a:t>
            </a:r>
          </a:p>
          <a:p>
            <a:r>
              <a:rPr lang="en-US" dirty="0" smtClean="0"/>
              <a:t>  </a:t>
            </a:r>
            <a:r>
              <a:rPr lang="en-US" dirty="0"/>
              <a:t>O</a:t>
            </a:r>
            <a:r>
              <a:rPr lang="en-US" dirty="0" smtClean="0"/>
              <a:t>pen </a:t>
            </a:r>
            <a:r>
              <a:rPr lang="en-US" dirty="0"/>
              <a:t>source products were often used as COTS products. </a:t>
            </a:r>
            <a:endParaRPr lang="en-US" dirty="0" smtClean="0"/>
          </a:p>
          <a:p>
            <a:r>
              <a:rPr lang="en-US" dirty="0" smtClean="0"/>
              <a:t>That </a:t>
            </a:r>
            <a:r>
              <a:rPr lang="en-US" dirty="0"/>
              <a:t>is, the open source systems were used without change and without looking at the source code.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1752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COTS Benefits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COTS offers </a:t>
            </a:r>
            <a:r>
              <a:rPr lang="en-US" dirty="0"/>
              <a:t>significant benefits over customized </a:t>
            </a:r>
            <a:r>
              <a:rPr lang="en-US" dirty="0" smtClean="0"/>
              <a:t>software</a:t>
            </a:r>
          </a:p>
          <a:p>
            <a:r>
              <a:rPr lang="en-US" dirty="0"/>
              <a:t>1. As with other types of reuse, more rapid deployment of a reliable system may be </a:t>
            </a:r>
            <a:r>
              <a:rPr lang="en-US" dirty="0" smtClean="0"/>
              <a:t>possible</a:t>
            </a:r>
          </a:p>
          <a:p>
            <a:r>
              <a:rPr lang="en-US" dirty="0"/>
              <a:t>2. It is possible to see what functionality is provided by the applications and so it is easier to judge whether or not they are likely to be suitable. </a:t>
            </a:r>
            <a:endParaRPr lang="en-US" dirty="0" smtClean="0"/>
          </a:p>
          <a:p>
            <a:r>
              <a:rPr lang="en-US" dirty="0" smtClean="0"/>
              <a:t>3</a:t>
            </a:r>
            <a:r>
              <a:rPr lang="en-US" dirty="0"/>
              <a:t>. Some development risks are avoided by using existing software. </a:t>
            </a:r>
          </a:p>
        </p:txBody>
      </p:sp>
    </p:spTree>
    <p:extLst>
      <p:ext uri="{BB962C8B-B14F-4D97-AF65-F5344CB8AC3E}">
        <p14:creationId xmlns:p14="http://schemas.microsoft.com/office/powerpoint/2010/main" val="3011454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COTS Benefits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4. Businesses can focus on their core activity without having to devote a lot of resources to IT systems development. </a:t>
            </a:r>
            <a:endParaRPr lang="en-US" dirty="0" smtClean="0"/>
          </a:p>
          <a:p>
            <a:r>
              <a:rPr lang="en-US" dirty="0" smtClean="0"/>
              <a:t>5</a:t>
            </a:r>
            <a:r>
              <a:rPr lang="en-US" dirty="0"/>
              <a:t>. As operating platforms evolve, technology updates may be simplified as these are the responsibility of the COTS product vendor rather than the customer</a:t>
            </a:r>
          </a:p>
        </p:txBody>
      </p:sp>
    </p:spTree>
    <p:extLst>
      <p:ext uri="{BB962C8B-B14F-4D97-AF65-F5344CB8AC3E}">
        <p14:creationId xmlns:p14="http://schemas.microsoft.com/office/powerpoint/2010/main" val="3587278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COTS approach </a:t>
            </a:r>
            <a:r>
              <a:rPr lang="en-US" dirty="0"/>
              <a:t>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smtClean="0"/>
              <a:t>1</a:t>
            </a:r>
            <a:r>
              <a:rPr lang="en-US" dirty="0"/>
              <a:t>. Requirements usually have to be adapted to reflect the functionality and mode of operation of the COTS product. This can lead to </a:t>
            </a:r>
            <a:r>
              <a:rPr lang="en-US" b="1" dirty="0"/>
              <a:t>disruptive changes to </a:t>
            </a:r>
            <a:r>
              <a:rPr lang="en-US" b="1" dirty="0" smtClean="0"/>
              <a:t>existing </a:t>
            </a:r>
            <a:r>
              <a:rPr lang="en-US" b="1" dirty="0"/>
              <a:t>business processes</a:t>
            </a:r>
            <a:r>
              <a:rPr lang="en-US" b="1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/>
              <a:t>2. The COTS product may be based on assumptions that are practically impossible to change. The </a:t>
            </a:r>
            <a:r>
              <a:rPr lang="en-US" b="1" dirty="0"/>
              <a:t>customer must therefore adapt their business to reflect these assumptions</a:t>
            </a:r>
            <a:r>
              <a:rPr lang="en-US" dirty="0"/>
              <a:t>.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3</a:t>
            </a:r>
            <a:r>
              <a:rPr lang="en-US" dirty="0"/>
              <a:t>. Choosing the right </a:t>
            </a:r>
            <a:r>
              <a:rPr lang="en-US" b="1" dirty="0"/>
              <a:t>COTS system for an enterprise can be a difficult process, </a:t>
            </a:r>
            <a:r>
              <a:rPr lang="en-US" dirty="0"/>
              <a:t>especially as many COTS products are not well documented. </a:t>
            </a:r>
          </a:p>
        </p:txBody>
      </p:sp>
    </p:spTree>
    <p:extLst>
      <p:ext uri="{BB962C8B-B14F-4D97-AF65-F5344CB8AC3E}">
        <p14:creationId xmlns:p14="http://schemas.microsoft.com/office/powerpoint/2010/main" val="37002223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COTS approach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smtClean="0"/>
              <a:t>4</a:t>
            </a:r>
            <a:r>
              <a:rPr lang="en-US" dirty="0"/>
              <a:t>. </a:t>
            </a:r>
            <a:r>
              <a:rPr lang="en-US" b="1" dirty="0" smtClean="0"/>
              <a:t>There may be a lack of local expertise </a:t>
            </a:r>
            <a:r>
              <a:rPr lang="en-US" dirty="0" smtClean="0"/>
              <a:t>to </a:t>
            </a:r>
            <a:r>
              <a:rPr lang="en-US" dirty="0"/>
              <a:t>support systems development. Consequently, the customer has to rely on the vendor and external consultants for development advice. This advice may be biased and geared to selling </a:t>
            </a:r>
            <a:r>
              <a:rPr lang="en-US" dirty="0" smtClean="0"/>
              <a:t>products </a:t>
            </a:r>
            <a:r>
              <a:rPr lang="en-US" dirty="0"/>
              <a:t>and services, rather than meeting the real needs of the customer.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5</a:t>
            </a:r>
            <a:r>
              <a:rPr lang="en-US" dirty="0"/>
              <a:t>. The COTS product vendor controls system support and evolution. </a:t>
            </a:r>
            <a:r>
              <a:rPr lang="en-US" b="1" dirty="0"/>
              <a:t>They may go out of business, be taken over, or may make changes that cause difficulties for customers.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59441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There are two types of COTS product reuse, namely </a:t>
            </a:r>
            <a:endParaRPr lang="en-US" dirty="0" smtClean="0"/>
          </a:p>
          <a:p>
            <a:r>
              <a:rPr lang="en-US" b="1" dirty="0" smtClean="0"/>
              <a:t>COTS-solution </a:t>
            </a:r>
            <a:r>
              <a:rPr lang="en-US" b="1" dirty="0"/>
              <a:t>systems </a:t>
            </a:r>
            <a:r>
              <a:rPr lang="en-US" dirty="0"/>
              <a:t>and COTS-integrated systems. COTS-solution systems consist of a generic application from a single vendor that is configured to customer requirements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 </a:t>
            </a:r>
            <a:r>
              <a:rPr lang="en-US" b="1" dirty="0"/>
              <a:t>COTS-integrated systems </a:t>
            </a:r>
            <a:r>
              <a:rPr lang="en-US" dirty="0"/>
              <a:t>involve integrating two or more COTS systems (perhaps from different vendors) to create an application </a:t>
            </a:r>
            <a:r>
              <a:rPr lang="en-US" dirty="0" smtClean="0"/>
              <a:t>system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1335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/>
              <a:t>Difference between COTS solution and COTS integrated system</a:t>
            </a:r>
            <a:endParaRPr lang="en-US" sz="3200" b="1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21" y="2499083"/>
            <a:ext cx="7361558" cy="2728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588" y="2063750"/>
            <a:ext cx="7361237" cy="2728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960024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AI in software Engineering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Artificial Intelligence (AI) is increasingly being integrated into software engineering processes, enhancing productivity, improving code quality, and enabling new functionalities.</a:t>
            </a:r>
          </a:p>
          <a:p>
            <a:r>
              <a:rPr lang="en-US" dirty="0"/>
              <a:t> Here are some key uses of AI in software engineering: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2717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AI in software Engineering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b="1" dirty="0"/>
              <a:t>Natural Language Processing (NLP)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AI can facilitate better communication between developers and non-technical stakeholders by converting requirements into technical specifications.</a:t>
            </a:r>
          </a:p>
          <a:p>
            <a:r>
              <a:rPr lang="en-US" b="1" dirty="0"/>
              <a:t>Continuous Learning and Improvement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Machine learning models can learn from data over time, allowing software systems to improve automatically based on user interactions and feedback.</a:t>
            </a:r>
          </a:p>
          <a:p>
            <a:r>
              <a:rPr lang="en-US" b="1" dirty="0"/>
              <a:t>Enhanced Security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AI can help in identifying vulnerabilities in software and systems, providing more robust security measures against potential threats.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2970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Uses of AI in software Engineering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Automated Code </a:t>
            </a:r>
            <a:r>
              <a:rPr lang="en-US" b="1" dirty="0" err="1" smtClean="0"/>
              <a:t>Generationa</a:t>
            </a:r>
            <a:r>
              <a:rPr lang="en-US" b="1" dirty="0" smtClean="0"/>
              <a:t>:</a:t>
            </a:r>
            <a:r>
              <a:rPr lang="en-US" sz="1500" dirty="0" smtClean="0"/>
              <a:t> can assist in generating code snippets or even entire functions based on natural language descriptions. Tools like  </a:t>
            </a:r>
            <a:r>
              <a:rPr lang="en-US" sz="1500" dirty="0" err="1" smtClean="0"/>
              <a:t>GitHub</a:t>
            </a:r>
            <a:r>
              <a:rPr lang="en-US" sz="1500" dirty="0" smtClean="0"/>
              <a:t> Copilot utilize machine learning to interpret user intent and produce code automatically.</a:t>
            </a:r>
            <a:br>
              <a:rPr lang="en-US" sz="1500" dirty="0" smtClean="0"/>
            </a:br>
            <a:endParaRPr lang="en-US" sz="1500" dirty="0" smtClean="0"/>
          </a:p>
          <a:p>
            <a:r>
              <a:rPr lang="en-US" b="1" dirty="0" smtClean="0"/>
              <a:t>Code </a:t>
            </a:r>
            <a:r>
              <a:rPr lang="en-US" b="1" dirty="0"/>
              <a:t>Review and Quality Assurance</a:t>
            </a:r>
            <a:r>
              <a:rPr lang="en-US" dirty="0"/>
              <a:t>: </a:t>
            </a:r>
            <a:r>
              <a:rPr lang="en-US" sz="1500" dirty="0"/>
              <a:t>AI can analyze code for potential bugs, vulnerabilities, and stylistic issues. Tools like </a:t>
            </a:r>
            <a:r>
              <a:rPr lang="en-US" sz="1500" dirty="0" err="1" smtClean="0"/>
              <a:t>DeepCode</a:t>
            </a:r>
            <a:r>
              <a:rPr lang="en-US" sz="1500" dirty="0" smtClean="0"/>
              <a:t> </a:t>
            </a:r>
            <a:r>
              <a:rPr lang="en-US" sz="1500" dirty="0"/>
              <a:t>use machine learning algorithms to identify code smells and suggest improvements, thus enhancing code quality</a:t>
            </a:r>
            <a:r>
              <a:rPr lang="en-US" sz="1500" dirty="0" smtClean="0"/>
              <a:t>.</a:t>
            </a:r>
            <a:r>
              <a:rPr lang="en-US" sz="1500" dirty="0"/>
              <a:t/>
            </a:r>
            <a:br>
              <a:rPr lang="en-US" sz="1500" dirty="0"/>
            </a:br>
            <a:endParaRPr lang="en-US" sz="1500" dirty="0" smtClean="0"/>
          </a:p>
          <a:p>
            <a:r>
              <a:rPr lang="en-US" b="1" dirty="0"/>
              <a:t>Testing and Debugging</a:t>
            </a:r>
            <a:r>
              <a:rPr lang="en-US" dirty="0"/>
              <a:t>: </a:t>
            </a:r>
            <a:r>
              <a:rPr lang="en-US" sz="1600" dirty="0"/>
              <a:t>AI can automate testing processes by generating test </a:t>
            </a:r>
            <a:r>
              <a:rPr lang="en-US" sz="1600" dirty="0" smtClean="0"/>
              <a:t>cases</a:t>
            </a:r>
            <a:endParaRPr lang="en-US" dirty="0"/>
          </a:p>
          <a:p>
            <a:r>
              <a:rPr lang="en-US" b="1" dirty="0"/>
              <a:t>Security Enhancements</a:t>
            </a:r>
            <a:r>
              <a:rPr lang="en-US" sz="1600" dirty="0"/>
              <a:t>: AI can help identify security vulnerabilities </a:t>
            </a:r>
            <a:endParaRPr lang="en-US" sz="1600" dirty="0" smtClean="0"/>
          </a:p>
          <a:p>
            <a:r>
              <a:rPr lang="en-US" b="1" dirty="0"/>
              <a:t>Requirement Analysis</a:t>
            </a:r>
            <a:r>
              <a:rPr lang="en-US" dirty="0"/>
              <a:t>: </a:t>
            </a:r>
            <a:r>
              <a:rPr lang="en-US" sz="1500" dirty="0"/>
              <a:t>AI tools can help in analyzing and prioritizing requirements by processing user stories, feedback, and market analysis, ensuring that the development team focuses on features that deliver the most value</a:t>
            </a:r>
            <a:r>
              <a:rPr lang="en-US" sz="1500" dirty="0" smtClean="0"/>
              <a:t>.</a:t>
            </a:r>
          </a:p>
          <a:p>
            <a:endParaRPr lang="en-US" sz="13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5885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Uses of AI in software Engineering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Natural Language Processing (NLP)</a:t>
            </a:r>
            <a:r>
              <a:rPr lang="en-US" dirty="0"/>
              <a:t>: </a:t>
            </a:r>
            <a:r>
              <a:rPr lang="en-US" sz="1200" dirty="0"/>
              <a:t>NLP can be used to analyze user feedback, bug reports, and documentation. AI-driven </a:t>
            </a:r>
            <a:r>
              <a:rPr lang="en-US" sz="1200" dirty="0" err="1"/>
              <a:t>chatbots</a:t>
            </a:r>
            <a:r>
              <a:rPr lang="en-US" sz="1200" dirty="0"/>
              <a:t> can also assist in customer support and provide real-time assistance to developers.</a:t>
            </a:r>
          </a:p>
          <a:p>
            <a:r>
              <a:rPr lang="en-US" b="1" dirty="0" err="1"/>
              <a:t>DevOps</a:t>
            </a:r>
            <a:r>
              <a:rPr lang="en-US" b="1" dirty="0"/>
              <a:t> Automation</a:t>
            </a:r>
            <a:r>
              <a:rPr lang="en-US" dirty="0"/>
              <a:t>: </a:t>
            </a:r>
            <a:r>
              <a:rPr lang="en-US" sz="1200" dirty="0" smtClean="0"/>
              <a:t>AI can optimize CI/CD pipelines by predicting build failures and automating deployment processes. It can also monitor application performance and predict when maintenance is required.</a:t>
            </a:r>
          </a:p>
          <a:p>
            <a:endParaRPr lang="en-US" sz="1200" b="1" dirty="0" smtClean="0"/>
          </a:p>
          <a:p>
            <a:r>
              <a:rPr lang="en-US" sz="3600" b="1" dirty="0" smtClean="0"/>
              <a:t>Intelligent </a:t>
            </a:r>
            <a:r>
              <a:rPr lang="en-US" sz="3600" b="1" dirty="0"/>
              <a:t>Code Assistants</a:t>
            </a:r>
            <a:r>
              <a:rPr lang="en-US" sz="3600" dirty="0"/>
              <a:t>:</a:t>
            </a:r>
            <a:r>
              <a:rPr lang="en-US" sz="1200" dirty="0"/>
              <a:t> AI-powered IDE plugins can provide context-aware suggestions, auto-completion, and even code refactoring recommendations based on best practices and project-specific guidelines.</a:t>
            </a:r>
          </a:p>
          <a:p>
            <a:r>
              <a:rPr lang="en-US" sz="3600" b="1" dirty="0"/>
              <a:t>User Experience Enhancement: </a:t>
            </a:r>
            <a:r>
              <a:rPr lang="en-US" sz="1200" dirty="0"/>
              <a:t>AI can analyze user interactions and behavior patterns to inform UI/</a:t>
            </a:r>
            <a:r>
              <a:rPr lang="en-US" sz="1200" dirty="0" err="1"/>
              <a:t>UX</a:t>
            </a:r>
            <a:r>
              <a:rPr lang="en-US" sz="1200" dirty="0"/>
              <a:t> design decisions, leading to more intuitive and user-friendly applications.</a:t>
            </a:r>
          </a:p>
          <a:p>
            <a:r>
              <a:rPr lang="en-US" sz="1200" dirty="0"/>
              <a:t/>
            </a:r>
            <a:br>
              <a:rPr lang="en-US" sz="1200" dirty="0"/>
            </a:br>
            <a:endParaRPr lang="en-US" sz="1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201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r>
              <a:rPr lang="en-US" sz="2200" b="1" dirty="0"/>
              <a:t>Advantages of Using AI in Software Engineering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 smtClean="0"/>
              <a:t>Increased </a:t>
            </a:r>
            <a:r>
              <a:rPr lang="en-US" b="1" dirty="0"/>
              <a:t>Efficiency and Productivity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AI can automate repetitive tasks such as code generation, testing, and debugging, allowing engineers to focus on more complex problems.</a:t>
            </a:r>
          </a:p>
          <a:p>
            <a:r>
              <a:rPr lang="en-US" b="1" dirty="0"/>
              <a:t>Enhanced Code Quality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AI tools can analyze code for potential errors and suggest improvements, leading to higher code quality and reduced bug rates.</a:t>
            </a:r>
          </a:p>
          <a:p>
            <a:r>
              <a:rPr lang="en-US" b="1" dirty="0"/>
              <a:t>Predictive Analytics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AI can predict project risks, timelines, and resource needs, helping teams make better decisions and manage projects more effectively.</a:t>
            </a:r>
          </a:p>
          <a:p>
            <a:r>
              <a:rPr lang="en-US" b="1" dirty="0"/>
              <a:t>Improved Testing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AI-driven testing tools can generate test cases, simulate user behavior, and identify edge cases, enhancing the software testing process.</a:t>
            </a:r>
          </a:p>
          <a:p>
            <a:r>
              <a:rPr lang="en-US" b="1" dirty="0"/>
              <a:t>Better User Experience</a:t>
            </a:r>
            <a:r>
              <a:rPr lang="en-US" dirty="0" smtClean="0"/>
              <a:t>:</a:t>
            </a:r>
            <a:endParaRPr lang="en-US" dirty="0"/>
          </a:p>
          <a:p>
            <a:pPr lvl="1"/>
            <a:r>
              <a:rPr lang="en-US" dirty="0"/>
              <a:t>AI can help in personalizing user experiences through algorithms that analyze user behavior and preferences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034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200" b="1" dirty="0"/>
              <a:t>Demerits of Using AI in Software Engineering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 smtClean="0"/>
              <a:t>High </a:t>
            </a:r>
            <a:r>
              <a:rPr lang="en-US" b="1" dirty="0"/>
              <a:t>Initial Costs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Implementing AI solutions can be expensive due to the need for specialized tools, infrastructure, and training.</a:t>
            </a:r>
          </a:p>
          <a:p>
            <a:r>
              <a:rPr lang="en-US" b="1" dirty="0"/>
              <a:t>Complexity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AI systems can introduce complexity into software development, making it difficult to understand and manage.</a:t>
            </a:r>
          </a:p>
          <a:p>
            <a:r>
              <a:rPr lang="en-US" b="1" dirty="0"/>
              <a:t>Dependence on Data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AI requires large amounts of high-quality data to function effectively, which may not always be available.</a:t>
            </a:r>
          </a:p>
          <a:p>
            <a:r>
              <a:rPr lang="en-US" b="1" dirty="0"/>
              <a:t>Job Displacement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Automation of certain tasks may lead to job losses or shifts in job roles within software engineering teams.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8871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200" b="1" dirty="0"/>
              <a:t>Demerits of Using AI in Software Engineering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Bias and Ethical Concerns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AI systems can perpetuate biases present in the training data, leading to unfair or unethical outcomes in software applications.</a:t>
            </a:r>
          </a:p>
          <a:p>
            <a:r>
              <a:rPr lang="en-US" b="1" dirty="0"/>
              <a:t>Maintenance Challenges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AI models require ongoing monitoring and maintenance to ensure they continue to perform correctly, which can be resource-intensive.</a:t>
            </a:r>
          </a:p>
          <a:p>
            <a:r>
              <a:rPr lang="en-US" b="1" dirty="0"/>
              <a:t>Potential for Over-Reliance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Developers may become overly reliant on AI tools, potentially leading to a decline in fundamental programming skills.</a:t>
            </a:r>
          </a:p>
          <a:p>
            <a:r>
              <a:rPr lang="en-US" b="1" dirty="0"/>
              <a:t>Security Risks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AI systems can be vulnerable to adversarial attacks, where malicious actors manipulate inputs to deceive the AI, leading to incorrect outputs.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791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 smtClean="0"/>
              <a:t>Uses of Cloud Computing in Software Engineering </a:t>
            </a:r>
            <a:endParaRPr lang="en-US" sz="2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Cloud computing has significantly transformed software engineering practices, offering a range of benefits and capabilities that enhance development, deployment, and maintenance processes. </a:t>
            </a:r>
            <a:endParaRPr lang="en-US" dirty="0" smtClean="0"/>
          </a:p>
          <a:p>
            <a:r>
              <a:rPr lang="en-US" dirty="0" smtClean="0"/>
              <a:t>Here </a:t>
            </a:r>
            <a:r>
              <a:rPr lang="en-US" dirty="0"/>
              <a:t>are some key uses of cloud in software engineering:</a:t>
            </a:r>
          </a:p>
          <a:p>
            <a:r>
              <a:rPr lang="en-US" b="1" dirty="0"/>
              <a:t>Infrastructure as a Service (</a:t>
            </a:r>
            <a:r>
              <a:rPr lang="en-US" b="1" dirty="0" err="1"/>
              <a:t>IaaS</a:t>
            </a:r>
            <a:r>
              <a:rPr lang="en-US" b="1" dirty="0"/>
              <a:t>)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Provides virtualized computing resources over the internet, allowing developers to rent servers, storage, and networking without the need for physical hardware.</a:t>
            </a:r>
          </a:p>
          <a:p>
            <a:pPr lvl="1"/>
            <a:r>
              <a:rPr lang="en-US" dirty="0"/>
              <a:t>Enables quick scaling of resources to meet varying workloads.</a:t>
            </a:r>
          </a:p>
          <a:p>
            <a:r>
              <a:rPr lang="en-US" b="1" dirty="0"/>
              <a:t>Platform as a Service (</a:t>
            </a:r>
            <a:r>
              <a:rPr lang="en-US" b="1" dirty="0" err="1"/>
              <a:t>PaaS</a:t>
            </a:r>
            <a:r>
              <a:rPr lang="en-US" b="1" dirty="0"/>
              <a:t>)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Offers a platform allowing developers to build, deploy, and manage applications without dealing with the underlying infrastructure.</a:t>
            </a:r>
          </a:p>
          <a:p>
            <a:pPr lvl="1"/>
            <a:r>
              <a:rPr lang="en-US" dirty="0"/>
              <a:t>Facilitates rapid development with built-in tools for testing, integration, and deployment.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909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Uses of Cloud Computing in Software Engineering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b="1" dirty="0"/>
              <a:t>Software Development and Collaboration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Cloud-based collaboration tools (e.g., </a:t>
            </a:r>
            <a:r>
              <a:rPr lang="en-US" dirty="0" err="1" smtClean="0"/>
              <a:t>GitHub</a:t>
            </a:r>
            <a:r>
              <a:rPr lang="en-US" dirty="0"/>
              <a:t>, </a:t>
            </a:r>
            <a:r>
              <a:rPr lang="en-US" dirty="0" err="1" smtClean="0"/>
              <a:t>GitLab</a:t>
            </a:r>
            <a:r>
              <a:rPr lang="en-US" dirty="0"/>
              <a:t>) enable version control, code reviews, and team collaboration.</a:t>
            </a:r>
          </a:p>
          <a:p>
            <a:pPr lvl="1"/>
            <a:r>
              <a:rPr lang="en-US" dirty="0"/>
              <a:t>Facilitates remote work and collaboration among geographically dispersed teams.</a:t>
            </a:r>
          </a:p>
          <a:p>
            <a:r>
              <a:rPr lang="en-US" b="1" dirty="0"/>
              <a:t>Continuous Integration/Continuous Deployment (CI/CD)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Cloud services support CI/CD pipelines, automating the process of integrating code changes and deploying applications.</a:t>
            </a:r>
          </a:p>
          <a:p>
            <a:pPr lvl="1"/>
            <a:r>
              <a:rPr lang="en-US" dirty="0"/>
              <a:t>Tools like Jenkins, </a:t>
            </a:r>
            <a:r>
              <a:rPr lang="en-US" dirty="0" smtClean="0"/>
              <a:t>Circle CI</a:t>
            </a:r>
            <a:r>
              <a:rPr lang="en-US" dirty="0"/>
              <a:t>, and </a:t>
            </a:r>
            <a:r>
              <a:rPr lang="en-US" dirty="0" err="1" smtClean="0"/>
              <a:t>Git</a:t>
            </a:r>
            <a:r>
              <a:rPr lang="en-US" dirty="0" smtClean="0"/>
              <a:t> Hub </a:t>
            </a:r>
            <a:r>
              <a:rPr lang="en-US" dirty="0"/>
              <a:t>Actions can be easily integrated with cloud services.</a:t>
            </a:r>
          </a:p>
          <a:p>
            <a:r>
              <a:rPr lang="en-US" b="1" dirty="0" err="1"/>
              <a:t>Microservices</a:t>
            </a:r>
            <a:r>
              <a:rPr lang="en-US" b="1" dirty="0"/>
              <a:t> Architecture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The cloud provides an ideal environment for deploying </a:t>
            </a:r>
            <a:r>
              <a:rPr lang="en-US" dirty="0" smtClean="0"/>
              <a:t>micro services</a:t>
            </a:r>
            <a:r>
              <a:rPr lang="en-US" dirty="0"/>
              <a:t>, enabling independent scaling, development, and maintenance of different application components.</a:t>
            </a:r>
          </a:p>
          <a:p>
            <a:pPr lvl="1"/>
            <a:r>
              <a:rPr lang="en-US" dirty="0"/>
              <a:t>Services like </a:t>
            </a:r>
            <a:r>
              <a:rPr lang="en-US" dirty="0" err="1"/>
              <a:t>Kubernetes</a:t>
            </a:r>
            <a:r>
              <a:rPr lang="en-US" dirty="0"/>
              <a:t> and </a:t>
            </a:r>
            <a:r>
              <a:rPr lang="en-US" dirty="0" err="1"/>
              <a:t>Docker</a:t>
            </a:r>
            <a:r>
              <a:rPr lang="en-US" dirty="0"/>
              <a:t> can be easily utilized in the cloud for container orchestration.</a:t>
            </a:r>
          </a:p>
          <a:p>
            <a:r>
              <a:rPr lang="en-US" b="1" dirty="0" err="1" smtClean="0"/>
              <a:t>Serverless</a:t>
            </a:r>
            <a:r>
              <a:rPr lang="en-US" b="1" dirty="0" smtClean="0"/>
              <a:t> </a:t>
            </a:r>
            <a:r>
              <a:rPr lang="en-US" b="1" dirty="0"/>
              <a:t>Computing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Allows developers to run code in response to events without provisioning or managing servers, reducing operational overhead.</a:t>
            </a:r>
          </a:p>
          <a:p>
            <a:pPr lvl="1"/>
            <a:r>
              <a:rPr lang="en-US" dirty="0"/>
              <a:t>Services like </a:t>
            </a:r>
            <a:r>
              <a:rPr lang="en-US" dirty="0" err="1"/>
              <a:t>AWS</a:t>
            </a:r>
            <a:r>
              <a:rPr lang="en-US" dirty="0"/>
              <a:t> Lambda, Azure Functions, and Google Cloud Functions simplify the execution of backend processes.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9096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Cloud </a:t>
            </a:r>
            <a:r>
              <a:rPr lang="en-US" dirty="0" smtClean="0"/>
              <a:t>Services </a:t>
            </a:r>
            <a:r>
              <a:rPr lang="en-US" dirty="0" smtClean="0"/>
              <a:t> Uses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b="1" dirty="0"/>
              <a:t>Disaster Recovery and Backup</a:t>
            </a:r>
            <a:r>
              <a:rPr lang="en-US" dirty="0"/>
              <a:t>: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Cloud solutions provide easy and cost-effective options for data backup and disaster recovery, ensuring business continuity.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Automated backup solutions can be configured to protect critical application data.</a:t>
            </a:r>
          </a:p>
          <a:p>
            <a:r>
              <a:rPr lang="en-US" b="1" dirty="0"/>
              <a:t>Scalability and Elasticity</a:t>
            </a:r>
            <a:r>
              <a:rPr lang="en-US" dirty="0"/>
              <a:t>: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Applications can be scaled up or down based on demand, allowing for efficient resource utilization and cost management.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Load balancers and auto-scaling features in cloud environments help manage traffic spikes effectively.</a:t>
            </a:r>
          </a:p>
          <a:p>
            <a:r>
              <a:rPr lang="en-US" b="1" dirty="0"/>
              <a:t>Security and Compliance</a:t>
            </a:r>
            <a:r>
              <a:rPr lang="en-US" dirty="0"/>
              <a:t>: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Cloud providers invest heavily in security measures and compliance certifications, offering services such as identity and access management, encryption, and threat detection.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Developers can leverage these security features to build more secure applications.</a:t>
            </a:r>
          </a:p>
          <a:p>
            <a:r>
              <a:rPr lang="en-US" b="1" dirty="0"/>
              <a:t>Artificial Intelligence and Machine Learning</a:t>
            </a:r>
            <a:r>
              <a:rPr lang="en-US" dirty="0"/>
              <a:t>: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Cloud platforms provide access to AI and ML services, making it easier for developers to incorporate advanced analytics and machine learning capabilities into their applications.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Services like </a:t>
            </a:r>
            <a:r>
              <a:rPr lang="en-US" dirty="0" err="1"/>
              <a:t>AWS</a:t>
            </a:r>
            <a:r>
              <a:rPr lang="en-US" dirty="0"/>
              <a:t> </a:t>
            </a:r>
            <a:r>
              <a:rPr lang="en-US" dirty="0" err="1"/>
              <a:t>SageMaker</a:t>
            </a:r>
            <a:r>
              <a:rPr lang="en-US" dirty="0"/>
              <a:t>, Azure Machine Learning, and Google AI Platform facilitate the development and deployment of machine learning models.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553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200" b="1" dirty="0"/>
              <a:t>Advantages of Using Cloud Services in Software Development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 smtClean="0"/>
              <a:t>Scalability</a:t>
            </a:r>
            <a:r>
              <a:rPr lang="en-US" dirty="0"/>
              <a:t>: Cloud services allow developers to easily scale resources up or down based on demand. This flexibility is particularly beneficial for applications with fluctuating workloads.</a:t>
            </a:r>
          </a:p>
          <a:p>
            <a:r>
              <a:rPr lang="en-US" b="1" dirty="0"/>
              <a:t>Cost Efficiency</a:t>
            </a:r>
            <a:r>
              <a:rPr lang="en-US" dirty="0"/>
              <a:t>: Many cloud providers offer pay-as-you-go pricing models, which can reduce upfront costs. Organizations can avoid the expense of purchasing hardware and only pay for the resources they use.</a:t>
            </a:r>
          </a:p>
          <a:p>
            <a:r>
              <a:rPr lang="en-US" b="1" dirty="0"/>
              <a:t>Accessibility</a:t>
            </a:r>
            <a:r>
              <a:rPr lang="en-US" dirty="0"/>
              <a:t>: Cloud services enable developers to access their work from anywhere with an internet connection. This facilitates remote collaboration and supports distributed teams.</a:t>
            </a:r>
          </a:p>
          <a:p>
            <a:r>
              <a:rPr lang="en-US" b="1" dirty="0"/>
              <a:t>Rapid Deployment</a:t>
            </a:r>
            <a:r>
              <a:rPr lang="en-US" dirty="0"/>
              <a:t>: Cloud platforms often provide tools and services that streamline the development process, allowing for faster deployment of applications and updates.</a:t>
            </a:r>
          </a:p>
          <a:p>
            <a:r>
              <a:rPr lang="en-US" b="1" dirty="0"/>
              <a:t>Automatic Updates</a:t>
            </a:r>
            <a:r>
              <a:rPr lang="en-US" dirty="0"/>
              <a:t>: Cloud providers typically manage software updates, ensuring that developers are working with the latest tools and technologies without manual intervention.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817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Advantages of Using Cloud Services in Software Development</a:t>
            </a:r>
            <a:endParaRPr lang="en-US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Enhanced Collaboration</a:t>
            </a:r>
            <a:r>
              <a:rPr lang="en-US" dirty="0"/>
              <a:t>: Cloud services often come with integrated collaboration tools, making it easier for teams to work together on projects in real-time.</a:t>
            </a:r>
          </a:p>
          <a:p>
            <a:r>
              <a:rPr lang="en-US" b="1" dirty="0"/>
              <a:t>Disaster Recovery and Backup</a:t>
            </a:r>
            <a:r>
              <a:rPr lang="en-US" dirty="0"/>
              <a:t>: Many cloud providers offer built-in backup and disaster recovery solutions, which can help protect data and minimize downtime in case of failures.</a:t>
            </a:r>
          </a:p>
          <a:p>
            <a:r>
              <a:rPr lang="en-US" b="1" dirty="0"/>
              <a:t>Access to Advanced Technologies</a:t>
            </a:r>
            <a:r>
              <a:rPr lang="en-US" dirty="0"/>
              <a:t>: Cloud platforms often provide access to advanced technologies (like AI, machine learning, and big data analytics) that might be difficult to implement on-premises.</a:t>
            </a:r>
          </a:p>
          <a:p>
            <a:r>
              <a:rPr lang="en-US" b="1" dirty="0"/>
              <a:t>Security</a:t>
            </a:r>
            <a:r>
              <a:rPr lang="en-US" dirty="0"/>
              <a:t>: Major cloud providers invest heavily in security measures, providing better protection for data than many organizations could achieve on their own.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7799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200" b="1" dirty="0"/>
              <a:t>Disadvantages of Using Cloud Services in Software Development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 smtClean="0"/>
              <a:t>Dependency </a:t>
            </a:r>
            <a:r>
              <a:rPr lang="en-US" b="1" dirty="0"/>
              <a:t>on Internet Connectivity</a:t>
            </a:r>
            <a:r>
              <a:rPr lang="en-US" dirty="0"/>
              <a:t>: Cloud services require a stable internet connection. Any downtime or slow connections can hinder development and access to resources.</a:t>
            </a:r>
          </a:p>
          <a:p>
            <a:r>
              <a:rPr lang="en-US" b="1" dirty="0"/>
              <a:t>Vendor Lock-In</a:t>
            </a:r>
            <a:r>
              <a:rPr lang="en-US" dirty="0"/>
              <a:t>: Organizations may become dependent on a specific cloud provider's tools and services, making it challenging to switch providers or migrate to on-premises solutions.</a:t>
            </a:r>
          </a:p>
          <a:p>
            <a:r>
              <a:rPr lang="en-US" b="1" dirty="0"/>
              <a:t>Limited Control</a:t>
            </a:r>
            <a:r>
              <a:rPr lang="en-US" dirty="0"/>
              <a:t>: Using cloud services means relinquishing some control over infrastructure and security protocols, which may not align with specific organizational policies.</a:t>
            </a:r>
          </a:p>
          <a:p>
            <a:r>
              <a:rPr lang="en-US" b="1" dirty="0"/>
              <a:t>Compliance and Regulatory Issues</a:t>
            </a:r>
            <a:r>
              <a:rPr lang="en-US" dirty="0"/>
              <a:t>: Storing data in the cloud may raise compliance concerns, especially for industries with strict regulations regarding data privacy and security.</a:t>
            </a:r>
          </a:p>
          <a:p>
            <a:r>
              <a:rPr lang="en-US" b="1" dirty="0"/>
              <a:t>Potential for Increased Costs</a:t>
            </a:r>
            <a:r>
              <a:rPr lang="en-US" dirty="0"/>
              <a:t>: While cloud services can be cost-effective, poorly managed resources can lead to unexpected costs, especially if usage spikes or if services are not properly configured.</a:t>
            </a:r>
          </a:p>
          <a:p>
            <a:r>
              <a:rPr lang="en-US" dirty="0" smtClean="0"/>
              <a:t>require </a:t>
            </a:r>
            <a:r>
              <a:rPr lang="en-US" dirty="0"/>
              <a:t>real-time processing.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4302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200" b="1" dirty="0"/>
              <a:t>Disadvantages of Using Cloud Services in Software Development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Performance Variability</a:t>
            </a:r>
            <a:r>
              <a:rPr lang="en-US" dirty="0"/>
              <a:t>: Cloud services can experience performance fluctuations based on shared resources, which might affect application performance during peak usage times.</a:t>
            </a:r>
          </a:p>
          <a:p>
            <a:r>
              <a:rPr lang="en-US" b="1" dirty="0"/>
              <a:t>Data Security and Privacy Concerns</a:t>
            </a:r>
            <a:r>
              <a:rPr lang="en-US" dirty="0"/>
              <a:t>: While cloud providers typically offer robust security measures, there is still a risk of data breaches, and organizations must ensure that their data is protected.</a:t>
            </a:r>
          </a:p>
          <a:p>
            <a:r>
              <a:rPr lang="en-US" b="1" dirty="0"/>
              <a:t>Complexity in Management</a:t>
            </a:r>
            <a:r>
              <a:rPr lang="en-US" dirty="0"/>
              <a:t>: Managing multiple cloud services can become complex, especially if different teams use different platforms, leading to potential integration and management challenges.</a:t>
            </a:r>
          </a:p>
          <a:p>
            <a:r>
              <a:rPr lang="en-US" b="1" dirty="0"/>
              <a:t>Latency Issues</a:t>
            </a:r>
            <a:r>
              <a:rPr lang="en-US" dirty="0"/>
              <a:t>: Depending on the geographical location of the cloud data centers, latency might be a concern for applications that</a:t>
            </a:r>
          </a:p>
        </p:txBody>
      </p:sp>
    </p:spTree>
    <p:extLst>
      <p:ext uri="{BB962C8B-B14F-4D97-AF65-F5344CB8AC3E}">
        <p14:creationId xmlns:p14="http://schemas.microsoft.com/office/powerpoint/2010/main" val="2557143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2904</Words>
  <Application>Microsoft Office PowerPoint</Application>
  <PresentationFormat>On-screen Show (4:3)</PresentationFormat>
  <Paragraphs>222</Paragraphs>
  <Slides>43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4" baseType="lpstr">
      <vt:lpstr>Office Theme</vt:lpstr>
      <vt:lpstr>Advanced Software Engineering </vt:lpstr>
      <vt:lpstr>Reuse-based software engineering</vt:lpstr>
      <vt:lpstr>Reuse-based software engineering</vt:lpstr>
      <vt:lpstr>Benefits of Re-Use </vt:lpstr>
      <vt:lpstr>Problem of Re-Use  </vt:lpstr>
      <vt:lpstr>The reuse landscape</vt:lpstr>
      <vt:lpstr>Application frameworks</vt:lpstr>
      <vt:lpstr> Reasons why frameworks are important:</vt:lpstr>
      <vt:lpstr>Web application frameworks (WAFs)  </vt:lpstr>
      <vt:lpstr>Web application frameworks (WAFs)</vt:lpstr>
      <vt:lpstr>Application Frameworks </vt:lpstr>
      <vt:lpstr>MVC Framework </vt:lpstr>
      <vt:lpstr>MVC Framework </vt:lpstr>
      <vt:lpstr>Software product lines </vt:lpstr>
      <vt:lpstr>Software product lines </vt:lpstr>
      <vt:lpstr>Software product lines </vt:lpstr>
      <vt:lpstr>Software product lines </vt:lpstr>
      <vt:lpstr>Example</vt:lpstr>
      <vt:lpstr>Software product line</vt:lpstr>
      <vt:lpstr>Software product line</vt:lpstr>
      <vt:lpstr>Steps involved in extending a software product line to create a new application. </vt:lpstr>
      <vt:lpstr>Steps involved in extending a software product line</vt:lpstr>
      <vt:lpstr>COTS product reuse</vt:lpstr>
      <vt:lpstr>COTS Benefits </vt:lpstr>
      <vt:lpstr>COTS Benefits</vt:lpstr>
      <vt:lpstr>COTS approach problems</vt:lpstr>
      <vt:lpstr>COTS approach problems</vt:lpstr>
      <vt:lpstr>COTS</vt:lpstr>
      <vt:lpstr>Difference between COTS solution and COTS integrated system</vt:lpstr>
      <vt:lpstr>AI in software Engineering </vt:lpstr>
      <vt:lpstr>AI in software Engineering </vt:lpstr>
      <vt:lpstr>Uses of AI in software Engineering </vt:lpstr>
      <vt:lpstr>Uses of AI in software Engineering </vt:lpstr>
      <vt:lpstr>Advantages of Using AI in Software Engineering </vt:lpstr>
      <vt:lpstr>Demerits of Using AI in Software Engineering </vt:lpstr>
      <vt:lpstr>Demerits of Using AI in Software Engineering </vt:lpstr>
      <vt:lpstr>Uses of Cloud Computing in Software Engineering </vt:lpstr>
      <vt:lpstr>Uses of Cloud Computing in Software Engineering </vt:lpstr>
      <vt:lpstr>Cloud Services  Uses </vt:lpstr>
      <vt:lpstr>Advantages of Using Cloud Services in Software Development </vt:lpstr>
      <vt:lpstr>Advantages of Using Cloud Services in Software Development</vt:lpstr>
      <vt:lpstr>Disadvantages of Using Cloud Services in Software Development </vt:lpstr>
      <vt:lpstr>Disadvantages of Using Cloud Services in Software Development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Software Engineering</dc:title>
  <dc:creator>Administrator</dc:creator>
  <cp:lastModifiedBy>Administrator</cp:lastModifiedBy>
  <cp:revision>21</cp:revision>
  <dcterms:created xsi:type="dcterms:W3CDTF">2025-02-21T03:20:46Z</dcterms:created>
  <dcterms:modified xsi:type="dcterms:W3CDTF">2025-03-02T00:10:09Z</dcterms:modified>
</cp:coreProperties>
</file>