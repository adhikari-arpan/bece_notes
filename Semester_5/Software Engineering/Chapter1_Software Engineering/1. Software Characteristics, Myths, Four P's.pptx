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8" r:id="rId2"/>
    <p:sldId id="290" r:id="rId3"/>
    <p:sldId id="259" r:id="rId4"/>
    <p:sldId id="260" r:id="rId5"/>
    <p:sldId id="263" r:id="rId6"/>
    <p:sldId id="261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91" r:id="rId17"/>
    <p:sldId id="293" r:id="rId18"/>
    <p:sldId id="294" r:id="rId19"/>
    <p:sldId id="292" r:id="rId20"/>
    <p:sldId id="295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6A7CB9-5746-4C3B-9134-2D88655D6C3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39554E-3399-41D3-9D51-F69337496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960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8BBF5-1211-460F-BC81-9A4EC1DC24F8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Teaching Material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E1FA5-6533-482D-B843-505061329338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Teaching Material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1FD4F-C0FD-4549-AD97-68DFA723DC9F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Teaching Material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C3BD0-CAD0-4BB8-958B-163ECAAE7AA6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Teaching Material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965FF-5D57-40EF-B400-53257874A7A5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Teaching Material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F60BB-5A81-4F25-96FA-58F703BA1808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Teaching Material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E4497-7E4B-4F28-A258-16D9B11013DF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Teaching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377B5-8B2B-4CD8-82BE-6F518AF28A59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Teaching Material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41110-6181-47F4-A964-0E7880FBE110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Teaching Material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EF239-18F6-4209-A5A9-45646F8D5BC9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Teaching Material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1F3BB-64F5-4B69-A718-8858EF989D07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Teaching Material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C5A96C-2A92-4A41-8328-843C5CB2319E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SEF Teaching Material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D86F29-1F0B-4E2A-A6C5-E893792F01D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Definition of software  </a:t>
            </a:r>
          </a:p>
          <a:p>
            <a:r>
              <a:rPr lang="en-US" dirty="0"/>
              <a:t>Software Engineering vs. Computer Science</a:t>
            </a:r>
          </a:p>
          <a:p>
            <a:r>
              <a:rPr lang="en-US" dirty="0"/>
              <a:t>Failure curve of  Hardware and software</a:t>
            </a:r>
          </a:p>
          <a:p>
            <a:r>
              <a:rPr lang="en-US" dirty="0"/>
              <a:t>Software Myths </a:t>
            </a:r>
          </a:p>
          <a:p>
            <a:r>
              <a:rPr lang="en-US" dirty="0"/>
              <a:t>Software development life cycle (SDLC)</a:t>
            </a:r>
          </a:p>
          <a:p>
            <a:r>
              <a:rPr lang="en-US" dirty="0"/>
              <a:t>Software Development  methods 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00BAC-6D2A-46DD-A3E4-E7F94BA2B6FB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Teaching Material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Metaphor for Software Development 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3512" y="1648619"/>
            <a:ext cx="6276975" cy="442912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5E009-97DE-4F4C-9BE9-CB603AB9F58B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Teaching Material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755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Software</a:t>
            </a:r>
            <a:r>
              <a:rPr lang="en-US" dirty="0"/>
              <a:t> (set of instruction + design diagrams+ necessary databases)</a:t>
            </a:r>
          </a:p>
          <a:p>
            <a:r>
              <a:rPr lang="en-US" b="1" dirty="0"/>
              <a:t>Software Engineering </a:t>
            </a:r>
            <a:r>
              <a:rPr lang="en-US" dirty="0"/>
              <a:t>: Creation and design of the software .</a:t>
            </a:r>
          </a:p>
          <a:p>
            <a:r>
              <a:rPr lang="en-US" b="1" dirty="0"/>
              <a:t>Computer Science</a:t>
            </a:r>
            <a:r>
              <a:rPr lang="en-US" dirty="0"/>
              <a:t>: Broad approach to the study of the principles and use of computers that covers both theory and application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078DA-2DAD-4C69-989B-3220B6C6256C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Teaching Material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None/>
            </a:pPr>
            <a:r>
              <a:rPr lang="en-US" sz="2800" dirty="0"/>
              <a:t>software has characteristics that are considerably different than those of hardware: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Software is developed ; it is not manufactured (</a:t>
            </a:r>
            <a:r>
              <a:rPr lang="en-US" sz="1700" i="1" dirty="0"/>
              <a:t>Both process focuses to achieve high quality, for hardware can introduce quality problems that are nonexistent for a software</a:t>
            </a:r>
            <a:r>
              <a:rPr lang="en-US" dirty="0"/>
              <a:t>)</a:t>
            </a:r>
          </a:p>
          <a:p>
            <a:pPr marL="514350" indent="-514350">
              <a:buAutoNum type="arabicPeriod"/>
            </a:pPr>
            <a:r>
              <a:rPr lang="en-US" dirty="0"/>
              <a:t>Software doesn’t “wear out.”</a:t>
            </a:r>
          </a:p>
          <a:p>
            <a:pPr marL="514350" indent="-514350">
              <a:buNone/>
            </a:pPr>
            <a:r>
              <a:rPr lang="en-US" dirty="0"/>
              <a:t> </a:t>
            </a:r>
          </a:p>
          <a:p>
            <a:pPr marL="514350" indent="-514350">
              <a:buNone/>
            </a:pPr>
            <a:r>
              <a:rPr lang="en-US" dirty="0"/>
              <a:t>3. Software is custom build 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22C0C-0428-4321-8783-56D1418AD021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Teaching Material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software 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41230" y="1905000"/>
            <a:ext cx="8345570" cy="3953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838200" y="3810000"/>
            <a:ext cx="1600200" cy="2362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2. Software doesn’t wear out but it does deteriorates  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D216D-A5D2-434A-867B-21D6220E94EB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Teaching Material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 Software 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42234" y="1981200"/>
            <a:ext cx="7787366" cy="40254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838200" y="5638800"/>
            <a:ext cx="7391400" cy="990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2. Software doesn't wear out but hardware  does  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195A1-813A-4AAB-87E8-C72C3EA153B5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Teaching Material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Myths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en-US" b="1" dirty="0"/>
              <a:t>Management myths</a:t>
            </a:r>
          </a:p>
          <a:p>
            <a:pPr>
              <a:buNone/>
            </a:pPr>
            <a:r>
              <a:rPr lang="en-US" dirty="0"/>
              <a:t>Myth: </a:t>
            </a:r>
            <a:r>
              <a:rPr lang="en-US" b="1" i="1" dirty="0"/>
              <a:t>We already have a book that’s full of standards and procedures for building software</a:t>
            </a:r>
            <a:r>
              <a:rPr lang="en-US" dirty="0"/>
              <a:t>. Won’t that provide my people with everything they need to know?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2000" i="1" dirty="0"/>
              <a:t>Reality: </a:t>
            </a:r>
            <a:r>
              <a:rPr lang="en-US" sz="2000" i="1" dirty="0">
                <a:solidFill>
                  <a:srgbClr val="FF0000"/>
                </a:solidFill>
              </a:rPr>
              <a:t>Are software practitioners aware of its existence? Does it reflect modern software engineering practice? Is it complete? Is it adaptable</a:t>
            </a:r>
            <a:r>
              <a:rPr lang="en-US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92719-F4F4-4422-A1C6-FA8C15246BB7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Teaching Material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Myths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			</a:t>
            </a:r>
            <a:r>
              <a:rPr lang="en-US" b="1" dirty="0"/>
              <a:t>Management Myths</a:t>
            </a:r>
          </a:p>
          <a:p>
            <a:pPr>
              <a:buNone/>
            </a:pPr>
            <a:r>
              <a:rPr lang="en-US" dirty="0"/>
              <a:t>Myth :If we get </a:t>
            </a:r>
            <a:r>
              <a:rPr lang="en-US" b="1" dirty="0"/>
              <a:t>behind schedule</a:t>
            </a:r>
            <a:r>
              <a:rPr lang="en-US" dirty="0"/>
              <a:t>, we can add more programmers and catch up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2400" i="1" dirty="0"/>
              <a:t>Reality :</a:t>
            </a:r>
            <a:r>
              <a:rPr lang="en-US" sz="2400" i="1" dirty="0">
                <a:solidFill>
                  <a:srgbClr val="FF0000"/>
                </a:solidFill>
              </a:rPr>
              <a:t>new people are added, people who were working must spend time educating the newcomers, thereby reducing the amount of time spent on productive development effort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6AE84-ED26-4995-8478-7BEED46F3545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Teaching Material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Myths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			</a:t>
            </a:r>
            <a:r>
              <a:rPr lang="en-US" b="1" dirty="0"/>
              <a:t>Management Myth </a:t>
            </a:r>
          </a:p>
          <a:p>
            <a:pPr>
              <a:buNone/>
            </a:pPr>
            <a:r>
              <a:rPr lang="en-US" dirty="0"/>
              <a:t>Myth: If I decide to outsource the software project to a third party, I can just relax and let that firm build it.</a:t>
            </a:r>
          </a:p>
          <a:p>
            <a:endParaRPr lang="en-US" dirty="0"/>
          </a:p>
          <a:p>
            <a:pPr>
              <a:buNone/>
            </a:pPr>
            <a:r>
              <a:rPr lang="en-US" sz="2000" i="1" dirty="0"/>
              <a:t>Reality: </a:t>
            </a:r>
            <a:r>
              <a:rPr lang="en-US" sz="2000" i="1" dirty="0">
                <a:solidFill>
                  <a:srgbClr val="FF0000"/>
                </a:solidFill>
              </a:rPr>
              <a:t>If an organization does not understand how to manage and control software projects internally, it will invariably struggle when it outsources software projects.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2F4C1-6099-45B1-9730-CBE32561E9B4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Teaching Material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Myths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en-US" b="1" dirty="0"/>
              <a:t>Customer myths</a:t>
            </a:r>
          </a:p>
          <a:p>
            <a:pPr>
              <a:buNone/>
            </a:pPr>
            <a:r>
              <a:rPr lang="en-US" dirty="0"/>
              <a:t>Myth: A </a:t>
            </a:r>
            <a:r>
              <a:rPr lang="en-US" b="1" dirty="0"/>
              <a:t>general statement</a:t>
            </a:r>
            <a:r>
              <a:rPr lang="en-US" dirty="0"/>
              <a:t> of objectives is sufficient to begin writing programs—we can fill in the details later.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i="1" dirty="0"/>
              <a:t>Reality: </a:t>
            </a:r>
            <a:r>
              <a:rPr lang="en-US" i="1" dirty="0">
                <a:solidFill>
                  <a:srgbClr val="FF0000"/>
                </a:solidFill>
              </a:rPr>
              <a:t>an ambiguous “statement of objectives” is a recipe for disaster.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33FFF-365B-4E64-AA81-D54A6136E3A9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Teaching Material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Myths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en-US" b="1" dirty="0"/>
              <a:t>Customer </a:t>
            </a:r>
          </a:p>
          <a:p>
            <a:pPr>
              <a:buNone/>
            </a:pPr>
            <a:r>
              <a:rPr lang="en-US" dirty="0"/>
              <a:t>Myth: Software </a:t>
            </a:r>
            <a:r>
              <a:rPr lang="en-US" b="1" dirty="0"/>
              <a:t>requirements continually change</a:t>
            </a:r>
            <a:r>
              <a:rPr lang="en-US" dirty="0"/>
              <a:t>, but change can be easily accommodated because software is flexible.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2600" i="1" dirty="0"/>
              <a:t>Reality :</a:t>
            </a:r>
            <a:r>
              <a:rPr lang="en-US" sz="2600" i="1" dirty="0">
                <a:solidFill>
                  <a:srgbClr val="FF0000"/>
                </a:solidFill>
              </a:rPr>
              <a:t>When requirements changes are requested early (before design or code has been started), the cost impact is relatively  small. However, as time passes, the cost impact grows rapidly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3CB3D-D35A-4421-9A92-B0E6557A6DA9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Teaching Material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Myths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			</a:t>
            </a:r>
            <a:r>
              <a:rPr lang="en-US" b="1" dirty="0"/>
              <a:t>Practitioner’s myths.</a:t>
            </a:r>
          </a:p>
          <a:p>
            <a:pPr>
              <a:buNone/>
            </a:pPr>
            <a:r>
              <a:rPr lang="en-US" dirty="0"/>
              <a:t>Myth: Once we write the program and get it to work, our job is done</a:t>
            </a:r>
          </a:p>
          <a:p>
            <a:pPr>
              <a:buNone/>
            </a:pPr>
            <a:r>
              <a:rPr lang="en-US" sz="2400" i="1" dirty="0"/>
              <a:t>Reality: </a:t>
            </a:r>
            <a:r>
              <a:rPr lang="en-US" sz="2400" i="1" dirty="0">
                <a:solidFill>
                  <a:srgbClr val="FF0000"/>
                </a:solidFill>
              </a:rPr>
              <a:t>Industry data indicate that between 60 and 80 percent of all effort expended on software will be expended after it is delivered to the customer for the first time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2369A-AF81-4BF2-A574-82C791CBA6AC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Teaching Material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Myths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				</a:t>
            </a:r>
            <a:r>
              <a:rPr lang="en-US" b="1" dirty="0"/>
              <a:t>Practitioner’s myths </a:t>
            </a:r>
          </a:p>
          <a:p>
            <a:pPr>
              <a:buNone/>
            </a:pPr>
            <a:r>
              <a:rPr lang="en-US" dirty="0"/>
              <a:t>Myth: Until I get the program “running” I have no way of assessing its quality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Reality: </a:t>
            </a:r>
            <a:r>
              <a:rPr lang="en-US" dirty="0">
                <a:solidFill>
                  <a:srgbClr val="FF0000"/>
                </a:solidFill>
              </a:rPr>
              <a:t>Quality focuses from at the time of requirement analysis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9FF2D-83F8-444D-8A3C-68C450B16ADE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Teaching Material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Myths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Myth: The only </a:t>
            </a:r>
            <a:r>
              <a:rPr lang="en-US" b="1" dirty="0"/>
              <a:t>deliverable work product </a:t>
            </a:r>
            <a:r>
              <a:rPr lang="en-US" dirty="0"/>
              <a:t>for a successful project is the working program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2200" i="1" dirty="0"/>
              <a:t>Reality</a:t>
            </a:r>
            <a:r>
              <a:rPr lang="en-US" sz="2200" i="1" dirty="0">
                <a:solidFill>
                  <a:srgbClr val="FF0000"/>
                </a:solidFill>
              </a:rPr>
              <a:t>: A variety of work products (e.g., models, documents, plans) provide a foundation for successful engineering and, more important, guidance for software support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A580A-AE10-4E1D-9C39-CD7BC781A192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Teaching Material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Myths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/>
              <a:t>			</a:t>
            </a:r>
            <a:r>
              <a:rPr lang="en-US" b="1" dirty="0"/>
              <a:t>Practitioners Myths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Myth: Software engineering will make us </a:t>
            </a:r>
            <a:r>
              <a:rPr lang="en-US" b="1" dirty="0"/>
              <a:t>create voluminous and unnecessary </a:t>
            </a:r>
            <a:r>
              <a:rPr lang="en-US" dirty="0"/>
              <a:t>documentation and will invariably slow us down.</a:t>
            </a:r>
          </a:p>
          <a:p>
            <a:r>
              <a:rPr lang="en-US" dirty="0"/>
              <a:t> Reality: </a:t>
            </a:r>
            <a:r>
              <a:rPr lang="en-US" dirty="0">
                <a:solidFill>
                  <a:srgbClr val="FF0000"/>
                </a:solidFill>
              </a:rPr>
              <a:t>Software engineering is not about creating documents. It is </a:t>
            </a:r>
            <a:r>
              <a:rPr lang="en-US" b="1" dirty="0">
                <a:solidFill>
                  <a:srgbClr val="FF0000"/>
                </a:solidFill>
              </a:rPr>
              <a:t>about creating a quality product</a:t>
            </a:r>
            <a:r>
              <a:rPr lang="en-US" dirty="0">
                <a:solidFill>
                  <a:srgbClr val="FF0000"/>
                </a:solidFill>
              </a:rPr>
              <a:t>. Better quality leads to reduced rework. And reduced rework results in faster delivery times.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FBA6-B783-4CA5-AE4A-26D4930CC375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Teaching Material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P’s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Effective software project management focus on Four P’s</a:t>
            </a:r>
          </a:p>
          <a:p>
            <a:pPr marL="2114550"/>
            <a:r>
              <a:rPr lang="en-US" b="1" dirty="0"/>
              <a:t>People</a:t>
            </a:r>
          </a:p>
          <a:p>
            <a:pPr marL="2114550"/>
            <a:r>
              <a:rPr lang="en-US" b="1" dirty="0"/>
              <a:t>Product</a:t>
            </a:r>
          </a:p>
          <a:p>
            <a:pPr marL="2114550"/>
            <a:r>
              <a:rPr lang="en-US" b="1" dirty="0"/>
              <a:t>Process</a:t>
            </a:r>
          </a:p>
          <a:p>
            <a:pPr marL="2114550"/>
            <a:r>
              <a:rPr lang="en-US" b="1" dirty="0"/>
              <a:t>Project 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A9E24-DD7E-4DA2-B02F-06DEA934FEA0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Teaching Material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1908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P’s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/>
              <a:t>                             		People</a:t>
            </a:r>
            <a:endParaRPr lang="en-US" b="1" dirty="0"/>
          </a:p>
          <a:p>
            <a:r>
              <a:rPr lang="en-US" dirty="0"/>
              <a:t>Highly </a:t>
            </a:r>
            <a:r>
              <a:rPr lang="en-US" b="1" dirty="0"/>
              <a:t>skilled manpower </a:t>
            </a:r>
            <a:r>
              <a:rPr lang="en-US" dirty="0"/>
              <a:t>is needed for the software industry </a:t>
            </a:r>
          </a:p>
          <a:p>
            <a:r>
              <a:rPr lang="en-US" dirty="0"/>
              <a:t>Software industry follows the </a:t>
            </a:r>
            <a:r>
              <a:rPr lang="en-US" b="1" i="1" dirty="0">
                <a:solidFill>
                  <a:srgbClr val="FF0000"/>
                </a:solidFill>
              </a:rPr>
              <a:t>People Management capability Maturity Model (PM-CMM)  </a:t>
            </a:r>
            <a:r>
              <a:rPr lang="en-US" i="1" dirty="0"/>
              <a:t>to enhance the readiness of software organization</a:t>
            </a:r>
            <a:r>
              <a:rPr lang="en-US" b="1" i="1" dirty="0">
                <a:solidFill>
                  <a:srgbClr val="FF0000"/>
                </a:solidFill>
              </a:rPr>
              <a:t>.</a:t>
            </a:r>
          </a:p>
          <a:p>
            <a:r>
              <a:rPr lang="en-US" b="1" i="1" dirty="0">
                <a:solidFill>
                  <a:srgbClr val="FF0000"/>
                </a:solidFill>
              </a:rPr>
              <a:t>PM-CMM </a:t>
            </a:r>
            <a:r>
              <a:rPr lang="en-US" i="1" dirty="0"/>
              <a:t>defines the key practice areas for software: recruiting, performance, training, selection, compensation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E24BE-391C-4A66-B254-2509BC57A0A2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Teaching Material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3558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P’s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</a:t>
            </a:r>
            <a:r>
              <a:rPr lang="en-US" b="1" dirty="0"/>
              <a:t> 	 Product </a:t>
            </a:r>
          </a:p>
          <a:p>
            <a:r>
              <a:rPr lang="en-US" dirty="0"/>
              <a:t>Before a project can be planned</a:t>
            </a:r>
            <a:r>
              <a:rPr lang="en-US" b="1" dirty="0"/>
              <a:t>, product objective and scopes </a:t>
            </a:r>
            <a:r>
              <a:rPr lang="en-US" dirty="0"/>
              <a:t>should be established </a:t>
            </a:r>
          </a:p>
          <a:p>
            <a:r>
              <a:rPr lang="en-US" dirty="0"/>
              <a:t>Only then we can establish </a:t>
            </a:r>
            <a:r>
              <a:rPr lang="en-US" b="1" dirty="0"/>
              <a:t>accurate estimation of cost, effective project management, risk assessment, scheduling</a:t>
            </a:r>
            <a:r>
              <a:rPr lang="en-US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CF39F-01A8-48B0-9CA9-9BC423919CC6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Teaching Material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7749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P’s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                                    Process</a:t>
            </a:r>
          </a:p>
          <a:p>
            <a:pPr marL="0" indent="0">
              <a:buNone/>
            </a:pPr>
            <a:r>
              <a:rPr lang="en-US" dirty="0"/>
              <a:t>An effective software process provides the framework from which comprehensive plan for software development is established.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FA90B-DDF3-49E6-9861-DFBBB4900B17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Teaching Material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0400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P’s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                   </a:t>
            </a:r>
            <a:r>
              <a:rPr lang="en-US" b="1" dirty="0"/>
              <a:t>       	Project</a:t>
            </a:r>
          </a:p>
          <a:p>
            <a:r>
              <a:rPr lang="en-US" dirty="0"/>
              <a:t>We conduct </a:t>
            </a:r>
            <a:r>
              <a:rPr lang="en-US" dirty="0">
                <a:solidFill>
                  <a:srgbClr val="FF0000"/>
                </a:solidFill>
              </a:rPr>
              <a:t>planned and Controlled </a:t>
            </a:r>
            <a:r>
              <a:rPr lang="en-US" dirty="0"/>
              <a:t>software project for one primary reason – it is the only way to manage the complexity.</a:t>
            </a:r>
          </a:p>
          <a:p>
            <a:r>
              <a:rPr lang="en-US" dirty="0"/>
              <a:t>Many software projects have failed due to poor management of the project </a:t>
            </a:r>
          </a:p>
          <a:p>
            <a:r>
              <a:rPr lang="en-US" dirty="0"/>
              <a:t>In order to avoid the project failure a software project manager and the software engineer must develop the commonsense approach for planning, monitoring and controlling the project.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3619F-D9A3-438A-8511-F75775A289DF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Teaching Material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973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1548</TotalTime>
  <Words>927</Words>
  <Application>Microsoft Office PowerPoint</Application>
  <PresentationFormat>On-screen Show (4:3)</PresentationFormat>
  <Paragraphs>149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CHAPTER ONE</vt:lpstr>
      <vt:lpstr>Metaphor for Software Development </vt:lpstr>
      <vt:lpstr>PowerPoint Presentation</vt:lpstr>
      <vt:lpstr>Characteristics of Software</vt:lpstr>
      <vt:lpstr>Characteristics of software </vt:lpstr>
      <vt:lpstr>Characteristics of  Software </vt:lpstr>
      <vt:lpstr>Software Myths </vt:lpstr>
      <vt:lpstr>Software Myths </vt:lpstr>
      <vt:lpstr>Software Myths</vt:lpstr>
      <vt:lpstr>Software Myths</vt:lpstr>
      <vt:lpstr>Software Myths</vt:lpstr>
      <vt:lpstr>Software Myths </vt:lpstr>
      <vt:lpstr>Software Myths </vt:lpstr>
      <vt:lpstr>Software Myths</vt:lpstr>
      <vt:lpstr>Software Myths</vt:lpstr>
      <vt:lpstr>FOUR P’s</vt:lpstr>
      <vt:lpstr>Four P’s </vt:lpstr>
      <vt:lpstr>Four P’s</vt:lpstr>
      <vt:lpstr>Four P’s </vt:lpstr>
      <vt:lpstr>Four P’s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DELL</dc:creator>
  <cp:lastModifiedBy>Arpan Adhikari</cp:lastModifiedBy>
  <cp:revision>89</cp:revision>
  <dcterms:created xsi:type="dcterms:W3CDTF">2020-06-07T18:04:43Z</dcterms:created>
  <dcterms:modified xsi:type="dcterms:W3CDTF">2026-02-28T07:45:00Z</dcterms:modified>
</cp:coreProperties>
</file>