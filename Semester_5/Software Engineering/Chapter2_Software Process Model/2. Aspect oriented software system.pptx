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6" r:id="rId3"/>
    <p:sldId id="274" r:id="rId4"/>
    <p:sldId id="269" r:id="rId5"/>
    <p:sldId id="270" r:id="rId6"/>
    <p:sldId id="271" r:id="rId7"/>
    <p:sldId id="272" r:id="rId8"/>
    <p:sldId id="273" r:id="rId9"/>
    <p:sldId id="258" r:id="rId10"/>
    <p:sldId id="260" r:id="rId11"/>
    <p:sldId id="259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5" r:id="rId20"/>
    <p:sldId id="276" r:id="rId21"/>
    <p:sldId id="268" r:id="rId22"/>
    <p:sldId id="277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>
      <p:cViewPr varScale="1">
        <p:scale>
          <a:sx n="82" d="100"/>
          <a:sy n="82" d="100"/>
        </p:scale>
        <p:origin x="-1579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38BDC-5A37-4DBE-BB61-E771FAA7589E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3FEB4-E11E-4C07-91ED-2EBBF16D1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7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3FEB4-E11E-4C07-91ED-2EBBF16D1C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7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7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3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1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3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1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7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4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6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9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1383D-3EA9-4726-9B7E-8E3126D13353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9906E-71CC-4D9E-BAE1-0D3F1A07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3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Aspect-Oriented Software </a:t>
            </a:r>
            <a:r>
              <a:rPr lang="en-US" dirty="0"/>
              <a:t>Development (</a:t>
            </a:r>
            <a:r>
              <a:rPr lang="en-US" dirty="0" err="1"/>
              <a:t>AOSD</a:t>
            </a:r>
            <a:r>
              <a:rPr lang="en-US" dirty="0"/>
              <a:t>) is a programming paradigm that focuses on separating and modularizing </a:t>
            </a:r>
            <a:r>
              <a:rPr lang="en-US" b="1" dirty="0"/>
              <a:t>cross-cutting</a:t>
            </a:r>
            <a:r>
              <a:rPr lang="en-US" dirty="0"/>
              <a:t> concerns in software development. </a:t>
            </a:r>
            <a:endParaRPr lang="en-US" dirty="0" smtClean="0"/>
          </a:p>
          <a:p>
            <a:r>
              <a:rPr lang="en-US" b="1" dirty="0" smtClean="0"/>
              <a:t>Cross-cutting</a:t>
            </a:r>
            <a:r>
              <a:rPr lang="en-US" dirty="0" smtClean="0"/>
              <a:t> concerns are functionalities that span multiple components in a program, making them hard to maintain and modularize using traditional methods.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AOSD</a:t>
            </a:r>
            <a:r>
              <a:rPr lang="en-US" dirty="0" smtClean="0"/>
              <a:t> improves code reusability, maintainability, and readability by enabling developers to encapsulate these concerns into separate units called </a:t>
            </a:r>
            <a:r>
              <a:rPr lang="en-US" b="1" dirty="0" smtClean="0">
                <a:solidFill>
                  <a:srgbClr val="FF0000"/>
                </a:solidFill>
              </a:rPr>
              <a:t>aspects.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6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 Concern?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concern is </a:t>
            </a:r>
            <a:r>
              <a:rPr lang="en-US" b="1" dirty="0"/>
              <a:t>behavior</a:t>
            </a:r>
            <a:r>
              <a:rPr lang="en-US" dirty="0"/>
              <a:t> that we want to have in a particular module of an application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A concern may be defined as a </a:t>
            </a:r>
            <a:r>
              <a:rPr lang="en-US" b="1" dirty="0"/>
              <a:t>functionality</a:t>
            </a:r>
            <a:r>
              <a:rPr lang="en-US" dirty="0"/>
              <a:t> we want to implement.</a:t>
            </a:r>
          </a:p>
        </p:txBody>
      </p:sp>
    </p:spTree>
    <p:extLst>
      <p:ext uri="{BB962C8B-B14F-4D97-AF65-F5344CB8AC3E}">
        <p14:creationId xmlns:p14="http://schemas.microsoft.com/office/powerpoint/2010/main" val="398492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496" y="1600200"/>
            <a:ext cx="429100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7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263" y="1600200"/>
            <a:ext cx="506747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86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cross cutting concern?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cross-cutting concern is a concern that is applicable throughout the application and it affects the entire application.</a:t>
            </a:r>
          </a:p>
          <a:p>
            <a:r>
              <a:rPr lang="en-US" dirty="0"/>
              <a:t>Cross-Cutting concerns help you to manage the application level functionalities in a centralized location.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09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080" y="2312377"/>
            <a:ext cx="5989839" cy="3101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946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98" y="2293325"/>
            <a:ext cx="6492803" cy="31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14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Agile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Agile methods have  been mostly used for the development of small and medium-sized systems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Of course, the need for faster delivery of software, which is more suited to customer needs, also applies to larger systems. </a:t>
            </a:r>
          </a:p>
          <a:p>
            <a:r>
              <a:rPr lang="en-US" dirty="0" smtClean="0"/>
              <a:t>Consequently, there has been a great deal of interest in scaling agile methods to cope with larger systems, developed by large organizations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410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two perspectives on the scaling of agile methods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scaling up perspective, </a:t>
            </a:r>
            <a:r>
              <a:rPr lang="en-US" dirty="0" smtClean="0"/>
              <a:t>which is concerned with using agile methods for developing </a:t>
            </a:r>
            <a:r>
              <a:rPr lang="en-US" dirty="0" smtClean="0">
                <a:solidFill>
                  <a:srgbClr val="FF0000"/>
                </a:solidFill>
              </a:rPr>
              <a:t>large software systems</a:t>
            </a:r>
            <a:r>
              <a:rPr lang="en-US" dirty="0" smtClean="0"/>
              <a:t> that cannot be developed by a small team.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1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scaling out perspective</a:t>
            </a:r>
            <a:r>
              <a:rPr lang="en-US" dirty="0" smtClean="0"/>
              <a:t>, which is concerned with how agile methods can be introduced </a:t>
            </a:r>
            <a:r>
              <a:rPr lang="en-US" dirty="0" smtClean="0">
                <a:solidFill>
                  <a:srgbClr val="FF0000"/>
                </a:solidFill>
              </a:rPr>
              <a:t>across a large organization </a:t>
            </a:r>
            <a:r>
              <a:rPr lang="en-US" dirty="0" smtClean="0"/>
              <a:t>with many years of software development experience.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4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Agile methods have to be adapted to cope with large systems engineering</a:t>
            </a:r>
            <a:r>
              <a:rPr lang="en-US" dirty="0" smtClean="0"/>
              <a:t>. </a:t>
            </a:r>
          </a:p>
          <a:p>
            <a:r>
              <a:rPr lang="en-US" dirty="0" smtClean="0"/>
              <a:t> it is essential to maintain the fundamentals of agile </a:t>
            </a:r>
            <a:r>
              <a:rPr lang="en-US" sz="1800" dirty="0" smtClean="0"/>
              <a:t>methods—flexible planning, frequent system releases, continuous integration, test driven development, and good team communications.</a:t>
            </a:r>
          </a:p>
          <a:p>
            <a:r>
              <a:rPr lang="en-US" dirty="0" smtClean="0"/>
              <a:t>Some critical adaptations that have to be introduced are as follows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46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 For large systems development, up-front          design and system documentation and  also  breakdown work across teams.</a:t>
            </a:r>
          </a:p>
          <a:p>
            <a:pPr marL="0" indent="0">
              <a:buNone/>
            </a:pPr>
            <a:r>
              <a:rPr lang="en-US" dirty="0" smtClean="0"/>
              <a:t>2 Cross-team communication mechanisms have    to be designed and used. – video </a:t>
            </a:r>
            <a:r>
              <a:rPr lang="en-US" dirty="0" err="1" smtClean="0"/>
              <a:t>conferincing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Continuous integration and  maintain frequent system builds and regular releases of the system.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61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</a:t>
            </a:r>
            <a:r>
              <a:rPr lang="en-US" dirty="0" smtClean="0"/>
              <a:t>ome of the problems in scaling-out agile methods in  large technology companies are:</a:t>
            </a:r>
          </a:p>
          <a:p>
            <a:pPr marL="0" indent="0">
              <a:buNone/>
            </a:pPr>
            <a:r>
              <a:rPr lang="en-US" dirty="0" smtClean="0"/>
              <a:t>1. Project managers who do not have experience of agile methods may be </a:t>
            </a:r>
            <a:r>
              <a:rPr lang="en-US" b="1" dirty="0" smtClean="0"/>
              <a:t>reluctant to accept the risk of a new approach.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221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2. Large organizations often have quality </a:t>
            </a:r>
            <a:r>
              <a:rPr lang="en-US" b="1" dirty="0" smtClean="0"/>
              <a:t>procedures and standards </a:t>
            </a:r>
            <a:r>
              <a:rPr lang="en-US" dirty="0" smtClean="0"/>
              <a:t>that all projects are expected to follow.</a:t>
            </a:r>
          </a:p>
          <a:p>
            <a:pPr marL="0" indent="0">
              <a:buNone/>
            </a:pPr>
            <a:r>
              <a:rPr lang="en-US" dirty="0" smtClean="0"/>
              <a:t>3. Agile methods seem to work best when team members have a relatively high skill level. However, within large organizations, there are likely to be a </a:t>
            </a:r>
            <a:r>
              <a:rPr lang="en-US" b="1" dirty="0" smtClean="0"/>
              <a:t>wide range of skills and abilities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195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4. There may be </a:t>
            </a:r>
            <a:r>
              <a:rPr lang="en-US" b="1" dirty="0" smtClean="0"/>
              <a:t>cultural resistance to agile methods, </a:t>
            </a:r>
            <a:r>
              <a:rPr lang="en-US" dirty="0" smtClean="0"/>
              <a:t>especially in those organizations that have a long history of using conventional systems engineering processes.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82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project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Agile project management is an iterative approach to managing software development projects that focuses on continuous releases and incorporating customer feedback with every iteration.</a:t>
            </a:r>
          </a:p>
          <a:p>
            <a:r>
              <a:rPr lang="en-US" dirty="0"/>
              <a:t>Software teams that embrace agile project management methodologies increase their development speed, expand collaboration, and foster the ability to better respond to market trends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Scrum </a:t>
            </a:r>
            <a:r>
              <a:rPr lang="en-US" dirty="0" smtClean="0"/>
              <a:t>approach is </a:t>
            </a:r>
            <a:r>
              <a:rPr lang="en-US" dirty="0"/>
              <a:t>a general agile method but its focus is on managing iterative development rather than specific technical approaches to agile software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377039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Scrum does not prescribe the use of programming practices such as </a:t>
            </a:r>
            <a:r>
              <a:rPr lang="en-US" b="1" dirty="0"/>
              <a:t>pair programming and test-first development</a:t>
            </a:r>
            <a:r>
              <a:rPr lang="en-US" b="1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can therefore be used with more </a:t>
            </a:r>
            <a:r>
              <a:rPr lang="en-US" dirty="0" smtClean="0"/>
              <a:t>technical </a:t>
            </a:r>
            <a:r>
              <a:rPr lang="en-US" dirty="0"/>
              <a:t>agile approaches, such as XP, to provide a management framework for the project</a:t>
            </a:r>
          </a:p>
        </p:txBody>
      </p:sp>
    </p:spTree>
    <p:extLst>
      <p:ext uri="{BB962C8B-B14F-4D97-AF65-F5344CB8AC3E}">
        <p14:creationId xmlns:p14="http://schemas.microsoft.com/office/powerpoint/2010/main" val="40080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ceremonies of Scrum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00907"/>
            <a:ext cx="8229600" cy="2324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89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22" y="1600200"/>
            <a:ext cx="783675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482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 stories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smtClean="0"/>
              <a:t>stories are </a:t>
            </a:r>
            <a:r>
              <a:rPr lang="en-US" dirty="0"/>
              <a:t>short requirements or requests written from the perspective of an end user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/>
              <a:t>User stories are often expressed in a simple sentence, structured as follows:</a:t>
            </a:r>
          </a:p>
          <a:p>
            <a:pPr fontAlgn="base"/>
            <a:r>
              <a:rPr lang="en-US" b="1" dirty="0" smtClean="0"/>
              <a:t>As </a:t>
            </a:r>
            <a:r>
              <a:rPr lang="en-US" b="1" dirty="0"/>
              <a:t>a [persona], I [want to], [so that</a:t>
            </a:r>
            <a:r>
              <a:rPr lang="en-US" b="1" dirty="0" smtClean="0"/>
              <a:t>].</a:t>
            </a:r>
          </a:p>
          <a:p>
            <a:pPr marL="0" indent="0" fontAlgn="base">
              <a:buNone/>
            </a:pPr>
            <a:r>
              <a:rPr lang="en-US" b="1" dirty="0" smtClean="0"/>
              <a:t>e.g. As a customer I want logo to updated so that it is visible over entire software project.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9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down the pros and cons of each methods.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2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5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619</Words>
  <Application>Microsoft Office PowerPoint</Application>
  <PresentationFormat>On-screen Show (4:3)</PresentationFormat>
  <Paragraphs>41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What is a Concern?</vt:lpstr>
      <vt:lpstr>PowerPoint Presentation</vt:lpstr>
      <vt:lpstr>PowerPoint Presentation</vt:lpstr>
      <vt:lpstr>What is cross cutting concern?</vt:lpstr>
      <vt:lpstr>PowerPoint Presentation</vt:lpstr>
      <vt:lpstr>PowerPoint Presentation</vt:lpstr>
      <vt:lpstr>Scaling Agile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Agile project management </vt:lpstr>
      <vt:lpstr>PowerPoint Presentation</vt:lpstr>
      <vt:lpstr>Some ceremonies of Scrum</vt:lpstr>
      <vt:lpstr>PowerPoint Presentation</vt:lpstr>
      <vt:lpstr>User stories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22</cp:revision>
  <dcterms:created xsi:type="dcterms:W3CDTF">2024-12-02T15:08:05Z</dcterms:created>
  <dcterms:modified xsi:type="dcterms:W3CDTF">2024-12-04T13:33:03Z</dcterms:modified>
</cp:coreProperties>
</file>