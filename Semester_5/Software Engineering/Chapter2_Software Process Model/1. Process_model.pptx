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73" r:id="rId2"/>
    <p:sldId id="26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90" r:id="rId12"/>
    <p:sldId id="291" r:id="rId13"/>
    <p:sldId id="292" r:id="rId14"/>
    <p:sldId id="293" r:id="rId15"/>
    <p:sldId id="294" r:id="rId16"/>
    <p:sldId id="295" r:id="rId17"/>
    <p:sldId id="274" r:id="rId18"/>
    <p:sldId id="275" r:id="rId19"/>
    <p:sldId id="268" r:id="rId20"/>
    <p:sldId id="297" r:id="rId21"/>
    <p:sldId id="298" r:id="rId22"/>
    <p:sldId id="276" r:id="rId23"/>
    <p:sldId id="270" r:id="rId24"/>
    <p:sldId id="271" r:id="rId25"/>
    <p:sldId id="272" r:id="rId26"/>
    <p:sldId id="277" r:id="rId27"/>
    <p:sldId id="300" r:id="rId28"/>
    <p:sldId id="278" r:id="rId29"/>
    <p:sldId id="302" r:id="rId30"/>
    <p:sldId id="279" r:id="rId31"/>
    <p:sldId id="304" r:id="rId32"/>
    <p:sldId id="305" r:id="rId33"/>
    <p:sldId id="280" r:id="rId34"/>
    <p:sldId id="281" r:id="rId35"/>
    <p:sldId id="282" r:id="rId36"/>
    <p:sldId id="284" r:id="rId37"/>
    <p:sldId id="289" r:id="rId38"/>
    <p:sldId id="285" r:id="rId39"/>
    <p:sldId id="286" r:id="rId40"/>
    <p:sldId id="28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>
      <p:cViewPr varScale="1">
        <p:scale>
          <a:sx n="74" d="100"/>
          <a:sy n="74" d="100"/>
        </p:scale>
        <p:origin x="93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A7CB9-5746-4C3B-9134-2D88655D6C3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9554E-3399-41D3-9D51-F6933749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4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15C0-AA10-495D-8076-0A7942BB76E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19A8-0567-46A6-8C30-A438C2ECCD1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08BA-C973-4D84-84D1-52A7AD9812B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854B-B750-462C-A3D4-7C19608ECF3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25CD-C968-4195-91E8-99060BCD775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DC78-7D84-49B7-B589-30095372BF1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5A9C5-0544-4BDB-A464-EE7037DDBF8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D01D-E987-4C5B-9C51-F82679A9B50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2B57-B8B5-4294-8671-B319BD28833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5EE26-C058-4AA5-A70A-F134B92F4AB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36C4D-6BE6-427A-A470-7C4877A4A924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tryqa.com/what-is-a-software-testing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Development Life Cycle (SDLC)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21930" y="1600200"/>
            <a:ext cx="690014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A5F2-BE03-4A66-8D29-7D14FB55C794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Framework</a:t>
            </a:r>
            <a:r>
              <a:rPr lang="en-US" dirty="0"/>
              <a:t> is a Standard way to build and deploy applications.</a:t>
            </a:r>
          </a:p>
          <a:p>
            <a:r>
              <a:rPr lang="en-US" dirty="0"/>
              <a:t> </a:t>
            </a:r>
            <a:r>
              <a:rPr lang="en-US" b="1" dirty="0"/>
              <a:t>Software Process Framework</a:t>
            </a:r>
            <a:r>
              <a:rPr lang="en-US" dirty="0"/>
              <a:t> is the foundation of complete software engineering process. </a:t>
            </a:r>
          </a:p>
          <a:p>
            <a:r>
              <a:rPr lang="en-US" dirty="0"/>
              <a:t>Software process framework includes set of all umbrella activities.</a:t>
            </a:r>
          </a:p>
          <a:p>
            <a:r>
              <a:rPr lang="en-US" dirty="0"/>
              <a:t> It also includes number of framework activities that are applicable to all software projects.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9D23-32B3-4F1C-A665-C511BA065901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2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Framework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9D23-32B3-4F1C-A665-C511BA065901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2" descr="C:\Users\NCIT\Documents\gereric framework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905000"/>
            <a:ext cx="3276600" cy="422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93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Umbrella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Software project </a:t>
            </a:r>
            <a:r>
              <a:rPr lang="en-US" b="1" dirty="0"/>
              <a:t>tracking and control</a:t>
            </a:r>
          </a:p>
          <a:p>
            <a:r>
              <a:rPr lang="en-US" dirty="0"/>
              <a:t>Risk Management </a:t>
            </a:r>
          </a:p>
          <a:p>
            <a:r>
              <a:rPr lang="en-US" dirty="0"/>
              <a:t>Software Quality Assurance</a:t>
            </a:r>
          </a:p>
          <a:p>
            <a:r>
              <a:rPr lang="en-US" dirty="0"/>
              <a:t>Technical review </a:t>
            </a:r>
          </a:p>
          <a:p>
            <a:r>
              <a:rPr lang="en-US" dirty="0"/>
              <a:t>Measurement </a:t>
            </a:r>
          </a:p>
          <a:p>
            <a:r>
              <a:rPr lang="en-US" dirty="0"/>
              <a:t>Software configuration management </a:t>
            </a:r>
          </a:p>
          <a:p>
            <a:r>
              <a:rPr lang="en-US" dirty="0"/>
              <a:t>Reusability management </a:t>
            </a:r>
          </a:p>
          <a:p>
            <a:r>
              <a:rPr lang="en-US" dirty="0"/>
              <a:t>Work product </a:t>
            </a:r>
            <a:r>
              <a:rPr lang="en-US" b="1" dirty="0"/>
              <a:t>preparation and production </a:t>
            </a:r>
          </a:p>
          <a:p>
            <a:endParaRPr lang="en-US" dirty="0"/>
          </a:p>
          <a:p>
            <a:pPr algn="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8BA0-7EBE-4B36-9BB0-AF300ECE2DEF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8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Communication </a:t>
            </a:r>
          </a:p>
          <a:p>
            <a:r>
              <a:rPr lang="en-US" b="1" dirty="0"/>
              <a:t>Planning</a:t>
            </a:r>
            <a:r>
              <a:rPr lang="en-US" dirty="0"/>
              <a:t> </a:t>
            </a:r>
          </a:p>
          <a:p>
            <a:r>
              <a:rPr lang="en-US" b="1" dirty="0"/>
              <a:t>Modeling</a:t>
            </a:r>
          </a:p>
          <a:p>
            <a:r>
              <a:rPr lang="en-US" b="1" dirty="0"/>
              <a:t>Construction</a:t>
            </a:r>
          </a:p>
          <a:p>
            <a:r>
              <a:rPr lang="en-US" b="1" dirty="0"/>
              <a:t>Deploymen</a:t>
            </a:r>
            <a:r>
              <a:rPr lang="en-US" dirty="0"/>
              <a:t>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50CF9-8B8F-4D8C-9F96-66E51C68311C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3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Communication:</a:t>
            </a:r>
          </a:p>
          <a:p>
            <a:pPr marL="514350" indent="-514350">
              <a:buAutoNum type="arabicPeriod"/>
            </a:pPr>
            <a:r>
              <a:rPr lang="en-US" dirty="0"/>
              <a:t>Before any technical work commence, it is important to </a:t>
            </a:r>
            <a:r>
              <a:rPr lang="en-US" b="1" dirty="0"/>
              <a:t>communicate and collaborate </a:t>
            </a:r>
            <a:r>
              <a:rPr lang="en-US" dirty="0"/>
              <a:t>with the customer and other stake holder.</a:t>
            </a:r>
          </a:p>
          <a:p>
            <a:pPr marL="514350" indent="-514350">
              <a:buAutoNum type="arabicPeriod"/>
            </a:pPr>
            <a:r>
              <a:rPr lang="en-US" dirty="0"/>
              <a:t>The intent is to understand stakeholders’ </a:t>
            </a:r>
            <a:r>
              <a:rPr lang="en-US" b="1" dirty="0"/>
              <a:t>objective </a:t>
            </a:r>
            <a:r>
              <a:rPr lang="en-US" dirty="0"/>
              <a:t>for the project and to </a:t>
            </a:r>
            <a:r>
              <a:rPr lang="en-US" b="1" dirty="0"/>
              <a:t>gather requirements</a:t>
            </a:r>
            <a:r>
              <a:rPr lang="en-US" dirty="0"/>
              <a:t> that help define software and functions.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F73F-E938-44FC-A0E4-5B65A7569896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07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Planning </a:t>
            </a:r>
          </a:p>
          <a:p>
            <a:r>
              <a:rPr lang="en-US" dirty="0"/>
              <a:t>Planning helps to define the </a:t>
            </a:r>
            <a:r>
              <a:rPr lang="en-US" b="1" dirty="0"/>
              <a:t>software project plan</a:t>
            </a:r>
          </a:p>
          <a:p>
            <a:r>
              <a:rPr lang="en-US" dirty="0"/>
              <a:t>Software Engineering plan defines the software engineering work by describing the </a:t>
            </a:r>
            <a:r>
              <a:rPr lang="en-US" b="1" dirty="0"/>
              <a:t>technical tasks </a:t>
            </a:r>
            <a:r>
              <a:rPr lang="en-US" dirty="0"/>
              <a:t>to be conducted, the </a:t>
            </a:r>
            <a:r>
              <a:rPr lang="en-US" b="1" dirty="0"/>
              <a:t>risks</a:t>
            </a:r>
            <a:r>
              <a:rPr lang="en-US" dirty="0"/>
              <a:t> that are likely, the </a:t>
            </a:r>
            <a:r>
              <a:rPr lang="en-US" b="1" dirty="0"/>
              <a:t>resources</a:t>
            </a:r>
            <a:r>
              <a:rPr lang="en-US" dirty="0"/>
              <a:t> that will be required, the </a:t>
            </a:r>
            <a:r>
              <a:rPr lang="en-US" b="1" dirty="0"/>
              <a:t>work product </a:t>
            </a:r>
            <a:r>
              <a:rPr lang="en-US" dirty="0"/>
              <a:t>to be produced, and a </a:t>
            </a:r>
            <a:r>
              <a:rPr lang="en-US" b="1" dirty="0"/>
              <a:t>work schedule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2589-05C4-450F-90F3-A1BB6830E961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4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Modeling </a:t>
            </a:r>
          </a:p>
          <a:p>
            <a:r>
              <a:rPr lang="en-US" dirty="0"/>
              <a:t>By creating the models helps to better  understand the </a:t>
            </a:r>
            <a:r>
              <a:rPr lang="en-US" b="1" dirty="0"/>
              <a:t>software requirement </a:t>
            </a:r>
            <a:r>
              <a:rPr lang="en-US" dirty="0"/>
              <a:t>and </a:t>
            </a:r>
            <a:r>
              <a:rPr lang="en-US" b="1" dirty="0"/>
              <a:t>the design</a:t>
            </a:r>
            <a:r>
              <a:rPr lang="en-US" dirty="0"/>
              <a:t> that will achieve those requirement.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7D1C-49A3-410C-9962-FB777BA7BE4D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7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Construction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This activity combines </a:t>
            </a:r>
            <a:r>
              <a:rPr lang="en-US" b="1" dirty="0"/>
              <a:t>code generation </a:t>
            </a:r>
            <a:r>
              <a:rPr lang="en-US" dirty="0"/>
              <a:t>and the </a:t>
            </a:r>
            <a:r>
              <a:rPr lang="en-US" b="1" dirty="0"/>
              <a:t>testing</a:t>
            </a:r>
            <a:r>
              <a:rPr lang="en-US" dirty="0"/>
              <a:t> that is required to uncover errors in the code.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8C9C-7BB1-4CAC-8086-A125DF6CA5D9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67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Deployment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The software is d</a:t>
            </a:r>
            <a:r>
              <a:rPr lang="en-US" b="1" dirty="0"/>
              <a:t>elivered</a:t>
            </a:r>
            <a:r>
              <a:rPr lang="en-US" dirty="0"/>
              <a:t> to the customer who evaluates the delivered product and </a:t>
            </a:r>
            <a:r>
              <a:rPr lang="en-US" b="1" dirty="0"/>
              <a:t>provides feedback </a:t>
            </a:r>
            <a:r>
              <a:rPr lang="en-US" dirty="0"/>
              <a:t>based on the evaluation.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794CE-D373-4097-BA0C-BC5DAB9A7410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6059-956A-4773-ADC8-BC937780CF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8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Software Process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Software process is the </a:t>
            </a:r>
            <a:r>
              <a:rPr lang="en-US" b="1" dirty="0"/>
              <a:t>framework</a:t>
            </a:r>
            <a:r>
              <a:rPr lang="en-US" dirty="0"/>
              <a:t> for the </a:t>
            </a:r>
            <a:r>
              <a:rPr lang="en-US" b="1" dirty="0"/>
              <a:t>activities, action, and tasks </a:t>
            </a:r>
            <a:r>
              <a:rPr lang="en-US" dirty="0"/>
              <a:t>that are required to build high quality software.</a:t>
            </a:r>
          </a:p>
        </p:txBody>
      </p:sp>
    </p:spTree>
    <p:extLst>
      <p:ext uri="{BB962C8B-B14F-4D97-AF65-F5344CB8AC3E}">
        <p14:creationId xmlns:p14="http://schemas.microsoft.com/office/powerpoint/2010/main" val="3171273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linear process flow</a:t>
            </a:r>
            <a:r>
              <a:rPr lang="en-US" dirty="0"/>
              <a:t> executes each of the five framework activities in sequence, beginning with communication and culminating with deployment.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2050" name="Picture 2" descr="C:\Users\NCIT\Documents\linea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191000"/>
            <a:ext cx="66294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193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b="1" dirty="0"/>
              <a:t>iterative process flow</a:t>
            </a:r>
            <a:r>
              <a:rPr lang="en-US" dirty="0"/>
              <a:t> repeats one or more of the activities before proceeding to the next.</a:t>
            </a:r>
          </a:p>
        </p:txBody>
      </p:sp>
      <p:pic>
        <p:nvPicPr>
          <p:cNvPr id="3074" name="Picture 2" descr="C:\Users\NCIT\Documents\iterativ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4343400"/>
            <a:ext cx="8077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283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latin typeface="verdana" panose="020B0604030504040204" pitchFamily="34" charset="0"/>
              </a:rPr>
              <a:t>A </a:t>
            </a:r>
            <a:r>
              <a:rPr lang="en-US" b="1" i="0" dirty="0">
                <a:solidFill>
                  <a:srgbClr val="666666"/>
                </a:solidFill>
                <a:effectLst/>
                <a:latin typeface="verdana" panose="020B0604030504040204" pitchFamily="34" charset="0"/>
              </a:rPr>
              <a:t>parallel process flow</a:t>
            </a:r>
            <a:r>
              <a:rPr lang="en-US" b="0" i="0" dirty="0">
                <a:solidFill>
                  <a:srgbClr val="666666"/>
                </a:solidFill>
                <a:effectLst/>
                <a:latin typeface="verdana" panose="020B0604030504040204" pitchFamily="34" charset="0"/>
              </a:rPr>
              <a:t> executes one or more activities in parallel with other activities.</a:t>
            </a:r>
          </a:p>
        </p:txBody>
      </p:sp>
      <p:pic>
        <p:nvPicPr>
          <p:cNvPr id="4098" name="Picture 2" descr="C:\Users\NCIT\Documents\parall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29000"/>
            <a:ext cx="7924799" cy="246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26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b="1" dirty="0"/>
              <a:t>evolutionary process flow</a:t>
            </a:r>
            <a:r>
              <a:rPr lang="en-US" dirty="0"/>
              <a:t> executes the activities in a “circular” manner.</a:t>
            </a:r>
          </a:p>
        </p:txBody>
      </p:sp>
      <p:pic>
        <p:nvPicPr>
          <p:cNvPr id="5122" name="Picture 2" descr="C:\Users\NCIT\Documents\evolutionar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886200"/>
            <a:ext cx="8001000" cy="242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45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C:\Users\NCIT\Documents\parall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876424"/>
            <a:ext cx="8382001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819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Process Model of Software Engineering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Waterfall model</a:t>
            </a:r>
          </a:p>
          <a:p>
            <a:pPr marL="514350" indent="-514350">
              <a:buAutoNum type="arabicPeriod"/>
            </a:pPr>
            <a:r>
              <a:rPr lang="en-US" dirty="0"/>
              <a:t>Incremental model</a:t>
            </a:r>
          </a:p>
          <a:p>
            <a:pPr marL="514350" indent="-514350">
              <a:buAutoNum type="arabicPeriod"/>
            </a:pPr>
            <a:r>
              <a:rPr lang="en-US" dirty="0"/>
              <a:t>Prototype model </a:t>
            </a:r>
          </a:p>
          <a:p>
            <a:pPr marL="514350" indent="-514350">
              <a:buAutoNum type="arabicPeriod"/>
            </a:pPr>
            <a:r>
              <a:rPr lang="en-US" dirty="0"/>
              <a:t>Spiral  model </a:t>
            </a:r>
          </a:p>
          <a:p>
            <a:pPr marL="514350" indent="-514350">
              <a:buAutoNum type="arabicPeriod"/>
            </a:pPr>
            <a:r>
              <a:rPr lang="en-US" dirty="0"/>
              <a:t>RAD model</a:t>
            </a:r>
          </a:p>
          <a:p>
            <a:pPr marL="514350" indent="-514350">
              <a:buAutoNum type="arabicPeriod"/>
            </a:pPr>
            <a:r>
              <a:rPr lang="en-US" dirty="0"/>
              <a:t>Agile (Framework-&gt;Scrum)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8FB0-14A5-48CC-936C-6DE1D37572F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 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87156"/>
            <a:ext cx="8229600" cy="195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143000" y="5181600"/>
            <a:ext cx="6934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Requirement are well understood 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2057400"/>
            <a:ext cx="4191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Waterfall model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7EB0-DB64-4531-A284-90710387C08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Waterfall Model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		</a:t>
            </a:r>
          </a:p>
          <a:p>
            <a:r>
              <a:rPr lang="en-US" dirty="0"/>
              <a:t>The waterfall model is the oldest paradigm for software engineering</a:t>
            </a:r>
          </a:p>
          <a:p>
            <a:r>
              <a:rPr lang="en-US" dirty="0"/>
              <a:t>When to use Waterfall model?</a:t>
            </a:r>
          </a:p>
          <a:p>
            <a:pPr marL="2281238" indent="-514350">
              <a:buFont typeface="+mj-lt"/>
              <a:buAutoNum type="alphaLcPeriod"/>
            </a:pPr>
            <a:r>
              <a:rPr lang="en-US" i="1" dirty="0"/>
              <a:t>Requirement are very well known</a:t>
            </a:r>
          </a:p>
          <a:p>
            <a:pPr marL="2281238" indent="-514350">
              <a:buFont typeface="+mj-lt"/>
              <a:buAutoNum type="alphaLcPeriod"/>
            </a:pPr>
            <a:r>
              <a:rPr lang="en-US" i="1" dirty="0"/>
              <a:t>Production definition is stable</a:t>
            </a:r>
          </a:p>
          <a:p>
            <a:pPr marL="2281238" indent="-514350">
              <a:buFont typeface="+mj-lt"/>
              <a:buAutoNum type="alphaLcPeriod"/>
            </a:pPr>
            <a:r>
              <a:rPr lang="en-US" i="1" dirty="0"/>
              <a:t>Technology is understood </a:t>
            </a:r>
          </a:p>
          <a:p>
            <a:pPr marL="2281238" indent="-514350">
              <a:buFont typeface="+mj-lt"/>
              <a:buAutoNum type="alphaLcPeriod"/>
            </a:pPr>
            <a:r>
              <a:rPr lang="en-US" i="1" dirty="0"/>
              <a:t>New version of existing product </a:t>
            </a:r>
          </a:p>
        </p:txBody>
      </p:sp>
    </p:spTree>
    <p:extLst>
      <p:ext uri="{BB962C8B-B14F-4D97-AF65-F5344CB8AC3E}">
        <p14:creationId xmlns:p14="http://schemas.microsoft.com/office/powerpoint/2010/main" val="273666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model is simple and easy to understand and use.</a:t>
            </a:r>
          </a:p>
          <a:p>
            <a:r>
              <a:rPr lang="en-US" dirty="0"/>
              <a:t>It is easy to manage due to the rigidity of the model – each phase has specific deliverables and a review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an application is in the </a:t>
            </a:r>
            <a:r>
              <a:rPr lang="en-US" b="1" dirty="0">
                <a:hlinkClick r:id="rId2" tooltip="what is software testing"/>
              </a:rPr>
              <a:t>testing</a:t>
            </a:r>
            <a:r>
              <a:rPr lang="en-US" dirty="0"/>
              <a:t> stage, it is very difficult to go back and change something that was not well-thought out in the concept stage.</a:t>
            </a:r>
            <a:endParaRPr lang="en-US" b="1" dirty="0"/>
          </a:p>
          <a:p>
            <a:r>
              <a:rPr lang="en-US" dirty="0"/>
              <a:t>Not suitable for the projects where requirements are at a moderate to high risk of changing.</a:t>
            </a:r>
          </a:p>
        </p:txBody>
      </p:sp>
    </p:spTree>
    <p:extLst>
      <p:ext uri="{BB962C8B-B14F-4D97-AF65-F5344CB8AC3E}">
        <p14:creationId xmlns:p14="http://schemas.microsoft.com/office/powerpoint/2010/main" val="712503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0"/>
            <a:ext cx="7772400" cy="365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28700" y="6096000"/>
            <a:ext cx="7543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 there may be a compelling need to provide a limited set of software functionality to users quickly and then refine and expand on that functionality in later software releases.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4191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Incremental model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752600"/>
            <a:ext cx="1143000" cy="3276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When an incremental model is used, the first increment is often a core product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07A2-629D-45EF-83D7-442AA70A2294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SEF</a:t>
            </a:r>
            <a:r>
              <a:rPr lang="en-US" dirty="0"/>
              <a:t> online interaction class material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model delivers a series of releases, called increments, that provide progressively more functionality for customer as each increment delivered.</a:t>
            </a:r>
          </a:p>
          <a:p>
            <a:r>
              <a:rPr lang="en-US" dirty="0"/>
              <a:t>The first increment is often a </a:t>
            </a:r>
            <a:r>
              <a:rPr lang="en-US" b="1" dirty="0"/>
              <a:t>core product</a:t>
            </a:r>
            <a:r>
              <a:rPr lang="en-US" dirty="0"/>
              <a:t>.</a:t>
            </a:r>
          </a:p>
          <a:p>
            <a:r>
              <a:rPr lang="en-US" dirty="0"/>
              <a:t>Basic requirement are addressed but many supplementary features remain undelivered</a:t>
            </a:r>
          </a:p>
        </p:txBody>
      </p:sp>
    </p:spTree>
    <p:extLst>
      <p:ext uri="{BB962C8B-B14F-4D97-AF65-F5344CB8AC3E}">
        <p14:creationId xmlns:p14="http://schemas.microsoft.com/office/powerpoint/2010/main" val="746427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When to use?</a:t>
            </a:r>
          </a:p>
          <a:p>
            <a:r>
              <a:rPr lang="en-US" dirty="0"/>
              <a:t>Useful when staffing unavailable for a complete implementation of project till deadline.</a:t>
            </a:r>
          </a:p>
          <a:p>
            <a:r>
              <a:rPr lang="en-US" dirty="0"/>
              <a:t>If the core product is well received, then additional staff (if required) can be added to implement the next increment.</a:t>
            </a:r>
          </a:p>
          <a:p>
            <a:r>
              <a:rPr lang="en-US" dirty="0"/>
              <a:t>When software engineering team are not very well skilled </a:t>
            </a:r>
            <a:r>
              <a:rPr lang="en-US"/>
              <a:t>or trainee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73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Evolutionary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Evolutionary process model produce an increasingly more complete version of the software with each iteration.</a:t>
            </a:r>
          </a:p>
        </p:txBody>
      </p:sp>
    </p:spTree>
    <p:extLst>
      <p:ext uri="{BB962C8B-B14F-4D97-AF65-F5344CB8AC3E}">
        <p14:creationId xmlns:p14="http://schemas.microsoft.com/office/powerpoint/2010/main" val="2337147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 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3239"/>
            <a:ext cx="8229600" cy="451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ounded Rectangle 4"/>
          <p:cNvSpPr/>
          <p:nvPr/>
        </p:nvSpPr>
        <p:spPr>
          <a:xfrm>
            <a:off x="304800" y="5257800"/>
            <a:ext cx="8534400" cy="1600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Often, a customer defines a set of general objectives for software, but does not identify detailed requirements for functions and features. In other cases, the developer may be unsure of the efficiency of an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8400" y="1828800"/>
            <a:ext cx="228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Prototype model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0811-234F-4F64-8162-897386E7553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When to use?</a:t>
            </a:r>
          </a:p>
          <a:p>
            <a:r>
              <a:rPr lang="en-US" dirty="0"/>
              <a:t>Customer defines a set of general objectives for software, but does not identify detailed requirements for functions and features </a:t>
            </a:r>
          </a:p>
          <a:p>
            <a:r>
              <a:rPr lang="en-US" dirty="0"/>
              <a:t>Developer may be unsure of the efficiency of an algorithm, the adaptability of an operating system </a:t>
            </a:r>
          </a:p>
        </p:txBody>
      </p:sp>
    </p:spTree>
    <p:extLst>
      <p:ext uri="{BB962C8B-B14F-4D97-AF65-F5344CB8AC3E}">
        <p14:creationId xmlns:p14="http://schemas.microsoft.com/office/powerpoint/2010/main" val="785488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Software Process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715000"/>
            <a:ext cx="7924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spiral development model is a risk-driven process model generator that is used to guide multi-stakeholder concurrent engineering of software intensive systems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18719"/>
            <a:ext cx="8229600" cy="3488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362200" y="1600200"/>
            <a:ext cx="4191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Spiral Model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C1AF9-A42C-46A4-A822-1FE58C75B36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spiral model is a risk-driven process model.</a:t>
            </a:r>
          </a:p>
          <a:p>
            <a:r>
              <a:rPr lang="en-US" dirty="0"/>
              <a:t>Software is developed in series of evolutionary releases</a:t>
            </a:r>
          </a:p>
          <a:p>
            <a:r>
              <a:rPr lang="en-US" dirty="0"/>
              <a:t>During early iteration, release might be a model or prototype.</a:t>
            </a:r>
          </a:p>
          <a:p>
            <a:r>
              <a:rPr lang="en-US" dirty="0"/>
              <a:t>Later iterations, increasingly complete versions of the product</a:t>
            </a:r>
          </a:p>
          <a:p>
            <a:r>
              <a:rPr lang="en-US" dirty="0"/>
              <a:t>The spiral model is the realistic approach to the development of large scale systems </a:t>
            </a:r>
            <a:r>
              <a:rPr lang="en-US"/>
              <a:t>and software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323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 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3600" y="1828800"/>
            <a:ext cx="480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Rapid Application Development 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2971800"/>
            <a:ext cx="7315200" cy="336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124200" y="26670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60 to 90  days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35E7-6963-4ACA-B0AD-F837630BC74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software team work in parallel on different functions</a:t>
            </a:r>
          </a:p>
          <a:p>
            <a:r>
              <a:rPr lang="en-US" dirty="0"/>
              <a:t>Modeling encompasses three major phases: Business Modeling, Date, Data modeling, Process Modeling</a:t>
            </a:r>
          </a:p>
          <a:p>
            <a:r>
              <a:rPr lang="en-US" dirty="0"/>
              <a:t>Construction uses reusable components, automatic code generation and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907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Problems in RAD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Required number of RAD teams</a:t>
            </a:r>
          </a:p>
          <a:p>
            <a:r>
              <a:rPr lang="en-US" dirty="0"/>
              <a:t>Not suited when technical teams are weak</a:t>
            </a:r>
          </a:p>
          <a:p>
            <a:r>
              <a:rPr lang="en-US" dirty="0"/>
              <a:t>Requires modularity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226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			</a:t>
            </a:r>
            <a:r>
              <a:rPr lang="en-US" b="1" dirty="0"/>
              <a:t>Agile 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Agility has become today’s buzzword when describing a modern software process.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An agile team quickly respond to changes. 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Change is what software development is very much about.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Agility has </a:t>
            </a:r>
            <a:r>
              <a:rPr lang="en-US" b="1" dirty="0"/>
              <a:t>12 principles </a:t>
            </a:r>
            <a:r>
              <a:rPr lang="en-US" dirty="0"/>
              <a:t>and four guidelines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AF9E-D7EF-4AD3-9A72-6ABFC38112E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 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2030" y="2285999"/>
            <a:ext cx="7139940" cy="3828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2286000" y="1752600"/>
            <a:ext cx="44958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Agile  Process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5C99-3A75-4160-9EFD-D2BF1AC05DCB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			</a:t>
            </a:r>
            <a:r>
              <a:rPr lang="en-US" b="1" dirty="0"/>
              <a:t>	Scrum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It is one of the popular framework for the agile software development </a:t>
            </a:r>
          </a:p>
          <a:p>
            <a:r>
              <a:rPr lang="en-US" dirty="0"/>
              <a:t>If you go to scrum.org it defines its </a:t>
            </a:r>
            <a:r>
              <a:rPr lang="en-US" b="1" dirty="0"/>
              <a:t>Better way Of Building Product.</a:t>
            </a:r>
          </a:p>
          <a:p>
            <a:r>
              <a:rPr lang="en-US" dirty="0"/>
              <a:t>Other popular frameworks are </a:t>
            </a:r>
            <a:r>
              <a:rPr lang="en-US" dirty="0" err="1"/>
              <a:t>Kanban</a:t>
            </a:r>
            <a:r>
              <a:rPr lang="en-US" dirty="0"/>
              <a:t>, Extreme Programming (XP)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AD85-9A40-4E3D-9D93-B24ACD532E7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 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55346"/>
            <a:ext cx="7982055" cy="4670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118991" y="3244334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Backlog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56B9-986F-4524-A535-249D7113FCF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828800" y="1752600"/>
            <a:ext cx="434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Scrum process</a:t>
            </a:r>
          </a:p>
          <a:p>
            <a:pPr algn="ctr"/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2234127"/>
            <a:ext cx="7772400" cy="389203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			Backlog : </a:t>
            </a:r>
          </a:p>
          <a:p>
            <a:pPr>
              <a:buNone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Items can be added to the backlog at any time (this is how changes are introduced).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product owner </a:t>
            </a:r>
            <a:r>
              <a:rPr lang="en-US" sz="2000" dirty="0"/>
              <a:t>assesses the backlog and updates priorities as required. </a:t>
            </a:r>
            <a:endParaRPr lang="en-US" dirty="0"/>
          </a:p>
          <a:p>
            <a:pPr algn="ctr">
              <a:buNone/>
            </a:pPr>
            <a:r>
              <a:rPr lang="en-US" dirty="0"/>
              <a:t>Sprint: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consist of work units that are required to achieve a requirement defined in the backlog that must be fit into a predefined time-box(typically 30 days).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2D1E5-86DB-4EA7-AE3A-A94E35EFB87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				</a:t>
            </a:r>
            <a:r>
              <a:rPr lang="en-US" b="1" dirty="0"/>
              <a:t>Scrum Meeting</a:t>
            </a:r>
          </a:p>
          <a:p>
            <a:pPr>
              <a:buNone/>
            </a:pPr>
            <a:r>
              <a:rPr lang="en-US" dirty="0"/>
              <a:t>Scrum meetings are short (typically 15 minutes) meetings held daily by the Scrum team. </a:t>
            </a:r>
          </a:p>
          <a:p>
            <a:pPr>
              <a:buNone/>
            </a:pPr>
            <a:r>
              <a:rPr lang="en-US" dirty="0"/>
              <a:t>Three key questions are asked and answered by all team members </a:t>
            </a:r>
          </a:p>
          <a:p>
            <a:pPr>
              <a:buNone/>
            </a:pPr>
            <a:r>
              <a:rPr lang="en-US" dirty="0"/>
              <a:t> • What did you do since the last team meeting?</a:t>
            </a:r>
          </a:p>
          <a:p>
            <a:pPr>
              <a:buNone/>
            </a:pPr>
            <a:r>
              <a:rPr lang="en-US" dirty="0"/>
              <a:t>• What obstacles are you encountering? </a:t>
            </a:r>
          </a:p>
          <a:p>
            <a:pPr>
              <a:buNone/>
            </a:pPr>
            <a:r>
              <a:rPr lang="en-US" dirty="0"/>
              <a:t>• What do you plan to accomplish by the next team meeting?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EA7A-90B5-4CEB-A4D5-754B5F1D0C0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team leader, </a:t>
            </a:r>
            <a:r>
              <a:rPr lang="en-US" b="1" dirty="0"/>
              <a:t>Scrum master</a:t>
            </a:r>
            <a:r>
              <a:rPr lang="en-US" dirty="0"/>
              <a:t>, leads the meeting and assesses the responses from each person. </a:t>
            </a:r>
          </a:p>
          <a:p>
            <a:r>
              <a:rPr lang="en-US" dirty="0"/>
              <a:t>The Scrum meeting helps the team to uncover potential problems as early as possible. </a:t>
            </a:r>
          </a:p>
          <a:p>
            <a:pPr>
              <a:buNone/>
            </a:pPr>
            <a:r>
              <a:rPr lang="en-US" dirty="0"/>
              <a:t>				</a:t>
            </a:r>
            <a:r>
              <a:rPr lang="en-US" b="1" dirty="0"/>
              <a:t>Demos: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Deliver the software increment to the customer so that functionality that has been implemented can be demonstrated and evaluated by the customer. 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Demo may not contain all planned functionality, but rather those functions that can be delivered within the time-box that was established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EE829-A99E-4688-A447-3FFD023C863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 material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3620</TotalTime>
  <Words>1397</Words>
  <Application>Microsoft Office PowerPoint</Application>
  <PresentationFormat>On-screen Show (4:3)</PresentationFormat>
  <Paragraphs>224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verdana</vt:lpstr>
      <vt:lpstr>Wingdings</vt:lpstr>
      <vt:lpstr>Office Theme</vt:lpstr>
      <vt:lpstr>Software Development Life Cycle (SDLC)</vt:lpstr>
      <vt:lpstr>Software Process Framework</vt:lpstr>
      <vt:lpstr>Process Framework</vt:lpstr>
      <vt:lpstr>Umbrella Activities</vt:lpstr>
      <vt:lpstr>Generic Process Model</vt:lpstr>
      <vt:lpstr>Process Model </vt:lpstr>
      <vt:lpstr>Process Model</vt:lpstr>
      <vt:lpstr>Software Process Model</vt:lpstr>
      <vt:lpstr>Software Process Model</vt:lpstr>
      <vt:lpstr>Software Process Model</vt:lpstr>
      <vt:lpstr>Software Process </vt:lpstr>
      <vt:lpstr>Process Flow </vt:lpstr>
      <vt:lpstr>Process Flow</vt:lpstr>
      <vt:lpstr>Process Flow</vt:lpstr>
      <vt:lpstr>Process Flow</vt:lpstr>
      <vt:lpstr>Process Flow</vt:lpstr>
      <vt:lpstr>Process Model of Software Engineering </vt:lpstr>
      <vt:lpstr>Software Process model </vt:lpstr>
      <vt:lpstr>Waterfall Model </vt:lpstr>
      <vt:lpstr>Advantages of waterfall model</vt:lpstr>
      <vt:lpstr>Disadvantage </vt:lpstr>
      <vt:lpstr>Software process model</vt:lpstr>
      <vt:lpstr>Incremental Model</vt:lpstr>
      <vt:lpstr>Incremental Model</vt:lpstr>
      <vt:lpstr>Evolutionary Model </vt:lpstr>
      <vt:lpstr>Software Process model </vt:lpstr>
      <vt:lpstr>Prototyping </vt:lpstr>
      <vt:lpstr> Software Process Model</vt:lpstr>
      <vt:lpstr>Spiral Model</vt:lpstr>
      <vt:lpstr>Software process model </vt:lpstr>
      <vt:lpstr>RAD </vt:lpstr>
      <vt:lpstr>RAD</vt:lpstr>
      <vt:lpstr>Software process model </vt:lpstr>
      <vt:lpstr>Software process model </vt:lpstr>
      <vt:lpstr>Software process model </vt:lpstr>
      <vt:lpstr>Software process model </vt:lpstr>
      <vt:lpstr>Software process model</vt:lpstr>
      <vt:lpstr>Scrum</vt:lpstr>
      <vt:lpstr>Scrum </vt:lpstr>
      <vt:lpstr>SCRUM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Arpan Adhikari</cp:lastModifiedBy>
  <cp:revision>82</cp:revision>
  <dcterms:created xsi:type="dcterms:W3CDTF">2020-06-07T18:04:43Z</dcterms:created>
  <dcterms:modified xsi:type="dcterms:W3CDTF">2026-02-28T08:01:14Z</dcterms:modified>
</cp:coreProperties>
</file>