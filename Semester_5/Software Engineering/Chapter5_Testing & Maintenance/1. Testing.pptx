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7" r:id="rId2"/>
    <p:sldId id="258" r:id="rId3"/>
    <p:sldId id="259" r:id="rId4"/>
    <p:sldId id="260" r:id="rId5"/>
    <p:sldId id="261" r:id="rId6"/>
    <p:sldId id="262" r:id="rId7"/>
    <p:sldId id="263" r:id="rId8"/>
    <p:sldId id="264" r:id="rId9"/>
    <p:sldId id="265" r:id="rId10"/>
    <p:sldId id="266" r:id="rId11"/>
    <p:sldId id="268" r:id="rId12"/>
    <p:sldId id="267" r:id="rId13"/>
    <p:sldId id="269" r:id="rId14"/>
    <p:sldId id="270" r:id="rId15"/>
    <p:sldId id="271" r:id="rId16"/>
    <p:sldId id="272" r:id="rId17"/>
    <p:sldId id="273" r:id="rId18"/>
    <p:sldId id="274" r:id="rId19"/>
    <p:sldId id="275" r:id="rId20"/>
    <p:sldId id="276" r:id="rId21"/>
    <p:sldId id="277" r:id="rId22"/>
    <p:sldId id="278" r:id="rId23"/>
    <p:sldId id="292" r:id="rId24"/>
    <p:sldId id="279" r:id="rId25"/>
    <p:sldId id="280" r:id="rId26"/>
    <p:sldId id="281" r:id="rId27"/>
    <p:sldId id="282" r:id="rId28"/>
    <p:sldId id="283" r:id="rId29"/>
    <p:sldId id="284" r:id="rId30"/>
    <p:sldId id="285" r:id="rId31"/>
    <p:sldId id="286" r:id="rId32"/>
    <p:sldId id="287" r:id="rId33"/>
    <p:sldId id="288" r:id="rId34"/>
    <p:sldId id="290" r:id="rId35"/>
    <p:sldId id="291" r:id="rId36"/>
    <p:sldId id="293" r:id="rId37"/>
    <p:sldId id="294" r:id="rId38"/>
    <p:sldId id="289" r:id="rId39"/>
    <p:sldId id="295" r:id="rId40"/>
    <p:sldId id="296" r:id="rId41"/>
    <p:sldId id="297" r:id="rId42"/>
    <p:sldId id="298" r:id="rId43"/>
    <p:sldId id="299" r:id="rId44"/>
    <p:sldId id="303" r:id="rId45"/>
    <p:sldId id="300" r:id="rId46"/>
    <p:sldId id="301" r:id="rId47"/>
    <p:sldId id="302" r:id="rId48"/>
    <p:sldId id="304" r:id="rId49"/>
    <p:sldId id="305" r:id="rId50"/>
    <p:sldId id="306" r:id="rId51"/>
    <p:sldId id="307" r:id="rId52"/>
    <p:sldId id="308" r:id="rId53"/>
    <p:sldId id="310" r:id="rId54"/>
    <p:sldId id="311"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varScale="1">
        <p:scale>
          <a:sx n="88" d="100"/>
          <a:sy n="88" d="100"/>
        </p:scale>
        <p:origin x="660" y="5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5C693BF-1158-44BE-8030-0ED5F3EF1733}" type="datetimeFigureOut">
              <a:rPr lang="en-US" smtClean="0"/>
              <a:t>4/21/2026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FE29B8B-0A5A-4272-9D32-54AE430E8D5B}" type="slidenum">
              <a:rPr lang="en-US" smtClean="0"/>
              <a:t>‹#›</a:t>
            </a:fld>
            <a:endParaRPr lang="en-US"/>
          </a:p>
        </p:txBody>
      </p:sp>
    </p:spTree>
    <p:extLst>
      <p:ext uri="{BB962C8B-B14F-4D97-AF65-F5344CB8AC3E}">
        <p14:creationId xmlns:p14="http://schemas.microsoft.com/office/powerpoint/2010/main" val="2949039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FE29B8B-0A5A-4272-9D32-54AE430E8D5B}" type="slidenum">
              <a:rPr lang="en-US" smtClean="0"/>
              <a:t>11</a:t>
            </a:fld>
            <a:endParaRPr lang="en-US"/>
          </a:p>
        </p:txBody>
      </p:sp>
    </p:spTree>
    <p:extLst>
      <p:ext uri="{BB962C8B-B14F-4D97-AF65-F5344CB8AC3E}">
        <p14:creationId xmlns:p14="http://schemas.microsoft.com/office/powerpoint/2010/main" val="446351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7B25D82-87F3-491B-BAB3-017A3EA93220}"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780BDE-68BA-4119-9A89-E1917920780E}" type="slidenum">
              <a:rPr lang="en-US" smtClean="0"/>
              <a:t>‹#›</a:t>
            </a:fld>
            <a:endParaRPr lang="en-US"/>
          </a:p>
        </p:txBody>
      </p:sp>
    </p:spTree>
    <p:extLst>
      <p:ext uri="{BB962C8B-B14F-4D97-AF65-F5344CB8AC3E}">
        <p14:creationId xmlns:p14="http://schemas.microsoft.com/office/powerpoint/2010/main" val="2753629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7B25D82-87F3-491B-BAB3-017A3EA93220}"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780BDE-68BA-4119-9A89-E1917920780E}" type="slidenum">
              <a:rPr lang="en-US" smtClean="0"/>
              <a:t>‹#›</a:t>
            </a:fld>
            <a:endParaRPr lang="en-US"/>
          </a:p>
        </p:txBody>
      </p:sp>
    </p:spTree>
    <p:extLst>
      <p:ext uri="{BB962C8B-B14F-4D97-AF65-F5344CB8AC3E}">
        <p14:creationId xmlns:p14="http://schemas.microsoft.com/office/powerpoint/2010/main" val="1354378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B25D82-87F3-491B-BAB3-017A3EA93220}"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780BDE-68BA-4119-9A89-E1917920780E}" type="slidenum">
              <a:rPr lang="en-US" smtClean="0"/>
              <a:t>‹#›</a:t>
            </a:fld>
            <a:endParaRPr lang="en-US"/>
          </a:p>
        </p:txBody>
      </p:sp>
    </p:spTree>
    <p:extLst>
      <p:ext uri="{BB962C8B-B14F-4D97-AF65-F5344CB8AC3E}">
        <p14:creationId xmlns:p14="http://schemas.microsoft.com/office/powerpoint/2010/main" val="513380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7B25D82-87F3-491B-BAB3-017A3EA93220}"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780BDE-68BA-4119-9A89-E1917920780E}" type="slidenum">
              <a:rPr lang="en-US" smtClean="0"/>
              <a:t>‹#›</a:t>
            </a:fld>
            <a:endParaRPr lang="en-US"/>
          </a:p>
        </p:txBody>
      </p:sp>
    </p:spTree>
    <p:extLst>
      <p:ext uri="{BB962C8B-B14F-4D97-AF65-F5344CB8AC3E}">
        <p14:creationId xmlns:p14="http://schemas.microsoft.com/office/powerpoint/2010/main" val="2446835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7B25D82-87F3-491B-BAB3-017A3EA93220}" type="datetimeFigureOut">
              <a:rPr lang="en-US" smtClean="0"/>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4780BDE-68BA-4119-9A89-E1917920780E}" type="slidenum">
              <a:rPr lang="en-US" smtClean="0"/>
              <a:t>‹#›</a:t>
            </a:fld>
            <a:endParaRPr lang="en-US"/>
          </a:p>
        </p:txBody>
      </p:sp>
    </p:spTree>
    <p:extLst>
      <p:ext uri="{BB962C8B-B14F-4D97-AF65-F5344CB8AC3E}">
        <p14:creationId xmlns:p14="http://schemas.microsoft.com/office/powerpoint/2010/main" val="3559451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7B25D82-87F3-491B-BAB3-017A3EA93220}" type="datetimeFigureOut">
              <a:rPr lang="en-US" smtClean="0"/>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4780BDE-68BA-4119-9A89-E1917920780E}" type="slidenum">
              <a:rPr lang="en-US" smtClean="0"/>
              <a:t>‹#›</a:t>
            </a:fld>
            <a:endParaRPr lang="en-US"/>
          </a:p>
        </p:txBody>
      </p:sp>
    </p:spTree>
    <p:extLst>
      <p:ext uri="{BB962C8B-B14F-4D97-AF65-F5344CB8AC3E}">
        <p14:creationId xmlns:p14="http://schemas.microsoft.com/office/powerpoint/2010/main" val="1092669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B25D82-87F3-491B-BAB3-017A3EA93220}" type="datetimeFigureOut">
              <a:rPr lang="en-US" smtClean="0"/>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4780BDE-68BA-4119-9A89-E1917920780E}" type="slidenum">
              <a:rPr lang="en-US" smtClean="0"/>
              <a:t>‹#›</a:t>
            </a:fld>
            <a:endParaRPr lang="en-US"/>
          </a:p>
        </p:txBody>
      </p:sp>
    </p:spTree>
    <p:extLst>
      <p:ext uri="{BB962C8B-B14F-4D97-AF65-F5344CB8AC3E}">
        <p14:creationId xmlns:p14="http://schemas.microsoft.com/office/powerpoint/2010/main" val="1105355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B25D82-87F3-491B-BAB3-017A3EA93220}"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780BDE-68BA-4119-9A89-E1917920780E}" type="slidenum">
              <a:rPr lang="en-US" smtClean="0"/>
              <a:t>‹#›</a:t>
            </a:fld>
            <a:endParaRPr lang="en-US"/>
          </a:p>
        </p:txBody>
      </p:sp>
    </p:spTree>
    <p:extLst>
      <p:ext uri="{BB962C8B-B14F-4D97-AF65-F5344CB8AC3E}">
        <p14:creationId xmlns:p14="http://schemas.microsoft.com/office/powerpoint/2010/main" val="2701233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B25D82-87F3-491B-BAB3-017A3EA93220}"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780BDE-68BA-4119-9A89-E1917920780E}" type="slidenum">
              <a:rPr lang="en-US" smtClean="0"/>
              <a:t>‹#›</a:t>
            </a:fld>
            <a:endParaRPr lang="en-US"/>
          </a:p>
        </p:txBody>
      </p:sp>
    </p:spTree>
    <p:extLst>
      <p:ext uri="{BB962C8B-B14F-4D97-AF65-F5344CB8AC3E}">
        <p14:creationId xmlns:p14="http://schemas.microsoft.com/office/powerpoint/2010/main" val="271433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7B25D82-87F3-491B-BAB3-017A3EA93220}"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780BDE-68BA-4119-9A89-E1917920780E}" type="slidenum">
              <a:rPr lang="en-US" smtClean="0"/>
              <a:t>‹#›</a:t>
            </a:fld>
            <a:endParaRPr lang="en-US"/>
          </a:p>
        </p:txBody>
      </p:sp>
    </p:spTree>
    <p:extLst>
      <p:ext uri="{BB962C8B-B14F-4D97-AF65-F5344CB8AC3E}">
        <p14:creationId xmlns:p14="http://schemas.microsoft.com/office/powerpoint/2010/main" val="3121742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7B25D82-87F3-491B-BAB3-017A3EA93220}"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780BDE-68BA-4119-9A89-E1917920780E}" type="slidenum">
              <a:rPr lang="en-US" smtClean="0"/>
              <a:t>‹#›</a:t>
            </a:fld>
            <a:endParaRPr lang="en-US"/>
          </a:p>
        </p:txBody>
      </p:sp>
    </p:spTree>
    <p:extLst>
      <p:ext uri="{BB962C8B-B14F-4D97-AF65-F5344CB8AC3E}">
        <p14:creationId xmlns:p14="http://schemas.microsoft.com/office/powerpoint/2010/main" val="1463155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B25D82-87F3-491B-BAB3-017A3EA93220}" type="datetimeFigureOut">
              <a:rPr lang="en-US" smtClean="0"/>
              <a:t>4/21/2026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780BDE-68BA-4119-9A89-E1917920780E}" type="slidenum">
              <a:rPr lang="en-US" smtClean="0"/>
              <a:t>‹#›</a:t>
            </a:fld>
            <a:endParaRPr lang="en-US"/>
          </a:p>
        </p:txBody>
      </p:sp>
    </p:spTree>
    <p:extLst>
      <p:ext uri="{BB962C8B-B14F-4D97-AF65-F5344CB8AC3E}">
        <p14:creationId xmlns:p14="http://schemas.microsoft.com/office/powerpoint/2010/main" val="10134647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Software Testing </a:t>
            </a:r>
          </a:p>
        </p:txBody>
      </p:sp>
    </p:spTree>
    <p:extLst>
      <p:ext uri="{BB962C8B-B14F-4D97-AF65-F5344CB8AC3E}">
        <p14:creationId xmlns:p14="http://schemas.microsoft.com/office/powerpoint/2010/main" val="3816143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Testing is intended to show that a </a:t>
            </a:r>
            <a:r>
              <a:rPr lang="en-US" b="1" dirty="0"/>
              <a:t>program does what it is intended to do and to discover program defects </a:t>
            </a:r>
            <a:r>
              <a:rPr lang="en-US" dirty="0"/>
              <a:t>before it is put into use.</a:t>
            </a:r>
          </a:p>
          <a:p>
            <a:r>
              <a:rPr lang="en-US" dirty="0"/>
              <a:t>The testing process has two distinct goals</a:t>
            </a:r>
          </a:p>
          <a:p>
            <a:pPr marL="514350" indent="-514350">
              <a:buFont typeface="+mj-lt"/>
              <a:buAutoNum type="arabicPeriod"/>
            </a:pPr>
            <a:r>
              <a:rPr lang="en-US" dirty="0"/>
              <a:t>To demonstrate to the developer and the customer that the software meets its requirements. </a:t>
            </a:r>
            <a:r>
              <a:rPr lang="en-US" dirty="0">
                <a:sym typeface="Wingdings" pitchFamily="2" charset="2"/>
              </a:rPr>
              <a:t> validation </a:t>
            </a:r>
            <a:endParaRPr lang="en-US" dirty="0"/>
          </a:p>
          <a:p>
            <a:pPr marL="514350" indent="-514350">
              <a:buFont typeface="+mj-lt"/>
              <a:buAutoNum type="arabicPeriod"/>
            </a:pPr>
            <a:r>
              <a:rPr lang="en-US" dirty="0"/>
              <a:t>To discover situations in which the behavior of the software is incorrect, undesirable, or does not conform to its specification </a:t>
            </a:r>
            <a:r>
              <a:rPr lang="en-US" dirty="0">
                <a:sym typeface="Wingdings" pitchFamily="2" charset="2"/>
              </a:rPr>
              <a:t> finding defects </a:t>
            </a:r>
            <a:endParaRPr lang="en-US" dirty="0"/>
          </a:p>
          <a:p>
            <a:endParaRPr lang="en-US" dirty="0"/>
          </a:p>
        </p:txBody>
      </p:sp>
    </p:spTree>
    <p:extLst>
      <p:ext uri="{BB962C8B-B14F-4D97-AF65-F5344CB8AC3E}">
        <p14:creationId xmlns:p14="http://schemas.microsoft.com/office/powerpoint/2010/main" val="3310602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Validation and Verification</a:t>
            </a:r>
          </a:p>
        </p:txBody>
      </p:sp>
      <p:sp>
        <p:nvSpPr>
          <p:cNvPr id="3" name="Content Placeholder 2"/>
          <p:cNvSpPr>
            <a:spLocks noGrp="1"/>
          </p:cNvSpPr>
          <p:nvPr>
            <p:ph idx="1"/>
          </p:nvPr>
        </p:nvSpPr>
        <p:spPr/>
        <p:txBody>
          <a:bodyPr/>
          <a:lstStyle/>
          <a:p>
            <a:r>
              <a:rPr lang="en-US" dirty="0"/>
              <a:t>Testing is part of a broader process of software verification and validation (V &amp; V)</a:t>
            </a:r>
          </a:p>
          <a:p>
            <a:r>
              <a:rPr lang="en-US" b="1" dirty="0"/>
              <a:t>Validation</a:t>
            </a:r>
            <a:r>
              <a:rPr lang="en-US" dirty="0"/>
              <a:t>: Are we building the right product?’</a:t>
            </a:r>
          </a:p>
          <a:p>
            <a:r>
              <a:rPr lang="en-US" b="1" dirty="0"/>
              <a:t>Verification</a:t>
            </a:r>
            <a:r>
              <a:rPr lang="en-US" dirty="0"/>
              <a:t>: Are we building the product right?</a:t>
            </a:r>
          </a:p>
          <a:p>
            <a:r>
              <a:rPr lang="en-US" b="1" dirty="0"/>
              <a:t>The aim of verification is to check that the software meets its stated functional and non-functional requirements.</a:t>
            </a:r>
          </a:p>
        </p:txBody>
      </p:sp>
    </p:spTree>
    <p:extLst>
      <p:ext uri="{BB962C8B-B14F-4D97-AF65-F5344CB8AC3E}">
        <p14:creationId xmlns:p14="http://schemas.microsoft.com/office/powerpoint/2010/main" val="3228623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Validation and Verification</a:t>
            </a:r>
          </a:p>
        </p:txBody>
      </p:sp>
      <p:sp>
        <p:nvSpPr>
          <p:cNvPr id="3" name="Content Placeholder 2"/>
          <p:cNvSpPr>
            <a:spLocks noGrp="1"/>
          </p:cNvSpPr>
          <p:nvPr>
            <p:ph idx="1"/>
          </p:nvPr>
        </p:nvSpPr>
        <p:spPr/>
        <p:txBody>
          <a:bodyPr>
            <a:normAutofit/>
          </a:bodyPr>
          <a:lstStyle/>
          <a:p>
            <a:r>
              <a:rPr lang="en-US" dirty="0"/>
              <a:t> </a:t>
            </a:r>
            <a:r>
              <a:rPr lang="en-US" b="1" dirty="0"/>
              <a:t>The aim of validation is to ensure that the software meets the customer’s expectations</a:t>
            </a:r>
            <a:r>
              <a:rPr lang="en-US" dirty="0"/>
              <a:t>. </a:t>
            </a:r>
          </a:p>
          <a:p>
            <a:r>
              <a:rPr lang="en-US" dirty="0"/>
              <a:t>The ultimate goal of verification and validation processes is to establish confidence that the software system is ‘fit for purpose’. </a:t>
            </a:r>
          </a:p>
        </p:txBody>
      </p:sp>
    </p:spTree>
    <p:extLst>
      <p:ext uri="{BB962C8B-B14F-4D97-AF65-F5344CB8AC3E}">
        <p14:creationId xmlns:p14="http://schemas.microsoft.com/office/powerpoint/2010/main" val="622857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Validation and Verification </a:t>
            </a:r>
          </a:p>
        </p:txBody>
      </p:sp>
      <p:sp>
        <p:nvSpPr>
          <p:cNvPr id="3" name="Content Placeholder 2"/>
          <p:cNvSpPr>
            <a:spLocks noGrp="1"/>
          </p:cNvSpPr>
          <p:nvPr>
            <p:ph idx="1"/>
          </p:nvPr>
        </p:nvSpPr>
        <p:spPr/>
        <p:txBody>
          <a:bodyPr>
            <a:normAutofit/>
          </a:bodyPr>
          <a:lstStyle/>
          <a:p>
            <a:r>
              <a:rPr lang="en-US" dirty="0"/>
              <a:t>This means that the system must be good enough for its intended use. </a:t>
            </a:r>
          </a:p>
          <a:p>
            <a:r>
              <a:rPr lang="en-US" b="1" dirty="0"/>
              <a:t>As software testing, the verification and validation process may involve software inspections and reviews</a:t>
            </a:r>
          </a:p>
        </p:txBody>
      </p:sp>
    </p:spTree>
    <p:extLst>
      <p:ext uri="{BB962C8B-B14F-4D97-AF65-F5344CB8AC3E}">
        <p14:creationId xmlns:p14="http://schemas.microsoft.com/office/powerpoint/2010/main" val="1461575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Inspection and Testing</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400206"/>
            <a:ext cx="8229600" cy="2925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660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Inspection and Testing</a:t>
            </a:r>
          </a:p>
        </p:txBody>
      </p:sp>
      <p:sp>
        <p:nvSpPr>
          <p:cNvPr id="3" name="Content Placeholder 2"/>
          <p:cNvSpPr>
            <a:spLocks noGrp="1"/>
          </p:cNvSpPr>
          <p:nvPr>
            <p:ph idx="1"/>
          </p:nvPr>
        </p:nvSpPr>
        <p:spPr/>
        <p:txBody>
          <a:bodyPr>
            <a:normAutofit fontScale="92500"/>
          </a:bodyPr>
          <a:lstStyle/>
          <a:p>
            <a:r>
              <a:rPr lang="en-US" dirty="0"/>
              <a:t>There are three advantages of software inspection over testing:</a:t>
            </a:r>
          </a:p>
          <a:p>
            <a:pPr marL="514350" indent="-514350">
              <a:buFont typeface="+mj-lt"/>
              <a:buAutoNum type="arabicPeriod"/>
            </a:pPr>
            <a:r>
              <a:rPr lang="en-US" dirty="0"/>
              <a:t>During testing, errors can hide other errors.</a:t>
            </a:r>
          </a:p>
          <a:p>
            <a:pPr marL="514350" indent="-514350">
              <a:buFont typeface="+mj-lt"/>
              <a:buAutoNum type="arabicPeriod"/>
            </a:pPr>
            <a:r>
              <a:rPr lang="en-US" dirty="0"/>
              <a:t>Incomplete versions of a system can be inspected without additional costs. </a:t>
            </a:r>
          </a:p>
          <a:p>
            <a:pPr marL="514350" indent="-514350">
              <a:buFont typeface="+mj-lt"/>
              <a:buAutoNum type="arabicPeriod"/>
            </a:pPr>
            <a:r>
              <a:rPr lang="en-US" dirty="0"/>
              <a:t>While searching for program defects, an inspection can also consider broader quality attributes of a program, such as compliance with standards, portability, and maintainability. </a:t>
            </a:r>
          </a:p>
        </p:txBody>
      </p:sp>
    </p:spTree>
    <p:extLst>
      <p:ext uri="{BB962C8B-B14F-4D97-AF65-F5344CB8AC3E}">
        <p14:creationId xmlns:p14="http://schemas.microsoft.com/office/powerpoint/2010/main" val="3688017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Inspection and Testing</a:t>
            </a:r>
          </a:p>
        </p:txBody>
      </p:sp>
      <p:sp>
        <p:nvSpPr>
          <p:cNvPr id="3" name="Content Placeholder 2"/>
          <p:cNvSpPr>
            <a:spLocks noGrp="1"/>
          </p:cNvSpPr>
          <p:nvPr>
            <p:ph idx="1"/>
          </p:nvPr>
        </p:nvSpPr>
        <p:spPr/>
        <p:txBody>
          <a:bodyPr/>
          <a:lstStyle/>
          <a:p>
            <a:r>
              <a:rPr lang="en-US" dirty="0"/>
              <a:t>inspections are more effective for defect discovery than program testing. </a:t>
            </a:r>
          </a:p>
          <a:p>
            <a:r>
              <a:rPr lang="en-US" dirty="0"/>
              <a:t>inspections cannot replace software testing. </a:t>
            </a:r>
          </a:p>
          <a:p>
            <a:r>
              <a:rPr lang="en-US" dirty="0"/>
              <a:t>Inspections are not good for discovering defects that arise because of unexpected interactions between different parts of a program, timing problems, or problems with system performance. </a:t>
            </a:r>
          </a:p>
        </p:txBody>
      </p:sp>
    </p:spTree>
    <p:extLst>
      <p:ext uri="{BB962C8B-B14F-4D97-AF65-F5344CB8AC3E}">
        <p14:creationId xmlns:p14="http://schemas.microsoft.com/office/powerpoint/2010/main" val="1643726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testing process</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2286000"/>
            <a:ext cx="8229600" cy="7267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6405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Testing Process</a:t>
            </a:r>
          </a:p>
        </p:txBody>
      </p:sp>
      <p:sp>
        <p:nvSpPr>
          <p:cNvPr id="3" name="Content Placeholder 2"/>
          <p:cNvSpPr>
            <a:spLocks noGrp="1"/>
          </p:cNvSpPr>
          <p:nvPr>
            <p:ph idx="1"/>
          </p:nvPr>
        </p:nvSpPr>
        <p:spPr/>
        <p:txBody>
          <a:bodyPr/>
          <a:lstStyle/>
          <a:p>
            <a:r>
              <a:rPr lang="en-US" dirty="0"/>
              <a:t>Three stages of testing</a:t>
            </a:r>
          </a:p>
          <a:p>
            <a:pPr marL="514350" indent="-514350">
              <a:buAutoNum type="arabicPeriod"/>
            </a:pPr>
            <a:r>
              <a:rPr lang="en-US" dirty="0"/>
              <a:t>Development Testing </a:t>
            </a:r>
          </a:p>
          <a:p>
            <a:pPr marL="514350" indent="-514350">
              <a:buAutoNum type="arabicPeriod"/>
            </a:pPr>
            <a:r>
              <a:rPr lang="en-US" dirty="0"/>
              <a:t>Release Testing </a:t>
            </a:r>
          </a:p>
          <a:p>
            <a:pPr marL="514350" indent="-514350">
              <a:buAutoNum type="arabicPeriod"/>
            </a:pPr>
            <a:r>
              <a:rPr lang="en-US" dirty="0"/>
              <a:t>User Testing </a:t>
            </a:r>
          </a:p>
        </p:txBody>
      </p:sp>
    </p:spTree>
    <p:extLst>
      <p:ext uri="{BB962C8B-B14F-4D97-AF65-F5344CB8AC3E}">
        <p14:creationId xmlns:p14="http://schemas.microsoft.com/office/powerpoint/2010/main" val="3736986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testing process</a:t>
            </a:r>
          </a:p>
        </p:txBody>
      </p:sp>
      <p:sp>
        <p:nvSpPr>
          <p:cNvPr id="3" name="Content Placeholder 2"/>
          <p:cNvSpPr>
            <a:spLocks noGrp="1"/>
          </p:cNvSpPr>
          <p:nvPr>
            <p:ph idx="1"/>
          </p:nvPr>
        </p:nvSpPr>
        <p:spPr/>
        <p:txBody>
          <a:bodyPr/>
          <a:lstStyle/>
          <a:p>
            <a:r>
              <a:rPr lang="en-US" dirty="0"/>
              <a:t>Manual </a:t>
            </a:r>
          </a:p>
          <a:p>
            <a:r>
              <a:rPr lang="en-US" dirty="0"/>
              <a:t>Automatic </a:t>
            </a:r>
          </a:p>
          <a:p>
            <a:r>
              <a:rPr lang="en-US" dirty="0"/>
              <a:t>In practice, the testing process usually involves a mixture of manual and auto mated testing. </a:t>
            </a:r>
          </a:p>
        </p:txBody>
      </p:sp>
    </p:spTree>
    <p:extLst>
      <p:ext uri="{BB962C8B-B14F-4D97-AF65-F5344CB8AC3E}">
        <p14:creationId xmlns:p14="http://schemas.microsoft.com/office/powerpoint/2010/main" val="236638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Development Testing </a:t>
            </a:r>
          </a:p>
        </p:txBody>
      </p:sp>
      <p:sp>
        <p:nvSpPr>
          <p:cNvPr id="3" name="Content Placeholder 2"/>
          <p:cNvSpPr>
            <a:spLocks noGrp="1"/>
          </p:cNvSpPr>
          <p:nvPr>
            <p:ph idx="1"/>
          </p:nvPr>
        </p:nvSpPr>
        <p:spPr/>
        <p:txBody>
          <a:bodyPr>
            <a:normAutofit/>
          </a:bodyPr>
          <a:lstStyle/>
          <a:p>
            <a:r>
              <a:rPr lang="en-US" dirty="0"/>
              <a:t>Where the system is tested during development to discover bugs and defects. </a:t>
            </a:r>
          </a:p>
          <a:p>
            <a:r>
              <a:rPr lang="en-US" dirty="0"/>
              <a:t>System designers and programmers are likely to be involved in the testing process</a:t>
            </a:r>
          </a:p>
          <a:p>
            <a:r>
              <a:rPr lang="en-US" dirty="0"/>
              <a:t>Some development processes use programmer/tester pairs.</a:t>
            </a:r>
          </a:p>
          <a:p>
            <a:r>
              <a:rPr lang="en-US" dirty="0"/>
              <a:t>For critical systems,  a separate testing group within the development team.</a:t>
            </a:r>
          </a:p>
        </p:txBody>
      </p:sp>
    </p:spTree>
    <p:extLst>
      <p:ext uri="{BB962C8B-B14F-4D97-AF65-F5344CB8AC3E}">
        <p14:creationId xmlns:p14="http://schemas.microsoft.com/office/powerpoint/2010/main" val="2955593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Development Testing </a:t>
            </a:r>
          </a:p>
        </p:txBody>
      </p:sp>
      <p:sp>
        <p:nvSpPr>
          <p:cNvPr id="3" name="Content Placeholder 2"/>
          <p:cNvSpPr>
            <a:spLocks noGrp="1"/>
          </p:cNvSpPr>
          <p:nvPr>
            <p:ph idx="1"/>
          </p:nvPr>
        </p:nvSpPr>
        <p:spPr/>
        <p:txBody>
          <a:bodyPr/>
          <a:lstStyle/>
          <a:p>
            <a:r>
              <a:rPr lang="en-US" dirty="0"/>
              <a:t>During development, testing may be carried out at three levels </a:t>
            </a:r>
          </a:p>
          <a:p>
            <a:pPr marL="514350" indent="-514350">
              <a:buAutoNum type="arabicPeriod"/>
            </a:pPr>
            <a:r>
              <a:rPr lang="en-US" dirty="0"/>
              <a:t>Unit Testing </a:t>
            </a:r>
          </a:p>
          <a:p>
            <a:pPr marL="514350" indent="-514350">
              <a:buAutoNum type="arabicPeriod"/>
            </a:pPr>
            <a:r>
              <a:rPr lang="en-US" dirty="0"/>
              <a:t>Component Testing </a:t>
            </a:r>
          </a:p>
          <a:p>
            <a:pPr marL="514350" indent="-514350">
              <a:buAutoNum type="arabicPeriod"/>
            </a:pPr>
            <a:r>
              <a:rPr lang="en-US" dirty="0"/>
              <a:t>System Testing </a:t>
            </a:r>
          </a:p>
        </p:txBody>
      </p:sp>
    </p:spTree>
    <p:extLst>
      <p:ext uri="{BB962C8B-B14F-4D97-AF65-F5344CB8AC3E}">
        <p14:creationId xmlns:p14="http://schemas.microsoft.com/office/powerpoint/2010/main" val="2199228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Unit Testing </a:t>
            </a:r>
          </a:p>
        </p:txBody>
      </p:sp>
      <p:sp>
        <p:nvSpPr>
          <p:cNvPr id="3" name="Content Placeholder 2"/>
          <p:cNvSpPr>
            <a:spLocks noGrp="1"/>
          </p:cNvSpPr>
          <p:nvPr>
            <p:ph idx="1"/>
          </p:nvPr>
        </p:nvSpPr>
        <p:spPr/>
        <p:txBody>
          <a:bodyPr/>
          <a:lstStyle/>
          <a:p>
            <a:r>
              <a:rPr lang="en-US" b="1" dirty="0"/>
              <a:t>Unit testing, where individual program units or object classes are tested. </a:t>
            </a:r>
          </a:p>
          <a:p>
            <a:r>
              <a:rPr lang="en-US" b="1" dirty="0"/>
              <a:t>Unit testing should focus on testing the functionality of objects or methods.</a:t>
            </a:r>
          </a:p>
          <a:p>
            <a:r>
              <a:rPr lang="en-US" dirty="0"/>
              <a:t>When  testing object classes, you should design your tests to provide coverage of all of the features of the object. </a:t>
            </a:r>
          </a:p>
        </p:txBody>
      </p:sp>
    </p:spTree>
    <p:extLst>
      <p:ext uri="{BB962C8B-B14F-4D97-AF65-F5344CB8AC3E}">
        <p14:creationId xmlns:p14="http://schemas.microsoft.com/office/powerpoint/2010/main" val="33848583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Unit testing </a:t>
            </a:r>
          </a:p>
        </p:txBody>
      </p:sp>
      <p:sp>
        <p:nvSpPr>
          <p:cNvPr id="3" name="Content Placeholder 2"/>
          <p:cNvSpPr>
            <a:spLocks noGrp="1"/>
          </p:cNvSpPr>
          <p:nvPr>
            <p:ph idx="1"/>
          </p:nvPr>
        </p:nvSpPr>
        <p:spPr/>
        <p:txBody>
          <a:bodyPr/>
          <a:lstStyle/>
          <a:p>
            <a:r>
              <a:rPr lang="en-US" b="1" dirty="0"/>
              <a:t>test all operations associated with the object</a:t>
            </a:r>
          </a:p>
          <a:p>
            <a:r>
              <a:rPr lang="en-US" b="1" dirty="0"/>
              <a:t>set and check the value of all attributes associated with the object</a:t>
            </a:r>
          </a:p>
          <a:p>
            <a:r>
              <a:rPr lang="en-US" b="1" dirty="0"/>
              <a:t> put the object into all possible states.</a:t>
            </a:r>
          </a:p>
        </p:txBody>
      </p:sp>
    </p:spTree>
    <p:extLst>
      <p:ext uri="{BB962C8B-B14F-4D97-AF65-F5344CB8AC3E}">
        <p14:creationId xmlns:p14="http://schemas.microsoft.com/office/powerpoint/2010/main" val="4056688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unit test cases</a:t>
            </a:r>
          </a:p>
        </p:txBody>
      </p:sp>
      <p:sp>
        <p:nvSpPr>
          <p:cNvPr id="3" name="Content Placeholder 2"/>
          <p:cNvSpPr>
            <a:spLocks noGrp="1"/>
          </p:cNvSpPr>
          <p:nvPr>
            <p:ph idx="1"/>
          </p:nvPr>
        </p:nvSpPr>
        <p:spPr/>
        <p:txBody>
          <a:bodyPr/>
          <a:lstStyle/>
          <a:p>
            <a:r>
              <a:rPr lang="en-US" dirty="0"/>
              <a:t>Testing is expensive and time consuming, so it is important that you choose effective unit test cases</a:t>
            </a:r>
          </a:p>
          <a:p>
            <a:r>
              <a:rPr lang="en-US" dirty="0"/>
              <a:t>Possible strategy for choosing unit test cases.</a:t>
            </a:r>
          </a:p>
          <a:p>
            <a:pPr marL="0" indent="0">
              <a:buNone/>
            </a:pPr>
            <a:r>
              <a:rPr lang="en-US" dirty="0"/>
              <a:t>         </a:t>
            </a:r>
            <a:r>
              <a:rPr lang="en-US" b="1" dirty="0"/>
              <a:t>Partition testing:</a:t>
            </a:r>
          </a:p>
          <a:p>
            <a:r>
              <a:rPr lang="en-US" dirty="0"/>
              <a:t>where you identify groups of inputs .</a:t>
            </a:r>
          </a:p>
          <a:p>
            <a:r>
              <a:rPr lang="en-US" dirty="0"/>
              <a:t> You should choose tests from within each of these groups.</a:t>
            </a:r>
          </a:p>
        </p:txBody>
      </p:sp>
    </p:spTree>
    <p:extLst>
      <p:ext uri="{BB962C8B-B14F-4D97-AF65-F5344CB8AC3E}">
        <p14:creationId xmlns:p14="http://schemas.microsoft.com/office/powerpoint/2010/main" val="18872766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Unit Testing </a:t>
            </a:r>
          </a:p>
        </p:txBody>
      </p:sp>
      <p:sp>
        <p:nvSpPr>
          <p:cNvPr id="3" name="Content Placeholder 2"/>
          <p:cNvSpPr>
            <a:spLocks noGrp="1"/>
          </p:cNvSpPr>
          <p:nvPr>
            <p:ph idx="1"/>
          </p:nvPr>
        </p:nvSpPr>
        <p:spPr/>
        <p:txBody>
          <a:bodyPr/>
          <a:lstStyle/>
          <a:p>
            <a:pPr marL="0" indent="0">
              <a:buNone/>
            </a:pPr>
            <a:r>
              <a:rPr lang="en-US" b="1" dirty="0"/>
              <a:t>    Guideline-based testing </a:t>
            </a:r>
          </a:p>
          <a:p>
            <a:r>
              <a:rPr lang="en-US" b="1" dirty="0"/>
              <a:t>where you use testing guidelines to choose test cases</a:t>
            </a:r>
            <a:r>
              <a:rPr lang="en-US" dirty="0"/>
              <a:t>. </a:t>
            </a:r>
          </a:p>
          <a:p>
            <a:r>
              <a:rPr lang="en-US" dirty="0"/>
              <a:t>These guidelines reflect previous experience of the kinds of errors that programmers often make when developing components</a:t>
            </a:r>
          </a:p>
        </p:txBody>
      </p:sp>
    </p:spTree>
    <p:extLst>
      <p:ext uri="{BB962C8B-B14F-4D97-AF65-F5344CB8AC3E}">
        <p14:creationId xmlns:p14="http://schemas.microsoft.com/office/powerpoint/2010/main" val="14247047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Component Testing </a:t>
            </a:r>
          </a:p>
        </p:txBody>
      </p:sp>
      <p:sp>
        <p:nvSpPr>
          <p:cNvPr id="3" name="Content Placeholder 2"/>
          <p:cNvSpPr>
            <a:spLocks noGrp="1"/>
          </p:cNvSpPr>
          <p:nvPr>
            <p:ph idx="1"/>
          </p:nvPr>
        </p:nvSpPr>
        <p:spPr/>
        <p:txBody>
          <a:bodyPr/>
          <a:lstStyle/>
          <a:p>
            <a:r>
              <a:rPr lang="en-US" dirty="0"/>
              <a:t>During component testing several individual units are integrated to create composite components. </a:t>
            </a:r>
          </a:p>
          <a:p>
            <a:r>
              <a:rPr lang="en-US" dirty="0"/>
              <a:t>Component testing should focus on testing component interfaces.</a:t>
            </a:r>
          </a:p>
          <a:p>
            <a:r>
              <a:rPr lang="en-US" dirty="0"/>
              <a:t>Assume that components A, B, and C have been integrated to create a larger component or subsystem.</a:t>
            </a:r>
          </a:p>
        </p:txBody>
      </p:sp>
    </p:spTree>
    <p:extLst>
      <p:ext uri="{BB962C8B-B14F-4D97-AF65-F5344CB8AC3E}">
        <p14:creationId xmlns:p14="http://schemas.microsoft.com/office/powerpoint/2010/main" val="5778007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Component Testing</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78181" y="1702724"/>
            <a:ext cx="4587638" cy="4320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83248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Component Testing</a:t>
            </a:r>
          </a:p>
        </p:txBody>
      </p:sp>
      <p:sp>
        <p:nvSpPr>
          <p:cNvPr id="3" name="Content Placeholder 2"/>
          <p:cNvSpPr>
            <a:spLocks noGrp="1"/>
          </p:cNvSpPr>
          <p:nvPr>
            <p:ph idx="1"/>
          </p:nvPr>
        </p:nvSpPr>
        <p:spPr/>
        <p:txBody>
          <a:bodyPr>
            <a:normAutofit fontScale="85000" lnSpcReduction="10000"/>
          </a:bodyPr>
          <a:lstStyle/>
          <a:p>
            <a:r>
              <a:rPr lang="en-US" dirty="0"/>
              <a:t>The problem, of course, is "putting </a:t>
            </a:r>
            <a:r>
              <a:rPr lang="en-US"/>
              <a:t>them together interfacing</a:t>
            </a:r>
            <a:endParaRPr lang="en-US" dirty="0"/>
          </a:p>
          <a:p>
            <a:pPr marL="1262063"/>
            <a:r>
              <a:rPr lang="en-US" i="1" dirty="0"/>
              <a:t>Data can be </a:t>
            </a:r>
            <a:r>
              <a:rPr lang="en-US" b="1" i="1" dirty="0"/>
              <a:t>lost</a:t>
            </a:r>
            <a:r>
              <a:rPr lang="en-US" i="1" dirty="0"/>
              <a:t> across an interface</a:t>
            </a:r>
          </a:p>
          <a:p>
            <a:pPr marL="1262063"/>
            <a:r>
              <a:rPr lang="en-US" i="1" dirty="0"/>
              <a:t>one module can have </a:t>
            </a:r>
            <a:r>
              <a:rPr lang="en-US" b="1" i="1" dirty="0"/>
              <a:t>adverse affect</a:t>
            </a:r>
            <a:r>
              <a:rPr lang="en-US" i="1" dirty="0"/>
              <a:t> on another </a:t>
            </a:r>
          </a:p>
          <a:p>
            <a:pPr marL="1262063"/>
            <a:r>
              <a:rPr lang="en-US" i="1" dirty="0"/>
              <a:t>sub functions, when combined, may not produce the </a:t>
            </a:r>
            <a:r>
              <a:rPr lang="en-US" b="1" i="1" dirty="0"/>
              <a:t>desired major function</a:t>
            </a:r>
          </a:p>
          <a:p>
            <a:pPr marL="1262063"/>
            <a:r>
              <a:rPr lang="en-US" i="1" dirty="0"/>
              <a:t>Individually acceptable error may be </a:t>
            </a:r>
            <a:r>
              <a:rPr lang="en-US" b="1" i="1" dirty="0"/>
              <a:t>magnified</a:t>
            </a:r>
            <a:r>
              <a:rPr lang="en-US" i="1" dirty="0"/>
              <a:t> to unacceptable levels</a:t>
            </a:r>
          </a:p>
          <a:p>
            <a:pPr marL="1262063"/>
            <a:r>
              <a:rPr lang="en-US" b="1" i="1" dirty="0"/>
              <a:t>Global data </a:t>
            </a:r>
            <a:r>
              <a:rPr lang="en-US" i="1" dirty="0"/>
              <a:t>structures can present problems. </a:t>
            </a:r>
          </a:p>
          <a:p>
            <a:endParaRPr lang="en-US" dirty="0"/>
          </a:p>
        </p:txBody>
      </p:sp>
    </p:spTree>
    <p:extLst>
      <p:ext uri="{BB962C8B-B14F-4D97-AF65-F5344CB8AC3E}">
        <p14:creationId xmlns:p14="http://schemas.microsoft.com/office/powerpoint/2010/main" val="40551202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testing</a:t>
            </a:r>
          </a:p>
        </p:txBody>
      </p:sp>
      <p:sp>
        <p:nvSpPr>
          <p:cNvPr id="3" name="Content Placeholder 2"/>
          <p:cNvSpPr>
            <a:spLocks noGrp="1"/>
          </p:cNvSpPr>
          <p:nvPr>
            <p:ph idx="1"/>
          </p:nvPr>
        </p:nvSpPr>
        <p:spPr/>
        <p:txBody>
          <a:bodyPr/>
          <a:lstStyle/>
          <a:p>
            <a:r>
              <a:rPr lang="en-US" dirty="0"/>
              <a:t>Some or all of the components in a system are integrated and the system is tested as a whole. </a:t>
            </a:r>
          </a:p>
          <a:p>
            <a:r>
              <a:rPr lang="en-US" dirty="0"/>
              <a:t>System testing should focus on testing component interactions</a:t>
            </a:r>
          </a:p>
        </p:txBody>
      </p:sp>
    </p:spTree>
    <p:extLst>
      <p:ext uri="{BB962C8B-B14F-4D97-AF65-F5344CB8AC3E}">
        <p14:creationId xmlns:p14="http://schemas.microsoft.com/office/powerpoint/2010/main" val="12242946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Testing </a:t>
            </a:r>
          </a:p>
        </p:txBody>
      </p:sp>
      <p:sp>
        <p:nvSpPr>
          <p:cNvPr id="3" name="Content Placeholder 2"/>
          <p:cNvSpPr>
            <a:spLocks noGrp="1"/>
          </p:cNvSpPr>
          <p:nvPr>
            <p:ph idx="1"/>
          </p:nvPr>
        </p:nvSpPr>
        <p:spPr/>
        <p:txBody>
          <a:bodyPr/>
          <a:lstStyle/>
          <a:p>
            <a:r>
              <a:rPr lang="en-US" dirty="0"/>
              <a:t>System testing checks that components are compatible, interact correctly and transfer the right data at the right time across their </a:t>
            </a:r>
            <a:r>
              <a:rPr lang="en-US"/>
              <a:t>interfaces.</a:t>
            </a:r>
          </a:p>
          <a:p>
            <a:r>
              <a:rPr lang="en-US"/>
              <a:t> </a:t>
            </a:r>
            <a:r>
              <a:rPr lang="en-US" dirty="0"/>
              <a:t>It obviously overlaps with component testing but there are two important differences</a:t>
            </a:r>
          </a:p>
        </p:txBody>
      </p:sp>
    </p:spTree>
    <p:extLst>
      <p:ext uri="{BB962C8B-B14F-4D97-AF65-F5344CB8AC3E}">
        <p14:creationId xmlns:p14="http://schemas.microsoft.com/office/powerpoint/2010/main" val="23097926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Testing </a:t>
            </a:r>
          </a:p>
        </p:txBody>
      </p:sp>
      <p:sp>
        <p:nvSpPr>
          <p:cNvPr id="3" name="Content Placeholder 2"/>
          <p:cNvSpPr>
            <a:spLocks noGrp="1"/>
          </p:cNvSpPr>
          <p:nvPr>
            <p:ph idx="1"/>
          </p:nvPr>
        </p:nvSpPr>
        <p:spPr/>
        <p:txBody>
          <a:bodyPr>
            <a:normAutofit fontScale="92500"/>
          </a:bodyPr>
          <a:lstStyle/>
          <a:p>
            <a:pPr marL="0" indent="0">
              <a:buNone/>
            </a:pPr>
            <a:r>
              <a:rPr lang="en-US" dirty="0"/>
              <a:t>1. During system testing, reusable components that have been separately developed and off-the-shelf systems may be integrated with newly developed components. The complete system is then tested. </a:t>
            </a:r>
          </a:p>
          <a:p>
            <a:pPr marL="0" indent="0">
              <a:buNone/>
            </a:pPr>
            <a:r>
              <a:rPr lang="en-US" dirty="0"/>
              <a:t>2. Components developed by different team members or groups may be integrated at this stage.</a:t>
            </a:r>
          </a:p>
          <a:p>
            <a:pPr marL="0" indent="0">
              <a:buNone/>
            </a:pPr>
            <a:r>
              <a:rPr lang="en-US" dirty="0"/>
              <a:t> System testing is a collective rather than an individual process.</a:t>
            </a:r>
          </a:p>
          <a:p>
            <a:pPr marL="0" indent="0">
              <a:buNone/>
            </a:pPr>
            <a:r>
              <a:rPr lang="en-US" dirty="0"/>
              <a:t> </a:t>
            </a:r>
          </a:p>
        </p:txBody>
      </p:sp>
    </p:spTree>
    <p:extLst>
      <p:ext uri="{BB962C8B-B14F-4D97-AF65-F5344CB8AC3E}">
        <p14:creationId xmlns:p14="http://schemas.microsoft.com/office/powerpoint/2010/main" val="39330928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Release Testing</a:t>
            </a:r>
          </a:p>
        </p:txBody>
      </p:sp>
      <p:sp>
        <p:nvSpPr>
          <p:cNvPr id="3" name="Content Placeholder 2"/>
          <p:cNvSpPr>
            <a:spLocks noGrp="1"/>
          </p:cNvSpPr>
          <p:nvPr>
            <p:ph idx="1"/>
          </p:nvPr>
        </p:nvSpPr>
        <p:spPr/>
        <p:txBody>
          <a:bodyPr>
            <a:normAutofit/>
          </a:bodyPr>
          <a:lstStyle/>
          <a:p>
            <a:r>
              <a:rPr lang="en-US" dirty="0"/>
              <a:t>Release testing is the process of testing a particular release of a system that is intended for use outside of the development team. </a:t>
            </a:r>
          </a:p>
        </p:txBody>
      </p:sp>
    </p:spTree>
    <p:extLst>
      <p:ext uri="{BB962C8B-B14F-4D97-AF65-F5344CB8AC3E}">
        <p14:creationId xmlns:p14="http://schemas.microsoft.com/office/powerpoint/2010/main" val="4244306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Release Testing </a:t>
            </a:r>
          </a:p>
        </p:txBody>
      </p:sp>
      <p:sp>
        <p:nvSpPr>
          <p:cNvPr id="3" name="Content Placeholder 2"/>
          <p:cNvSpPr>
            <a:spLocks noGrp="1"/>
          </p:cNvSpPr>
          <p:nvPr>
            <p:ph idx="1"/>
          </p:nvPr>
        </p:nvSpPr>
        <p:spPr/>
        <p:txBody>
          <a:bodyPr>
            <a:normAutofit fontScale="92500"/>
          </a:bodyPr>
          <a:lstStyle/>
          <a:p>
            <a:r>
              <a:rPr lang="en-US" dirty="0"/>
              <a:t>There are two important distinctions between release testing and system testing during the development process:</a:t>
            </a:r>
          </a:p>
          <a:p>
            <a:r>
              <a:rPr lang="en-US" dirty="0"/>
              <a:t>1. A </a:t>
            </a:r>
            <a:r>
              <a:rPr lang="en-US" b="1" dirty="0"/>
              <a:t>separate team </a:t>
            </a:r>
            <a:r>
              <a:rPr lang="en-US" dirty="0"/>
              <a:t>that has not been involved in the system development should be responsible for release testing. </a:t>
            </a:r>
          </a:p>
          <a:p>
            <a:r>
              <a:rPr lang="en-US" dirty="0"/>
              <a:t>2. The objective of release testing is to check that the system meets its requirements and is good enough for external use (</a:t>
            </a:r>
            <a:r>
              <a:rPr lang="en-US" b="1" dirty="0"/>
              <a:t>validation testing</a:t>
            </a:r>
            <a:r>
              <a:rPr lang="en-US" dirty="0"/>
              <a:t>).</a:t>
            </a:r>
          </a:p>
        </p:txBody>
      </p:sp>
    </p:spTree>
    <p:extLst>
      <p:ext uri="{BB962C8B-B14F-4D97-AF65-F5344CB8AC3E}">
        <p14:creationId xmlns:p14="http://schemas.microsoft.com/office/powerpoint/2010/main" val="7578872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Requirements-based testing</a:t>
            </a:r>
            <a:br>
              <a:rPr lang="en-US" dirty="0"/>
            </a:br>
            <a:endParaRPr lang="en-US" dirty="0"/>
          </a:p>
        </p:txBody>
      </p:sp>
      <p:sp>
        <p:nvSpPr>
          <p:cNvPr id="3" name="Content Placeholder 2"/>
          <p:cNvSpPr>
            <a:spLocks noGrp="1"/>
          </p:cNvSpPr>
          <p:nvPr>
            <p:ph idx="1"/>
          </p:nvPr>
        </p:nvSpPr>
        <p:spPr/>
        <p:txBody>
          <a:bodyPr>
            <a:normAutofit/>
          </a:bodyPr>
          <a:lstStyle/>
          <a:p>
            <a:r>
              <a:rPr lang="en-US" dirty="0"/>
              <a:t>A general principle of good requirements engineering practice is that requirements should be testable.</a:t>
            </a:r>
          </a:p>
          <a:p>
            <a:r>
              <a:rPr lang="en-US" dirty="0"/>
              <a:t>Requirements-based testing, therefore, is a systematic approach to test case design where you consider each requirement and derive a set of tests for it</a:t>
            </a:r>
          </a:p>
        </p:txBody>
      </p:sp>
    </p:spTree>
    <p:extLst>
      <p:ext uri="{BB962C8B-B14F-4D97-AF65-F5344CB8AC3E}">
        <p14:creationId xmlns:p14="http://schemas.microsoft.com/office/powerpoint/2010/main" val="6137918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a:t>Requirements-based testing is validation rather than defect. </a:t>
            </a:r>
          </a:p>
          <a:p>
            <a:endParaRPr lang="en-US" dirty="0"/>
          </a:p>
        </p:txBody>
      </p:sp>
    </p:spTree>
    <p:extLst>
      <p:ext uri="{BB962C8B-B14F-4D97-AF65-F5344CB8AC3E}">
        <p14:creationId xmlns:p14="http://schemas.microsoft.com/office/powerpoint/2010/main" val="1571190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Scenario testing is an approach to release testing where you devise typical scenarios of use and use these to develop test cases for the system. </a:t>
            </a:r>
          </a:p>
          <a:p>
            <a:r>
              <a:rPr lang="en-US" dirty="0"/>
              <a:t>A scenario is a story that describes one way in which the system might be used. </a:t>
            </a:r>
          </a:p>
        </p:txBody>
      </p:sp>
    </p:spTree>
    <p:extLst>
      <p:ext uri="{BB962C8B-B14F-4D97-AF65-F5344CB8AC3E}">
        <p14:creationId xmlns:p14="http://schemas.microsoft.com/office/powerpoint/2010/main" val="3769121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Scenarios should be realistic and real system users should be able to relate to them</a:t>
            </a:r>
          </a:p>
        </p:txBody>
      </p:sp>
    </p:spTree>
    <p:extLst>
      <p:ext uri="{BB962C8B-B14F-4D97-AF65-F5344CB8AC3E}">
        <p14:creationId xmlns:p14="http://schemas.microsoft.com/office/powerpoint/2010/main" val="11236489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352543"/>
            <a:ext cx="8229600" cy="3021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330498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142315"/>
            <a:ext cx="8229600" cy="3441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42601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Testing </a:t>
            </a:r>
          </a:p>
        </p:txBody>
      </p:sp>
      <p:sp>
        <p:nvSpPr>
          <p:cNvPr id="3" name="Content Placeholder 2"/>
          <p:cNvSpPr>
            <a:spLocks noGrp="1"/>
          </p:cNvSpPr>
          <p:nvPr>
            <p:ph idx="1"/>
          </p:nvPr>
        </p:nvSpPr>
        <p:spPr/>
        <p:txBody>
          <a:bodyPr>
            <a:normAutofit fontScale="92500"/>
          </a:bodyPr>
          <a:lstStyle/>
          <a:p>
            <a:r>
              <a:rPr lang="en-US" dirty="0"/>
              <a:t>Once a system has been completely integrated, it is possible to test for emergent properties, such as performance and reliability. </a:t>
            </a:r>
          </a:p>
          <a:p>
            <a:r>
              <a:rPr lang="en-US" dirty="0"/>
              <a:t>Performance tests have to be designed to ensure that the system can process its intended load. </a:t>
            </a:r>
          </a:p>
          <a:p>
            <a:r>
              <a:rPr lang="en-US" dirty="0"/>
              <a:t>This usually involves running a series of tests where you increase the load until the system performance becomes unacceptable.</a:t>
            </a:r>
          </a:p>
        </p:txBody>
      </p:sp>
    </p:spTree>
    <p:extLst>
      <p:ext uri="{BB962C8B-B14F-4D97-AF65-F5344CB8AC3E}">
        <p14:creationId xmlns:p14="http://schemas.microsoft.com/office/powerpoint/2010/main" val="35556721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Testing</a:t>
            </a:r>
          </a:p>
        </p:txBody>
      </p:sp>
      <p:sp>
        <p:nvSpPr>
          <p:cNvPr id="3" name="Content Placeholder 2"/>
          <p:cNvSpPr>
            <a:spLocks noGrp="1"/>
          </p:cNvSpPr>
          <p:nvPr>
            <p:ph idx="1"/>
          </p:nvPr>
        </p:nvSpPr>
        <p:spPr/>
        <p:txBody>
          <a:bodyPr>
            <a:normAutofit fontScale="92500" lnSpcReduction="10000"/>
          </a:bodyPr>
          <a:lstStyle/>
          <a:p>
            <a:r>
              <a:rPr lang="en-US" dirty="0"/>
              <a:t>users or customers provide input and advice on system testing. </a:t>
            </a:r>
          </a:p>
          <a:p>
            <a:pPr marL="0" indent="0">
              <a:buNone/>
            </a:pPr>
            <a:r>
              <a:rPr lang="en-US" dirty="0"/>
              <a:t>Different types of system testing are:-</a:t>
            </a:r>
          </a:p>
          <a:p>
            <a:r>
              <a:rPr lang="en-US" b="1" dirty="0"/>
              <a:t>Alpha testing, </a:t>
            </a:r>
            <a:r>
              <a:rPr lang="en-US" dirty="0"/>
              <a:t>where users of the software work with the development team to test the software at the developer’s site. </a:t>
            </a:r>
          </a:p>
          <a:p>
            <a:r>
              <a:rPr lang="en-US" b="1" dirty="0"/>
              <a:t> Beta testing, </a:t>
            </a:r>
            <a:r>
              <a:rPr lang="en-US" dirty="0"/>
              <a:t>where a release of the software is made available to users to allow them to experiment and to raise problems that they discover with the system developers</a:t>
            </a:r>
          </a:p>
        </p:txBody>
      </p:sp>
    </p:spTree>
    <p:extLst>
      <p:ext uri="{BB962C8B-B14F-4D97-AF65-F5344CB8AC3E}">
        <p14:creationId xmlns:p14="http://schemas.microsoft.com/office/powerpoint/2010/main" val="15282277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marL="0" indent="0">
              <a:buNone/>
            </a:pPr>
            <a:r>
              <a:rPr lang="en-US" dirty="0"/>
              <a:t> 3. </a:t>
            </a:r>
            <a:r>
              <a:rPr lang="en-US" b="1" dirty="0"/>
              <a:t>Acceptance testing</a:t>
            </a:r>
            <a:r>
              <a:rPr lang="en-US" dirty="0"/>
              <a:t> is an inherent part of custom systems development. It takes place after release testing.</a:t>
            </a:r>
          </a:p>
          <a:p>
            <a:pPr marL="0" indent="0">
              <a:buNone/>
            </a:pPr>
            <a:r>
              <a:rPr lang="en-US" dirty="0"/>
              <a:t> It involves a customer formally testing a system to decide whether or not it should be accepted from the system developer. </a:t>
            </a:r>
          </a:p>
          <a:p>
            <a:pPr marL="0" indent="0">
              <a:buNone/>
            </a:pPr>
            <a:r>
              <a:rPr lang="en-US" dirty="0"/>
              <a:t>Acceptance implies that payment should be made for the system.</a:t>
            </a:r>
          </a:p>
          <a:p>
            <a:pPr marL="0" indent="0">
              <a:buNone/>
            </a:pPr>
            <a:r>
              <a:rPr lang="en-US" dirty="0"/>
              <a:t> There are six stages in the acceptance testing process,.</a:t>
            </a:r>
          </a:p>
          <a:p>
            <a:endParaRPr lang="en-US" dirty="0"/>
          </a:p>
        </p:txBody>
      </p:sp>
    </p:spTree>
    <p:extLst>
      <p:ext uri="{BB962C8B-B14F-4D97-AF65-F5344CB8AC3E}">
        <p14:creationId xmlns:p14="http://schemas.microsoft.com/office/powerpoint/2010/main" val="32893356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Acceptance Test Criteria</a:t>
            </a:r>
          </a:p>
        </p:txBody>
      </p:sp>
      <p:sp>
        <p:nvSpPr>
          <p:cNvPr id="3" name="Content Placeholder 2"/>
          <p:cNvSpPr>
            <a:spLocks noGrp="1"/>
          </p:cNvSpPr>
          <p:nvPr>
            <p:ph idx="1"/>
          </p:nvPr>
        </p:nvSpPr>
        <p:spPr/>
        <p:txBody>
          <a:bodyPr/>
          <a:lstStyle/>
          <a:p>
            <a:r>
              <a:rPr lang="en-US" dirty="0"/>
              <a:t>Define acceptance criteria </a:t>
            </a:r>
          </a:p>
          <a:p>
            <a:r>
              <a:rPr lang="en-US" dirty="0"/>
              <a:t>Plan acceptance testing</a:t>
            </a:r>
          </a:p>
          <a:p>
            <a:r>
              <a:rPr lang="en-US" dirty="0"/>
              <a:t>Derive acceptance tests </a:t>
            </a:r>
          </a:p>
          <a:p>
            <a:r>
              <a:rPr lang="en-US" dirty="0"/>
              <a:t>Run acceptance tests</a:t>
            </a:r>
          </a:p>
          <a:p>
            <a:r>
              <a:rPr lang="en-US" dirty="0"/>
              <a:t>Negotiate test results</a:t>
            </a:r>
          </a:p>
          <a:p>
            <a:r>
              <a:rPr lang="en-US" dirty="0"/>
              <a:t>Reject/accept system </a:t>
            </a:r>
          </a:p>
        </p:txBody>
      </p:sp>
    </p:spTree>
    <p:extLst>
      <p:ext uri="{BB962C8B-B14F-4D97-AF65-F5344CB8AC3E}">
        <p14:creationId xmlns:p14="http://schemas.microsoft.com/office/powerpoint/2010/main" val="21557324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Evolution</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02586" y="1600200"/>
            <a:ext cx="7338827"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0904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change</a:t>
            </a: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57012" y="1725586"/>
            <a:ext cx="6629975" cy="4275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60522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evolution</a:t>
            </a:r>
          </a:p>
        </p:txBody>
      </p:sp>
      <p:sp>
        <p:nvSpPr>
          <p:cNvPr id="3" name="Content Placeholder 2"/>
          <p:cNvSpPr>
            <a:spLocks noGrp="1"/>
          </p:cNvSpPr>
          <p:nvPr>
            <p:ph idx="1"/>
          </p:nvPr>
        </p:nvSpPr>
        <p:spPr/>
        <p:txBody>
          <a:bodyPr>
            <a:normAutofit fontScale="92500" lnSpcReduction="20000"/>
          </a:bodyPr>
          <a:lstStyle/>
          <a:p>
            <a:r>
              <a:rPr lang="en-US" dirty="0"/>
              <a:t>Software evolution processes vary depending on the type of software being maintained, the development processes used in an organization and the skills of the people involved.</a:t>
            </a:r>
          </a:p>
          <a:p>
            <a:r>
              <a:rPr lang="en-US" dirty="0"/>
              <a:t> In some organizations, evolution may be an informal process where change requests mostly come from conversations between the system users and developers.</a:t>
            </a:r>
          </a:p>
          <a:p>
            <a:r>
              <a:rPr lang="en-US" dirty="0"/>
              <a:t> In other companies, it is a formalized process with structured documentation produced at each stage in the process.</a:t>
            </a:r>
          </a:p>
        </p:txBody>
      </p:sp>
    </p:spTree>
    <p:extLst>
      <p:ext uri="{BB962C8B-B14F-4D97-AF65-F5344CB8AC3E}">
        <p14:creationId xmlns:p14="http://schemas.microsoft.com/office/powerpoint/2010/main" val="41270052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a:t>System change proposals are the driver for system evolution in all organizations. </a:t>
            </a:r>
          </a:p>
          <a:p>
            <a:r>
              <a:rPr lang="en-US" dirty="0"/>
              <a:t>Change proposals may come from existing requirements that have not been implemented in the released system, requests for new requirements, bug reports from system stakeholders, and new ideas for software improvement from the system development team. </a:t>
            </a:r>
          </a:p>
          <a:p>
            <a:r>
              <a:rPr lang="en-US" dirty="0"/>
              <a:t>The processes of change identification and system evolution are cyclic and continue throughout the lifetime of a system</a:t>
            </a:r>
          </a:p>
        </p:txBody>
      </p:sp>
    </p:spTree>
    <p:extLst>
      <p:ext uri="{BB962C8B-B14F-4D97-AF65-F5344CB8AC3E}">
        <p14:creationId xmlns:p14="http://schemas.microsoft.com/office/powerpoint/2010/main" val="14877174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Change proposals should be linked to the components of the system that have to be modified to implement these proposals. </a:t>
            </a:r>
          </a:p>
          <a:p>
            <a:r>
              <a:rPr lang="en-US" dirty="0"/>
              <a:t>This allows the cost and the impact of the change to be assessed. This is part of the general process of change management,</a:t>
            </a:r>
          </a:p>
        </p:txBody>
      </p:sp>
    </p:spTree>
    <p:extLst>
      <p:ext uri="{BB962C8B-B14F-4D97-AF65-F5344CB8AC3E}">
        <p14:creationId xmlns:p14="http://schemas.microsoft.com/office/powerpoint/2010/main" val="15748958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evolution process</a:t>
            </a:r>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667956"/>
            <a:ext cx="8229600" cy="2390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78635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Maintenance </a:t>
            </a:r>
          </a:p>
        </p:txBody>
      </p:sp>
      <p:sp>
        <p:nvSpPr>
          <p:cNvPr id="3" name="Content Placeholder 2"/>
          <p:cNvSpPr>
            <a:spLocks noGrp="1"/>
          </p:cNvSpPr>
          <p:nvPr>
            <p:ph idx="1"/>
          </p:nvPr>
        </p:nvSpPr>
        <p:spPr/>
        <p:txBody>
          <a:bodyPr>
            <a:normAutofit/>
          </a:bodyPr>
          <a:lstStyle/>
          <a:p>
            <a:r>
              <a:rPr lang="en-US" dirty="0"/>
              <a:t>Software maintenance is the general process of changing a system after it has been </a:t>
            </a:r>
            <a:r>
              <a:rPr lang="en-US" b="1" dirty="0"/>
              <a:t>delivered. </a:t>
            </a:r>
          </a:p>
          <a:p>
            <a:r>
              <a:rPr lang="en-US" dirty="0"/>
              <a:t>The term is usually applied to custom software in which separate development groups are involved before and after delivery. </a:t>
            </a:r>
          </a:p>
        </p:txBody>
      </p:sp>
    </p:spTree>
    <p:extLst>
      <p:ext uri="{BB962C8B-B14F-4D97-AF65-F5344CB8AC3E}">
        <p14:creationId xmlns:p14="http://schemas.microsoft.com/office/powerpoint/2010/main" val="40597116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Maintenance</a:t>
            </a:r>
          </a:p>
        </p:txBody>
      </p:sp>
      <p:sp>
        <p:nvSpPr>
          <p:cNvPr id="3" name="Content Placeholder 2"/>
          <p:cNvSpPr>
            <a:spLocks noGrp="1"/>
          </p:cNvSpPr>
          <p:nvPr>
            <p:ph idx="1"/>
          </p:nvPr>
        </p:nvSpPr>
        <p:spPr/>
        <p:txBody>
          <a:bodyPr>
            <a:normAutofit fontScale="92500" lnSpcReduction="10000"/>
          </a:bodyPr>
          <a:lstStyle/>
          <a:p>
            <a:r>
              <a:rPr lang="en-US" dirty="0"/>
              <a:t>The changes made to the software may be simple changes to correct coding errors, more extensive changes to correct design errors, or significant enhancements to correct specification errors or accommodate new requirements. </a:t>
            </a:r>
          </a:p>
          <a:p>
            <a:r>
              <a:rPr lang="en-US" dirty="0"/>
              <a:t>Changes are implemented by modifying existing system components and, where necessary, by adding new components to the system. </a:t>
            </a:r>
          </a:p>
          <a:p>
            <a:r>
              <a:rPr lang="en-US" dirty="0"/>
              <a:t>There are three different types of software maintenance</a:t>
            </a:r>
          </a:p>
          <a:p>
            <a:endParaRPr lang="en-US" dirty="0"/>
          </a:p>
        </p:txBody>
      </p:sp>
    </p:spTree>
    <p:extLst>
      <p:ext uri="{BB962C8B-B14F-4D97-AF65-F5344CB8AC3E}">
        <p14:creationId xmlns:p14="http://schemas.microsoft.com/office/powerpoint/2010/main" val="6827910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Fault Maintenance</a:t>
            </a:r>
          </a:p>
          <a:p>
            <a:r>
              <a:rPr lang="en-US" dirty="0"/>
              <a:t>Environmental Adaptation</a:t>
            </a:r>
          </a:p>
          <a:p>
            <a:r>
              <a:rPr lang="en-US" dirty="0"/>
              <a:t>Functionality  Addition</a:t>
            </a:r>
          </a:p>
          <a:p>
            <a:endParaRPr lang="en-US" dirty="0"/>
          </a:p>
        </p:txBody>
      </p:sp>
    </p:spTree>
    <p:extLst>
      <p:ext uri="{BB962C8B-B14F-4D97-AF65-F5344CB8AC3E}">
        <p14:creationId xmlns:p14="http://schemas.microsoft.com/office/powerpoint/2010/main" val="9884670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Fault repairs</a:t>
            </a:r>
            <a:endParaRPr lang="en-US" dirty="0"/>
          </a:p>
        </p:txBody>
      </p:sp>
      <p:sp>
        <p:nvSpPr>
          <p:cNvPr id="3" name="Content Placeholder 2"/>
          <p:cNvSpPr>
            <a:spLocks noGrp="1"/>
          </p:cNvSpPr>
          <p:nvPr>
            <p:ph idx="1"/>
          </p:nvPr>
        </p:nvSpPr>
        <p:spPr/>
        <p:txBody>
          <a:bodyPr/>
          <a:lstStyle/>
          <a:p>
            <a:r>
              <a:rPr lang="en-US" dirty="0"/>
              <a:t>1. </a:t>
            </a:r>
            <a:r>
              <a:rPr lang="en-US" b="1" dirty="0"/>
              <a:t>Fault repairs </a:t>
            </a:r>
            <a:r>
              <a:rPr lang="en-US" dirty="0"/>
              <a:t>Coding errors are usually relatively cheap to correct; design errors are more expensive as they may involve rewriting several program components.</a:t>
            </a:r>
          </a:p>
          <a:p>
            <a:r>
              <a:rPr lang="en-US" dirty="0"/>
              <a:t> Requirements errors are the most expensive to repair because of the extensive system redesign which may be necessary.</a:t>
            </a:r>
          </a:p>
        </p:txBody>
      </p:sp>
    </p:spTree>
    <p:extLst>
      <p:ext uri="{BB962C8B-B14F-4D97-AF65-F5344CB8AC3E}">
        <p14:creationId xmlns:p14="http://schemas.microsoft.com/office/powerpoint/2010/main" val="6943701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Environmental Adaptation</a:t>
            </a:r>
          </a:p>
        </p:txBody>
      </p:sp>
      <p:sp>
        <p:nvSpPr>
          <p:cNvPr id="3" name="Content Placeholder 2"/>
          <p:cNvSpPr>
            <a:spLocks noGrp="1"/>
          </p:cNvSpPr>
          <p:nvPr>
            <p:ph idx="1"/>
          </p:nvPr>
        </p:nvSpPr>
        <p:spPr/>
        <p:txBody>
          <a:bodyPr/>
          <a:lstStyle/>
          <a:p>
            <a:r>
              <a:rPr lang="en-US" b="1" dirty="0"/>
              <a:t>Environmental adaptation </a:t>
            </a:r>
            <a:r>
              <a:rPr lang="en-US" dirty="0"/>
              <a:t>This type of maintenance is required when some aspect of the system’s environment such as the hardware, the platform operating system, or other support software changes. </a:t>
            </a:r>
          </a:p>
          <a:p>
            <a:r>
              <a:rPr lang="en-US" dirty="0"/>
              <a:t>The application system must be modified to adapt it to cope with these environmental changes.</a:t>
            </a:r>
          </a:p>
        </p:txBody>
      </p:sp>
    </p:spTree>
    <p:extLst>
      <p:ext uri="{BB962C8B-B14F-4D97-AF65-F5344CB8AC3E}">
        <p14:creationId xmlns:p14="http://schemas.microsoft.com/office/powerpoint/2010/main" val="25614331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Functionality addition</a:t>
            </a:r>
            <a:endParaRPr lang="en-US" dirty="0"/>
          </a:p>
        </p:txBody>
      </p:sp>
      <p:sp>
        <p:nvSpPr>
          <p:cNvPr id="3" name="Content Placeholder 2"/>
          <p:cNvSpPr>
            <a:spLocks noGrp="1"/>
          </p:cNvSpPr>
          <p:nvPr>
            <p:ph idx="1"/>
          </p:nvPr>
        </p:nvSpPr>
        <p:spPr/>
        <p:txBody>
          <a:bodyPr/>
          <a:lstStyle/>
          <a:p>
            <a:r>
              <a:rPr lang="en-US" b="1" dirty="0"/>
              <a:t>Functionality addition</a:t>
            </a:r>
          </a:p>
          <a:p>
            <a:r>
              <a:rPr lang="en-US" b="1" dirty="0"/>
              <a:t> </a:t>
            </a:r>
            <a:r>
              <a:rPr lang="en-US" dirty="0"/>
              <a:t>This type of maintenance is necessary when the system requirements change in response to organizational or business change. </a:t>
            </a:r>
          </a:p>
          <a:p>
            <a:r>
              <a:rPr lang="en-US" dirty="0"/>
              <a:t>The scale of the changes required to the software is often much greater than for the other types of maintenance</a:t>
            </a:r>
          </a:p>
        </p:txBody>
      </p:sp>
    </p:spTree>
    <p:extLst>
      <p:ext uri="{BB962C8B-B14F-4D97-AF65-F5344CB8AC3E}">
        <p14:creationId xmlns:p14="http://schemas.microsoft.com/office/powerpoint/2010/main" val="18452182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Maintenance</a:t>
            </a:r>
          </a:p>
        </p:txBody>
      </p:sp>
      <p:sp>
        <p:nvSpPr>
          <p:cNvPr id="3" name="Content Placeholder 2"/>
          <p:cNvSpPr>
            <a:spLocks noGrp="1"/>
          </p:cNvSpPr>
          <p:nvPr>
            <p:ph idx="1"/>
          </p:nvPr>
        </p:nvSpPr>
        <p:spPr/>
        <p:txBody>
          <a:bodyPr>
            <a:normAutofit lnSpcReduction="10000"/>
          </a:bodyPr>
          <a:lstStyle/>
          <a:p>
            <a:r>
              <a:rPr lang="en-US" dirty="0"/>
              <a:t>These types of maintenance are generally recognized but different people some times give them different names.</a:t>
            </a:r>
          </a:p>
          <a:p>
            <a:r>
              <a:rPr lang="en-US" dirty="0"/>
              <a:t> </a:t>
            </a:r>
            <a:r>
              <a:rPr lang="en-US" b="1" dirty="0"/>
              <a:t>Corrective maintenance </a:t>
            </a:r>
            <a:r>
              <a:rPr lang="en-US" dirty="0"/>
              <a:t>is universally used to refer to maintenance for fault repair. </a:t>
            </a:r>
          </a:p>
          <a:p>
            <a:r>
              <a:rPr lang="en-US" b="1" dirty="0"/>
              <a:t>Adaptive maintenance</a:t>
            </a:r>
            <a:r>
              <a:rPr lang="en-US" dirty="0"/>
              <a:t> sometimes means adapting to a new environment and sometimes means adapting the software to new requirements</a:t>
            </a:r>
          </a:p>
        </p:txBody>
      </p:sp>
    </p:spTree>
    <p:extLst>
      <p:ext uri="{BB962C8B-B14F-4D97-AF65-F5344CB8AC3E}">
        <p14:creationId xmlns:p14="http://schemas.microsoft.com/office/powerpoint/2010/main" val="373548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Maintenance</a:t>
            </a:r>
          </a:p>
        </p:txBody>
      </p:sp>
      <p:sp>
        <p:nvSpPr>
          <p:cNvPr id="3" name="Content Placeholder 2"/>
          <p:cNvSpPr>
            <a:spLocks noGrp="1"/>
          </p:cNvSpPr>
          <p:nvPr>
            <p:ph idx="1"/>
          </p:nvPr>
        </p:nvSpPr>
        <p:spPr/>
        <p:txBody>
          <a:bodyPr/>
          <a:lstStyle/>
          <a:p>
            <a:pPr marL="0" indent="0">
              <a:buNone/>
            </a:pPr>
            <a:r>
              <a:rPr lang="en-US" b="1" dirty="0"/>
              <a:t>Perfective maintenance </a:t>
            </a:r>
            <a:r>
              <a:rPr lang="en-US" dirty="0"/>
              <a:t>sometimes means perfecting the software by implementing new requirements; in other cases it means maintaining the functionality of the system but improving its structure and its performance.</a:t>
            </a:r>
          </a:p>
          <a:p>
            <a:endParaRPr lang="en-US" dirty="0"/>
          </a:p>
        </p:txBody>
      </p:sp>
    </p:spTree>
    <p:extLst>
      <p:ext uri="{BB962C8B-B14F-4D97-AF65-F5344CB8AC3E}">
        <p14:creationId xmlns:p14="http://schemas.microsoft.com/office/powerpoint/2010/main" val="12492183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Software reengineering</a:t>
            </a:r>
            <a:br>
              <a:rPr lang="en-US" dirty="0"/>
            </a:br>
            <a:endParaRPr lang="en-US" dirty="0"/>
          </a:p>
        </p:txBody>
      </p:sp>
      <p:sp>
        <p:nvSpPr>
          <p:cNvPr id="3" name="Content Placeholder 2"/>
          <p:cNvSpPr>
            <a:spLocks noGrp="1"/>
          </p:cNvSpPr>
          <p:nvPr>
            <p:ph idx="1"/>
          </p:nvPr>
        </p:nvSpPr>
        <p:spPr/>
        <p:txBody>
          <a:bodyPr/>
          <a:lstStyle/>
          <a:p>
            <a:r>
              <a:rPr lang="en-US" b="1" dirty="0"/>
              <a:t>older legacy systems are difficult to understand and change</a:t>
            </a:r>
            <a:r>
              <a:rPr lang="en-US" dirty="0"/>
              <a:t>. </a:t>
            </a:r>
          </a:p>
          <a:p>
            <a:r>
              <a:rPr lang="en-US" dirty="0"/>
              <a:t>The programs may have been optimized for performance or space utilization at the expense of understandability, or, over time, the initial pro gram structure may have been corrupted by a series of changes.</a:t>
            </a:r>
          </a:p>
        </p:txBody>
      </p:sp>
    </p:spTree>
    <p:extLst>
      <p:ext uri="{BB962C8B-B14F-4D97-AF65-F5344CB8AC3E}">
        <p14:creationId xmlns:p14="http://schemas.microsoft.com/office/powerpoint/2010/main" val="1060884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Reengineering </a:t>
            </a:r>
          </a:p>
        </p:txBody>
      </p:sp>
      <p:sp>
        <p:nvSpPr>
          <p:cNvPr id="3" name="Content Placeholder 2"/>
          <p:cNvSpPr>
            <a:spLocks noGrp="1"/>
          </p:cNvSpPr>
          <p:nvPr>
            <p:ph idx="1"/>
          </p:nvPr>
        </p:nvSpPr>
        <p:spPr/>
        <p:txBody>
          <a:bodyPr>
            <a:normAutofit fontScale="92500" lnSpcReduction="20000"/>
          </a:bodyPr>
          <a:lstStyle/>
          <a:p>
            <a:r>
              <a:rPr lang="en-US" dirty="0"/>
              <a:t>To make legacy software systems easier to maintain, you can </a:t>
            </a:r>
            <a:r>
              <a:rPr lang="en-US" b="1" dirty="0"/>
              <a:t>reengineer </a:t>
            </a:r>
            <a:r>
              <a:rPr lang="en-US" dirty="0"/>
              <a:t>these systems to improve their structure and understandability.</a:t>
            </a:r>
          </a:p>
          <a:p>
            <a:r>
              <a:rPr lang="en-US" dirty="0"/>
              <a:t> Reengineering may involve </a:t>
            </a:r>
            <a:r>
              <a:rPr lang="en-US" b="1" dirty="0"/>
              <a:t>re documenting </a:t>
            </a:r>
            <a:r>
              <a:rPr lang="en-US" dirty="0"/>
              <a:t>the system, </a:t>
            </a:r>
            <a:r>
              <a:rPr lang="en-US" b="1" dirty="0"/>
              <a:t>refactoring the system architecture</a:t>
            </a:r>
            <a:r>
              <a:rPr lang="en-US" dirty="0"/>
              <a:t>, translating programs to a </a:t>
            </a:r>
            <a:r>
              <a:rPr lang="en-US" b="1" dirty="0"/>
              <a:t>modern programming language</a:t>
            </a:r>
            <a:r>
              <a:rPr lang="en-US" dirty="0"/>
              <a:t>, and modifying and updating the structure and values of the system’s data. </a:t>
            </a:r>
          </a:p>
          <a:p>
            <a:r>
              <a:rPr lang="en-US" dirty="0"/>
              <a:t>The functionality of the software is not changed and, normally, you should try to avoid making major changes to the system architecture.</a:t>
            </a:r>
          </a:p>
        </p:txBody>
      </p:sp>
    </p:spTree>
    <p:extLst>
      <p:ext uri="{BB962C8B-B14F-4D97-AF65-F5344CB8AC3E}">
        <p14:creationId xmlns:p14="http://schemas.microsoft.com/office/powerpoint/2010/main" val="5237079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Re engineering </a:t>
            </a:r>
          </a:p>
        </p:txBody>
      </p:sp>
      <p:sp>
        <p:nvSpPr>
          <p:cNvPr id="3" name="Content Placeholder 2"/>
          <p:cNvSpPr>
            <a:spLocks noGrp="1"/>
          </p:cNvSpPr>
          <p:nvPr>
            <p:ph idx="1"/>
          </p:nvPr>
        </p:nvSpPr>
        <p:spPr/>
        <p:txBody>
          <a:bodyPr/>
          <a:lstStyle/>
          <a:p>
            <a:r>
              <a:rPr lang="en-US" dirty="0"/>
              <a:t>There are two important benefits from reengineering rather than replacement:</a:t>
            </a:r>
          </a:p>
          <a:p>
            <a:pPr marL="514350" indent="-514350">
              <a:buAutoNum type="arabicPeriod"/>
            </a:pPr>
            <a:r>
              <a:rPr lang="en-US" b="1" dirty="0"/>
              <a:t>Reduced risk </a:t>
            </a:r>
            <a:r>
              <a:rPr lang="en-US" dirty="0"/>
              <a:t>There is a high risk in redeveloping business-critical software. </a:t>
            </a:r>
          </a:p>
          <a:p>
            <a:pPr marL="514350" indent="-514350">
              <a:buAutoNum type="arabicPeriod"/>
            </a:pPr>
            <a:r>
              <a:rPr lang="en-US" b="1" dirty="0"/>
              <a:t>Reduced cost </a:t>
            </a:r>
            <a:r>
              <a:rPr lang="en-US" dirty="0"/>
              <a:t>The cost of reengineering may be significantly less than the cost of developing new software.</a:t>
            </a:r>
          </a:p>
        </p:txBody>
      </p:sp>
    </p:spTree>
    <p:extLst>
      <p:ext uri="{BB962C8B-B14F-4D97-AF65-F5344CB8AC3E}">
        <p14:creationId xmlns:p14="http://schemas.microsoft.com/office/powerpoint/2010/main" val="25566432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The activities in this reengineering process are as follows:</a:t>
            </a:r>
          </a:p>
        </p:txBody>
      </p:sp>
    </p:spTree>
    <p:extLst>
      <p:ext uri="{BB962C8B-B14F-4D97-AF65-F5344CB8AC3E}">
        <p14:creationId xmlns:p14="http://schemas.microsoft.com/office/powerpoint/2010/main" val="21479322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1"/>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a:ln>
                  <a:noFill/>
                </a:ln>
                <a:solidFill>
                  <a:schemeClr val="tx1"/>
                </a:solidFill>
                <a:effectLst/>
                <a:latin typeface="Arial" panose="020B0604020202020204" pitchFamily="34" charset="0"/>
              </a:rPr>
              <a:t>Reverse Engineering</a:t>
            </a:r>
            <a:br>
              <a:rPr kumimoji="0" lang="en-US" sz="1800" b="0" i="0" u="none" strike="noStrike" cap="none" normalizeH="0" baseline="0" dirty="0">
                <a:ln>
                  <a:noFill/>
                </a:ln>
                <a:solidFill>
                  <a:schemeClr val="tx1"/>
                </a:solidFill>
                <a:effectLst/>
                <a:latin typeface="Arial" panose="020B0604020202020204" pitchFamily="34" charset="0"/>
              </a:rPr>
            </a:br>
            <a:r>
              <a:rPr kumimoji="0" lang="en-US" sz="1800" b="0" i="0" u="none" strike="noStrike" cap="none" normalizeH="0" baseline="0" dirty="0">
                <a:ln>
                  <a:noFill/>
                </a:ln>
                <a:solidFill>
                  <a:schemeClr val="tx1"/>
                </a:solidFill>
                <a:effectLst/>
                <a:latin typeface="Arial" panose="020B0604020202020204" pitchFamily="34" charset="0"/>
              </a:rPr>
              <a:t>– Understanding existing software by analyzing its code and structure.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a:ln>
                  <a:noFill/>
                </a:ln>
                <a:solidFill>
                  <a:schemeClr val="tx1"/>
                </a:solidFill>
                <a:effectLst/>
                <a:latin typeface="Arial" panose="020B0604020202020204" pitchFamily="34" charset="0"/>
              </a:rPr>
              <a:t>Code Restructuring</a:t>
            </a:r>
            <a:br>
              <a:rPr kumimoji="0" lang="en-US" sz="1800" b="0" i="0" u="none" strike="noStrike" cap="none" normalizeH="0" baseline="0" dirty="0">
                <a:ln>
                  <a:noFill/>
                </a:ln>
                <a:solidFill>
                  <a:schemeClr val="tx1"/>
                </a:solidFill>
                <a:effectLst/>
                <a:latin typeface="Arial" panose="020B0604020202020204" pitchFamily="34" charset="0"/>
              </a:rPr>
            </a:br>
            <a:r>
              <a:rPr kumimoji="0" lang="en-US" sz="1800" b="0" i="0" u="none" strike="noStrike" cap="none" normalizeH="0" baseline="0" dirty="0">
                <a:ln>
                  <a:noFill/>
                </a:ln>
                <a:solidFill>
                  <a:schemeClr val="tx1"/>
                </a:solidFill>
                <a:effectLst/>
                <a:latin typeface="Arial" panose="020B0604020202020204" pitchFamily="34" charset="0"/>
              </a:rPr>
              <a:t>– Reorganizing code to improve clarity and maintainability without changing functionality.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a:ln>
                  <a:noFill/>
                </a:ln>
                <a:solidFill>
                  <a:schemeClr val="tx1"/>
                </a:solidFill>
                <a:effectLst/>
                <a:latin typeface="Arial" panose="020B0604020202020204" pitchFamily="34" charset="0"/>
              </a:rPr>
              <a:t>Refactoring</a:t>
            </a:r>
            <a:br>
              <a:rPr kumimoji="0" lang="en-US" sz="1800" b="0" i="0" u="none" strike="noStrike" cap="none" normalizeH="0" baseline="0" dirty="0">
                <a:ln>
                  <a:noFill/>
                </a:ln>
                <a:solidFill>
                  <a:schemeClr val="tx1"/>
                </a:solidFill>
                <a:effectLst/>
                <a:latin typeface="Arial" panose="020B0604020202020204" pitchFamily="34" charset="0"/>
              </a:rPr>
            </a:br>
            <a:r>
              <a:rPr kumimoji="0" lang="en-US" sz="1800" b="0" i="0" u="none" strike="noStrike" cap="none" normalizeH="0" baseline="0" dirty="0">
                <a:ln>
                  <a:noFill/>
                </a:ln>
                <a:solidFill>
                  <a:schemeClr val="tx1"/>
                </a:solidFill>
                <a:effectLst/>
                <a:latin typeface="Arial" panose="020B0604020202020204" pitchFamily="34" charset="0"/>
              </a:rPr>
              <a:t>– Improving internal code design step by step while keeping behavior the same.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a:ln>
                  <a:noFill/>
                </a:ln>
                <a:solidFill>
                  <a:schemeClr val="tx1"/>
                </a:solidFill>
                <a:effectLst/>
                <a:latin typeface="Arial" panose="020B0604020202020204" pitchFamily="34" charset="0"/>
              </a:rPr>
              <a:t>Data Restructuring</a:t>
            </a:r>
            <a:br>
              <a:rPr kumimoji="0" lang="en-US" sz="1800" b="0" i="0" u="none" strike="noStrike" cap="none" normalizeH="0" baseline="0" dirty="0">
                <a:ln>
                  <a:noFill/>
                </a:ln>
                <a:solidFill>
                  <a:schemeClr val="tx1"/>
                </a:solidFill>
                <a:effectLst/>
                <a:latin typeface="Arial" panose="020B0604020202020204" pitchFamily="34" charset="0"/>
              </a:rPr>
            </a:br>
            <a:r>
              <a:rPr kumimoji="0" lang="en-US" sz="1800" b="0" i="0" u="none" strike="noStrike" cap="none" normalizeH="0" baseline="0" dirty="0">
                <a:ln>
                  <a:noFill/>
                </a:ln>
                <a:solidFill>
                  <a:schemeClr val="tx1"/>
                </a:solidFill>
                <a:effectLst/>
                <a:latin typeface="Arial" panose="020B0604020202020204" pitchFamily="34" charset="0"/>
              </a:rPr>
              <a:t>– Improving data structures or database design for better performance and maintainability.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a:ln>
                  <a:noFill/>
                </a:ln>
                <a:solidFill>
                  <a:schemeClr val="tx1"/>
                </a:solidFill>
                <a:effectLst/>
                <a:latin typeface="Arial" panose="020B0604020202020204" pitchFamily="34" charset="0"/>
              </a:rPr>
              <a:t>Documentation Improvement</a:t>
            </a:r>
            <a:br>
              <a:rPr kumimoji="0" lang="en-US" sz="1800" b="0" i="0" u="none" strike="noStrike" cap="none" normalizeH="0" baseline="0" dirty="0">
                <a:ln>
                  <a:noFill/>
                </a:ln>
                <a:solidFill>
                  <a:schemeClr val="tx1"/>
                </a:solidFill>
                <a:effectLst/>
                <a:latin typeface="Arial" panose="020B0604020202020204" pitchFamily="34" charset="0"/>
              </a:rPr>
            </a:br>
            <a:r>
              <a:rPr kumimoji="0" lang="en-US" sz="1800" b="0" i="0" u="none" strike="noStrike" cap="none" normalizeH="0" baseline="0" dirty="0">
                <a:ln>
                  <a:noFill/>
                </a:ln>
                <a:solidFill>
                  <a:schemeClr val="tx1"/>
                </a:solidFill>
                <a:effectLst/>
                <a:latin typeface="Arial" panose="020B0604020202020204" pitchFamily="34" charset="0"/>
              </a:rPr>
              <a:t>– Updating or creating documents to help understand and maintain the software.</a:t>
            </a:r>
          </a:p>
        </p:txBody>
      </p:sp>
    </p:spTree>
    <p:extLst>
      <p:ext uri="{BB962C8B-B14F-4D97-AF65-F5344CB8AC3E}">
        <p14:creationId xmlns:p14="http://schemas.microsoft.com/office/powerpoint/2010/main" val="23506837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2056</TotalTime>
  <Words>2060</Words>
  <Application>Microsoft Office PowerPoint</Application>
  <PresentationFormat>On-screen Show (4:3)</PresentationFormat>
  <Paragraphs>178</Paragraphs>
  <Slides>54</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PowerPoint Presentation</vt:lpstr>
      <vt:lpstr>PowerPoint Presentation</vt:lpstr>
      <vt:lpstr>Validation and Verification</vt:lpstr>
      <vt:lpstr>Validation and Verification</vt:lpstr>
      <vt:lpstr>Validation and Verification </vt:lpstr>
      <vt:lpstr>Inspection and Testing</vt:lpstr>
      <vt:lpstr>Inspection and Testing</vt:lpstr>
      <vt:lpstr>Inspection and Testing</vt:lpstr>
      <vt:lpstr>Software testing process</vt:lpstr>
      <vt:lpstr>Software Testing Process</vt:lpstr>
      <vt:lpstr>Software testing process</vt:lpstr>
      <vt:lpstr>Development Testing </vt:lpstr>
      <vt:lpstr>Development Testing </vt:lpstr>
      <vt:lpstr>Unit Testing </vt:lpstr>
      <vt:lpstr>Unit testing </vt:lpstr>
      <vt:lpstr>Choosing unit test cases</vt:lpstr>
      <vt:lpstr>Unit Testing </vt:lpstr>
      <vt:lpstr>Component Testing </vt:lpstr>
      <vt:lpstr>Component Testing</vt:lpstr>
      <vt:lpstr>Component Testing</vt:lpstr>
      <vt:lpstr>System testing</vt:lpstr>
      <vt:lpstr>System Testing </vt:lpstr>
      <vt:lpstr>System Testing </vt:lpstr>
      <vt:lpstr>Release Testing</vt:lpstr>
      <vt:lpstr>Release Testing </vt:lpstr>
      <vt:lpstr>Requirements-based testing </vt:lpstr>
      <vt:lpstr>PowerPoint Presentation</vt:lpstr>
      <vt:lpstr>PowerPoint Presentation</vt:lpstr>
      <vt:lpstr>PowerPoint Presentation</vt:lpstr>
      <vt:lpstr>PowerPoint Presentation</vt:lpstr>
      <vt:lpstr>PowerPoint Presentation</vt:lpstr>
      <vt:lpstr>Performance Testing </vt:lpstr>
      <vt:lpstr>User Testing</vt:lpstr>
      <vt:lpstr>PowerPoint Presentation</vt:lpstr>
      <vt:lpstr>Acceptance Test Criteria</vt:lpstr>
      <vt:lpstr>Software Evolution</vt:lpstr>
      <vt:lpstr>Software change</vt:lpstr>
      <vt:lpstr>Software evolution</vt:lpstr>
      <vt:lpstr>PowerPoint Presentation</vt:lpstr>
      <vt:lpstr>PowerPoint Presentation</vt:lpstr>
      <vt:lpstr>Software evolution process</vt:lpstr>
      <vt:lpstr>Software Maintenance </vt:lpstr>
      <vt:lpstr>Software Maintenance</vt:lpstr>
      <vt:lpstr>PowerPoint Presentation</vt:lpstr>
      <vt:lpstr>Fault repairs</vt:lpstr>
      <vt:lpstr>Environmental Adaptation</vt:lpstr>
      <vt:lpstr>Functionality addition</vt:lpstr>
      <vt:lpstr>Types of Maintenance</vt:lpstr>
      <vt:lpstr>Types of Maintenance</vt:lpstr>
      <vt:lpstr>Software reengineering </vt:lpstr>
      <vt:lpstr>Software Reengineering </vt:lpstr>
      <vt:lpstr>Software Re engineering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Arpan Adhikari</cp:lastModifiedBy>
  <cp:revision>42</cp:revision>
  <dcterms:created xsi:type="dcterms:W3CDTF">2025-01-04T14:41:46Z</dcterms:created>
  <dcterms:modified xsi:type="dcterms:W3CDTF">2026-04-21T13:05:02Z</dcterms:modified>
</cp:coreProperties>
</file>