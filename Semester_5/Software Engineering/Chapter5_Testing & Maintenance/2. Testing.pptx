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2476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B19-F947-2B4B-8621-D6D0DE1356C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A1C-8750-2643-9A8E-773B79208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41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B19-F947-2B4B-8621-D6D0DE1356C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A1C-8750-2643-9A8E-773B79208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6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B19-F947-2B4B-8621-D6D0DE1356C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A1C-8750-2643-9A8E-773B79208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08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B19-F947-2B4B-8621-D6D0DE1356C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A1C-8750-2643-9A8E-773B79208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0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B19-F947-2B4B-8621-D6D0DE1356C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A1C-8750-2643-9A8E-773B79208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3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B19-F947-2B4B-8621-D6D0DE1356C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A1C-8750-2643-9A8E-773B79208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17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B19-F947-2B4B-8621-D6D0DE1356C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A1C-8750-2643-9A8E-773B79208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99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B19-F947-2B4B-8621-D6D0DE1356C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A1C-8750-2643-9A8E-773B79208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19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B19-F947-2B4B-8621-D6D0DE1356C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A1C-8750-2643-9A8E-773B79208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19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B19-F947-2B4B-8621-D6D0DE1356C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A1C-8750-2643-9A8E-773B79208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37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2DB19-F947-2B4B-8621-D6D0DE1356C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A1C-8750-2643-9A8E-773B79208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1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2DB19-F947-2B4B-8621-D6D0DE1356C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38A1C-8750-2643-9A8E-773B79208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5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</a:t>
            </a:r>
            <a:r>
              <a:rPr lang="en-US" b="1" i="1" dirty="0"/>
              <a:t>Equivalence</a:t>
            </a:r>
            <a:r>
              <a:rPr lang="en-US" b="1" dirty="0" smtClean="0"/>
              <a:t> Partitioning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Equivalence partitioning </a:t>
            </a:r>
            <a:r>
              <a:rPr lang="en-US" dirty="0"/>
              <a:t>is a </a:t>
            </a:r>
            <a:r>
              <a:rPr lang="en-US" b="1" dirty="0"/>
              <a:t>black-box testing </a:t>
            </a:r>
            <a:r>
              <a:rPr lang="en-US" dirty="0"/>
              <a:t>method that divides the input domain of a program into classes of data from which test cases can be derived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Test-case </a:t>
            </a:r>
            <a:r>
              <a:rPr lang="en-US" dirty="0"/>
              <a:t>design for equivalence partitioning is based on an evaluation of </a:t>
            </a:r>
            <a:r>
              <a:rPr lang="en-US" i="1" dirty="0"/>
              <a:t>equivalence classes </a:t>
            </a:r>
            <a:r>
              <a:rPr lang="en-US" dirty="0"/>
              <a:t>for an input condition 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89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Equivalence classes may be defined according to the following guidelines: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an input condition </a:t>
            </a:r>
            <a:r>
              <a:rPr lang="en-US" b="1" dirty="0"/>
              <a:t>specifies a range</a:t>
            </a:r>
            <a:r>
              <a:rPr lang="en-US" dirty="0"/>
              <a:t>, one valid and two invalid equivalence classes are defined.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an input condition requires a specific value, one valid and two invalid equivalence classes are defined.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an input condition specifies a member of a set, one valid and one invalid equivalence class are defined.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an input condition is Boolean, one valid and one invalid class are defined.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93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Equivalent Partitioning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300" y="2083594"/>
            <a:ext cx="9169400" cy="3835400"/>
          </a:xfrm>
        </p:spPr>
      </p:pic>
    </p:spTree>
    <p:extLst>
      <p:ext uri="{BB962C8B-B14F-4D97-AF65-F5344CB8AC3E}">
        <p14:creationId xmlns:p14="http://schemas.microsoft.com/office/powerpoint/2010/main" val="1200991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Equivalent Partitioning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650" y="2375694"/>
            <a:ext cx="9156700" cy="3251200"/>
          </a:xfrm>
        </p:spPr>
      </p:pic>
    </p:spTree>
    <p:extLst>
      <p:ext uri="{BB962C8B-B14F-4D97-AF65-F5344CB8AC3E}">
        <p14:creationId xmlns:p14="http://schemas.microsoft.com/office/powerpoint/2010/main" val="55594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  Basis Path Testing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following steps can be applied to derive the basis set: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the design or code as a foundation, draw a </a:t>
            </a:r>
            <a:r>
              <a:rPr lang="en-US" b="1" dirty="0"/>
              <a:t>corresponding flow graph.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</a:t>
            </a:r>
            <a:r>
              <a:rPr lang="en-US" b="1" dirty="0" err="1"/>
              <a:t>cyclomatic</a:t>
            </a:r>
            <a:r>
              <a:rPr lang="en-US" b="1" dirty="0"/>
              <a:t> complexity</a:t>
            </a:r>
            <a:r>
              <a:rPr lang="en-US" dirty="0"/>
              <a:t> of the resultant flow graph.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a basis set of linearly </a:t>
            </a:r>
            <a:r>
              <a:rPr lang="en-US" b="1" dirty="0"/>
              <a:t>independent paths. </a:t>
            </a:r>
            <a:endParaRPr lang="en-US" b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b="1" dirty="0"/>
              <a:t>Prepare test cases </a:t>
            </a:r>
            <a:r>
              <a:rPr lang="en-US" dirty="0"/>
              <a:t>that will force execution of each path in the basis set.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48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Basis Path testing method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</a:t>
            </a:r>
            <a:r>
              <a:rPr lang="en-US" b="1" dirty="0" smtClean="0"/>
              <a:t>While loop  </a:t>
            </a:r>
          </a:p>
          <a:p>
            <a:pPr marL="0" indent="0">
              <a:buNone/>
            </a:pPr>
            <a:r>
              <a:rPr lang="en-US" b="1" dirty="0" smtClean="0"/>
              <a:t>         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while (x&lt;y)</a:t>
            </a:r>
          </a:p>
          <a:p>
            <a:pPr marL="0" indent="0">
              <a:buNone/>
            </a:pPr>
            <a:r>
              <a:rPr lang="en-US" dirty="0" smtClean="0"/>
              <a:t>                                 {</a:t>
            </a:r>
          </a:p>
          <a:p>
            <a:pPr marL="0" indent="0">
              <a:buNone/>
            </a:pPr>
            <a:r>
              <a:rPr lang="en-US" dirty="0" smtClean="0"/>
              <a:t>                                   Print{“the value”};</a:t>
            </a:r>
          </a:p>
          <a:p>
            <a:pPr marL="0" indent="0">
              <a:buNone/>
            </a:pPr>
            <a:r>
              <a:rPr lang="en-US" dirty="0" smtClean="0"/>
              <a:t>                                  }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4068416" y="2830375"/>
            <a:ext cx="2862471" cy="2500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6539945" y="3901023"/>
            <a:ext cx="2398644" cy="1457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856381" y="4893219"/>
            <a:ext cx="3684104" cy="1457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652592" y="2484059"/>
            <a:ext cx="689113" cy="57543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129090" y="3637722"/>
            <a:ext cx="834887" cy="58309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8786191" y="4956313"/>
            <a:ext cx="689113" cy="67586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68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Basis Path Testing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5777950" y="308689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5910471" y="182562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631097" y="410184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8" name="Straight Arrow Connector 7"/>
          <p:cNvCxnSpPr>
            <a:stCxn id="5" idx="4"/>
          </p:cNvCxnSpPr>
          <p:nvPr/>
        </p:nvCxnSpPr>
        <p:spPr>
          <a:xfrm>
            <a:off x="6367671" y="2740025"/>
            <a:ext cx="0" cy="346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0"/>
          </p:cNvCxnSpPr>
          <p:nvPr/>
        </p:nvCxnSpPr>
        <p:spPr>
          <a:xfrm flipH="1">
            <a:off x="4088297" y="2282825"/>
            <a:ext cx="1822174" cy="1819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 rot="5400000" flipH="1" flipV="1">
            <a:off x="6132447" y="2920086"/>
            <a:ext cx="1285461" cy="1325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3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</a:t>
            </a:r>
            <a:r>
              <a:rPr lang="en-US" b="1" dirty="0" smtClean="0"/>
              <a:t>Basis Path Testing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81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                        </a:t>
            </a:r>
            <a:r>
              <a:rPr lang="en-US" dirty="0" err="1" smtClean="0"/>
              <a:t>Cyclomatic</a:t>
            </a:r>
            <a:r>
              <a:rPr lang="en-US" dirty="0" smtClean="0"/>
              <a:t> Complexity 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It is a source code complexity measurement that is being correlated to a number of coding errors.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It is calculated by developing a </a:t>
            </a:r>
            <a:r>
              <a:rPr lang="en-US" b="1" dirty="0" smtClean="0"/>
              <a:t>control Flow Graph </a:t>
            </a:r>
            <a:r>
              <a:rPr lang="en-US" dirty="0" smtClean="0"/>
              <a:t>of the code that measures the number of linearly-independent paths through a program module.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The </a:t>
            </a:r>
            <a:r>
              <a:rPr lang="en-US" dirty="0" err="1" smtClean="0"/>
              <a:t>cyclomatic</a:t>
            </a:r>
            <a:r>
              <a:rPr lang="en-US" dirty="0" smtClean="0"/>
              <a:t> complexity V(G) can be calculated as:</a:t>
            </a:r>
          </a:p>
          <a:p>
            <a:pPr marL="928688" indent="0">
              <a:buNone/>
            </a:pPr>
            <a:r>
              <a:rPr lang="en-US" b="1" dirty="0" smtClean="0"/>
              <a:t>V(G) = regions</a:t>
            </a:r>
          </a:p>
          <a:p>
            <a:pPr marL="928688" indent="0">
              <a:buNone/>
            </a:pPr>
            <a:r>
              <a:rPr lang="en-US" b="1" dirty="0" smtClean="0"/>
              <a:t>V(G)= predicate nodes (P) + 1</a:t>
            </a:r>
          </a:p>
          <a:p>
            <a:pPr marL="928688" indent="0">
              <a:buNone/>
            </a:pPr>
            <a:r>
              <a:rPr lang="en-US" b="1" dirty="0" smtClean="0"/>
              <a:t>V(G)= No. of edge (E)- No. of nodes (N)+2</a:t>
            </a:r>
          </a:p>
          <a:p>
            <a:pPr>
              <a:buFont typeface="Arial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0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Basis Path Testing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For above case </a:t>
            </a:r>
          </a:p>
          <a:p>
            <a:pPr marL="0" indent="0">
              <a:buNone/>
            </a:pPr>
            <a:r>
              <a:rPr lang="en-US" dirty="0" smtClean="0"/>
              <a:t>V(G) = 2 regions </a:t>
            </a:r>
          </a:p>
          <a:p>
            <a:pPr marL="0" indent="0">
              <a:buNone/>
            </a:pPr>
            <a:r>
              <a:rPr lang="en-US" dirty="0" smtClean="0"/>
              <a:t>V(G) = Predicate Node +1 = 1+1 = 2</a:t>
            </a:r>
          </a:p>
          <a:p>
            <a:pPr marL="0" indent="0">
              <a:buNone/>
            </a:pPr>
            <a:r>
              <a:rPr lang="en-US" dirty="0" smtClean="0"/>
              <a:t>V(G) = 3edges- 3 nodes +2 =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05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Basis Path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Linearly Independent Path</a:t>
            </a:r>
          </a:p>
          <a:p>
            <a:pPr marL="0" indent="0">
              <a:buNone/>
            </a:pPr>
            <a:r>
              <a:rPr lang="en-US" dirty="0" smtClean="0"/>
              <a:t>          </a:t>
            </a:r>
            <a:r>
              <a:rPr lang="en-US" b="1" dirty="0" smtClean="0"/>
              <a:t>Path 1 = 1-2-1-3</a:t>
            </a:r>
          </a:p>
          <a:p>
            <a:pPr marL="0" indent="0">
              <a:buNone/>
            </a:pPr>
            <a:r>
              <a:rPr lang="en-US" dirty="0" smtClean="0"/>
              <a:t>          </a:t>
            </a:r>
            <a:r>
              <a:rPr lang="en-US" b="1" dirty="0" smtClean="0"/>
              <a:t>Path 2 = 1-3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34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Basis Path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Prepare test case </a:t>
            </a:r>
          </a:p>
          <a:p>
            <a:pPr marL="0" indent="0">
              <a:buNone/>
            </a:pPr>
            <a:r>
              <a:rPr lang="en-US" b="1" dirty="0" smtClean="0"/>
              <a:t>For Path 1 </a:t>
            </a:r>
            <a:r>
              <a:rPr lang="en-US" dirty="0" smtClean="0"/>
              <a:t>= 1-2-1 </a:t>
            </a:r>
          </a:p>
          <a:p>
            <a:pPr marL="0" indent="0">
              <a:buNone/>
            </a:pPr>
            <a:r>
              <a:rPr lang="en-US" dirty="0" smtClean="0"/>
              <a:t>A test case is x= 5 and y = 7</a:t>
            </a:r>
          </a:p>
          <a:p>
            <a:pPr marL="0" indent="0">
              <a:buNone/>
            </a:pPr>
            <a:r>
              <a:rPr lang="en-US" b="1" dirty="0" smtClean="0"/>
              <a:t>For Path 2 </a:t>
            </a:r>
            <a:r>
              <a:rPr lang="en-US" dirty="0" smtClean="0"/>
              <a:t>= 1-3 </a:t>
            </a:r>
          </a:p>
          <a:p>
            <a:pPr marL="0" indent="0">
              <a:buNone/>
            </a:pPr>
            <a:r>
              <a:rPr lang="en-US" dirty="0" smtClean="0"/>
              <a:t>A test case is x =7 and y =5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2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         Basis Path Testing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If (x&lt;y)</a:t>
            </a:r>
          </a:p>
          <a:p>
            <a:pPr marL="0" indent="0">
              <a:buNone/>
            </a:pPr>
            <a:r>
              <a:rPr lang="en-US" dirty="0" smtClean="0"/>
              <a:t>        	 {</a:t>
            </a:r>
          </a:p>
          <a:p>
            <a:pPr marL="0" indent="0">
              <a:buNone/>
            </a:pPr>
            <a:r>
              <a:rPr lang="en-US" dirty="0" smtClean="0"/>
              <a:t>         	Print(“”success)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/>
              <a:t>e</a:t>
            </a:r>
            <a:r>
              <a:rPr lang="en-US" dirty="0" smtClean="0"/>
              <a:t>lse</a:t>
            </a:r>
          </a:p>
          <a:p>
            <a:pPr marL="0" indent="0">
              <a:buNone/>
            </a:pP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Print(“fail”)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2338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425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 Equivalence Partitioning </vt:lpstr>
      <vt:lpstr>PowerPoint Presentation</vt:lpstr>
      <vt:lpstr>                Equivalent Partitioning </vt:lpstr>
      <vt:lpstr>Equivalent Partitioning </vt:lpstr>
      <vt:lpstr>              Basis Path Testing </vt:lpstr>
      <vt:lpstr>Basis Path testing method </vt:lpstr>
      <vt:lpstr>             Basis Path Testing </vt:lpstr>
      <vt:lpstr>                      Basis Path Testing </vt:lpstr>
      <vt:lpstr>                   Basis Path Testing </vt:lpstr>
      <vt:lpstr>                Basis Path Testing</vt:lpstr>
      <vt:lpstr>                    Basis Path Testing</vt:lpstr>
      <vt:lpstr>            Basis Path Testing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Equivalent Partitioning </dc:title>
  <dc:creator>Microsoft Office User</dc:creator>
  <cp:lastModifiedBy>Nirdosh</cp:lastModifiedBy>
  <cp:revision>13</cp:revision>
  <dcterms:created xsi:type="dcterms:W3CDTF">2020-11-27T02:25:00Z</dcterms:created>
  <dcterms:modified xsi:type="dcterms:W3CDTF">2026-01-09T06:06:25Z</dcterms:modified>
</cp:coreProperties>
</file>