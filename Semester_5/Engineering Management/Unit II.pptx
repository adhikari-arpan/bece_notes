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2492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692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ee01bf2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ee01bf2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446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ee7cd71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ee7cd71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112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ee7cd719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ee7cd719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30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ee01bf24a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ee01bf24a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2625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ee7cd719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ee7cd719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093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ee01bf24a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ee01bf24a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629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ee7cd7195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ee7cd7195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430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ee01bf24a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ee01bf24a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528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ee7cd7195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ee7cd7195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729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ee7cd7195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ee7cd7195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823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ee01bf24a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ee01bf24a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114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ee7cd7195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ee7cd7195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421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ee01bf24a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ee01bf24a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261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ee01bf24a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ee01bf24a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359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ee01bf24a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ee01bf24a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82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ee01bf24a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ee01bf24a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206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ee7cd7195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ee7cd7195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9763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ee01bf24a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ee01bf24a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589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ee01bf24a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ee01bf24a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9344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ee7cd7195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ee7cd7195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007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ee7cd7195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ee7cd7195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980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ee7cd7195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ee7cd7195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303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ee7cd7195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4ee7cd7195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2806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ee01bf24a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ee01bf24a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48389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ee01bf24a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4ee01bf24a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66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ee7cd7195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ee7cd7195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2877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ee01bf24a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ee01bf24a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403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ee01bf24a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ee01bf24a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316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ee01bf24a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ee01bf24a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6984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ee01bf24a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ee01bf24a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018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ee01bf24a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ee01bf24a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016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ee01bf24a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ee01bf24a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265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ee7cd7195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ee7cd7195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003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ee7cd7195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ee7cd7195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365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ee7cd7195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ee7cd7195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467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ee7cd7195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ee7cd7195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00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and Organizing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Objective: To familiarize students with the planning and organizing and identify their emerging issues in ICT enterprises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054425" y="4146700"/>
            <a:ext cx="12102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6 hrs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2.1 Planning</a:t>
            </a:r>
            <a:endParaRPr sz="2400" b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A plan is defined as “ a document stating the goals, outlining the action oriented strategies to attain these goals, and assigning organizational resources to attain them.”</a:t>
            </a:r>
            <a:endParaRPr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Characteristics of organizational planning: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15151B"/>
              </a:buClr>
              <a:buSzPts val="1800"/>
              <a:buChar char="●"/>
            </a:pPr>
            <a:r>
              <a:rPr lang="en">
                <a:solidFill>
                  <a:srgbClr val="15151B"/>
                </a:solidFill>
              </a:rPr>
              <a:t>Planning is goal oriented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Char char="●"/>
            </a:pPr>
            <a:r>
              <a:rPr lang="en">
                <a:solidFill>
                  <a:srgbClr val="15151B"/>
                </a:solidFill>
              </a:rPr>
              <a:t>Planning is future oriented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Char char="●"/>
            </a:pPr>
            <a:r>
              <a:rPr lang="en">
                <a:solidFill>
                  <a:srgbClr val="15151B"/>
                </a:solidFill>
              </a:rPr>
              <a:t>Planning deals with the uncertainty of upcoming future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Char char="●"/>
            </a:pPr>
            <a:r>
              <a:rPr lang="en">
                <a:solidFill>
                  <a:srgbClr val="15151B"/>
                </a:solidFill>
              </a:rPr>
              <a:t>Planning is a thinking process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Char char="●"/>
            </a:pPr>
            <a:r>
              <a:rPr lang="en">
                <a:solidFill>
                  <a:srgbClr val="15151B"/>
                </a:solidFill>
              </a:rPr>
              <a:t>Planning is action oriented</a:t>
            </a:r>
            <a:endParaRPr>
              <a:solidFill>
                <a:srgbClr val="15151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A Planning Model</a:t>
            </a:r>
            <a:endParaRPr sz="2400"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789125"/>
            <a:ext cx="8520600" cy="4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15151B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69100" y="2514000"/>
            <a:ext cx="2208600" cy="99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Assessment of environmental opportunities and threats</a:t>
            </a:r>
            <a:endParaRPr sz="1800"/>
          </a:p>
        </p:txBody>
      </p:sp>
      <p:sp>
        <p:nvSpPr>
          <p:cNvPr id="70" name="Google Shape;70;p15"/>
          <p:cNvSpPr/>
          <p:nvPr/>
        </p:nvSpPr>
        <p:spPr>
          <a:xfrm>
            <a:off x="3286250" y="3875500"/>
            <a:ext cx="2208600" cy="99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Present State</a:t>
            </a:r>
            <a:endParaRPr sz="1800"/>
          </a:p>
        </p:txBody>
      </p:sp>
      <p:sp>
        <p:nvSpPr>
          <p:cNvPr id="71" name="Google Shape;71;p15"/>
          <p:cNvSpPr/>
          <p:nvPr/>
        </p:nvSpPr>
        <p:spPr>
          <a:xfrm>
            <a:off x="3286250" y="2513988"/>
            <a:ext cx="2208600" cy="99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Strategic Gap</a:t>
            </a:r>
            <a:endParaRPr sz="1800"/>
          </a:p>
        </p:txBody>
      </p:sp>
      <p:sp>
        <p:nvSpPr>
          <p:cNvPr id="72" name="Google Shape;72;p15"/>
          <p:cNvSpPr/>
          <p:nvPr/>
        </p:nvSpPr>
        <p:spPr>
          <a:xfrm>
            <a:off x="3286250" y="1152475"/>
            <a:ext cx="2208600" cy="99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Desired future state</a:t>
            </a:r>
            <a:endParaRPr sz="1800"/>
          </a:p>
        </p:txBody>
      </p:sp>
      <p:sp>
        <p:nvSpPr>
          <p:cNvPr id="73" name="Google Shape;73;p15"/>
          <p:cNvSpPr/>
          <p:nvPr/>
        </p:nvSpPr>
        <p:spPr>
          <a:xfrm>
            <a:off x="6275750" y="2514000"/>
            <a:ext cx="2208600" cy="99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Need for planning</a:t>
            </a:r>
            <a:endParaRPr sz="1800"/>
          </a:p>
        </p:txBody>
      </p:sp>
      <p:cxnSp>
        <p:nvCxnSpPr>
          <p:cNvPr id="74" name="Google Shape;74;p15"/>
          <p:cNvCxnSpPr>
            <a:stCxn id="69" idx="3"/>
            <a:endCxn id="72" idx="1"/>
          </p:cNvCxnSpPr>
          <p:nvPr/>
        </p:nvCxnSpPr>
        <p:spPr>
          <a:xfrm rot="10800000" flipH="1">
            <a:off x="2677700" y="1651800"/>
            <a:ext cx="608700" cy="136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5"/>
          <p:cNvCxnSpPr>
            <a:stCxn id="69" idx="3"/>
            <a:endCxn id="71" idx="1"/>
          </p:cNvCxnSpPr>
          <p:nvPr/>
        </p:nvCxnSpPr>
        <p:spPr>
          <a:xfrm>
            <a:off x="2677700" y="3013200"/>
            <a:ext cx="60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5"/>
          <p:cNvCxnSpPr>
            <a:stCxn id="69" idx="3"/>
            <a:endCxn id="70" idx="1"/>
          </p:cNvCxnSpPr>
          <p:nvPr/>
        </p:nvCxnSpPr>
        <p:spPr>
          <a:xfrm>
            <a:off x="2677700" y="3013200"/>
            <a:ext cx="608700" cy="136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5"/>
          <p:cNvCxnSpPr>
            <a:stCxn id="72" idx="2"/>
            <a:endCxn id="71" idx="0"/>
          </p:cNvCxnSpPr>
          <p:nvPr/>
        </p:nvCxnSpPr>
        <p:spPr>
          <a:xfrm>
            <a:off x="4390550" y="2150875"/>
            <a:ext cx="0" cy="36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5"/>
          <p:cNvCxnSpPr>
            <a:stCxn id="70" idx="0"/>
            <a:endCxn id="71" idx="2"/>
          </p:cNvCxnSpPr>
          <p:nvPr/>
        </p:nvCxnSpPr>
        <p:spPr>
          <a:xfrm rot="10800000">
            <a:off x="4390550" y="3512500"/>
            <a:ext cx="0" cy="36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5"/>
          <p:cNvCxnSpPr>
            <a:stCxn id="71" idx="3"/>
            <a:endCxn id="73" idx="1"/>
          </p:cNvCxnSpPr>
          <p:nvPr/>
        </p:nvCxnSpPr>
        <p:spPr>
          <a:xfrm>
            <a:off x="5494850" y="3013188"/>
            <a:ext cx="78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System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2007825"/>
            <a:ext cx="8520600" cy="29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output after planning are intertwined and arranged as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Vision (Non specified directional and motivational guidance)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Mission (Purpose and philosophy that drives in long run)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 (Goals are there to achieve mission that provides direction to the activities)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Objectives (Specific statement to be done to achieve goals) SMART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Specific, Measurable, attainable, Rewarding and TImed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Plans (Action or means to achieve the intended goals)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Programmes, Budgets, and Priorities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90125" y="1179925"/>
            <a:ext cx="2208600" cy="66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Input</a:t>
            </a:r>
            <a:endParaRPr sz="1800"/>
          </a:p>
        </p:txBody>
      </p:sp>
      <p:sp>
        <p:nvSpPr>
          <p:cNvPr id="87" name="Google Shape;87;p16"/>
          <p:cNvSpPr/>
          <p:nvPr/>
        </p:nvSpPr>
        <p:spPr>
          <a:xfrm>
            <a:off x="6233950" y="1179925"/>
            <a:ext cx="1958400" cy="66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Output</a:t>
            </a:r>
            <a:endParaRPr sz="1800"/>
          </a:p>
        </p:txBody>
      </p:sp>
      <p:sp>
        <p:nvSpPr>
          <p:cNvPr id="88" name="Google Shape;88;p16"/>
          <p:cNvSpPr/>
          <p:nvPr/>
        </p:nvSpPr>
        <p:spPr>
          <a:xfrm>
            <a:off x="3412046" y="1179925"/>
            <a:ext cx="1958400" cy="66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</a:t>
            </a:r>
            <a:endParaRPr sz="1800"/>
          </a:p>
        </p:txBody>
      </p:sp>
      <p:cxnSp>
        <p:nvCxnSpPr>
          <p:cNvPr id="89" name="Google Shape;89;p16"/>
          <p:cNvCxnSpPr>
            <a:stCxn id="86" idx="3"/>
            <a:endCxn id="88" idx="1"/>
          </p:cNvCxnSpPr>
          <p:nvPr/>
        </p:nvCxnSpPr>
        <p:spPr>
          <a:xfrm>
            <a:off x="2798725" y="1512775"/>
            <a:ext cx="6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6"/>
          <p:cNvCxnSpPr>
            <a:stCxn id="88" idx="3"/>
            <a:endCxn id="87" idx="1"/>
          </p:cNvCxnSpPr>
          <p:nvPr/>
        </p:nvCxnSpPr>
        <p:spPr>
          <a:xfrm>
            <a:off x="5370446" y="1512775"/>
            <a:ext cx="863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202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2.1.1 Levels of planning: strategic, tactical and operational</a:t>
            </a:r>
            <a:endParaRPr sz="2400"/>
          </a:p>
        </p:txBody>
      </p:sp>
      <p:sp>
        <p:nvSpPr>
          <p:cNvPr id="96" name="Google Shape;96;p17"/>
          <p:cNvSpPr/>
          <p:nvPr/>
        </p:nvSpPr>
        <p:spPr>
          <a:xfrm>
            <a:off x="1316250" y="848800"/>
            <a:ext cx="2647500" cy="4069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 Level is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Tactical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level is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</a:t>
            </a:r>
            <a:endParaRPr/>
          </a:p>
        </p:txBody>
      </p:sp>
      <p:cxnSp>
        <p:nvCxnSpPr>
          <p:cNvPr id="97" name="Google Shape;97;p17"/>
          <p:cNvCxnSpPr>
            <a:stCxn id="96" idx="1"/>
            <a:endCxn id="96" idx="5"/>
          </p:cNvCxnSpPr>
          <p:nvPr/>
        </p:nvCxnSpPr>
        <p:spPr>
          <a:xfrm>
            <a:off x="1978125" y="2883550"/>
            <a:ext cx="1323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7"/>
          <p:cNvCxnSpPr/>
          <p:nvPr/>
        </p:nvCxnSpPr>
        <p:spPr>
          <a:xfrm>
            <a:off x="1709575" y="3723100"/>
            <a:ext cx="184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7"/>
          <p:cNvSpPr txBox="1"/>
          <p:nvPr/>
        </p:nvSpPr>
        <p:spPr>
          <a:xfrm>
            <a:off x="4303975" y="1235825"/>
            <a:ext cx="4410900" cy="5727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Top down planning is centralized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208800" y="2042775"/>
            <a:ext cx="9834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Top Level is Strategic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348500" y="2054000"/>
            <a:ext cx="4410900" cy="5727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Bottom up planning is decentralized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348500" y="2808700"/>
            <a:ext cx="4366500" cy="7641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Composite planning is a combination of two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348500" y="3875500"/>
            <a:ext cx="4518900" cy="7641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Team planning is a cross functional team of experienced managers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311700" y="202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2.1.1 Levels of planning: strategic, tactical and operational</a:t>
            </a:r>
            <a:endParaRPr sz="2400"/>
          </a:p>
        </p:txBody>
      </p:sp>
      <p:sp>
        <p:nvSpPr>
          <p:cNvPr id="109" name="Google Shape;109;p18"/>
          <p:cNvSpPr/>
          <p:nvPr/>
        </p:nvSpPr>
        <p:spPr>
          <a:xfrm>
            <a:off x="1316250" y="848800"/>
            <a:ext cx="2647500" cy="4069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Tactical        Planning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Planning</a:t>
            </a:r>
            <a:endParaRPr/>
          </a:p>
        </p:txBody>
      </p:sp>
      <p:cxnSp>
        <p:nvCxnSpPr>
          <p:cNvPr id="110" name="Google Shape;110;p18"/>
          <p:cNvCxnSpPr>
            <a:stCxn id="109" idx="1"/>
            <a:endCxn id="109" idx="5"/>
          </p:cNvCxnSpPr>
          <p:nvPr/>
        </p:nvCxnSpPr>
        <p:spPr>
          <a:xfrm>
            <a:off x="1978125" y="2883550"/>
            <a:ext cx="1323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1709575" y="3723100"/>
            <a:ext cx="184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8"/>
          <p:cNvSpPr txBox="1"/>
          <p:nvPr/>
        </p:nvSpPr>
        <p:spPr>
          <a:xfrm>
            <a:off x="4303975" y="1044425"/>
            <a:ext cx="4410900" cy="7641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Strategic Plans are grand plans based on SWOT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208800" y="2195175"/>
            <a:ext cx="9834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Strategic Planning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348500" y="2206400"/>
            <a:ext cx="4410900" cy="9885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Tactical planning is done to convert the broad strategic goals and plans into specific goals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348500" y="3646900"/>
            <a:ext cx="4366500" cy="1271400"/>
          </a:xfrm>
          <a:prstGeom prst="rect">
            <a:avLst/>
          </a:prstGeom>
          <a:noFill/>
          <a:ln w="9525" cap="flat" cmpd="sng">
            <a:solidFill>
              <a:srgbClr val="1515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Operational planning is to identify the specific procedures and processes required at lower level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Managerial Hierarchy and the Planning System</a:t>
            </a:r>
            <a:endParaRPr sz="2400"/>
          </a:p>
        </p:txBody>
      </p:sp>
      <p:sp>
        <p:nvSpPr>
          <p:cNvPr id="121" name="Google Shape;121;p19"/>
          <p:cNvSpPr/>
          <p:nvPr/>
        </p:nvSpPr>
        <p:spPr>
          <a:xfrm>
            <a:off x="575000" y="907400"/>
            <a:ext cx="1395300" cy="796800"/>
          </a:xfrm>
          <a:prstGeom prst="roundRect">
            <a:avLst>
              <a:gd name="adj" fmla="val 16667"/>
            </a:avLst>
          </a:prstGeom>
          <a:solidFill>
            <a:srgbClr val="15151B"/>
          </a:solidFill>
          <a:ln w="9525" cap="flat" cmpd="sng">
            <a:solidFill>
              <a:srgbClr val="840D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Policies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692900" y="1413175"/>
            <a:ext cx="1241700" cy="2158800"/>
          </a:xfrm>
          <a:prstGeom prst="roundRect">
            <a:avLst>
              <a:gd name="adj" fmla="val 16667"/>
            </a:avLst>
          </a:prstGeom>
          <a:solidFill>
            <a:srgbClr val="B6124A"/>
          </a:solidFill>
          <a:ln w="9525" cap="flat" cmpd="sng">
            <a:solidFill>
              <a:srgbClr val="B61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Standing Plans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572550" y="1717725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E11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Programs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572550" y="2943038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E11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Budgets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" name="Google Shape;125;p19"/>
          <p:cNvCxnSpPr>
            <a:stCxn id="122" idx="3"/>
            <a:endCxn id="123" idx="1"/>
          </p:cNvCxnSpPr>
          <p:nvPr/>
        </p:nvCxnSpPr>
        <p:spPr>
          <a:xfrm rot="10800000" flipH="1">
            <a:off x="3934600" y="1980475"/>
            <a:ext cx="1638000" cy="512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19"/>
          <p:cNvCxnSpPr>
            <a:stCxn id="122" idx="3"/>
            <a:endCxn id="124" idx="1"/>
          </p:cNvCxnSpPr>
          <p:nvPr/>
        </p:nvCxnSpPr>
        <p:spPr>
          <a:xfrm>
            <a:off x="3934600" y="2492575"/>
            <a:ext cx="1638000" cy="713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19"/>
          <p:cNvSpPr/>
          <p:nvPr/>
        </p:nvSpPr>
        <p:spPr>
          <a:xfrm>
            <a:off x="575000" y="1938475"/>
            <a:ext cx="1471500" cy="759900"/>
          </a:xfrm>
          <a:prstGeom prst="roundRect">
            <a:avLst>
              <a:gd name="adj" fmla="val 16667"/>
            </a:avLst>
          </a:prstGeom>
          <a:solidFill>
            <a:srgbClr val="15151B"/>
          </a:solidFill>
          <a:ln w="9525" cap="flat" cmpd="sng">
            <a:solidFill>
              <a:srgbClr val="840D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Procedures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75000" y="3024350"/>
            <a:ext cx="1547700" cy="888000"/>
          </a:xfrm>
          <a:prstGeom prst="roundRect">
            <a:avLst>
              <a:gd name="adj" fmla="val 16667"/>
            </a:avLst>
          </a:prstGeom>
          <a:solidFill>
            <a:srgbClr val="15151B"/>
          </a:solidFill>
          <a:ln w="9525" cap="flat" cmpd="sng">
            <a:solidFill>
              <a:srgbClr val="840D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Rules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" name="Google Shape;129;p19"/>
          <p:cNvCxnSpPr>
            <a:stCxn id="121" idx="3"/>
            <a:endCxn id="122" idx="1"/>
          </p:cNvCxnSpPr>
          <p:nvPr/>
        </p:nvCxnSpPr>
        <p:spPr>
          <a:xfrm>
            <a:off x="1970300" y="1305800"/>
            <a:ext cx="722700" cy="118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30;p19"/>
          <p:cNvCxnSpPr>
            <a:stCxn id="127" idx="3"/>
            <a:endCxn id="122" idx="1"/>
          </p:cNvCxnSpPr>
          <p:nvPr/>
        </p:nvCxnSpPr>
        <p:spPr>
          <a:xfrm>
            <a:off x="2046500" y="2318425"/>
            <a:ext cx="646500" cy="17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19"/>
          <p:cNvCxnSpPr>
            <a:stCxn id="128" idx="3"/>
            <a:endCxn id="122" idx="1"/>
          </p:cNvCxnSpPr>
          <p:nvPr/>
        </p:nvCxnSpPr>
        <p:spPr>
          <a:xfrm rot="10800000" flipH="1">
            <a:off x="2122700" y="2492450"/>
            <a:ext cx="570300" cy="97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9"/>
          <p:cNvSpPr/>
          <p:nvPr/>
        </p:nvSpPr>
        <p:spPr>
          <a:xfrm>
            <a:off x="3919050" y="1413175"/>
            <a:ext cx="1082400" cy="2158800"/>
          </a:xfrm>
          <a:prstGeom prst="roundRect">
            <a:avLst>
              <a:gd name="adj" fmla="val 16667"/>
            </a:avLst>
          </a:prstGeom>
          <a:solidFill>
            <a:srgbClr val="B6124A"/>
          </a:solidFill>
          <a:ln w="9525" cap="flat" cmpd="sng">
            <a:solidFill>
              <a:srgbClr val="B61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 Use Plans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in Planning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five steps in planning Process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566775" y="1943625"/>
            <a:ext cx="1369600" cy="153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Establish Goals</a:t>
            </a:r>
            <a:endParaRPr sz="1800" dirty="0"/>
          </a:p>
        </p:txBody>
      </p:sp>
      <p:sp>
        <p:nvSpPr>
          <p:cNvPr id="140" name="Google Shape;140;p20"/>
          <p:cNvSpPr/>
          <p:nvPr/>
        </p:nvSpPr>
        <p:spPr>
          <a:xfrm>
            <a:off x="2191450" y="1943625"/>
            <a:ext cx="1354060" cy="153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Identify Premises</a:t>
            </a:r>
            <a:endParaRPr sz="1800" dirty="0"/>
          </a:p>
        </p:txBody>
      </p:sp>
      <p:sp>
        <p:nvSpPr>
          <p:cNvPr id="141" name="Google Shape;141;p20"/>
          <p:cNvSpPr/>
          <p:nvPr/>
        </p:nvSpPr>
        <p:spPr>
          <a:xfrm>
            <a:off x="3750410" y="1943625"/>
            <a:ext cx="1149600" cy="153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Identify Alternatives</a:t>
            </a:r>
            <a:endParaRPr sz="1800" dirty="0"/>
          </a:p>
        </p:txBody>
      </p:sp>
      <p:sp>
        <p:nvSpPr>
          <p:cNvPr id="142" name="Google Shape;142;p20"/>
          <p:cNvSpPr/>
          <p:nvPr/>
        </p:nvSpPr>
        <p:spPr>
          <a:xfrm>
            <a:off x="5188945" y="1955950"/>
            <a:ext cx="1553377" cy="153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Test the practicality of Alternatives</a:t>
            </a:r>
            <a:endParaRPr sz="1800" dirty="0"/>
          </a:p>
        </p:txBody>
      </p:sp>
      <p:sp>
        <p:nvSpPr>
          <p:cNvPr id="143" name="Google Shape;143;p20"/>
          <p:cNvSpPr/>
          <p:nvPr/>
        </p:nvSpPr>
        <p:spPr>
          <a:xfrm>
            <a:off x="6989112" y="1943625"/>
            <a:ext cx="1509410" cy="153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Select and Announce the Final Plans</a:t>
            </a:r>
            <a:endParaRPr sz="1800" dirty="0"/>
          </a:p>
        </p:txBody>
      </p:sp>
      <p:sp>
        <p:nvSpPr>
          <p:cNvPr id="144" name="Google Shape;144;p20"/>
          <p:cNvSpPr/>
          <p:nvPr/>
        </p:nvSpPr>
        <p:spPr>
          <a:xfrm>
            <a:off x="1921375" y="2694400"/>
            <a:ext cx="359400" cy="3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20"/>
          <p:cNvCxnSpPr>
            <a:endCxn id="141" idx="1"/>
          </p:cNvCxnSpPr>
          <p:nvPr/>
        </p:nvCxnSpPr>
        <p:spPr>
          <a:xfrm>
            <a:off x="3545510" y="2712375"/>
            <a:ext cx="20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p20"/>
          <p:cNvCxnSpPr>
            <a:stCxn id="142" idx="1"/>
            <a:endCxn id="142" idx="1"/>
          </p:cNvCxnSpPr>
          <p:nvPr/>
        </p:nvCxnSpPr>
        <p:spPr>
          <a:xfrm>
            <a:off x="5188945" y="27247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>
            <a:stCxn id="141" idx="3"/>
            <a:endCxn id="142" idx="1"/>
          </p:cNvCxnSpPr>
          <p:nvPr/>
        </p:nvCxnSpPr>
        <p:spPr>
          <a:xfrm>
            <a:off x="4900010" y="2712375"/>
            <a:ext cx="288935" cy="12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>
            <a:stCxn id="142" idx="3"/>
            <a:endCxn id="143" idx="1"/>
          </p:cNvCxnSpPr>
          <p:nvPr/>
        </p:nvCxnSpPr>
        <p:spPr>
          <a:xfrm flipV="1">
            <a:off x="6742322" y="2712375"/>
            <a:ext cx="246790" cy="12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2.1.3 Tools for planning</a:t>
            </a:r>
            <a:endParaRPr sz="2400"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 of Planning are based on concept of strategic planning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developing strategic plan manager need to assess the organizational situation with the five basic questions: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Where are we now? </a:t>
            </a:r>
            <a:r>
              <a:rPr lang="en" b="1"/>
              <a:t>(The situation)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did we get there? </a:t>
            </a:r>
            <a:r>
              <a:rPr lang="en" b="1"/>
              <a:t>(Momentum)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Where are we going? </a:t>
            </a:r>
            <a:r>
              <a:rPr lang="en" b="1"/>
              <a:t>(The Direction)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Where should we be going? </a:t>
            </a:r>
            <a:r>
              <a:rPr lang="en" b="1"/>
              <a:t>(Desired Direction)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will we get there?</a:t>
            </a:r>
            <a:r>
              <a:rPr lang="en" b="1"/>
              <a:t> (The Strategic Plan)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to aid strategic planning</a:t>
            </a: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rabicPeriod"/>
            </a:pPr>
            <a:r>
              <a:rPr lang="en">
                <a:solidFill>
                  <a:srgbClr val="15151B"/>
                </a:solidFill>
              </a:rPr>
              <a:t>Forecasting </a:t>
            </a:r>
            <a:endParaRPr>
              <a:solidFill>
                <a:srgbClr val="15151B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lphaLcPeriod"/>
            </a:pPr>
            <a:r>
              <a:rPr lang="en" sz="1800">
                <a:solidFill>
                  <a:srgbClr val="15151B"/>
                </a:solidFill>
              </a:rPr>
              <a:t>Qualitative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Informed Judgements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Scenario Analysis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Delphi Method</a:t>
            </a:r>
            <a:endParaRPr sz="1800">
              <a:solidFill>
                <a:srgbClr val="15151B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lphaLcPeriod"/>
            </a:pPr>
            <a:r>
              <a:rPr lang="en" sz="1800">
                <a:solidFill>
                  <a:srgbClr val="15151B"/>
                </a:solidFill>
              </a:rPr>
              <a:t>Quantitative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Single Projection method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Extrapolation method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Moving Average Method</a:t>
            </a:r>
            <a:endParaRPr sz="1800">
              <a:solidFill>
                <a:srgbClr val="15151B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romanLcPeriod"/>
            </a:pPr>
            <a:r>
              <a:rPr lang="en" sz="1800">
                <a:solidFill>
                  <a:srgbClr val="15151B"/>
                </a:solidFill>
              </a:rPr>
              <a:t>Time Series Analysis</a:t>
            </a:r>
            <a:endParaRPr>
              <a:solidFill>
                <a:srgbClr val="15151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to aid strategic planning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0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2. Network Techniques</a:t>
            </a:r>
            <a:endParaRPr>
              <a:solidFill>
                <a:srgbClr val="15151B"/>
              </a:solidFill>
            </a:endParaRPr>
          </a:p>
          <a:p>
            <a:pPr marL="914400" lvl="1" indent="-342900" algn="l" rtl="0">
              <a:spcBef>
                <a:spcPts val="120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lphaLcPeriod"/>
            </a:pPr>
            <a:r>
              <a:rPr lang="en" sz="1800">
                <a:solidFill>
                  <a:srgbClr val="15151B"/>
                </a:solidFill>
              </a:rPr>
              <a:t>CPM (Critical Path Method)</a:t>
            </a:r>
            <a:endParaRPr sz="1800">
              <a:solidFill>
                <a:srgbClr val="15151B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lphaLcPeriod"/>
            </a:pPr>
            <a:r>
              <a:rPr lang="en" sz="1800">
                <a:solidFill>
                  <a:srgbClr val="15151B"/>
                </a:solidFill>
              </a:rPr>
              <a:t>PERT (Program Evaluation and Review Technique)</a:t>
            </a:r>
            <a:endParaRPr sz="1800"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3. Flow Charts</a:t>
            </a:r>
            <a:endParaRPr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4. Gantt Chart</a:t>
            </a:r>
            <a:endParaRPr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5. Break Even Analysis</a:t>
            </a:r>
            <a:endParaRPr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1B"/>
                </a:solidFill>
              </a:rPr>
              <a:t>	BEP = FC/(P-VC) </a:t>
            </a:r>
            <a:endParaRPr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 i="1">
                <a:solidFill>
                  <a:srgbClr val="15151B"/>
                </a:solidFill>
              </a:rPr>
              <a:t>Where, BEP = Break Even Point, FC = Fixed Cost, VC = Variable Cost, P = Price</a:t>
            </a:r>
            <a:endParaRPr sz="1700" b="1" i="1">
              <a:solidFill>
                <a:srgbClr val="15151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2.1.4 Importance of planning</a:t>
            </a:r>
            <a:endParaRPr sz="2400"/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475" y="838200"/>
            <a:ext cx="7104075" cy="41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2.1.4 Importance of planning</a:t>
            </a:r>
            <a:endParaRPr sz="2400"/>
          </a:p>
        </p:txBody>
      </p:sp>
      <p:sp>
        <p:nvSpPr>
          <p:cNvPr id="178" name="Google Shape;178;p25"/>
          <p:cNvSpPr txBox="1"/>
          <p:nvPr/>
        </p:nvSpPr>
        <p:spPr>
          <a:xfrm>
            <a:off x="311700" y="762000"/>
            <a:ext cx="85206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b="1">
                <a:solidFill>
                  <a:schemeClr val="dk1"/>
                </a:solidFill>
              </a:rPr>
              <a:t>Goal Clarity</a:t>
            </a:r>
            <a:r>
              <a:rPr lang="en" sz="1800">
                <a:solidFill>
                  <a:schemeClr val="dk1"/>
                </a:solidFill>
              </a:rPr>
              <a:t> – Defines clear objectives and direction for all departments and employees.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b="1">
                <a:solidFill>
                  <a:schemeClr val="dk1"/>
                </a:solidFill>
              </a:rPr>
              <a:t>Efficient Resource Use</a:t>
            </a:r>
            <a:r>
              <a:rPr lang="en" sz="1800">
                <a:solidFill>
                  <a:schemeClr val="dk1"/>
                </a:solidFill>
              </a:rPr>
              <a:t> – Ensures optimal allocation and utilization of time, money, and manpower.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b="1">
                <a:solidFill>
                  <a:schemeClr val="dk1"/>
                </a:solidFill>
              </a:rPr>
              <a:t>Risk Reduction</a:t>
            </a:r>
            <a:r>
              <a:rPr lang="en" sz="1800">
                <a:solidFill>
                  <a:schemeClr val="dk1"/>
                </a:solidFill>
              </a:rPr>
              <a:t> – Anticipates challenges and prepares strategies to minimize potential risks.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b="1">
                <a:solidFill>
                  <a:schemeClr val="dk1"/>
                </a:solidFill>
              </a:rPr>
              <a:t>Improved Decision-Making</a:t>
            </a:r>
            <a:r>
              <a:rPr lang="en" sz="1800">
                <a:solidFill>
                  <a:schemeClr val="dk1"/>
                </a:solidFill>
              </a:rPr>
              <a:t> – Provides a framework for making consistent, informed, and strategic choices.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b="1">
                <a:solidFill>
                  <a:schemeClr val="dk1"/>
                </a:solidFill>
              </a:rPr>
              <a:t>Coordination &amp; Control</a:t>
            </a:r>
            <a:r>
              <a:rPr lang="en" sz="1800">
                <a:solidFill>
                  <a:schemeClr val="dk1"/>
                </a:solidFill>
              </a:rPr>
              <a:t> – Aligns activities across the organization and facilitates monitoring and corrective actions.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2.2 Organizing</a:t>
            </a:r>
            <a:endParaRPr sz="2400" b="1"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663100" cy="4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Logic of Organizing: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Establishing enterprise objectives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Formulating supporting objectives, policies, and plans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Identifying, analyzing, and classifying the activities necessary to accomplish these objectives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Grouping these activities in light of the human and material resources available and the best way, under the circumstances, of using them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Delegating to the head of each group the authority necessary to perform the activities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Tying the groups together horizontally and vertically, through authority relationships and information flows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56" y="207325"/>
            <a:ext cx="8809144" cy="493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Some Misconceptions</a:t>
            </a:r>
            <a:endParaRPr sz="2400"/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rabicPeriod"/>
            </a:pPr>
            <a:r>
              <a:rPr lang="en">
                <a:solidFill>
                  <a:srgbClr val="15151B"/>
                </a:solidFill>
              </a:rPr>
              <a:t>Organizing does not imply any extreme occupational specialization</a:t>
            </a:r>
            <a:endParaRPr>
              <a:solidFill>
                <a:srgbClr val="15151B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B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To say that tasks should be specific is not to say they must be limited and mechanical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In any organization, jobs can be defined to allow little or no personal leeway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One must not forget that there is no best way to organize and that the application of structural organization theory must take into account the situation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Basic Questions for Effective Organizing</a:t>
            </a:r>
            <a:endParaRPr sz="2400"/>
          </a:p>
        </p:txBody>
      </p:sp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53700" cy="39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determines the span of management and hence the levels of organization? (answered in this chapter)</a:t>
            </a:r>
            <a:endParaRPr>
              <a:solidFill>
                <a:schemeClr val="dk1"/>
              </a:solidFill>
            </a:endParaRPr>
          </a:p>
          <a:p>
            <a:pPr marL="457200" marR="8636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determines the basic framework of departmentation, and what are the strengths and weaknesses of the basic forms? (answered in Chapter 8)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kinds of authority relationships exist in organizations? (answered in Chapter 9)</a:t>
            </a:r>
            <a:endParaRPr>
              <a:solidFill>
                <a:schemeClr val="dk1"/>
              </a:solidFill>
            </a:endParaRPr>
          </a:p>
          <a:p>
            <a:pPr marL="457200" marR="8763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How should authority be dispersed throughout the organization structure, and what determines the extent of this dispersion? (answered in Chapter 9)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How should the manager make organization theory work in practice? (answered in Chapter 10)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Six key elements in organizational design.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 specialization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Departmentalization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Chain of command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Span of control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Centralization/decentralization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Formalization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2.2.2 Organization structure</a:t>
            </a:r>
            <a:endParaRPr sz="2400"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Departmentalization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Grouping activities in accordance with the functions of an enterprise functional departmentation embodies what enterprises typically do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Because all enterprises undertake the creation of something useful and desired by others, the basic enterprise functions are: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production (creating utility or adding utility to a product or service)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selling (finding customers, patients, clients, students, or members who will agree to accept the product or service at a price or for a cost)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financing (raising and collecting, safeguarding, and expending the funds of the enterprise).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Departmentation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Enterprise Function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Territory or Geography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Customer Group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Product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Process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Assignment:</a:t>
            </a:r>
            <a:r>
              <a:rPr lang="en">
                <a:solidFill>
                  <a:srgbClr val="000000"/>
                </a:solidFill>
              </a:rPr>
              <a:t> Draw the organization structure of various enterprises based on the types of departmentation types and write down their advantages and disadvantages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2" y="0"/>
            <a:ext cx="91031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3934"/>
            <a:ext cx="9144001" cy="3995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3673"/>
            <a:ext cx="9143998" cy="4396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8" y="0"/>
            <a:ext cx="907676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title"/>
          </p:nvPr>
        </p:nvSpPr>
        <p:spPr>
          <a:xfrm>
            <a:off x="311700" y="381000"/>
            <a:ext cx="50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2.2.3 Types of organization structure</a:t>
            </a:r>
            <a:endParaRPr sz="2400"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7100"/>
            <a:ext cx="8588949" cy="29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title"/>
          </p:nvPr>
        </p:nvSpPr>
        <p:spPr>
          <a:xfrm>
            <a:off x="311700" y="457200"/>
            <a:ext cx="50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2.2.3 Types of organization structure</a:t>
            </a:r>
            <a:endParaRPr sz="2400"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0900"/>
            <a:ext cx="8830800" cy="29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369" y="0"/>
            <a:ext cx="557326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>
            <a:spLocks noGrp="1"/>
          </p:cNvSpPr>
          <p:nvPr>
            <p:ph type="title"/>
          </p:nvPr>
        </p:nvSpPr>
        <p:spPr>
          <a:xfrm>
            <a:off x="296600" y="64825"/>
            <a:ext cx="57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Organization in Engineering</a:t>
            </a:r>
            <a:endParaRPr/>
          </a:p>
        </p:txBody>
      </p:sp>
      <p:pic>
        <p:nvPicPr>
          <p:cNvPr id="270" name="Google Shape;2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75" y="547700"/>
            <a:ext cx="6181699" cy="381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6214425" y="254850"/>
            <a:ext cx="3000000" cy="286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</a:rPr>
              <a:t>Advantages: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Oriented toward end results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Professional identification is maintained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Pinpoints product-profit responsibility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72" name="Google Shape;272;p40"/>
          <p:cNvSpPr txBox="1"/>
          <p:nvPr/>
        </p:nvSpPr>
        <p:spPr>
          <a:xfrm>
            <a:off x="6093800" y="2775375"/>
            <a:ext cx="30000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Disadvantages: 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Conflict in authority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Possibility of disunity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Requires manager effective in human relations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for Making Matrix Management Effective</a:t>
            </a:r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Matrix management can be made more effective by following these guidelines: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Define the objectives of the project or task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Clarify the roles, authority, and responsibilities of managers and team members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Ensure that influence is based on knowledge and information, rather than on rank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Balance the power of functional and project managers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Select an experienced manager for the project who can provide leadership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Undertake organization and team development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Install appropriate cost, time, and quality controls that report deviations from standards in a timely manner</a:t>
            </a:r>
            <a:endParaRPr>
              <a:solidFill>
                <a:srgbClr val="000000"/>
              </a:solidFill>
            </a:endParaRPr>
          </a:p>
          <a:p>
            <a:pPr marL="457200" marR="863600" lvl="0" indent="-3429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Reward project managers and team members fairly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311700" y="233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2.2.2.1 Traditional structure: line and functional</a:t>
            </a:r>
            <a:endParaRPr sz="2400"/>
          </a:p>
        </p:txBody>
      </p:sp>
      <p:pic>
        <p:nvPicPr>
          <p:cNvPr id="284" name="Google Shape;2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06547"/>
            <a:ext cx="6112350" cy="26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/>
        </p:nvSpPr>
        <p:spPr>
          <a:xfrm>
            <a:off x="6485975" y="948775"/>
            <a:ext cx="2594400" cy="3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Advantages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Direct Supervision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Chain of Command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Oldest and Simplest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Unified Control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Fixed Responsibilities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Prompt Decision</a:t>
            </a:r>
            <a:endParaRPr sz="1800"/>
          </a:p>
        </p:txBody>
      </p:sp>
      <p:sp>
        <p:nvSpPr>
          <p:cNvPr id="286" name="Google Shape;286;p42"/>
          <p:cNvSpPr txBox="1"/>
          <p:nvPr/>
        </p:nvSpPr>
        <p:spPr>
          <a:xfrm>
            <a:off x="316800" y="3755100"/>
            <a:ext cx="42552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Disadvantages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Inadequate simplex communication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Less effective coordination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Misuse of authority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title"/>
          </p:nvPr>
        </p:nvSpPr>
        <p:spPr>
          <a:xfrm>
            <a:off x="311700" y="233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2.2.2.1 Traditional structure: line and functional</a:t>
            </a:r>
            <a:endParaRPr sz="2400"/>
          </a:p>
        </p:txBody>
      </p:sp>
      <p:sp>
        <p:nvSpPr>
          <p:cNvPr id="292" name="Google Shape;292;p43"/>
          <p:cNvSpPr txBox="1"/>
          <p:nvPr/>
        </p:nvSpPr>
        <p:spPr>
          <a:xfrm>
            <a:off x="316800" y="3755100"/>
            <a:ext cx="53562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Disadvantages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Poor interdepartmental communication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Conflict of Interest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Slow Decision Making with limited flexibility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8950"/>
            <a:ext cx="6181174" cy="257914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3"/>
          <p:cNvSpPr txBox="1"/>
          <p:nvPr/>
        </p:nvSpPr>
        <p:spPr>
          <a:xfrm>
            <a:off x="6485975" y="948775"/>
            <a:ext cx="2594400" cy="3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Advantages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Specialization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Operational Efficiency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Clear Hierarchy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Career Development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Economies of Scale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Focused supervision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Enhanced Performance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2.2.2.2 Modern structure: matrix, network, hybrid</a:t>
            </a:r>
            <a:endParaRPr sz="2400"/>
          </a:p>
        </p:txBody>
      </p:sp>
      <p:sp>
        <p:nvSpPr>
          <p:cNvPr id="300" name="Google Shape;30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5151B"/>
                </a:solidFill>
              </a:rPr>
              <a:t>Matrix: Project-heavy organizations (e.g., construction, aerospace, R&amp;D) needing dual focus on function and projects</a:t>
            </a:r>
            <a:endParaRPr sz="2000"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5151B"/>
                </a:solidFill>
              </a:rPr>
              <a:t>Network: Agile, tech-driven firms focusing on innovation, outsourcing, or partnerships (e.g., start-ups, software, consulting)</a:t>
            </a:r>
            <a:endParaRPr sz="2000"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5151B"/>
                </a:solidFill>
              </a:rPr>
              <a:t>Hybrid: Large, diversified firms needing a balance between control and flexibility (e.g., multinational corporations)</a:t>
            </a:r>
            <a:endParaRPr sz="2000">
              <a:solidFill>
                <a:srgbClr val="15151B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rgbClr val="15151B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2.4 Emerging planning and organizing issues for ICT enterprises</a:t>
            </a:r>
            <a:endParaRPr sz="2400"/>
          </a:p>
        </p:txBody>
      </p:sp>
      <p:sp>
        <p:nvSpPr>
          <p:cNvPr id="306" name="Google Shape;306;p45"/>
          <p:cNvSpPr txBox="1">
            <a:spLocks noGrp="1"/>
          </p:cNvSpPr>
          <p:nvPr>
            <p:ph type="body" idx="1"/>
          </p:nvPr>
        </p:nvSpPr>
        <p:spPr>
          <a:xfrm>
            <a:off x="311700" y="1332900"/>
            <a:ext cx="8520600" cy="3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 Rapid Technological Change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for continuous </a:t>
            </a:r>
            <a:r>
              <a:rPr lang="en" b="1">
                <a:solidFill>
                  <a:schemeClr val="dk1"/>
                </a:solidFill>
              </a:rPr>
              <a:t>technology forecasting</a:t>
            </a:r>
            <a:r>
              <a:rPr lang="en">
                <a:solidFill>
                  <a:schemeClr val="dk1"/>
                </a:solidFill>
              </a:rPr>
              <a:t> and agile strategic planning.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Constant updating of infrastructure and platforms (e.g., cloud, AI, blockchain).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2. Cybersecurity and Data Privacy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Strategic planning must account for robust </a:t>
            </a:r>
            <a:r>
              <a:rPr lang="en" b="1">
                <a:solidFill>
                  <a:schemeClr val="dk1"/>
                </a:solidFill>
              </a:rPr>
              <a:t>cybersecurity frameworks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Adherence to global data regulations like </a:t>
            </a:r>
            <a:r>
              <a:rPr lang="en" b="1">
                <a:solidFill>
                  <a:schemeClr val="dk1"/>
                </a:solidFill>
              </a:rPr>
              <a:t>GDPR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HIPAA</a:t>
            </a:r>
            <a:r>
              <a:rPr lang="en">
                <a:solidFill>
                  <a:schemeClr val="dk1"/>
                </a:solidFill>
              </a:rPr>
              <a:t>, etc.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2.4 Emerging planning and organizing issues for ICT enterprises</a:t>
            </a:r>
            <a:endParaRPr sz="2400"/>
          </a:p>
        </p:txBody>
      </p:sp>
      <p:sp>
        <p:nvSpPr>
          <p:cNvPr id="312" name="Google Shape;312;p46"/>
          <p:cNvSpPr txBox="1">
            <a:spLocks noGrp="1"/>
          </p:cNvSpPr>
          <p:nvPr>
            <p:ph type="body" idx="1"/>
          </p:nvPr>
        </p:nvSpPr>
        <p:spPr>
          <a:xfrm>
            <a:off x="311700" y="1332900"/>
            <a:ext cx="8520600" cy="3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3. Talent Management &amp; Skill Gaps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Shortage of skilled professionals in AI, data science, cybersecurity, etc.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for </a:t>
            </a:r>
            <a:r>
              <a:rPr lang="en" b="1">
                <a:solidFill>
                  <a:schemeClr val="dk1"/>
                </a:solidFill>
              </a:rPr>
              <a:t>continuous learning systems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remote talent integration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4. Agile and Lean Structures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Shift from traditional hierarchies to </a:t>
            </a:r>
            <a:r>
              <a:rPr lang="en" b="1">
                <a:solidFill>
                  <a:schemeClr val="dk1"/>
                </a:solidFill>
              </a:rPr>
              <a:t>agile, flat, and cross-functional teams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Emphasis on </a:t>
            </a:r>
            <a:r>
              <a:rPr lang="en" b="1">
                <a:solidFill>
                  <a:schemeClr val="dk1"/>
                </a:solidFill>
              </a:rPr>
              <a:t>DevOps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Scrum</a:t>
            </a:r>
            <a:r>
              <a:rPr lang="en">
                <a:solidFill>
                  <a:schemeClr val="dk1"/>
                </a:solidFill>
              </a:rPr>
              <a:t> practices for flexible organizing.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2.4 Emerging planning and organizing issues for ICT enterprises</a:t>
            </a:r>
            <a:endParaRPr sz="2400"/>
          </a:p>
        </p:txBody>
      </p:sp>
      <p:sp>
        <p:nvSpPr>
          <p:cNvPr id="318" name="Google Shape;318;p47"/>
          <p:cNvSpPr txBox="1">
            <a:spLocks noGrp="1"/>
          </p:cNvSpPr>
          <p:nvPr>
            <p:ph type="body" idx="1"/>
          </p:nvPr>
        </p:nvSpPr>
        <p:spPr>
          <a:xfrm>
            <a:off x="311700" y="1332900"/>
            <a:ext cx="8520600" cy="3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5. Globalization &amp; Virtual Workforces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Organizing across </a:t>
            </a:r>
            <a:r>
              <a:rPr lang="en" b="1">
                <a:solidFill>
                  <a:schemeClr val="dk1"/>
                </a:solidFill>
              </a:rPr>
              <a:t>time zones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cultures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legal systems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Greater reliance on </a:t>
            </a:r>
            <a:r>
              <a:rPr lang="en" b="1">
                <a:solidFill>
                  <a:schemeClr val="dk1"/>
                </a:solidFill>
              </a:rPr>
              <a:t>remote collaboration tools</a:t>
            </a:r>
            <a:r>
              <a:rPr lang="en">
                <a:solidFill>
                  <a:schemeClr val="dk1"/>
                </a:solidFill>
              </a:rPr>
              <a:t> and distributed teams.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6. Sustainability and Green IT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Planning for </a:t>
            </a:r>
            <a:r>
              <a:rPr lang="en" b="1">
                <a:solidFill>
                  <a:schemeClr val="dk1"/>
                </a:solidFill>
              </a:rPr>
              <a:t>eco-friendly</a:t>
            </a:r>
            <a:r>
              <a:rPr lang="en">
                <a:solidFill>
                  <a:schemeClr val="dk1"/>
                </a:solidFill>
              </a:rPr>
              <a:t> data centers, energy-efficient devices, and </a:t>
            </a:r>
            <a:r>
              <a:rPr lang="en" b="1">
                <a:solidFill>
                  <a:schemeClr val="dk1"/>
                </a:solidFill>
              </a:rPr>
              <a:t>e-waste management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Growing pressure to meet </a:t>
            </a:r>
            <a:r>
              <a:rPr lang="en" b="1">
                <a:solidFill>
                  <a:schemeClr val="dk1"/>
                </a:solidFill>
              </a:rPr>
              <a:t>ESG (Environmental, Social, Governance)</a:t>
            </a:r>
            <a:r>
              <a:rPr lang="en">
                <a:solidFill>
                  <a:schemeClr val="dk1"/>
                </a:solidFill>
              </a:rPr>
              <a:t> targets.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2.4 Emerging planning and organizing issues for ICT enterprises</a:t>
            </a:r>
            <a:endParaRPr sz="2400"/>
          </a:p>
        </p:txBody>
      </p:sp>
      <p:sp>
        <p:nvSpPr>
          <p:cNvPr id="324" name="Google Shape;324;p48"/>
          <p:cNvSpPr txBox="1">
            <a:spLocks noGrp="1"/>
          </p:cNvSpPr>
          <p:nvPr>
            <p:ph type="body" idx="1"/>
          </p:nvPr>
        </p:nvSpPr>
        <p:spPr>
          <a:xfrm>
            <a:off x="311700" y="1332900"/>
            <a:ext cx="8520600" cy="3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7. Innovation and Disruption Management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Strategic focus on </a:t>
            </a:r>
            <a:r>
              <a:rPr lang="en" b="1">
                <a:solidFill>
                  <a:schemeClr val="dk1"/>
                </a:solidFill>
              </a:rPr>
              <a:t>R&amp;D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innovation hubs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partnership ecosystems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Managing the threat of </a:t>
            </a:r>
            <a:r>
              <a:rPr lang="en" b="1">
                <a:solidFill>
                  <a:schemeClr val="dk1"/>
                </a:solidFill>
              </a:rPr>
              <a:t>disruptive startups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platform-based competitors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8. Regulatory Compliance &amp; Ethics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to adapt to </a:t>
            </a:r>
            <a:r>
              <a:rPr lang="en" b="1">
                <a:solidFill>
                  <a:schemeClr val="dk1"/>
                </a:solidFill>
              </a:rPr>
              <a:t>rapid changes in ICT-related regulations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Ethical concerns around AI bias, surveillance, and automation must be planned for.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2.4 Emerging planning and organizing issues for ICT enterprises</a:t>
            </a:r>
            <a:endParaRPr sz="2400"/>
          </a:p>
        </p:txBody>
      </p:sp>
      <p:sp>
        <p:nvSpPr>
          <p:cNvPr id="330" name="Google Shape;330;p49"/>
          <p:cNvSpPr txBox="1">
            <a:spLocks noGrp="1"/>
          </p:cNvSpPr>
          <p:nvPr>
            <p:ph type="body" idx="1"/>
          </p:nvPr>
        </p:nvSpPr>
        <p:spPr>
          <a:xfrm>
            <a:off x="311700" y="1332900"/>
            <a:ext cx="8520600" cy="3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9. Scalability and Cloud Infrastructure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Organizing around </a:t>
            </a:r>
            <a:r>
              <a:rPr lang="en" b="1">
                <a:solidFill>
                  <a:schemeClr val="dk1"/>
                </a:solidFill>
              </a:rPr>
              <a:t>cloud-first</a:t>
            </a:r>
            <a:r>
              <a:rPr lang="en">
                <a:solidFill>
                  <a:schemeClr val="dk1"/>
                </a:solidFill>
              </a:rPr>
              <a:t> strategies and </a:t>
            </a:r>
            <a:r>
              <a:rPr lang="en" b="1">
                <a:solidFill>
                  <a:schemeClr val="dk1"/>
                </a:solidFill>
              </a:rPr>
              <a:t>hybrid cloud models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Planning for </a:t>
            </a:r>
            <a:r>
              <a:rPr lang="en" b="1">
                <a:solidFill>
                  <a:schemeClr val="dk1"/>
                </a:solidFill>
              </a:rPr>
              <a:t>scalable digital infrastructure</a:t>
            </a:r>
            <a:r>
              <a:rPr lang="en">
                <a:solidFill>
                  <a:schemeClr val="dk1"/>
                </a:solidFill>
              </a:rPr>
              <a:t> to support growth.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10. Customer-Centric Planning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Shift towards </a:t>
            </a:r>
            <a:r>
              <a:rPr lang="en" b="1">
                <a:solidFill>
                  <a:schemeClr val="dk1"/>
                </a:solidFill>
              </a:rPr>
              <a:t>UX/UI design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customer analytics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personalization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Integration of </a:t>
            </a:r>
            <a:r>
              <a:rPr lang="en" b="1">
                <a:solidFill>
                  <a:schemeClr val="dk1"/>
                </a:solidFill>
              </a:rPr>
              <a:t>customer feedback loops</a:t>
            </a:r>
            <a:r>
              <a:rPr lang="en">
                <a:solidFill>
                  <a:schemeClr val="dk1"/>
                </a:solidFill>
              </a:rPr>
              <a:t> into planning cycles.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1410</Words>
  <Application>Microsoft Office PowerPoint</Application>
  <PresentationFormat>On-screen Show (16:9)</PresentationFormat>
  <Paragraphs>226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Roboto</vt:lpstr>
      <vt:lpstr>Simple Light</vt:lpstr>
      <vt:lpstr>Planning and Organizing</vt:lpstr>
      <vt:lpstr>2.1 Planning</vt:lpstr>
      <vt:lpstr>A Planning Model</vt:lpstr>
      <vt:lpstr>Planning System</vt:lpstr>
      <vt:lpstr>2.1.1 Levels of planning: strategic, tactical and operational</vt:lpstr>
      <vt:lpstr>2.1.1 Levels of planning: strategic, tactical and operational</vt:lpstr>
      <vt:lpstr>Managerial Hierarchy and the Planning System</vt:lpstr>
      <vt:lpstr>Steps in Planning</vt:lpstr>
      <vt:lpstr>2.1.3 Tools for planning</vt:lpstr>
      <vt:lpstr>Tools to aid strategic planning</vt:lpstr>
      <vt:lpstr>Tools to aid strategic planning</vt:lpstr>
      <vt:lpstr>2.1.4 Importance of planning</vt:lpstr>
      <vt:lpstr>2.1.4 Importance of planning</vt:lpstr>
      <vt:lpstr>2.2 Organizing</vt:lpstr>
      <vt:lpstr>PowerPoint Presentation</vt:lpstr>
      <vt:lpstr>Some Misconceptions</vt:lpstr>
      <vt:lpstr>Basic Questions for Effective Organizing</vt:lpstr>
      <vt:lpstr>Six key elements in organizational design.</vt:lpstr>
      <vt:lpstr>2.2.2 Organization structure</vt:lpstr>
      <vt:lpstr>Departmentation</vt:lpstr>
      <vt:lpstr>PowerPoint Presentation</vt:lpstr>
      <vt:lpstr>PowerPoint Presentation</vt:lpstr>
      <vt:lpstr>PowerPoint Presentation</vt:lpstr>
      <vt:lpstr>PowerPoint Presentation</vt:lpstr>
      <vt:lpstr>2.2.3 Types of organization structure</vt:lpstr>
      <vt:lpstr>2.2.3 Types of organization structure</vt:lpstr>
      <vt:lpstr>PowerPoint Presentation</vt:lpstr>
      <vt:lpstr>Matrix Organization in Engineering</vt:lpstr>
      <vt:lpstr>Guidelines for Making Matrix Management Effective</vt:lpstr>
      <vt:lpstr>2.2.2.1 Traditional structure: line and functional</vt:lpstr>
      <vt:lpstr>2.2.2.1 Traditional structure: line and functional</vt:lpstr>
      <vt:lpstr>2.2.2.2 Modern structure: matrix, network, hybrid</vt:lpstr>
      <vt:lpstr>2.4 Emerging planning and organizing issues for ICT enterprises</vt:lpstr>
      <vt:lpstr>2.4 Emerging planning and organizing issues for ICT enterprises</vt:lpstr>
      <vt:lpstr>2.4 Emerging planning and organizing issues for ICT enterprises</vt:lpstr>
      <vt:lpstr>2.4 Emerging planning and organizing issues for ICT enterprises</vt:lpstr>
      <vt:lpstr>2.4 Emerging planning and organizing issues for ICT enterprises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and Organizing</dc:title>
  <cp:lastModifiedBy>Microsoft account</cp:lastModifiedBy>
  <cp:revision>2</cp:revision>
  <dcterms:modified xsi:type="dcterms:W3CDTF">2025-05-08T16:01:52Z</dcterms:modified>
</cp:coreProperties>
</file>