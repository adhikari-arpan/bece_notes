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50"/>
  </p:notesMasterIdLst>
  <p:sldIdLst>
    <p:sldId id="256" r:id="rId2"/>
    <p:sldId id="257" r:id="rId3"/>
    <p:sldId id="292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93" r:id="rId19"/>
    <p:sldId id="302" r:id="rId20"/>
    <p:sldId id="294" r:id="rId21"/>
    <p:sldId id="295" r:id="rId22"/>
    <p:sldId id="296" r:id="rId23"/>
    <p:sldId id="297" r:id="rId24"/>
    <p:sldId id="298" r:id="rId25"/>
    <p:sldId id="299" r:id="rId26"/>
    <p:sldId id="300" r:id="rId27"/>
    <p:sldId id="301" r:id="rId28"/>
    <p:sldId id="272" r:id="rId29"/>
    <p:sldId id="273" r:id="rId30"/>
    <p:sldId id="274" r:id="rId31"/>
    <p:sldId id="275" r:id="rId32"/>
    <p:sldId id="276" r:id="rId33"/>
    <p:sldId id="277" r:id="rId34"/>
    <p:sldId id="278" r:id="rId35"/>
    <p:sldId id="279" r:id="rId36"/>
    <p:sldId id="280" r:id="rId37"/>
    <p:sldId id="281" r:id="rId38"/>
    <p:sldId id="282" r:id="rId39"/>
    <p:sldId id="283" r:id="rId40"/>
    <p:sldId id="284" r:id="rId41"/>
    <p:sldId id="285" r:id="rId42"/>
    <p:sldId id="286" r:id="rId43"/>
    <p:sldId id="287" r:id="rId44"/>
    <p:sldId id="288" r:id="rId45"/>
    <p:sldId id="289" r:id="rId46"/>
    <p:sldId id="290" r:id="rId47"/>
    <p:sldId id="291" r:id="rId48"/>
    <p:sldId id="303" r:id="rId4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DACC882-6FC1-4CDB-86AF-204BC0BF8607}">
  <a:tblStyle styleId="{8DACC882-6FC1-4CDB-86AF-204BC0BF860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1682173-DF3D-4671-8D01-921A5BE61A1D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822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01267131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42423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4bec3f4e2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4bec3f4e2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636768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4bec3f4e25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4bec3f4e25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931191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4cbbd5674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4cbbd5674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590671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4bec3f4e25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4bec3f4e25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450214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4bec3f4e25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4bec3f4e25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574254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4bec3f4e25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4bec3f4e25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751209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4bec3f4e25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4bec3f4e25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70672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4bec3f4e25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4bec3f4e25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066948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4bec3f4e25_0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4bec3f4e25_0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196679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4bec3f4e25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4bec3f4e25_0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46943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4bec3f4e25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4bec3f4e25_0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207293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4bec3f4e25_0_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4bec3f4e25_0_1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1842793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4bf596270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4bf596270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1227042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4bf5962707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4bf5962707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5929319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4bf5962707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4bf5962707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4637723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4bf5962707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4bf5962707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7904308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4cbbd56740_0_2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4cbbd56740_0_2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8168994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4cbbd56740_0_2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4cbbd56740_0_2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4661958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4bec3f4e25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4bec3f4e25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7931066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4cbbd56740_0_2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4cbbd56740_0_2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56491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4cc0faa92a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4cc0faa92a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1469561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4cc0faa92a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4cc0faa92a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5169640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4cc0faa92a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4cc0faa92a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0669196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4cc0faa92a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4cc0faa92a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0361215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4cc0faa92a_0_1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4cc0faa92a_0_1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9685854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4cc0faa92a_0_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4cc0faa92a_0_1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03938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4cc0faa92a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4cc0faa92a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1825920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4cc0faa92a_0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4cc0faa92a_0_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7907563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4cc0faa92a_0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4cc0faa92a_0_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4308931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4cc0faa92a_0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34cc0faa92a_0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4447955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4cc0faa92a_0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34cc0faa92a_0_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1807155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4cc0faa92a_0_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34cc0faa92a_0_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533397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4cc0faa92a_0_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34cc0faa92a_0_1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3905579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4cc0faa92a_0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34cc0faa92a_0_1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8839678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4cc0faa92a_0_1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34cc0faa92a_0_1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161701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0" y="533750"/>
            <a:ext cx="8520600" cy="86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42325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 Hours</a:t>
            </a:r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ctrTitle"/>
          </p:nvPr>
        </p:nvSpPr>
        <p:spPr>
          <a:xfrm>
            <a:off x="464100" y="2020250"/>
            <a:ext cx="8520600" cy="113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180"/>
              <a:t>Objective: To develop a foundational understanding of management, organization and engineering management</a:t>
            </a:r>
            <a:endParaRPr sz="578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311700" y="2039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1.1 Management</a:t>
            </a:r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body" idx="1"/>
          </p:nvPr>
        </p:nvSpPr>
        <p:spPr>
          <a:xfrm>
            <a:off x="311700" y="855225"/>
            <a:ext cx="8723100" cy="417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</a:rPr>
              <a:t>Management </a:t>
            </a:r>
            <a:r>
              <a:rPr lang="en">
                <a:solidFill>
                  <a:schemeClr val="dk1"/>
                </a:solidFill>
              </a:rPr>
              <a:t>is the process of designing and maintaining an environment in which individuals, working together in groups, efficiently accomplish selected aims.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This designing and basic definition needs to be expanded: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As managers, people carry out the managerial functions of planning, organizing staffing, leading, and controlling.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Management applies to any kind of organization.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It applies to managers at all organizational levels.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The aim of all managers is the same: to create a surplus. </a:t>
            </a:r>
            <a:r>
              <a:rPr lang="en">
                <a:solidFill>
                  <a:srgbClr val="FF0000"/>
                </a:solidFill>
              </a:rPr>
              <a:t>(Profit)</a:t>
            </a:r>
            <a:endParaRPr>
              <a:solidFill>
                <a:srgbClr val="FF0000"/>
              </a:solidFill>
            </a:endParaRPr>
          </a:p>
          <a:p>
            <a:pPr marL="457200" marR="8636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Managing is concerned with productivity, which implies effectiveness and efficiency.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Management is the process of designing a controlled environment by planning activities and events, organizing, staffing, and leading a group of individuals to accomplish selected aims and goals while increasing productivity, efficiency and surplus in the process (</a:t>
            </a:r>
            <a:r>
              <a:rPr lang="en-US" sz="2400" dirty="0" err="1" smtClean="0"/>
              <a:t>Swostika</a:t>
            </a:r>
            <a:r>
              <a:rPr lang="en-US" sz="2400" smtClean="0"/>
              <a:t>)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3387323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1.1.1 Functions of Management</a:t>
            </a:r>
            <a:endParaRPr/>
          </a:p>
        </p:txBody>
      </p:sp>
      <p:sp>
        <p:nvSpPr>
          <p:cNvPr id="68" name="Google Shape;68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457200" marR="863600" lvl="0" indent="-342900" algn="just" rtl="0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Five managerial functions—planning, organizing, staffing, leading, and controlling—around which the knowledge that  underlies those functions can be organized.</a:t>
            </a:r>
            <a:endParaRPr>
              <a:solidFill>
                <a:schemeClr val="dk1"/>
              </a:solidFill>
            </a:endParaRPr>
          </a:p>
          <a:p>
            <a:pPr marL="457200" marR="8636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These functions are affected by external factors such as political, economic, social, technological, ethical, legal</a:t>
            </a:r>
            <a:endParaRPr>
              <a:solidFill>
                <a:schemeClr val="dk1"/>
              </a:solidFill>
            </a:endParaRPr>
          </a:p>
          <a:p>
            <a:pPr marL="457200" marR="8636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There are internal factors of strength and weakness that affects management functions</a:t>
            </a:r>
            <a:endParaRPr>
              <a:solidFill>
                <a:schemeClr val="dk1"/>
              </a:solidFill>
            </a:endParaRPr>
          </a:p>
          <a:p>
            <a:pPr marL="457200" marR="8636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Management is an essential for any organization or enterprise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1.1.1 Functions of Management</a:t>
            </a:r>
            <a:endParaRPr/>
          </a:p>
        </p:txBody>
      </p:sp>
      <p:sp>
        <p:nvSpPr>
          <p:cNvPr id="74" name="Google Shape;74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863600" lvl="0" indent="0" algn="just" rtl="0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75" name="Google Shape;75;p16"/>
          <p:cNvSpPr/>
          <p:nvPr/>
        </p:nvSpPr>
        <p:spPr>
          <a:xfrm>
            <a:off x="711100" y="1939125"/>
            <a:ext cx="1981800" cy="9834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Input Resources</a:t>
            </a:r>
            <a:endParaRPr/>
          </a:p>
        </p:txBody>
      </p:sp>
      <p:sp>
        <p:nvSpPr>
          <p:cNvPr id="76" name="Google Shape;76;p16"/>
          <p:cNvSpPr/>
          <p:nvPr/>
        </p:nvSpPr>
        <p:spPr>
          <a:xfrm>
            <a:off x="3692425" y="1939125"/>
            <a:ext cx="1981800" cy="9834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Management Process</a:t>
            </a:r>
            <a:endParaRPr/>
          </a:p>
        </p:txBody>
      </p:sp>
      <p:sp>
        <p:nvSpPr>
          <p:cNvPr id="77" name="Google Shape;77;p16"/>
          <p:cNvSpPr/>
          <p:nvPr/>
        </p:nvSpPr>
        <p:spPr>
          <a:xfrm>
            <a:off x="6673750" y="1939125"/>
            <a:ext cx="1981800" cy="9834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Output Objectives </a:t>
            </a:r>
            <a:endParaRPr/>
          </a:p>
        </p:txBody>
      </p:sp>
      <p:cxnSp>
        <p:nvCxnSpPr>
          <p:cNvPr id="78" name="Google Shape;78;p16"/>
          <p:cNvCxnSpPr>
            <a:stCxn id="76" idx="3"/>
            <a:endCxn id="77" idx="1"/>
          </p:cNvCxnSpPr>
          <p:nvPr/>
        </p:nvCxnSpPr>
        <p:spPr>
          <a:xfrm>
            <a:off x="5674225" y="2430825"/>
            <a:ext cx="99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9" name="Google Shape;79;p16"/>
          <p:cNvSpPr/>
          <p:nvPr/>
        </p:nvSpPr>
        <p:spPr>
          <a:xfrm>
            <a:off x="3798325" y="3390275"/>
            <a:ext cx="1770000" cy="9834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Feedback</a:t>
            </a:r>
            <a:endParaRPr/>
          </a:p>
        </p:txBody>
      </p:sp>
      <p:cxnSp>
        <p:nvCxnSpPr>
          <p:cNvPr id="80" name="Google Shape;80;p16"/>
          <p:cNvCxnSpPr>
            <a:stCxn id="75" idx="3"/>
            <a:endCxn id="76" idx="1"/>
          </p:cNvCxnSpPr>
          <p:nvPr/>
        </p:nvCxnSpPr>
        <p:spPr>
          <a:xfrm>
            <a:off x="2692900" y="2430825"/>
            <a:ext cx="99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1" name="Google Shape;81;p16"/>
          <p:cNvCxnSpPr>
            <a:stCxn id="77" idx="2"/>
            <a:endCxn id="79" idx="3"/>
          </p:cNvCxnSpPr>
          <p:nvPr/>
        </p:nvCxnSpPr>
        <p:spPr>
          <a:xfrm rot="5400000">
            <a:off x="6136750" y="2354025"/>
            <a:ext cx="959400" cy="2096400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2" name="Google Shape;82;p16"/>
          <p:cNvCxnSpPr>
            <a:endCxn id="75" idx="2"/>
          </p:cNvCxnSpPr>
          <p:nvPr/>
        </p:nvCxnSpPr>
        <p:spPr>
          <a:xfrm rot="10800000">
            <a:off x="1702000" y="2922525"/>
            <a:ext cx="2096400" cy="959400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>
            <a:spLocks noGrp="1"/>
          </p:cNvSpPr>
          <p:nvPr>
            <p:ph type="title"/>
          </p:nvPr>
        </p:nvSpPr>
        <p:spPr>
          <a:xfrm>
            <a:off x="311700" y="1717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1.1.2 Level and scope of management</a:t>
            </a:r>
            <a:endParaRPr/>
          </a:p>
        </p:txBody>
      </p:sp>
      <p:sp>
        <p:nvSpPr>
          <p:cNvPr id="88" name="Google Shape;88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89" name="Google Shape;8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252538"/>
            <a:ext cx="9144000" cy="3857625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7"/>
          <p:cNvSpPr txBox="1">
            <a:spLocks noGrp="1"/>
          </p:cNvSpPr>
          <p:nvPr>
            <p:ph type="title"/>
          </p:nvPr>
        </p:nvSpPr>
        <p:spPr>
          <a:xfrm>
            <a:off x="4052025" y="679850"/>
            <a:ext cx="4932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620"/>
              <a:t>Time Spent in Carrying out Managerial Functions</a:t>
            </a:r>
            <a:endParaRPr sz="162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>
            <a:spLocks noGrp="1"/>
          </p:cNvSpPr>
          <p:nvPr>
            <p:ph type="title"/>
          </p:nvPr>
        </p:nvSpPr>
        <p:spPr>
          <a:xfrm>
            <a:off x="311700" y="3273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1.1.2 Level and scope of management</a:t>
            </a:r>
            <a:endParaRPr/>
          </a:p>
        </p:txBody>
      </p:sp>
      <p:pic>
        <p:nvPicPr>
          <p:cNvPr id="96" name="Google Shape;9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472750"/>
            <a:ext cx="9018700" cy="352067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8"/>
          <p:cNvSpPr txBox="1"/>
          <p:nvPr/>
        </p:nvSpPr>
        <p:spPr>
          <a:xfrm>
            <a:off x="0" y="2816175"/>
            <a:ext cx="724800" cy="675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Middle level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8" name="Google Shape;98;p18"/>
          <p:cNvSpPr txBox="1"/>
          <p:nvPr/>
        </p:nvSpPr>
        <p:spPr>
          <a:xfrm>
            <a:off x="6784500" y="4921800"/>
            <a:ext cx="1864500" cy="112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99" name="Google Shape;99;p18"/>
          <p:cNvSpPr txBox="1">
            <a:spLocks noGrp="1"/>
          </p:cNvSpPr>
          <p:nvPr>
            <p:ph type="title"/>
          </p:nvPr>
        </p:nvSpPr>
        <p:spPr>
          <a:xfrm>
            <a:off x="5434325" y="900050"/>
            <a:ext cx="3584400" cy="43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20"/>
              <a:t>Skills and Managerial Levels</a:t>
            </a:r>
            <a:endParaRPr sz="1720"/>
          </a:p>
        </p:txBody>
      </p:sp>
      <p:sp>
        <p:nvSpPr>
          <p:cNvPr id="100" name="Google Shape;100;p18"/>
          <p:cNvSpPr txBox="1"/>
          <p:nvPr/>
        </p:nvSpPr>
        <p:spPr>
          <a:xfrm>
            <a:off x="0" y="4246500"/>
            <a:ext cx="724800" cy="675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Low  level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1.1.3 Principles of Management</a:t>
            </a:r>
            <a:endParaRPr/>
          </a:p>
        </p:txBody>
      </p:sp>
      <p:sp>
        <p:nvSpPr>
          <p:cNvPr id="106" name="Google Shape;106;p19"/>
          <p:cNvSpPr txBox="1">
            <a:spLocks noGrp="1"/>
          </p:cNvSpPr>
          <p:nvPr>
            <p:ph type="body" idx="1"/>
          </p:nvPr>
        </p:nvSpPr>
        <p:spPr>
          <a:xfrm>
            <a:off x="311700" y="924450"/>
            <a:ext cx="8520600" cy="408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Fundamentals truth of general guidelines with universal acceptance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Principles are evolving so manger’s need is to become adaptive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Some of the key principles are: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Management by Objectives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Division of work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Substitution of resources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Span of control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Unity of functions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Unity of command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Delegation of authority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Management by exception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Shortest Decision path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Evolution of Management Thought</a:t>
            </a:r>
            <a:endParaRPr/>
          </a:p>
        </p:txBody>
      </p:sp>
      <p:sp>
        <p:nvSpPr>
          <p:cNvPr id="112" name="Google Shape;112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chemeClr val="dk1"/>
                </a:solidFill>
              </a:rPr>
              <a:t>Learning Objectives:</a:t>
            </a:r>
            <a:endParaRPr b="1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Understand how management theories developed over time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Identify major contributors and their impact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Connect historical theories to modern engineering management practices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Classical Management Theories</a:t>
            </a:r>
            <a:endParaRPr/>
          </a:p>
        </p:txBody>
      </p:sp>
      <p:sp>
        <p:nvSpPr>
          <p:cNvPr id="118" name="Google Shape;118;p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1. Scientific Management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2. Modern Operational Management Theory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3. Behavioral Sciences Approach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4. Systems Theory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5. Modern Management Thinkers</a:t>
            </a:r>
            <a:endParaRPr sz="4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2"/>
          <p:cNvSpPr txBox="1">
            <a:spLocks noGrp="1"/>
          </p:cNvSpPr>
          <p:nvPr>
            <p:ph type="title"/>
          </p:nvPr>
        </p:nvSpPr>
        <p:spPr>
          <a:xfrm>
            <a:off x="311700" y="220000"/>
            <a:ext cx="3533187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Scientific Management</a:t>
            </a:r>
            <a:endParaRPr dirty="0"/>
          </a:p>
        </p:txBody>
      </p:sp>
      <p:sp>
        <p:nvSpPr>
          <p:cNvPr id="124" name="Google Shape;124;p22"/>
          <p:cNvSpPr txBox="1">
            <a:spLocks noGrp="1"/>
          </p:cNvSpPr>
          <p:nvPr>
            <p:ph type="body" idx="1"/>
          </p:nvPr>
        </p:nvSpPr>
        <p:spPr>
          <a:xfrm>
            <a:off x="311700" y="935200"/>
            <a:ext cx="4572000" cy="420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47500" lnSpcReduction="20000"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None/>
            </a:pPr>
            <a:endParaRPr lang="en" sz="3200" b="1" dirty="0" smtClean="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3200" b="1" dirty="0" smtClean="0">
                <a:solidFill>
                  <a:schemeClr val="dk1"/>
                </a:solidFill>
              </a:rPr>
              <a:t>Frederick </a:t>
            </a:r>
            <a:r>
              <a:rPr lang="en" sz="3200" b="1" dirty="0">
                <a:solidFill>
                  <a:schemeClr val="dk1"/>
                </a:solidFill>
              </a:rPr>
              <a:t>W. </a:t>
            </a:r>
            <a:r>
              <a:rPr lang="en" sz="3200" b="1" dirty="0" smtClean="0">
                <a:solidFill>
                  <a:schemeClr val="dk1"/>
                </a:solidFill>
              </a:rPr>
              <a:t>Taylor</a:t>
            </a:r>
            <a:endParaRPr sz="3200" b="1" dirty="0">
              <a:solidFill>
                <a:schemeClr val="dk1"/>
              </a:solidFill>
            </a:endParaRPr>
          </a:p>
          <a:p>
            <a:pPr marL="457200" marR="0" lvl="0" indent="-340360" algn="l" rtl="0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3200" dirty="0">
                <a:solidFill>
                  <a:schemeClr val="dk1"/>
                </a:solidFill>
              </a:rPr>
              <a:t>F</a:t>
            </a:r>
            <a:r>
              <a:rPr lang="en" sz="3250" dirty="0">
                <a:solidFill>
                  <a:schemeClr val="dk1"/>
                </a:solidFill>
              </a:rPr>
              <a:t>ather of Scientific Management</a:t>
            </a:r>
            <a:endParaRPr sz="3250" dirty="0">
              <a:solidFill>
                <a:schemeClr val="dk1"/>
              </a:solidFill>
            </a:endParaRPr>
          </a:p>
          <a:p>
            <a:pPr marL="457200" marR="0" lvl="0" indent="-342106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3250" dirty="0">
                <a:solidFill>
                  <a:schemeClr val="dk1"/>
                </a:solidFill>
              </a:rPr>
              <a:t>Works: Shop Management (1903), Principles of Scientific Management (1911)</a:t>
            </a:r>
            <a:endParaRPr sz="3250" dirty="0">
              <a:solidFill>
                <a:schemeClr val="dk1"/>
              </a:solidFill>
            </a:endParaRPr>
          </a:p>
          <a:p>
            <a:pPr marL="457200" marR="0" lvl="0" indent="-342106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3250" dirty="0">
                <a:solidFill>
                  <a:schemeClr val="dk1"/>
                </a:solidFill>
              </a:rPr>
              <a:t>Focused on efficiency, productivity, and incentive-based pay</a:t>
            </a:r>
            <a:endParaRPr sz="3250" dirty="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3200" b="1" dirty="0">
                <a:solidFill>
                  <a:schemeClr val="dk1"/>
                </a:solidFill>
              </a:rPr>
              <a:t>Henry L. Gantt:</a:t>
            </a:r>
            <a:endParaRPr sz="3200" dirty="0">
              <a:solidFill>
                <a:schemeClr val="dk1"/>
              </a:solidFill>
            </a:endParaRPr>
          </a:p>
          <a:p>
            <a:pPr marL="457200" marR="0" lvl="0" indent="-340360" algn="l" rtl="0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3200" dirty="0">
                <a:solidFill>
                  <a:schemeClr val="dk1"/>
                </a:solidFill>
              </a:rPr>
              <a:t>Developed Gantt Chart</a:t>
            </a:r>
            <a:endParaRPr sz="3200" dirty="0">
              <a:solidFill>
                <a:schemeClr val="dk1"/>
              </a:solidFill>
            </a:endParaRPr>
          </a:p>
          <a:p>
            <a:pPr marL="457200" marR="0" lvl="0" indent="-34036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3200" dirty="0">
                <a:solidFill>
                  <a:schemeClr val="dk1"/>
                </a:solidFill>
              </a:rPr>
              <a:t>Emphasized worker selection, cooperation, and training</a:t>
            </a:r>
            <a:endParaRPr dirty="0"/>
          </a:p>
        </p:txBody>
      </p:sp>
      <p:sp>
        <p:nvSpPr>
          <p:cNvPr id="125" name="Google Shape;125;p22"/>
          <p:cNvSpPr txBox="1">
            <a:spLocks noGrp="1"/>
          </p:cNvSpPr>
          <p:nvPr>
            <p:ph type="body" idx="1"/>
          </p:nvPr>
        </p:nvSpPr>
        <p:spPr>
          <a:xfrm>
            <a:off x="5258246" y="935200"/>
            <a:ext cx="3490285" cy="176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dk1"/>
                </a:solidFill>
              </a:rPr>
              <a:t>Frank &amp; Lillian Gilbreth:</a:t>
            </a:r>
            <a:endParaRPr b="1" dirty="0">
              <a:solidFill>
                <a:schemeClr val="dk1"/>
              </a:solidFill>
            </a:endParaRPr>
          </a:p>
          <a:p>
            <a:pPr marL="457200" lvl="0" indent="-334327" algn="l" rtl="0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dirty="0">
                <a:solidFill>
                  <a:schemeClr val="dk1"/>
                </a:solidFill>
              </a:rPr>
              <a:t>Time-and-motion studies</a:t>
            </a:r>
            <a:endParaRPr dirty="0">
              <a:solidFill>
                <a:schemeClr val="dk1"/>
              </a:solidFill>
            </a:endParaRPr>
          </a:p>
          <a:p>
            <a:pPr marL="457200" lvl="0" indent="-33432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dirty="0">
                <a:solidFill>
                  <a:schemeClr val="dk1"/>
                </a:solidFill>
              </a:rPr>
              <a:t>Lillian focused on psychology and human factors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  <p:sp>
        <p:nvSpPr>
          <p:cNvPr id="126" name="Google Shape;126;p22"/>
          <p:cNvSpPr txBox="1">
            <a:spLocks noGrp="1"/>
          </p:cNvSpPr>
          <p:nvPr>
            <p:ph type="body" idx="1"/>
          </p:nvPr>
        </p:nvSpPr>
        <p:spPr>
          <a:xfrm>
            <a:off x="5115025" y="2571750"/>
            <a:ext cx="3948600" cy="239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chemeClr val="dk1"/>
                </a:solidFill>
              </a:rPr>
              <a:t>Key Principles:</a:t>
            </a:r>
            <a:endParaRPr b="1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Efficiency through standardization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Clear division of labor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Scientific approach to management decisions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b="1">
              <a:solidFill>
                <a:schemeClr val="dk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3310" y="442995"/>
            <a:ext cx="1232753" cy="184240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3"/>
          <p:cNvSpPr txBox="1">
            <a:spLocks noGrp="1"/>
          </p:cNvSpPr>
          <p:nvPr>
            <p:ph type="title"/>
          </p:nvPr>
        </p:nvSpPr>
        <p:spPr>
          <a:xfrm>
            <a:off x="311700" y="2200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Modern Operational Management Theory</a:t>
            </a:r>
            <a:endParaRPr sz="2400"/>
          </a:p>
        </p:txBody>
      </p:sp>
      <p:sp>
        <p:nvSpPr>
          <p:cNvPr id="132" name="Google Shape;132;p23"/>
          <p:cNvSpPr txBox="1">
            <a:spLocks noGrp="1"/>
          </p:cNvSpPr>
          <p:nvPr>
            <p:ph type="body" idx="1"/>
          </p:nvPr>
        </p:nvSpPr>
        <p:spPr>
          <a:xfrm>
            <a:off x="311700" y="792700"/>
            <a:ext cx="4572000" cy="363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dk1"/>
                </a:solidFill>
              </a:rPr>
              <a:t>Henri Fayol:</a:t>
            </a:r>
            <a:endParaRPr b="1" dirty="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dirty="0">
                <a:solidFill>
                  <a:schemeClr val="dk1"/>
                </a:solidFill>
              </a:rPr>
              <a:t>Father of modern management theory</a:t>
            </a:r>
            <a:endParaRPr dirty="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dirty="0">
                <a:solidFill>
                  <a:schemeClr val="dk1"/>
                </a:solidFill>
              </a:rPr>
              <a:t>Work: Administration Industrielle et Générale (1916)</a:t>
            </a:r>
            <a:endParaRPr dirty="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dirty="0">
                <a:solidFill>
                  <a:schemeClr val="dk1"/>
                </a:solidFill>
              </a:rPr>
              <a:t>Identified 6 groups of industrial activities</a:t>
            </a:r>
            <a:endParaRPr dirty="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dirty="0">
                <a:solidFill>
                  <a:schemeClr val="dk1"/>
                </a:solidFill>
              </a:rPr>
              <a:t>Proposed 14 principles of management </a:t>
            </a:r>
            <a:endParaRPr b="1" dirty="0">
              <a:solidFill>
                <a:schemeClr val="dk1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169446" y="1915652"/>
            <a:ext cx="297455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342900">
              <a:lnSpc>
                <a:spcPct val="150000"/>
              </a:lnSpc>
              <a:buClr>
                <a:schemeClr val="dk1"/>
              </a:buClr>
              <a:buSzPts val="1800"/>
              <a:buFont typeface="+mj-lt"/>
              <a:buAutoNum type="arabicPeriod"/>
            </a:pPr>
            <a:r>
              <a:rPr lang="en-US" sz="1800" dirty="0">
                <a:solidFill>
                  <a:schemeClr val="dk1"/>
                </a:solidFill>
              </a:rPr>
              <a:t>Technical</a:t>
            </a:r>
          </a:p>
          <a:p>
            <a:pPr marL="457200" indent="-342900">
              <a:lnSpc>
                <a:spcPct val="150000"/>
              </a:lnSpc>
              <a:buClr>
                <a:schemeClr val="dk1"/>
              </a:buClr>
              <a:buSzPts val="1800"/>
              <a:buFont typeface="+mj-lt"/>
              <a:buAutoNum type="arabicPeriod"/>
            </a:pPr>
            <a:r>
              <a:rPr lang="en-US" sz="1800" dirty="0">
                <a:solidFill>
                  <a:schemeClr val="dk1"/>
                </a:solidFill>
              </a:rPr>
              <a:t>Commercial</a:t>
            </a:r>
          </a:p>
          <a:p>
            <a:pPr marL="457200" indent="-342900">
              <a:lnSpc>
                <a:spcPct val="150000"/>
              </a:lnSpc>
              <a:buClr>
                <a:schemeClr val="dk1"/>
              </a:buClr>
              <a:buSzPts val="1800"/>
              <a:buFont typeface="+mj-lt"/>
              <a:buAutoNum type="arabicPeriod"/>
            </a:pPr>
            <a:r>
              <a:rPr lang="en-US" sz="1800" dirty="0">
                <a:solidFill>
                  <a:schemeClr val="dk1"/>
                </a:solidFill>
              </a:rPr>
              <a:t>Financial</a:t>
            </a:r>
          </a:p>
          <a:p>
            <a:pPr marL="457200" indent="-342900">
              <a:lnSpc>
                <a:spcPct val="150000"/>
              </a:lnSpc>
              <a:buClr>
                <a:schemeClr val="dk1"/>
              </a:buClr>
              <a:buSzPts val="1800"/>
              <a:buFont typeface="+mj-lt"/>
              <a:buAutoNum type="arabicPeriod"/>
            </a:pPr>
            <a:r>
              <a:rPr lang="en-US" sz="1800" dirty="0">
                <a:solidFill>
                  <a:schemeClr val="dk1"/>
                </a:solidFill>
              </a:rPr>
              <a:t>Security</a:t>
            </a:r>
          </a:p>
          <a:p>
            <a:pPr marL="457200" indent="-342900">
              <a:lnSpc>
                <a:spcPct val="150000"/>
              </a:lnSpc>
              <a:buClr>
                <a:schemeClr val="dk1"/>
              </a:buClr>
              <a:buSzPts val="1800"/>
              <a:buFont typeface="+mj-lt"/>
              <a:buAutoNum type="arabicPeriod"/>
            </a:pPr>
            <a:r>
              <a:rPr lang="en-US" sz="1800" dirty="0">
                <a:solidFill>
                  <a:schemeClr val="dk1"/>
                </a:solidFill>
              </a:rPr>
              <a:t>Accounting</a:t>
            </a:r>
          </a:p>
          <a:p>
            <a:pPr marL="457200" indent="-342900">
              <a:lnSpc>
                <a:spcPct val="150000"/>
              </a:lnSpc>
              <a:buClr>
                <a:schemeClr val="dk1"/>
              </a:buClr>
              <a:buSzPts val="1800"/>
              <a:buFont typeface="+mj-lt"/>
              <a:buAutoNum type="arabicPeriod"/>
            </a:pPr>
            <a:r>
              <a:rPr lang="en-US" sz="1800" dirty="0">
                <a:solidFill>
                  <a:schemeClr val="dk1"/>
                </a:solidFill>
              </a:rPr>
              <a:t>Managerial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7" name="Google Shape;137;p24"/>
          <p:cNvGraphicFramePr/>
          <p:nvPr/>
        </p:nvGraphicFramePr>
        <p:xfrm>
          <a:off x="393500" y="173713"/>
          <a:ext cx="8659375" cy="4778930"/>
        </p:xfrm>
        <a:graphic>
          <a:graphicData uri="http://schemas.openxmlformats.org/drawingml/2006/table">
            <a:tbl>
              <a:tblPr>
                <a:noFill/>
                <a:tableStyleId>{8DACC882-6FC1-4CDB-86AF-204BC0BF8607}</a:tableStyleId>
              </a:tblPr>
              <a:tblGrid>
                <a:gridCol w="664875"/>
                <a:gridCol w="2074575"/>
                <a:gridCol w="5919925"/>
              </a:tblGrid>
              <a:tr h="7142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/>
                        <a:t>No.</a:t>
                      </a:r>
                      <a:endParaRPr sz="18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/>
                        <a:t>Principle</a:t>
                      </a:r>
                      <a:endParaRPr sz="18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/>
                        <a:t>Brief Description</a:t>
                      </a:r>
                      <a:endParaRPr sz="1800" b="1"/>
                    </a:p>
                  </a:txBody>
                  <a:tcPr marL="91425" marR="91425" marT="91425" marB="91425"/>
                </a:tc>
              </a:tr>
              <a:tr h="4502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</a:t>
                      </a:r>
                      <a:endParaRPr sz="18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Division of Work</a:t>
                      </a:r>
                      <a:endParaRPr sz="18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Specialization boosts efficiency and productivity.</a:t>
                      </a:r>
                      <a:endParaRPr sz="1800"/>
                    </a:p>
                  </a:txBody>
                  <a:tcPr marL="91425" marR="91425" marT="91425" marB="91425"/>
                </a:tc>
              </a:tr>
              <a:tr h="498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2</a:t>
                      </a:r>
                      <a:endParaRPr sz="18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Authority</a:t>
                      </a:r>
                      <a:endParaRPr sz="18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Right to give orders with accountability for outcomes.</a:t>
                      </a:r>
                      <a:endParaRPr sz="1800"/>
                    </a:p>
                  </a:txBody>
                  <a:tcPr marL="91425" marR="91425" marT="91425" marB="91425"/>
                </a:tc>
              </a:tr>
              <a:tr h="4502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3</a:t>
                      </a:r>
                      <a:endParaRPr sz="18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Discipline</a:t>
                      </a:r>
                      <a:endParaRPr sz="18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Adherence to rules and respect for agreements.</a:t>
                      </a:r>
                      <a:endParaRPr sz="1800"/>
                    </a:p>
                  </a:txBody>
                  <a:tcPr marL="91425" marR="91425" marT="91425" marB="91425"/>
                </a:tc>
              </a:tr>
              <a:tr h="7212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4</a:t>
                      </a:r>
                      <a:endParaRPr sz="18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Unity of Command</a:t>
                      </a:r>
                      <a:endParaRPr sz="18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Each worker should have only one direct supervisor.</a:t>
                      </a:r>
                      <a:endParaRPr sz="1800"/>
                    </a:p>
                  </a:txBody>
                  <a:tcPr marL="91425" marR="91425" marT="91425" marB="91425"/>
                </a:tc>
              </a:tr>
              <a:tr h="7212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5</a:t>
                      </a:r>
                      <a:endParaRPr sz="18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Unity of Direction</a:t>
                      </a:r>
                      <a:endParaRPr sz="18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One leader, one plan for activities with the same objective.</a:t>
                      </a:r>
                      <a:endParaRPr sz="1800"/>
                    </a:p>
                  </a:txBody>
                  <a:tcPr marL="91425" marR="91425" marT="91425" marB="91425"/>
                </a:tc>
              </a:tr>
              <a:tr h="7212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6</a:t>
                      </a:r>
                      <a:endParaRPr sz="18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Subordination of Interest</a:t>
                      </a:r>
                      <a:endParaRPr sz="18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Organization’s interests take precedence over individual interests.</a:t>
                      </a:r>
                      <a:endParaRPr sz="1800"/>
                    </a:p>
                  </a:txBody>
                  <a:tcPr marL="91425" marR="91425" marT="91425" marB="91425"/>
                </a:tc>
              </a:tr>
              <a:tr h="4502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7</a:t>
                      </a:r>
                      <a:endParaRPr sz="18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Remuneration</a:t>
                      </a:r>
                      <a:endParaRPr sz="18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Fair and satisfactory payment for work performed.</a:t>
                      </a:r>
                      <a:endParaRPr sz="1800"/>
                    </a:p>
                  </a:txBody>
                  <a:tcPr marL="91425" marR="91425" marT="91425" marB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2" name="Google Shape;142;p25"/>
          <p:cNvGraphicFramePr/>
          <p:nvPr/>
        </p:nvGraphicFramePr>
        <p:xfrm>
          <a:off x="393500" y="173713"/>
          <a:ext cx="8659375" cy="4827053"/>
        </p:xfrm>
        <a:graphic>
          <a:graphicData uri="http://schemas.openxmlformats.org/drawingml/2006/table">
            <a:tbl>
              <a:tblPr>
                <a:noFill/>
                <a:tableStyleId>{8DACC882-6FC1-4CDB-86AF-204BC0BF8607}</a:tableStyleId>
              </a:tblPr>
              <a:tblGrid>
                <a:gridCol w="488075"/>
                <a:gridCol w="1929900"/>
                <a:gridCol w="6241400"/>
              </a:tblGrid>
              <a:tr h="4410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/>
                        <a:t>No</a:t>
                      </a:r>
                      <a:endParaRPr sz="18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/>
                        <a:t>Principle</a:t>
                      </a:r>
                      <a:endParaRPr sz="18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/>
                        <a:t>Brief Description</a:t>
                      </a:r>
                      <a:endParaRPr sz="1800" b="1"/>
                    </a:p>
                  </a:txBody>
                  <a:tcPr marL="91425" marR="91425" marT="91425" marB="91425"/>
                </a:tc>
              </a:tr>
              <a:tr h="4502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8</a:t>
                      </a:r>
                      <a:endParaRPr sz="18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Centralization</a:t>
                      </a:r>
                      <a:endParaRPr sz="18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Balance authority between top and lower levels of the organization.</a:t>
                      </a:r>
                      <a:endParaRPr sz="1800"/>
                    </a:p>
                  </a:txBody>
                  <a:tcPr marL="91425" marR="91425" marT="91425" marB="91425"/>
                </a:tc>
              </a:tr>
              <a:tr h="498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9</a:t>
                      </a:r>
                      <a:endParaRPr sz="18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Scalar Chain</a:t>
                      </a:r>
                      <a:endParaRPr sz="18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Clear line of authority from top to bottom (hierarchy).</a:t>
                      </a:r>
                      <a:endParaRPr sz="1800"/>
                    </a:p>
                  </a:txBody>
                  <a:tcPr marL="91425" marR="91425" marT="91425" marB="91425"/>
                </a:tc>
              </a:tr>
              <a:tr h="4502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10</a:t>
                      </a:r>
                      <a:endParaRPr sz="18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Order</a:t>
                      </a:r>
                      <a:endParaRPr sz="18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Right people and materials in right place at right time.</a:t>
                      </a:r>
                      <a:endParaRPr sz="1800"/>
                    </a:p>
                  </a:txBody>
                  <a:tcPr marL="91425" marR="91425" marT="91425" marB="91425"/>
                </a:tc>
              </a:tr>
              <a:tr h="7212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11</a:t>
                      </a:r>
                      <a:endParaRPr sz="18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Equity</a:t>
                      </a:r>
                      <a:endParaRPr sz="18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Fairness, kindness, and justice in treatment of employees.</a:t>
                      </a:r>
                      <a:endParaRPr sz="1800"/>
                    </a:p>
                  </a:txBody>
                  <a:tcPr marL="91425" marR="91425" marT="91425" marB="91425"/>
                </a:tc>
              </a:tr>
              <a:tr h="7212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12</a:t>
                      </a:r>
                      <a:endParaRPr sz="18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Stability of Tenure</a:t>
                      </a:r>
                      <a:endParaRPr sz="18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Long-term employment promotes efficiency and loyalty.</a:t>
                      </a:r>
                      <a:endParaRPr sz="1800"/>
                    </a:p>
                  </a:txBody>
                  <a:tcPr marL="91425" marR="91425" marT="91425" marB="91425"/>
                </a:tc>
              </a:tr>
              <a:tr h="7212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13</a:t>
                      </a:r>
                      <a:endParaRPr sz="18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Initiative</a:t>
                      </a:r>
                      <a:endParaRPr sz="18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Encourage employees to take initiative and contribute ideas.</a:t>
                      </a:r>
                      <a:endParaRPr sz="1800"/>
                    </a:p>
                  </a:txBody>
                  <a:tcPr marL="91425" marR="91425" marT="91425" marB="91425"/>
                </a:tc>
              </a:tr>
              <a:tr h="4502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14</a:t>
                      </a:r>
                      <a:endParaRPr sz="18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Esprit de Corps</a:t>
                      </a:r>
                      <a:endParaRPr sz="18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Foster morale, harmony, and team spirit among staff.</a:t>
                      </a:r>
                      <a:endParaRPr sz="1800"/>
                    </a:p>
                  </a:txBody>
                  <a:tcPr marL="91425" marR="91425" marT="91425" marB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Behavioral Sciences Approach</a:t>
            </a:r>
            <a:endParaRPr sz="2400"/>
          </a:p>
        </p:txBody>
      </p:sp>
      <p:sp>
        <p:nvSpPr>
          <p:cNvPr id="148" name="Google Shape;148;p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chemeClr val="dk1"/>
                </a:solidFill>
              </a:rPr>
              <a:t>Hugo Münsterberg:</a:t>
            </a:r>
            <a:endParaRPr b="1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Applied psychology to industry and management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chemeClr val="dk1"/>
                </a:solidFill>
              </a:rPr>
              <a:t>Walter Dill Scott:</a:t>
            </a:r>
            <a:endParaRPr b="1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Applied psychology to advertising and personnel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chemeClr val="dk1"/>
                </a:solidFill>
              </a:rPr>
              <a:t>Elton Mayo &amp; F. J. Roethlisberger:</a:t>
            </a:r>
            <a:endParaRPr b="1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Hawthorne Studies: Social relationships influence performance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149" name="Google Shape;149;p26"/>
          <p:cNvSpPr txBox="1">
            <a:spLocks noGrp="1"/>
          </p:cNvSpPr>
          <p:nvPr>
            <p:ph type="body" idx="1"/>
          </p:nvPr>
        </p:nvSpPr>
        <p:spPr>
          <a:xfrm>
            <a:off x="5002475" y="1015775"/>
            <a:ext cx="4260300" cy="381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</a:rPr>
              <a:t>Chester Barnard:</a:t>
            </a:r>
            <a:endParaRPr b="1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The Functions of the Executive (1938)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Emphasized communication and cooperation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</a:rPr>
              <a:t>Max Weber:</a:t>
            </a:r>
            <a:endParaRPr b="1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Developed theory of bureaucracy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</a:rPr>
              <a:t>Vilfredo Pareto:</a:t>
            </a:r>
            <a:endParaRPr b="1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Pareto Principle; sociological contributions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Systems Theory Approach</a:t>
            </a:r>
            <a:endParaRPr sz="2400"/>
          </a:p>
        </p:txBody>
      </p:sp>
      <p:sp>
        <p:nvSpPr>
          <p:cNvPr id="155" name="Google Shape;155;p2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55600" algn="l" rtl="0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Management as a cooperative system</a:t>
            </a:r>
            <a:endParaRPr sz="2000">
              <a:solidFill>
                <a:schemeClr val="dk1"/>
              </a:solidFill>
            </a:endParaRPr>
          </a:p>
          <a:p>
            <a:pPr marL="914400" lvl="1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Emphasizes relationships among subsystems</a:t>
            </a:r>
            <a:endParaRPr sz="1800">
              <a:solidFill>
                <a:schemeClr val="dk1"/>
              </a:solidFill>
            </a:endParaRPr>
          </a:p>
          <a:p>
            <a:pPr marL="914400" lvl="1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Focus on organization as a whole</a:t>
            </a:r>
            <a:endParaRPr sz="1800">
              <a:solidFill>
                <a:schemeClr val="dk1"/>
              </a:solidFill>
            </a:endParaRPr>
          </a:p>
          <a:p>
            <a:pPr marL="914400" lvl="1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Supports social systems approach to managing</a:t>
            </a:r>
            <a:endParaRPr sz="180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Modern Management Thinkers</a:t>
            </a:r>
            <a:endParaRPr sz="2400"/>
          </a:p>
        </p:txBody>
      </p:sp>
      <p:sp>
        <p:nvSpPr>
          <p:cNvPr id="161" name="Google Shape;161;p28"/>
          <p:cNvSpPr txBox="1">
            <a:spLocks noGrp="1"/>
          </p:cNvSpPr>
          <p:nvPr>
            <p:ph type="body" idx="1"/>
          </p:nvPr>
        </p:nvSpPr>
        <p:spPr>
          <a:xfrm>
            <a:off x="4735200" y="1137350"/>
            <a:ext cx="42711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chemeClr val="dk1"/>
                </a:solidFill>
              </a:rPr>
              <a:t>William Ouchi (1981):</a:t>
            </a:r>
            <a:endParaRPr b="1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Theory Z (Japanese-American hybrid)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chemeClr val="dk1"/>
                </a:solidFill>
              </a:rPr>
              <a:t>Peters &amp; Waterman (1982):</a:t>
            </a:r>
            <a:endParaRPr b="1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In Search of Excellence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Characteristics of successful companies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162" name="Google Shape;162;p28"/>
          <p:cNvSpPr txBox="1">
            <a:spLocks noGrp="1"/>
          </p:cNvSpPr>
          <p:nvPr>
            <p:ph type="body" idx="1"/>
          </p:nvPr>
        </p:nvSpPr>
        <p:spPr>
          <a:xfrm>
            <a:off x="464100" y="1304875"/>
            <a:ext cx="42711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</a:rPr>
              <a:t>Peter Drucker (1974):</a:t>
            </a:r>
            <a:endParaRPr b="1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Decentralization, innovation, effectiveness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</a:rPr>
              <a:t>W. Edwards Deming:</a:t>
            </a:r>
            <a:endParaRPr b="1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Quality control, continuous improvement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</a:rPr>
              <a:t>Laurence Peter (1969):</a:t>
            </a:r>
            <a:endParaRPr b="1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Peter Principle (incompetence at highest position)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758" y="204457"/>
            <a:ext cx="6868484" cy="4734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607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981" y="429659"/>
            <a:ext cx="8341594" cy="4329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443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171" y="198305"/>
            <a:ext cx="7956142" cy="4814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8772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995" y="47272"/>
            <a:ext cx="6878010" cy="5048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244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600" y="804616"/>
            <a:ext cx="6982799" cy="3534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983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705" y="985616"/>
            <a:ext cx="6906589" cy="3172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660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3969" y="85378"/>
            <a:ext cx="6716062" cy="4972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7072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813" y="264406"/>
            <a:ext cx="7270863" cy="183316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21" y="2212277"/>
            <a:ext cx="7344499" cy="2513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900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132" y="837282"/>
            <a:ext cx="8298061" cy="3635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319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725" y="335262"/>
            <a:ext cx="8147225" cy="4446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1714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1.2 Organization</a:t>
            </a:r>
            <a:endParaRPr/>
          </a:p>
        </p:txBody>
      </p:sp>
      <p:sp>
        <p:nvSpPr>
          <p:cNvPr id="168" name="Google Shape;168;p2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Organization is a localized intentional structure of roles or problems</a:t>
            </a:r>
            <a:endParaRPr>
              <a:solidFill>
                <a:srgbClr val="000000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result of organizing is organization</a:t>
            </a:r>
            <a:endParaRPr>
              <a:solidFill>
                <a:srgbClr val="000000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Organizing involves:</a:t>
            </a:r>
            <a:endParaRPr>
              <a:solidFill>
                <a:srgbClr val="000000"/>
              </a:solidFill>
            </a:endParaRPr>
          </a:p>
          <a:p>
            <a:pPr marL="914400" lvl="1" indent="-342900" algn="just" rtl="0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</a:pPr>
            <a:r>
              <a:rPr lang="en" sz="1800">
                <a:solidFill>
                  <a:srgbClr val="000000"/>
                </a:solidFill>
              </a:rPr>
              <a:t>the identification and classification of required activities</a:t>
            </a:r>
            <a:endParaRPr sz="1800">
              <a:solidFill>
                <a:srgbClr val="000000"/>
              </a:solidFill>
            </a:endParaRPr>
          </a:p>
          <a:p>
            <a:pPr marL="914400" lvl="1" indent="-342900" algn="just" rtl="0">
              <a:lnSpc>
                <a:spcPct val="1090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</a:pPr>
            <a:r>
              <a:rPr lang="en" sz="1800">
                <a:solidFill>
                  <a:srgbClr val="000000"/>
                </a:solidFill>
              </a:rPr>
              <a:t> the grouping of activities necessary for attaining objectives</a:t>
            </a:r>
            <a:endParaRPr sz="1800">
              <a:solidFill>
                <a:srgbClr val="000000"/>
              </a:solidFill>
            </a:endParaRPr>
          </a:p>
          <a:p>
            <a:pPr marL="914400" lvl="1" indent="-342900" algn="just" rtl="0">
              <a:lnSpc>
                <a:spcPct val="1090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</a:pPr>
            <a:r>
              <a:rPr lang="en" sz="1800">
                <a:solidFill>
                  <a:srgbClr val="000000"/>
                </a:solidFill>
              </a:rPr>
              <a:t>the assignment of each group to a manager with the authority (delegation) necessary to supervise it</a:t>
            </a:r>
            <a:endParaRPr sz="1800">
              <a:solidFill>
                <a:srgbClr val="000000"/>
              </a:solidFill>
            </a:endParaRPr>
          </a:p>
          <a:p>
            <a:pPr marL="914400" lvl="1" indent="-342900" algn="just" rtl="0">
              <a:lnSpc>
                <a:spcPct val="1090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</a:pPr>
            <a:r>
              <a:rPr lang="en" sz="1800">
                <a:solidFill>
                  <a:srgbClr val="000000"/>
                </a:solidFill>
              </a:rPr>
              <a:t>the provision for coordination horizontally (on the same or a similar organizational level) and vertically (e.g., between corporate headquarters, division, and department) in the organization structure</a:t>
            </a:r>
            <a:endParaRPr sz="180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Principles of organizing</a:t>
            </a:r>
            <a:endParaRPr/>
          </a:p>
        </p:txBody>
      </p:sp>
      <p:sp>
        <p:nvSpPr>
          <p:cNvPr id="174" name="Google Shape;174;p3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Clarity about objectives</a:t>
            </a:r>
            <a:endParaRPr>
              <a:solidFill>
                <a:srgbClr val="000000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Division of work</a:t>
            </a:r>
            <a:endParaRPr>
              <a:solidFill>
                <a:srgbClr val="000000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Unity of command</a:t>
            </a:r>
            <a:endParaRPr>
              <a:solidFill>
                <a:srgbClr val="000000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Scalar chain</a:t>
            </a:r>
            <a:endParaRPr>
              <a:solidFill>
                <a:srgbClr val="000000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Span of control</a:t>
            </a:r>
            <a:endParaRPr>
              <a:solidFill>
                <a:srgbClr val="000000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Departmentation</a:t>
            </a:r>
            <a:endParaRPr>
              <a:solidFill>
                <a:srgbClr val="000000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Decentralization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75" name="Google Shape;175;p30"/>
          <p:cNvSpPr txBox="1">
            <a:spLocks noGrp="1"/>
          </p:cNvSpPr>
          <p:nvPr>
            <p:ph type="body" idx="1"/>
          </p:nvPr>
        </p:nvSpPr>
        <p:spPr>
          <a:xfrm>
            <a:off x="4730175" y="1274600"/>
            <a:ext cx="42603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Separation of line and staff functions</a:t>
            </a:r>
            <a:endParaRPr>
              <a:solidFill>
                <a:srgbClr val="000000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Authority and Responsibility</a:t>
            </a:r>
            <a:endParaRPr>
              <a:solidFill>
                <a:srgbClr val="000000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Simplicity</a:t>
            </a:r>
            <a:endParaRPr>
              <a:solidFill>
                <a:srgbClr val="000000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Flexibility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1.2.1 Characteristics of Organization</a:t>
            </a:r>
            <a:endParaRPr/>
          </a:p>
        </p:txBody>
      </p:sp>
      <p:sp>
        <p:nvSpPr>
          <p:cNvPr id="181" name="Google Shape;181;p31"/>
          <p:cNvSpPr txBox="1">
            <a:spLocks noGrp="1"/>
          </p:cNvSpPr>
          <p:nvPr>
            <p:ph type="body" idx="1"/>
          </p:nvPr>
        </p:nvSpPr>
        <p:spPr>
          <a:xfrm>
            <a:off x="311700" y="116762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>
              <a:solidFill>
                <a:srgbClr val="000000"/>
              </a:solidFill>
            </a:endParaRPr>
          </a:p>
        </p:txBody>
      </p:sp>
      <p:sp>
        <p:nvSpPr>
          <p:cNvPr id="182" name="Google Shape;182;p31"/>
          <p:cNvSpPr/>
          <p:nvPr/>
        </p:nvSpPr>
        <p:spPr>
          <a:xfrm>
            <a:off x="1587450" y="2802750"/>
            <a:ext cx="2450700" cy="1770000"/>
          </a:xfrm>
          <a:prstGeom prst="ellipse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Deliberate Structure</a:t>
            </a:r>
            <a:endParaRPr sz="1800"/>
          </a:p>
        </p:txBody>
      </p:sp>
      <p:sp>
        <p:nvSpPr>
          <p:cNvPr id="183" name="Google Shape;183;p31"/>
          <p:cNvSpPr/>
          <p:nvPr/>
        </p:nvSpPr>
        <p:spPr>
          <a:xfrm>
            <a:off x="3689850" y="2800350"/>
            <a:ext cx="2526300" cy="1622400"/>
          </a:xfrm>
          <a:prstGeom prst="ellipse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People</a:t>
            </a:r>
            <a:endParaRPr sz="1800"/>
          </a:p>
        </p:txBody>
      </p:sp>
      <p:sp>
        <p:nvSpPr>
          <p:cNvPr id="184" name="Google Shape;184;p31"/>
          <p:cNvSpPr/>
          <p:nvPr/>
        </p:nvSpPr>
        <p:spPr>
          <a:xfrm>
            <a:off x="2725375" y="1414450"/>
            <a:ext cx="2297100" cy="1770000"/>
          </a:xfrm>
          <a:prstGeom prst="ellipse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Distinct Purpose</a:t>
            </a:r>
            <a:endParaRPr sz="1800"/>
          </a:p>
        </p:txBody>
      </p:sp>
      <p:sp>
        <p:nvSpPr>
          <p:cNvPr id="185" name="Google Shape;185;p31"/>
          <p:cNvSpPr txBox="1"/>
          <p:nvPr/>
        </p:nvSpPr>
        <p:spPr>
          <a:xfrm>
            <a:off x="6565650" y="3692850"/>
            <a:ext cx="2057400" cy="5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i="1">
                <a:solidFill>
                  <a:schemeClr val="dk2"/>
                </a:solidFill>
              </a:rPr>
              <a:t>Source: Robbins</a:t>
            </a:r>
            <a:endParaRPr sz="1300" i="1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000000"/>
                </a:solidFill>
              </a:rPr>
              <a:t>Eight characteristics of excellent enterprises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91" name="Google Shape;191;p32"/>
          <p:cNvSpPr txBox="1">
            <a:spLocks noGrp="1"/>
          </p:cNvSpPr>
          <p:nvPr>
            <p:ph type="body" idx="1"/>
          </p:nvPr>
        </p:nvSpPr>
        <p:spPr>
          <a:xfrm>
            <a:off x="311700" y="1015550"/>
            <a:ext cx="8520600" cy="372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AutoNum type="arabicPeriod"/>
            </a:pPr>
            <a:r>
              <a:rPr lang="en">
                <a:solidFill>
                  <a:srgbClr val="000000"/>
                </a:solidFill>
              </a:rPr>
              <a:t>were oriented toward action</a:t>
            </a:r>
            <a:endParaRPr>
              <a:solidFill>
                <a:srgbClr val="000000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AutoNum type="arabicPeriod"/>
            </a:pPr>
            <a:r>
              <a:rPr lang="en">
                <a:solidFill>
                  <a:srgbClr val="000000"/>
                </a:solidFill>
              </a:rPr>
              <a:t>learned about the needs of their customers</a:t>
            </a:r>
            <a:endParaRPr>
              <a:solidFill>
                <a:srgbClr val="000000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AutoNum type="arabicPeriod"/>
            </a:pPr>
            <a:r>
              <a:rPr lang="en">
                <a:solidFill>
                  <a:srgbClr val="000000"/>
                </a:solidFill>
              </a:rPr>
              <a:t>promoted managerial autonomy and entrepreneurship</a:t>
            </a:r>
            <a:endParaRPr>
              <a:solidFill>
                <a:srgbClr val="000000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AutoNum type="arabicPeriod"/>
            </a:pPr>
            <a:r>
              <a:rPr lang="en">
                <a:solidFill>
                  <a:srgbClr val="000000"/>
                </a:solidFill>
              </a:rPr>
              <a:t>achieved productivity by paying close attention to the needs of their people</a:t>
            </a:r>
            <a:endParaRPr>
              <a:solidFill>
                <a:srgbClr val="000000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AutoNum type="arabicPeriod"/>
            </a:pPr>
            <a:r>
              <a:rPr lang="en">
                <a:solidFill>
                  <a:srgbClr val="000000"/>
                </a:solidFill>
              </a:rPr>
              <a:t>were driven by a company philosophy often based on the values of their leaders</a:t>
            </a:r>
            <a:endParaRPr>
              <a:solidFill>
                <a:srgbClr val="000000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AutoNum type="arabicPeriod"/>
            </a:pPr>
            <a:r>
              <a:rPr lang="en">
                <a:solidFill>
                  <a:srgbClr val="000000"/>
                </a:solidFill>
              </a:rPr>
              <a:t>focused on the business they knew best</a:t>
            </a:r>
            <a:endParaRPr>
              <a:solidFill>
                <a:srgbClr val="000000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AutoNum type="arabicPeriod"/>
            </a:pPr>
            <a:r>
              <a:rPr lang="en">
                <a:solidFill>
                  <a:srgbClr val="000000"/>
                </a:solidFill>
              </a:rPr>
              <a:t>had a simple organization structure with a lean staff</a:t>
            </a:r>
            <a:endParaRPr>
              <a:solidFill>
                <a:srgbClr val="000000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AutoNum type="arabicPeriod"/>
            </a:pPr>
            <a:r>
              <a:rPr lang="en">
                <a:solidFill>
                  <a:srgbClr val="000000"/>
                </a:solidFill>
              </a:rPr>
              <a:t>were centralized as well as decentralized, depending on appropriateness 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3"/>
          <p:cNvSpPr txBox="1">
            <a:spLocks noGrp="1"/>
          </p:cNvSpPr>
          <p:nvPr>
            <p:ph type="title"/>
          </p:nvPr>
        </p:nvSpPr>
        <p:spPr>
          <a:xfrm>
            <a:off x="311700" y="292625"/>
            <a:ext cx="8520600" cy="91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1.2.2 Types of organization: formal and informal organizations, virtual organization</a:t>
            </a:r>
            <a:endParaRPr/>
          </a:p>
        </p:txBody>
      </p:sp>
      <p:pic>
        <p:nvPicPr>
          <p:cNvPr id="197" name="Google Shape;197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1975" y="1704975"/>
            <a:ext cx="7867650" cy="2952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Informal Organization</a:t>
            </a:r>
            <a:endParaRPr/>
          </a:p>
        </p:txBody>
      </p:sp>
      <p:sp>
        <p:nvSpPr>
          <p:cNvPr id="203" name="Google Shape;203;p3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457200" lvl="0" indent="-342900" algn="just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informal organization is a network of interpersonal relationships that arise when people associate with each other</a:t>
            </a:r>
            <a:endParaRPr>
              <a:solidFill>
                <a:srgbClr val="000000"/>
              </a:solidFill>
            </a:endParaRPr>
          </a:p>
          <a:p>
            <a:pPr marL="4572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Thus, informal organizations relationships not appearing on an organization chart might include:</a:t>
            </a:r>
            <a:endParaRPr>
              <a:solidFill>
                <a:srgbClr val="000000"/>
              </a:solidFill>
            </a:endParaRPr>
          </a:p>
          <a:p>
            <a:pPr marL="914400" lvl="1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</a:pPr>
            <a:r>
              <a:rPr lang="en" sz="1800">
                <a:solidFill>
                  <a:srgbClr val="000000"/>
                </a:solidFill>
              </a:rPr>
              <a:t>the machine shop group, </a:t>
            </a:r>
            <a:endParaRPr sz="1800">
              <a:solidFill>
                <a:srgbClr val="000000"/>
              </a:solidFill>
            </a:endParaRPr>
          </a:p>
          <a:p>
            <a:pPr marL="914400" lvl="1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</a:pPr>
            <a:r>
              <a:rPr lang="en" sz="1800">
                <a:solidFill>
                  <a:srgbClr val="000000"/>
                </a:solidFill>
              </a:rPr>
              <a:t>the sixth floor crowd, </a:t>
            </a:r>
            <a:endParaRPr sz="1800">
              <a:solidFill>
                <a:srgbClr val="000000"/>
              </a:solidFill>
            </a:endParaRPr>
          </a:p>
          <a:p>
            <a:pPr marL="914400" lvl="1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</a:pPr>
            <a:r>
              <a:rPr lang="en" sz="1800">
                <a:solidFill>
                  <a:srgbClr val="000000"/>
                </a:solidFill>
              </a:rPr>
              <a:t>the Friday evening bowling gang,</a:t>
            </a:r>
            <a:endParaRPr sz="1800">
              <a:solidFill>
                <a:srgbClr val="000000"/>
              </a:solidFill>
            </a:endParaRPr>
          </a:p>
          <a:p>
            <a:pPr marL="914400" lvl="1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</a:pPr>
            <a:r>
              <a:rPr lang="en" sz="1800">
                <a:solidFill>
                  <a:srgbClr val="000000"/>
                </a:solidFill>
              </a:rPr>
              <a:t>the morning coffee “regulars</a:t>
            </a:r>
            <a:endParaRPr sz="18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Virtual Organization</a:t>
            </a:r>
            <a:endParaRPr/>
          </a:p>
        </p:txBody>
      </p:sp>
      <p:sp>
        <p:nvSpPr>
          <p:cNvPr id="209" name="Google Shape;209;p3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Also called network organizations</a:t>
            </a:r>
            <a:endParaRPr>
              <a:solidFill>
                <a:srgbClr val="000000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Essence of these kinds of organization is to outsource managers business functions</a:t>
            </a:r>
            <a:endParaRPr>
              <a:solidFill>
                <a:srgbClr val="000000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Highly centralized</a:t>
            </a:r>
            <a:endParaRPr>
              <a:solidFill>
                <a:srgbClr val="000000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Practically no departmentalization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000000"/>
                </a:solidFill>
              </a:rPr>
              <a:t>These organizations create a network of relationships that allow them to contract out almost all managerial functions, distribution, marketing, account-keeping, staff management and other functions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6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Organization with Narrow span</a:t>
            </a:r>
            <a:endParaRPr/>
          </a:p>
        </p:txBody>
      </p:sp>
      <p:pic>
        <p:nvPicPr>
          <p:cNvPr id="215" name="Google Shape;215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6300" y="762000"/>
            <a:ext cx="5392831" cy="1921663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36"/>
          <p:cNvSpPr txBox="1"/>
          <p:nvPr/>
        </p:nvSpPr>
        <p:spPr>
          <a:xfrm>
            <a:off x="311700" y="2757475"/>
            <a:ext cx="3848700" cy="173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</a:rPr>
              <a:t>Advantages</a:t>
            </a:r>
            <a:endParaRPr sz="18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Close supervision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Close control</a:t>
            </a:r>
            <a:endParaRPr sz="1800">
              <a:solidFill>
                <a:schemeClr val="dk1"/>
              </a:solidFill>
            </a:endParaRPr>
          </a:p>
          <a:p>
            <a:pPr marL="0" marR="6604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Fast communication between subordinates and superiors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17" name="Google Shape;217;p36"/>
          <p:cNvSpPr txBox="1"/>
          <p:nvPr/>
        </p:nvSpPr>
        <p:spPr>
          <a:xfrm>
            <a:off x="3524950" y="2803425"/>
            <a:ext cx="5619000" cy="238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</a:rPr>
              <a:t>Disadvantages</a:t>
            </a:r>
            <a:endParaRPr sz="18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Superiors tend to get too involved in subordinates' work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Many levels of management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High costs due to many levels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Excessive distance between lowest level and top level</a:t>
            </a:r>
            <a:endParaRPr sz="1800" b="1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7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Organization with wide span</a:t>
            </a:r>
            <a:endParaRPr/>
          </a:p>
        </p:txBody>
      </p:sp>
      <p:sp>
        <p:nvSpPr>
          <p:cNvPr id="223" name="Google Shape;223;p37"/>
          <p:cNvSpPr txBox="1"/>
          <p:nvPr/>
        </p:nvSpPr>
        <p:spPr>
          <a:xfrm>
            <a:off x="311700" y="2757475"/>
            <a:ext cx="3848700" cy="277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</a:rPr>
              <a:t>Advantages</a:t>
            </a:r>
            <a:endParaRPr sz="18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Superiors are forced to delegate	Clear policies must be made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Subordinates must be carefully selected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dk1"/>
              </a:solidFill>
            </a:endParaRPr>
          </a:p>
          <a:p>
            <a:pPr marL="0" marR="6604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</p:txBody>
      </p:sp>
      <p:sp>
        <p:nvSpPr>
          <p:cNvPr id="224" name="Google Shape;224;p37"/>
          <p:cNvSpPr txBox="1"/>
          <p:nvPr/>
        </p:nvSpPr>
        <p:spPr>
          <a:xfrm>
            <a:off x="4039300" y="2803425"/>
            <a:ext cx="4793100" cy="20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4545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</a:rPr>
              <a:t>Disadvantages</a:t>
            </a:r>
            <a:endParaRPr sz="1800" b="1">
              <a:solidFill>
                <a:schemeClr val="dk1"/>
              </a:solidFill>
            </a:endParaRPr>
          </a:p>
          <a:p>
            <a:pPr marL="0" marR="889000" lvl="0" indent="0" algn="l" rtl="0">
              <a:lnSpc>
                <a:spcPct val="91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Tendency of overloaded superiors to become decision bottlenecks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88636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Danger of superiors loss of control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4545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Requires exceptional quality of managers</a:t>
            </a:r>
            <a:endParaRPr sz="1800" b="1">
              <a:solidFill>
                <a:schemeClr val="dk1"/>
              </a:solidFill>
            </a:endParaRPr>
          </a:p>
        </p:txBody>
      </p:sp>
      <p:pic>
        <p:nvPicPr>
          <p:cNvPr id="225" name="Google Shape;225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65325"/>
            <a:ext cx="6772275" cy="1685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8"/>
          <p:cNvSpPr txBox="1">
            <a:spLocks noGrp="1"/>
          </p:cNvSpPr>
          <p:nvPr>
            <p:ph type="title"/>
          </p:nvPr>
        </p:nvSpPr>
        <p:spPr>
          <a:xfrm>
            <a:off x="430000" y="202975"/>
            <a:ext cx="8520600" cy="102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Engineering Management and its importance in technology driven environment</a:t>
            </a:r>
            <a:endParaRPr/>
          </a:p>
        </p:txBody>
      </p:sp>
      <p:graphicFrame>
        <p:nvGraphicFramePr>
          <p:cNvPr id="231" name="Google Shape;231;p38"/>
          <p:cNvGraphicFramePr/>
          <p:nvPr/>
        </p:nvGraphicFramePr>
        <p:xfrm>
          <a:off x="750400" y="1268525"/>
          <a:ext cx="7879800" cy="3698598"/>
        </p:xfrm>
        <a:graphic>
          <a:graphicData uri="http://schemas.openxmlformats.org/drawingml/2006/table">
            <a:tbl>
              <a:tblPr>
                <a:noFill/>
                <a:tableStyleId>{21682173-DF3D-4671-8D01-921A5BE61A1D}</a:tableStyleId>
              </a:tblPr>
              <a:tblGrid>
                <a:gridCol w="2215300"/>
                <a:gridCol w="5664500"/>
              </a:tblGrid>
              <a:tr h="4142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/>
                        <a:t>Aspect</a:t>
                      </a:r>
                      <a:endParaRPr sz="18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/>
                        <a:t> Importance</a:t>
                      </a:r>
                      <a:endParaRPr sz="1800" b="1"/>
                    </a:p>
                  </a:txBody>
                  <a:tcPr marL="91425" marR="91425" marT="91425" marB="91425"/>
                </a:tc>
              </a:tr>
              <a:tr h="671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/>
                        <a:t>Innovation &amp; R&amp;D</a:t>
                      </a:r>
                      <a:endParaRPr sz="18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Helps in managing innovation pipelines, promoting product development, and sustaining competitive advantage.</a:t>
                      </a:r>
                      <a:endParaRPr sz="1800"/>
                    </a:p>
                  </a:txBody>
                  <a:tcPr marL="91425" marR="91425" marT="91425" marB="91425"/>
                </a:tc>
              </a:tr>
              <a:tr h="671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/>
                        <a:t>Strategic Planning</a:t>
                      </a:r>
                      <a:endParaRPr sz="18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Aligns technological capabilities with business strategies in fast-changing markets.</a:t>
                      </a:r>
                      <a:endParaRPr sz="1800"/>
                    </a:p>
                  </a:txBody>
                  <a:tcPr marL="91425" marR="91425" marT="91425" marB="91425"/>
                </a:tc>
              </a:tr>
              <a:tr h="671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/>
                        <a:t>Efficient Resource Use</a:t>
                      </a:r>
                      <a:endParaRPr sz="18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Optimizes time, talent, and budget in complex, high-tech environments.</a:t>
                      </a:r>
                      <a:endParaRPr sz="1800"/>
                    </a:p>
                  </a:txBody>
                  <a:tcPr marL="91425" marR="91425" marT="91425" marB="91425"/>
                </a:tc>
              </a:tr>
              <a:tr h="671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/>
                        <a:t>Cross-Disciplinary Coordination</a:t>
                      </a:r>
                      <a:endParaRPr sz="18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Integrates efforts of engineers, designers, marketers, and operations teams for unified execution.</a:t>
                      </a:r>
                      <a:endParaRPr sz="1800"/>
                    </a:p>
                  </a:txBody>
                  <a:tcPr marL="91425" marR="91425" marT="91425" marB="91425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9"/>
          <p:cNvSpPr txBox="1">
            <a:spLocks noGrp="1"/>
          </p:cNvSpPr>
          <p:nvPr>
            <p:ph type="title"/>
          </p:nvPr>
        </p:nvSpPr>
        <p:spPr>
          <a:xfrm>
            <a:off x="430000" y="202975"/>
            <a:ext cx="8520600" cy="102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Engineering Management and its importance in technology driven environment</a:t>
            </a:r>
            <a:endParaRPr/>
          </a:p>
        </p:txBody>
      </p:sp>
      <p:graphicFrame>
        <p:nvGraphicFramePr>
          <p:cNvPr id="237" name="Google Shape;237;p39"/>
          <p:cNvGraphicFramePr/>
          <p:nvPr/>
        </p:nvGraphicFramePr>
        <p:xfrm>
          <a:off x="750400" y="1268525"/>
          <a:ext cx="7879800" cy="3424278"/>
        </p:xfrm>
        <a:graphic>
          <a:graphicData uri="http://schemas.openxmlformats.org/drawingml/2006/table">
            <a:tbl>
              <a:tblPr>
                <a:noFill/>
                <a:tableStyleId>{21682173-DF3D-4671-8D01-921A5BE61A1D}</a:tableStyleId>
              </a:tblPr>
              <a:tblGrid>
                <a:gridCol w="1973250"/>
                <a:gridCol w="5906550"/>
              </a:tblGrid>
              <a:tr h="4142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/>
                        <a:t>Aspect</a:t>
                      </a:r>
                      <a:endParaRPr sz="18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/>
                        <a:t> Importance</a:t>
                      </a:r>
                      <a:endParaRPr sz="1800" b="1"/>
                    </a:p>
                  </a:txBody>
                  <a:tcPr marL="91425" marR="91425" marT="91425" marB="91425"/>
                </a:tc>
              </a:tr>
              <a:tr h="671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/>
                        <a:t>Change Management</a:t>
                      </a:r>
                      <a:endParaRPr sz="18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Supports smooth adoption of new technologies and digital transformation initiatives.</a:t>
                      </a:r>
                      <a:endParaRPr sz="1800"/>
                    </a:p>
                  </a:txBody>
                  <a:tcPr marL="91425" marR="91425" marT="91425" marB="91425"/>
                </a:tc>
              </a:tr>
              <a:tr h="671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/>
                        <a:t>Risk Management</a:t>
                      </a:r>
                      <a:endParaRPr sz="18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Identifies and mitigates technical, operational, and market risks in tech projects.</a:t>
                      </a:r>
                      <a:endParaRPr sz="1800"/>
                    </a:p>
                  </a:txBody>
                  <a:tcPr marL="91425" marR="91425" marT="91425" marB="91425"/>
                </a:tc>
              </a:tr>
              <a:tr h="671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/>
                        <a:t>Quality &amp; Compliance</a:t>
                      </a:r>
                      <a:endParaRPr sz="18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Ensures systems meet performance standards, safety norms, and regulatory requirements.</a:t>
                      </a:r>
                      <a:endParaRPr sz="1800"/>
                    </a:p>
                  </a:txBody>
                  <a:tcPr marL="91425" marR="91425" marT="91425" marB="91425"/>
                </a:tc>
              </a:tr>
              <a:tr h="671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/>
                        <a:t>Leadership in Tech Teams</a:t>
                      </a:r>
                      <a:endParaRPr sz="18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Develops engineering talent, fosters collaboration, and boosts productivity in technical teams.</a:t>
                      </a:r>
                      <a:endParaRPr sz="1800"/>
                    </a:p>
                  </a:txBody>
                  <a:tcPr marL="91425" marR="91425" marT="91425" marB="91425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" name="Google Shape;242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775" y="126725"/>
            <a:ext cx="9143999" cy="4857574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40"/>
          <p:cNvSpPr txBox="1"/>
          <p:nvPr/>
        </p:nvSpPr>
        <p:spPr>
          <a:xfrm>
            <a:off x="5340300" y="2951575"/>
            <a:ext cx="3267600" cy="145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07FA3"/>
                </a:solidFill>
              </a:rPr>
              <a:t>Selection of engineering roles in the organization of Amazon.com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4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Blend of skills required at various levels</a:t>
            </a:r>
            <a:endParaRPr/>
          </a:p>
        </p:txBody>
      </p:sp>
      <p:pic>
        <p:nvPicPr>
          <p:cNvPr id="249" name="Google Shape;249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1650" y="955000"/>
            <a:ext cx="6963400" cy="4133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4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field of Engineering Management</a:t>
            </a:r>
            <a:endParaRPr/>
          </a:p>
        </p:txBody>
      </p:sp>
      <p:sp>
        <p:nvSpPr>
          <p:cNvPr id="255" name="Google Shape;255;p4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56" name="Google Shape;256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08163"/>
            <a:ext cx="9144000" cy="2927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4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4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63" name="Google Shape;263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15"/>
            <a:ext cx="9144000" cy="40784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Engineering functions in organizations: </a:t>
            </a:r>
            <a:endParaRPr sz="2400"/>
          </a:p>
        </p:txBody>
      </p:sp>
      <p:sp>
        <p:nvSpPr>
          <p:cNvPr id="269" name="Google Shape;269;p44"/>
          <p:cNvSpPr txBox="1">
            <a:spLocks noGrp="1"/>
          </p:cNvSpPr>
          <p:nvPr>
            <p:ph type="body" idx="1"/>
          </p:nvPr>
        </p:nvSpPr>
        <p:spPr>
          <a:xfrm>
            <a:off x="311700" y="1227000"/>
            <a:ext cx="8520600" cy="334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Product development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Operations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IT systems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Quality assurance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Others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Roles and responsibilities of an engineering manager</a:t>
            </a:r>
            <a:endParaRPr sz="2400"/>
          </a:p>
        </p:txBody>
      </p:sp>
      <p:sp>
        <p:nvSpPr>
          <p:cNvPr id="275" name="Google Shape;275;p4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 b="1">
                <a:solidFill>
                  <a:schemeClr val="dk1"/>
                </a:solidFill>
              </a:rPr>
              <a:t>Leader</a:t>
            </a:r>
            <a:r>
              <a:rPr lang="en">
                <a:solidFill>
                  <a:schemeClr val="dk1"/>
                </a:solidFill>
              </a:rPr>
              <a:t> – Guides and motivates the engineering team toward project and organizational goals.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 b="1">
                <a:solidFill>
                  <a:schemeClr val="dk1"/>
                </a:solidFill>
              </a:rPr>
              <a:t>Planner</a:t>
            </a:r>
            <a:r>
              <a:rPr lang="en">
                <a:solidFill>
                  <a:schemeClr val="dk1"/>
                </a:solidFill>
              </a:rPr>
              <a:t> – Develops strategic plans for product development, resources, and timelines.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 b="1">
                <a:solidFill>
                  <a:schemeClr val="dk1"/>
                </a:solidFill>
              </a:rPr>
              <a:t>Coordinator</a:t>
            </a:r>
            <a:r>
              <a:rPr lang="en">
                <a:solidFill>
                  <a:schemeClr val="dk1"/>
                </a:solidFill>
              </a:rPr>
              <a:t> – Aligns engineering activities with other departments like marketing, design, and production.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 b="1">
                <a:solidFill>
                  <a:schemeClr val="dk1"/>
                </a:solidFill>
              </a:rPr>
              <a:t>Decision Maker</a:t>
            </a:r>
            <a:r>
              <a:rPr lang="en">
                <a:solidFill>
                  <a:schemeClr val="dk1"/>
                </a:solidFill>
              </a:rPr>
              <a:t> – Makes informed technical and managerial decisions for problem-solving.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Roles and responsibilities of an engineering manager</a:t>
            </a:r>
            <a:endParaRPr sz="2400"/>
          </a:p>
        </p:txBody>
      </p:sp>
      <p:sp>
        <p:nvSpPr>
          <p:cNvPr id="281" name="Google Shape;281;p4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 startAt="5"/>
            </a:pPr>
            <a:r>
              <a:rPr lang="en" b="1">
                <a:solidFill>
                  <a:schemeClr val="dk1"/>
                </a:solidFill>
              </a:rPr>
              <a:t> Communicator –</a:t>
            </a:r>
            <a:r>
              <a:rPr lang="en">
                <a:solidFill>
                  <a:schemeClr val="dk1"/>
                </a:solidFill>
              </a:rPr>
              <a:t> Acts as a bridge between technical teams and stakeholders or upper management.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 startAt="5"/>
            </a:pPr>
            <a:r>
              <a:rPr lang="en" b="1">
                <a:solidFill>
                  <a:schemeClr val="dk1"/>
                </a:solidFill>
              </a:rPr>
              <a:t>Mentor</a:t>
            </a:r>
            <a:r>
              <a:rPr lang="en">
                <a:solidFill>
                  <a:schemeClr val="dk1"/>
                </a:solidFill>
              </a:rPr>
              <a:t> – Coaches and develops the skills of engineers and technical staff.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 startAt="5"/>
            </a:pPr>
            <a:r>
              <a:rPr lang="en" b="1">
                <a:solidFill>
                  <a:schemeClr val="dk1"/>
                </a:solidFill>
              </a:rPr>
              <a:t>Resource Allocator</a:t>
            </a:r>
            <a:r>
              <a:rPr lang="en">
                <a:solidFill>
                  <a:schemeClr val="dk1"/>
                </a:solidFill>
              </a:rPr>
              <a:t> – Manages budgeting, tools, and personnel for effective project execution.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 startAt="5"/>
            </a:pPr>
            <a:r>
              <a:rPr lang="en" b="1">
                <a:solidFill>
                  <a:schemeClr val="dk1"/>
                </a:solidFill>
              </a:rPr>
              <a:t>Evaluator</a:t>
            </a:r>
            <a:r>
              <a:rPr lang="en">
                <a:solidFill>
                  <a:schemeClr val="dk1"/>
                </a:solidFill>
              </a:rPr>
              <a:t> – Monitors performance, conducts reviews, and ensures quality output.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Responsibilities of an Engineering Manager</a:t>
            </a:r>
            <a:endParaRPr/>
          </a:p>
        </p:txBody>
      </p:sp>
      <p:graphicFrame>
        <p:nvGraphicFramePr>
          <p:cNvPr id="287" name="Google Shape;287;p47"/>
          <p:cNvGraphicFramePr/>
          <p:nvPr/>
        </p:nvGraphicFramePr>
        <p:xfrm>
          <a:off x="604550" y="1150300"/>
          <a:ext cx="8313100" cy="3613075"/>
        </p:xfrm>
        <a:graphic>
          <a:graphicData uri="http://schemas.openxmlformats.org/drawingml/2006/table">
            <a:tbl>
              <a:tblPr>
                <a:noFill/>
                <a:tableStyleId>{21682173-DF3D-4671-8D01-921A5BE61A1D}</a:tableStyleId>
              </a:tblPr>
              <a:tblGrid>
                <a:gridCol w="1925700"/>
                <a:gridCol w="6387400"/>
              </a:tblGrid>
              <a:tr h="4805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/>
                        <a:t>Area</a:t>
                      </a:r>
                      <a:endParaRPr sz="18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/>
                        <a:t>Responsibilities</a:t>
                      </a:r>
                      <a:endParaRPr sz="1800" b="1"/>
                    </a:p>
                  </a:txBody>
                  <a:tcPr marL="91425" marR="91425" marT="91425" marB="91425"/>
                </a:tc>
              </a:tr>
              <a:tr h="7831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/>
                        <a:t>Team Management</a:t>
                      </a:r>
                      <a:endParaRPr sz="18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Hiring, training, mentoring, and performance evaluations</a:t>
                      </a:r>
                      <a:endParaRPr sz="1800"/>
                    </a:p>
                  </a:txBody>
                  <a:tcPr marL="91425" marR="91425" marT="91425" marB="91425"/>
                </a:tc>
              </a:tr>
              <a:tr h="7831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/>
                        <a:t>Project Oversight</a:t>
                      </a:r>
                      <a:endParaRPr sz="18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Planning, scheduling, and delivering engineering projects</a:t>
                      </a:r>
                      <a:endParaRPr sz="1800"/>
                    </a:p>
                  </a:txBody>
                  <a:tcPr marL="91425" marR="91425" marT="91425" marB="91425"/>
                </a:tc>
              </a:tr>
              <a:tr h="7831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/>
                        <a:t>Technical Guidance</a:t>
                      </a:r>
                      <a:endParaRPr sz="18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Providing technical support and reviewing solutions/architecture</a:t>
                      </a:r>
                      <a:endParaRPr sz="1800"/>
                    </a:p>
                  </a:txBody>
                  <a:tcPr marL="91425" marR="91425" marT="91425" marB="91425"/>
                </a:tc>
              </a:tr>
              <a:tr h="7831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/>
                        <a:t>Process Improvement</a:t>
                      </a:r>
                      <a:endParaRPr sz="18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Implementing best practices, Agile/Scrum, and quality assurance processes</a:t>
                      </a:r>
                      <a:endParaRPr sz="1800"/>
                    </a:p>
                  </a:txBody>
                  <a:tcPr marL="91425" marR="91425" marT="91425" marB="91425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Responsibilities of an Engineering Manager</a:t>
            </a:r>
            <a:endParaRPr/>
          </a:p>
        </p:txBody>
      </p:sp>
      <p:graphicFrame>
        <p:nvGraphicFramePr>
          <p:cNvPr id="293" name="Google Shape;293;p48"/>
          <p:cNvGraphicFramePr/>
          <p:nvPr/>
        </p:nvGraphicFramePr>
        <p:xfrm>
          <a:off x="604550" y="1150300"/>
          <a:ext cx="8313100" cy="3613075"/>
        </p:xfrm>
        <a:graphic>
          <a:graphicData uri="http://schemas.openxmlformats.org/drawingml/2006/table">
            <a:tbl>
              <a:tblPr>
                <a:noFill/>
                <a:tableStyleId>{21682173-DF3D-4671-8D01-921A5BE61A1D}</a:tableStyleId>
              </a:tblPr>
              <a:tblGrid>
                <a:gridCol w="1925700"/>
                <a:gridCol w="6387400"/>
              </a:tblGrid>
              <a:tr h="4805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/>
                        <a:t>Area</a:t>
                      </a:r>
                      <a:endParaRPr sz="18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/>
                        <a:t>Responsibilities</a:t>
                      </a:r>
                      <a:endParaRPr sz="1800" b="1"/>
                    </a:p>
                  </a:txBody>
                  <a:tcPr marL="91425" marR="91425" marT="91425" marB="91425"/>
                </a:tc>
              </a:tr>
              <a:tr h="7831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/>
                        <a:t>Budgeting</a:t>
                      </a:r>
                      <a:endParaRPr sz="18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Estimating costs, controlling expenses, and optimizing resources</a:t>
                      </a:r>
                      <a:endParaRPr sz="1800"/>
                    </a:p>
                  </a:txBody>
                  <a:tcPr marL="91425" marR="91425" marT="91425" marB="91425"/>
                </a:tc>
              </a:tr>
              <a:tr h="7831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/>
                        <a:t>Stakeholder Communication</a:t>
                      </a:r>
                      <a:endParaRPr sz="18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Reporting progress, handling feedback, and aligning with business goals</a:t>
                      </a:r>
                      <a:endParaRPr sz="1800"/>
                    </a:p>
                  </a:txBody>
                  <a:tcPr marL="91425" marR="91425" marT="91425" marB="91425"/>
                </a:tc>
              </a:tr>
              <a:tr h="7831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/>
                        <a:t>Risk Management</a:t>
                      </a:r>
                      <a:endParaRPr sz="18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Identifying potential risks and implementing mitigation strategies</a:t>
                      </a:r>
                      <a:endParaRPr sz="1800"/>
                    </a:p>
                  </a:txBody>
                  <a:tcPr marL="91425" marR="91425" marT="91425" marB="91425"/>
                </a:tc>
              </a:tr>
              <a:tr h="7831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/>
                        <a:t>Compliance</a:t>
                      </a:r>
                      <a:endParaRPr sz="18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Ensuring projects meet industry standards, laws, and safety regulations</a:t>
                      </a:r>
                      <a:endParaRPr sz="1800"/>
                    </a:p>
                  </a:txBody>
                  <a:tcPr marL="91425" marR="91425" marT="91425" marB="91425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445025"/>
            <a:ext cx="3279799" cy="5727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Justify the statements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31" y="1017725"/>
            <a:ext cx="5339953" cy="3690650"/>
          </a:xfrm>
        </p:spPr>
        <p:txBody>
          <a:bodyPr>
            <a:normAutofit lnSpcReduction="10000"/>
          </a:bodyPr>
          <a:lstStyle/>
          <a:p>
            <a:pPr>
              <a:buFont typeface="+mj-lt"/>
              <a:buAutoNum type="arabicPeriod"/>
            </a:pPr>
            <a:r>
              <a:rPr lang="en-US" dirty="0" smtClean="0">
                <a:solidFill>
                  <a:schemeClr val="tx1"/>
                </a:solidFill>
              </a:rPr>
              <a:t>Software development should be a no-handoff, collaborative process</a:t>
            </a:r>
          </a:p>
          <a:p>
            <a:pPr>
              <a:buFont typeface="+mj-lt"/>
              <a:buAutoNum type="arabicPeriod"/>
            </a:pPr>
            <a:r>
              <a:rPr lang="en-US" dirty="0" smtClean="0">
                <a:solidFill>
                  <a:schemeClr val="tx1"/>
                </a:solidFill>
              </a:rPr>
              <a:t>The team’s unit of delivery should be minimally viable experiments</a:t>
            </a:r>
          </a:p>
          <a:p>
            <a:pPr>
              <a:buFont typeface="+mj-lt"/>
              <a:buAutoNum type="arabicPeriod"/>
            </a:pPr>
            <a:r>
              <a:rPr lang="en-US" dirty="0" smtClean="0">
                <a:solidFill>
                  <a:schemeClr val="tx1"/>
                </a:solidFill>
              </a:rPr>
              <a:t>The team’s approach should be customer centric</a:t>
            </a:r>
          </a:p>
          <a:p>
            <a:pPr>
              <a:buFont typeface="+mj-lt"/>
              <a:buAutoNum type="arabicPeriod"/>
            </a:pPr>
            <a:r>
              <a:rPr lang="en-US" dirty="0" smtClean="0">
                <a:solidFill>
                  <a:schemeClr val="tx1"/>
                </a:solidFill>
              </a:rPr>
              <a:t>Use </a:t>
            </a:r>
            <a:r>
              <a:rPr lang="en-US" dirty="0" err="1" smtClean="0">
                <a:solidFill>
                  <a:schemeClr val="tx1"/>
                </a:solidFill>
              </a:rPr>
              <a:t>timeboxes</a:t>
            </a:r>
            <a:r>
              <a:rPr lang="en-US" dirty="0" smtClean="0">
                <a:solidFill>
                  <a:schemeClr val="tx1"/>
                </a:solidFill>
              </a:rPr>
              <a:t> to focus experimentation and avoid waste</a:t>
            </a:r>
          </a:p>
          <a:p>
            <a:pPr>
              <a:buFont typeface="+mj-lt"/>
              <a:buAutoNum type="arabicPeriod"/>
            </a:pPr>
            <a:r>
              <a:rPr lang="en-US" dirty="0" smtClean="0">
                <a:solidFill>
                  <a:schemeClr val="tx1"/>
                </a:solidFill>
              </a:rPr>
              <a:t>The team should be organized to emphasize collaboration</a:t>
            </a:r>
          </a:p>
          <a:p>
            <a:pPr>
              <a:buFont typeface="+mj-lt"/>
              <a:buAutoNum type="arabicPeriod"/>
            </a:pPr>
            <a:r>
              <a:rPr lang="en-US" dirty="0" smtClean="0">
                <a:solidFill>
                  <a:schemeClr val="tx1"/>
                </a:solidFill>
              </a:rPr>
              <a:t>The team should constantly question their process</a:t>
            </a:r>
          </a:p>
          <a:p>
            <a:pPr>
              <a:buFont typeface="+mj-lt"/>
              <a:buAutoNum type="arabicPeriod"/>
            </a:pP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9793" y="281445"/>
            <a:ext cx="3577254" cy="20333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00" y="4708375"/>
            <a:ext cx="8656030" cy="401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0455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</TotalTime>
  <Words>1632</Words>
  <Application>Microsoft Office PowerPoint</Application>
  <PresentationFormat>On-screen Show (16:9)</PresentationFormat>
  <Paragraphs>295</Paragraphs>
  <Slides>48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0" baseType="lpstr">
      <vt:lpstr>Arial</vt:lpstr>
      <vt:lpstr>Simple Light</vt:lpstr>
      <vt:lpstr>Introduction</vt:lpstr>
      <vt:lpstr>1.1 Management</vt:lpstr>
      <vt:lpstr>PowerPoint Presentation</vt:lpstr>
      <vt:lpstr>1.1.1 Functions of Management</vt:lpstr>
      <vt:lpstr>1.1.1 Functions of Management</vt:lpstr>
      <vt:lpstr>1.1.2 Level and scope of management</vt:lpstr>
      <vt:lpstr>1.1.2 Level and scope of management</vt:lpstr>
      <vt:lpstr>1.1.3 Principles of Management</vt:lpstr>
      <vt:lpstr>Evolution of Management Thought</vt:lpstr>
      <vt:lpstr>Classical Management Theories</vt:lpstr>
      <vt:lpstr>Scientific Management</vt:lpstr>
      <vt:lpstr>Modern Operational Management Theory</vt:lpstr>
      <vt:lpstr>PowerPoint Presentation</vt:lpstr>
      <vt:lpstr>PowerPoint Presentation</vt:lpstr>
      <vt:lpstr>Behavioral Sciences Approach</vt:lpstr>
      <vt:lpstr>Systems Theory Approach</vt:lpstr>
      <vt:lpstr>Modern Management Thinkers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1.2 Organization</vt:lpstr>
      <vt:lpstr>Principles of organizing</vt:lpstr>
      <vt:lpstr>1.2.1 Characteristics of Organization</vt:lpstr>
      <vt:lpstr>Eight characteristics of excellent enterprises</vt:lpstr>
      <vt:lpstr>1.2.2 Types of organization: formal and informal organizations, virtual organization</vt:lpstr>
      <vt:lpstr>Informal Organization</vt:lpstr>
      <vt:lpstr>Virtual Organization</vt:lpstr>
      <vt:lpstr>Organization with Narrow span</vt:lpstr>
      <vt:lpstr>Organization with wide span</vt:lpstr>
      <vt:lpstr>Engineering Management and its importance in technology driven environment</vt:lpstr>
      <vt:lpstr>Engineering Management and its importance in technology driven environment</vt:lpstr>
      <vt:lpstr>PowerPoint Presentation</vt:lpstr>
      <vt:lpstr>Blend of skills required at various levels</vt:lpstr>
      <vt:lpstr>The field of Engineering Management</vt:lpstr>
      <vt:lpstr>PowerPoint Presentation</vt:lpstr>
      <vt:lpstr>Engineering functions in organizations: </vt:lpstr>
      <vt:lpstr>Roles and responsibilities of an engineering manager</vt:lpstr>
      <vt:lpstr>Roles and responsibilities of an engineering manager</vt:lpstr>
      <vt:lpstr>Responsibilities of an Engineering Manager</vt:lpstr>
      <vt:lpstr>Responsibilities of an Engineering Manager</vt:lpstr>
      <vt:lpstr>Justify the statements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</dc:title>
  <cp:lastModifiedBy>Microsoft account</cp:lastModifiedBy>
  <cp:revision>10</cp:revision>
  <dcterms:modified xsi:type="dcterms:W3CDTF">2025-05-06T04:10:49Z</dcterms:modified>
</cp:coreProperties>
</file>