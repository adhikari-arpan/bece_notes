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91"/>
  </p:notes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7" r:id="rId14"/>
    <p:sldId id="270" r:id="rId15"/>
    <p:sldId id="271" r:id="rId16"/>
    <p:sldId id="272" r:id="rId17"/>
    <p:sldId id="273" r:id="rId18"/>
    <p:sldId id="274" r:id="rId19"/>
    <p:sldId id="275" r:id="rId20"/>
    <p:sldId id="276" r:id="rId21"/>
    <p:sldId id="286" r:id="rId22"/>
    <p:sldId id="287" r:id="rId23"/>
    <p:sldId id="288" r:id="rId24"/>
    <p:sldId id="289" r:id="rId25"/>
    <p:sldId id="279" r:id="rId26"/>
    <p:sldId id="280" r:id="rId27"/>
    <p:sldId id="281" r:id="rId28"/>
    <p:sldId id="282" r:id="rId29"/>
    <p:sldId id="283" r:id="rId30"/>
    <p:sldId id="284" r:id="rId31"/>
    <p:sldId id="285" r:id="rId32"/>
    <p:sldId id="290" r:id="rId33"/>
    <p:sldId id="291" r:id="rId34"/>
    <p:sldId id="353" r:id="rId35"/>
    <p:sldId id="354" r:id="rId36"/>
    <p:sldId id="355" r:id="rId37"/>
    <p:sldId id="356" r:id="rId38"/>
    <p:sldId id="357" r:id="rId39"/>
    <p:sldId id="358" r:id="rId40"/>
    <p:sldId id="359" r:id="rId41"/>
    <p:sldId id="350" r:id="rId42"/>
    <p:sldId id="366" r:id="rId43"/>
    <p:sldId id="365" r:id="rId44"/>
    <p:sldId id="346" r:id="rId45"/>
    <p:sldId id="347" r:id="rId46"/>
    <p:sldId id="348" r:id="rId47"/>
    <p:sldId id="349" r:id="rId48"/>
    <p:sldId id="362" r:id="rId49"/>
    <p:sldId id="364" r:id="rId50"/>
    <p:sldId id="292" r:id="rId51"/>
    <p:sldId id="294" r:id="rId52"/>
    <p:sldId id="295" r:id="rId53"/>
    <p:sldId id="296" r:id="rId54"/>
    <p:sldId id="297" r:id="rId55"/>
    <p:sldId id="298" r:id="rId56"/>
    <p:sldId id="299" r:id="rId57"/>
    <p:sldId id="300" r:id="rId58"/>
    <p:sldId id="301" r:id="rId59"/>
    <p:sldId id="302" r:id="rId60"/>
    <p:sldId id="303" r:id="rId61"/>
    <p:sldId id="305" r:id="rId62"/>
    <p:sldId id="306" r:id="rId63"/>
    <p:sldId id="307" r:id="rId64"/>
    <p:sldId id="308" r:id="rId65"/>
    <p:sldId id="309" r:id="rId66"/>
    <p:sldId id="310" r:id="rId67"/>
    <p:sldId id="311" r:id="rId68"/>
    <p:sldId id="312" r:id="rId69"/>
    <p:sldId id="317" r:id="rId70"/>
    <p:sldId id="318" r:id="rId71"/>
    <p:sldId id="319" r:id="rId72"/>
    <p:sldId id="320" r:id="rId73"/>
    <p:sldId id="321" r:id="rId74"/>
    <p:sldId id="322"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Lst>
  <p:sldSz cx="9144000" cy="5143500" type="screen16x9"/>
  <p:notesSz cx="6858000" cy="9144000"/>
  <p:embeddedFontLst>
    <p:embeddedFont>
      <p:font typeface="Verdana" panose="020B0604030504040204" pitchFamily="34" charset="0"/>
      <p:regular r:id="rId92"/>
      <p:bold r:id="rId93"/>
      <p:italic r:id="rId94"/>
      <p:boldItalic r:id="rId95"/>
    </p:embeddedFont>
    <p:embeddedFont>
      <p:font typeface="Trebuchet MS" panose="020B0603020202020204" pitchFamily="34" charset="0"/>
      <p:regular r:id="rId96"/>
      <p:bold r:id="rId97"/>
      <p:italic r:id="rId98"/>
      <p:boldItalic r:id="rId99"/>
    </p:embeddedFont>
    <p:embeddedFont>
      <p:font typeface="Wingdings 3" panose="05040102010807070707" pitchFamily="18" charset="2"/>
      <p:regular r:id="rId10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157" autoAdjust="0"/>
  </p:normalViewPr>
  <p:slideViewPr>
    <p:cSldViewPr snapToGrid="0">
      <p:cViewPr>
        <p:scale>
          <a:sx n="70" d="100"/>
          <a:sy n="70" d="100"/>
        </p:scale>
        <p:origin x="1302" y="21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font" Target="fonts/font2.fntdata"/><Relationship Id="rId98"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3.fntdata"/><Relationship Id="rId99" Type="http://schemas.openxmlformats.org/officeDocument/2006/relationships/font" Target="fonts/font8.fntdata"/><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6.fntdata"/><Relationship Id="rId10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75324925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8692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4ee01bf24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4ee01bf24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6446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The best-known theory of motivation is probably Abraham Maslow’s </a:t>
            </a:r>
            <a:r>
              <a:rPr lang="en-US" b="1" dirty="0">
                <a:cs typeface="Arial" charset="0"/>
              </a:rPr>
              <a:t>hierarchy of needs theory</a:t>
            </a:r>
            <a:r>
              <a:rPr lang="en-US" dirty="0">
                <a:cs typeface="Arial" charset="0"/>
              </a:rPr>
              <a:t>. Maslow was a psychologist who proposed that within every person is a hierarchy of five needs.</a:t>
            </a:r>
          </a:p>
          <a:p>
            <a:pPr eaLnBrk="1" hangingPunct="1"/>
            <a:endParaRPr lang="en-US" dirty="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Maslow argued that each level in the needs hierarchy must be substantially satisfied before the next need becomes dominant. An individual moves up the needs hierarchy from one level to the next. </a:t>
            </a:r>
            <a:endParaRPr lang="en-US" dirty="0"/>
          </a:p>
          <a:p>
            <a:pPr eaLnBrk="1" hangingPunct="1"/>
            <a:endParaRPr lang="en-US" dirty="0">
              <a:cs typeface="Arial" charset="0"/>
            </a:endParaRP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1672444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Frederick Herzberg’s </a:t>
            </a:r>
            <a:r>
              <a:rPr lang="en-US" b="1" dirty="0">
                <a:cs typeface="Arial" charset="0"/>
              </a:rPr>
              <a:t>two-factor theory </a:t>
            </a:r>
            <a:r>
              <a:rPr lang="en-US" dirty="0">
                <a:cs typeface="Arial" charset="0"/>
              </a:rPr>
              <a:t>(also called motivation-hygiene theory) proposes that intrinsic factors are related to job satisfaction, while extrinsic factors are associated with job dissatisfaction.</a:t>
            </a:r>
          </a:p>
          <a:p>
            <a:pPr eaLnBrk="1" hangingPunct="1"/>
            <a:endParaRPr lang="en-US" dirty="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cs typeface="Arial" charset="0"/>
              </a:rPr>
              <a:t>Herzberg wanted to know when people felt exceptionally good (satisfied) or bad (dissatisfied) about their jobs. (These findings are shown in </a:t>
            </a:r>
            <a:r>
              <a:rPr lang="en-US" b="1" dirty="0">
                <a:cs typeface="Arial" charset="0"/>
              </a:rPr>
              <a:t>Exhibit 16-2</a:t>
            </a:r>
            <a:r>
              <a:rPr lang="en-US" dirty="0">
                <a:cs typeface="Arial" charset="0"/>
              </a:rPr>
              <a:t>.) He concluded that the replies people gave when they felt good about their jobs were significantly different from the replies they gave when they felt badly. Certain characteristics were consistently related to job satisfaction (factors on the left side of the exhibit), and others to job dissatisfaction (factors on the right side).</a:t>
            </a:r>
          </a:p>
          <a:p>
            <a:pPr eaLnBrk="1" hangingPunct="1"/>
            <a:endParaRPr lang="en-US" dirty="0">
              <a:cs typeface="Arial"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Arial" charset="0"/>
              </a:rPr>
              <a:t>The extrinsic factors that create job dissatisfaction were called </a:t>
            </a:r>
            <a:r>
              <a:rPr lang="en-US" b="1" dirty="0">
                <a:cs typeface="Arial" charset="0"/>
              </a:rPr>
              <a:t>hygiene factors</a:t>
            </a:r>
            <a:r>
              <a:rPr lang="en-US" dirty="0">
                <a:cs typeface="Arial" charset="0"/>
              </a:rPr>
              <a:t>. When these factors are adequate, people won’t</a:t>
            </a:r>
            <a:r>
              <a:rPr lang="en-US" baseline="0" dirty="0">
                <a:cs typeface="Arial" charset="0"/>
              </a:rPr>
              <a:t> </a:t>
            </a:r>
            <a:r>
              <a:rPr lang="en-US" dirty="0">
                <a:cs typeface="Arial" charset="0"/>
              </a:rPr>
              <a:t>be dissatisfied, but they won’t be satisfied (or motivated) either. To motivate people, Herzberg suggested emphasizing </a:t>
            </a:r>
            <a:r>
              <a:rPr lang="en-US" b="1" dirty="0">
                <a:cs typeface="Arial" charset="0"/>
              </a:rPr>
              <a:t>motivators</a:t>
            </a:r>
            <a:r>
              <a:rPr lang="en-US" dirty="0">
                <a:cs typeface="Arial" charset="0"/>
              </a:rPr>
              <a:t>, the intrinsic factors having to do with the job itself.</a:t>
            </a:r>
          </a:p>
          <a:p>
            <a:pPr eaLnBrk="1" hangingPunct="1"/>
            <a:endParaRPr lang="en-US" dirty="0">
              <a:cs typeface="Arial" charset="0"/>
            </a:endParaRP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1033910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Arial" charset="0"/>
              </a:rPr>
              <a:t>Herzberg believed the data suggested that the opposite of satisfaction was not dissatisfaction, as traditionally had been believed. Removing dissatisfying characteristics from a job would not necessarily make that job more satisfying (or motivating). As shown in </a:t>
            </a:r>
            <a:r>
              <a:rPr lang="en-US" b="1" dirty="0">
                <a:cs typeface="Arial" charset="0"/>
              </a:rPr>
              <a:t>Exhibit 14-3</a:t>
            </a:r>
            <a:r>
              <a:rPr lang="en-US" dirty="0">
                <a:cs typeface="Arial" charset="0"/>
              </a:rPr>
              <a:t>, Herzberg proposed that a dual continuum existed: The opposite of “satisfaction” is “no satisfaction,” and the opposite of “dissatisfaction” is “no dissatisfaction.”</a:t>
            </a:r>
          </a:p>
          <a:p>
            <a:pPr eaLnBrk="1" hangingPunct="1"/>
            <a:endParaRPr lang="en-US" sz="1200" b="0" kern="1200" dirty="0">
              <a:solidFill>
                <a:schemeClr val="tx1"/>
              </a:solidFill>
              <a:effectLst/>
              <a:latin typeface="+mn-lt"/>
              <a:ea typeface="+mn-ea"/>
              <a:cs typeface="+mn-cs"/>
            </a:endParaRPr>
          </a:p>
          <a:p>
            <a:pPr eaLnBrk="1" hangingPunct="1"/>
            <a:r>
              <a:rPr lang="en-US" sz="1200" b="0" kern="1200" dirty="0">
                <a:solidFill>
                  <a:schemeClr val="tx1"/>
                </a:solidFill>
                <a:effectLst/>
                <a:latin typeface="+mn-lt"/>
                <a:ea typeface="+mn-ea"/>
                <a:cs typeface="+mn-cs"/>
              </a:rPr>
              <a:t>Long Description:</a:t>
            </a:r>
          </a:p>
          <a:p>
            <a:r>
              <a:rPr lang="en-US" sz="1200" kern="1200" dirty="0">
                <a:solidFill>
                  <a:schemeClr val="tx1"/>
                </a:solidFill>
                <a:effectLst/>
                <a:latin typeface="+mn-lt"/>
                <a:ea typeface="+mn-ea"/>
                <a:cs typeface="+mn-cs"/>
              </a:rPr>
              <a:t>The chart shows the two states, “Satisfied” and “Dissatisfied”, for “Traditional View.” The “Herzberg’s View” shows 4 states as follows.</a:t>
            </a:r>
          </a:p>
          <a:p>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Motivators</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Satisfaction</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No satisfaction</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Hygiene Factors</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No dissatisfaction</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Dissatisfaction</a:t>
            </a:r>
            <a:endParaRPr lang="en-US" b="0" dirty="0">
              <a:cs typeface="Arial" charset="0"/>
            </a:endParaRP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972139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b="1" dirty="0">
                <a:cs typeface="Arial" charset="0"/>
              </a:rPr>
              <a:t>Equity theory</a:t>
            </a:r>
            <a:r>
              <a:rPr lang="en-US" dirty="0">
                <a:cs typeface="Arial" charset="0"/>
              </a:rPr>
              <a:t>, developed by J. Stacey Adams, proposes that employees compare what they get from a job (outcomes) in relation to what they put into it (inputs), and then they compare their inputs–outcomes ratio with the inputs–outcomes ratios of relevant others (</a:t>
            </a:r>
            <a:r>
              <a:rPr lang="en-US" b="1" dirty="0">
                <a:cs typeface="Arial" charset="0"/>
              </a:rPr>
              <a:t>Exhibit 16-7</a:t>
            </a:r>
            <a:r>
              <a:rPr lang="en-US" dirty="0">
                <a:cs typeface="Arial" charset="0"/>
              </a:rPr>
              <a:t>). If an employee perceives her ratio to be equitable in comparison to those of relevant others, there’s no problem. However, if the ratio</a:t>
            </a:r>
            <a:r>
              <a:rPr lang="en-US" baseline="0" dirty="0">
                <a:cs typeface="Arial" charset="0"/>
              </a:rPr>
              <a:t> </a:t>
            </a:r>
            <a:r>
              <a:rPr lang="en-US" dirty="0">
                <a:cs typeface="Arial" charset="0"/>
              </a:rPr>
              <a:t>is inequitable, she views herself as underrewarded or overrewarded. When inequities occur, employees attempt to do something about it. The result might be lower or higher productivity, improved or reduced quality of output, increased absenteeism, or voluntary resignation.</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2796357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The </a:t>
            </a:r>
            <a:r>
              <a:rPr lang="en-US" b="1" dirty="0">
                <a:cs typeface="Arial" charset="0"/>
              </a:rPr>
              <a:t>referent</a:t>
            </a:r>
            <a:r>
              <a:rPr lang="en-US" dirty="0">
                <a:cs typeface="Arial" charset="0"/>
              </a:rPr>
              <a:t>—the other persons, systems, or selves individuals compare themselves against in order to assess equity—is an important variable in equity theory.</a:t>
            </a:r>
          </a:p>
          <a:p>
            <a:pPr eaLnBrk="1" hangingPunct="1"/>
            <a:endParaRPr lang="en-US" dirty="0">
              <a:cs typeface="Arial" charset="0"/>
            </a:endParaRPr>
          </a:p>
          <a:p>
            <a:pPr eaLnBrk="1" hangingPunct="1"/>
            <a:r>
              <a:rPr lang="en-US" dirty="0">
                <a:cs typeface="Arial" charset="0"/>
              </a:rPr>
              <a:t>Originally, equity theory focused on </a:t>
            </a:r>
            <a:r>
              <a:rPr lang="en-US" b="1" dirty="0">
                <a:cs typeface="Arial" charset="0"/>
              </a:rPr>
              <a:t>distributive justice</a:t>
            </a:r>
            <a:r>
              <a:rPr lang="en-US" dirty="0">
                <a:cs typeface="Arial" charset="0"/>
              </a:rPr>
              <a:t>, the perceived fairness of the amount and allocation of rewards among individuals. More recent research has focused on looking at issues of </a:t>
            </a:r>
            <a:r>
              <a:rPr lang="en-US" b="1" dirty="0">
                <a:cs typeface="Arial" charset="0"/>
              </a:rPr>
              <a:t>procedural justice</a:t>
            </a:r>
            <a:r>
              <a:rPr lang="en-US" b="0" dirty="0">
                <a:cs typeface="Arial" charset="0"/>
              </a:rPr>
              <a:t>,</a:t>
            </a:r>
            <a:r>
              <a:rPr lang="en-US" dirty="0">
                <a:cs typeface="Arial" charset="0"/>
              </a:rPr>
              <a:t> the perceived fairness of the process used to determine the distribution of rewards.</a:t>
            </a:r>
          </a:p>
          <a:p>
            <a:pPr eaLnBrk="1" hangingPunct="1"/>
            <a:endParaRPr lang="en-US" dirty="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cs typeface="Arial" charset="0"/>
              </a:rPr>
              <a:t>Research shows that distributive justice has a greater influence on employee satisfaction than procedural justice, while procedural justice tends to affect an employee’s organizational commitment, trust in his or her boss, and intention to quit.</a:t>
            </a:r>
          </a:p>
          <a:p>
            <a:pPr eaLnBrk="1" hangingPunct="1"/>
            <a:endParaRPr lang="en-US" dirty="0">
              <a:cs typeface="Arial" charset="0"/>
            </a:endParaRP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4598586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Without intentionality, technology integration into work could negatively impact motivation because psychological needs are not met. For example, technology can increase the pace of work, leading to workers feeling a loss of control. Or remote work that provides less in-person interaction could impact employees’ ability to create meaningful relationships at work.</a:t>
            </a:r>
          </a:p>
          <a:p>
            <a:pPr eaLnBrk="1" hangingPunct="1"/>
            <a:endParaRPr lang="en-US" dirty="0">
              <a:cs typeface="Arial" charset="0"/>
            </a:endParaRPr>
          </a:p>
          <a:p>
            <a:pPr eaLnBrk="1" hangingPunct="1"/>
            <a:r>
              <a:rPr lang="en-US" dirty="0">
                <a:cs typeface="Arial" charset="0"/>
              </a:rPr>
              <a:t>To address the need for interaction, many workers prefer hybrid work options. In fact, following the COVID-19 pandemic, 52 percent of workers preferred hybrid work, compared to 11 percent who preferred fully remote work and 37 percent who wanted to return to fully on-site work. With intentionality, workers can still build relationships while working remotely. </a:t>
            </a:r>
          </a:p>
          <a:p>
            <a:pPr eaLnBrk="1" hangingPunct="1"/>
            <a:endParaRPr lang="en-US" dirty="0">
              <a:cs typeface="Arial" charset="0"/>
            </a:endParaRPr>
          </a:p>
          <a:p>
            <a:pPr eaLnBrk="1" hangingPunct="1"/>
            <a:endParaRPr lang="en-US" dirty="0">
              <a:cs typeface="Arial" charset="0"/>
            </a:endParaRP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975012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In today’s global business environment, managers can’t automatically assume motivational programs that work in one geographic location are going to work in others. Most current motivation theories were developed in the United States by Americans and about</a:t>
            </a:r>
            <a:r>
              <a:rPr lang="en-US" baseline="0" dirty="0">
                <a:cs typeface="Arial" charset="0"/>
              </a:rPr>
              <a:t> </a:t>
            </a:r>
            <a:r>
              <a:rPr lang="en-US" dirty="0">
                <a:cs typeface="Arial" charset="0"/>
              </a:rPr>
              <a:t>Americans. Maybe the most blatant pro-American characteristic in these theories is</a:t>
            </a:r>
            <a:r>
              <a:rPr lang="en-US" baseline="0" dirty="0">
                <a:cs typeface="Arial" charset="0"/>
              </a:rPr>
              <a:t> </a:t>
            </a:r>
            <a:r>
              <a:rPr lang="en-US" dirty="0">
                <a:cs typeface="Arial" charset="0"/>
              </a:rPr>
              <a:t>the strong emphasis on individualism and achievement. For instance, both</a:t>
            </a:r>
            <a:r>
              <a:rPr lang="en-US" baseline="0" dirty="0">
                <a:cs typeface="Arial" charset="0"/>
              </a:rPr>
              <a:t> </a:t>
            </a:r>
            <a:r>
              <a:rPr lang="en-US" dirty="0">
                <a:cs typeface="Arial" charset="0"/>
              </a:rPr>
              <a:t>goal-setting and expectancy theories emphasize goal accomplishment as well as rational and individual thought.</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226351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Employees come into organizations with different needs, personalities, skills, abilities, interests, and aptitudes. They have different expectations of their employers and different views of what they think their employer has a right to expect of them. And they vary widely in what they want from their jobs. </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1304391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motivates professionals? Money and promotions typically are low on their priority list. Why? They tend to be well paid and enjoy what they do. In contrast, job challenge tends to be ranked high. They like to tackle problems and find solutions. Their chief reward is the work itself. Professionals also value support. They want others to think that what they are working on is important. That may be true for all employees, but professionals tend to be focused on their work as their central life interest, whereas nonprofessionals typically have other interests outside of work that can compensate for needs not met on the job. </a:t>
            </a:r>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6215178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What will motivate involuntarily temporary employees? An obvious answer is the opportunity to become a permanent employee. In cases in which permanent employees are selected from a pool of temps, the temps will often work hard in hopes of becoming permanent. A less obvious answer is the opportunity for training. The ability of a temporary employee to find a new job is largely dependent on his or her skills.</a:t>
            </a:r>
          </a:p>
          <a:p>
            <a:pPr eaLnBrk="1" hangingPunct="1"/>
            <a:endParaRPr lang="en-US" dirty="0">
              <a:cs typeface="Arial" charset="0"/>
            </a:endParaRP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2191888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With practice outpacing research, managers are calling on what we know about motivation to attempt to positively impact remote workers. As we have noted, just the option to work remotely does motivate some workers. Flexible hours positively impact motivation, however, and thus the flexibility of remote work is important.</a:t>
            </a:r>
          </a:p>
          <a:p>
            <a:pPr eaLnBrk="1" hangingPunct="1"/>
            <a:endParaRPr lang="en-US" dirty="0">
              <a:cs typeface="Arial" charset="0"/>
            </a:endParaRPr>
          </a:p>
          <a:p>
            <a:pPr eaLnBrk="1" hangingPunct="1"/>
            <a:r>
              <a:rPr lang="en-US" dirty="0">
                <a:cs typeface="Arial" charset="0"/>
              </a:rPr>
              <a:t>One of the challenges for companies is establishing a remote or hybrid work policy. Determining who can work remotely or, if hybrid, how much time employees need to spend in the office is important. If workers perceive the policy as unfair, it could negatively impact motivation. Here procedural justice comes into play in determining a company’s policy.</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2700950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Many organizations of various sizes involve their employees in workplace decisions by opening up the financial statements (the “books”). They share that information so employees will be motivated to make better decisions about their work and better able to understand the implications of what they do, how they do it, and the ultimate impact on the bottom line. This approach is called </a:t>
            </a:r>
            <a:r>
              <a:rPr lang="en-US" b="1" dirty="0">
                <a:cs typeface="Arial" charset="0"/>
              </a:rPr>
              <a:t>open-book management </a:t>
            </a:r>
            <a:r>
              <a:rPr lang="en-US" dirty="0">
                <a:cs typeface="Arial" charset="0"/>
              </a:rPr>
              <a:t>and many organizations are using it.</a:t>
            </a:r>
          </a:p>
          <a:p>
            <a:pPr eaLnBrk="1" hangingPunct="1"/>
            <a:endParaRPr lang="en-US" dirty="0">
              <a:cs typeface="Arial" charset="0"/>
            </a:endParaRPr>
          </a:p>
          <a:p>
            <a:pPr eaLnBrk="1" hangingPunct="1"/>
            <a:r>
              <a:rPr lang="en-US" b="1" dirty="0">
                <a:cs typeface="Arial" charset="0"/>
              </a:rPr>
              <a:t>Employee recognition programs </a:t>
            </a:r>
            <a:r>
              <a:rPr lang="en-US" dirty="0">
                <a:cs typeface="Arial" charset="0"/>
              </a:rPr>
              <a:t>consist of personal attention and expressing interest, approval, and appreciation for a job well done. They can take numerous forms.</a:t>
            </a:r>
          </a:p>
          <a:p>
            <a:pPr eaLnBrk="1" hangingPunct="1"/>
            <a:endParaRPr lang="en-US" dirty="0">
              <a:cs typeface="Arial" charset="0"/>
            </a:endParaRPr>
          </a:p>
          <a:p>
            <a:pPr eaLnBrk="1" hangingPunct="1"/>
            <a:r>
              <a:rPr lang="en-US" b="1" dirty="0">
                <a:cs typeface="Arial" charset="0"/>
              </a:rPr>
              <a:t>Pay-for-performance programs </a:t>
            </a:r>
            <a:r>
              <a:rPr lang="en-US" dirty="0">
                <a:cs typeface="Arial" charset="0"/>
              </a:rPr>
              <a:t>are variable compensation plans that pay employees on the basis of some performance measure.</a:t>
            </a:r>
            <a:r>
              <a:rPr lang="en-US" baseline="0" dirty="0">
                <a:cs typeface="Arial" charset="0"/>
              </a:rPr>
              <a:t> </a:t>
            </a:r>
            <a:r>
              <a:rPr lang="en-US" dirty="0">
                <a:cs typeface="Arial" charset="0"/>
              </a:rPr>
              <a:t>Piece-rate pay plans, wage incentive plans, profit-sharing, and lump-sum bonuses are examples. What differentiates these forms of pay from more traditional compensation plans is that instead of paying a person for time on the job, pay is adjusted to reflect some performance measure.</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42485277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51</a:t>
            </a:fld>
            <a:endParaRPr lang="en-US" dirty="0"/>
          </a:p>
        </p:txBody>
      </p:sp>
    </p:spTree>
    <p:extLst>
      <p:ext uri="{BB962C8B-B14F-4D97-AF65-F5344CB8AC3E}">
        <p14:creationId xmlns:p14="http://schemas.microsoft.com/office/powerpoint/2010/main" val="29399542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Managers need good people skills. The material in this and the next three chapters draws heavily on the field of study that’s known as </a:t>
            </a:r>
            <a:r>
              <a:rPr lang="en-US" i="1" dirty="0">
                <a:cs typeface="Arial" charset="0"/>
              </a:rPr>
              <a:t>organizational behavior (OB). </a:t>
            </a:r>
            <a:r>
              <a:rPr lang="en-US" dirty="0">
                <a:cs typeface="Arial" charset="0"/>
              </a:rPr>
              <a:t>Although it’s concerned with the subject of </a:t>
            </a:r>
            <a:r>
              <a:rPr lang="en-US" b="1" dirty="0">
                <a:cs typeface="Arial" charset="0"/>
              </a:rPr>
              <a:t>behavior</a:t>
            </a:r>
            <a:r>
              <a:rPr lang="en-US" dirty="0">
                <a:cs typeface="Arial" charset="0"/>
              </a:rPr>
              <a:t>—that is, the actions of people—</a:t>
            </a:r>
            <a:r>
              <a:rPr lang="en-US" b="1" dirty="0">
                <a:cs typeface="Arial" charset="0"/>
              </a:rPr>
              <a:t>organizational behavior </a:t>
            </a:r>
            <a:r>
              <a:rPr lang="en-US" dirty="0">
                <a:cs typeface="Arial" charset="0"/>
              </a:rPr>
              <a:t>is the study of the actions of people at work.</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52</a:t>
            </a:fld>
            <a:endParaRPr lang="en-US" dirty="0"/>
          </a:p>
        </p:txBody>
      </p:sp>
    </p:spTree>
    <p:extLst>
      <p:ext uri="{BB962C8B-B14F-4D97-AF65-F5344CB8AC3E}">
        <p14:creationId xmlns:p14="http://schemas.microsoft.com/office/powerpoint/2010/main" val="13128522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Arial" charset="0"/>
              </a:rPr>
              <a:t>One of the challenges in understanding organizational behavior is that it addresses issues that aren’t obvious. Like an iceberg, OB has a small visible dimension and a much larger hidden portion. (See </a:t>
            </a:r>
            <a:r>
              <a:rPr lang="en-US" b="1" dirty="0">
                <a:cs typeface="Arial" charset="0"/>
              </a:rPr>
              <a:t>Exhibit 13-1</a:t>
            </a:r>
            <a:r>
              <a:rPr lang="en-US" dirty="0">
                <a:cs typeface="Arial" charset="0"/>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Long Description:</a:t>
            </a:r>
          </a:p>
          <a:p>
            <a:r>
              <a:rPr lang="en-US" sz="1200" kern="1200" dirty="0">
                <a:solidFill>
                  <a:schemeClr val="tx1"/>
                </a:solidFill>
                <a:effectLst/>
                <a:latin typeface="+mn-lt"/>
                <a:ea typeface="+mn-ea"/>
                <a:cs typeface="+mn-cs"/>
              </a:rPr>
              <a:t>The illustration labels the part of the iceberg above the water as “Visible aspects” and the part of the iceberg below the water as “Hidden aspects.” The illustration also lists the aspects of each of them as follows.</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Visible Aspects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Strategies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Objectives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Policies and Procedures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Structure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Technology</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Formal Authority</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Chain of Command</a:t>
            </a:r>
          </a:p>
          <a:p>
            <a:r>
              <a:rPr lang="en-US" sz="1200" b="1" kern="1200" dirty="0">
                <a:solidFill>
                  <a:schemeClr val="tx1"/>
                </a:solidFill>
                <a:effectLst/>
                <a:latin typeface="+mn-lt"/>
                <a:ea typeface="+mn-ea"/>
                <a:cs typeface="+mn-cs"/>
              </a:rPr>
              <a:t>Hidden Aspects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Attitudes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Perceptions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Group Norms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Informal Interactions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Interpersonal and Intergroup Conflicts</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53</a:t>
            </a:fld>
            <a:endParaRPr lang="en-US" dirty="0"/>
          </a:p>
        </p:txBody>
      </p:sp>
    </p:spTree>
    <p:extLst>
      <p:ext uri="{BB962C8B-B14F-4D97-AF65-F5344CB8AC3E}">
        <p14:creationId xmlns:p14="http://schemas.microsoft.com/office/powerpoint/2010/main" val="35555597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Organizational behavior focuses on three major areas. First, OB looks at </a:t>
            </a:r>
            <a:r>
              <a:rPr lang="en-US" i="1" dirty="0">
                <a:cs typeface="Arial" charset="0"/>
              </a:rPr>
              <a:t>individual behavior. </a:t>
            </a:r>
            <a:r>
              <a:rPr lang="en-US" dirty="0">
                <a:cs typeface="Arial" charset="0"/>
              </a:rPr>
              <a:t>Based predominantly on contributions from psychologists, this area includes topics such as attitudes, personality, perception, learning, and motivation. Second, OB is concerned with </a:t>
            </a:r>
            <a:r>
              <a:rPr lang="en-US" i="1" dirty="0">
                <a:cs typeface="Arial" charset="0"/>
              </a:rPr>
              <a:t>group behavior</a:t>
            </a:r>
            <a:r>
              <a:rPr lang="en-US" dirty="0">
                <a:cs typeface="Arial" charset="0"/>
              </a:rPr>
              <a:t>, which includes norms, roles, team building, leadership, and conflict. Our knowledge about groups comes basically</a:t>
            </a:r>
            <a:r>
              <a:rPr lang="en-US" baseline="0" dirty="0">
                <a:cs typeface="Arial" charset="0"/>
              </a:rPr>
              <a:t> </a:t>
            </a:r>
            <a:r>
              <a:rPr lang="en-US" dirty="0">
                <a:cs typeface="Arial" charset="0"/>
              </a:rPr>
              <a:t>from the work of sociologists and social psychologists. Finally, OB also looks at </a:t>
            </a:r>
            <a:r>
              <a:rPr lang="en-US" i="1" dirty="0">
                <a:cs typeface="Arial" charset="0"/>
              </a:rPr>
              <a:t>organizational </a:t>
            </a:r>
            <a:r>
              <a:rPr lang="en-US" dirty="0">
                <a:cs typeface="Arial" charset="0"/>
              </a:rPr>
              <a:t>aspects including structure, culture, and human resource policies and practices. We’ve addressed group and organizational aspects in previous chapters. In this chapter, we’ll look at individual behavior.</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54</a:t>
            </a:fld>
            <a:endParaRPr lang="en-US" dirty="0"/>
          </a:p>
        </p:txBody>
      </p:sp>
    </p:spTree>
    <p:extLst>
      <p:ext uri="{BB962C8B-B14F-4D97-AF65-F5344CB8AC3E}">
        <p14:creationId xmlns:p14="http://schemas.microsoft.com/office/powerpoint/2010/main" val="18681713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The goals of OB are to </a:t>
            </a:r>
            <a:r>
              <a:rPr lang="en-US" i="1" dirty="0">
                <a:cs typeface="Arial" charset="0"/>
              </a:rPr>
              <a:t>explain, predict, </a:t>
            </a:r>
            <a:r>
              <a:rPr lang="en-US" dirty="0">
                <a:cs typeface="Arial" charset="0"/>
              </a:rPr>
              <a:t>and </a:t>
            </a:r>
            <a:r>
              <a:rPr lang="en-US" i="1" dirty="0">
                <a:cs typeface="Arial" charset="0"/>
              </a:rPr>
              <a:t>influence </a:t>
            </a:r>
            <a:r>
              <a:rPr lang="en-US" dirty="0">
                <a:cs typeface="Arial" charset="0"/>
              </a:rPr>
              <a:t>behavior. Managers need to be able to </a:t>
            </a:r>
            <a:r>
              <a:rPr lang="en-US" i="1" dirty="0">
                <a:cs typeface="Arial" charset="0"/>
              </a:rPr>
              <a:t>explain </a:t>
            </a:r>
            <a:r>
              <a:rPr lang="en-US" dirty="0">
                <a:cs typeface="Arial" charset="0"/>
              </a:rPr>
              <a:t>why employees engage in some behaviors rather than others, </a:t>
            </a:r>
            <a:r>
              <a:rPr lang="en-US" i="1" dirty="0">
                <a:cs typeface="Arial" charset="0"/>
              </a:rPr>
              <a:t>predict </a:t>
            </a:r>
            <a:r>
              <a:rPr lang="en-US" dirty="0">
                <a:cs typeface="Arial" charset="0"/>
              </a:rPr>
              <a:t>how employees will respond to various actions and decisions, and </a:t>
            </a:r>
            <a:r>
              <a:rPr lang="en-US" i="1" dirty="0">
                <a:cs typeface="Arial" charset="0"/>
              </a:rPr>
              <a:t>influence </a:t>
            </a:r>
            <a:r>
              <a:rPr lang="en-US" dirty="0">
                <a:cs typeface="Arial" charset="0"/>
              </a:rPr>
              <a:t>how employees behave.</a:t>
            </a:r>
          </a:p>
          <a:p>
            <a:pPr eaLnBrk="1" hangingPunct="1"/>
            <a:endParaRPr lang="en-US" dirty="0">
              <a:cs typeface="Arial" charset="0"/>
            </a:endParaRPr>
          </a:p>
          <a:p>
            <a:pPr eaLnBrk="1" hangingPunct="1"/>
            <a:r>
              <a:rPr lang="en-US" dirty="0">
                <a:cs typeface="Arial" charset="0"/>
              </a:rPr>
              <a:t>What employee behaviors are we specifically concerned with explaining, predicting, and influencing? Six important ones have been identified: employee productivity, absenteeism, turnover, organizational citizenship behavior (OCB), job satisfaction, and workplace misbehavior. </a:t>
            </a:r>
            <a:r>
              <a:rPr lang="en-US" b="1" dirty="0">
                <a:cs typeface="Arial" charset="0"/>
              </a:rPr>
              <a:t>Employee productivity </a:t>
            </a:r>
            <a:r>
              <a:rPr lang="en-US" dirty="0">
                <a:cs typeface="Arial" charset="0"/>
              </a:rPr>
              <a:t>is a performance measure of both efficiency and effectiveness. Managers want to know what factors will influence</a:t>
            </a:r>
            <a:r>
              <a:rPr lang="en-US" baseline="0" dirty="0">
                <a:cs typeface="Arial" charset="0"/>
              </a:rPr>
              <a:t> </a:t>
            </a:r>
            <a:r>
              <a:rPr lang="en-US" dirty="0">
                <a:cs typeface="Arial" charset="0"/>
              </a:rPr>
              <a:t>the efficiency and effectiveness of employees. </a:t>
            </a:r>
            <a:r>
              <a:rPr lang="en-US" b="1" dirty="0">
                <a:cs typeface="Arial" charset="0"/>
              </a:rPr>
              <a:t>Absenteeism </a:t>
            </a:r>
            <a:r>
              <a:rPr lang="en-US" dirty="0">
                <a:cs typeface="Arial" charset="0"/>
              </a:rPr>
              <a:t>is the failure to show up for work. It’s difficult for work to get done if employees don’t show up. </a:t>
            </a:r>
            <a:r>
              <a:rPr lang="en-US" b="1" dirty="0">
                <a:cs typeface="Arial" charset="0"/>
              </a:rPr>
              <a:t>Turnover </a:t>
            </a:r>
            <a:r>
              <a:rPr lang="en-US" dirty="0">
                <a:cs typeface="Arial" charset="0"/>
              </a:rPr>
              <a:t>is the voluntary and involuntary permanent withdrawal from an organization. It can be a problem because of increased recruiting, selection, and training costs and work disruptions.</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55</a:t>
            </a:fld>
            <a:endParaRPr lang="en-US" dirty="0"/>
          </a:p>
        </p:txBody>
      </p:sp>
    </p:spTree>
    <p:extLst>
      <p:ext uri="{BB962C8B-B14F-4D97-AF65-F5344CB8AC3E}">
        <p14:creationId xmlns:p14="http://schemas.microsoft.com/office/powerpoint/2010/main" val="34428240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b="1" dirty="0">
                <a:cs typeface="Arial" charset="0"/>
              </a:rPr>
              <a:t>Organizational citizenship behavior (OCB) </a:t>
            </a:r>
            <a:r>
              <a:rPr lang="en-US" dirty="0">
                <a:cs typeface="Arial" charset="0"/>
              </a:rPr>
              <a:t>is discretionary behavior that’s not part of an employee’s formal job requirements but promotes the effective functioning of the organization.</a:t>
            </a:r>
          </a:p>
          <a:p>
            <a:pPr eaLnBrk="1" hangingPunct="1"/>
            <a:endParaRPr lang="en-US" dirty="0">
              <a:cs typeface="Arial" charset="0"/>
            </a:endParaRPr>
          </a:p>
          <a:p>
            <a:pPr eaLnBrk="1" hangingPunct="1"/>
            <a:r>
              <a:rPr lang="en-US" b="1" dirty="0">
                <a:cs typeface="Arial" charset="0"/>
              </a:rPr>
              <a:t>Job satisfaction </a:t>
            </a:r>
            <a:r>
              <a:rPr lang="en-US" dirty="0">
                <a:cs typeface="Arial" charset="0"/>
              </a:rPr>
              <a:t>refers to an employee’s general attitude toward his or her job. Although job satisfaction is an attitude rather than a behavior, it’s an outcome that concerns many managers because satisfied employees are more likely to show up for work, have higher levels of performance, and stay with an organization.</a:t>
            </a:r>
          </a:p>
          <a:p>
            <a:pPr eaLnBrk="1" hangingPunct="1"/>
            <a:endParaRPr lang="en-US" dirty="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a:cs typeface="Arial" charset="0"/>
              </a:rPr>
              <a:t>Counterproductive</a:t>
            </a:r>
            <a:r>
              <a:rPr lang="en-US" b="1" baseline="0" dirty="0">
                <a:cs typeface="Arial" charset="0"/>
              </a:rPr>
              <a:t> w</a:t>
            </a:r>
            <a:r>
              <a:rPr lang="en-US" b="1" dirty="0">
                <a:cs typeface="Arial" charset="0"/>
              </a:rPr>
              <a:t>orkplace behavior </a:t>
            </a:r>
            <a:r>
              <a:rPr lang="en-US" dirty="0">
                <a:cs typeface="Arial" charset="0"/>
              </a:rPr>
              <a:t>is any intentional employee behavior that is potentially harmful to the organization or individuals within the organization. Workplace misbehavior shows up in organizations in four ways: deviance, aggression, antisocial behavior, and violence. Such behaviors can range from playing loud music just to irritate coworkers to verbal aggression to sabotaging work, all of which can create</a:t>
            </a:r>
            <a:r>
              <a:rPr lang="en-US" baseline="0" dirty="0">
                <a:cs typeface="Arial" charset="0"/>
              </a:rPr>
              <a:t> </a:t>
            </a:r>
            <a:r>
              <a:rPr lang="en-US" dirty="0">
                <a:cs typeface="Arial" charset="0"/>
              </a:rPr>
              <a:t>havoc in any organization.</a:t>
            </a:r>
          </a:p>
          <a:p>
            <a:pPr eaLnBrk="1" hangingPunct="1"/>
            <a:endParaRPr lang="en-US" dirty="0">
              <a:cs typeface="Arial" charset="0"/>
            </a:endParaRP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56</a:t>
            </a:fld>
            <a:endParaRPr lang="en-US" dirty="0"/>
          </a:p>
        </p:txBody>
      </p:sp>
    </p:spTree>
    <p:extLst>
      <p:ext uri="{BB962C8B-B14F-4D97-AF65-F5344CB8AC3E}">
        <p14:creationId xmlns:p14="http://schemas.microsoft.com/office/powerpoint/2010/main" val="3686314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b="1" dirty="0">
                <a:cs typeface="Arial" charset="0"/>
              </a:rPr>
              <a:t>Attitudes </a:t>
            </a:r>
            <a:r>
              <a:rPr lang="en-US" dirty="0">
                <a:cs typeface="Arial" charset="0"/>
              </a:rPr>
              <a:t>are evaluative statements—favorable or unfavorable—concerning objects, people, or events. They reflect how an individual feels about something. When a person says, “I like my job,” he or she is expressing an attitude about work. An attitude is made up of three components: cognition, affect, and behavior.</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57</a:t>
            </a:fld>
            <a:endParaRPr lang="en-US" dirty="0"/>
          </a:p>
        </p:txBody>
      </p:sp>
    </p:spTree>
    <p:extLst>
      <p:ext uri="{BB962C8B-B14F-4D97-AF65-F5344CB8AC3E}">
        <p14:creationId xmlns:p14="http://schemas.microsoft.com/office/powerpoint/2010/main" val="21923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The </a:t>
            </a:r>
            <a:r>
              <a:rPr lang="en-US" b="1" dirty="0">
                <a:cs typeface="Arial" charset="0"/>
              </a:rPr>
              <a:t>cognitive component </a:t>
            </a:r>
            <a:r>
              <a:rPr lang="en-US" dirty="0">
                <a:cs typeface="Arial" charset="0"/>
              </a:rPr>
              <a:t>of an attitude refers to the beliefs, opinions, knowledge, or information held by a person (for instance, the belief that “discrimination is wrong”). The </a:t>
            </a:r>
            <a:r>
              <a:rPr lang="en-US" b="1" dirty="0">
                <a:cs typeface="Arial" charset="0"/>
              </a:rPr>
              <a:t>affective component </a:t>
            </a:r>
            <a:r>
              <a:rPr lang="en-US" dirty="0">
                <a:cs typeface="Arial" charset="0"/>
              </a:rPr>
              <a:t>of an attitude is the emotional or feeling part of an attitude. Using our example, this component would be reflected by the statement, “I don’t like Pat because he discriminates against minorities.” Finally, affect can lead</a:t>
            </a:r>
            <a:r>
              <a:rPr lang="en-US" baseline="0" dirty="0">
                <a:cs typeface="Arial" charset="0"/>
              </a:rPr>
              <a:t> </a:t>
            </a:r>
            <a:r>
              <a:rPr lang="en-US" dirty="0">
                <a:cs typeface="Arial" charset="0"/>
              </a:rPr>
              <a:t>to behavioral outcomes. The </a:t>
            </a:r>
            <a:r>
              <a:rPr lang="en-US" b="1" dirty="0">
                <a:cs typeface="Arial" charset="0"/>
              </a:rPr>
              <a:t>behavioral component </a:t>
            </a:r>
            <a:r>
              <a:rPr lang="en-US" dirty="0">
                <a:cs typeface="Arial" charset="0"/>
              </a:rPr>
              <a:t>of an attitude refers to an intention to behave in a certain way toward someone or something.</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58</a:t>
            </a:fld>
            <a:endParaRPr lang="en-US" dirty="0"/>
          </a:p>
        </p:txBody>
      </p:sp>
    </p:spTree>
    <p:extLst>
      <p:ext uri="{BB962C8B-B14F-4D97-AF65-F5344CB8AC3E}">
        <p14:creationId xmlns:p14="http://schemas.microsoft.com/office/powerpoint/2010/main" val="1195282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A person with a high level of job satisfaction has a positive attitude toward his or her job. A person who is dissatisfied has a negative</a:t>
            </a:r>
            <a:r>
              <a:rPr lang="en-US" baseline="0" dirty="0">
                <a:cs typeface="Arial" charset="0"/>
              </a:rPr>
              <a:t> </a:t>
            </a:r>
            <a:r>
              <a:rPr lang="en-US" dirty="0">
                <a:cs typeface="Arial" charset="0"/>
              </a:rPr>
              <a:t>attitude. When people speak of employee attitudes, they usually are referring to job satisfaction.</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59</a:t>
            </a:fld>
            <a:endParaRPr lang="en-US" dirty="0"/>
          </a:p>
        </p:txBody>
      </p:sp>
    </p:spTree>
    <p:extLst>
      <p:ext uri="{BB962C8B-B14F-4D97-AF65-F5344CB8AC3E}">
        <p14:creationId xmlns:p14="http://schemas.microsoft.com/office/powerpoint/2010/main" val="1945031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b="1" dirty="0">
                <a:cs typeface="Arial" charset="0"/>
              </a:rPr>
              <a:t>Job involvement </a:t>
            </a:r>
            <a:r>
              <a:rPr lang="en-US" dirty="0">
                <a:cs typeface="Arial" charset="0"/>
              </a:rPr>
              <a:t>is the degree to which an employee identifies with his or her job, actively participates in it, and considers his or her job performance to be important to his or her self-worth. Employees with a high level of job involvement strongly identify with and really care about the kind of work they do. Their positive attitude leads them to contribute in positive ways to their work.</a:t>
            </a:r>
          </a:p>
          <a:p>
            <a:pPr eaLnBrk="1" hangingPunct="1"/>
            <a:endParaRPr lang="en-US" dirty="0">
              <a:cs typeface="Arial" charset="0"/>
            </a:endParaRPr>
          </a:p>
          <a:p>
            <a:pPr eaLnBrk="1" hangingPunct="1"/>
            <a:r>
              <a:rPr lang="en-US" b="1" dirty="0">
                <a:cs typeface="Arial" charset="0"/>
              </a:rPr>
              <a:t>Organizational commitment </a:t>
            </a:r>
            <a:r>
              <a:rPr lang="en-US" dirty="0">
                <a:cs typeface="Arial" charset="0"/>
              </a:rPr>
              <a:t>is the degree to which an employee identifies with a particular organization and its goals and wishes to maintain membership in that organization. Whereas job involvement is identifying with your job, organizational commitment is identifying with your employing organization.</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60</a:t>
            </a:fld>
            <a:endParaRPr lang="en-US" dirty="0"/>
          </a:p>
        </p:txBody>
      </p:sp>
    </p:spTree>
    <p:extLst>
      <p:ext uri="{BB962C8B-B14F-4D97-AF65-F5344CB8AC3E}">
        <p14:creationId xmlns:p14="http://schemas.microsoft.com/office/powerpoint/2010/main" val="3785752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Managers want their employees to be connected to, satisfied with, and enthusiastic about their jobs. This concept is known as </a:t>
            </a:r>
            <a:r>
              <a:rPr lang="en-US" b="1" dirty="0">
                <a:cs typeface="Arial" charset="0"/>
              </a:rPr>
              <a:t>employee engagement</a:t>
            </a:r>
            <a:r>
              <a:rPr lang="en-US" dirty="0">
                <a:cs typeface="Arial" charset="0"/>
              </a:rPr>
              <a:t>. Highly engaged employees are passionate about and deeply connected to their work. A number of benefits come from having highly engaged employees. First, highly engaged employees are two-and-a-half times more likely to be top performers than their less-engaged coworkers. In addition, companies with highly engaged employees have higher retention rates, which help keep recruiting and training costs low. And both of these outcomes—higher performance and lower costs—contribute to superior financial performance.</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61</a:t>
            </a:fld>
            <a:endParaRPr lang="en-US" dirty="0"/>
          </a:p>
        </p:txBody>
      </p:sp>
    </p:spTree>
    <p:extLst>
      <p:ext uri="{BB962C8B-B14F-4D97-AF65-F5344CB8AC3E}">
        <p14:creationId xmlns:p14="http://schemas.microsoft.com/office/powerpoint/2010/main" val="17053697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People seek to remove dissonance from their lives which impacts their behavior.</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62</a:t>
            </a:fld>
            <a:endParaRPr lang="en-US" dirty="0"/>
          </a:p>
        </p:txBody>
      </p:sp>
    </p:spTree>
    <p:extLst>
      <p:ext uri="{BB962C8B-B14F-4D97-AF65-F5344CB8AC3E}">
        <p14:creationId xmlns:p14="http://schemas.microsoft.com/office/powerpoint/2010/main" val="10748485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cs typeface="Arial" charset="0"/>
              </a:rPr>
              <a:t>Cognitive dissonance theory sought to explain the relationship between attitudes and behavior. </a:t>
            </a:r>
            <a:r>
              <a:rPr lang="en-US" b="1" dirty="0">
                <a:cs typeface="Arial" charset="0"/>
              </a:rPr>
              <a:t>Cognitive dissonance </a:t>
            </a:r>
            <a:r>
              <a:rPr lang="en-US" dirty="0">
                <a:cs typeface="Arial" charset="0"/>
              </a:rPr>
              <a:t>is any incompatibility or inconsistency between attitudes or between behavior and attitudes. The theory argued that inconsistency is uncomfortable and that individuals will try to reduce the discomfort and thus, the dissonance. </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63</a:t>
            </a:fld>
            <a:endParaRPr lang="en-US" dirty="0"/>
          </a:p>
        </p:txBody>
      </p:sp>
    </p:spTree>
    <p:extLst>
      <p:ext uri="{BB962C8B-B14F-4D97-AF65-F5344CB8AC3E}">
        <p14:creationId xmlns:p14="http://schemas.microsoft.com/office/powerpoint/2010/main" val="9207128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Many organizations regularly survey their employees about their attitudes. Typically, </a:t>
            </a:r>
            <a:r>
              <a:rPr lang="en-US" b="1" dirty="0">
                <a:cs typeface="Arial" charset="0"/>
              </a:rPr>
              <a:t>attitude surveys </a:t>
            </a:r>
            <a:r>
              <a:rPr lang="en-US" dirty="0">
                <a:cs typeface="Arial" charset="0"/>
              </a:rPr>
              <a:t>present the employee with a set of statements or questions eliciting how they feel about their jobs, work groups, supervisors, or the organization. Ideally, the items will be</a:t>
            </a:r>
            <a:r>
              <a:rPr lang="en-US" baseline="0" dirty="0">
                <a:cs typeface="Arial" charset="0"/>
              </a:rPr>
              <a:t> </a:t>
            </a:r>
            <a:r>
              <a:rPr lang="en-US" dirty="0">
                <a:cs typeface="Arial" charset="0"/>
              </a:rPr>
              <a:t>designed to obtain the specific information that managers desire. An attitude score is achieved by summing up responses to individual questionnaire items. These scores can then be averaged for work groups, departments, divisions, or the organization as a whole.</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64</a:t>
            </a:fld>
            <a:endParaRPr lang="en-US" dirty="0"/>
          </a:p>
        </p:txBody>
      </p:sp>
    </p:spTree>
    <p:extLst>
      <p:ext uri="{BB962C8B-B14F-4D97-AF65-F5344CB8AC3E}">
        <p14:creationId xmlns:p14="http://schemas.microsoft.com/office/powerpoint/2010/main" val="10416646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cs typeface="Arial" charset="0"/>
              </a:rPr>
              <a:t>Exhibit 13-2</a:t>
            </a:r>
            <a:r>
              <a:rPr lang="en-US" dirty="0">
                <a:cs typeface="Arial" charset="0"/>
              </a:rPr>
              <a:t> shows an example of an actual attitude survey.</a:t>
            </a:r>
          </a:p>
          <a:p>
            <a:pPr eaLnBrk="1" hangingPunct="1"/>
            <a:endParaRPr lang="en-US" dirty="0">
              <a:cs typeface="Arial" charset="0"/>
            </a:endParaRP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65</a:t>
            </a:fld>
            <a:endParaRPr lang="en-US" dirty="0"/>
          </a:p>
        </p:txBody>
      </p:sp>
    </p:spTree>
    <p:extLst>
      <p:ext uri="{BB962C8B-B14F-4D97-AF65-F5344CB8AC3E}">
        <p14:creationId xmlns:p14="http://schemas.microsoft.com/office/powerpoint/2010/main" val="28699389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As noted in the chapter opening, AI tools can support a more accurate assessment of employee attitudes and engagement at work. SML, a specialty chemical supplier based in Indonesia, used an AI tool to track employee attitudes, specifically employee happiness and stress levels, to identify opportunities to boost employee morale. The AI tool was programmed using past data from the organization including insights from in-depth employee interviews. Employees were then surveyed monthly, and management studied the patterns that emerged and planned responses depending on any concerns identified. For example, as they noticed an increase in stress levels, they were able to identify a miscommunication that was corrected.</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66</a:t>
            </a:fld>
            <a:endParaRPr lang="en-US" dirty="0"/>
          </a:p>
        </p:txBody>
      </p:sp>
    </p:spTree>
    <p:extLst>
      <p:ext uri="{BB962C8B-B14F-4D97-AF65-F5344CB8AC3E}">
        <p14:creationId xmlns:p14="http://schemas.microsoft.com/office/powerpoint/2010/main" val="15422179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managers want to keep resignations and absences down—especially among their more productive employees—they’ll want to do things that generate positive job attitudes. Managers can focus on making work challenging and interesting, providing equitable rewards, creating supportive working conditions, and encouraging supportive colleagues.</a:t>
            </a:r>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67</a:t>
            </a:fld>
            <a:endParaRPr lang="en-US" dirty="0"/>
          </a:p>
        </p:txBody>
      </p:sp>
    </p:spTree>
    <p:extLst>
      <p:ext uri="{BB962C8B-B14F-4D97-AF65-F5344CB8AC3E}">
        <p14:creationId xmlns:p14="http://schemas.microsoft.com/office/powerpoint/2010/main" val="30074388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An individual’s </a:t>
            </a:r>
            <a:r>
              <a:rPr lang="en-US" b="1" dirty="0">
                <a:cs typeface="Arial" charset="0"/>
              </a:rPr>
              <a:t>personality </a:t>
            </a:r>
            <a:r>
              <a:rPr lang="en-US" dirty="0">
                <a:cs typeface="Arial" charset="0"/>
              </a:rPr>
              <a:t>is a unique combination of emotional, thought, and behavioral patterns that affect how a person reacts to situations and interacts with others. It’s our natural way of doing things and relating to others. Personality is most often described in terms of measurable traits a person exhibits. We’re interested in looking at personality because just like attitudes, it too, affects how and why people behave the way they do.</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68</a:t>
            </a:fld>
            <a:endParaRPr lang="en-US" dirty="0"/>
          </a:p>
        </p:txBody>
      </p:sp>
    </p:spTree>
    <p:extLst>
      <p:ext uri="{BB962C8B-B14F-4D97-AF65-F5344CB8AC3E}">
        <p14:creationId xmlns:p14="http://schemas.microsoft.com/office/powerpoint/2010/main" val="2764436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Some people believe they control their own fate. Others see themselves as pawns, believing that what happens to them in their lives is due to</a:t>
            </a:r>
            <a:r>
              <a:rPr lang="en-US" baseline="0" dirty="0">
                <a:cs typeface="Arial" charset="0"/>
              </a:rPr>
              <a:t> </a:t>
            </a:r>
            <a:r>
              <a:rPr lang="en-US" dirty="0">
                <a:cs typeface="Arial" charset="0"/>
              </a:rPr>
              <a:t>luck or chance. The </a:t>
            </a:r>
            <a:r>
              <a:rPr lang="en-US" b="1" dirty="0">
                <a:cs typeface="Arial" charset="0"/>
              </a:rPr>
              <a:t>locus of control </a:t>
            </a:r>
            <a:r>
              <a:rPr lang="en-US" dirty="0">
                <a:cs typeface="Arial" charset="0"/>
              </a:rPr>
              <a:t>in the first case is </a:t>
            </a:r>
            <a:r>
              <a:rPr lang="en-US" i="1" dirty="0">
                <a:cs typeface="Arial" charset="0"/>
              </a:rPr>
              <a:t>internal</a:t>
            </a:r>
            <a:r>
              <a:rPr lang="en-US" dirty="0">
                <a:cs typeface="Arial" charset="0"/>
              </a:rPr>
              <a:t>; these people believe they control their own destiny. The locus of control in the second case is </a:t>
            </a:r>
            <a:r>
              <a:rPr lang="en-US" i="1" dirty="0">
                <a:cs typeface="Arial" charset="0"/>
              </a:rPr>
              <a:t>external</a:t>
            </a:r>
            <a:r>
              <a:rPr lang="en-US" dirty="0">
                <a:cs typeface="Arial" charset="0"/>
              </a:rPr>
              <a:t>; these people believe their lives are controlled by outside forces.</a:t>
            </a:r>
          </a:p>
          <a:p>
            <a:pPr eaLnBrk="1" hangingPunct="1"/>
            <a:endParaRPr lang="en-US" dirty="0">
              <a:cs typeface="Arial" charset="0"/>
            </a:endParaRPr>
          </a:p>
          <a:p>
            <a:pPr eaLnBrk="1" hangingPunct="1"/>
            <a:r>
              <a:rPr lang="en-US" dirty="0">
                <a:cs typeface="Arial" charset="0"/>
              </a:rPr>
              <a:t>People differ in the degree to which they like or dislike themselves, a trait called </a:t>
            </a:r>
            <a:r>
              <a:rPr lang="en-US" b="1" dirty="0">
                <a:cs typeface="Arial" charset="0"/>
              </a:rPr>
              <a:t>self-esteem</a:t>
            </a:r>
            <a:r>
              <a:rPr lang="en-US" dirty="0">
                <a:cs typeface="Arial" charset="0"/>
              </a:rPr>
              <a:t>. Research on self-esteem (SE) offers some interesting behavioral insights. For example, self-esteem is directly related to expectations for success. High SEs believe they possess the ability they need to succeed at work. Individuals with high SEs will take more risks in job selection and are more likely to choose unconventional jobs than people with low SEs.</a:t>
            </a:r>
          </a:p>
          <a:p>
            <a:pPr eaLnBrk="1" hangingPunct="1"/>
            <a:endParaRPr lang="en-US" dirty="0">
              <a:cs typeface="Arial" charset="0"/>
            </a:endParaRPr>
          </a:p>
          <a:p>
            <a:pPr eaLnBrk="1" hangingPunct="1"/>
            <a:r>
              <a:rPr lang="en-US" dirty="0">
                <a:cs typeface="Arial" charset="0"/>
              </a:rPr>
              <a:t>That natural ability to “click” with other people may play a significant role in determining career success and is another personality</a:t>
            </a:r>
            <a:r>
              <a:rPr lang="en-US" baseline="0" dirty="0">
                <a:cs typeface="Arial" charset="0"/>
              </a:rPr>
              <a:t> </a:t>
            </a:r>
            <a:r>
              <a:rPr lang="en-US" dirty="0">
                <a:cs typeface="Arial" charset="0"/>
              </a:rPr>
              <a:t>trait called </a:t>
            </a:r>
            <a:r>
              <a:rPr lang="en-US" b="1" dirty="0">
                <a:cs typeface="Arial" charset="0"/>
              </a:rPr>
              <a:t>self-monitoring</a:t>
            </a:r>
            <a:r>
              <a:rPr lang="en-US" dirty="0">
                <a:cs typeface="Arial" charset="0"/>
              </a:rPr>
              <a:t>, which refers to the ability to adjust behavior to external, situational factors. Individuals high in self-monitoring show considerable adaptability in adjusting their behavior. They’re highly sensitive to external cues and can behave differently in different situations.</a:t>
            </a:r>
          </a:p>
          <a:p>
            <a:pPr eaLnBrk="1" hangingPunct="1"/>
            <a:endParaRPr lang="en-US" dirty="0">
              <a:cs typeface="Arial" charset="0"/>
            </a:endParaRP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69</a:t>
            </a:fld>
            <a:endParaRPr lang="en-US" dirty="0"/>
          </a:p>
        </p:txBody>
      </p:sp>
    </p:spTree>
    <p:extLst>
      <p:ext uri="{BB962C8B-B14F-4D97-AF65-F5344CB8AC3E}">
        <p14:creationId xmlns:p14="http://schemas.microsoft.com/office/powerpoint/2010/main" val="1191493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People differ in their willingness to take chances. Differences in the propensity to assume or to avoid risk have been shown to affect how long it takes managers to make a decision and how much information they require before making their choice. For instance, in one study where managers worked on simulated exercises that required them to make hiring decisions, high-risk-taking managers took less time to make decisions and used less information in making their choices than low risk-taking managers.</a:t>
            </a:r>
            <a:endParaRPr lang="en-US" dirty="0">
              <a:cs typeface="Arial" charset="0"/>
            </a:endParaRPr>
          </a:p>
          <a:p>
            <a:pPr eaLnBrk="1" hangingPunct="1"/>
            <a:endParaRPr lang="en-US" dirty="0">
              <a:cs typeface="Arial" charset="0"/>
            </a:endParaRPr>
          </a:p>
          <a:p>
            <a:pPr eaLnBrk="1" hangingPunct="1"/>
            <a:r>
              <a:rPr lang="en-US" dirty="0">
                <a:cs typeface="Arial" charset="0"/>
              </a:rPr>
              <a:t>Another interesting trait that’s been studied extensively is the </a:t>
            </a:r>
            <a:r>
              <a:rPr lang="en-US" b="1" dirty="0">
                <a:cs typeface="Arial" charset="0"/>
              </a:rPr>
              <a:t>proactive personality</a:t>
            </a:r>
            <a:r>
              <a:rPr lang="en-US" dirty="0">
                <a:cs typeface="Arial" charset="0"/>
              </a:rPr>
              <a:t>, which describes people who identify opportunities, show initiative, take action, and persevere until meaningful change occurs. Not surprisingly, research has shown that proactives have many desirable behaviors that organizations want.</a:t>
            </a:r>
          </a:p>
          <a:p>
            <a:pPr eaLnBrk="1" hangingPunct="1"/>
            <a:endParaRPr lang="en-US" dirty="0">
              <a:cs typeface="Arial" charset="0"/>
            </a:endParaRP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70</a:t>
            </a:fld>
            <a:endParaRPr lang="en-US" dirty="0"/>
          </a:p>
        </p:txBody>
      </p:sp>
    </p:spTree>
    <p:extLst>
      <p:ext uri="{BB962C8B-B14F-4D97-AF65-F5344CB8AC3E}">
        <p14:creationId xmlns:p14="http://schemas.microsoft.com/office/powerpoint/2010/main" val="4827805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National cultures differ in terms of the degree to which people believe they control their environment. For instance, North Americans believe they can dominate their environment; other societies, such as those in Middle Eastern countries, believe life is essentially predetermined. Notice how closely this distinction parallels the concept of internal and external locus of control. On the basis of this particular cultural characteristic, we should expect a larger proportion of internals in the U.S. and Canadian workforces than in the workforces of Saudi Arabia or Iran. </a:t>
            </a:r>
            <a:endParaRPr lang="en-US" dirty="0"/>
          </a:p>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71</a:t>
            </a:fld>
            <a:endParaRPr lang="en-US" dirty="0"/>
          </a:p>
        </p:txBody>
      </p:sp>
    </p:spTree>
    <p:extLst>
      <p:ext uri="{BB962C8B-B14F-4D97-AF65-F5344CB8AC3E}">
        <p14:creationId xmlns:p14="http://schemas.microsoft.com/office/powerpoint/2010/main" val="32515154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How we respond emotionally and how we deal with our emotions are typically functions of our personality. </a:t>
            </a:r>
            <a:r>
              <a:rPr lang="en-US" b="1" dirty="0">
                <a:cs typeface="Arial" charset="0"/>
              </a:rPr>
              <a:t>Emotions </a:t>
            </a:r>
            <a:r>
              <a:rPr lang="en-US" dirty="0">
                <a:cs typeface="Arial" charset="0"/>
              </a:rPr>
              <a:t>are intense feelings directed at someone or something. They’re object-specific; that is, emotions are reactions to an object.</a:t>
            </a:r>
          </a:p>
          <a:p>
            <a:pPr eaLnBrk="1" hangingPunct="1"/>
            <a:endParaRPr lang="en-US" dirty="0">
              <a:cs typeface="Arial" charset="0"/>
            </a:endParaRPr>
          </a:p>
          <a:p>
            <a:pPr eaLnBrk="1" hangingPunct="1"/>
            <a:r>
              <a:rPr lang="en-US" dirty="0">
                <a:cs typeface="Arial" charset="0"/>
              </a:rPr>
              <a:t>One area of emotions research with interesting insights into personality is </a:t>
            </a:r>
            <a:r>
              <a:rPr lang="en-US" b="1" dirty="0">
                <a:cs typeface="Arial" charset="0"/>
              </a:rPr>
              <a:t>emotional intelligence (EI)</a:t>
            </a:r>
            <a:r>
              <a:rPr lang="en-US" dirty="0">
                <a:cs typeface="Arial" charset="0"/>
              </a:rPr>
              <a:t>, the ability to notice and to manage emotional cues and information.</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72</a:t>
            </a:fld>
            <a:endParaRPr lang="en-US" dirty="0"/>
          </a:p>
        </p:txBody>
      </p:sp>
    </p:spTree>
    <p:extLst>
      <p:ext uri="{BB962C8B-B14F-4D97-AF65-F5344CB8AC3E}">
        <p14:creationId xmlns:p14="http://schemas.microsoft.com/office/powerpoint/2010/main" val="40424852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Emotional Intelligence is composed of five dimensions:</a:t>
            </a:r>
          </a:p>
          <a:p>
            <a:pPr eaLnBrk="1" hangingPunct="1"/>
            <a:r>
              <a:rPr lang="en-US" i="1" dirty="0">
                <a:cs typeface="Arial" charset="0"/>
              </a:rPr>
              <a:t>Self-awareness: </a:t>
            </a:r>
            <a:r>
              <a:rPr lang="en-US" dirty="0">
                <a:cs typeface="Arial" charset="0"/>
              </a:rPr>
              <a:t>The ability to be aware of what you’re feeling.</a:t>
            </a:r>
          </a:p>
          <a:p>
            <a:pPr eaLnBrk="1" hangingPunct="1"/>
            <a:r>
              <a:rPr lang="en-US" i="1" dirty="0">
                <a:cs typeface="Arial" charset="0"/>
              </a:rPr>
              <a:t>Self-management: </a:t>
            </a:r>
            <a:r>
              <a:rPr lang="en-US" dirty="0">
                <a:cs typeface="Arial" charset="0"/>
              </a:rPr>
              <a:t>The ability to manage one’s own emotions and impulses.</a:t>
            </a:r>
          </a:p>
          <a:p>
            <a:pPr eaLnBrk="1" hangingPunct="1"/>
            <a:r>
              <a:rPr lang="en-US" i="1" dirty="0">
                <a:cs typeface="Arial" charset="0"/>
              </a:rPr>
              <a:t>Self-motivation: </a:t>
            </a:r>
            <a:r>
              <a:rPr lang="en-US" dirty="0">
                <a:cs typeface="Arial" charset="0"/>
              </a:rPr>
              <a:t>The ability to persist in the face of setbacks and failures.</a:t>
            </a:r>
          </a:p>
          <a:p>
            <a:pPr eaLnBrk="1" hangingPunct="1"/>
            <a:r>
              <a:rPr lang="en-US" dirty="0">
                <a:cs typeface="Arial" charset="0"/>
              </a:rPr>
              <a:t>The last two dimensions of EI are:</a:t>
            </a:r>
          </a:p>
          <a:p>
            <a:pPr eaLnBrk="1" hangingPunct="1"/>
            <a:r>
              <a:rPr lang="en-US" i="1" dirty="0">
                <a:cs typeface="Arial" charset="0"/>
              </a:rPr>
              <a:t>Empathy: </a:t>
            </a:r>
            <a:r>
              <a:rPr lang="en-US" dirty="0">
                <a:cs typeface="Arial" charset="0"/>
              </a:rPr>
              <a:t>The ability to sense how others are feeling.</a:t>
            </a:r>
          </a:p>
          <a:p>
            <a:pPr eaLnBrk="1" hangingPunct="1"/>
            <a:r>
              <a:rPr lang="en-US" i="1" dirty="0">
                <a:cs typeface="Arial" charset="0"/>
              </a:rPr>
              <a:t>Social skills: </a:t>
            </a:r>
            <a:r>
              <a:rPr lang="en-US" dirty="0">
                <a:cs typeface="Arial" charset="0"/>
              </a:rPr>
              <a:t>The ability to handle the emotions of others.</a:t>
            </a:r>
          </a:p>
          <a:p>
            <a:pPr eaLnBrk="1" hangingPunct="1"/>
            <a:endParaRPr lang="en-US" dirty="0">
              <a:cs typeface="Arial" charset="0"/>
            </a:endParaRPr>
          </a:p>
          <a:p>
            <a:pPr eaLnBrk="1" hangingPunct="1"/>
            <a:endParaRPr lang="en-US" dirty="0">
              <a:cs typeface="Arial" charset="0"/>
            </a:endParaRP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73</a:t>
            </a:fld>
            <a:endParaRPr lang="en-US" dirty="0"/>
          </a:p>
        </p:txBody>
      </p:sp>
    </p:spTree>
    <p:extLst>
      <p:ext uri="{BB962C8B-B14F-4D97-AF65-F5344CB8AC3E}">
        <p14:creationId xmlns:p14="http://schemas.microsoft.com/office/powerpoint/2010/main" val="38656429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74</a:t>
            </a:fld>
            <a:endParaRPr lang="en-US" dirty="0"/>
          </a:p>
        </p:txBody>
      </p:sp>
    </p:spTree>
    <p:extLst>
      <p:ext uri="{BB962C8B-B14F-4D97-AF65-F5344CB8AC3E}">
        <p14:creationId xmlns:p14="http://schemas.microsoft.com/office/powerpoint/2010/main" val="26726477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covered a lot of material on personality in this section. What should managers get out of this? Here are four suggestions related to hiring:</a:t>
            </a:r>
          </a:p>
          <a:p>
            <a:r>
              <a:rPr lang="en-US" dirty="0"/>
              <a:t>1. Assess vocational interests in the hiring process. By successfully matching interests and job requirements, there is an increased likelihood that new hires will perform well on the job and stay with the organization.</a:t>
            </a:r>
          </a:p>
          <a:p>
            <a:endParaRPr lang="en-US" dirty="0"/>
          </a:p>
          <a:p>
            <a:r>
              <a:rPr lang="en-US" dirty="0"/>
              <a:t>2. If you’re looking for a single personality trait that is likely to be associated with superior job performance, you’re well advised to hire people who score high on conscientiousness. Individuals who score high in conscientiousness are dependable, reliable, careful, thorough, organized, hard-working, and persistent. And these attributes tend to lead to higher job performance in most occupations.</a:t>
            </a:r>
          </a:p>
          <a:p>
            <a:endParaRPr lang="en-US" dirty="0"/>
          </a:p>
          <a:p>
            <a:r>
              <a:rPr lang="en-US" dirty="0"/>
              <a:t>3. When filling jobs where successful social interaction is a major factor in performance, hire people with high emotional intelligence. This should especially apply to managerial positions.</a:t>
            </a:r>
          </a:p>
          <a:p>
            <a:endParaRPr lang="en-US" dirty="0"/>
          </a:p>
          <a:p>
            <a:r>
              <a:rPr lang="en-US" dirty="0"/>
              <a:t>4. Finally, take time to carefully screen job candidates—through intensive interviews, reference checks, and the like—to identify and reject individuals who hold the set of Dark Triad traits. Although individuals with these traits typically come with some positive qualities, the toxic side of their personalities is likely to pollute their work environments. And when hiring mistakes are made, correct them quickly—preferably during their probationary period.</a:t>
            </a:r>
          </a:p>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75</a:t>
            </a:fld>
            <a:endParaRPr lang="en-US" dirty="0"/>
          </a:p>
        </p:txBody>
      </p:sp>
    </p:spTree>
    <p:extLst>
      <p:ext uri="{BB962C8B-B14F-4D97-AF65-F5344CB8AC3E}">
        <p14:creationId xmlns:p14="http://schemas.microsoft.com/office/powerpoint/2010/main" val="20236148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Have the students attempt to read the opening paragraph in this section and then survey the class. How many could read it? </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76</a:t>
            </a:fld>
            <a:endParaRPr lang="en-US" dirty="0"/>
          </a:p>
        </p:txBody>
      </p:sp>
    </p:spTree>
    <p:extLst>
      <p:ext uri="{BB962C8B-B14F-4D97-AF65-F5344CB8AC3E}">
        <p14:creationId xmlns:p14="http://schemas.microsoft.com/office/powerpoint/2010/main" val="2485215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b="1" dirty="0">
                <a:cs typeface="Arial" charset="0"/>
              </a:rPr>
              <a:t>Perception </a:t>
            </a:r>
            <a:r>
              <a:rPr lang="en-US" dirty="0">
                <a:cs typeface="Arial" charset="0"/>
              </a:rPr>
              <a:t>is a process by which we give meaning to our environment by organizing and interpreting sensory impressions.</a:t>
            </a:r>
          </a:p>
          <a:p>
            <a:pPr eaLnBrk="1" hangingPunct="1"/>
            <a:r>
              <a:rPr lang="en-US" dirty="0">
                <a:cs typeface="Arial" charset="0"/>
              </a:rPr>
              <a:t>Research on perception consistently demonstrates that individuals may look at the same thing yet perceive it differently. One manager, for instance, can interpret the fact that her assistant regularly takes several days to make important decisions as evidence that the assistant is slow, disorganized, and afraid to make decisions. Another manager with the same assistant might interpret the same tendency as evidence that the assistant is thoughtful, thorough, and deliberate. The first manager would probably evaluate her assistant negatively; the second manager would probably evaluate the person positively. The point is that none of us sees reality. We interpret what we see and call it reality. And, of course, as the example shows, we behave according to our perceptions.</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77</a:t>
            </a:fld>
            <a:endParaRPr lang="en-US" dirty="0"/>
          </a:p>
        </p:txBody>
      </p:sp>
    </p:spTree>
    <p:extLst>
      <p:ext uri="{BB962C8B-B14F-4D97-AF65-F5344CB8AC3E}">
        <p14:creationId xmlns:p14="http://schemas.microsoft.com/office/powerpoint/2010/main" val="24169168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Arial" charset="0"/>
              </a:rPr>
              <a:t>The characteristics of the target being observed can also affect what’s perceived. Loud people are more likely than quiet people to be noticed in a group as are extremely attractive or unattractive individuals. The relationship of a target to its background also influences perception, as does our tendency to group close things and similar things together. You can experience these tendencies by looking at the visual perception examples shown in </a:t>
            </a:r>
            <a:r>
              <a:rPr lang="en-US" b="1" dirty="0">
                <a:cs typeface="Arial" charset="0"/>
              </a:rPr>
              <a:t>Exhibit 13-5</a:t>
            </a:r>
            <a:r>
              <a:rPr lang="en-US" dirty="0">
                <a:cs typeface="Arial" charset="0"/>
              </a:rPr>
              <a:t>. Notice how what you see changes as you look differently at each one.</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78</a:t>
            </a:fld>
            <a:endParaRPr lang="en-US" dirty="0"/>
          </a:p>
        </p:txBody>
      </p:sp>
    </p:spTree>
    <p:extLst>
      <p:ext uri="{BB962C8B-B14F-4D97-AF65-F5344CB8AC3E}">
        <p14:creationId xmlns:p14="http://schemas.microsoft.com/office/powerpoint/2010/main" val="35540671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b="1" dirty="0">
                <a:cs typeface="Arial" charset="0"/>
              </a:rPr>
              <a:t>Attribution theory </a:t>
            </a:r>
            <a:r>
              <a:rPr lang="en-US" dirty="0">
                <a:cs typeface="Arial" charset="0"/>
              </a:rPr>
              <a:t>was developed to explain how we judge people differently depending on what meaning we attribute to a given behavior. Basically, the theory suggests that when we observe an individual’s behavior, we attempt to determine whether it was internally or externally caused. Internally caused behaviors are those believed to be under the personal control of the individual. Externally caused behavior results from outside factors; that is, the person is forced into the behavior by the situation. That determination, however, depends on three factors: distinctiveness, consensus, and consistency.</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79</a:t>
            </a:fld>
            <a:endParaRPr lang="en-US" dirty="0"/>
          </a:p>
        </p:txBody>
      </p:sp>
    </p:spTree>
    <p:extLst>
      <p:ext uri="{BB962C8B-B14F-4D97-AF65-F5344CB8AC3E}">
        <p14:creationId xmlns:p14="http://schemas.microsoft.com/office/powerpoint/2010/main" val="4120056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sz="1200" b="0" kern="1200" dirty="0">
                <a:solidFill>
                  <a:schemeClr val="tx1"/>
                </a:solidFill>
                <a:effectLst/>
                <a:latin typeface="+mn-lt"/>
                <a:ea typeface="+mn-ea"/>
                <a:cs typeface="+mn-cs"/>
              </a:rPr>
              <a:t>Long Description:</a:t>
            </a:r>
          </a:p>
          <a:p>
            <a:r>
              <a:rPr lang="en-US" sz="1200" b="0" i="0" u="none" strike="noStrike" kern="1200" dirty="0">
                <a:solidFill>
                  <a:schemeClr val="tx1"/>
                </a:solidFill>
                <a:effectLst/>
                <a:latin typeface="+mn-lt"/>
                <a:ea typeface="+mn-ea"/>
                <a:cs typeface="+mn-cs"/>
              </a:rPr>
              <a:t>The chart shows the following: 1. Observation: Does person behave this way in other situations? Interpretation: Yes (Low distinctiveness); Attribution of cause: Internal attribution; Interpretation: No (High distinctiveness); Attribution of cause: External attribution. 2. Observation: Do other people behave the same way in similar situations? Interpretation: Yes (High consensus); Attribution of cause: External attribution; Interpretation: No (Low consensus); Attribution of cause: Internal attribution. 3. Observation: Does person behave this way consistently? Interpretation: Yes (High consistency); Attribution of cause: Internal attribution; Interpretation: No (Low consistency); Attribution of cause: External attribution.</a:t>
            </a:r>
            <a:r>
              <a:rPr lang="en-US" dirty="0"/>
              <a:t>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80</a:t>
            </a:fld>
            <a:endParaRPr lang="en-US" dirty="0"/>
          </a:p>
        </p:txBody>
      </p:sp>
    </p:spTree>
    <p:extLst>
      <p:ext uri="{BB962C8B-B14F-4D97-AF65-F5344CB8AC3E}">
        <p14:creationId xmlns:p14="http://schemas.microsoft.com/office/powerpoint/2010/main" val="37035807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One interesting finding from attribution theory is that errors or biases distort our attributions. For instance, substantial evidence supports the fact that when we make judgments about the behavior of other people, we have a tendency to </a:t>
            </a:r>
            <a:r>
              <a:rPr lang="en-US" i="1" dirty="0">
                <a:cs typeface="Arial" charset="0"/>
              </a:rPr>
              <a:t>under</a:t>
            </a:r>
            <a:r>
              <a:rPr lang="en-US" dirty="0">
                <a:cs typeface="Arial" charset="0"/>
              </a:rPr>
              <a:t>estimate the influence of external factors and to </a:t>
            </a:r>
            <a:r>
              <a:rPr lang="en-US" i="1" dirty="0">
                <a:cs typeface="Arial" charset="0"/>
              </a:rPr>
              <a:t>over</a:t>
            </a:r>
            <a:r>
              <a:rPr lang="en-US" dirty="0">
                <a:cs typeface="Arial" charset="0"/>
              </a:rPr>
              <a:t>estimate the influence of internal or personal factors. This tendency is called the </a:t>
            </a:r>
            <a:r>
              <a:rPr lang="en-US" b="1" dirty="0">
                <a:cs typeface="Arial" charset="0"/>
              </a:rPr>
              <a:t>fundamental attribution error </a:t>
            </a:r>
            <a:r>
              <a:rPr lang="en-US" dirty="0">
                <a:cs typeface="Arial" charset="0"/>
              </a:rPr>
              <a:t>and can explain why a sales manager may attribute the poor performance of her sales representative to laziness rather than to the innovative product line introduced by a competitor.</a:t>
            </a:r>
          </a:p>
          <a:p>
            <a:pPr eaLnBrk="1" hangingPunct="1"/>
            <a:endParaRPr lang="en-US" dirty="0">
              <a:cs typeface="Arial" charset="0"/>
            </a:endParaRPr>
          </a:p>
          <a:p>
            <a:pPr eaLnBrk="1" hangingPunct="1"/>
            <a:r>
              <a:rPr lang="en-US" dirty="0">
                <a:cs typeface="Arial" charset="0"/>
              </a:rPr>
              <a:t>This tendency is called the </a:t>
            </a:r>
            <a:r>
              <a:rPr lang="en-US" b="1" dirty="0">
                <a:cs typeface="Arial" charset="0"/>
              </a:rPr>
              <a:t>self-serving bias </a:t>
            </a:r>
            <a:r>
              <a:rPr lang="en-US" dirty="0">
                <a:cs typeface="Arial" charset="0"/>
              </a:rPr>
              <a:t>and suggests that feedback provided to employees in performance reviews will be distorted by them depending on whether it’s positive or negative.</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81</a:t>
            </a:fld>
            <a:endParaRPr lang="en-US" dirty="0"/>
          </a:p>
        </p:txBody>
      </p:sp>
    </p:spTree>
    <p:extLst>
      <p:ext uri="{BB962C8B-B14F-4D97-AF65-F5344CB8AC3E}">
        <p14:creationId xmlns:p14="http://schemas.microsoft.com/office/powerpoint/2010/main" val="81198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Any characteristic that makes a person, an object, or an event stand out will increase the probability we will perceive it. Why? Because it is impossible for us to assimilate everything we see; we can take in only certain stimuli. Thus, you are more likely to notice cars like your own, and your boss may reprimand some people and not others doing the same thing. Because we can’t observe everything going on around us, we use </a:t>
            </a:r>
            <a:r>
              <a:rPr lang="en-US" sz="1200" b="1" i="0" u="none" strike="noStrike" kern="1200" baseline="0" dirty="0">
                <a:solidFill>
                  <a:schemeClr val="tx1"/>
                </a:solidFill>
                <a:latin typeface="+mn-lt"/>
                <a:ea typeface="+mn-ea"/>
                <a:cs typeface="+mn-cs"/>
              </a:rPr>
              <a:t>selective perception</a:t>
            </a:r>
            <a:r>
              <a:rPr lang="en-US" sz="1200" b="0" i="0" u="none" strike="noStrike" kern="1200" baseline="0" dirty="0">
                <a:solidFill>
                  <a:schemeClr val="tx1"/>
                </a:solidFill>
                <a:latin typeface="+mn-lt"/>
                <a:ea typeface="+mn-ea"/>
                <a:cs typeface="+mn-cs"/>
              </a:rPr>
              <a:t>.</a:t>
            </a:r>
          </a:p>
          <a:p>
            <a:endParaRPr lang="en-US" dirty="0">
              <a:cs typeface="Arial" charset="0"/>
            </a:endParaRPr>
          </a:p>
          <a:p>
            <a:pPr eaLnBrk="1" hangingPunct="1"/>
            <a:r>
              <a:rPr lang="en-US" dirty="0">
                <a:cs typeface="Arial" charset="0"/>
              </a:rPr>
              <a:t>It’s easy to judge others if we assume they’re similar to us. In </a:t>
            </a:r>
            <a:r>
              <a:rPr lang="en-US" b="1" dirty="0">
                <a:cs typeface="Arial" charset="0"/>
              </a:rPr>
              <a:t>assumed similarity</a:t>
            </a:r>
            <a:r>
              <a:rPr lang="en-US" dirty="0">
                <a:cs typeface="Arial" charset="0"/>
              </a:rPr>
              <a:t>, or the “like me” effect, the observer’s perception of others is influenced more by the observer’s own characteristics than by those of the person observed.</a:t>
            </a:r>
          </a:p>
          <a:p>
            <a:pPr eaLnBrk="1" hangingPunct="1"/>
            <a:endParaRPr lang="en-US" dirty="0">
              <a:cs typeface="Arial" charset="0"/>
            </a:endParaRPr>
          </a:p>
          <a:p>
            <a:pPr eaLnBrk="1" hangingPunct="1"/>
            <a:r>
              <a:rPr lang="en-US" dirty="0">
                <a:cs typeface="Arial" charset="0"/>
              </a:rPr>
              <a:t>When we judge someone on the basis of our perception of a group he or she is part of, we’re using the shortcut called </a:t>
            </a:r>
            <a:r>
              <a:rPr lang="en-US" b="1" dirty="0">
                <a:cs typeface="Arial" charset="0"/>
              </a:rPr>
              <a:t>stereotyping</a:t>
            </a:r>
            <a:r>
              <a:rPr lang="en-US" dirty="0">
                <a:cs typeface="Arial" charset="0"/>
              </a:rPr>
              <a:t>. For instance, “Married people are more stable employees than single persons” is an example of stereotyping.</a:t>
            </a:r>
          </a:p>
          <a:p>
            <a:pPr eaLnBrk="1" hangingPunct="1"/>
            <a:endParaRPr lang="en-US" dirty="0">
              <a:cs typeface="Arial" charset="0"/>
            </a:endParaRP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82</a:t>
            </a:fld>
            <a:endParaRPr lang="en-US" dirty="0"/>
          </a:p>
        </p:txBody>
      </p:sp>
    </p:spTree>
    <p:extLst>
      <p:ext uri="{BB962C8B-B14F-4D97-AF65-F5344CB8AC3E}">
        <p14:creationId xmlns:p14="http://schemas.microsoft.com/office/powerpoint/2010/main" val="11098104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Arial" charset="0"/>
              </a:rPr>
              <a:t>When we form a general impression about a person on the basis of a single characteristic, such as intelligence, sociability, or appearance, we’re influenced by the </a:t>
            </a:r>
            <a:r>
              <a:rPr lang="en-US" b="1" dirty="0">
                <a:cs typeface="Arial" charset="0"/>
              </a:rPr>
              <a:t>halo effect</a:t>
            </a:r>
            <a:r>
              <a:rPr lang="en-US" dirty="0">
                <a:cs typeface="Arial" charset="0"/>
              </a:rPr>
              <a:t>.</a:t>
            </a:r>
          </a:p>
          <a:p>
            <a:endParaRPr lang="en-US" dirty="0"/>
          </a:p>
          <a:p>
            <a:r>
              <a:rPr lang="en-US" sz="1200" b="0" i="0" u="none" strike="noStrike" kern="1200" baseline="0" dirty="0">
                <a:solidFill>
                  <a:schemeClr val="tx1"/>
                </a:solidFill>
                <a:latin typeface="+mn-lt"/>
                <a:ea typeface="+mn-ea"/>
                <a:cs typeface="+mn-cs"/>
              </a:rPr>
              <a:t>There’s an adage among show-business entertainers to “never follow an act with kids or animals.” Why? Audiences love children and animals, so you’ll look bad in comparison. This example illustrates how the </a:t>
            </a:r>
            <a:r>
              <a:rPr lang="en-US" sz="1200" b="1" i="0" u="none" strike="noStrike" kern="1200" baseline="0" dirty="0">
                <a:solidFill>
                  <a:schemeClr val="tx1"/>
                </a:solidFill>
                <a:latin typeface="+mn-lt"/>
                <a:ea typeface="+mn-ea"/>
                <a:cs typeface="+mn-cs"/>
              </a:rPr>
              <a:t>contrast effect </a:t>
            </a:r>
            <a:r>
              <a:rPr lang="en-US" sz="1200" b="0" i="0" u="none" strike="noStrike" kern="1200" baseline="0" dirty="0">
                <a:solidFill>
                  <a:schemeClr val="tx1"/>
                </a:solidFill>
                <a:latin typeface="+mn-lt"/>
                <a:ea typeface="+mn-ea"/>
                <a:cs typeface="+mn-cs"/>
              </a:rPr>
              <a:t>can distort perceptions. We don’t evaluate a person in isolation. Our reaction is influenced by other people we have recently encountered.</a:t>
            </a:r>
            <a:endParaRPr lang="en-US" dirty="0"/>
          </a:p>
        </p:txBody>
      </p:sp>
      <p:sp>
        <p:nvSpPr>
          <p:cNvPr id="4" name="Slide Number Placeholder 3"/>
          <p:cNvSpPr>
            <a:spLocks noGrp="1"/>
          </p:cNvSpPr>
          <p:nvPr>
            <p:ph type="sldNum" sz="quarter" idx="5"/>
          </p:nvPr>
        </p:nvSpPr>
        <p:spPr>
          <a:xfrm>
            <a:off x="3884613" y="8685213"/>
            <a:ext cx="2971800" cy="457200"/>
          </a:xfrm>
          <a:prstGeom prst="rect">
            <a:avLst/>
          </a:prstGeom>
        </p:spPr>
        <p:txBody>
          <a:bodyPr/>
          <a:lstStyle/>
          <a:p>
            <a:fld id="{A73D6722-9B4D-4E29-B226-C325925A8118}" type="slidenum">
              <a:rPr lang="en-US" smtClean="0"/>
              <a:pPr/>
              <a:t>83</a:t>
            </a:fld>
            <a:endParaRPr lang="en-US" dirty="0"/>
          </a:p>
        </p:txBody>
      </p:sp>
    </p:spTree>
    <p:extLst>
      <p:ext uri="{BB962C8B-B14F-4D97-AF65-F5344CB8AC3E}">
        <p14:creationId xmlns:p14="http://schemas.microsoft.com/office/powerpoint/2010/main" val="13544868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whether a manager’s appraisal of an employee’s performance is actually objective and unbiased or whether the organization’s wage levels are among the highest in the community is less relevant than what employees perceive them to be. If individuals perceive appraisals to be biased or wage levels as low, they’ll behave as if those conditions actually exist. </a:t>
            </a:r>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84</a:t>
            </a:fld>
            <a:endParaRPr lang="en-US" dirty="0"/>
          </a:p>
        </p:txBody>
      </p:sp>
    </p:spTree>
    <p:extLst>
      <p:ext uri="{BB962C8B-B14F-4D97-AF65-F5344CB8AC3E}">
        <p14:creationId xmlns:p14="http://schemas.microsoft.com/office/powerpoint/2010/main" val="34975024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Learning is included in our discussion of individual behavior for the obvious reason that almost all behavior is learned. If we want to explain, </a:t>
            </a:r>
            <a:r>
              <a:rPr lang="en-US" sz="1200" b="0" i="0" u="none" strike="noStrike" kern="1200" baseline="0">
                <a:solidFill>
                  <a:schemeClr val="tx1"/>
                </a:solidFill>
                <a:latin typeface="+mn-lt"/>
                <a:ea typeface="+mn-ea"/>
                <a:cs typeface="+mn-cs"/>
              </a:rPr>
              <a:t>predict, and </a:t>
            </a:r>
            <a:r>
              <a:rPr lang="en-US" sz="1200" b="0" i="0" u="none" strike="noStrike" kern="1200" baseline="0" dirty="0">
                <a:solidFill>
                  <a:schemeClr val="tx1"/>
                </a:solidFill>
                <a:latin typeface="+mn-lt"/>
                <a:ea typeface="+mn-ea"/>
                <a:cs typeface="+mn-cs"/>
              </a:rPr>
              <a:t>influence behavior, we need to understand how people learn.</a:t>
            </a:r>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85</a:t>
            </a:fld>
            <a:endParaRPr lang="en-US" dirty="0"/>
          </a:p>
        </p:txBody>
      </p:sp>
    </p:spTree>
    <p:extLst>
      <p:ext uri="{BB962C8B-B14F-4D97-AF65-F5344CB8AC3E}">
        <p14:creationId xmlns:p14="http://schemas.microsoft.com/office/powerpoint/2010/main" val="42387749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defRPr/>
            </a:pPr>
            <a:r>
              <a:rPr lang="en-US" dirty="0"/>
              <a:t>Much of what we have learned comes from watching others (models)—parents, teachers, peers, television and movie actors, managers, and so forth. This view that we can learn both through observation and direct experience is called </a:t>
            </a:r>
            <a:r>
              <a:rPr lang="en-US" b="1" dirty="0"/>
              <a:t>social learning theory</a:t>
            </a:r>
            <a:r>
              <a:rPr lang="en-US" dirty="0"/>
              <a:t>. The influence of others is central to the social learning viewpoint. The amount of influence these models have on an individual is determined by four processes:</a:t>
            </a:r>
          </a:p>
          <a:p>
            <a:pPr eaLnBrk="1" hangingPunct="1">
              <a:defRPr/>
            </a:pPr>
            <a:endParaRPr lang="en-US" dirty="0"/>
          </a:p>
          <a:p>
            <a:pPr marL="228600" indent="-228600" eaLnBrk="1" hangingPunct="1">
              <a:buFontTx/>
              <a:buAutoNum type="arabicPeriod"/>
              <a:defRPr/>
            </a:pPr>
            <a:r>
              <a:rPr lang="en-US" i="1" dirty="0"/>
              <a:t>Attentional processes. </a:t>
            </a:r>
            <a:r>
              <a:rPr lang="en-US" dirty="0"/>
              <a:t>People learn from a model when they recognize and pay attention to its critical features. We’re most influenced by models who are attractive, repeatedly available, thought to be important, or seen as similar to us. </a:t>
            </a:r>
          </a:p>
          <a:p>
            <a:pPr marL="228600" indent="-228600" eaLnBrk="1" hangingPunct="1">
              <a:buFontTx/>
              <a:buAutoNum type="arabicPeriod"/>
              <a:defRPr/>
            </a:pPr>
            <a:endParaRPr lang="en-US" dirty="0"/>
          </a:p>
          <a:p>
            <a:pPr marL="228600" indent="-228600" eaLnBrk="1" hangingPunct="1">
              <a:buFontTx/>
              <a:buAutoNum type="arabicPeriod"/>
              <a:defRPr/>
            </a:pPr>
            <a:r>
              <a:rPr lang="en-US" i="1" dirty="0"/>
              <a:t>Retention processes. </a:t>
            </a:r>
            <a:r>
              <a:rPr lang="en-US" dirty="0"/>
              <a:t>A model’s influence will depend on how well the individual remembers the model’s action, even after the model is no longer readily available.</a:t>
            </a:r>
          </a:p>
          <a:p>
            <a:pPr marL="228600" indent="-228600" eaLnBrk="1" hangingPunct="1">
              <a:buFontTx/>
              <a:buAutoNum type="arabicPeriod"/>
              <a:defRPr/>
            </a:pPr>
            <a:endParaRPr lang="en-US" dirty="0"/>
          </a:p>
          <a:p>
            <a:pPr marL="228600" indent="-228600" eaLnBrk="1" hangingPunct="1">
              <a:buFontTx/>
              <a:buAutoNum type="arabicPeriod"/>
              <a:defRPr/>
            </a:pPr>
            <a:r>
              <a:rPr lang="en-US" i="1" dirty="0"/>
              <a:t>Motor reproduction processes. </a:t>
            </a:r>
            <a:r>
              <a:rPr lang="en-US" dirty="0"/>
              <a:t>After a person has seen a new behavior by observing the model, the watching must become doing. This process then demonstrates that the individual can actually do the modeled activities.</a:t>
            </a:r>
          </a:p>
          <a:p>
            <a:pPr marL="228600" indent="-228600" eaLnBrk="1" hangingPunct="1">
              <a:buFontTx/>
              <a:buAutoNum type="arabicPeriod"/>
              <a:defRPr/>
            </a:pPr>
            <a:endParaRPr lang="en-US" dirty="0"/>
          </a:p>
          <a:p>
            <a:pPr marL="228600" indent="-228600" eaLnBrk="1" hangingPunct="1">
              <a:buFontTx/>
              <a:buAutoNum type="arabicPeriod"/>
              <a:defRPr/>
            </a:pPr>
            <a:r>
              <a:rPr lang="en-US" i="1" dirty="0"/>
              <a:t>Reinforcement processes. </a:t>
            </a:r>
            <a:r>
              <a:rPr lang="en-US" dirty="0"/>
              <a:t>Individuals will be motivated to exhibit the modeled behavior if positive incentives or rewards are provided. Behaviors that are reinforced will be given more attention, learned better, and performed more often.</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86</a:t>
            </a:fld>
            <a:endParaRPr lang="en-US" dirty="0"/>
          </a:p>
        </p:txBody>
      </p:sp>
    </p:spTree>
    <p:extLst>
      <p:ext uri="{BB962C8B-B14F-4D97-AF65-F5344CB8AC3E}">
        <p14:creationId xmlns:p14="http://schemas.microsoft.com/office/powerpoint/2010/main" val="30972559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b="0" dirty="0">
                <a:cs typeface="Arial" charset="0"/>
              </a:rPr>
              <a:t>Because learning takes place on the job as well as prior to it, managers are concerned with how they can teach employees to behave in ways that most benefit the organization. Thus, managers will often attempt to “mold” individuals by guiding their learning in graduated steps, through a method called </a:t>
            </a:r>
            <a:r>
              <a:rPr lang="en-US" b="1" dirty="0">
                <a:cs typeface="Arial" charset="0"/>
              </a:rPr>
              <a:t>shaping behavior</a:t>
            </a:r>
            <a:r>
              <a:rPr lang="en-US" b="0" dirty="0">
                <a:cs typeface="Arial" charset="0"/>
              </a:rPr>
              <a:t>.</a:t>
            </a:r>
          </a:p>
          <a:p>
            <a:pPr eaLnBrk="1" hangingPunct="1"/>
            <a:endParaRPr lang="en-US" b="0" dirty="0">
              <a:cs typeface="Arial" charset="0"/>
            </a:endParaRPr>
          </a:p>
          <a:p>
            <a:pPr eaLnBrk="1" hangingPunct="1"/>
            <a:r>
              <a:rPr lang="en-US" b="1" dirty="0">
                <a:cs typeface="Arial" charset="0"/>
              </a:rPr>
              <a:t>Operant conditioning </a:t>
            </a:r>
            <a:r>
              <a:rPr lang="en-US" dirty="0">
                <a:cs typeface="Arial" charset="0"/>
              </a:rPr>
              <a:t>argues that behavior is a function of its consequences. People learn to behave to get something they want or to avoid something they don’t want. Operant behavior is voluntary or learned behavior, not reflexive or unlearned behavior. The tendency to repeat learned behavior is influenced by reinforcement or lack of reinforcement that happens as a result of the behavior. Reinforcement strengthens a behavior and increases the likelihood that it will be repeated. Lack of reinforcement weakens a behavior and lessens the likelihood that it will be repeated.</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87</a:t>
            </a:fld>
            <a:endParaRPr lang="en-US" dirty="0"/>
          </a:p>
        </p:txBody>
      </p:sp>
    </p:spTree>
    <p:extLst>
      <p:ext uri="{BB962C8B-B14F-4D97-AF65-F5344CB8AC3E}">
        <p14:creationId xmlns:p14="http://schemas.microsoft.com/office/powerpoint/2010/main" val="21016203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dirty="0">
                <a:cs typeface="Arial" charset="0"/>
              </a:rPr>
              <a:t>Because learning takes place on the job as well as prior to it, managers are concerned with how they can teach employees to behave in ways that most benefit the organization. Thus, managers will often attempt to “mold” individuals by guiding their learning in graduated steps, through a method called </a:t>
            </a:r>
            <a:r>
              <a:rPr lang="en-US" b="1" dirty="0">
                <a:cs typeface="Arial" charset="0"/>
              </a:rPr>
              <a:t>shaping behavior</a:t>
            </a:r>
            <a:r>
              <a:rPr lang="en-US" dirty="0">
                <a:cs typeface="Arial" charset="0"/>
              </a:rPr>
              <a:t>.</a:t>
            </a:r>
          </a:p>
          <a:p>
            <a:pPr eaLnBrk="1" hangingPunct="1"/>
            <a:endParaRPr lang="en-US" dirty="0">
              <a:cs typeface="Arial" charset="0"/>
            </a:endParaRPr>
          </a:p>
          <a:p>
            <a:pPr eaLnBrk="1" hangingPunct="1"/>
            <a:r>
              <a:rPr lang="en-US" dirty="0">
                <a:cs typeface="Arial" charset="0"/>
              </a:rPr>
              <a:t>Four ways to shape behavior include positive reinforcement, negative reinforcement, punishment, and extinction. When a behavior is followed by something pleasant, such as praising an employee for a job well done, it’s called </a:t>
            </a:r>
            <a:r>
              <a:rPr lang="en-US" i="1" dirty="0">
                <a:cs typeface="Arial" charset="0"/>
              </a:rPr>
              <a:t>positive reinforcement. </a:t>
            </a:r>
            <a:r>
              <a:rPr lang="en-US" dirty="0">
                <a:cs typeface="Arial" charset="0"/>
              </a:rPr>
              <a:t>Positive reinforcement increases the likelihood that the desired behavior will be repeated. Rewarding a response by eliminating or withdrawing something unpleasant</a:t>
            </a:r>
            <a:r>
              <a:rPr lang="en-US" baseline="0" dirty="0">
                <a:cs typeface="Arial" charset="0"/>
              </a:rPr>
              <a:t> </a:t>
            </a:r>
            <a:r>
              <a:rPr lang="en-US" dirty="0">
                <a:cs typeface="Arial" charset="0"/>
              </a:rPr>
              <a:t>is </a:t>
            </a:r>
            <a:r>
              <a:rPr lang="en-US" i="1" dirty="0">
                <a:cs typeface="Arial" charset="0"/>
              </a:rPr>
              <a:t>negative reinforcement. </a:t>
            </a:r>
            <a:r>
              <a:rPr lang="en-US" dirty="0">
                <a:cs typeface="Arial" charset="0"/>
              </a:rPr>
              <a:t>A manager who says, “I won’t dock your pay if you start getting to work on time” is using negative reinforcement. The desired behavior (getting to work on time) is being encouraged by the withdrawal of something unpleasant (the employee’s pay being docked). On the other hand, </a:t>
            </a:r>
            <a:r>
              <a:rPr lang="en-US" i="1" dirty="0">
                <a:cs typeface="Arial" charset="0"/>
              </a:rPr>
              <a:t>punishment </a:t>
            </a:r>
            <a:r>
              <a:rPr lang="en-US" dirty="0">
                <a:cs typeface="Arial" charset="0"/>
              </a:rPr>
              <a:t>penalizes undesirable behavior and will eliminate it. Suspending an employee for two days without pay for habitually coming to work late is an example of punishment. Finally, eliminating any reinforcement that’s maintaining a behavior is called </a:t>
            </a:r>
            <a:r>
              <a:rPr lang="en-US" i="1" dirty="0">
                <a:cs typeface="Arial" charset="0"/>
              </a:rPr>
              <a:t>extinction. </a:t>
            </a:r>
            <a:r>
              <a:rPr lang="en-US" dirty="0">
                <a:cs typeface="Arial" charset="0"/>
              </a:rPr>
              <a:t>When a behavior isn’t reinforced, it gradually disappears.</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88</a:t>
            </a:fld>
            <a:endParaRPr lang="en-US" dirty="0"/>
          </a:p>
        </p:txBody>
      </p:sp>
    </p:spTree>
    <p:extLst>
      <p:ext uri="{BB962C8B-B14F-4D97-AF65-F5344CB8AC3E}">
        <p14:creationId xmlns:p14="http://schemas.microsoft.com/office/powerpoint/2010/main" val="33829444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managers want behavior A, but reward behavior B, they shouldn’t be surprised to find employees learning to engage in behavior B. Similarly, managers should expect that employees will look to them as models. </a:t>
            </a:r>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73D6722-9B4D-4E29-B226-C325925A8118}" type="slidenum">
              <a:rPr lang="en-US" smtClean="0"/>
              <a:pPr/>
              <a:t>89</a:t>
            </a:fld>
            <a:endParaRPr lang="en-US" dirty="0"/>
          </a:p>
        </p:txBody>
      </p:sp>
    </p:spTree>
    <p:extLst>
      <p:ext uri="{BB962C8B-B14F-4D97-AF65-F5344CB8AC3E}">
        <p14:creationId xmlns:p14="http://schemas.microsoft.com/office/powerpoint/2010/main" val="852263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33338030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34075262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785442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5/21/2025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9188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74116990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9399230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48551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smtClean="0"/>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5/21/2025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3713013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094210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84440489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050" dirty="0">
              <a:solidFill>
                <a:schemeClr val="accent1">
                  <a:lumMod val="60000"/>
                  <a:lumOff val="40000"/>
                </a:schemeClr>
              </a:solidFill>
              <a:latin typeface="Arial"/>
            </a:endParaRPr>
          </a:p>
        </p:txBody>
      </p:sp>
    </p:spTree>
    <p:extLst>
      <p:ext uri="{BB962C8B-B14F-4D97-AF65-F5344CB8AC3E}">
        <p14:creationId xmlns:p14="http://schemas.microsoft.com/office/powerpoint/2010/main" val="89693418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0449841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5424404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26131293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51696287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66662095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3923225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171450"/>
            <a:ext cx="8229600" cy="800100"/>
          </a:xfrm>
        </p:spPr>
        <p:txBody>
          <a:bodyPr anchor="t"/>
          <a:lstStyle>
            <a:lvl1pPr>
              <a:defRPr sz="255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4026120"/>
            <a:ext cx="8229600" cy="687642"/>
          </a:xfrm>
        </p:spPr>
        <p:txBody>
          <a:bodyPr anchor="b"/>
          <a:lstStyle>
            <a:lvl1pPr marL="0" indent="0">
              <a:spcBef>
                <a:spcPts val="0"/>
              </a:spcBef>
              <a:buNone/>
              <a:defRPr sz="600"/>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vl6pPr marL="0" indent="0">
              <a:spcBef>
                <a:spcPts val="0"/>
              </a:spcBef>
              <a:buNone/>
              <a:defRPr sz="1200"/>
            </a:lvl6pPr>
            <a:lvl7pPr marL="0" indent="0">
              <a:spcBef>
                <a:spcPts val="0"/>
              </a:spcBef>
              <a:buNone/>
              <a:defRPr sz="1200"/>
            </a:lvl7pPr>
            <a:lvl8pPr marL="0" indent="0">
              <a:spcBef>
                <a:spcPts val="0"/>
              </a:spcBef>
              <a:buNone/>
              <a:defRPr sz="1200"/>
            </a:lvl8pPr>
            <a:lvl9pPr marL="0" indent="0">
              <a:spcBef>
                <a:spcPts val="0"/>
              </a:spcBef>
              <a:buNone/>
              <a:defRPr sz="1200"/>
            </a:lvl9pPr>
          </a:lstStyle>
          <a:p>
            <a:pPr lvl="0"/>
            <a:r>
              <a:rPr lang="en-US" dirty="0"/>
              <a:t>Click to add caption</a:t>
            </a:r>
          </a:p>
        </p:txBody>
      </p:sp>
      <p:sp>
        <p:nvSpPr>
          <p:cNvPr id="11" name="Footer Placeholder 2"/>
          <p:cNvSpPr>
            <a:spLocks noGrp="1"/>
          </p:cNvSpPr>
          <p:nvPr>
            <p:ph type="ftr" sz="quarter" idx="11"/>
          </p:nvPr>
        </p:nvSpPr>
        <p:spPr>
          <a:xfrm>
            <a:off x="93969" y="4629151"/>
            <a:ext cx="8595360" cy="176597"/>
          </a:xfrm>
        </p:spPr>
        <p:txBody>
          <a:bodyPr/>
          <a:lstStyle/>
          <a:p>
            <a:endParaRPr lang="en-US" dirty="0"/>
          </a:p>
        </p:txBody>
      </p:sp>
      <p:sp>
        <p:nvSpPr>
          <p:cNvPr id="2" name="Date Placeholder 1"/>
          <p:cNvSpPr>
            <a:spLocks noGrp="1"/>
          </p:cNvSpPr>
          <p:nvPr>
            <p:ph type="dt" sz="half" idx="10"/>
          </p:nvPr>
        </p:nvSpPr>
        <p:spPr>
          <a:xfrm>
            <a:off x="6335713" y="102870"/>
            <a:ext cx="2133600" cy="137160"/>
          </a:xfrm>
        </p:spPr>
        <p:txBody>
          <a:bodyPr/>
          <a:lstStyle>
            <a:lvl1pPr>
              <a:defRPr>
                <a:solidFill>
                  <a:schemeClr val="tx1"/>
                </a:solidFill>
              </a:defRPr>
            </a:lvl1pPr>
          </a:lstStyle>
          <a:p>
            <a:endParaRPr lang="en-US" dirty="0"/>
          </a:p>
        </p:txBody>
      </p:sp>
      <p:sp>
        <p:nvSpPr>
          <p:cNvPr id="9" name="TextBox 8"/>
          <p:cNvSpPr txBox="1"/>
          <p:nvPr userDrawn="1"/>
        </p:nvSpPr>
        <p:spPr>
          <a:xfrm>
            <a:off x="1693492" y="4786884"/>
            <a:ext cx="7162800" cy="230832"/>
          </a:xfrm>
          <a:prstGeom prst="rect">
            <a:avLst/>
          </a:prstGeom>
          <a:noFill/>
        </p:spPr>
        <p:txBody>
          <a:bodyPr wrap="square" rtlCol="0">
            <a:spAutoFit/>
          </a:bodyPr>
          <a:lstStyle/>
          <a:p>
            <a:pPr marL="0" indent="0" algn="r" defTabSz="685800" rtl="0" eaLnBrk="1" latinLnBrk="0" hangingPunct="1">
              <a:spcBef>
                <a:spcPts val="0"/>
              </a:spcBef>
              <a:buClrTx/>
              <a:buFont typeface="Arial" panose="020B0604020202020204" pitchFamily="34" charset="0"/>
              <a:buNone/>
              <a:defRPr/>
            </a:pPr>
            <a:r>
              <a:rPr lang="en-US" altLang="en-US" sz="900" kern="1200" dirty="0">
                <a:solidFill>
                  <a:schemeClr val="tx1"/>
                </a:solidFill>
                <a:latin typeface="Verdana" pitchFamily="34" charset="0"/>
                <a:ea typeface="Verdana" pitchFamily="34" charset="0"/>
                <a:cs typeface="Verdana" pitchFamily="34" charset="0"/>
              </a:rPr>
              <a:t>Copyright © 2025, 2021, 2018 Pearson Education, Inc. All Rights Reserved</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782592"/>
            <a:ext cx="918000" cy="209936"/>
          </a:xfrm>
          <a:prstGeom prst="rect">
            <a:avLst/>
          </a:prstGeom>
        </p:spPr>
      </p:pic>
      <p:sp>
        <p:nvSpPr>
          <p:cNvPr id="12" name="Picture Placeholder 11">
            <a:extLst>
              <a:ext uri="{FF2B5EF4-FFF2-40B4-BE49-F238E27FC236}">
                <a16:creationId xmlns:a16="http://schemas.microsoft.com/office/drawing/2014/main" xmlns="" id="{154337D2-23B1-4155-8477-4EB72C96EC8E}"/>
              </a:ext>
            </a:extLst>
          </p:cNvPr>
          <p:cNvSpPr>
            <a:spLocks noGrp="1"/>
          </p:cNvSpPr>
          <p:nvPr>
            <p:ph type="pic" sz="quarter" idx="14"/>
          </p:nvPr>
        </p:nvSpPr>
        <p:spPr>
          <a:xfrm>
            <a:off x="1981201" y="1371600"/>
            <a:ext cx="4354513" cy="1143000"/>
          </a:xfrm>
        </p:spPr>
        <p:txBody>
          <a:bodyPr/>
          <a:lstStyle>
            <a:lvl1pPr marL="0" indent="0">
              <a:buNone/>
              <a:defRPr/>
            </a:lvl1pPr>
          </a:lstStyle>
          <a:p>
            <a:endParaRPr lang="en-US" dirty="0"/>
          </a:p>
        </p:txBody>
      </p:sp>
      <p:sp>
        <p:nvSpPr>
          <p:cNvPr id="14" name="Content Placeholder 13">
            <a:extLst>
              <a:ext uri="{FF2B5EF4-FFF2-40B4-BE49-F238E27FC236}">
                <a16:creationId xmlns:a16="http://schemas.microsoft.com/office/drawing/2014/main" xmlns="" id="{76F20862-3F59-4CC5-9B25-007FB0C1D5BF}"/>
              </a:ext>
            </a:extLst>
          </p:cNvPr>
          <p:cNvSpPr>
            <a:spLocks noGrp="1"/>
          </p:cNvSpPr>
          <p:nvPr>
            <p:ph sz="quarter" idx="15"/>
          </p:nvPr>
        </p:nvSpPr>
        <p:spPr>
          <a:xfrm>
            <a:off x="1828800" y="2857500"/>
            <a:ext cx="5181600" cy="8001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77656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89154" indent="-89154">
              <a:buClr>
                <a:srgbClr val="007FA3"/>
              </a:buClr>
              <a:buSzPct val="25000"/>
              <a:defRPr sz="1200"/>
            </a:lvl1pPr>
            <a:lvl2pPr marL="427435" indent="-214313">
              <a:buClr>
                <a:srgbClr val="007FA3"/>
              </a:buClr>
              <a:defRPr sz="1200"/>
            </a:lvl2pPr>
            <a:lvl3pPr>
              <a:buClr>
                <a:srgbClr val="007FA3"/>
              </a:buClr>
              <a:defRPr sz="1200"/>
            </a:lvl3pPr>
            <a:lvl4pPr>
              <a:buClr>
                <a:srgbClr val="007FA3"/>
              </a:buClr>
              <a:defRPr sz="1200"/>
            </a:lvl4pPr>
            <a:lvl5pPr>
              <a:buClr>
                <a:srgbClr val="007FA3"/>
              </a:buClr>
              <a:defRPr sz="1200"/>
            </a:lvl5pPr>
            <a:lvl6pPr>
              <a:buClr>
                <a:srgbClr val="007FA3"/>
              </a:buClr>
              <a:defRPr sz="1200"/>
            </a:lvl6pPr>
            <a:lvl7pPr>
              <a:buClr>
                <a:srgbClr val="007FA3"/>
              </a:buClr>
              <a:defRPr sz="1200"/>
            </a:lvl7pPr>
            <a:lvl8pPr>
              <a:buClr>
                <a:srgbClr val="007FA3"/>
              </a:buClr>
              <a:defRPr sz="1200"/>
            </a:lvl8pPr>
            <a:lvl9pPr>
              <a:buClr>
                <a:srgbClr val="007FA3"/>
              </a:buCl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4629151"/>
            <a:ext cx="8595360" cy="176597"/>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309878BC-7C7D-8B4D-8C72-5012D25A75FF}" type="datetime1">
              <a:rPr lang="en-US" smtClean="0"/>
              <a:pPr/>
              <a:t>5/21/2025</a:t>
            </a:fld>
            <a:endParaRPr lang="en-US" dirty="0"/>
          </a:p>
        </p:txBody>
      </p:sp>
    </p:spTree>
    <p:extLst>
      <p:ext uri="{BB962C8B-B14F-4D97-AF65-F5344CB8AC3E}">
        <p14:creationId xmlns:p14="http://schemas.microsoft.com/office/powerpoint/2010/main" val="150839147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2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171450"/>
            <a:ext cx="8229600" cy="800100"/>
          </a:xfrm>
        </p:spPr>
        <p:txBody>
          <a:bodyPr anchor="t"/>
          <a:lstStyle>
            <a:lvl1pPr>
              <a:defRPr sz="255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4026120"/>
            <a:ext cx="8229600" cy="687642"/>
          </a:xfrm>
        </p:spPr>
        <p:txBody>
          <a:bodyPr anchor="b"/>
          <a:lstStyle>
            <a:lvl1pPr marL="0" indent="0">
              <a:spcBef>
                <a:spcPts val="0"/>
              </a:spcBef>
              <a:buNone/>
              <a:defRPr sz="600"/>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vl6pPr marL="0" indent="0">
              <a:spcBef>
                <a:spcPts val="0"/>
              </a:spcBef>
              <a:buNone/>
              <a:defRPr sz="1200"/>
            </a:lvl6pPr>
            <a:lvl7pPr marL="0" indent="0">
              <a:spcBef>
                <a:spcPts val="0"/>
              </a:spcBef>
              <a:buNone/>
              <a:defRPr sz="1200"/>
            </a:lvl7pPr>
            <a:lvl8pPr marL="0" indent="0">
              <a:spcBef>
                <a:spcPts val="0"/>
              </a:spcBef>
              <a:buNone/>
              <a:defRPr sz="1200"/>
            </a:lvl8pPr>
            <a:lvl9pPr marL="0" indent="0">
              <a:spcBef>
                <a:spcPts val="0"/>
              </a:spcBef>
              <a:buNone/>
              <a:defRPr sz="1200"/>
            </a:lvl9pPr>
          </a:lstStyle>
          <a:p>
            <a:pPr lvl="0"/>
            <a:r>
              <a:rPr lang="en-US" dirty="0"/>
              <a:t>Click to add caption</a:t>
            </a:r>
          </a:p>
        </p:txBody>
      </p:sp>
      <p:sp>
        <p:nvSpPr>
          <p:cNvPr id="11" name="Footer Placeholder 2"/>
          <p:cNvSpPr>
            <a:spLocks noGrp="1"/>
          </p:cNvSpPr>
          <p:nvPr>
            <p:ph type="ftr" sz="quarter" idx="11"/>
          </p:nvPr>
        </p:nvSpPr>
        <p:spPr>
          <a:xfrm>
            <a:off x="93969" y="4629151"/>
            <a:ext cx="8595360" cy="176597"/>
          </a:xfrm>
        </p:spPr>
        <p:txBody>
          <a:bodyPr/>
          <a:lstStyle/>
          <a:p>
            <a:endParaRPr lang="en-US" dirty="0"/>
          </a:p>
        </p:txBody>
      </p:sp>
      <p:sp>
        <p:nvSpPr>
          <p:cNvPr id="2" name="Date Placeholder 1"/>
          <p:cNvSpPr>
            <a:spLocks noGrp="1"/>
          </p:cNvSpPr>
          <p:nvPr>
            <p:ph type="dt" sz="half" idx="10"/>
          </p:nvPr>
        </p:nvSpPr>
        <p:spPr>
          <a:xfrm>
            <a:off x="6335713" y="102870"/>
            <a:ext cx="2133600" cy="137160"/>
          </a:xfrm>
        </p:spPr>
        <p:txBody>
          <a:bodyPr/>
          <a:lstStyle>
            <a:lvl1pPr>
              <a:defRPr>
                <a:solidFill>
                  <a:schemeClr val="tx1"/>
                </a:solidFill>
              </a:defRPr>
            </a:lvl1pPr>
          </a:lstStyle>
          <a:p>
            <a:endParaRPr lang="en-US" dirty="0"/>
          </a:p>
        </p:txBody>
      </p:sp>
      <p:sp>
        <p:nvSpPr>
          <p:cNvPr id="9" name="TextBox 8"/>
          <p:cNvSpPr txBox="1"/>
          <p:nvPr userDrawn="1"/>
        </p:nvSpPr>
        <p:spPr>
          <a:xfrm>
            <a:off x="1693492" y="4786884"/>
            <a:ext cx="7162800" cy="230832"/>
          </a:xfrm>
          <a:prstGeom prst="rect">
            <a:avLst/>
          </a:prstGeom>
          <a:noFill/>
        </p:spPr>
        <p:txBody>
          <a:bodyPr wrap="square" rtlCol="0">
            <a:spAutoFit/>
          </a:bodyPr>
          <a:lstStyle/>
          <a:p>
            <a:pPr marL="0" indent="0" algn="r" defTabSz="685800" rtl="0" eaLnBrk="1" latinLnBrk="0" hangingPunct="1">
              <a:spcBef>
                <a:spcPts val="0"/>
              </a:spcBef>
              <a:buClrTx/>
              <a:buFont typeface="Arial" panose="020B0604020202020204" pitchFamily="34" charset="0"/>
              <a:buNone/>
              <a:defRPr/>
            </a:pPr>
            <a:r>
              <a:rPr lang="en-US" altLang="en-US" sz="900" kern="1200" dirty="0">
                <a:solidFill>
                  <a:schemeClr val="tx1"/>
                </a:solidFill>
                <a:latin typeface="Verdana" pitchFamily="34" charset="0"/>
                <a:ea typeface="Verdana" pitchFamily="34" charset="0"/>
                <a:cs typeface="Verdana" pitchFamily="34" charset="0"/>
              </a:rPr>
              <a:t>Copyright © 2025, 2021, 2018 Pearson Education, Inc. All Rights Reserved</a:t>
            </a:r>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782592"/>
            <a:ext cx="918000" cy="209936"/>
          </a:xfrm>
          <a:prstGeom prst="rect">
            <a:avLst/>
          </a:prstGeom>
        </p:spPr>
      </p:pic>
      <p:sp>
        <p:nvSpPr>
          <p:cNvPr id="4" name="Picture Placeholder 3">
            <a:extLst>
              <a:ext uri="{FF2B5EF4-FFF2-40B4-BE49-F238E27FC236}">
                <a16:creationId xmlns="" xmlns:a16="http://schemas.microsoft.com/office/drawing/2014/main" id="{3E4D96B8-F35F-4653-BFA2-40CDBEB4028A}"/>
              </a:ext>
            </a:extLst>
          </p:cNvPr>
          <p:cNvSpPr>
            <a:spLocks noGrp="1"/>
          </p:cNvSpPr>
          <p:nvPr>
            <p:ph type="pic" sz="quarter" idx="14"/>
          </p:nvPr>
        </p:nvSpPr>
        <p:spPr>
          <a:xfrm>
            <a:off x="1828800" y="1428751"/>
            <a:ext cx="4724400" cy="688181"/>
          </a:xfrm>
        </p:spPr>
        <p:txBody>
          <a:bodyPr/>
          <a:lstStyle>
            <a:lvl1pPr marL="0" indent="0">
              <a:buNone/>
              <a:defRPr/>
            </a:lvl1pPr>
          </a:lstStyle>
          <a:p>
            <a:endParaRPr lang="en-US" dirty="0"/>
          </a:p>
        </p:txBody>
      </p:sp>
      <p:sp>
        <p:nvSpPr>
          <p:cNvPr id="6" name="Content Placeholder 5">
            <a:extLst>
              <a:ext uri="{FF2B5EF4-FFF2-40B4-BE49-F238E27FC236}">
                <a16:creationId xmlns="" xmlns:a16="http://schemas.microsoft.com/office/drawing/2014/main" id="{80E7A7FF-EC7B-4E86-9018-F369E88F3006}"/>
              </a:ext>
            </a:extLst>
          </p:cNvPr>
          <p:cNvSpPr>
            <a:spLocks noGrp="1"/>
          </p:cNvSpPr>
          <p:nvPr>
            <p:ph sz="quarter" idx="15"/>
          </p:nvPr>
        </p:nvSpPr>
        <p:spPr>
          <a:xfrm>
            <a:off x="1295400" y="2719388"/>
            <a:ext cx="6248400" cy="5750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2053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B61BEF0D-F0BB-DE4B-95CE-6DB70DBA9567}" type="datetimeFigureOut">
              <a:rPr lang="en-US" dirty="0"/>
              <a:pPr/>
              <a:t>5/21/2025</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302020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80" r:id="rId19"/>
    <p:sldLayoutId id="2147483681" r:id="rId20"/>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20.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20.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dirty="0" smtClean="0"/>
              <a:t>Motivation and Leadership</a:t>
            </a:r>
            <a:endParaRPr dirty="0"/>
          </a:p>
        </p:txBody>
      </p:sp>
      <p:sp>
        <p:nvSpPr>
          <p:cNvPr id="55" name="Google Shape;55;p13"/>
          <p:cNvSpPr txBox="1">
            <a:spLocks noGrp="1"/>
          </p:cNvSpPr>
          <p:nvPr>
            <p:ph type="subTitle" idx="1"/>
          </p:nvPr>
        </p:nvSpPr>
        <p:spPr>
          <a:xfrm>
            <a:off x="311700" y="2834125"/>
            <a:ext cx="8520600" cy="979800"/>
          </a:xfrm>
          <a:prstGeom prst="rect">
            <a:avLst/>
          </a:prstGeom>
        </p:spPr>
        <p:txBody>
          <a:bodyPr spcFirstLastPara="1" wrap="square" lIns="91425" tIns="91425" rIns="91425" bIns="91425" anchor="t" anchorCtr="0">
            <a:normAutofit lnSpcReduction="10000"/>
          </a:bodyPr>
          <a:lstStyle/>
          <a:p>
            <a:pPr marL="0" lvl="0" indent="0" algn="l"/>
            <a:r>
              <a:rPr lang="en" sz="2400" dirty="0" smtClean="0">
                <a:solidFill>
                  <a:schemeClr val="dk1"/>
                </a:solidFill>
              </a:rPr>
              <a:t>Objective:</a:t>
            </a:r>
            <a:r>
              <a:rPr lang="en-US" sz="2400" dirty="0" smtClean="0">
                <a:solidFill>
                  <a:schemeClr val="dk1"/>
                </a:solidFill>
              </a:rPr>
              <a:t>To </a:t>
            </a:r>
            <a:r>
              <a:rPr lang="en-US" sz="2400" dirty="0">
                <a:solidFill>
                  <a:schemeClr val="dk1"/>
                </a:solidFill>
              </a:rPr>
              <a:t>enable students to analyze and address key issues in motivating and leading a technical workforce</a:t>
            </a:r>
            <a:endParaRPr sz="2400" dirty="0">
              <a:solidFill>
                <a:schemeClr val="dk1"/>
              </a:solidFill>
            </a:endParaRPr>
          </a:p>
        </p:txBody>
      </p:sp>
      <p:sp>
        <p:nvSpPr>
          <p:cNvPr id="56" name="Google Shape;56;p13"/>
          <p:cNvSpPr txBox="1"/>
          <p:nvPr/>
        </p:nvSpPr>
        <p:spPr>
          <a:xfrm>
            <a:off x="4054425" y="4146700"/>
            <a:ext cx="1210200" cy="65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400">
                <a:solidFill>
                  <a:schemeClr val="dk1"/>
                </a:solidFill>
              </a:rPr>
              <a:t>6 hrs</a:t>
            </a:r>
            <a:endParaRPr sz="2400">
              <a:solidFill>
                <a:schemeClr val="dk2"/>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prstGeom prst="rect">
            <a:avLst/>
          </a:prstGeom>
        </p:spPr>
        <p:txBody>
          <a:bodyPr spcFirstLastPara="1" wrap="square" lIns="91425" tIns="91425" rIns="91425" bIns="91425" anchor="t" anchorCtr="0">
            <a:normAutofit fontScale="90000"/>
          </a:bodyPr>
          <a:lstStyle/>
          <a:p>
            <a:r>
              <a:rPr lang="en" sz="2400" b="1" dirty="0"/>
              <a:t>3</a:t>
            </a:r>
            <a:r>
              <a:rPr lang="en" sz="2400" b="1" dirty="0" smtClean="0"/>
              <a:t>.1 </a:t>
            </a:r>
            <a:r>
              <a:rPr lang="en-US" sz="2400" b="1" dirty="0" smtClean="0"/>
              <a:t>Motivation</a:t>
            </a:r>
            <a:r>
              <a:rPr lang="en-US" sz="2400" dirty="0"/>
              <a:t/>
            </a:r>
            <a:br>
              <a:rPr lang="en-US" sz="2400" dirty="0"/>
            </a:br>
            <a:endParaRPr sz="2400" b="1" dirty="0"/>
          </a:p>
        </p:txBody>
      </p:sp>
      <p:sp>
        <p:nvSpPr>
          <p:cNvPr id="62" name="Google Shape;62;p14"/>
          <p:cNvSpPr txBox="1">
            <a:spLocks noGrp="1"/>
          </p:cNvSpPr>
          <p:nvPr>
            <p:ph type="body" idx="1"/>
          </p:nvPr>
        </p:nvSpPr>
        <p:spPr>
          <a:prstGeom prst="rect">
            <a:avLst/>
          </a:prstGeom>
        </p:spPr>
        <p:txBody>
          <a:bodyPr spcFirstLastPara="1" wrap="square" lIns="91425" tIns="91425" rIns="91425" bIns="91425" anchor="t" anchorCtr="0">
            <a:normAutofit/>
          </a:bodyPr>
          <a:lstStyle/>
          <a:p>
            <a:pPr marL="55563" lvl="2" indent="0" defTabSz="114300">
              <a:buNone/>
            </a:pPr>
            <a:r>
              <a:rPr lang="en-US" sz="2000" dirty="0">
                <a:solidFill>
                  <a:schemeClr val="tx1"/>
                </a:solidFill>
              </a:rPr>
              <a:t>3.1.1 Theories of motivation: </a:t>
            </a:r>
          </a:p>
          <a:p>
            <a:pPr marL="684213" lvl="2" indent="-342900" defTabSz="738188"/>
            <a:r>
              <a:rPr lang="en-US" sz="2000" dirty="0">
                <a:solidFill>
                  <a:schemeClr val="tx1"/>
                </a:solidFill>
              </a:rPr>
              <a:t>Maslow’s </a:t>
            </a:r>
            <a:r>
              <a:rPr lang="en-US" sz="2000" dirty="0" smtClean="0">
                <a:solidFill>
                  <a:schemeClr val="tx1"/>
                </a:solidFill>
              </a:rPr>
              <a:t>hierarchy</a:t>
            </a:r>
          </a:p>
          <a:p>
            <a:pPr marL="684213" lvl="2" indent="-342900" defTabSz="738188"/>
            <a:r>
              <a:rPr lang="en-US" sz="2000" dirty="0" smtClean="0">
                <a:solidFill>
                  <a:schemeClr val="tx1"/>
                </a:solidFill>
              </a:rPr>
              <a:t>Herzberg’s </a:t>
            </a:r>
            <a:r>
              <a:rPr lang="en-US" sz="2000" dirty="0">
                <a:solidFill>
                  <a:schemeClr val="tx1"/>
                </a:solidFill>
              </a:rPr>
              <a:t>two factor, Expectancy, </a:t>
            </a:r>
            <a:r>
              <a:rPr lang="en-US" sz="2000" dirty="0" smtClean="0">
                <a:solidFill>
                  <a:schemeClr val="tx1"/>
                </a:solidFill>
              </a:rPr>
              <a:t>Equity</a:t>
            </a:r>
          </a:p>
          <a:p>
            <a:pPr marL="55563" lvl="2" indent="0" defTabSz="114300">
              <a:buNone/>
            </a:pPr>
            <a:endParaRPr lang="en-US" sz="2000" dirty="0">
              <a:solidFill>
                <a:schemeClr val="tx1"/>
              </a:solidFill>
            </a:endParaRPr>
          </a:p>
          <a:p>
            <a:pPr marL="55563" lvl="2" indent="0" defTabSz="114300">
              <a:buNone/>
            </a:pPr>
            <a:r>
              <a:rPr lang="en-US" sz="2000" dirty="0" smtClean="0">
                <a:solidFill>
                  <a:schemeClr val="tx1"/>
                </a:solidFill>
              </a:rPr>
              <a:t>3.1.2 Techniques </a:t>
            </a:r>
            <a:r>
              <a:rPr lang="en-US" sz="2000" dirty="0">
                <a:solidFill>
                  <a:schemeClr val="tx1"/>
                </a:solidFill>
              </a:rPr>
              <a:t>for motivation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Concept of Motivation</a:t>
            </a:r>
            <a:endParaRPr lang="en-US" dirty="0"/>
          </a:p>
        </p:txBody>
      </p:sp>
      <p:sp>
        <p:nvSpPr>
          <p:cNvPr id="3" name="Text Placeholder 2"/>
          <p:cNvSpPr>
            <a:spLocks noGrp="1"/>
          </p:cNvSpPr>
          <p:nvPr>
            <p:ph type="body" idx="1"/>
          </p:nvPr>
        </p:nvSpPr>
        <p:spPr/>
        <p:txBody>
          <a:bodyPr>
            <a:normAutofit lnSpcReduction="10000"/>
          </a:bodyPr>
          <a:lstStyle/>
          <a:p>
            <a:r>
              <a:rPr lang="en-US" sz="2400" dirty="0" smtClean="0"/>
              <a:t>The term </a:t>
            </a:r>
            <a:r>
              <a:rPr lang="en-US" sz="2400" b="1" dirty="0" smtClean="0"/>
              <a:t>motive</a:t>
            </a:r>
            <a:r>
              <a:rPr lang="en-US" sz="2400" dirty="0" smtClean="0"/>
              <a:t> is derived from the </a:t>
            </a:r>
            <a:r>
              <a:rPr lang="en-US" sz="2400" dirty="0" err="1" smtClean="0"/>
              <a:t>latin</a:t>
            </a:r>
            <a:r>
              <a:rPr lang="en-US" sz="2400" dirty="0" smtClean="0"/>
              <a:t> word “</a:t>
            </a:r>
            <a:r>
              <a:rPr lang="en-US" sz="2400" dirty="0" err="1" smtClean="0"/>
              <a:t>movere</a:t>
            </a:r>
            <a:r>
              <a:rPr lang="en-US" sz="2400" dirty="0" smtClean="0"/>
              <a:t>” which means “to move”</a:t>
            </a:r>
          </a:p>
          <a:p>
            <a:r>
              <a:rPr lang="en-US" sz="2400" dirty="0" smtClean="0"/>
              <a:t>Motives have been classified in many ways:</a:t>
            </a:r>
          </a:p>
          <a:p>
            <a:pPr lvl="1"/>
            <a:r>
              <a:rPr lang="en-US" sz="2250" dirty="0" smtClean="0"/>
              <a:t>Primary motives (Biological)</a:t>
            </a:r>
          </a:p>
          <a:p>
            <a:pPr lvl="1"/>
            <a:r>
              <a:rPr lang="en-US" sz="2250" dirty="0" smtClean="0"/>
              <a:t>Secondary motives (Social)</a:t>
            </a:r>
          </a:p>
          <a:p>
            <a:r>
              <a:rPr lang="en-US" sz="2400" dirty="0" smtClean="0"/>
              <a:t>From organizational perspectives motives are:</a:t>
            </a:r>
          </a:p>
          <a:p>
            <a:pPr lvl="1"/>
            <a:r>
              <a:rPr lang="en-US" sz="2250" dirty="0" smtClean="0"/>
              <a:t>Internal motives (</a:t>
            </a:r>
            <a:r>
              <a:rPr lang="en-US" sz="2250" i="1" dirty="0" smtClean="0"/>
              <a:t>ego needs: freedom, prestige, recognition, status </a:t>
            </a:r>
            <a:r>
              <a:rPr lang="en-US" sz="2250" i="1" dirty="0" err="1" smtClean="0"/>
              <a:t>etc</a:t>
            </a:r>
            <a:r>
              <a:rPr lang="en-US" sz="2250" dirty="0" smtClean="0"/>
              <a:t>)</a:t>
            </a:r>
          </a:p>
          <a:p>
            <a:pPr lvl="1"/>
            <a:r>
              <a:rPr lang="en-US" sz="2250" dirty="0" smtClean="0"/>
              <a:t>External Motives (</a:t>
            </a:r>
            <a:r>
              <a:rPr lang="en-US" sz="2250" i="1" dirty="0" smtClean="0"/>
              <a:t>Arises from the social and family influences)</a:t>
            </a:r>
            <a:endParaRPr lang="en-US" sz="2250" i="1" dirty="0"/>
          </a:p>
        </p:txBody>
      </p:sp>
    </p:spTree>
    <p:extLst>
      <p:ext uri="{BB962C8B-B14F-4D97-AF65-F5344CB8AC3E}">
        <p14:creationId xmlns:p14="http://schemas.microsoft.com/office/powerpoint/2010/main" val="2657902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Definition of Motivation</a:t>
            </a:r>
            <a:endParaRPr lang="en-US" dirty="0"/>
          </a:p>
        </p:txBody>
      </p:sp>
      <p:sp>
        <p:nvSpPr>
          <p:cNvPr id="3" name="Text Placeholder 2"/>
          <p:cNvSpPr>
            <a:spLocks noGrp="1"/>
          </p:cNvSpPr>
          <p:nvPr>
            <p:ph type="body" idx="1"/>
          </p:nvPr>
        </p:nvSpPr>
        <p:spPr/>
        <p:txBody>
          <a:bodyPr>
            <a:normAutofit/>
          </a:bodyPr>
          <a:lstStyle/>
          <a:p>
            <a:r>
              <a:rPr lang="en-US" sz="2400" dirty="0" smtClean="0"/>
              <a:t>Motivation means inducement to act or move from inner impulse or drivers</a:t>
            </a:r>
          </a:p>
          <a:p>
            <a:r>
              <a:rPr lang="en-US" sz="2400" dirty="0" smtClean="0"/>
              <a:t>In an organizational setting, motivation means to make an employee act in a desired manner</a:t>
            </a:r>
          </a:p>
          <a:p>
            <a:r>
              <a:rPr lang="en-US" sz="2400" dirty="0" smtClean="0"/>
              <a:t>Desired manner is related to discipline, efficiency and productivity</a:t>
            </a:r>
          </a:p>
          <a:p>
            <a:r>
              <a:rPr lang="en-US" sz="2400" dirty="0" smtClean="0"/>
              <a:t>To motivate is to induce, persuade, stimulate, even compel an employee to act in a manner so as to achieve </a:t>
            </a:r>
          </a:p>
          <a:p>
            <a:endParaRPr lang="en-US" sz="2400" dirty="0"/>
          </a:p>
        </p:txBody>
      </p:sp>
    </p:spTree>
    <p:extLst>
      <p:ext uri="{BB962C8B-B14F-4D97-AF65-F5344CB8AC3E}">
        <p14:creationId xmlns:p14="http://schemas.microsoft.com/office/powerpoint/2010/main" val="552878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motivational Process</a:t>
            </a:r>
            <a:endParaRPr lang="en-US" dirty="0"/>
          </a:p>
        </p:txBody>
      </p:sp>
      <p:sp>
        <p:nvSpPr>
          <p:cNvPr id="3" name="Text Placeholder 2"/>
          <p:cNvSpPr>
            <a:spLocks noGrp="1"/>
          </p:cNvSpPr>
          <p:nvPr>
            <p:ph type="body" idx="1"/>
          </p:nvPr>
        </p:nvSpPr>
        <p:spPr>
          <a:xfrm>
            <a:off x="311700" y="1017725"/>
            <a:ext cx="8520600" cy="3950882"/>
          </a:xfrm>
        </p:spPr>
        <p:txBody>
          <a:bodyPr>
            <a:normAutofit lnSpcReduction="10000"/>
          </a:bodyPr>
          <a:lstStyle/>
          <a:p>
            <a:r>
              <a:rPr lang="en-US" sz="2400" dirty="0" smtClean="0"/>
              <a:t>Motivation is a concern of three factors</a:t>
            </a:r>
          </a:p>
          <a:p>
            <a:pPr lvl="1"/>
            <a:r>
              <a:rPr lang="en-US" sz="2250" dirty="0" smtClean="0"/>
              <a:t>What energizes behavior?</a:t>
            </a:r>
          </a:p>
          <a:p>
            <a:pPr lvl="1"/>
            <a:r>
              <a:rPr lang="en-US" sz="2250" dirty="0" smtClean="0"/>
              <a:t>What directs or channels behavior?</a:t>
            </a:r>
          </a:p>
          <a:p>
            <a:pPr lvl="1"/>
            <a:r>
              <a:rPr lang="en-US" sz="2250" dirty="0" smtClean="0"/>
              <a:t>How this behavior is maintained and sustained?</a:t>
            </a:r>
          </a:p>
          <a:p>
            <a:r>
              <a:rPr lang="en-US" sz="2400" dirty="0" smtClean="0"/>
              <a:t>Motivation is a complex process</a:t>
            </a:r>
          </a:p>
          <a:p>
            <a:pPr lvl="1"/>
            <a:r>
              <a:rPr lang="en-US" sz="2250" dirty="0" smtClean="0"/>
              <a:t>Motives can not be seen but can be inferred</a:t>
            </a:r>
          </a:p>
          <a:p>
            <a:pPr lvl="1"/>
            <a:r>
              <a:rPr lang="en-US" sz="2250" dirty="0" smtClean="0"/>
              <a:t>Drivers of motives are instantaneous</a:t>
            </a:r>
          </a:p>
          <a:p>
            <a:pPr lvl="1"/>
            <a:r>
              <a:rPr lang="en-US" sz="2250" dirty="0" smtClean="0"/>
              <a:t>Same incentives may be perceived differently</a:t>
            </a:r>
          </a:p>
          <a:p>
            <a:pPr lvl="1"/>
            <a:r>
              <a:rPr lang="en-US" sz="2250" dirty="0" smtClean="0"/>
              <a:t>Some motives are diminishing (hunger, thirst and sex)</a:t>
            </a:r>
          </a:p>
          <a:p>
            <a:pPr lvl="1"/>
            <a:r>
              <a:rPr lang="en-US" sz="2250" dirty="0" smtClean="0"/>
              <a:t>An individual may be unware of his motives</a:t>
            </a:r>
          </a:p>
          <a:p>
            <a:pPr lvl="1"/>
            <a:r>
              <a:rPr lang="en-US" sz="2250" dirty="0" smtClean="0"/>
              <a:t>Motivation is situational</a:t>
            </a:r>
          </a:p>
          <a:p>
            <a:pPr lvl="1"/>
            <a:endParaRPr lang="en-US" sz="2250" dirty="0"/>
          </a:p>
        </p:txBody>
      </p:sp>
    </p:spTree>
    <p:extLst>
      <p:ext uri="{BB962C8B-B14F-4D97-AF65-F5344CB8AC3E}">
        <p14:creationId xmlns:p14="http://schemas.microsoft.com/office/powerpoint/2010/main" val="1181122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Types of motivation</a:t>
            </a:r>
            <a:endParaRPr lang="en-US" dirty="0"/>
          </a:p>
        </p:txBody>
      </p:sp>
      <p:sp>
        <p:nvSpPr>
          <p:cNvPr id="3" name="Text Placeholder 2"/>
          <p:cNvSpPr>
            <a:spLocks noGrp="1"/>
          </p:cNvSpPr>
          <p:nvPr>
            <p:ph type="body" idx="1"/>
          </p:nvPr>
        </p:nvSpPr>
        <p:spPr/>
        <p:txBody>
          <a:bodyPr>
            <a:normAutofit/>
          </a:bodyPr>
          <a:lstStyle/>
          <a:p>
            <a:r>
              <a:rPr lang="en-US" sz="2400" dirty="0" smtClean="0"/>
              <a:t>Intrinsic Motivation</a:t>
            </a:r>
          </a:p>
          <a:p>
            <a:pPr lvl="1"/>
            <a:r>
              <a:rPr lang="en-US" sz="2250" dirty="0" smtClean="0"/>
              <a:t>Intrinsic motivation is related to skill and creative instinct (outward)</a:t>
            </a:r>
            <a:endParaRPr lang="en-US" sz="2250" dirty="0"/>
          </a:p>
          <a:p>
            <a:r>
              <a:rPr lang="en-US" sz="2400" dirty="0" smtClean="0"/>
              <a:t>Extrinsic Motivation</a:t>
            </a:r>
          </a:p>
          <a:p>
            <a:pPr lvl="1"/>
            <a:r>
              <a:rPr lang="en-US" sz="2250" dirty="0" smtClean="0"/>
              <a:t>This is external to the job or task (outward). Examples are: Praise, recognition, admiration, working conditions, and other facilities</a:t>
            </a:r>
            <a:endParaRPr lang="en-US" sz="2250" dirty="0"/>
          </a:p>
        </p:txBody>
      </p:sp>
    </p:spTree>
    <p:extLst>
      <p:ext uri="{BB962C8B-B14F-4D97-AF65-F5344CB8AC3E}">
        <p14:creationId xmlns:p14="http://schemas.microsoft.com/office/powerpoint/2010/main" val="4245022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Theories of Motivation</a:t>
            </a:r>
            <a:endParaRPr lang="en-US" dirty="0"/>
          </a:p>
        </p:txBody>
      </p:sp>
      <p:sp>
        <p:nvSpPr>
          <p:cNvPr id="3" name="Text Placeholder 2"/>
          <p:cNvSpPr>
            <a:spLocks noGrp="1"/>
          </p:cNvSpPr>
          <p:nvPr>
            <p:ph type="body" idx="1"/>
          </p:nvPr>
        </p:nvSpPr>
        <p:spPr/>
        <p:txBody>
          <a:bodyPr>
            <a:normAutofit/>
          </a:bodyPr>
          <a:lstStyle/>
          <a:p>
            <a:r>
              <a:rPr lang="en-US" sz="2400" dirty="0" smtClean="0"/>
              <a:t>Research questions.</a:t>
            </a:r>
          </a:p>
          <a:p>
            <a:pPr lvl="1"/>
            <a:r>
              <a:rPr lang="en-US" sz="2250" dirty="0" smtClean="0"/>
              <a:t>What forces within people, or within their environments, lead to motivation?</a:t>
            </a:r>
          </a:p>
          <a:p>
            <a:pPr lvl="2"/>
            <a:r>
              <a:rPr lang="en-US" sz="2100" i="1" dirty="0" smtClean="0"/>
              <a:t>This is related to content theories</a:t>
            </a:r>
          </a:p>
          <a:p>
            <a:pPr lvl="1"/>
            <a:r>
              <a:rPr lang="en-US" sz="2250" dirty="0" smtClean="0"/>
              <a:t>What processes or mechanisms are involved in motivational behavior?</a:t>
            </a:r>
          </a:p>
          <a:p>
            <a:pPr lvl="2"/>
            <a:r>
              <a:rPr lang="en-US" sz="2100" i="1" dirty="0" smtClean="0"/>
              <a:t>This is related to process theories</a:t>
            </a:r>
            <a:endParaRPr lang="en-US" sz="2100" i="1" dirty="0"/>
          </a:p>
        </p:txBody>
      </p:sp>
    </p:spTree>
    <p:extLst>
      <p:ext uri="{BB962C8B-B14F-4D97-AF65-F5344CB8AC3E}">
        <p14:creationId xmlns:p14="http://schemas.microsoft.com/office/powerpoint/2010/main" val="1718911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323838"/>
            <a:ext cx="8520600" cy="572700"/>
          </a:xfrm>
        </p:spPr>
        <p:txBody>
          <a:bodyPr>
            <a:noAutofit/>
          </a:bodyPr>
          <a:lstStyle/>
          <a:p>
            <a:r>
              <a:rPr lang="en-US" sz="2800" dirty="0" smtClean="0"/>
              <a:t>Maslow’s Theory</a:t>
            </a:r>
            <a:endParaRPr lang="en-US" sz="2800" dirty="0"/>
          </a:p>
        </p:txBody>
      </p:sp>
      <p:sp>
        <p:nvSpPr>
          <p:cNvPr id="3" name="Text Placeholder 2"/>
          <p:cNvSpPr>
            <a:spLocks noGrp="1"/>
          </p:cNvSpPr>
          <p:nvPr>
            <p:ph type="body" idx="1"/>
          </p:nvPr>
        </p:nvSpPr>
        <p:spPr>
          <a:xfrm>
            <a:off x="311700" y="980501"/>
            <a:ext cx="7267905" cy="3877938"/>
          </a:xfrm>
        </p:spPr>
        <p:txBody>
          <a:bodyPr>
            <a:noAutofit/>
          </a:bodyPr>
          <a:lstStyle/>
          <a:p>
            <a:r>
              <a:rPr lang="en-US" sz="2400" dirty="0">
                <a:cs typeface="Arial" charset="0"/>
              </a:rPr>
              <a:t>The best-known theory of motivation is probably Abraham Maslow’s </a:t>
            </a:r>
            <a:r>
              <a:rPr lang="en-US" sz="2400" b="1" dirty="0">
                <a:cs typeface="Arial" charset="0"/>
              </a:rPr>
              <a:t>hierarchy of needs theory</a:t>
            </a:r>
            <a:r>
              <a:rPr lang="en-US" sz="2400" dirty="0">
                <a:cs typeface="Arial" charset="0"/>
              </a:rPr>
              <a:t>. </a:t>
            </a:r>
            <a:endParaRPr lang="en-US" sz="2400" dirty="0" smtClean="0">
              <a:cs typeface="Arial" charset="0"/>
            </a:endParaRPr>
          </a:p>
          <a:p>
            <a:r>
              <a:rPr lang="en-US" sz="2400" dirty="0" smtClean="0">
                <a:cs typeface="Arial" charset="0"/>
              </a:rPr>
              <a:t>Maslow </a:t>
            </a:r>
            <a:r>
              <a:rPr lang="en-US" sz="2400" dirty="0">
                <a:cs typeface="Arial" charset="0"/>
              </a:rPr>
              <a:t>was a psychologist who proposed that within every person is a hierarchy of five </a:t>
            </a:r>
            <a:r>
              <a:rPr lang="en-US" sz="2400" dirty="0" smtClean="0">
                <a:cs typeface="Arial" charset="0"/>
              </a:rPr>
              <a:t>needs</a:t>
            </a:r>
          </a:p>
          <a:p>
            <a:r>
              <a:rPr lang="en-US" sz="2400" dirty="0" smtClean="0">
                <a:solidFill>
                  <a:schemeClr val="tx1"/>
                </a:solidFill>
              </a:rPr>
              <a:t>Maslow </a:t>
            </a:r>
            <a:r>
              <a:rPr lang="en-US" sz="2400" dirty="0">
                <a:solidFill>
                  <a:schemeClr val="tx1"/>
                </a:solidFill>
              </a:rPr>
              <a:t>argued that each level in the needs hierarchy must be substantially satisfied before the next need becomes </a:t>
            </a:r>
            <a:r>
              <a:rPr lang="en-US" sz="2400" dirty="0" smtClean="0">
                <a:solidFill>
                  <a:schemeClr val="tx1"/>
                </a:solidFill>
              </a:rPr>
              <a:t>dominant</a:t>
            </a:r>
          </a:p>
          <a:p>
            <a:r>
              <a:rPr lang="en-US" sz="2400" dirty="0" smtClean="0">
                <a:solidFill>
                  <a:schemeClr val="tx1"/>
                </a:solidFill>
              </a:rPr>
              <a:t>An </a:t>
            </a:r>
            <a:r>
              <a:rPr lang="en-US" sz="2400" dirty="0">
                <a:solidFill>
                  <a:schemeClr val="tx1"/>
                </a:solidFill>
              </a:rPr>
              <a:t>individual moves up the needs hierarchy from one level to the next. </a:t>
            </a:r>
            <a:endParaRPr lang="en-US" sz="2400" dirty="0"/>
          </a:p>
        </p:txBody>
      </p:sp>
    </p:spTree>
    <p:extLst>
      <p:ext uri="{BB962C8B-B14F-4D97-AF65-F5344CB8AC3E}">
        <p14:creationId xmlns:p14="http://schemas.microsoft.com/office/powerpoint/2010/main" val="4083262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4208" y="410873"/>
            <a:ext cx="6172200" cy="355839"/>
          </a:xfrm>
        </p:spPr>
        <p:txBody>
          <a:bodyPr>
            <a:normAutofit fontScale="90000"/>
          </a:bodyPr>
          <a:lstStyle/>
          <a:p>
            <a:r>
              <a:rPr lang="en-US" dirty="0"/>
              <a:t>Maslow’s Hierarchy of Needs Theory</a:t>
            </a:r>
          </a:p>
        </p:txBody>
      </p:sp>
      <p:sp>
        <p:nvSpPr>
          <p:cNvPr id="3" name="Content Placeholder 2"/>
          <p:cNvSpPr>
            <a:spLocks noGrp="1"/>
          </p:cNvSpPr>
          <p:nvPr>
            <p:ph idx="1"/>
          </p:nvPr>
        </p:nvSpPr>
        <p:spPr>
          <a:xfrm>
            <a:off x="451692" y="1328910"/>
            <a:ext cx="6754716" cy="3143250"/>
          </a:xfrm>
        </p:spPr>
        <p:txBody>
          <a:bodyPr>
            <a:normAutofit/>
          </a:bodyPr>
          <a:lstStyle/>
          <a:p>
            <a:r>
              <a:rPr lang="en-US" sz="2400" b="1" dirty="0"/>
              <a:t>Hierarchy of needs theory</a:t>
            </a:r>
            <a:r>
              <a:rPr lang="en-US" sz="2400" dirty="0"/>
              <a:t>: Maslow’s theory that human needs</a:t>
            </a:r>
            <a:r>
              <a:rPr lang="en-US" sz="2400" b="1" i="1" dirty="0"/>
              <a:t>—physiological, safety, social, esteem, and self-actualization</a:t>
            </a:r>
            <a:r>
              <a:rPr lang="en-US" sz="2400" dirty="0"/>
              <a:t>—form a hierarchy and that each level in the needs hierarchy must be substantially satisfied before the next need becomes dominant</a:t>
            </a:r>
          </a:p>
        </p:txBody>
      </p:sp>
    </p:spTree>
    <p:extLst>
      <p:ext uri="{BB962C8B-B14F-4D97-AF65-F5344CB8AC3E}">
        <p14:creationId xmlns:p14="http://schemas.microsoft.com/office/powerpoint/2010/main" val="2720185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8" descr="A chart illustrates Maslow’s Hierarchy of Needs.&#10;Long description is available in notes, Press F6">
            <a:extLst>
              <a:ext uri="{FF2B5EF4-FFF2-40B4-BE49-F238E27FC236}">
                <a16:creationId xmlns:a16="http://schemas.microsoft.com/office/drawing/2014/main" xmlns="" id="{11C4F1B0-715B-4A1E-ABB7-2746169C5789}"/>
              </a:ext>
            </a:extLst>
          </p:cNvPr>
          <p:cNvPicPr>
            <a:picLocks noChangeAspect="1"/>
          </p:cNvPicPr>
          <p:nvPr/>
        </p:nvPicPr>
        <p:blipFill>
          <a:blip r:embed="rId2" cstate="print"/>
          <a:stretch>
            <a:fillRect/>
          </a:stretch>
        </p:blipFill>
        <p:spPr>
          <a:xfrm>
            <a:off x="4395730" y="0"/>
            <a:ext cx="4748270" cy="2721004"/>
          </a:xfrm>
          <a:prstGeom prst="rect">
            <a:avLst/>
          </a:prstGeom>
        </p:spPr>
      </p:pic>
      <p:sp>
        <p:nvSpPr>
          <p:cNvPr id="5" name="Rectangle 4"/>
          <p:cNvSpPr/>
          <p:nvPr/>
        </p:nvSpPr>
        <p:spPr>
          <a:xfrm>
            <a:off x="137710" y="358926"/>
            <a:ext cx="5172419" cy="2308324"/>
          </a:xfrm>
          <a:prstGeom prst="rect">
            <a:avLst/>
          </a:prstGeom>
        </p:spPr>
        <p:txBody>
          <a:bodyPr wrap="square">
            <a:spAutoFit/>
          </a:bodyPr>
          <a:lstStyle/>
          <a:p>
            <a:r>
              <a:rPr lang="en-US" sz="1800" b="1" dirty="0"/>
              <a:t>Physiological needs</a:t>
            </a:r>
            <a:r>
              <a:rPr lang="en-US" sz="1800" dirty="0"/>
              <a:t>: a person’s needs for food, drink, shelter, sexual satisfaction, and other physical needs</a:t>
            </a:r>
          </a:p>
          <a:p>
            <a:r>
              <a:rPr lang="en-US" sz="1800" b="1" dirty="0"/>
              <a:t>Safety needs</a:t>
            </a:r>
            <a:r>
              <a:rPr lang="en-US" sz="1800" dirty="0"/>
              <a:t>: a person’s needs for security and protection from physical and emotional </a:t>
            </a:r>
            <a:r>
              <a:rPr lang="en-US" sz="1800" dirty="0" smtClean="0"/>
              <a:t>harm</a:t>
            </a:r>
          </a:p>
          <a:p>
            <a:endParaRPr lang="en-US" sz="1800" dirty="0"/>
          </a:p>
          <a:p>
            <a:r>
              <a:rPr lang="en-US" sz="1800" b="1" dirty="0"/>
              <a:t>Social needs</a:t>
            </a:r>
            <a:r>
              <a:rPr lang="en-US" sz="1800" dirty="0"/>
              <a:t>: a person’s needs for affection, belongingness, acceptance, and friendship</a:t>
            </a:r>
          </a:p>
        </p:txBody>
      </p:sp>
      <p:sp>
        <p:nvSpPr>
          <p:cNvPr id="6" name="Rectangle 5"/>
          <p:cNvSpPr/>
          <p:nvPr/>
        </p:nvSpPr>
        <p:spPr>
          <a:xfrm>
            <a:off x="225845" y="2958499"/>
            <a:ext cx="5084284" cy="2031325"/>
          </a:xfrm>
          <a:prstGeom prst="rect">
            <a:avLst/>
          </a:prstGeom>
        </p:spPr>
        <p:txBody>
          <a:bodyPr wrap="square">
            <a:spAutoFit/>
          </a:bodyPr>
          <a:lstStyle/>
          <a:p>
            <a:r>
              <a:rPr lang="en-US" sz="1800" b="1" dirty="0"/>
              <a:t>Esteem needs: </a:t>
            </a:r>
            <a:r>
              <a:rPr lang="en-US" sz="1800" dirty="0"/>
              <a:t>a person’s needs for internal factors such as self-respect, autonomy, and achievement, and external factors such as status, recognition, and </a:t>
            </a:r>
            <a:r>
              <a:rPr lang="en-US" sz="1800" dirty="0" smtClean="0"/>
              <a:t>attention</a:t>
            </a:r>
          </a:p>
          <a:p>
            <a:endParaRPr lang="en-US" sz="1800" dirty="0"/>
          </a:p>
          <a:p>
            <a:r>
              <a:rPr lang="en-US" sz="1800" b="1" dirty="0"/>
              <a:t>Self-actualization needs: </a:t>
            </a:r>
            <a:r>
              <a:rPr lang="en-US" sz="1800" dirty="0"/>
              <a:t>a person’s need to become what he or she is capable of becoming</a:t>
            </a:r>
          </a:p>
        </p:txBody>
      </p:sp>
    </p:spTree>
    <p:extLst>
      <p:ext uri="{BB962C8B-B14F-4D97-AF65-F5344CB8AC3E}">
        <p14:creationId xmlns:p14="http://schemas.microsoft.com/office/powerpoint/2010/main" val="1662605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159744"/>
            <a:ext cx="6447501" cy="534318"/>
          </a:xfrm>
        </p:spPr>
        <p:txBody>
          <a:bodyPr/>
          <a:lstStyle/>
          <a:p>
            <a:r>
              <a:rPr lang="en-US" dirty="0">
                <a:cs typeface="Arial" charset="0"/>
              </a:rPr>
              <a:t>Frederick Herzberg’s </a:t>
            </a:r>
            <a:r>
              <a:rPr lang="en-US" b="1" dirty="0">
                <a:cs typeface="Arial" charset="0"/>
              </a:rPr>
              <a:t>two-factor theory</a:t>
            </a:r>
            <a:endParaRPr lang="en-US" dirty="0"/>
          </a:p>
        </p:txBody>
      </p:sp>
      <p:sp>
        <p:nvSpPr>
          <p:cNvPr id="3" name="Content Placeholder 2"/>
          <p:cNvSpPr>
            <a:spLocks noGrp="1"/>
          </p:cNvSpPr>
          <p:nvPr>
            <p:ph idx="1"/>
          </p:nvPr>
        </p:nvSpPr>
        <p:spPr>
          <a:xfrm>
            <a:off x="508001" y="694062"/>
            <a:ext cx="6818216" cy="3668617"/>
          </a:xfrm>
        </p:spPr>
        <p:txBody>
          <a:bodyPr>
            <a:noAutofit/>
          </a:bodyPr>
          <a:lstStyle/>
          <a:p>
            <a:pPr defTabSz="914400">
              <a:spcBef>
                <a:spcPts val="0"/>
              </a:spcBef>
              <a:buClrTx/>
              <a:buSzTx/>
              <a:defRPr/>
            </a:pPr>
            <a:r>
              <a:rPr lang="en-US" sz="1800" dirty="0" smtClean="0">
                <a:cs typeface="Arial" charset="0"/>
              </a:rPr>
              <a:t>Herzberg </a:t>
            </a:r>
            <a:r>
              <a:rPr lang="en-US" sz="1800" dirty="0">
                <a:cs typeface="Arial" charset="0"/>
              </a:rPr>
              <a:t>wanted to know when people felt exceptionally good (satisfied) or bad (dissatisfied) about their jobs. </a:t>
            </a:r>
            <a:endParaRPr lang="en-US" sz="1800" dirty="0" smtClean="0">
              <a:cs typeface="Arial" charset="0"/>
            </a:endParaRPr>
          </a:p>
        </p:txBody>
      </p:sp>
      <p:pic>
        <p:nvPicPr>
          <p:cNvPr id="4" name="Picture Placeholder 7" descr="A chart explains Herzberg’s two-factor theory.&#10;Long description is available in notes, Press F6">
            <a:extLst>
              <a:ext uri="{FF2B5EF4-FFF2-40B4-BE49-F238E27FC236}">
                <a16:creationId xmlns:a16="http://schemas.microsoft.com/office/drawing/2014/main" xmlns="" id="{49049642-4644-4173-8098-147C5506EEE5}"/>
              </a:ext>
            </a:extLst>
          </p:cNvPr>
          <p:cNvPicPr>
            <a:picLocks noChangeAspect="1"/>
          </p:cNvPicPr>
          <p:nvPr/>
        </p:nvPicPr>
        <p:blipFill>
          <a:blip r:embed="rId2" cstate="print"/>
          <a:stretch>
            <a:fillRect/>
          </a:stretch>
        </p:blipFill>
        <p:spPr>
          <a:xfrm>
            <a:off x="508001" y="1377109"/>
            <a:ext cx="6348605" cy="3658518"/>
          </a:xfrm>
          <a:prstGeom prst="rect">
            <a:avLst/>
          </a:prstGeom>
        </p:spPr>
      </p:pic>
    </p:spTree>
    <p:extLst>
      <p:ext uri="{BB962C8B-B14F-4D97-AF65-F5344CB8AC3E}">
        <p14:creationId xmlns:p14="http://schemas.microsoft.com/office/powerpoint/2010/main" val="575427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405" y="258894"/>
            <a:ext cx="6691098" cy="534318"/>
          </a:xfrm>
        </p:spPr>
        <p:txBody>
          <a:bodyPr/>
          <a:lstStyle/>
          <a:p>
            <a:r>
              <a:rPr lang="en-US" dirty="0">
                <a:cs typeface="Arial" charset="0"/>
              </a:rPr>
              <a:t>Frederick Herzberg’s </a:t>
            </a:r>
            <a:r>
              <a:rPr lang="en-US" b="1" dirty="0">
                <a:cs typeface="Arial" charset="0"/>
              </a:rPr>
              <a:t>two-factor theory</a:t>
            </a:r>
            <a:endParaRPr lang="en-US" dirty="0"/>
          </a:p>
        </p:txBody>
      </p:sp>
      <p:sp>
        <p:nvSpPr>
          <p:cNvPr id="3" name="Content Placeholder 2"/>
          <p:cNvSpPr>
            <a:spLocks noGrp="1"/>
          </p:cNvSpPr>
          <p:nvPr>
            <p:ph idx="1"/>
          </p:nvPr>
        </p:nvSpPr>
        <p:spPr>
          <a:xfrm>
            <a:off x="264404" y="793213"/>
            <a:ext cx="8273667" cy="4054210"/>
          </a:xfrm>
        </p:spPr>
        <p:txBody>
          <a:bodyPr>
            <a:noAutofit/>
          </a:bodyPr>
          <a:lstStyle/>
          <a:p>
            <a:pPr defTabSz="914400">
              <a:spcBef>
                <a:spcPts val="0"/>
              </a:spcBef>
              <a:buClrTx/>
              <a:buSzTx/>
              <a:defRPr/>
            </a:pPr>
            <a:r>
              <a:rPr lang="en-US" sz="2000" dirty="0" smtClean="0">
                <a:cs typeface="Arial" charset="0"/>
              </a:rPr>
              <a:t>He </a:t>
            </a:r>
            <a:r>
              <a:rPr lang="en-US" sz="2000" dirty="0">
                <a:cs typeface="Arial" charset="0"/>
              </a:rPr>
              <a:t>concluded that the replies people gave when they felt good about their jobs were significantly different from the replies they gave when they felt </a:t>
            </a:r>
            <a:r>
              <a:rPr lang="en-US" sz="2000" dirty="0" smtClean="0">
                <a:cs typeface="Arial" charset="0"/>
              </a:rPr>
              <a:t>badly</a:t>
            </a:r>
          </a:p>
          <a:p>
            <a:pPr defTabSz="914400">
              <a:spcBef>
                <a:spcPts val="0"/>
              </a:spcBef>
              <a:buClrTx/>
              <a:buSzTx/>
              <a:defRPr/>
            </a:pPr>
            <a:r>
              <a:rPr lang="en-US" sz="2000" dirty="0" smtClean="0">
                <a:cs typeface="Arial" charset="0"/>
              </a:rPr>
              <a:t>Certain </a:t>
            </a:r>
            <a:r>
              <a:rPr lang="en-US" sz="2000" dirty="0">
                <a:cs typeface="Arial" charset="0"/>
              </a:rPr>
              <a:t>characteristics were consistently related to job satisfaction (factors on the left side of the exhibit), and others to job dissatisfaction (factors on the right side</a:t>
            </a:r>
            <a:r>
              <a:rPr lang="en-US" sz="2000" dirty="0" smtClean="0">
                <a:cs typeface="Arial" charset="0"/>
              </a:rPr>
              <a:t>)</a:t>
            </a:r>
          </a:p>
          <a:p>
            <a:pPr defTabSz="914400">
              <a:spcBef>
                <a:spcPts val="0"/>
              </a:spcBef>
              <a:buClrTx/>
              <a:buSzTx/>
              <a:defRPr/>
            </a:pPr>
            <a:endParaRPr lang="en-US" sz="2000" dirty="0">
              <a:cs typeface="Arial" charset="0"/>
            </a:endParaRPr>
          </a:p>
          <a:p>
            <a:pPr defTabSz="914400">
              <a:spcBef>
                <a:spcPts val="0"/>
              </a:spcBef>
              <a:buClrTx/>
              <a:buSzTx/>
              <a:defRPr/>
            </a:pPr>
            <a:r>
              <a:rPr lang="en-US" sz="2000" dirty="0">
                <a:cs typeface="Arial" charset="0"/>
              </a:rPr>
              <a:t>The extrinsic factors that create job dissatisfaction were called </a:t>
            </a:r>
            <a:r>
              <a:rPr lang="en-US" sz="2000" b="1" dirty="0">
                <a:cs typeface="Arial" charset="0"/>
              </a:rPr>
              <a:t>hygiene factors</a:t>
            </a:r>
            <a:r>
              <a:rPr lang="en-US" sz="2000" dirty="0">
                <a:cs typeface="Arial" charset="0"/>
              </a:rPr>
              <a:t>. When these factors are adequate, people won’t be dissatisfied, but they won’t be satisfied (or motivated) </a:t>
            </a:r>
            <a:r>
              <a:rPr lang="en-US" sz="2000" dirty="0" smtClean="0">
                <a:cs typeface="Arial" charset="0"/>
              </a:rPr>
              <a:t>either</a:t>
            </a:r>
          </a:p>
          <a:p>
            <a:pPr defTabSz="914400">
              <a:spcBef>
                <a:spcPts val="0"/>
              </a:spcBef>
              <a:buClrTx/>
              <a:buSzTx/>
              <a:defRPr/>
            </a:pPr>
            <a:r>
              <a:rPr lang="en-US" sz="2000" dirty="0" smtClean="0">
                <a:cs typeface="Arial" charset="0"/>
              </a:rPr>
              <a:t>To </a:t>
            </a:r>
            <a:r>
              <a:rPr lang="en-US" sz="2000" dirty="0">
                <a:cs typeface="Arial" charset="0"/>
              </a:rPr>
              <a:t>motivate people, Herzberg suggested emphasizing </a:t>
            </a:r>
            <a:r>
              <a:rPr lang="en-US" sz="2000" b="1" dirty="0">
                <a:cs typeface="Arial" charset="0"/>
              </a:rPr>
              <a:t>motivators</a:t>
            </a:r>
            <a:r>
              <a:rPr lang="en-US" sz="2000" dirty="0">
                <a:cs typeface="Arial" charset="0"/>
              </a:rPr>
              <a:t>, the intrinsic factors having to do with the job itself.</a:t>
            </a:r>
          </a:p>
          <a:p>
            <a:endParaRPr lang="en-US" sz="2000" dirty="0">
              <a:cs typeface="Arial" charset="0"/>
            </a:endParaRPr>
          </a:p>
        </p:txBody>
      </p:sp>
    </p:spTree>
    <p:extLst>
      <p:ext uri="{BB962C8B-B14F-4D97-AF65-F5344CB8AC3E}">
        <p14:creationId xmlns:p14="http://schemas.microsoft.com/office/powerpoint/2010/main" val="2960893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7770" y="312604"/>
            <a:ext cx="6172200" cy="422910"/>
          </a:xfrm>
        </p:spPr>
        <p:txBody>
          <a:bodyPr>
            <a:normAutofit fontScale="90000"/>
          </a:bodyPr>
          <a:lstStyle/>
          <a:p>
            <a:r>
              <a:rPr lang="en-US" dirty="0"/>
              <a:t>Herzberg’s Two-Factor Theory</a:t>
            </a:r>
          </a:p>
        </p:txBody>
      </p:sp>
      <p:sp>
        <p:nvSpPr>
          <p:cNvPr id="3" name="Content Placeholder 2"/>
          <p:cNvSpPr>
            <a:spLocks noGrp="1"/>
          </p:cNvSpPr>
          <p:nvPr>
            <p:ph idx="1"/>
          </p:nvPr>
        </p:nvSpPr>
        <p:spPr>
          <a:xfrm>
            <a:off x="747770" y="1108571"/>
            <a:ext cx="6923474" cy="3650715"/>
          </a:xfrm>
        </p:spPr>
        <p:txBody>
          <a:bodyPr>
            <a:normAutofit/>
          </a:bodyPr>
          <a:lstStyle/>
          <a:p>
            <a:r>
              <a:rPr lang="en-US" sz="2000" b="1" dirty="0"/>
              <a:t>Two-factor theory (motivation-hygiene theory)</a:t>
            </a:r>
            <a:r>
              <a:rPr lang="en-US" sz="2000" dirty="0"/>
              <a:t>: the motivation theory that intrinsic factors are related to job satisfaction and motivation, whereas extrinsic factors are associated with job dissatisfaction</a:t>
            </a:r>
          </a:p>
          <a:p>
            <a:r>
              <a:rPr lang="en-US" sz="2000" b="1" dirty="0"/>
              <a:t>Hygiene factors</a:t>
            </a:r>
            <a:r>
              <a:rPr lang="en-US" sz="2000" dirty="0"/>
              <a:t>: the extrinsic factors that remove job </a:t>
            </a:r>
            <a:r>
              <a:rPr lang="en-US" sz="2000" dirty="0" smtClean="0"/>
              <a:t>dissatisfaction</a:t>
            </a:r>
            <a:endParaRPr lang="en-US" sz="2000" dirty="0"/>
          </a:p>
          <a:p>
            <a:r>
              <a:rPr lang="en-US" sz="2000" b="1" dirty="0"/>
              <a:t>Motivators:</a:t>
            </a:r>
            <a:r>
              <a:rPr lang="en-US" sz="2000" dirty="0"/>
              <a:t> the intrinsic factors having to do with the job itself</a:t>
            </a:r>
          </a:p>
        </p:txBody>
      </p:sp>
    </p:spTree>
    <p:extLst>
      <p:ext uri="{BB962C8B-B14F-4D97-AF65-F5344CB8AC3E}">
        <p14:creationId xmlns:p14="http://schemas.microsoft.com/office/powerpoint/2010/main" val="680769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5585" y="158544"/>
            <a:ext cx="7105879" cy="601620"/>
          </a:xfrm>
        </p:spPr>
        <p:txBody>
          <a:bodyPr>
            <a:normAutofit fontScale="90000"/>
          </a:bodyPr>
          <a:lstStyle/>
          <a:p>
            <a:r>
              <a:rPr lang="en-US" sz="2400" dirty="0" smtClean="0"/>
              <a:t>Contrasting </a:t>
            </a:r>
            <a:r>
              <a:rPr lang="en-US" sz="2400" dirty="0"/>
              <a:t>Views of Satisfaction and Dissatisfaction</a:t>
            </a:r>
          </a:p>
        </p:txBody>
      </p:sp>
      <p:pic>
        <p:nvPicPr>
          <p:cNvPr id="7" name="Picture Placeholder 6" descr=" A chart compares the traditional view and Herzberg’s view of satisfaction and dissatisfaction.&#10;Long description is available in notes, Press F6">
            <a:extLst>
              <a:ext uri="{FF2B5EF4-FFF2-40B4-BE49-F238E27FC236}">
                <a16:creationId xmlns:a16="http://schemas.microsoft.com/office/drawing/2014/main" xmlns="" id="{5FFAEB17-DF95-4913-B4C5-7103A9295C93}"/>
              </a:ext>
            </a:extLst>
          </p:cNvPr>
          <p:cNvPicPr>
            <a:picLocks noGrp="1" noChangeAspect="1"/>
          </p:cNvPicPr>
          <p:nvPr>
            <p:ph type="pic" sz="quarter" idx="14"/>
          </p:nvPr>
        </p:nvPicPr>
        <p:blipFill>
          <a:blip r:embed="rId3" cstate="print"/>
          <a:stretch>
            <a:fillRect/>
          </a:stretch>
        </p:blipFill>
        <p:spPr>
          <a:xfrm>
            <a:off x="904138" y="980502"/>
            <a:ext cx="6997735" cy="2528258"/>
          </a:xfrm>
          <a:prstGeom prst="rect">
            <a:avLst/>
          </a:prstGeom>
        </p:spPr>
      </p:pic>
      <p:sp>
        <p:nvSpPr>
          <p:cNvPr id="5" name="Content Placeholder 4">
            <a:extLst>
              <a:ext uri="{FF2B5EF4-FFF2-40B4-BE49-F238E27FC236}">
                <a16:creationId xmlns:a16="http://schemas.microsoft.com/office/drawing/2014/main" xmlns="" id="{E82686CD-A84D-49D7-9343-2E808DB1043D}"/>
              </a:ext>
            </a:extLst>
          </p:cNvPr>
          <p:cNvSpPr>
            <a:spLocks noGrp="1"/>
          </p:cNvSpPr>
          <p:nvPr>
            <p:ph sz="quarter" idx="15"/>
          </p:nvPr>
        </p:nvSpPr>
        <p:spPr>
          <a:xfrm>
            <a:off x="1233889" y="3729098"/>
            <a:ext cx="6907575" cy="900052"/>
          </a:xfrm>
        </p:spPr>
        <p:txBody>
          <a:bodyPr>
            <a:normAutofit/>
          </a:bodyPr>
          <a:lstStyle/>
          <a:p>
            <a:pPr marL="0" indent="0">
              <a:buNone/>
            </a:pPr>
            <a:r>
              <a:rPr lang="en-US" dirty="0">
                <a:cs typeface="Arial" charset="0"/>
              </a:rPr>
              <a:t>As shown in </a:t>
            </a:r>
            <a:r>
              <a:rPr lang="en-US" b="1" dirty="0" smtClean="0">
                <a:cs typeface="Arial" charset="0"/>
              </a:rPr>
              <a:t>Figure</a:t>
            </a:r>
            <a:r>
              <a:rPr lang="en-US" dirty="0" smtClean="0">
                <a:cs typeface="Arial" charset="0"/>
              </a:rPr>
              <a:t>, </a:t>
            </a:r>
            <a:r>
              <a:rPr lang="en-US" dirty="0">
                <a:cs typeface="Arial" charset="0"/>
              </a:rPr>
              <a:t>Herzberg proposed that a dual continuum existed: The opposite of “satisfaction” is “no satisfaction,” and the opposite of “dissatisfaction” is “no dissatisfaction.”</a:t>
            </a:r>
          </a:p>
        </p:txBody>
      </p:sp>
    </p:spTree>
    <p:extLst>
      <p:ext uri="{BB962C8B-B14F-4D97-AF65-F5344CB8AC3E}">
        <p14:creationId xmlns:p14="http://schemas.microsoft.com/office/powerpoint/2010/main" val="3055854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476161"/>
          </a:xfrm>
        </p:spPr>
        <p:txBody>
          <a:bodyPr>
            <a:normAutofit fontScale="90000"/>
          </a:bodyPr>
          <a:lstStyle/>
          <a:p>
            <a:r>
              <a:rPr lang="en-US" dirty="0"/>
              <a:t>Equity Theory</a:t>
            </a:r>
          </a:p>
        </p:txBody>
      </p:sp>
      <p:sp>
        <p:nvSpPr>
          <p:cNvPr id="6" name="TextBox 5"/>
          <p:cNvSpPr txBox="1"/>
          <p:nvPr/>
        </p:nvSpPr>
        <p:spPr>
          <a:xfrm>
            <a:off x="457200" y="647611"/>
            <a:ext cx="8229600" cy="923330"/>
          </a:xfrm>
          <a:prstGeom prst="rect">
            <a:avLst/>
          </a:prstGeom>
          <a:noFill/>
        </p:spPr>
        <p:txBody>
          <a:bodyPr wrap="square" rtlCol="0">
            <a:spAutoFit/>
          </a:bodyPr>
          <a:lstStyle/>
          <a:p>
            <a:pPr eaLnBrk="1" hangingPunct="1"/>
            <a:r>
              <a:rPr lang="en-US" sz="1800" dirty="0">
                <a:cs typeface="Arial" charset="0"/>
              </a:rPr>
              <a:t>D</a:t>
            </a:r>
            <a:r>
              <a:rPr lang="en-US" sz="1800" dirty="0" smtClean="0">
                <a:cs typeface="Arial" charset="0"/>
              </a:rPr>
              <a:t>eveloped </a:t>
            </a:r>
            <a:r>
              <a:rPr lang="en-US" sz="1800" dirty="0">
                <a:cs typeface="Arial" charset="0"/>
              </a:rPr>
              <a:t>by </a:t>
            </a:r>
            <a:r>
              <a:rPr lang="en-US" sz="1800" b="1" dirty="0">
                <a:cs typeface="Arial" charset="0"/>
              </a:rPr>
              <a:t>J. Stacey Adams</a:t>
            </a:r>
            <a:r>
              <a:rPr lang="en-US" sz="1800" dirty="0">
                <a:cs typeface="Arial" charset="0"/>
              </a:rPr>
              <a:t>, proposes that employees compare what they get from a job (outcomes) in relation to what they put into it (inputs), and then they compare their inputs–outcomes ratio with </a:t>
            </a:r>
            <a:r>
              <a:rPr lang="en-US" sz="1800" dirty="0" smtClean="0">
                <a:cs typeface="Arial" charset="0"/>
              </a:rPr>
              <a:t>the </a:t>
            </a:r>
            <a:r>
              <a:rPr lang="en-US" sz="1800" dirty="0">
                <a:cs typeface="Arial" charset="0"/>
              </a:rPr>
              <a:t>ratios of relevant </a:t>
            </a:r>
            <a:r>
              <a:rPr lang="en-US" sz="1800" dirty="0" smtClean="0">
                <a:cs typeface="Arial" charset="0"/>
              </a:rPr>
              <a:t>others</a:t>
            </a:r>
          </a:p>
        </p:txBody>
      </p:sp>
      <p:pic>
        <p:nvPicPr>
          <p:cNvPr id="7" name="Picture Placeholder 6" descr="A chart explains the “Equity” theory.&#10;Long description is available in notes,&#10;press F6">
            <a:extLst>
              <a:ext uri="{FF2B5EF4-FFF2-40B4-BE49-F238E27FC236}">
                <a16:creationId xmlns:a16="http://schemas.microsoft.com/office/drawing/2014/main" xmlns="" id="{3B9B09B2-058F-4E92-A9B5-AC6755911D2E}"/>
              </a:ext>
            </a:extLst>
          </p:cNvPr>
          <p:cNvPicPr>
            <a:picLocks noGrp="1" noChangeAspect="1"/>
          </p:cNvPicPr>
          <p:nvPr>
            <p:ph type="pic" sz="quarter" idx="14"/>
          </p:nvPr>
        </p:nvPicPr>
        <p:blipFill>
          <a:blip r:embed="rId2" cstate="print"/>
          <a:stretch>
            <a:fillRect/>
          </a:stretch>
        </p:blipFill>
        <p:spPr>
          <a:xfrm>
            <a:off x="920311" y="1684976"/>
            <a:ext cx="6978784" cy="3421901"/>
          </a:xfrm>
          <a:prstGeom prst="rect">
            <a:avLst/>
          </a:prstGeom>
        </p:spPr>
      </p:pic>
    </p:spTree>
    <p:extLst>
      <p:ext uri="{BB962C8B-B14F-4D97-AF65-F5344CB8AC3E}">
        <p14:creationId xmlns:p14="http://schemas.microsoft.com/office/powerpoint/2010/main" val="1232828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349" y="309405"/>
            <a:ext cx="6172200" cy="435611"/>
          </a:xfrm>
        </p:spPr>
        <p:txBody>
          <a:bodyPr>
            <a:normAutofit fontScale="90000"/>
          </a:bodyPr>
          <a:lstStyle/>
          <a:p>
            <a:r>
              <a:rPr lang="en-US" sz="2300" dirty="0">
                <a:solidFill>
                  <a:srgbClr val="007FA3"/>
                </a:solidFill>
              </a:rPr>
              <a:t>Equity Theory</a:t>
            </a:r>
          </a:p>
        </p:txBody>
      </p:sp>
      <p:sp>
        <p:nvSpPr>
          <p:cNvPr id="3" name="Content Placeholder 2"/>
          <p:cNvSpPr>
            <a:spLocks noGrp="1"/>
          </p:cNvSpPr>
          <p:nvPr>
            <p:ph idx="1"/>
          </p:nvPr>
        </p:nvSpPr>
        <p:spPr>
          <a:xfrm>
            <a:off x="209320" y="811117"/>
            <a:ext cx="7162341" cy="3257550"/>
          </a:xfrm>
        </p:spPr>
        <p:txBody>
          <a:bodyPr/>
          <a:lstStyle/>
          <a:p>
            <a:r>
              <a:rPr lang="en-US" sz="1800" b="1" dirty="0">
                <a:cs typeface="Arial"/>
              </a:rPr>
              <a:t>Equity theory</a:t>
            </a:r>
            <a:r>
              <a:rPr lang="en-US" sz="1800" dirty="0"/>
              <a:t>: The theory that an employee compares his or her job’s input-outcomes ratio with that of relevant others and then corrects any inequity</a:t>
            </a:r>
          </a:p>
          <a:p>
            <a:pPr lvl="1"/>
            <a:r>
              <a:rPr lang="en-US" sz="1800" dirty="0"/>
              <a:t>If an employee perceives their ratio to be equitable in comparison to those of relevant others, there’s no problem </a:t>
            </a:r>
          </a:p>
          <a:p>
            <a:pPr lvl="1"/>
            <a:r>
              <a:rPr lang="en-US" sz="1800" dirty="0"/>
              <a:t>However, if the ratio is inequitable, they view themself as </a:t>
            </a:r>
            <a:r>
              <a:rPr lang="en-US" sz="1800" dirty="0" smtClean="0"/>
              <a:t>under rewarded </a:t>
            </a:r>
            <a:r>
              <a:rPr lang="en-US" sz="1800" dirty="0"/>
              <a:t>or overrewarded</a:t>
            </a:r>
          </a:p>
        </p:txBody>
      </p:sp>
    </p:spTree>
    <p:extLst>
      <p:ext uri="{BB962C8B-B14F-4D97-AF65-F5344CB8AC3E}">
        <p14:creationId xmlns:p14="http://schemas.microsoft.com/office/powerpoint/2010/main" val="4146383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534" y="326675"/>
            <a:ext cx="6172200" cy="530487"/>
          </a:xfrm>
        </p:spPr>
        <p:txBody>
          <a:bodyPr anchor="ctr"/>
          <a:lstStyle/>
          <a:p>
            <a:r>
              <a:rPr lang="en-US" sz="2100" dirty="0">
                <a:solidFill>
                  <a:srgbClr val="007FA3"/>
                </a:solidFill>
              </a:rPr>
              <a:t>Equity</a:t>
            </a:r>
            <a:r>
              <a:rPr lang="en-US" dirty="0"/>
              <a:t> </a:t>
            </a:r>
            <a:r>
              <a:rPr lang="en-US" sz="2100" dirty="0" smtClean="0">
                <a:solidFill>
                  <a:srgbClr val="007FA3"/>
                </a:solidFill>
              </a:rPr>
              <a:t>Theory</a:t>
            </a:r>
            <a:endParaRPr lang="en-US" sz="1350" dirty="0"/>
          </a:p>
        </p:txBody>
      </p:sp>
      <p:sp>
        <p:nvSpPr>
          <p:cNvPr id="3" name="Content Placeholder 2"/>
          <p:cNvSpPr>
            <a:spLocks noGrp="1"/>
          </p:cNvSpPr>
          <p:nvPr>
            <p:ph idx="1"/>
          </p:nvPr>
        </p:nvSpPr>
        <p:spPr>
          <a:xfrm>
            <a:off x="473725" y="1141623"/>
            <a:ext cx="7008105" cy="2736314"/>
          </a:xfrm>
        </p:spPr>
        <p:txBody>
          <a:bodyPr/>
          <a:lstStyle/>
          <a:p>
            <a:r>
              <a:rPr lang="en-US" sz="1800" b="1" dirty="0">
                <a:cs typeface="Arial"/>
              </a:rPr>
              <a:t>Referents</a:t>
            </a:r>
            <a:r>
              <a:rPr lang="en-US" sz="1800" b="1" dirty="0"/>
              <a:t>: </a:t>
            </a:r>
            <a:r>
              <a:rPr lang="en-US" sz="1800" dirty="0"/>
              <a:t>the persons, systems, or selves against which individuals compare themselves to assess equity</a:t>
            </a:r>
          </a:p>
          <a:p>
            <a:r>
              <a:rPr lang="en-US" sz="1800" b="1" dirty="0"/>
              <a:t>Distributive justice</a:t>
            </a:r>
            <a:r>
              <a:rPr lang="en-US" sz="1800" dirty="0"/>
              <a:t>: perceived fairness of the amount and allocation of rewards among individuals</a:t>
            </a:r>
          </a:p>
          <a:p>
            <a:r>
              <a:rPr lang="en-US" sz="1800" b="1" dirty="0"/>
              <a:t>Procedural justice</a:t>
            </a:r>
            <a:r>
              <a:rPr lang="en-US" sz="1800" dirty="0"/>
              <a:t>: perceived fairness of the process used to determine the distribution of rewards</a:t>
            </a:r>
          </a:p>
        </p:txBody>
      </p:sp>
    </p:spTree>
    <p:extLst>
      <p:ext uri="{BB962C8B-B14F-4D97-AF65-F5344CB8AC3E}">
        <p14:creationId xmlns:p14="http://schemas.microsoft.com/office/powerpoint/2010/main" val="1193577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47880"/>
            <a:ext cx="6447501" cy="578386"/>
          </a:xfrm>
        </p:spPr>
        <p:txBody>
          <a:bodyPr/>
          <a:lstStyle/>
          <a:p>
            <a:r>
              <a:rPr lang="en-US" dirty="0"/>
              <a:t>Expectancy Theory</a:t>
            </a:r>
          </a:p>
        </p:txBody>
      </p:sp>
      <p:sp>
        <p:nvSpPr>
          <p:cNvPr id="3" name="Content Placeholder 2"/>
          <p:cNvSpPr>
            <a:spLocks noGrp="1"/>
          </p:cNvSpPr>
          <p:nvPr>
            <p:ph idx="1"/>
          </p:nvPr>
        </p:nvSpPr>
        <p:spPr>
          <a:xfrm>
            <a:off x="508001" y="1035586"/>
            <a:ext cx="6447501" cy="3495436"/>
          </a:xfrm>
        </p:spPr>
        <p:txBody>
          <a:bodyPr>
            <a:normAutofit/>
          </a:bodyPr>
          <a:lstStyle/>
          <a:p>
            <a:r>
              <a:rPr lang="en-US" sz="2000" dirty="0">
                <a:cs typeface="Arial" charset="0"/>
              </a:rPr>
              <a:t>The most comprehensive explanation of how employees are motivated is Victor Vroom’s </a:t>
            </a:r>
            <a:r>
              <a:rPr lang="en-US" sz="2000" b="1" dirty="0">
                <a:cs typeface="Arial" charset="0"/>
              </a:rPr>
              <a:t>expectancy </a:t>
            </a:r>
            <a:r>
              <a:rPr lang="en-US" sz="2000" b="1" dirty="0" smtClean="0">
                <a:cs typeface="Arial" charset="0"/>
              </a:rPr>
              <a:t>theory</a:t>
            </a:r>
          </a:p>
          <a:p>
            <a:r>
              <a:rPr lang="en-US" sz="2000" dirty="0" smtClean="0">
                <a:cs typeface="Arial" charset="0"/>
              </a:rPr>
              <a:t>Expectancy </a:t>
            </a:r>
            <a:r>
              <a:rPr lang="en-US" sz="2000" dirty="0">
                <a:cs typeface="Arial" charset="0"/>
              </a:rPr>
              <a:t>theory states that an individual tends to act in a certain way based on the expectation that the act will be followed by a given outcome and on the attractiveness of that outcome to the </a:t>
            </a:r>
            <a:r>
              <a:rPr lang="en-US" sz="2000" dirty="0" smtClean="0">
                <a:cs typeface="Arial" charset="0"/>
              </a:rPr>
              <a:t>individual</a:t>
            </a:r>
          </a:p>
          <a:p>
            <a:r>
              <a:rPr lang="en-US" sz="2000" dirty="0" smtClean="0">
                <a:cs typeface="Arial" charset="0"/>
              </a:rPr>
              <a:t>It </a:t>
            </a:r>
            <a:r>
              <a:rPr lang="en-US" sz="2000" dirty="0">
                <a:cs typeface="Arial" charset="0"/>
              </a:rPr>
              <a:t>includes three variables or </a:t>
            </a:r>
            <a:r>
              <a:rPr lang="en-US" sz="2000" dirty="0" smtClean="0">
                <a:cs typeface="Arial" charset="0"/>
              </a:rPr>
              <a:t>relationships</a:t>
            </a:r>
            <a:endParaRPr lang="en-US" sz="2000" dirty="0">
              <a:cs typeface="Arial" charset="0"/>
            </a:endParaRPr>
          </a:p>
        </p:txBody>
      </p:sp>
    </p:spTree>
    <p:extLst>
      <p:ext uri="{BB962C8B-B14F-4D97-AF65-F5344CB8AC3E}">
        <p14:creationId xmlns:p14="http://schemas.microsoft.com/office/powerpoint/2010/main" val="2347652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170761"/>
            <a:ext cx="6447501" cy="990600"/>
          </a:xfrm>
        </p:spPr>
        <p:txBody>
          <a:bodyPr/>
          <a:lstStyle/>
          <a:p>
            <a:pPr marL="0" indent="0"/>
            <a:r>
              <a:rPr lang="en-US" dirty="0" smtClean="0">
                <a:cs typeface="Arial" charset="0"/>
              </a:rPr>
              <a:t>Figure illustrates </a:t>
            </a:r>
            <a:r>
              <a:rPr lang="en-US" dirty="0">
                <a:cs typeface="Arial" charset="0"/>
              </a:rPr>
              <a:t>the three relationships in the expectancy model.</a:t>
            </a:r>
          </a:p>
        </p:txBody>
      </p:sp>
      <p:pic>
        <p:nvPicPr>
          <p:cNvPr id="4" name="Picture Placeholder 7" descr="A chart illustrates the “Expectancy” model.&#10;Long description is available in notes,&#10;press F6">
            <a:extLst>
              <a:ext uri="{FF2B5EF4-FFF2-40B4-BE49-F238E27FC236}">
                <a16:creationId xmlns:a16="http://schemas.microsoft.com/office/drawing/2014/main" xmlns="" id="{F3677408-92F8-4DE2-A616-FDF22762F59A}"/>
              </a:ext>
            </a:extLst>
          </p:cNvPr>
          <p:cNvPicPr>
            <a:picLocks noChangeAspect="1"/>
          </p:cNvPicPr>
          <p:nvPr/>
        </p:nvPicPr>
        <p:blipFill>
          <a:blip r:embed="rId2" cstate="print"/>
          <a:stretch>
            <a:fillRect/>
          </a:stretch>
        </p:blipFill>
        <p:spPr>
          <a:xfrm>
            <a:off x="631118" y="1489107"/>
            <a:ext cx="7720292" cy="2466747"/>
          </a:xfrm>
          <a:prstGeom prst="rect">
            <a:avLst/>
          </a:prstGeom>
        </p:spPr>
      </p:pic>
    </p:spTree>
    <p:extLst>
      <p:ext uri="{BB962C8B-B14F-4D97-AF65-F5344CB8AC3E}">
        <p14:creationId xmlns:p14="http://schemas.microsoft.com/office/powerpoint/2010/main" val="4192247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170761"/>
            <a:ext cx="6447501" cy="523301"/>
          </a:xfrm>
        </p:spPr>
        <p:txBody>
          <a:bodyPr/>
          <a:lstStyle/>
          <a:p>
            <a:r>
              <a:rPr lang="en-US" dirty="0"/>
              <a:t>Expectancy Relationships</a:t>
            </a:r>
          </a:p>
        </p:txBody>
      </p:sp>
      <p:sp>
        <p:nvSpPr>
          <p:cNvPr id="3" name="Content Placeholder 2"/>
          <p:cNvSpPr>
            <a:spLocks noGrp="1"/>
          </p:cNvSpPr>
          <p:nvPr>
            <p:ph idx="1"/>
          </p:nvPr>
        </p:nvSpPr>
        <p:spPr>
          <a:xfrm>
            <a:off x="508001" y="694062"/>
            <a:ext cx="7313975" cy="3988106"/>
          </a:xfrm>
        </p:spPr>
        <p:txBody>
          <a:bodyPr>
            <a:noAutofit/>
          </a:bodyPr>
          <a:lstStyle/>
          <a:p>
            <a:pPr marL="0" indent="0">
              <a:buNone/>
              <a:defRPr/>
            </a:pPr>
            <a:r>
              <a:rPr lang="en-US" sz="2000" b="1" dirty="0"/>
              <a:t>1. </a:t>
            </a:r>
            <a:r>
              <a:rPr lang="en-US" sz="2000" b="1" i="1" dirty="0"/>
              <a:t>Expectancy </a:t>
            </a:r>
            <a:r>
              <a:rPr lang="en-US" sz="2000" b="1" dirty="0"/>
              <a:t>or </a:t>
            </a:r>
            <a:r>
              <a:rPr lang="en-US" sz="2000" b="1" i="1" dirty="0"/>
              <a:t>effort–performance linkage </a:t>
            </a:r>
            <a:r>
              <a:rPr lang="en-US" sz="2000" dirty="0"/>
              <a:t>is the probability perceived by the individual that exerting a given amount of effort will lead to a certain level of performance</a:t>
            </a:r>
            <a:r>
              <a:rPr lang="en-US" sz="2000" dirty="0" smtClean="0"/>
              <a:t>.</a:t>
            </a:r>
            <a:endParaRPr lang="en-US" sz="2000" dirty="0"/>
          </a:p>
          <a:p>
            <a:pPr marL="0" indent="0">
              <a:buNone/>
              <a:defRPr/>
            </a:pPr>
            <a:r>
              <a:rPr lang="en-US" sz="2000" b="1" dirty="0"/>
              <a:t>2. </a:t>
            </a:r>
            <a:r>
              <a:rPr lang="en-US" sz="2000" b="1" i="1" dirty="0"/>
              <a:t>Instrumentality </a:t>
            </a:r>
            <a:r>
              <a:rPr lang="en-US" sz="2000" b="1" dirty="0"/>
              <a:t>or </a:t>
            </a:r>
            <a:r>
              <a:rPr lang="en-US" sz="2000" b="1" i="1" dirty="0"/>
              <a:t>performance–reward linkage </a:t>
            </a:r>
            <a:r>
              <a:rPr lang="en-US" sz="2000" dirty="0"/>
              <a:t>is the degree to which the individual believes that performing at a particular level is instrumental in attaining the desired outcome.</a:t>
            </a:r>
          </a:p>
          <a:p>
            <a:pPr marL="0" indent="0">
              <a:buNone/>
              <a:defRPr/>
            </a:pPr>
            <a:r>
              <a:rPr lang="en-US" sz="2000" b="1" dirty="0" smtClean="0"/>
              <a:t>3</a:t>
            </a:r>
            <a:r>
              <a:rPr lang="en-US" sz="2000" b="1" dirty="0"/>
              <a:t>. </a:t>
            </a:r>
            <a:r>
              <a:rPr lang="en-US" sz="2000" b="1" i="1" dirty="0"/>
              <a:t>Valence </a:t>
            </a:r>
            <a:r>
              <a:rPr lang="en-US" sz="2000" b="1" dirty="0"/>
              <a:t>or </a:t>
            </a:r>
            <a:r>
              <a:rPr lang="en-US" sz="2000" b="1" i="1" dirty="0"/>
              <a:t>attractiveness of reward </a:t>
            </a:r>
            <a:r>
              <a:rPr lang="en-US" sz="2000" dirty="0"/>
              <a:t>is the importance an individual places on the potential outcome or reward that can be achieved on the job. Valence considers both the goals and needs of the individual.</a:t>
            </a:r>
          </a:p>
        </p:txBody>
      </p:sp>
    </p:spTree>
    <p:extLst>
      <p:ext uri="{BB962C8B-B14F-4D97-AF65-F5344CB8AC3E}">
        <p14:creationId xmlns:p14="http://schemas.microsoft.com/office/powerpoint/2010/main" val="10812572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627888"/>
          </a:xfrm>
        </p:spPr>
        <p:txBody>
          <a:bodyPr/>
          <a:lstStyle/>
          <a:p>
            <a:r>
              <a:rPr lang="en-US" dirty="0" smtClean="0"/>
              <a:t>Techniques of Motivation</a:t>
            </a:r>
            <a:endParaRPr lang="en-US" dirty="0"/>
          </a:p>
        </p:txBody>
      </p:sp>
      <p:sp>
        <p:nvSpPr>
          <p:cNvPr id="3" name="Content Placeholder 2"/>
          <p:cNvSpPr>
            <a:spLocks noGrp="1"/>
          </p:cNvSpPr>
          <p:nvPr>
            <p:ph idx="1"/>
          </p:nvPr>
        </p:nvSpPr>
        <p:spPr>
          <a:xfrm>
            <a:off x="508001" y="1085088"/>
            <a:ext cx="7197343" cy="3791712"/>
          </a:xfrm>
        </p:spPr>
        <p:txBody>
          <a:bodyPr>
            <a:normAutofit fontScale="92500"/>
          </a:bodyPr>
          <a:lstStyle/>
          <a:p>
            <a:r>
              <a:rPr lang="en-US" sz="2400" dirty="0" smtClean="0"/>
              <a:t>Manger needs to be sure of the following:</a:t>
            </a:r>
          </a:p>
          <a:p>
            <a:pPr lvl="1"/>
            <a:r>
              <a:rPr lang="en-US" sz="2250" dirty="0" smtClean="0"/>
              <a:t>Positive reinforcement</a:t>
            </a:r>
          </a:p>
          <a:p>
            <a:pPr lvl="1"/>
            <a:r>
              <a:rPr lang="en-US" sz="2250" dirty="0" smtClean="0"/>
              <a:t>Fair treatment</a:t>
            </a:r>
          </a:p>
          <a:p>
            <a:pPr lvl="1"/>
            <a:r>
              <a:rPr lang="en-US" sz="2250" dirty="0" smtClean="0"/>
              <a:t>Understand and address employee’s needs</a:t>
            </a:r>
          </a:p>
          <a:p>
            <a:pPr lvl="1"/>
            <a:r>
              <a:rPr lang="en-US" sz="2250" dirty="0" smtClean="0"/>
              <a:t>Incentives for learning, creativity and innovation</a:t>
            </a:r>
          </a:p>
          <a:p>
            <a:pPr lvl="1"/>
            <a:r>
              <a:rPr lang="en-US" sz="2250" dirty="0" smtClean="0"/>
              <a:t>Teach and remind procedure consistent with goals</a:t>
            </a:r>
          </a:p>
          <a:p>
            <a:pPr lvl="1"/>
            <a:r>
              <a:rPr lang="en-US" sz="2250" dirty="0" smtClean="0"/>
              <a:t>Restructure and reorganize jobs whenever necessary</a:t>
            </a:r>
          </a:p>
          <a:p>
            <a:pPr lvl="1"/>
            <a:r>
              <a:rPr lang="en-US" sz="2400" dirty="0" smtClean="0"/>
              <a:t>Have a reward system based on job performance</a:t>
            </a:r>
            <a:endParaRPr lang="en-US" sz="2400" dirty="0"/>
          </a:p>
        </p:txBody>
      </p:sp>
    </p:spTree>
    <p:extLst>
      <p:ext uri="{BB962C8B-B14F-4D97-AF65-F5344CB8AC3E}">
        <p14:creationId xmlns:p14="http://schemas.microsoft.com/office/powerpoint/2010/main" val="341895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Reward system to motivate performance</a:t>
            </a:r>
            <a:endParaRPr lang="en-US" dirty="0"/>
          </a:p>
        </p:txBody>
      </p:sp>
      <p:sp>
        <p:nvSpPr>
          <p:cNvPr id="3" name="Content Placeholder 2"/>
          <p:cNvSpPr>
            <a:spLocks noGrp="1"/>
          </p:cNvSpPr>
          <p:nvPr>
            <p:ph idx="1"/>
          </p:nvPr>
        </p:nvSpPr>
        <p:spPr>
          <a:xfrm>
            <a:off x="508001" y="1158240"/>
            <a:ext cx="6447501" cy="3372782"/>
          </a:xfrm>
        </p:spPr>
        <p:txBody>
          <a:bodyPr>
            <a:normAutofit fontScale="92500" lnSpcReduction="10000"/>
          </a:bodyPr>
          <a:lstStyle/>
          <a:p>
            <a:r>
              <a:rPr lang="en-US" sz="2400" dirty="0" smtClean="0"/>
              <a:t>Extrinsic rewards</a:t>
            </a:r>
          </a:p>
          <a:p>
            <a:r>
              <a:rPr lang="en-US" sz="2400" dirty="0" smtClean="0"/>
              <a:t>Intrinsic rewards</a:t>
            </a:r>
          </a:p>
          <a:p>
            <a:r>
              <a:rPr lang="en-US" sz="2400" dirty="0" smtClean="0"/>
              <a:t>Compensation</a:t>
            </a:r>
          </a:p>
          <a:p>
            <a:r>
              <a:rPr lang="en-US" sz="2400" dirty="0" smtClean="0"/>
              <a:t>Incentive system</a:t>
            </a:r>
          </a:p>
          <a:p>
            <a:pPr lvl="1"/>
            <a:r>
              <a:rPr lang="en-US" sz="2400" dirty="0" smtClean="0"/>
              <a:t>Employee share ownership</a:t>
            </a:r>
          </a:p>
          <a:p>
            <a:pPr lvl="1"/>
            <a:r>
              <a:rPr lang="en-US" sz="2400" dirty="0" smtClean="0"/>
              <a:t>Flexible benefits</a:t>
            </a:r>
          </a:p>
          <a:p>
            <a:pPr lvl="1"/>
            <a:r>
              <a:rPr lang="en-US" sz="2400" dirty="0" smtClean="0"/>
              <a:t>Merit awards</a:t>
            </a:r>
          </a:p>
          <a:p>
            <a:pPr lvl="1"/>
            <a:r>
              <a:rPr lang="en-US" sz="2400" dirty="0" smtClean="0"/>
              <a:t>Knowledge or skill based pays</a:t>
            </a:r>
            <a:endParaRPr lang="en-US" sz="2400" dirty="0"/>
          </a:p>
        </p:txBody>
      </p:sp>
    </p:spTree>
    <p:extLst>
      <p:ext uri="{BB962C8B-B14F-4D97-AF65-F5344CB8AC3E}">
        <p14:creationId xmlns:p14="http://schemas.microsoft.com/office/powerpoint/2010/main" val="2088071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37744"/>
            <a:ext cx="6447501" cy="493776"/>
          </a:xfrm>
        </p:spPr>
        <p:txBody>
          <a:bodyPr>
            <a:normAutofit fontScale="90000"/>
          </a:bodyPr>
          <a:lstStyle/>
          <a:p>
            <a:r>
              <a:rPr lang="en-US" dirty="0" smtClean="0"/>
              <a:t>Effective Reward Management</a:t>
            </a:r>
            <a:endParaRPr lang="en-US" dirty="0"/>
          </a:p>
        </p:txBody>
      </p:sp>
      <p:sp>
        <p:nvSpPr>
          <p:cNvPr id="3" name="Content Placeholder 2"/>
          <p:cNvSpPr>
            <a:spLocks noGrp="1"/>
          </p:cNvSpPr>
          <p:nvPr>
            <p:ph idx="1"/>
          </p:nvPr>
        </p:nvSpPr>
        <p:spPr>
          <a:xfrm>
            <a:off x="197105" y="2724912"/>
            <a:ext cx="4326127" cy="2310384"/>
          </a:xfrm>
        </p:spPr>
        <p:txBody>
          <a:bodyPr>
            <a:normAutofit/>
          </a:bodyPr>
          <a:lstStyle/>
          <a:p>
            <a:r>
              <a:rPr lang="en-US" sz="2000" dirty="0" smtClean="0"/>
              <a:t>Quality of Work Life</a:t>
            </a:r>
          </a:p>
          <a:p>
            <a:pPr lvl="1"/>
            <a:r>
              <a:rPr lang="en-US" sz="1850" dirty="0" smtClean="0"/>
              <a:t>Adequate and fair compensation</a:t>
            </a:r>
          </a:p>
          <a:p>
            <a:pPr lvl="1"/>
            <a:r>
              <a:rPr lang="en-US" sz="1850" dirty="0" smtClean="0"/>
              <a:t>A safe and healthy environment</a:t>
            </a:r>
          </a:p>
          <a:p>
            <a:pPr lvl="1"/>
            <a:r>
              <a:rPr lang="en-US" sz="1850" dirty="0" smtClean="0"/>
              <a:t>Opportunity for developing human capabilities, personal growth and security</a:t>
            </a:r>
            <a:endParaRPr lang="en-US" sz="1850" dirty="0"/>
          </a:p>
        </p:txBody>
      </p:sp>
      <p:sp>
        <p:nvSpPr>
          <p:cNvPr id="4" name="Title 1"/>
          <p:cNvSpPr txBox="1">
            <a:spLocks/>
          </p:cNvSpPr>
          <p:nvPr/>
        </p:nvSpPr>
        <p:spPr>
          <a:xfrm>
            <a:off x="507999" y="2231136"/>
            <a:ext cx="6447501" cy="493776"/>
          </a:xfrm>
          <a:prstGeom prst="rect">
            <a:avLst/>
          </a:prstGeom>
        </p:spPr>
        <p:txBody>
          <a:bodyPr vert="horz" lIns="91440" tIns="45720" rIns="91440" bIns="45720" rtlCol="0" anchor="t">
            <a:normAutofit fontScale="90000"/>
          </a:bodyPr>
          <a:lst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buClrTx/>
              <a:buFontTx/>
            </a:pPr>
            <a:r>
              <a:rPr lang="en-US" dirty="0" smtClean="0"/>
              <a:t>Motivation through Employee Participation</a:t>
            </a:r>
            <a:endParaRPr lang="en-US" dirty="0"/>
          </a:p>
        </p:txBody>
      </p:sp>
      <p:sp>
        <p:nvSpPr>
          <p:cNvPr id="5" name="Content Placeholder 2"/>
          <p:cNvSpPr txBox="1">
            <a:spLocks/>
          </p:cNvSpPr>
          <p:nvPr/>
        </p:nvSpPr>
        <p:spPr>
          <a:xfrm>
            <a:off x="660401" y="725424"/>
            <a:ext cx="7081519" cy="1469136"/>
          </a:xfrm>
          <a:prstGeom prst="rect">
            <a:avLst/>
          </a:prstGeom>
        </p:spPr>
        <p:txBody>
          <a:bodyPr vert="horz" lIns="91440" tIns="45720" rIns="91440" bIns="45720" rtlCol="0">
            <a:normAutofit fontScale="92500" lnSpcReduction="10000"/>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a:lstStyle>
          <a:p>
            <a:r>
              <a:rPr lang="en-US" sz="2000" dirty="0" smtClean="0"/>
              <a:t>Reward must satisfy needs</a:t>
            </a:r>
          </a:p>
          <a:p>
            <a:r>
              <a:rPr lang="en-US" sz="2000" dirty="0" smtClean="0"/>
              <a:t>One must believe that efforts will lead to reward</a:t>
            </a:r>
          </a:p>
          <a:p>
            <a:r>
              <a:rPr lang="en-US" sz="2000" dirty="0" smtClean="0"/>
              <a:t>Rewards must be equitable</a:t>
            </a:r>
          </a:p>
          <a:p>
            <a:r>
              <a:rPr lang="en-US" sz="2000" dirty="0" smtClean="0"/>
              <a:t>Rewards must be linked with performance</a:t>
            </a:r>
            <a:endParaRPr lang="en-US" sz="2000" dirty="0"/>
          </a:p>
        </p:txBody>
      </p:sp>
      <p:sp>
        <p:nvSpPr>
          <p:cNvPr id="6" name="Content Placeholder 2"/>
          <p:cNvSpPr txBox="1">
            <a:spLocks/>
          </p:cNvSpPr>
          <p:nvPr/>
        </p:nvSpPr>
        <p:spPr>
          <a:xfrm>
            <a:off x="4328160" y="2761488"/>
            <a:ext cx="3803904" cy="2188464"/>
          </a:xfrm>
          <a:prstGeom prst="rect">
            <a:avLst/>
          </a:prstGeom>
        </p:spPr>
        <p:txBody>
          <a:bodyPr vert="horz" lIns="91440" tIns="45720" rIns="91440" bIns="45720" rtlCol="0">
            <a:norm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a:lstStyle>
          <a:p>
            <a:r>
              <a:rPr lang="en-US" sz="2000" dirty="0" smtClean="0"/>
              <a:t>Quality of Work Life</a:t>
            </a:r>
          </a:p>
          <a:p>
            <a:pPr lvl="1"/>
            <a:r>
              <a:rPr lang="en-US" sz="1850" dirty="0" smtClean="0"/>
              <a:t>Social Environment</a:t>
            </a:r>
          </a:p>
          <a:p>
            <a:pPr lvl="1"/>
            <a:r>
              <a:rPr lang="en-US" sz="1850" dirty="0" smtClean="0"/>
              <a:t>Work role with no personal time consumption</a:t>
            </a:r>
          </a:p>
          <a:p>
            <a:pPr lvl="1"/>
            <a:r>
              <a:rPr lang="en-US" sz="1850" dirty="0" smtClean="0"/>
              <a:t>Work with personal freedom, rights and dignity</a:t>
            </a:r>
          </a:p>
        </p:txBody>
      </p:sp>
    </p:spTree>
    <p:extLst>
      <p:ext uri="{BB962C8B-B14F-4D97-AF65-F5344CB8AC3E}">
        <p14:creationId xmlns:p14="http://schemas.microsoft.com/office/powerpoint/2010/main" val="2424378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Mechanisms to achieve QWL Quality of Work Life</a:t>
            </a:r>
            <a:endParaRPr lang="en-US" dirty="0"/>
          </a:p>
        </p:txBody>
      </p:sp>
      <p:sp>
        <p:nvSpPr>
          <p:cNvPr id="3" name="Content Placeholder 2"/>
          <p:cNvSpPr>
            <a:spLocks noGrp="1"/>
          </p:cNvSpPr>
          <p:nvPr>
            <p:ph idx="1"/>
          </p:nvPr>
        </p:nvSpPr>
        <p:spPr>
          <a:xfrm>
            <a:off x="508001" y="1620442"/>
            <a:ext cx="6447501" cy="1476326"/>
          </a:xfrm>
        </p:spPr>
        <p:txBody>
          <a:bodyPr>
            <a:normAutofit/>
          </a:bodyPr>
          <a:lstStyle/>
          <a:p>
            <a:r>
              <a:rPr lang="en-US" sz="2400" dirty="0" smtClean="0"/>
              <a:t>Quality Circle</a:t>
            </a:r>
          </a:p>
          <a:p>
            <a:r>
              <a:rPr lang="en-US" sz="2400" dirty="0" smtClean="0"/>
              <a:t>Employee’s Share Ownership</a:t>
            </a:r>
          </a:p>
          <a:p>
            <a:r>
              <a:rPr lang="en-US" sz="2400" dirty="0" smtClean="0"/>
              <a:t>Flexible work schedules</a:t>
            </a:r>
          </a:p>
          <a:p>
            <a:endParaRPr lang="en-US" sz="2400" dirty="0"/>
          </a:p>
          <a:p>
            <a:pPr marL="0" indent="0">
              <a:buNone/>
            </a:pPr>
            <a:endParaRPr lang="en-US" sz="2400" dirty="0"/>
          </a:p>
        </p:txBody>
      </p:sp>
      <p:sp>
        <p:nvSpPr>
          <p:cNvPr id="4" name="TextBox 3"/>
          <p:cNvSpPr txBox="1"/>
          <p:nvPr/>
        </p:nvSpPr>
        <p:spPr>
          <a:xfrm>
            <a:off x="508001" y="3535680"/>
            <a:ext cx="6563359" cy="461665"/>
          </a:xfrm>
          <a:prstGeom prst="rect">
            <a:avLst/>
          </a:prstGeom>
          <a:noFill/>
        </p:spPr>
        <p:txBody>
          <a:bodyPr wrap="square" rtlCol="0">
            <a:spAutoFit/>
          </a:bodyPr>
          <a:lstStyle/>
          <a:p>
            <a:pPr algn="ctr"/>
            <a:r>
              <a:rPr lang="en-US" sz="2400" b="1" dirty="0"/>
              <a:t>Self Managed Work Teams</a:t>
            </a:r>
          </a:p>
        </p:txBody>
      </p:sp>
    </p:spTree>
    <p:extLst>
      <p:ext uri="{BB962C8B-B14F-4D97-AF65-F5344CB8AC3E}">
        <p14:creationId xmlns:p14="http://schemas.microsoft.com/office/powerpoint/2010/main" val="14940617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784" y="199823"/>
            <a:ext cx="6719316" cy="546624"/>
          </a:xfrm>
        </p:spPr>
        <p:txBody>
          <a:bodyPr anchor="ctr"/>
          <a:lstStyle/>
          <a:p>
            <a:r>
              <a:rPr lang="en-US" sz="2100" dirty="0"/>
              <a:t>Technology and Motivation</a:t>
            </a:r>
          </a:p>
        </p:txBody>
      </p:sp>
      <p:sp>
        <p:nvSpPr>
          <p:cNvPr id="3" name="Content Placeholder 2"/>
          <p:cNvSpPr>
            <a:spLocks noGrp="1"/>
          </p:cNvSpPr>
          <p:nvPr>
            <p:ph idx="1"/>
          </p:nvPr>
        </p:nvSpPr>
        <p:spPr>
          <a:xfrm>
            <a:off x="755904" y="800100"/>
            <a:ext cx="6902196" cy="3143250"/>
          </a:xfrm>
        </p:spPr>
        <p:txBody>
          <a:bodyPr>
            <a:normAutofit/>
          </a:bodyPr>
          <a:lstStyle/>
          <a:p>
            <a:r>
              <a:rPr lang="en-US" sz="1800" dirty="0"/>
              <a:t>Constantly advancing technology is impacting how, where, and when we work, influencing motivation in several ways</a:t>
            </a:r>
          </a:p>
          <a:p>
            <a:r>
              <a:rPr lang="en-US" sz="1800" dirty="0"/>
              <a:t>Technology can increase the pace of work, leading to workers feeling a loss of control</a:t>
            </a:r>
          </a:p>
          <a:p>
            <a:r>
              <a:rPr lang="en-US" sz="1800" dirty="0"/>
              <a:t>With the effective integration of technology in work, companies could increase motivation by providing opportunities to provide meaningful work</a:t>
            </a:r>
          </a:p>
          <a:p>
            <a:r>
              <a:rPr lang="en-US" sz="1800" dirty="0"/>
              <a:t>The flexibility offered by remote work could also positively impact worker motivation as they are able to better manage their lives </a:t>
            </a:r>
          </a:p>
          <a:p>
            <a:endParaRPr lang="en-US" sz="1800" dirty="0"/>
          </a:p>
          <a:p>
            <a:endParaRPr lang="en-US" sz="1800" dirty="0"/>
          </a:p>
          <a:p>
            <a:endParaRPr lang="en-US" sz="1800" dirty="0"/>
          </a:p>
          <a:p>
            <a:endParaRPr lang="en-US" sz="1800" dirty="0"/>
          </a:p>
        </p:txBody>
      </p:sp>
    </p:spTree>
    <p:extLst>
      <p:ext uri="{BB962C8B-B14F-4D97-AF65-F5344CB8AC3E}">
        <p14:creationId xmlns:p14="http://schemas.microsoft.com/office/powerpoint/2010/main" val="302200920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8107" y="409584"/>
            <a:ext cx="6172200" cy="546624"/>
          </a:xfrm>
        </p:spPr>
        <p:txBody>
          <a:bodyPr anchor="ctr"/>
          <a:lstStyle/>
          <a:p>
            <a:r>
              <a:rPr lang="en-US" sz="2100" dirty="0"/>
              <a:t>Managing Cross-Cultural Motivational Challenges</a:t>
            </a:r>
          </a:p>
        </p:txBody>
      </p:sp>
      <p:sp>
        <p:nvSpPr>
          <p:cNvPr id="3" name="Content Placeholder 2"/>
          <p:cNvSpPr>
            <a:spLocks noGrp="1"/>
          </p:cNvSpPr>
          <p:nvPr>
            <p:ph idx="1"/>
          </p:nvPr>
        </p:nvSpPr>
        <p:spPr>
          <a:xfrm>
            <a:off x="879973" y="1560263"/>
            <a:ext cx="6172200" cy="1714500"/>
          </a:xfrm>
        </p:spPr>
        <p:txBody>
          <a:bodyPr/>
          <a:lstStyle/>
          <a:p>
            <a:r>
              <a:rPr lang="en-US" sz="1800" dirty="0"/>
              <a:t>In today’s global business environment, managers can’t assume motivational programs that work in one location will work in others.</a:t>
            </a:r>
          </a:p>
          <a:p>
            <a:r>
              <a:rPr lang="en-US" sz="1800" dirty="0"/>
              <a:t>Most current motivation theories were developed in the United States by Americans and about Americans.</a:t>
            </a:r>
          </a:p>
        </p:txBody>
      </p:sp>
    </p:spTree>
    <p:extLst>
      <p:ext uri="{BB962C8B-B14F-4D97-AF65-F5344CB8AC3E}">
        <p14:creationId xmlns:p14="http://schemas.microsoft.com/office/powerpoint/2010/main" val="5390315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6074" y="353722"/>
            <a:ext cx="6172200" cy="435611"/>
          </a:xfrm>
        </p:spPr>
        <p:txBody>
          <a:bodyPr anchor="ctr">
            <a:normAutofit fontScale="90000"/>
          </a:bodyPr>
          <a:lstStyle/>
          <a:p>
            <a:r>
              <a:rPr lang="en-US" dirty="0"/>
              <a:t>Motivating Unique Groups of Workers</a:t>
            </a:r>
          </a:p>
        </p:txBody>
      </p:sp>
      <p:sp>
        <p:nvSpPr>
          <p:cNvPr id="3" name="Content Placeholder 2"/>
          <p:cNvSpPr>
            <a:spLocks noGrp="1"/>
          </p:cNvSpPr>
          <p:nvPr>
            <p:ph idx="1"/>
          </p:nvPr>
        </p:nvSpPr>
        <p:spPr>
          <a:xfrm>
            <a:off x="946074" y="1152640"/>
            <a:ext cx="6172200" cy="3543300"/>
          </a:xfrm>
        </p:spPr>
        <p:txBody>
          <a:bodyPr/>
          <a:lstStyle/>
          <a:p>
            <a:r>
              <a:rPr lang="en-US" sz="1800" dirty="0"/>
              <a:t>To maximize motivation among today’s workforce, managers need to think in terms of flexibility</a:t>
            </a:r>
          </a:p>
          <a:p>
            <a:r>
              <a:rPr lang="en-US" sz="1800" dirty="0"/>
              <a:t>The flexibility that motivates a worker depends on several factors including age and gender</a:t>
            </a:r>
          </a:p>
          <a:p>
            <a:r>
              <a:rPr lang="en-US" sz="1800" dirty="0"/>
              <a:t> For example; </a:t>
            </a:r>
          </a:p>
          <a:p>
            <a:pPr lvl="1"/>
            <a:r>
              <a:rPr lang="en-US" sz="1800" dirty="0"/>
              <a:t>Millennials value social relationships</a:t>
            </a:r>
          </a:p>
          <a:p>
            <a:pPr lvl="1"/>
            <a:r>
              <a:rPr lang="en-US" sz="1800" dirty="0"/>
              <a:t>Older workers, are likely to enjoy being part of a team</a:t>
            </a:r>
          </a:p>
          <a:p>
            <a:pPr lvl="1"/>
            <a:r>
              <a:rPr lang="en-US" sz="1800" dirty="0"/>
              <a:t>Gen Z workers value opportunities for growth, clear responsibilities, and feedback</a:t>
            </a:r>
          </a:p>
          <a:p>
            <a:endParaRPr lang="en-US" sz="1800" dirty="0"/>
          </a:p>
          <a:p>
            <a:endParaRPr lang="en-US" sz="1800" dirty="0"/>
          </a:p>
        </p:txBody>
      </p:sp>
    </p:spTree>
    <p:extLst>
      <p:ext uri="{BB962C8B-B14F-4D97-AF65-F5344CB8AC3E}">
        <p14:creationId xmlns:p14="http://schemas.microsoft.com/office/powerpoint/2010/main" val="24781950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029" y="159091"/>
            <a:ext cx="3508763" cy="435611"/>
          </a:xfrm>
        </p:spPr>
        <p:txBody>
          <a:bodyPr anchor="ctr">
            <a:normAutofit fontScale="90000"/>
          </a:bodyPr>
          <a:lstStyle/>
          <a:p>
            <a:r>
              <a:rPr lang="en-US" dirty="0"/>
              <a:t>Motivating Professionals</a:t>
            </a:r>
          </a:p>
        </p:txBody>
      </p:sp>
      <p:sp>
        <p:nvSpPr>
          <p:cNvPr id="3" name="Content Placeholder 2"/>
          <p:cNvSpPr>
            <a:spLocks noGrp="1"/>
          </p:cNvSpPr>
          <p:nvPr>
            <p:ph idx="1"/>
          </p:nvPr>
        </p:nvSpPr>
        <p:spPr>
          <a:xfrm>
            <a:off x="343909" y="594702"/>
            <a:ext cx="2033531" cy="723126"/>
          </a:xfrm>
        </p:spPr>
        <p:txBody>
          <a:bodyPr>
            <a:normAutofit lnSpcReduction="10000"/>
          </a:bodyPr>
          <a:lstStyle/>
          <a:p>
            <a:r>
              <a:rPr lang="en-US" sz="1800" dirty="0"/>
              <a:t>Job </a:t>
            </a:r>
            <a:r>
              <a:rPr lang="en-US" sz="1800" dirty="0" smtClean="0"/>
              <a:t>challenge	</a:t>
            </a:r>
            <a:endParaRPr lang="en-US" sz="1800" dirty="0"/>
          </a:p>
          <a:p>
            <a:r>
              <a:rPr lang="en-US" sz="1800" dirty="0" smtClean="0"/>
              <a:t>Support	</a:t>
            </a:r>
            <a:endParaRPr lang="en-US" sz="1800" dirty="0"/>
          </a:p>
        </p:txBody>
      </p:sp>
      <p:sp>
        <p:nvSpPr>
          <p:cNvPr id="4" name="TextBox 3"/>
          <p:cNvSpPr txBox="1"/>
          <p:nvPr/>
        </p:nvSpPr>
        <p:spPr>
          <a:xfrm>
            <a:off x="368293" y="1461109"/>
            <a:ext cx="8144256" cy="3170099"/>
          </a:xfrm>
          <a:prstGeom prst="rect">
            <a:avLst/>
          </a:prstGeom>
          <a:noFill/>
        </p:spPr>
        <p:txBody>
          <a:bodyPr wrap="square" rtlCol="0">
            <a:spAutoFit/>
          </a:bodyPr>
          <a:lstStyle/>
          <a:p>
            <a:pPr marL="285750" indent="-285750">
              <a:buFont typeface="Arial" panose="020B0604020202020204" pitchFamily="34" charset="0"/>
              <a:buChar char="•"/>
            </a:pPr>
            <a:r>
              <a:rPr lang="en-US" sz="2000" kern="1200" dirty="0">
                <a:solidFill>
                  <a:schemeClr val="tx1"/>
                </a:solidFill>
              </a:rPr>
              <a:t>What motivates professionals? Money and promotions typically are low on their priority </a:t>
            </a:r>
            <a:r>
              <a:rPr lang="en-US" sz="2000" kern="1200" dirty="0" smtClean="0">
                <a:solidFill>
                  <a:schemeClr val="tx1"/>
                </a:solidFill>
              </a:rPr>
              <a:t>list.</a:t>
            </a:r>
          </a:p>
          <a:p>
            <a:pPr marL="285750" indent="-285750">
              <a:buFont typeface="Arial" panose="020B0604020202020204" pitchFamily="34" charset="0"/>
              <a:buChar char="•"/>
            </a:pPr>
            <a:r>
              <a:rPr lang="en-US" sz="2000" kern="1200" dirty="0" smtClean="0">
                <a:solidFill>
                  <a:schemeClr val="tx1"/>
                </a:solidFill>
              </a:rPr>
              <a:t>Why</a:t>
            </a:r>
            <a:r>
              <a:rPr lang="en-US" sz="2000" kern="1200" dirty="0">
                <a:solidFill>
                  <a:schemeClr val="tx1"/>
                </a:solidFill>
              </a:rPr>
              <a:t>? They tend to be well paid and enjoy what they do. </a:t>
            </a:r>
            <a:endParaRPr lang="en-US" sz="2000" kern="1200" dirty="0" smtClean="0">
              <a:solidFill>
                <a:schemeClr val="tx1"/>
              </a:solidFill>
            </a:endParaRPr>
          </a:p>
          <a:p>
            <a:pPr marL="285750" indent="-285750">
              <a:buFont typeface="Arial" panose="020B0604020202020204" pitchFamily="34" charset="0"/>
              <a:buChar char="•"/>
            </a:pPr>
            <a:r>
              <a:rPr lang="en-US" sz="2000" kern="1200" dirty="0" smtClean="0">
                <a:solidFill>
                  <a:schemeClr val="tx1"/>
                </a:solidFill>
              </a:rPr>
              <a:t>In </a:t>
            </a:r>
            <a:r>
              <a:rPr lang="en-US" sz="2000" kern="1200" dirty="0">
                <a:solidFill>
                  <a:schemeClr val="tx1"/>
                </a:solidFill>
              </a:rPr>
              <a:t>contrast, job challenge tends to be ranked high. </a:t>
            </a:r>
            <a:endParaRPr lang="en-US" sz="2000" kern="1200" dirty="0" smtClean="0">
              <a:solidFill>
                <a:schemeClr val="tx1"/>
              </a:solidFill>
            </a:endParaRPr>
          </a:p>
          <a:p>
            <a:pPr marL="285750" indent="-285750">
              <a:buFont typeface="Arial" panose="020B0604020202020204" pitchFamily="34" charset="0"/>
              <a:buChar char="•"/>
            </a:pPr>
            <a:r>
              <a:rPr lang="en-US" sz="2000" kern="1200" dirty="0" smtClean="0">
                <a:solidFill>
                  <a:schemeClr val="tx1"/>
                </a:solidFill>
              </a:rPr>
              <a:t>They </a:t>
            </a:r>
            <a:r>
              <a:rPr lang="en-US" sz="2000" kern="1200" dirty="0">
                <a:solidFill>
                  <a:schemeClr val="tx1"/>
                </a:solidFill>
              </a:rPr>
              <a:t>like to tackle problems and find solutions. </a:t>
            </a:r>
            <a:endParaRPr lang="en-US" sz="2000" kern="1200" dirty="0" smtClean="0">
              <a:solidFill>
                <a:schemeClr val="tx1"/>
              </a:solidFill>
            </a:endParaRPr>
          </a:p>
          <a:p>
            <a:pPr marL="285750" indent="-285750">
              <a:buFont typeface="Arial" panose="020B0604020202020204" pitchFamily="34" charset="0"/>
              <a:buChar char="•"/>
            </a:pPr>
            <a:r>
              <a:rPr lang="en-US" sz="2000" kern="1200" dirty="0" smtClean="0">
                <a:solidFill>
                  <a:schemeClr val="tx1"/>
                </a:solidFill>
              </a:rPr>
              <a:t>Their </a:t>
            </a:r>
            <a:r>
              <a:rPr lang="en-US" sz="2000" kern="1200" dirty="0">
                <a:solidFill>
                  <a:schemeClr val="tx1"/>
                </a:solidFill>
              </a:rPr>
              <a:t>chief reward is the work itself. </a:t>
            </a:r>
            <a:endParaRPr lang="en-US" sz="2000" kern="1200" dirty="0" smtClean="0">
              <a:solidFill>
                <a:schemeClr val="tx1"/>
              </a:solidFill>
            </a:endParaRPr>
          </a:p>
          <a:p>
            <a:pPr marL="285750" indent="-285750">
              <a:buFont typeface="Arial" panose="020B0604020202020204" pitchFamily="34" charset="0"/>
              <a:buChar char="•"/>
            </a:pPr>
            <a:r>
              <a:rPr lang="en-US" sz="2000" kern="1200" dirty="0" smtClean="0">
                <a:solidFill>
                  <a:schemeClr val="tx1"/>
                </a:solidFill>
              </a:rPr>
              <a:t>Professionals </a:t>
            </a:r>
            <a:r>
              <a:rPr lang="en-US" sz="2000" kern="1200" dirty="0">
                <a:solidFill>
                  <a:schemeClr val="tx1"/>
                </a:solidFill>
              </a:rPr>
              <a:t>also value support. </a:t>
            </a:r>
            <a:endParaRPr lang="en-US" sz="2000" kern="1200" dirty="0" smtClean="0">
              <a:solidFill>
                <a:schemeClr val="tx1"/>
              </a:solidFill>
            </a:endParaRPr>
          </a:p>
          <a:p>
            <a:pPr marL="285750" indent="-285750">
              <a:buFont typeface="Arial" panose="020B0604020202020204" pitchFamily="34" charset="0"/>
              <a:buChar char="•"/>
            </a:pPr>
            <a:r>
              <a:rPr lang="en-US" sz="2000" kern="1200" dirty="0" smtClean="0">
                <a:solidFill>
                  <a:schemeClr val="tx1"/>
                </a:solidFill>
              </a:rPr>
              <a:t>They </a:t>
            </a:r>
            <a:r>
              <a:rPr lang="en-US" sz="2000" kern="1200" dirty="0">
                <a:solidFill>
                  <a:schemeClr val="tx1"/>
                </a:solidFill>
              </a:rPr>
              <a:t>want others to think that what they are working </a:t>
            </a:r>
            <a:r>
              <a:rPr lang="en-US" sz="2000" kern="1200" dirty="0" smtClean="0">
                <a:solidFill>
                  <a:schemeClr val="tx1"/>
                </a:solidFill>
              </a:rPr>
              <a:t>is their </a:t>
            </a:r>
            <a:r>
              <a:rPr lang="en-US" sz="2000" kern="1200" dirty="0">
                <a:solidFill>
                  <a:schemeClr val="tx1"/>
                </a:solidFill>
              </a:rPr>
              <a:t>central life interest, whereas nonprofessionals typically have other interests outside of work that can compensate for needs not met on the job. </a:t>
            </a:r>
            <a:endParaRPr lang="en-US" sz="2000" dirty="0"/>
          </a:p>
        </p:txBody>
      </p:sp>
      <p:sp>
        <p:nvSpPr>
          <p:cNvPr id="5" name="Content Placeholder 2"/>
          <p:cNvSpPr txBox="1">
            <a:spLocks/>
          </p:cNvSpPr>
          <p:nvPr/>
        </p:nvSpPr>
        <p:spPr>
          <a:xfrm>
            <a:off x="2560320" y="594702"/>
            <a:ext cx="4757413" cy="866407"/>
          </a:xfrm>
          <a:prstGeom prst="rect">
            <a:avLst/>
          </a:prstGeom>
        </p:spPr>
        <p:txBody>
          <a:bodyPr vert="horz" lIns="91440" tIns="45720" rIns="91440" bIns="45720" rtlCol="0">
            <a:norm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a:lstStyle>
          <a:p>
            <a:r>
              <a:rPr lang="en-US" sz="1800" dirty="0" smtClean="0"/>
              <a:t>	Finding solutions to problems</a:t>
            </a:r>
          </a:p>
          <a:p>
            <a:r>
              <a:rPr lang="en-US" sz="1800" dirty="0" smtClean="0"/>
              <a:t>	Perception that their work is important</a:t>
            </a:r>
            <a:endParaRPr lang="en-US" sz="1800" dirty="0"/>
          </a:p>
        </p:txBody>
      </p:sp>
    </p:spTree>
    <p:extLst>
      <p:ext uri="{BB962C8B-B14F-4D97-AF65-F5344CB8AC3E}">
        <p14:creationId xmlns:p14="http://schemas.microsoft.com/office/powerpoint/2010/main" val="330997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734" y="268925"/>
            <a:ext cx="6172200" cy="497543"/>
          </a:xfrm>
        </p:spPr>
        <p:txBody>
          <a:bodyPr anchor="ctr">
            <a:normAutofit fontScale="90000"/>
          </a:bodyPr>
          <a:lstStyle/>
          <a:p>
            <a:r>
              <a:rPr lang="en-US" dirty="0"/>
              <a:t>Motivating Contingent Workers</a:t>
            </a:r>
          </a:p>
        </p:txBody>
      </p:sp>
      <p:sp>
        <p:nvSpPr>
          <p:cNvPr id="3" name="Content Placeholder 2"/>
          <p:cNvSpPr>
            <a:spLocks noGrp="1"/>
          </p:cNvSpPr>
          <p:nvPr>
            <p:ph idx="1"/>
          </p:nvPr>
        </p:nvSpPr>
        <p:spPr>
          <a:xfrm>
            <a:off x="1115734" y="766468"/>
            <a:ext cx="6172200" cy="1314450"/>
          </a:xfrm>
        </p:spPr>
        <p:txBody>
          <a:bodyPr/>
          <a:lstStyle/>
          <a:p>
            <a:r>
              <a:rPr lang="en-US" sz="1800" dirty="0"/>
              <a:t>Opportunity to become a permanent employee</a:t>
            </a:r>
          </a:p>
          <a:p>
            <a:r>
              <a:rPr lang="en-US" sz="1800" dirty="0"/>
              <a:t>Opportunity for training</a:t>
            </a:r>
          </a:p>
          <a:p>
            <a:r>
              <a:rPr lang="en-US" sz="1800" dirty="0"/>
              <a:t>Equity in compensation and benefits</a:t>
            </a:r>
          </a:p>
        </p:txBody>
      </p:sp>
      <p:sp>
        <p:nvSpPr>
          <p:cNvPr id="4" name="TextBox 3"/>
          <p:cNvSpPr txBox="1"/>
          <p:nvPr/>
        </p:nvSpPr>
        <p:spPr>
          <a:xfrm>
            <a:off x="938784" y="2077004"/>
            <a:ext cx="7095744" cy="3170099"/>
          </a:xfrm>
          <a:prstGeom prst="rect">
            <a:avLst/>
          </a:prstGeom>
          <a:noFill/>
        </p:spPr>
        <p:txBody>
          <a:bodyPr wrap="square" rtlCol="0">
            <a:spAutoFit/>
          </a:bodyPr>
          <a:lstStyle/>
          <a:p>
            <a:pPr marL="342900" indent="-342900" eaLnBrk="1" hangingPunct="1">
              <a:buFont typeface="Arial" panose="020B0604020202020204" pitchFamily="34" charset="0"/>
              <a:buChar char="•"/>
            </a:pPr>
            <a:r>
              <a:rPr lang="en-US" sz="2000" dirty="0">
                <a:cs typeface="Arial" charset="0"/>
              </a:rPr>
              <a:t>What will motivate involuntarily temporary employees? </a:t>
            </a:r>
            <a:endParaRPr lang="en-US" sz="2000" dirty="0" smtClean="0">
              <a:cs typeface="Arial" charset="0"/>
            </a:endParaRPr>
          </a:p>
          <a:p>
            <a:pPr marL="342900" indent="-342900" eaLnBrk="1" hangingPunct="1">
              <a:buFont typeface="Arial" panose="020B0604020202020204" pitchFamily="34" charset="0"/>
              <a:buChar char="•"/>
            </a:pPr>
            <a:r>
              <a:rPr lang="en-US" sz="2000" dirty="0" smtClean="0">
                <a:cs typeface="Arial" charset="0"/>
              </a:rPr>
              <a:t>An </a:t>
            </a:r>
            <a:r>
              <a:rPr lang="en-US" sz="2000" dirty="0">
                <a:cs typeface="Arial" charset="0"/>
              </a:rPr>
              <a:t>obvious answer is the opportunity to become a permanent employee. </a:t>
            </a:r>
            <a:endParaRPr lang="en-US" sz="2000" dirty="0" smtClean="0">
              <a:cs typeface="Arial" charset="0"/>
            </a:endParaRPr>
          </a:p>
          <a:p>
            <a:pPr marL="342900" indent="-342900" eaLnBrk="1" hangingPunct="1">
              <a:buFont typeface="Arial" panose="020B0604020202020204" pitchFamily="34" charset="0"/>
              <a:buChar char="•"/>
            </a:pPr>
            <a:r>
              <a:rPr lang="en-US" sz="2000" dirty="0" smtClean="0">
                <a:cs typeface="Arial" charset="0"/>
              </a:rPr>
              <a:t>In </a:t>
            </a:r>
            <a:r>
              <a:rPr lang="en-US" sz="2000" dirty="0">
                <a:cs typeface="Arial" charset="0"/>
              </a:rPr>
              <a:t>cases in which permanent employees are selected from a pool of temps, the temps will often work hard in hopes of becoming permanent. </a:t>
            </a:r>
            <a:endParaRPr lang="en-US" sz="2000" dirty="0" smtClean="0">
              <a:cs typeface="Arial" charset="0"/>
            </a:endParaRPr>
          </a:p>
          <a:p>
            <a:pPr marL="342900" indent="-342900" eaLnBrk="1" hangingPunct="1">
              <a:buFont typeface="Arial" panose="020B0604020202020204" pitchFamily="34" charset="0"/>
              <a:buChar char="•"/>
            </a:pPr>
            <a:r>
              <a:rPr lang="en-US" sz="2000" dirty="0" smtClean="0">
                <a:cs typeface="Arial" charset="0"/>
              </a:rPr>
              <a:t>A </a:t>
            </a:r>
            <a:r>
              <a:rPr lang="en-US" sz="2000" dirty="0">
                <a:cs typeface="Arial" charset="0"/>
              </a:rPr>
              <a:t>less obvious answer is the opportunity for training. </a:t>
            </a:r>
            <a:endParaRPr lang="en-US" sz="2000" dirty="0" smtClean="0">
              <a:cs typeface="Arial" charset="0"/>
            </a:endParaRPr>
          </a:p>
          <a:p>
            <a:pPr marL="342900" indent="-342900" eaLnBrk="1" hangingPunct="1">
              <a:buFont typeface="Arial" panose="020B0604020202020204" pitchFamily="34" charset="0"/>
              <a:buChar char="•"/>
            </a:pPr>
            <a:r>
              <a:rPr lang="en-US" sz="2000" dirty="0" smtClean="0">
                <a:cs typeface="Arial" charset="0"/>
              </a:rPr>
              <a:t>The </a:t>
            </a:r>
            <a:r>
              <a:rPr lang="en-US" sz="2000" dirty="0">
                <a:cs typeface="Arial" charset="0"/>
              </a:rPr>
              <a:t>ability of a temporary employee to find a new job is largely dependent on his or her skills.</a:t>
            </a:r>
          </a:p>
          <a:p>
            <a:pPr eaLnBrk="1" hangingPunct="1"/>
            <a:endParaRPr lang="en-US" sz="2000" dirty="0">
              <a:cs typeface="Arial" charset="0"/>
            </a:endParaRPr>
          </a:p>
        </p:txBody>
      </p:sp>
    </p:spTree>
    <p:extLst>
      <p:ext uri="{BB962C8B-B14F-4D97-AF65-F5344CB8AC3E}">
        <p14:creationId xmlns:p14="http://schemas.microsoft.com/office/powerpoint/2010/main" val="33758106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6242" y="629251"/>
            <a:ext cx="6172200" cy="497543"/>
          </a:xfrm>
        </p:spPr>
        <p:txBody>
          <a:bodyPr anchor="ctr">
            <a:normAutofit fontScale="90000"/>
          </a:bodyPr>
          <a:lstStyle/>
          <a:p>
            <a:r>
              <a:rPr lang="en-US" dirty="0"/>
              <a:t>Motivating Remote Workers</a:t>
            </a:r>
          </a:p>
        </p:txBody>
      </p:sp>
      <p:sp>
        <p:nvSpPr>
          <p:cNvPr id="3" name="Content Placeholder 2"/>
          <p:cNvSpPr>
            <a:spLocks noGrp="1"/>
          </p:cNvSpPr>
          <p:nvPr>
            <p:ph idx="1"/>
          </p:nvPr>
        </p:nvSpPr>
        <p:spPr>
          <a:xfrm>
            <a:off x="957091" y="1395011"/>
            <a:ext cx="6172200" cy="3371850"/>
          </a:xfrm>
        </p:spPr>
        <p:txBody>
          <a:bodyPr/>
          <a:lstStyle/>
          <a:p>
            <a:r>
              <a:rPr lang="en-US" sz="1800" dirty="0"/>
              <a:t>Despite the dramatic increase of remote and hybrid working following the COVID-19 pandemic, there is some uncertainty around strategies to motivate remote workers</a:t>
            </a:r>
          </a:p>
          <a:p>
            <a:r>
              <a:rPr lang="en-US" sz="1800" dirty="0"/>
              <a:t>Our understanding of need-based theories suggests remote work may fulfill psychological needs </a:t>
            </a:r>
          </a:p>
          <a:p>
            <a:r>
              <a:rPr lang="en-US" sz="1800" dirty="0"/>
              <a:t>Remote work gives employees control over their schedule and autonomy, allowing for intrinsic motivation</a:t>
            </a:r>
          </a:p>
        </p:txBody>
      </p:sp>
    </p:spTree>
    <p:extLst>
      <p:ext uri="{BB962C8B-B14F-4D97-AF65-F5344CB8AC3E}">
        <p14:creationId xmlns:p14="http://schemas.microsoft.com/office/powerpoint/2010/main" val="23828883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7260" y="474908"/>
            <a:ext cx="6172200" cy="435611"/>
          </a:xfrm>
        </p:spPr>
        <p:txBody>
          <a:bodyPr anchor="ctr">
            <a:normAutofit fontScale="90000"/>
          </a:bodyPr>
          <a:lstStyle/>
          <a:p>
            <a:r>
              <a:rPr lang="en-US" dirty="0"/>
              <a:t>Designing Appropriate Rewards Programs</a:t>
            </a:r>
          </a:p>
        </p:txBody>
      </p:sp>
      <p:sp>
        <p:nvSpPr>
          <p:cNvPr id="3" name="Content Placeholder 2"/>
          <p:cNvSpPr>
            <a:spLocks noGrp="1"/>
          </p:cNvSpPr>
          <p:nvPr>
            <p:ph idx="1"/>
          </p:nvPr>
        </p:nvSpPr>
        <p:spPr>
          <a:xfrm>
            <a:off x="1067260" y="1505179"/>
            <a:ext cx="6172200" cy="2800350"/>
          </a:xfrm>
        </p:spPr>
        <p:txBody>
          <a:bodyPr/>
          <a:lstStyle/>
          <a:p>
            <a:r>
              <a:rPr lang="en-US" sz="1800" b="1" dirty="0">
                <a:cs typeface="Arial"/>
              </a:rPr>
              <a:t>Open-book management: </a:t>
            </a:r>
            <a:r>
              <a:rPr lang="en-US" sz="1800" dirty="0"/>
              <a:t>a motivational approach in which an organization’s financial statements (the “books”) are shared with all employees</a:t>
            </a:r>
          </a:p>
          <a:p>
            <a:r>
              <a:rPr lang="en-US" sz="1800" b="1" dirty="0">
                <a:cs typeface="Arial"/>
              </a:rPr>
              <a:t>Employee recognition programs: </a:t>
            </a:r>
            <a:r>
              <a:rPr lang="en-US" sz="1800" dirty="0"/>
              <a:t>personal attention and expressing interest, approval, and appreciation for a job well done</a:t>
            </a:r>
          </a:p>
          <a:p>
            <a:r>
              <a:rPr lang="en-US" sz="1800" b="1" dirty="0">
                <a:cs typeface="Arial"/>
              </a:rPr>
              <a:t>Pay-for-performance programs: </a:t>
            </a:r>
            <a:r>
              <a:rPr lang="en-US" sz="1800" dirty="0"/>
              <a:t>variable compensation plans that pay employees on the basis of some performance measure</a:t>
            </a:r>
          </a:p>
        </p:txBody>
      </p:sp>
    </p:spTree>
    <p:extLst>
      <p:ext uri="{BB962C8B-B14F-4D97-AF65-F5344CB8AC3E}">
        <p14:creationId xmlns:p14="http://schemas.microsoft.com/office/powerpoint/2010/main" val="790286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432816"/>
          </a:xfrm>
        </p:spPr>
        <p:txBody>
          <a:bodyPr>
            <a:normAutofit fontScale="90000"/>
          </a:bodyPr>
          <a:lstStyle/>
          <a:p>
            <a:r>
              <a:rPr lang="en-US" dirty="0" smtClean="0"/>
              <a:t>Discussion questions</a:t>
            </a:r>
            <a:endParaRPr lang="en-US" dirty="0"/>
          </a:p>
        </p:txBody>
      </p:sp>
      <p:sp>
        <p:nvSpPr>
          <p:cNvPr id="3" name="Content Placeholder 2"/>
          <p:cNvSpPr>
            <a:spLocks noGrp="1"/>
          </p:cNvSpPr>
          <p:nvPr>
            <p:ph idx="1"/>
          </p:nvPr>
        </p:nvSpPr>
        <p:spPr>
          <a:xfrm>
            <a:off x="508001" y="1048512"/>
            <a:ext cx="6447501" cy="3482510"/>
          </a:xfrm>
        </p:spPr>
        <p:txBody>
          <a:bodyPr>
            <a:normAutofit/>
          </a:bodyPr>
          <a:lstStyle/>
          <a:p>
            <a:pPr marL="342900" indent="-342900">
              <a:buFont typeface="+mj-lt"/>
              <a:buAutoNum type="arabicPeriod"/>
            </a:pPr>
            <a:r>
              <a:rPr lang="en-US" sz="2000" dirty="0" smtClean="0"/>
              <a:t>Discuss the extent to which you believe that you have a motivation problem as a software engineer.</a:t>
            </a:r>
          </a:p>
          <a:p>
            <a:pPr marL="342900" indent="-342900">
              <a:buFont typeface="+mj-lt"/>
              <a:buAutoNum type="arabicPeriod"/>
            </a:pPr>
            <a:r>
              <a:rPr lang="en-US" sz="2000" dirty="0" smtClean="0"/>
              <a:t>Given that you have learned in this chapter, design a plan to increase motivation of </a:t>
            </a:r>
            <a:r>
              <a:rPr lang="en-US" sz="2000" dirty="0"/>
              <a:t>e</a:t>
            </a:r>
            <a:r>
              <a:rPr lang="en-US" sz="2000" dirty="0" smtClean="0"/>
              <a:t>mployees to provide prompt service to customers working in a software development company.</a:t>
            </a:r>
          </a:p>
          <a:p>
            <a:pPr marL="342900" indent="-342900">
              <a:buFont typeface="+mj-lt"/>
              <a:buAutoNum type="arabicPeriod"/>
            </a:pPr>
            <a:r>
              <a:rPr lang="en-US" sz="2000" dirty="0" smtClean="0"/>
              <a:t>Design a plan to increase the motivation of system administrator even when the supervisor is not monitoring your work.</a:t>
            </a:r>
          </a:p>
        </p:txBody>
      </p:sp>
    </p:spTree>
    <p:extLst>
      <p:ext uri="{BB962C8B-B14F-4D97-AF65-F5344CB8AC3E}">
        <p14:creationId xmlns:p14="http://schemas.microsoft.com/office/powerpoint/2010/main" val="2969908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615696"/>
          </a:xfrm>
        </p:spPr>
        <p:txBody>
          <a:bodyPr/>
          <a:lstStyle/>
          <a:p>
            <a:r>
              <a:rPr lang="en-US" dirty="0" smtClean="0"/>
              <a:t>3.2 Leadership</a:t>
            </a:r>
            <a:endParaRPr lang="en-US" dirty="0"/>
          </a:p>
        </p:txBody>
      </p:sp>
      <p:sp>
        <p:nvSpPr>
          <p:cNvPr id="3" name="Content Placeholder 2"/>
          <p:cNvSpPr>
            <a:spLocks noGrp="1"/>
          </p:cNvSpPr>
          <p:nvPr>
            <p:ph idx="1"/>
          </p:nvPr>
        </p:nvSpPr>
        <p:spPr>
          <a:xfrm>
            <a:off x="508001" y="1072896"/>
            <a:ext cx="6447501" cy="3458126"/>
          </a:xfrm>
        </p:spPr>
        <p:txBody>
          <a:bodyPr>
            <a:normAutofit/>
          </a:bodyPr>
          <a:lstStyle/>
          <a:p>
            <a:pPr marL="685800" lvl="2" indent="0">
              <a:buNone/>
            </a:pPr>
            <a:r>
              <a:rPr lang="en-US" sz="2400" dirty="0" smtClean="0"/>
              <a:t>3.2.1 Leadership </a:t>
            </a:r>
            <a:r>
              <a:rPr lang="en-US" sz="2400" dirty="0"/>
              <a:t>styles: autocratic, democratic, servant and </a:t>
            </a:r>
            <a:r>
              <a:rPr lang="en-US" sz="2400" dirty="0" smtClean="0"/>
              <a:t>transformational</a:t>
            </a:r>
          </a:p>
          <a:p>
            <a:pPr marL="685800" lvl="2" indent="0">
              <a:buNone/>
            </a:pPr>
            <a:endParaRPr lang="en-US" sz="2400" dirty="0"/>
          </a:p>
        </p:txBody>
      </p:sp>
    </p:spTree>
    <p:extLst>
      <p:ext uri="{BB962C8B-B14F-4D97-AF65-F5344CB8AC3E}">
        <p14:creationId xmlns:p14="http://schemas.microsoft.com/office/powerpoint/2010/main" val="35608006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249936"/>
            <a:ext cx="6447501" cy="603504"/>
          </a:xfrm>
        </p:spPr>
        <p:txBody>
          <a:bodyPr/>
          <a:lstStyle/>
          <a:p>
            <a:r>
              <a:rPr lang="en-US" dirty="0" smtClean="0"/>
              <a:t>Learning objectives</a:t>
            </a:r>
            <a:endParaRPr lang="en-US" dirty="0"/>
          </a:p>
        </p:txBody>
      </p:sp>
      <p:sp>
        <p:nvSpPr>
          <p:cNvPr id="6" name="Rectangle 5"/>
          <p:cNvSpPr/>
          <p:nvPr/>
        </p:nvSpPr>
        <p:spPr>
          <a:xfrm>
            <a:off x="508001" y="1017479"/>
            <a:ext cx="7624063" cy="3170099"/>
          </a:xfrm>
          <a:prstGeom prst="rect">
            <a:avLst/>
          </a:prstGeom>
        </p:spPr>
        <p:txBody>
          <a:bodyPr wrap="square">
            <a:spAutoFit/>
          </a:bodyPr>
          <a:lstStyle/>
          <a:p>
            <a:pPr marL="342900" indent="-342900">
              <a:buFont typeface="Arial" panose="020B0604020202020204" pitchFamily="34" charset="0"/>
              <a:buChar char="•"/>
            </a:pPr>
            <a:r>
              <a:rPr lang="en-US" sz="2000" dirty="0"/>
              <a:t>Define leadership and its </a:t>
            </a:r>
            <a:r>
              <a:rPr lang="en-US" sz="2000" dirty="0" smtClean="0"/>
              <a:t>ingredients</a:t>
            </a:r>
          </a:p>
          <a:p>
            <a:pPr marL="342900" indent="-342900">
              <a:buFont typeface="Arial" panose="020B0604020202020204" pitchFamily="34" charset="0"/>
              <a:buChar char="•"/>
            </a:pPr>
            <a:r>
              <a:rPr lang="en-US" sz="2000" dirty="0" smtClean="0"/>
              <a:t>Describe </a:t>
            </a:r>
            <a:r>
              <a:rPr lang="en-US" sz="2000" dirty="0"/>
              <a:t>the trait approaches and charismatic leadership approach and their </a:t>
            </a:r>
            <a:r>
              <a:rPr lang="en-US" sz="2000" dirty="0" smtClean="0"/>
              <a:t>limitations</a:t>
            </a:r>
          </a:p>
          <a:p>
            <a:pPr marL="342900" indent="-342900">
              <a:buFont typeface="Arial" panose="020B0604020202020204" pitchFamily="34" charset="0"/>
              <a:buChar char="•"/>
            </a:pPr>
            <a:r>
              <a:rPr lang="en-US" sz="2000" dirty="0" smtClean="0"/>
              <a:t>Discuss </a:t>
            </a:r>
            <a:r>
              <a:rPr lang="en-US" sz="2000" dirty="0"/>
              <a:t>various leadership styles based on the use of </a:t>
            </a:r>
            <a:r>
              <a:rPr lang="en-US" sz="2000" dirty="0" smtClean="0"/>
              <a:t>authority</a:t>
            </a:r>
          </a:p>
          <a:p>
            <a:pPr marL="342900" indent="-342900">
              <a:buFont typeface="Arial" panose="020B0604020202020204" pitchFamily="34" charset="0"/>
              <a:buChar char="•"/>
            </a:pPr>
            <a:r>
              <a:rPr lang="en-US" sz="2000" dirty="0" smtClean="0"/>
              <a:t>Identify </a:t>
            </a:r>
            <a:r>
              <a:rPr lang="en-US" sz="2000" dirty="0"/>
              <a:t>the two dimensions of the managerial grid and the resulting extreme leadership </a:t>
            </a:r>
            <a:r>
              <a:rPr lang="en-US" sz="2000" dirty="0" smtClean="0"/>
              <a:t>styles</a:t>
            </a:r>
          </a:p>
          <a:p>
            <a:pPr marL="342900" indent="-342900">
              <a:buFont typeface="Arial" panose="020B0604020202020204" pitchFamily="34" charset="0"/>
              <a:buChar char="•"/>
            </a:pPr>
            <a:r>
              <a:rPr lang="en-US" sz="2000" dirty="0" smtClean="0"/>
              <a:t>Recognize </a:t>
            </a:r>
            <a:r>
              <a:rPr lang="en-US" sz="2000" dirty="0"/>
              <a:t>that leadership can be seen as a </a:t>
            </a:r>
            <a:r>
              <a:rPr lang="en-US" sz="2000" dirty="0" smtClean="0"/>
              <a:t>continuum</a:t>
            </a:r>
          </a:p>
          <a:p>
            <a:pPr marL="342900" indent="-342900">
              <a:buFont typeface="Arial" panose="020B0604020202020204" pitchFamily="34" charset="0"/>
              <a:buChar char="•"/>
            </a:pPr>
            <a:r>
              <a:rPr lang="en-US" sz="2000" dirty="0" smtClean="0"/>
              <a:t>Explain </a:t>
            </a:r>
            <a:r>
              <a:rPr lang="en-US" sz="2000" dirty="0"/>
              <a:t>the contingency approach to </a:t>
            </a:r>
            <a:r>
              <a:rPr lang="en-US" sz="2000" dirty="0" smtClean="0"/>
              <a:t>leadership</a:t>
            </a:r>
          </a:p>
          <a:p>
            <a:pPr marL="342900" indent="-342900">
              <a:buFont typeface="Arial" panose="020B0604020202020204" pitchFamily="34" charset="0"/>
              <a:buChar char="•"/>
            </a:pPr>
            <a:r>
              <a:rPr lang="en-US" sz="2000" dirty="0" smtClean="0"/>
              <a:t>Describe </a:t>
            </a:r>
            <a:r>
              <a:rPr lang="en-US" sz="2000" dirty="0"/>
              <a:t>the path—goal approach to leadership </a:t>
            </a:r>
            <a:r>
              <a:rPr lang="en-US" sz="2000" dirty="0" smtClean="0"/>
              <a:t>effectiveness</a:t>
            </a:r>
          </a:p>
          <a:p>
            <a:pPr marL="342900" indent="-342900">
              <a:buFont typeface="Arial" panose="020B0604020202020204" pitchFamily="34" charset="0"/>
              <a:buChar char="•"/>
            </a:pPr>
            <a:r>
              <a:rPr lang="en-US" sz="2000" dirty="0" smtClean="0"/>
              <a:t>Distinguish </a:t>
            </a:r>
            <a:r>
              <a:rPr lang="en-US" sz="2000" dirty="0"/>
              <a:t>between transactional and transformational leaders</a:t>
            </a:r>
          </a:p>
        </p:txBody>
      </p:sp>
    </p:spTree>
    <p:extLst>
      <p:ext uri="{BB962C8B-B14F-4D97-AF65-F5344CB8AC3E}">
        <p14:creationId xmlns:p14="http://schemas.microsoft.com/office/powerpoint/2010/main" val="30527573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152400"/>
            <a:ext cx="6447501" cy="579120"/>
          </a:xfrm>
        </p:spPr>
        <p:txBody>
          <a:bodyPr/>
          <a:lstStyle/>
          <a:p>
            <a:r>
              <a:rPr lang="en-US" dirty="0" smtClean="0"/>
              <a:t>Leadership Definition</a:t>
            </a:r>
            <a:endParaRPr lang="en-US" dirty="0"/>
          </a:p>
        </p:txBody>
      </p:sp>
      <p:sp>
        <p:nvSpPr>
          <p:cNvPr id="3" name="Content Placeholder 2"/>
          <p:cNvSpPr>
            <a:spLocks noGrp="1"/>
          </p:cNvSpPr>
          <p:nvPr>
            <p:ph idx="1"/>
          </p:nvPr>
        </p:nvSpPr>
        <p:spPr>
          <a:xfrm>
            <a:off x="508001" y="731520"/>
            <a:ext cx="8050783" cy="4194048"/>
          </a:xfrm>
        </p:spPr>
        <p:txBody>
          <a:bodyPr>
            <a:normAutofit/>
          </a:bodyPr>
          <a:lstStyle/>
          <a:p>
            <a:r>
              <a:rPr lang="en-US" sz="2000" b="1" dirty="0" smtClean="0"/>
              <a:t>The </a:t>
            </a:r>
            <a:r>
              <a:rPr lang="en-US" sz="2000" dirty="0" smtClean="0"/>
              <a:t>art </a:t>
            </a:r>
            <a:r>
              <a:rPr lang="en-US" sz="2000" dirty="0"/>
              <a:t>or process of influencing people so that </a:t>
            </a:r>
            <a:r>
              <a:rPr lang="en-US" sz="2000" b="1" dirty="0"/>
              <a:t>they will strive </a:t>
            </a:r>
            <a:r>
              <a:rPr lang="en-US" sz="2000" dirty="0"/>
              <a:t>willingly and </a:t>
            </a:r>
            <a:r>
              <a:rPr lang="en-US" sz="2000" b="1" dirty="0" smtClean="0"/>
              <a:t>enthusiastically toward the </a:t>
            </a:r>
            <a:r>
              <a:rPr lang="en-US" sz="2000" dirty="0"/>
              <a:t>achievement of group </a:t>
            </a:r>
            <a:r>
              <a:rPr lang="en-US" sz="2000" dirty="0" smtClean="0"/>
              <a:t>goals</a:t>
            </a:r>
          </a:p>
          <a:p>
            <a:r>
              <a:rPr lang="en-US" sz="2000" dirty="0"/>
              <a:t>Leaders act to help a group attain objectives through the maximum application of its capabilities. </a:t>
            </a:r>
            <a:endParaRPr lang="en-US" sz="2000" dirty="0" smtClean="0"/>
          </a:p>
          <a:p>
            <a:r>
              <a:rPr lang="en-US" sz="2000" dirty="0" smtClean="0"/>
              <a:t>They </a:t>
            </a:r>
            <a:r>
              <a:rPr lang="en-US" sz="2000" dirty="0"/>
              <a:t>do not stand behind a group to push and prod; they place themselves before the group as they facilitate progress and inspire the group to accomplish organizational goals. </a:t>
            </a:r>
            <a:endParaRPr lang="en-US" sz="2000" dirty="0" smtClean="0"/>
          </a:p>
          <a:p>
            <a:r>
              <a:rPr lang="en-US" sz="2000" dirty="0" smtClean="0"/>
              <a:t>A </a:t>
            </a:r>
            <a:r>
              <a:rPr lang="en-US" sz="2000" dirty="0"/>
              <a:t>good example is an orchestra </a:t>
            </a:r>
            <a:r>
              <a:rPr lang="en-US" sz="2000" dirty="0" smtClean="0"/>
              <a:t>leader</a:t>
            </a:r>
            <a:endParaRPr lang="en-US" sz="2000" dirty="0"/>
          </a:p>
        </p:txBody>
      </p:sp>
    </p:spTree>
    <p:extLst>
      <p:ext uri="{BB962C8B-B14F-4D97-AF65-F5344CB8AC3E}">
        <p14:creationId xmlns:p14="http://schemas.microsoft.com/office/powerpoint/2010/main" val="17080146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Four major ingredients of Leadership</a:t>
            </a:r>
            <a:endParaRPr lang="en-US" dirty="0"/>
          </a:p>
        </p:txBody>
      </p:sp>
      <p:sp>
        <p:nvSpPr>
          <p:cNvPr id="3" name="Content Placeholder 2"/>
          <p:cNvSpPr>
            <a:spLocks noGrp="1"/>
          </p:cNvSpPr>
          <p:nvPr>
            <p:ph idx="1"/>
          </p:nvPr>
        </p:nvSpPr>
        <p:spPr>
          <a:xfrm>
            <a:off x="508001" y="1133856"/>
            <a:ext cx="7819135" cy="3706368"/>
          </a:xfrm>
        </p:spPr>
        <p:txBody>
          <a:bodyPr>
            <a:normAutofit/>
          </a:bodyPr>
          <a:lstStyle/>
          <a:p>
            <a:pPr marL="457200" indent="-457200">
              <a:buFont typeface="+mj-lt"/>
              <a:buAutoNum type="arabicPeriod"/>
            </a:pPr>
            <a:r>
              <a:rPr lang="en-US" sz="2000" dirty="0"/>
              <a:t>T</a:t>
            </a:r>
            <a:r>
              <a:rPr lang="en-US" sz="2000" dirty="0" smtClean="0"/>
              <a:t>he </a:t>
            </a:r>
            <a:r>
              <a:rPr lang="en-US" sz="2000" dirty="0"/>
              <a:t>ability to use power effectively and in a responsible </a:t>
            </a:r>
            <a:r>
              <a:rPr lang="en-US" sz="2000" dirty="0" smtClean="0"/>
              <a:t>manner</a:t>
            </a:r>
            <a:endParaRPr lang="en-US" sz="2000" dirty="0"/>
          </a:p>
          <a:p>
            <a:pPr marL="457200" indent="-457200">
              <a:buFont typeface="+mj-lt"/>
              <a:buAutoNum type="arabicPeriod"/>
            </a:pPr>
            <a:r>
              <a:rPr lang="en-US" sz="2000" dirty="0" smtClean="0"/>
              <a:t>The </a:t>
            </a:r>
            <a:r>
              <a:rPr lang="en-US" sz="2000" dirty="0"/>
              <a:t>ability to comprehend that human beings have </a:t>
            </a:r>
            <a:r>
              <a:rPr lang="en-US" sz="2000" dirty="0" smtClean="0"/>
              <a:t>different </a:t>
            </a:r>
            <a:r>
              <a:rPr lang="en-US" sz="2000" dirty="0"/>
              <a:t>motivating forces at different times and in different </a:t>
            </a:r>
            <a:r>
              <a:rPr lang="en-US" sz="2000" dirty="0" smtClean="0"/>
              <a:t>situations</a:t>
            </a:r>
          </a:p>
          <a:p>
            <a:pPr marL="457200" indent="-457200">
              <a:buFont typeface="+mj-lt"/>
              <a:buAutoNum type="arabicPeriod"/>
            </a:pPr>
            <a:r>
              <a:rPr lang="en-US" sz="2000" dirty="0" smtClean="0"/>
              <a:t>The </a:t>
            </a:r>
            <a:r>
              <a:rPr lang="en-US" sz="2000" dirty="0"/>
              <a:t>ability to </a:t>
            </a:r>
            <a:r>
              <a:rPr lang="en-US" sz="2000" dirty="0" smtClean="0"/>
              <a:t>inspire</a:t>
            </a:r>
          </a:p>
          <a:p>
            <a:pPr marL="457200" indent="-457200">
              <a:buFont typeface="+mj-lt"/>
              <a:buAutoNum type="arabicPeriod"/>
            </a:pPr>
            <a:r>
              <a:rPr lang="en-US" sz="2000" dirty="0"/>
              <a:t>T</a:t>
            </a:r>
            <a:r>
              <a:rPr lang="en-US" sz="2000" dirty="0" smtClean="0"/>
              <a:t>he </a:t>
            </a:r>
            <a:r>
              <a:rPr lang="en-US" sz="2000" dirty="0"/>
              <a:t>ability to act in a manner that will develop a climate conducive to responding to and arousing </a:t>
            </a:r>
            <a:r>
              <a:rPr lang="en-US" sz="2000" dirty="0" smtClean="0"/>
              <a:t>motivations</a:t>
            </a:r>
            <a:endParaRPr lang="en-US" sz="2000" dirty="0"/>
          </a:p>
        </p:txBody>
      </p:sp>
    </p:spTree>
    <p:extLst>
      <p:ext uri="{BB962C8B-B14F-4D97-AF65-F5344CB8AC3E}">
        <p14:creationId xmlns:p14="http://schemas.microsoft.com/office/powerpoint/2010/main" val="36595943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8001" y="341376"/>
            <a:ext cx="3881119" cy="3389376"/>
          </a:xfrm>
        </p:spPr>
        <p:txBody>
          <a:bodyPr>
            <a:normAutofit lnSpcReduction="10000"/>
          </a:bodyPr>
          <a:lstStyle/>
          <a:p>
            <a:r>
              <a:rPr lang="en-US" sz="2000" dirty="0"/>
              <a:t>There are several theories on leadership behavior and </a:t>
            </a:r>
            <a:r>
              <a:rPr lang="en-US" sz="2000" dirty="0" smtClean="0"/>
              <a:t>styles</a:t>
            </a:r>
            <a:endParaRPr lang="en-US" sz="2000" dirty="0"/>
          </a:p>
          <a:p>
            <a:r>
              <a:rPr lang="en-US" sz="2000" dirty="0" smtClean="0"/>
              <a:t> </a:t>
            </a:r>
            <a:r>
              <a:rPr lang="en-US" sz="2000" dirty="0"/>
              <a:t>(1) leadership based on the use of authority, </a:t>
            </a:r>
            <a:endParaRPr lang="en-US" sz="2000" dirty="0" smtClean="0"/>
          </a:p>
          <a:p>
            <a:r>
              <a:rPr lang="en-US" sz="2000" dirty="0" smtClean="0"/>
              <a:t>(</a:t>
            </a:r>
            <a:r>
              <a:rPr lang="en-US" sz="2000" dirty="0"/>
              <a:t>2) the managerial grid, </a:t>
            </a:r>
            <a:r>
              <a:rPr lang="en-US" sz="2000" dirty="0" smtClean="0"/>
              <a:t>and</a:t>
            </a:r>
          </a:p>
          <a:p>
            <a:r>
              <a:rPr lang="en-US" sz="2000" dirty="0" smtClean="0"/>
              <a:t>(3</a:t>
            </a:r>
            <a:r>
              <a:rPr lang="en-US" sz="2000" dirty="0"/>
              <a:t>) leadership involving a variety of styles, ranging from a maximum to a minimum use of power and </a:t>
            </a:r>
            <a:r>
              <a:rPr lang="en-US" sz="2000" dirty="0" smtClean="0"/>
              <a:t>influence</a:t>
            </a:r>
            <a:endParaRPr lang="en-US" sz="2000" dirty="0"/>
          </a:p>
        </p:txBody>
      </p:sp>
      <p:pic>
        <p:nvPicPr>
          <p:cNvPr id="4" name="Picture 3"/>
          <p:cNvPicPr>
            <a:picLocks noChangeAspect="1"/>
          </p:cNvPicPr>
          <p:nvPr/>
        </p:nvPicPr>
        <p:blipFill>
          <a:blip r:embed="rId2"/>
          <a:stretch>
            <a:fillRect/>
          </a:stretch>
        </p:blipFill>
        <p:spPr>
          <a:xfrm>
            <a:off x="4512839" y="0"/>
            <a:ext cx="4239217" cy="5106113"/>
          </a:xfrm>
          <a:prstGeom prst="rect">
            <a:avLst/>
          </a:prstGeom>
        </p:spPr>
      </p:pic>
      <p:sp>
        <p:nvSpPr>
          <p:cNvPr id="5" name="Content Placeholder 2"/>
          <p:cNvSpPr txBox="1">
            <a:spLocks/>
          </p:cNvSpPr>
          <p:nvPr/>
        </p:nvSpPr>
        <p:spPr>
          <a:xfrm>
            <a:off x="704872" y="4035552"/>
            <a:ext cx="4696184" cy="353568"/>
          </a:xfrm>
          <a:prstGeom prst="rect">
            <a:avLst/>
          </a:prstGeom>
        </p:spPr>
        <p:txBody>
          <a:bodyPr vert="horz" lIns="91440" tIns="45720" rIns="91440" bIns="45720" rtlCol="0">
            <a:norm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a:lstStyle>
          <a:p>
            <a:pPr marL="0" indent="0">
              <a:buNone/>
            </a:pPr>
            <a:r>
              <a:rPr lang="en-US" b="1" dirty="0" smtClean="0"/>
              <a:t>The Flow of Influence with Three Leadership Styles</a:t>
            </a:r>
            <a:endParaRPr lang="en-US" dirty="0"/>
          </a:p>
        </p:txBody>
      </p:sp>
    </p:spTree>
    <p:extLst>
      <p:ext uri="{BB962C8B-B14F-4D97-AF65-F5344CB8AC3E}">
        <p14:creationId xmlns:p14="http://schemas.microsoft.com/office/powerpoint/2010/main" val="167338816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264" y="530582"/>
            <a:ext cx="3864864" cy="4612918"/>
          </a:xfrm>
        </p:spPr>
        <p:txBody>
          <a:bodyPr>
            <a:noAutofit/>
          </a:bodyPr>
          <a:lstStyle/>
          <a:p>
            <a:r>
              <a:rPr lang="en-US" sz="1600" b="1" dirty="0"/>
              <a:t>Concern for production </a:t>
            </a:r>
            <a:r>
              <a:rPr lang="en-US" sz="1600" dirty="0"/>
              <a:t>includes the attitude of a supervisor toward a wide </a:t>
            </a:r>
            <a:r>
              <a:rPr lang="en-US" sz="1600" dirty="0" smtClean="0"/>
              <a:t>variety </a:t>
            </a:r>
            <a:r>
              <a:rPr lang="en-US" sz="1600" dirty="0"/>
              <a:t>of things, such as the quality of policy decisions, procedures and processes, creativeness of research, quality of service, work efficiency, and volume of output. </a:t>
            </a:r>
            <a:endParaRPr lang="en-US" sz="1600" dirty="0" smtClean="0"/>
          </a:p>
          <a:p>
            <a:r>
              <a:rPr lang="en-US" sz="1600" b="1" dirty="0" smtClean="0"/>
              <a:t>Concern </a:t>
            </a:r>
            <a:r>
              <a:rPr lang="en-US" sz="1600" b="1" dirty="0"/>
              <a:t>for people </a:t>
            </a:r>
            <a:r>
              <a:rPr lang="en-US" sz="1600" dirty="0" smtClean="0"/>
              <a:t>includes </a:t>
            </a:r>
            <a:r>
              <a:rPr lang="en-US" sz="1600" dirty="0"/>
              <a:t>such elements as the degree of personal commitment toward goal achievement, maintenance of the self-esteem of workers, placement of responsibility on the basis of trust rather than obedience, provision of good working conditions, and maintenance of satisfying interpersonal relations.</a:t>
            </a:r>
          </a:p>
        </p:txBody>
      </p:sp>
      <p:pic>
        <p:nvPicPr>
          <p:cNvPr id="4" name="Picture 3"/>
          <p:cNvPicPr>
            <a:picLocks noChangeAspect="1"/>
          </p:cNvPicPr>
          <p:nvPr/>
        </p:nvPicPr>
        <p:blipFill>
          <a:blip r:embed="rId2"/>
          <a:stretch>
            <a:fillRect/>
          </a:stretch>
        </p:blipFill>
        <p:spPr>
          <a:xfrm>
            <a:off x="3765633" y="128246"/>
            <a:ext cx="5172797" cy="4887007"/>
          </a:xfrm>
          <a:prstGeom prst="rect">
            <a:avLst/>
          </a:prstGeom>
        </p:spPr>
      </p:pic>
      <p:sp>
        <p:nvSpPr>
          <p:cNvPr id="5" name="Rectangle 4"/>
          <p:cNvSpPr/>
          <p:nvPr/>
        </p:nvSpPr>
        <p:spPr>
          <a:xfrm>
            <a:off x="676635" y="128246"/>
            <a:ext cx="2619628" cy="400110"/>
          </a:xfrm>
          <a:prstGeom prst="rect">
            <a:avLst/>
          </a:prstGeom>
        </p:spPr>
        <p:txBody>
          <a:bodyPr wrap="none">
            <a:spAutoFit/>
          </a:bodyPr>
          <a:lstStyle/>
          <a:p>
            <a:r>
              <a:rPr lang="en-US" sz="2000" b="1" dirty="0" smtClean="0"/>
              <a:t>The </a:t>
            </a:r>
            <a:r>
              <a:rPr lang="en-US" sz="2000" b="1" dirty="0"/>
              <a:t>managerial grid</a:t>
            </a:r>
          </a:p>
        </p:txBody>
      </p:sp>
    </p:spTree>
    <p:extLst>
      <p:ext uri="{BB962C8B-B14F-4D97-AF65-F5344CB8AC3E}">
        <p14:creationId xmlns:p14="http://schemas.microsoft.com/office/powerpoint/2010/main" val="318991059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1" y="857310"/>
            <a:ext cx="8168640" cy="4104834"/>
          </a:xfrm>
        </p:spPr>
        <p:txBody>
          <a:bodyPr>
            <a:normAutofit/>
          </a:bodyPr>
          <a:lstStyle/>
          <a:p>
            <a:r>
              <a:rPr lang="en-US" sz="2000" dirty="0" smtClean="0"/>
              <a:t>1.1 Style (Impoverished Management)</a:t>
            </a:r>
            <a:endParaRPr lang="en-US" sz="2000" dirty="0"/>
          </a:p>
          <a:p>
            <a:pPr lvl="1"/>
            <a:r>
              <a:rPr lang="en-US" sz="2000" dirty="0" smtClean="0"/>
              <a:t>managers </a:t>
            </a:r>
            <a:r>
              <a:rPr lang="en-US" sz="2000" dirty="0"/>
              <a:t>concern themselves very little with either people or production and have minimum </a:t>
            </a:r>
            <a:r>
              <a:rPr lang="en-US" sz="2000" dirty="0" smtClean="0"/>
              <a:t>involvement </a:t>
            </a:r>
            <a:r>
              <a:rPr lang="en-US" sz="2000" dirty="0"/>
              <a:t>in their jobs; to all intents and purposes, they have abandoned their jobs and only mark time or act as messengers communicating information from superiors to </a:t>
            </a:r>
            <a:r>
              <a:rPr lang="en-US" sz="2000" dirty="0" smtClean="0"/>
              <a:t>subordinates</a:t>
            </a:r>
          </a:p>
          <a:p>
            <a:r>
              <a:rPr lang="en-US" sz="2000" dirty="0"/>
              <a:t>9.9 </a:t>
            </a:r>
            <a:r>
              <a:rPr lang="en-US" sz="2000" dirty="0" smtClean="0"/>
              <a:t>Style (team based style or democratic management)</a:t>
            </a:r>
          </a:p>
          <a:p>
            <a:pPr lvl="1"/>
            <a:r>
              <a:rPr lang="en-US" sz="1800" dirty="0" smtClean="0"/>
              <a:t>Managers</a:t>
            </a:r>
            <a:r>
              <a:rPr lang="en-US" sz="1850" dirty="0" smtClean="0"/>
              <a:t> </a:t>
            </a:r>
            <a:r>
              <a:rPr lang="en-US" sz="1850" dirty="0"/>
              <a:t>display in their </a:t>
            </a:r>
            <a:r>
              <a:rPr lang="en-US" sz="1850" dirty="0" smtClean="0"/>
              <a:t>actions </a:t>
            </a:r>
            <a:r>
              <a:rPr lang="en-US" sz="1850" dirty="0"/>
              <a:t>the highest possible dedication both to people and to </a:t>
            </a:r>
            <a:r>
              <a:rPr lang="en-US" sz="1850" dirty="0" smtClean="0"/>
              <a:t>production</a:t>
            </a:r>
            <a:endParaRPr lang="en-US" sz="1850" dirty="0"/>
          </a:p>
        </p:txBody>
      </p:sp>
      <p:sp>
        <p:nvSpPr>
          <p:cNvPr id="4" name="Title 3"/>
          <p:cNvSpPr>
            <a:spLocks noGrp="1"/>
          </p:cNvSpPr>
          <p:nvPr>
            <p:ph type="title"/>
          </p:nvPr>
        </p:nvSpPr>
        <p:spPr>
          <a:xfrm>
            <a:off x="508001" y="457200"/>
            <a:ext cx="5917183" cy="400110"/>
          </a:xfrm>
          <a:prstGeom prst="rect">
            <a:avLst/>
          </a:prstGeom>
        </p:spPr>
        <p:txBody>
          <a:bodyPr wrap="square">
            <a:spAutoFit/>
          </a:bodyPr>
          <a:lstStyle/>
          <a:p>
            <a:r>
              <a:rPr lang="en-US" sz="2000" b="1" dirty="0" smtClean="0"/>
              <a:t>The </a:t>
            </a:r>
            <a:r>
              <a:rPr lang="en-US" sz="2000" b="1" dirty="0"/>
              <a:t>managerial grid</a:t>
            </a:r>
          </a:p>
        </p:txBody>
      </p:sp>
    </p:spTree>
    <p:extLst>
      <p:ext uri="{BB962C8B-B14F-4D97-AF65-F5344CB8AC3E}">
        <p14:creationId xmlns:p14="http://schemas.microsoft.com/office/powerpoint/2010/main" val="24368493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1" y="857310"/>
            <a:ext cx="8168640" cy="4104834"/>
          </a:xfrm>
        </p:spPr>
        <p:txBody>
          <a:bodyPr>
            <a:normAutofit/>
          </a:bodyPr>
          <a:lstStyle/>
          <a:p>
            <a:r>
              <a:rPr lang="en-US" sz="2000" dirty="0" smtClean="0"/>
              <a:t>1.9 Style (</a:t>
            </a:r>
            <a:r>
              <a:rPr lang="en-US" sz="2000" dirty="0"/>
              <a:t>called country club management by </a:t>
            </a:r>
            <a:r>
              <a:rPr lang="en-US" sz="2000" dirty="0" smtClean="0"/>
              <a:t>some)</a:t>
            </a:r>
          </a:p>
          <a:p>
            <a:pPr lvl="1"/>
            <a:r>
              <a:rPr lang="en-US" sz="1850" dirty="0"/>
              <a:t>M</a:t>
            </a:r>
            <a:r>
              <a:rPr lang="en-US" sz="1850" dirty="0" smtClean="0"/>
              <a:t>anagers </a:t>
            </a:r>
            <a:r>
              <a:rPr lang="en-US" sz="1850" dirty="0"/>
              <a:t>have little or no concern for production but are concerned only for </a:t>
            </a:r>
            <a:r>
              <a:rPr lang="en-US" sz="1850" dirty="0" smtClean="0"/>
              <a:t>people</a:t>
            </a:r>
          </a:p>
          <a:p>
            <a:pPr lvl="1"/>
            <a:r>
              <a:rPr lang="en-US" sz="1850" dirty="0" smtClean="0"/>
              <a:t>They </a:t>
            </a:r>
            <a:r>
              <a:rPr lang="en-US" sz="1850" dirty="0"/>
              <a:t>promote an environment in which everyone is relaxed, friendly, and happy and no one is concerned about putting forth coordinated effort to accomplish enterprise </a:t>
            </a:r>
            <a:r>
              <a:rPr lang="en-US" sz="1850" dirty="0" smtClean="0"/>
              <a:t>goals</a:t>
            </a:r>
          </a:p>
          <a:p>
            <a:r>
              <a:rPr lang="en-US" sz="2000" dirty="0" smtClean="0"/>
              <a:t>9.1 Style (sometimes </a:t>
            </a:r>
            <a:r>
              <a:rPr lang="en-US" sz="2000" dirty="0"/>
              <a:t>referred to as autocratic task </a:t>
            </a:r>
            <a:r>
              <a:rPr lang="en-US" sz="2000" dirty="0" smtClean="0"/>
              <a:t>managers)</a:t>
            </a:r>
          </a:p>
          <a:p>
            <a:pPr lvl="1"/>
            <a:r>
              <a:rPr lang="en-US" sz="1850" dirty="0" smtClean="0"/>
              <a:t>Managers </a:t>
            </a:r>
            <a:r>
              <a:rPr lang="en-US" sz="1850" dirty="0"/>
              <a:t>are concerned only with developing an efficient operation, who have little or no concern for people, and who are quite autocratic in their style of </a:t>
            </a:r>
            <a:r>
              <a:rPr lang="en-US" sz="1850" dirty="0" smtClean="0"/>
              <a:t>leadership</a:t>
            </a:r>
          </a:p>
          <a:p>
            <a:r>
              <a:rPr lang="en-US" sz="2000" dirty="0" smtClean="0"/>
              <a:t>5.5 Style (Middle of the road or compromising leadership)</a:t>
            </a:r>
            <a:endParaRPr lang="en-US" sz="2000" dirty="0"/>
          </a:p>
          <a:p>
            <a:endParaRPr lang="en-US" sz="1850" dirty="0"/>
          </a:p>
        </p:txBody>
      </p:sp>
      <p:sp>
        <p:nvSpPr>
          <p:cNvPr id="4" name="Title 3"/>
          <p:cNvSpPr>
            <a:spLocks noGrp="1"/>
          </p:cNvSpPr>
          <p:nvPr>
            <p:ph type="title"/>
          </p:nvPr>
        </p:nvSpPr>
        <p:spPr>
          <a:xfrm>
            <a:off x="508001" y="457200"/>
            <a:ext cx="5917183" cy="400110"/>
          </a:xfrm>
          <a:prstGeom prst="rect">
            <a:avLst/>
          </a:prstGeom>
        </p:spPr>
        <p:txBody>
          <a:bodyPr wrap="square">
            <a:spAutoFit/>
          </a:bodyPr>
          <a:lstStyle/>
          <a:p>
            <a:r>
              <a:rPr lang="en-US" sz="2000" b="1" dirty="0" smtClean="0"/>
              <a:t>The </a:t>
            </a:r>
            <a:r>
              <a:rPr lang="en-US" sz="2000" b="1" dirty="0"/>
              <a:t>managerial grid</a:t>
            </a:r>
          </a:p>
        </p:txBody>
      </p:sp>
    </p:spTree>
    <p:extLst>
      <p:ext uri="{BB962C8B-B14F-4D97-AF65-F5344CB8AC3E}">
        <p14:creationId xmlns:p14="http://schemas.microsoft.com/office/powerpoint/2010/main" val="4859381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Leadership styles: autocratic</a:t>
            </a:r>
            <a:endParaRPr lang="en-US" dirty="0"/>
          </a:p>
        </p:txBody>
      </p:sp>
      <p:sp>
        <p:nvSpPr>
          <p:cNvPr id="3" name="Content Placeholder 2"/>
          <p:cNvSpPr>
            <a:spLocks noGrp="1"/>
          </p:cNvSpPr>
          <p:nvPr>
            <p:ph idx="1"/>
          </p:nvPr>
        </p:nvSpPr>
        <p:spPr>
          <a:xfrm>
            <a:off x="508001" y="1009937"/>
            <a:ext cx="7735247" cy="4012442"/>
          </a:xfrm>
        </p:spPr>
        <p:txBody>
          <a:bodyPr>
            <a:noAutofit/>
          </a:bodyPr>
          <a:lstStyle/>
          <a:p>
            <a:r>
              <a:rPr lang="en-US" sz="2000" dirty="0"/>
              <a:t>Top-down decision-making – Leaders make all key tech decisions (e.g., system architecture) with minimal input</a:t>
            </a:r>
            <a:r>
              <a:rPr lang="en-US" sz="2000" dirty="0" smtClean="0"/>
              <a:t>.</a:t>
            </a:r>
            <a:endParaRPr lang="en-US" sz="2000" dirty="0"/>
          </a:p>
          <a:p>
            <a:r>
              <a:rPr lang="en-US" sz="2000" dirty="0"/>
              <a:t>Effective in crisis – Useful during outages or security breaches requiring fast, firm direction</a:t>
            </a:r>
            <a:r>
              <a:rPr lang="en-US" sz="2000" dirty="0" smtClean="0"/>
              <a:t>.</a:t>
            </a:r>
            <a:endParaRPr lang="en-US" sz="2000" dirty="0"/>
          </a:p>
          <a:p>
            <a:r>
              <a:rPr lang="en-US" sz="2000" dirty="0"/>
              <a:t>Clear authority structure – Ideal for hierarchical teams (e.g., legacy software maintenance</a:t>
            </a:r>
            <a:r>
              <a:rPr lang="en-US" sz="2000" dirty="0" smtClean="0"/>
              <a:t>).</a:t>
            </a:r>
            <a:endParaRPr lang="en-US" sz="2000" dirty="0"/>
          </a:p>
          <a:p>
            <a:r>
              <a:rPr lang="en-US" sz="2000" dirty="0"/>
              <a:t>Low team morale risk – May stifle creativity and autonomy in agile environments</a:t>
            </a:r>
            <a:r>
              <a:rPr lang="en-US" sz="2000" dirty="0" smtClean="0"/>
              <a:t>.</a:t>
            </a:r>
            <a:endParaRPr lang="en-US" sz="2000" dirty="0"/>
          </a:p>
          <a:p>
            <a:r>
              <a:rPr lang="en-US" sz="2000" dirty="0"/>
              <a:t>Limited innovation – Reduces employee ownership and hinders innovation in long-term projects</a:t>
            </a:r>
          </a:p>
        </p:txBody>
      </p:sp>
    </p:spTree>
    <p:extLst>
      <p:ext uri="{BB962C8B-B14F-4D97-AF65-F5344CB8AC3E}">
        <p14:creationId xmlns:p14="http://schemas.microsoft.com/office/powerpoint/2010/main" val="116389490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Leadership styles: </a:t>
            </a:r>
            <a:r>
              <a:rPr lang="en-US" sz="2800" dirty="0" smtClean="0"/>
              <a:t>servant</a:t>
            </a:r>
            <a:endParaRPr lang="en-US" dirty="0"/>
          </a:p>
        </p:txBody>
      </p:sp>
      <p:sp>
        <p:nvSpPr>
          <p:cNvPr id="3" name="Content Placeholder 2"/>
          <p:cNvSpPr>
            <a:spLocks noGrp="1"/>
          </p:cNvSpPr>
          <p:nvPr>
            <p:ph idx="1"/>
          </p:nvPr>
        </p:nvSpPr>
        <p:spPr>
          <a:xfrm>
            <a:off x="508001" y="1009937"/>
            <a:ext cx="7735247" cy="4012442"/>
          </a:xfrm>
        </p:spPr>
        <p:txBody>
          <a:bodyPr>
            <a:noAutofit/>
          </a:bodyPr>
          <a:lstStyle/>
          <a:p>
            <a:r>
              <a:rPr lang="en-US" sz="2000" dirty="0"/>
              <a:t>Empowers developers and engineers – Leaders focus on supporting team growth and well-being</a:t>
            </a:r>
            <a:r>
              <a:rPr lang="en-US" sz="2000" dirty="0" smtClean="0"/>
              <a:t>.</a:t>
            </a:r>
            <a:endParaRPr lang="en-US" sz="2000" dirty="0"/>
          </a:p>
          <a:p>
            <a:r>
              <a:rPr lang="en-US" sz="2000" dirty="0"/>
              <a:t>Boosts collaboration – Common in DevOps or agile teams where trust and communication matter</a:t>
            </a:r>
            <a:r>
              <a:rPr lang="en-US" sz="2000" dirty="0" smtClean="0"/>
              <a:t>.</a:t>
            </a:r>
            <a:endParaRPr lang="en-US" sz="2000" dirty="0"/>
          </a:p>
          <a:p>
            <a:r>
              <a:rPr lang="en-US" sz="2000" dirty="0"/>
              <a:t>Fosters innovation – Encourages experimentation and employee-led initiatives</a:t>
            </a:r>
            <a:r>
              <a:rPr lang="en-US" sz="2000" dirty="0" smtClean="0"/>
              <a:t>.</a:t>
            </a:r>
            <a:endParaRPr lang="en-US" sz="2000" dirty="0"/>
          </a:p>
          <a:p>
            <a:r>
              <a:rPr lang="en-US" sz="2000" dirty="0"/>
              <a:t>Improves retention – Builds loyalty and lowers turnover among IT professionals</a:t>
            </a:r>
            <a:r>
              <a:rPr lang="en-US" sz="2000" dirty="0" smtClean="0"/>
              <a:t>.</a:t>
            </a:r>
            <a:endParaRPr lang="en-US" sz="2000" dirty="0"/>
          </a:p>
          <a:p>
            <a:r>
              <a:rPr lang="en-US" sz="2000" dirty="0"/>
              <a:t>Slow in emergencies – May delay decisions in time-sensitive tech operations</a:t>
            </a:r>
          </a:p>
        </p:txBody>
      </p:sp>
    </p:spTree>
    <p:extLst>
      <p:ext uri="{BB962C8B-B14F-4D97-AF65-F5344CB8AC3E}">
        <p14:creationId xmlns:p14="http://schemas.microsoft.com/office/powerpoint/2010/main" val="131145060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Leadership styles: </a:t>
            </a:r>
            <a:r>
              <a:rPr lang="en-US" sz="2800" dirty="0" smtClean="0"/>
              <a:t>transformational</a:t>
            </a:r>
            <a:endParaRPr lang="en-US" dirty="0"/>
          </a:p>
        </p:txBody>
      </p:sp>
      <p:sp>
        <p:nvSpPr>
          <p:cNvPr id="3" name="Content Placeholder 2"/>
          <p:cNvSpPr>
            <a:spLocks noGrp="1"/>
          </p:cNvSpPr>
          <p:nvPr>
            <p:ph idx="1"/>
          </p:nvPr>
        </p:nvSpPr>
        <p:spPr>
          <a:xfrm>
            <a:off x="508001" y="1009937"/>
            <a:ext cx="7735247" cy="4012442"/>
          </a:xfrm>
        </p:spPr>
        <p:txBody>
          <a:bodyPr>
            <a:noAutofit/>
          </a:bodyPr>
          <a:lstStyle/>
          <a:p>
            <a:r>
              <a:rPr lang="en-US" sz="2000" dirty="0"/>
              <a:t>Vision-driven change – Inspires teams to embrace cutting-edge tech (e.g., cloud migration, AI</a:t>
            </a:r>
            <a:r>
              <a:rPr lang="en-US" sz="2000" dirty="0" smtClean="0"/>
              <a:t>).</a:t>
            </a:r>
            <a:endParaRPr lang="en-US" sz="2000" dirty="0"/>
          </a:p>
          <a:p>
            <a:r>
              <a:rPr lang="en-US" sz="2000" dirty="0"/>
              <a:t>Motivates innovation – Encourages creativity in problem-solving and R&amp;D</a:t>
            </a:r>
            <a:r>
              <a:rPr lang="en-US" sz="2000" dirty="0" smtClean="0"/>
              <a:t>.</a:t>
            </a:r>
            <a:endParaRPr lang="en-US" sz="2000" dirty="0"/>
          </a:p>
          <a:p>
            <a:r>
              <a:rPr lang="en-US" sz="2000" dirty="0"/>
              <a:t>Drives digital transformation – Leads major IT shifts in business models and architecture</a:t>
            </a:r>
            <a:r>
              <a:rPr lang="en-US" sz="2000" dirty="0" smtClean="0"/>
              <a:t>.</a:t>
            </a:r>
            <a:endParaRPr lang="en-US" sz="2000" dirty="0"/>
          </a:p>
          <a:p>
            <a:r>
              <a:rPr lang="en-US" sz="2000" dirty="0"/>
              <a:t>Mentors future leaders – Focuses on personal and professional development of team members</a:t>
            </a:r>
            <a:r>
              <a:rPr lang="en-US" sz="2000" dirty="0" smtClean="0"/>
              <a:t>.</a:t>
            </a:r>
            <a:endParaRPr lang="en-US" sz="2000" dirty="0"/>
          </a:p>
          <a:p>
            <a:r>
              <a:rPr lang="en-US" sz="2000" dirty="0"/>
              <a:t>Risk of burnout – High expectations and pace can overwhelm some team members</a:t>
            </a:r>
          </a:p>
        </p:txBody>
      </p:sp>
    </p:spTree>
    <p:extLst>
      <p:ext uri="{BB962C8B-B14F-4D97-AF65-F5344CB8AC3E}">
        <p14:creationId xmlns:p14="http://schemas.microsoft.com/office/powerpoint/2010/main" val="131798177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033" y="286512"/>
            <a:ext cx="8095487" cy="798576"/>
          </a:xfrm>
        </p:spPr>
        <p:txBody>
          <a:bodyPr>
            <a:normAutofit fontScale="90000"/>
          </a:bodyPr>
          <a:lstStyle/>
          <a:p>
            <a:pPr marL="231775" lvl="2"/>
            <a:r>
              <a:rPr lang="en-US" sz="2400" b="1" dirty="0"/>
              <a:t>3.2.2 Characteristics of learning organization in the ICT industry</a:t>
            </a:r>
            <a:endParaRPr lang="en-US" sz="2400" b="1" dirty="0"/>
          </a:p>
        </p:txBody>
      </p:sp>
      <p:sp>
        <p:nvSpPr>
          <p:cNvPr id="3" name="Content Placeholder 2"/>
          <p:cNvSpPr>
            <a:spLocks noGrp="1"/>
          </p:cNvSpPr>
          <p:nvPr>
            <p:ph idx="1"/>
          </p:nvPr>
        </p:nvSpPr>
        <p:spPr>
          <a:xfrm>
            <a:off x="508001" y="1170432"/>
            <a:ext cx="7843519" cy="3360590"/>
          </a:xfrm>
        </p:spPr>
        <p:txBody>
          <a:bodyPr>
            <a:noAutofit/>
          </a:bodyPr>
          <a:lstStyle/>
          <a:p>
            <a:pPr marL="0" indent="0">
              <a:buNone/>
            </a:pPr>
            <a:r>
              <a:rPr lang="en-US" sz="2000" b="1" dirty="0" smtClean="0"/>
              <a:t>Continuous </a:t>
            </a:r>
            <a:r>
              <a:rPr lang="en-US" sz="2000" b="1" dirty="0"/>
              <a:t>Learning Culture</a:t>
            </a:r>
          </a:p>
          <a:p>
            <a:r>
              <a:rPr lang="en-US" sz="2000" dirty="0"/>
              <a:t>Promotes </a:t>
            </a:r>
            <a:r>
              <a:rPr lang="en-US" sz="2000" b="1" dirty="0"/>
              <a:t>ongoing upskilling</a:t>
            </a:r>
            <a:r>
              <a:rPr lang="en-US" sz="2000" dirty="0"/>
              <a:t> in fast-evolving technologies (e.g., AI, cybersecurity, cloud).</a:t>
            </a:r>
          </a:p>
          <a:p>
            <a:r>
              <a:rPr lang="en-US" sz="2000" dirty="0"/>
              <a:t>Encourages </a:t>
            </a:r>
            <a:r>
              <a:rPr lang="en-US" sz="2000" b="1" dirty="0"/>
              <a:t>certifications</a:t>
            </a:r>
            <a:r>
              <a:rPr lang="en-US" sz="2000" dirty="0"/>
              <a:t>, </a:t>
            </a:r>
            <a:r>
              <a:rPr lang="en-US" sz="2000" b="1" dirty="0" err="1"/>
              <a:t>bootcamps</a:t>
            </a:r>
            <a:r>
              <a:rPr lang="en-US" sz="2000" dirty="0"/>
              <a:t>, and </a:t>
            </a:r>
            <a:r>
              <a:rPr lang="en-US" sz="2000" b="1" dirty="0"/>
              <a:t>knowledge sharing</a:t>
            </a:r>
            <a:r>
              <a:rPr lang="en-US" sz="2000" dirty="0"/>
              <a:t> </a:t>
            </a:r>
            <a:r>
              <a:rPr lang="en-US" sz="2000" dirty="0" smtClean="0"/>
              <a:t>sessions</a:t>
            </a:r>
            <a:endParaRPr lang="en-US" sz="2000" dirty="0"/>
          </a:p>
          <a:p>
            <a:pPr marL="0" indent="0">
              <a:buNone/>
            </a:pPr>
            <a:r>
              <a:rPr lang="en-US" sz="2000" b="1" dirty="0" smtClean="0"/>
              <a:t>Knowledge </a:t>
            </a:r>
            <a:r>
              <a:rPr lang="en-US" sz="2000" b="1" dirty="0"/>
              <a:t>Management Systems</a:t>
            </a:r>
          </a:p>
          <a:p>
            <a:r>
              <a:rPr lang="en-US" sz="2000" dirty="0"/>
              <a:t>Uses platforms to </a:t>
            </a:r>
            <a:r>
              <a:rPr lang="en-US" sz="2000" b="1" dirty="0"/>
              <a:t>capture, store, and share expertise</a:t>
            </a:r>
            <a:r>
              <a:rPr lang="en-US" sz="2000" dirty="0"/>
              <a:t> (e.g., wikis, forums, internal knowledge bases).</a:t>
            </a:r>
          </a:p>
          <a:p>
            <a:r>
              <a:rPr lang="en-US" sz="2000" dirty="0"/>
              <a:t>Facilitates </a:t>
            </a:r>
            <a:r>
              <a:rPr lang="en-US" sz="2000" b="1" dirty="0"/>
              <a:t>organizational memory</a:t>
            </a:r>
            <a:r>
              <a:rPr lang="en-US" sz="2000" dirty="0"/>
              <a:t> across teams and locations.</a:t>
            </a:r>
          </a:p>
          <a:p>
            <a:pPr marL="0" indent="0">
              <a:buNone/>
            </a:pPr>
            <a:endParaRPr lang="en-US" sz="2000" dirty="0"/>
          </a:p>
        </p:txBody>
      </p:sp>
    </p:spTree>
    <p:extLst>
      <p:ext uri="{BB962C8B-B14F-4D97-AF65-F5344CB8AC3E}">
        <p14:creationId xmlns:p14="http://schemas.microsoft.com/office/powerpoint/2010/main" val="9722888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033" y="286512"/>
            <a:ext cx="8095487" cy="798576"/>
          </a:xfrm>
        </p:spPr>
        <p:txBody>
          <a:bodyPr>
            <a:normAutofit fontScale="90000"/>
          </a:bodyPr>
          <a:lstStyle/>
          <a:p>
            <a:pPr marL="231775" lvl="2"/>
            <a:r>
              <a:rPr lang="en-US" sz="2400" b="1" dirty="0"/>
              <a:t>3.2.2 Characteristics of learning organization in the ICT industry</a:t>
            </a:r>
            <a:endParaRPr lang="en-US" sz="2400" b="1" dirty="0"/>
          </a:p>
        </p:txBody>
      </p:sp>
      <p:sp>
        <p:nvSpPr>
          <p:cNvPr id="3" name="Content Placeholder 2"/>
          <p:cNvSpPr>
            <a:spLocks noGrp="1"/>
          </p:cNvSpPr>
          <p:nvPr>
            <p:ph idx="1"/>
          </p:nvPr>
        </p:nvSpPr>
        <p:spPr>
          <a:xfrm>
            <a:off x="508001" y="1170432"/>
            <a:ext cx="7843519" cy="3360590"/>
          </a:xfrm>
        </p:spPr>
        <p:txBody>
          <a:bodyPr>
            <a:noAutofit/>
          </a:bodyPr>
          <a:lstStyle/>
          <a:p>
            <a:pPr marL="0" indent="0">
              <a:buNone/>
            </a:pPr>
            <a:r>
              <a:rPr lang="en-US" sz="2000" b="1" dirty="0" smtClean="0"/>
              <a:t>Adaptability </a:t>
            </a:r>
            <a:r>
              <a:rPr lang="en-US" sz="2000" b="1" dirty="0"/>
              <a:t>to Change</a:t>
            </a:r>
          </a:p>
          <a:p>
            <a:r>
              <a:rPr lang="en-US" sz="2000" dirty="0"/>
              <a:t>Rapidly </a:t>
            </a:r>
            <a:r>
              <a:rPr lang="en-US" sz="2000" b="1" dirty="0"/>
              <a:t>adapts to new tech trends</a:t>
            </a:r>
            <a:r>
              <a:rPr lang="en-US" sz="2000" dirty="0"/>
              <a:t>, market demands, and regulatory changes.</a:t>
            </a:r>
          </a:p>
          <a:p>
            <a:r>
              <a:rPr lang="en-US" sz="2000" dirty="0"/>
              <a:t>Embraces </a:t>
            </a:r>
            <a:r>
              <a:rPr lang="en-US" sz="2000" b="1" dirty="0"/>
              <a:t>agile methodologies</a:t>
            </a:r>
            <a:r>
              <a:rPr lang="en-US" sz="2000" dirty="0"/>
              <a:t> to enable organizational responsiveness.</a:t>
            </a:r>
          </a:p>
          <a:p>
            <a:pPr marL="0" indent="0">
              <a:buNone/>
            </a:pPr>
            <a:r>
              <a:rPr lang="en-US" sz="2000" b="1" dirty="0" smtClean="0"/>
              <a:t>Collaborative </a:t>
            </a:r>
            <a:r>
              <a:rPr lang="en-US" sz="2000" b="1" dirty="0"/>
              <a:t>Environment</a:t>
            </a:r>
          </a:p>
          <a:p>
            <a:r>
              <a:rPr lang="en-US" sz="2000" dirty="0"/>
              <a:t>Fosters </a:t>
            </a:r>
            <a:r>
              <a:rPr lang="en-US" sz="2000" b="1" dirty="0"/>
              <a:t>cross-functional teams</a:t>
            </a:r>
            <a:r>
              <a:rPr lang="en-US" sz="2000" dirty="0"/>
              <a:t> and </a:t>
            </a:r>
            <a:r>
              <a:rPr lang="en-US" sz="2000" b="1" dirty="0"/>
              <a:t>open communication</a:t>
            </a:r>
            <a:r>
              <a:rPr lang="en-US" sz="2000" dirty="0"/>
              <a:t> (e.g., DevOps, agile squads).</a:t>
            </a:r>
          </a:p>
          <a:p>
            <a:r>
              <a:rPr lang="en-US" sz="2000" dirty="0"/>
              <a:t>Supports </a:t>
            </a:r>
            <a:r>
              <a:rPr lang="en-US" sz="2000" b="1" dirty="0"/>
              <a:t>remote and hybrid collaboration tools</a:t>
            </a:r>
            <a:r>
              <a:rPr lang="en-US" sz="2000" dirty="0"/>
              <a:t> like Slack, MS Teams, and </a:t>
            </a:r>
            <a:r>
              <a:rPr lang="en-US" sz="2000" dirty="0" err="1"/>
              <a:t>Git</a:t>
            </a:r>
            <a:endParaRPr lang="en-US" sz="2000" dirty="0"/>
          </a:p>
          <a:p>
            <a:pPr marL="0" indent="0">
              <a:buNone/>
            </a:pPr>
            <a:endParaRPr lang="en-US" sz="2000" dirty="0"/>
          </a:p>
        </p:txBody>
      </p:sp>
    </p:spTree>
    <p:extLst>
      <p:ext uri="{BB962C8B-B14F-4D97-AF65-F5344CB8AC3E}">
        <p14:creationId xmlns:p14="http://schemas.microsoft.com/office/powerpoint/2010/main" val="36030502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033" y="286512"/>
            <a:ext cx="8095487" cy="798576"/>
          </a:xfrm>
        </p:spPr>
        <p:txBody>
          <a:bodyPr>
            <a:normAutofit fontScale="90000"/>
          </a:bodyPr>
          <a:lstStyle/>
          <a:p>
            <a:pPr marL="231775" lvl="2"/>
            <a:r>
              <a:rPr lang="en-US" sz="2400" b="1" dirty="0"/>
              <a:t>3.2.2 Characteristics of learning organization in the ICT industry</a:t>
            </a:r>
            <a:endParaRPr lang="en-US" sz="2400" b="1" dirty="0"/>
          </a:p>
        </p:txBody>
      </p:sp>
      <p:sp>
        <p:nvSpPr>
          <p:cNvPr id="3" name="Content Placeholder 2"/>
          <p:cNvSpPr>
            <a:spLocks noGrp="1"/>
          </p:cNvSpPr>
          <p:nvPr>
            <p:ph idx="1"/>
          </p:nvPr>
        </p:nvSpPr>
        <p:spPr>
          <a:xfrm>
            <a:off x="508001" y="1170432"/>
            <a:ext cx="7843519" cy="3360590"/>
          </a:xfrm>
        </p:spPr>
        <p:txBody>
          <a:bodyPr>
            <a:noAutofit/>
          </a:bodyPr>
          <a:lstStyle/>
          <a:p>
            <a:pPr marL="0" indent="0">
              <a:buNone/>
            </a:pPr>
            <a:r>
              <a:rPr lang="en-US" sz="2000" b="1" dirty="0" smtClean="0"/>
              <a:t>Innovation </a:t>
            </a:r>
            <a:r>
              <a:rPr lang="en-US" sz="2000" b="1" dirty="0"/>
              <a:t>and Experimentation</a:t>
            </a:r>
          </a:p>
          <a:p>
            <a:r>
              <a:rPr lang="en-US" sz="2000" dirty="0"/>
              <a:t>Encourages </a:t>
            </a:r>
            <a:r>
              <a:rPr lang="en-US" sz="2000" b="1" dirty="0"/>
              <a:t>risk-taking and prototyping</a:t>
            </a:r>
            <a:r>
              <a:rPr lang="en-US" sz="2000" dirty="0"/>
              <a:t> (e.g., hackathons, R&amp;D labs).</a:t>
            </a:r>
          </a:p>
          <a:p>
            <a:r>
              <a:rPr lang="en-US" sz="2000" dirty="0"/>
              <a:t>Accepts failure as part of </a:t>
            </a:r>
            <a:r>
              <a:rPr lang="en-US" sz="2000" b="1" dirty="0"/>
              <a:t>the learning and innovation process</a:t>
            </a:r>
            <a:r>
              <a:rPr lang="en-US" sz="2000" dirty="0"/>
              <a:t>.</a:t>
            </a:r>
          </a:p>
          <a:p>
            <a:pPr marL="0" indent="0">
              <a:buNone/>
            </a:pPr>
            <a:r>
              <a:rPr lang="en-US" sz="2000" b="1" dirty="0" smtClean="0"/>
              <a:t>Leadership </a:t>
            </a:r>
            <a:r>
              <a:rPr lang="en-US" sz="2000" b="1" dirty="0"/>
              <a:t>That Supports Learning</a:t>
            </a:r>
          </a:p>
          <a:p>
            <a:r>
              <a:rPr lang="en-US" sz="2000" dirty="0"/>
              <a:t>Leaders act as </a:t>
            </a:r>
            <a:r>
              <a:rPr lang="en-US" sz="2000" b="1" dirty="0"/>
              <a:t>coaches and facilitators</a:t>
            </a:r>
            <a:r>
              <a:rPr lang="en-US" sz="2000" dirty="0"/>
              <a:t>, not just decision-makers.</a:t>
            </a:r>
          </a:p>
          <a:p>
            <a:r>
              <a:rPr lang="en-US" sz="2000" dirty="0"/>
              <a:t>Invests in </a:t>
            </a:r>
            <a:r>
              <a:rPr lang="en-US" sz="2000" b="1" dirty="0"/>
              <a:t>learning platforms</a:t>
            </a:r>
            <a:r>
              <a:rPr lang="en-US" sz="2000" dirty="0"/>
              <a:t> and </a:t>
            </a:r>
            <a:r>
              <a:rPr lang="en-US" sz="2000" b="1" dirty="0"/>
              <a:t>employee development programs</a:t>
            </a:r>
            <a:r>
              <a:rPr lang="en-US" sz="2000" dirty="0"/>
              <a:t>.</a:t>
            </a:r>
          </a:p>
          <a:p>
            <a:pPr marL="0" indent="0">
              <a:buNone/>
            </a:pPr>
            <a:endParaRPr lang="en-US" sz="2000" dirty="0"/>
          </a:p>
        </p:txBody>
      </p:sp>
    </p:spTree>
    <p:extLst>
      <p:ext uri="{BB962C8B-B14F-4D97-AF65-F5344CB8AC3E}">
        <p14:creationId xmlns:p14="http://schemas.microsoft.com/office/powerpoint/2010/main" val="26284776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033" y="286512"/>
            <a:ext cx="8095487" cy="798576"/>
          </a:xfrm>
        </p:spPr>
        <p:txBody>
          <a:bodyPr>
            <a:normAutofit fontScale="90000"/>
          </a:bodyPr>
          <a:lstStyle/>
          <a:p>
            <a:pPr marL="231775" lvl="2"/>
            <a:r>
              <a:rPr lang="en-US" sz="2400" b="1" dirty="0"/>
              <a:t>3.2.2 Characteristics of learning organization in the ICT industry</a:t>
            </a:r>
            <a:endParaRPr lang="en-US" sz="2400" b="1" dirty="0"/>
          </a:p>
        </p:txBody>
      </p:sp>
      <p:sp>
        <p:nvSpPr>
          <p:cNvPr id="3" name="Content Placeholder 2"/>
          <p:cNvSpPr>
            <a:spLocks noGrp="1"/>
          </p:cNvSpPr>
          <p:nvPr>
            <p:ph idx="1"/>
          </p:nvPr>
        </p:nvSpPr>
        <p:spPr>
          <a:xfrm>
            <a:off x="508001" y="1170432"/>
            <a:ext cx="7843519" cy="3360590"/>
          </a:xfrm>
        </p:spPr>
        <p:txBody>
          <a:bodyPr>
            <a:noAutofit/>
          </a:bodyPr>
          <a:lstStyle/>
          <a:p>
            <a:pPr marL="0" indent="0">
              <a:buNone/>
            </a:pPr>
            <a:r>
              <a:rPr lang="en-US" sz="2000" b="1" dirty="0" smtClean="0"/>
              <a:t>Employee </a:t>
            </a:r>
            <a:r>
              <a:rPr lang="en-US" sz="2000" b="1" dirty="0"/>
              <a:t>Empowerment</a:t>
            </a:r>
          </a:p>
          <a:p>
            <a:r>
              <a:rPr lang="en-US" sz="2000" dirty="0"/>
              <a:t>Gives autonomy in decision-making and </a:t>
            </a:r>
            <a:r>
              <a:rPr lang="en-US" sz="2000" b="1" dirty="0"/>
              <a:t>ownership of projects</a:t>
            </a:r>
            <a:r>
              <a:rPr lang="en-US" sz="2000" dirty="0"/>
              <a:t>.</a:t>
            </a:r>
          </a:p>
          <a:p>
            <a:r>
              <a:rPr lang="en-US" sz="2000" dirty="0"/>
              <a:t>Builds a </a:t>
            </a:r>
            <a:r>
              <a:rPr lang="en-US" sz="2000" b="1" dirty="0"/>
              <a:t>growth mindset</a:t>
            </a:r>
            <a:r>
              <a:rPr lang="en-US" sz="2000" dirty="0"/>
              <a:t> among team members</a:t>
            </a:r>
            <a:r>
              <a:rPr lang="en-US" sz="2000" dirty="0" smtClean="0"/>
              <a:t>.</a:t>
            </a:r>
            <a:endParaRPr lang="en-US" sz="2000" dirty="0"/>
          </a:p>
          <a:p>
            <a:pPr marL="0" indent="0">
              <a:buNone/>
            </a:pPr>
            <a:r>
              <a:rPr lang="en-US" sz="2000" b="1" dirty="0" smtClean="0"/>
              <a:t>Employee Motivation</a:t>
            </a:r>
          </a:p>
          <a:p>
            <a:pPr marL="0" indent="0">
              <a:buNone/>
            </a:pPr>
            <a:endParaRPr lang="en-US" sz="2000" b="1" dirty="0"/>
          </a:p>
          <a:p>
            <a:pPr marL="0" indent="0">
              <a:buNone/>
            </a:pPr>
            <a:endParaRPr lang="en-US" sz="2000" dirty="0"/>
          </a:p>
        </p:txBody>
      </p:sp>
    </p:spTree>
    <p:extLst>
      <p:ext uri="{BB962C8B-B14F-4D97-AF65-F5344CB8AC3E}">
        <p14:creationId xmlns:p14="http://schemas.microsoft.com/office/powerpoint/2010/main" val="23981508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375334921"/>
              </p:ext>
            </p:extLst>
          </p:nvPr>
        </p:nvGraphicFramePr>
        <p:xfrm>
          <a:off x="507998" y="300250"/>
          <a:ext cx="8281161" cy="4291765"/>
        </p:xfrm>
        <a:graphic>
          <a:graphicData uri="http://schemas.openxmlformats.org/drawingml/2006/table">
            <a:tbl>
              <a:tblPr firstRow="1" bandRow="1">
                <a:tableStyleId>{5C22544A-7EE6-4342-B048-85BDC9FD1C3A}</a:tableStyleId>
              </a:tblPr>
              <a:tblGrid>
                <a:gridCol w="2221554"/>
                <a:gridCol w="1869744"/>
                <a:gridCol w="4189863"/>
              </a:tblGrid>
              <a:tr h="693761">
                <a:tc>
                  <a:txBody>
                    <a:bodyPr/>
                    <a:lstStyle/>
                    <a:p>
                      <a:pPr marL="0" indent="0">
                        <a:buNone/>
                      </a:pPr>
                      <a:r>
                        <a:rPr lang="en-US" sz="2000" dirty="0" smtClean="0"/>
                        <a:t>Company		</a:t>
                      </a:r>
                      <a:endParaRPr lang="en-US" sz="2000" dirty="0"/>
                    </a:p>
                  </a:txBody>
                  <a:tcPr/>
                </a:tc>
                <a:tc>
                  <a:txBody>
                    <a:bodyPr/>
                    <a:lstStyle/>
                    <a:p>
                      <a:r>
                        <a:rPr lang="en-US" sz="2000" dirty="0" smtClean="0"/>
                        <a:t>Focus Area</a:t>
                      </a:r>
                      <a:endParaRPr lang="en-US" sz="2000" dirty="0"/>
                    </a:p>
                  </a:txBody>
                  <a:tcPr/>
                </a:tc>
                <a:tc>
                  <a:txBody>
                    <a:bodyPr/>
                    <a:lstStyle/>
                    <a:p>
                      <a:pPr marL="0" indent="0">
                        <a:buNone/>
                      </a:pPr>
                      <a:r>
                        <a:rPr lang="en-US" sz="2000" dirty="0" smtClean="0"/>
                        <a:t>Description / Contribution</a:t>
                      </a:r>
                      <a:endParaRPr lang="en-US" sz="2000" dirty="0"/>
                    </a:p>
                  </a:txBody>
                  <a:tcPr/>
                </a:tc>
              </a:tr>
              <a:tr h="693761">
                <a:tc>
                  <a:txBody>
                    <a:bodyPr/>
                    <a:lstStyle/>
                    <a:p>
                      <a:r>
                        <a:rPr lang="en-US" sz="1600" b="1" dirty="0"/>
                        <a:t>Microsoft</a:t>
                      </a:r>
                      <a:endParaRPr lang="en-US" sz="1600" dirty="0"/>
                    </a:p>
                  </a:txBody>
                  <a:tcPr anchor="ctr"/>
                </a:tc>
                <a:tc>
                  <a:txBody>
                    <a:bodyPr/>
                    <a:lstStyle/>
                    <a:p>
                      <a:r>
                        <a:rPr lang="en-US" sz="1600" dirty="0" smtClean="0"/>
                        <a:t>Software, Cloud, AI</a:t>
                      </a:r>
                      <a:endParaRPr lang="en-US" sz="1600" dirty="0"/>
                    </a:p>
                  </a:txBody>
                  <a:tcPr anchor="ctr"/>
                </a:tc>
                <a:tc>
                  <a:txBody>
                    <a:bodyPr/>
                    <a:lstStyle/>
                    <a:p>
                      <a:endParaRPr lang="en-US" sz="1600" dirty="0"/>
                    </a:p>
                  </a:txBody>
                  <a:tcPr/>
                </a:tc>
              </a:tr>
              <a:tr h="693761">
                <a:tc>
                  <a:txBody>
                    <a:bodyPr/>
                    <a:lstStyle/>
                    <a:p>
                      <a:r>
                        <a:rPr lang="en-US" sz="1600" dirty="0" smtClean="0"/>
                        <a:t>Google (Alphabet Inc.)</a:t>
                      </a:r>
                      <a:endParaRPr lang="en-US" sz="1600" dirty="0"/>
                    </a:p>
                  </a:txBody>
                  <a:tcPr/>
                </a:tc>
                <a:tc>
                  <a:txBody>
                    <a:bodyPr/>
                    <a:lstStyle/>
                    <a:p>
                      <a:r>
                        <a:rPr lang="it-IT" sz="1600" dirty="0" smtClean="0"/>
                        <a:t>Search, Cloud, AI, Mobile OS</a:t>
                      </a:r>
                      <a:endParaRPr lang="en-US" sz="1600" dirty="0"/>
                    </a:p>
                  </a:txBody>
                  <a:tcPr/>
                </a:tc>
                <a:tc>
                  <a:txBody>
                    <a:bodyPr/>
                    <a:lstStyle/>
                    <a:p>
                      <a:endParaRPr lang="en-US" sz="1600"/>
                    </a:p>
                  </a:txBody>
                  <a:tcPr/>
                </a:tc>
              </a:tr>
              <a:tr h="693761">
                <a:tc>
                  <a:txBody>
                    <a:bodyPr/>
                    <a:lstStyle/>
                    <a:p>
                      <a:r>
                        <a:rPr lang="en-US" sz="1600" dirty="0" smtClean="0"/>
                        <a:t>IBM</a:t>
                      </a:r>
                      <a:endParaRPr lang="en-US" sz="1600" dirty="0"/>
                    </a:p>
                  </a:txBody>
                  <a:tcPr/>
                </a:tc>
                <a:tc>
                  <a:txBody>
                    <a:bodyPr/>
                    <a:lstStyle/>
                    <a:p>
                      <a:r>
                        <a:rPr lang="en-US" sz="1600" dirty="0" smtClean="0"/>
                        <a:t>Enterprise IT, Cloud, AI</a:t>
                      </a:r>
                      <a:endParaRPr lang="en-US" sz="1600" dirty="0"/>
                    </a:p>
                  </a:txBody>
                  <a:tcPr/>
                </a:tc>
                <a:tc>
                  <a:txBody>
                    <a:bodyPr/>
                    <a:lstStyle/>
                    <a:p>
                      <a:endParaRPr lang="en-US" sz="1600"/>
                    </a:p>
                  </a:txBody>
                  <a:tcPr/>
                </a:tc>
              </a:tr>
              <a:tr h="693761">
                <a:tc>
                  <a:txBody>
                    <a:bodyPr/>
                    <a:lstStyle/>
                    <a:p>
                      <a:r>
                        <a:rPr lang="en-US" sz="1600" dirty="0" smtClean="0"/>
                        <a:t>Apple </a:t>
                      </a:r>
                      <a:r>
                        <a:rPr lang="en-US" sz="1600" dirty="0" err="1" smtClean="0"/>
                        <a:t>Inc</a:t>
                      </a:r>
                      <a:endParaRPr lang="en-US" sz="1600" dirty="0"/>
                    </a:p>
                  </a:txBody>
                  <a:tcPr/>
                </a:tc>
                <a:tc>
                  <a:txBody>
                    <a:bodyPr/>
                    <a:lstStyle/>
                    <a:p>
                      <a:r>
                        <a:rPr lang="en-US" sz="1600" dirty="0" smtClean="0"/>
                        <a:t>Consumer Electronics, Software</a:t>
                      </a:r>
                      <a:endParaRPr lang="en-US" sz="1600" dirty="0"/>
                    </a:p>
                  </a:txBody>
                  <a:tcPr/>
                </a:tc>
                <a:tc>
                  <a:txBody>
                    <a:bodyPr/>
                    <a:lstStyle/>
                    <a:p>
                      <a:endParaRPr lang="en-US" sz="1600" dirty="0"/>
                    </a:p>
                  </a:txBody>
                  <a:tcPr/>
                </a:tc>
              </a:tr>
              <a:tr h="693761">
                <a:tc>
                  <a:txBody>
                    <a:bodyPr/>
                    <a:lstStyle/>
                    <a:p>
                      <a:r>
                        <a:rPr lang="en-US" sz="1600" dirty="0" smtClean="0"/>
                        <a:t>Cisco Systems</a:t>
                      </a:r>
                      <a:endParaRPr lang="en-US" sz="1600" dirty="0"/>
                    </a:p>
                  </a:txBody>
                  <a:tcPr/>
                </a:tc>
                <a:tc>
                  <a:txBody>
                    <a:bodyPr/>
                    <a:lstStyle/>
                    <a:p>
                      <a:r>
                        <a:rPr lang="en-US" sz="1600" dirty="0" smtClean="0"/>
                        <a:t>Networking &amp; Cybersecurity</a:t>
                      </a:r>
                      <a:endParaRPr lang="en-US" sz="1600" dirty="0"/>
                    </a:p>
                  </a:txBody>
                  <a:tcPr/>
                </a:tc>
                <a:tc>
                  <a:txBody>
                    <a:bodyPr/>
                    <a:lstStyle/>
                    <a:p>
                      <a:endParaRPr lang="en-US" sz="1600" dirty="0"/>
                    </a:p>
                  </a:txBody>
                  <a:tcPr/>
                </a:tc>
              </a:tr>
            </a:tbl>
          </a:graphicData>
        </a:graphic>
      </p:graphicFrame>
    </p:spTree>
    <p:extLst>
      <p:ext uri="{BB962C8B-B14F-4D97-AF65-F5344CB8AC3E}">
        <p14:creationId xmlns:p14="http://schemas.microsoft.com/office/powerpoint/2010/main" val="16636265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98600251"/>
              </p:ext>
            </p:extLst>
          </p:nvPr>
        </p:nvGraphicFramePr>
        <p:xfrm>
          <a:off x="507998" y="300250"/>
          <a:ext cx="8281161" cy="4428243"/>
        </p:xfrm>
        <a:graphic>
          <a:graphicData uri="http://schemas.openxmlformats.org/drawingml/2006/table">
            <a:tbl>
              <a:tblPr firstRow="1" bandRow="1">
                <a:tableStyleId>{5C22544A-7EE6-4342-B048-85BDC9FD1C3A}</a:tableStyleId>
              </a:tblPr>
              <a:tblGrid>
                <a:gridCol w="1839417"/>
                <a:gridCol w="1910686"/>
                <a:gridCol w="4531058"/>
              </a:tblGrid>
              <a:tr h="693761">
                <a:tc>
                  <a:txBody>
                    <a:bodyPr/>
                    <a:lstStyle/>
                    <a:p>
                      <a:pPr marL="0" indent="0">
                        <a:buNone/>
                      </a:pPr>
                      <a:r>
                        <a:rPr lang="en-US" sz="2000" dirty="0" smtClean="0"/>
                        <a:t>Company		</a:t>
                      </a:r>
                      <a:endParaRPr lang="en-US" sz="2000" dirty="0"/>
                    </a:p>
                  </a:txBody>
                  <a:tcPr/>
                </a:tc>
                <a:tc>
                  <a:txBody>
                    <a:bodyPr/>
                    <a:lstStyle/>
                    <a:p>
                      <a:r>
                        <a:rPr lang="en-US" sz="2000" dirty="0" smtClean="0"/>
                        <a:t>Focus Area</a:t>
                      </a:r>
                      <a:endParaRPr lang="en-US" sz="2000" dirty="0"/>
                    </a:p>
                  </a:txBody>
                  <a:tcPr/>
                </a:tc>
                <a:tc>
                  <a:txBody>
                    <a:bodyPr/>
                    <a:lstStyle/>
                    <a:p>
                      <a:pPr marL="0" indent="0">
                        <a:buNone/>
                      </a:pPr>
                      <a:r>
                        <a:rPr lang="en-US" sz="2000" dirty="0" smtClean="0"/>
                        <a:t>Description / Contribution</a:t>
                      </a:r>
                      <a:endParaRPr lang="en-US" sz="2000" dirty="0"/>
                    </a:p>
                  </a:txBody>
                  <a:tcPr/>
                </a:tc>
              </a:tr>
              <a:tr h="693761">
                <a:tc>
                  <a:txBody>
                    <a:bodyPr/>
                    <a:lstStyle/>
                    <a:p>
                      <a:r>
                        <a:rPr lang="en-US" sz="1600" dirty="0" smtClean="0"/>
                        <a:t>Infosys</a:t>
                      </a:r>
                      <a:endParaRPr lang="en-US" sz="1600" dirty="0"/>
                    </a:p>
                  </a:txBody>
                  <a:tcPr anchor="ctr"/>
                </a:tc>
                <a:tc>
                  <a:txBody>
                    <a:bodyPr/>
                    <a:lstStyle/>
                    <a:p>
                      <a:r>
                        <a:rPr lang="en-US" sz="1600" dirty="0" smtClean="0"/>
                        <a:t>IT Services &amp; Consulting</a:t>
                      </a:r>
                      <a:endParaRPr lang="en-US" sz="1600" dirty="0"/>
                    </a:p>
                  </a:txBody>
                  <a:tcPr anchor="ctr"/>
                </a:tc>
                <a:tc>
                  <a:txBody>
                    <a:bodyPr/>
                    <a:lstStyle/>
                    <a:p>
                      <a:endParaRPr lang="en-US" sz="1600" dirty="0"/>
                    </a:p>
                  </a:txBody>
                  <a:tcPr/>
                </a:tc>
              </a:tr>
              <a:tr h="693761">
                <a:tc>
                  <a:txBody>
                    <a:bodyPr/>
                    <a:lstStyle/>
                    <a:p>
                      <a:r>
                        <a:rPr lang="en-US" sz="1600" dirty="0" smtClean="0"/>
                        <a:t>Samsung Electronics</a:t>
                      </a:r>
                      <a:endParaRPr lang="en-US" sz="1600" dirty="0"/>
                    </a:p>
                  </a:txBody>
                  <a:tcPr/>
                </a:tc>
                <a:tc>
                  <a:txBody>
                    <a:bodyPr/>
                    <a:lstStyle/>
                    <a:p>
                      <a:r>
                        <a:rPr lang="en-US" sz="1600" dirty="0" smtClean="0"/>
                        <a:t>Consumer Electronics, Semiconductors</a:t>
                      </a:r>
                      <a:endParaRPr lang="en-US" sz="1600" dirty="0"/>
                    </a:p>
                  </a:txBody>
                  <a:tcPr/>
                </a:tc>
                <a:tc>
                  <a:txBody>
                    <a:bodyPr/>
                    <a:lstStyle/>
                    <a:p>
                      <a:endParaRPr lang="en-US" sz="1600"/>
                    </a:p>
                  </a:txBody>
                  <a:tcPr/>
                </a:tc>
              </a:tr>
              <a:tr h="693761">
                <a:tc>
                  <a:txBody>
                    <a:bodyPr/>
                    <a:lstStyle/>
                    <a:p>
                      <a:r>
                        <a:rPr lang="en-US" sz="1600" dirty="0" smtClean="0"/>
                        <a:t>Amazon Web Services (AWS)</a:t>
                      </a:r>
                      <a:endParaRPr lang="en-US" sz="1600" dirty="0"/>
                    </a:p>
                  </a:txBody>
                  <a:tcPr/>
                </a:tc>
                <a:tc>
                  <a:txBody>
                    <a:bodyPr/>
                    <a:lstStyle/>
                    <a:p>
                      <a:r>
                        <a:rPr lang="en-US" sz="1600" dirty="0" smtClean="0"/>
                        <a:t>Cloud Computing</a:t>
                      </a:r>
                      <a:endParaRPr lang="en-US" sz="1600" dirty="0"/>
                    </a:p>
                  </a:txBody>
                  <a:tcPr/>
                </a:tc>
                <a:tc>
                  <a:txBody>
                    <a:bodyPr/>
                    <a:lstStyle/>
                    <a:p>
                      <a:endParaRPr lang="en-US" sz="1600" dirty="0"/>
                    </a:p>
                  </a:txBody>
                  <a:tcPr/>
                </a:tc>
              </a:tr>
              <a:tr h="693761">
                <a:tc>
                  <a:txBody>
                    <a:bodyPr/>
                    <a:lstStyle/>
                    <a:p>
                      <a:r>
                        <a:rPr lang="en-US" sz="1600" dirty="0" smtClean="0"/>
                        <a:t>Huawei Technologies</a:t>
                      </a:r>
                      <a:endParaRPr lang="en-US" sz="1600" dirty="0"/>
                    </a:p>
                  </a:txBody>
                  <a:tcPr/>
                </a:tc>
                <a:tc>
                  <a:txBody>
                    <a:bodyPr/>
                    <a:lstStyle/>
                    <a:p>
                      <a:r>
                        <a:rPr lang="en-US" sz="1600" dirty="0" smtClean="0"/>
                        <a:t>Telecom Equipment, ICT Infrastructure</a:t>
                      </a:r>
                      <a:endParaRPr lang="en-US" sz="1600" dirty="0"/>
                    </a:p>
                  </a:txBody>
                  <a:tcPr/>
                </a:tc>
                <a:tc>
                  <a:txBody>
                    <a:bodyPr/>
                    <a:lstStyle/>
                    <a:p>
                      <a:endParaRPr lang="en-US" sz="1600" dirty="0"/>
                    </a:p>
                  </a:txBody>
                  <a:tcPr/>
                </a:tc>
              </a:tr>
              <a:tr h="693761">
                <a:tc>
                  <a:txBody>
                    <a:bodyPr/>
                    <a:lstStyle/>
                    <a:p>
                      <a:r>
                        <a:rPr lang="en-US" sz="1600" dirty="0" smtClean="0"/>
                        <a:t>Tata Consultancy Services (TCS)</a:t>
                      </a:r>
                      <a:endParaRPr lang="en-US" sz="1600" dirty="0"/>
                    </a:p>
                  </a:txBody>
                  <a:tcPr/>
                </a:tc>
                <a:tc>
                  <a:txBody>
                    <a:bodyPr/>
                    <a:lstStyle/>
                    <a:p>
                      <a:r>
                        <a:rPr lang="en-US" sz="1600" dirty="0" smtClean="0"/>
                        <a:t>IT Services &amp; Consulting</a:t>
                      </a:r>
                      <a:endParaRPr lang="en-US" sz="1600" dirty="0"/>
                    </a:p>
                  </a:txBody>
                  <a:tcPr/>
                </a:tc>
                <a:tc>
                  <a:txBody>
                    <a:bodyPr/>
                    <a:lstStyle/>
                    <a:p>
                      <a:endParaRPr lang="en-US" sz="1600" dirty="0"/>
                    </a:p>
                  </a:txBody>
                  <a:tcPr/>
                </a:tc>
              </a:tr>
            </a:tbl>
          </a:graphicData>
        </a:graphic>
      </p:graphicFrame>
    </p:spTree>
    <p:extLst>
      <p:ext uri="{BB962C8B-B14F-4D97-AF65-F5344CB8AC3E}">
        <p14:creationId xmlns:p14="http://schemas.microsoft.com/office/powerpoint/2010/main" val="3704495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3.3 </a:t>
            </a:r>
            <a:r>
              <a:rPr lang="en-US" dirty="0"/>
              <a:t>Challenges and strategies for motivating and leading technical workforce</a:t>
            </a:r>
          </a:p>
        </p:txBody>
      </p:sp>
      <p:sp>
        <p:nvSpPr>
          <p:cNvPr id="3" name="Content Placeholder 2"/>
          <p:cNvSpPr>
            <a:spLocks noGrp="1"/>
          </p:cNvSpPr>
          <p:nvPr>
            <p:ph idx="1"/>
          </p:nvPr>
        </p:nvSpPr>
        <p:spPr/>
        <p:txBody>
          <a:bodyPr>
            <a:normAutofit/>
          </a:bodyPr>
          <a:lstStyle/>
          <a:p>
            <a:pPr marL="0"/>
            <a:r>
              <a:rPr lang="en-US" sz="2400" dirty="0"/>
              <a:t>Understanding and Managing Individual Behavior</a:t>
            </a:r>
          </a:p>
        </p:txBody>
      </p:sp>
    </p:spTree>
    <p:extLst>
      <p:ext uri="{BB962C8B-B14F-4D97-AF65-F5344CB8AC3E}">
        <p14:creationId xmlns:p14="http://schemas.microsoft.com/office/powerpoint/2010/main" val="38475531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984" y="290323"/>
            <a:ext cx="6172200" cy="435611"/>
          </a:xfrm>
        </p:spPr>
        <p:txBody>
          <a:bodyPr>
            <a:normAutofit fontScale="90000"/>
          </a:bodyPr>
          <a:lstStyle/>
          <a:p>
            <a:r>
              <a:rPr lang="en-US" dirty="0"/>
              <a:t>Learning Objectives</a:t>
            </a:r>
          </a:p>
        </p:txBody>
      </p:sp>
      <p:sp>
        <p:nvSpPr>
          <p:cNvPr id="3" name="Content Placeholder 2"/>
          <p:cNvSpPr>
            <a:spLocks noGrp="1"/>
          </p:cNvSpPr>
          <p:nvPr>
            <p:ph idx="1"/>
          </p:nvPr>
        </p:nvSpPr>
        <p:spPr>
          <a:xfrm>
            <a:off x="633984" y="946404"/>
            <a:ext cx="6902196" cy="2894076"/>
          </a:xfrm>
        </p:spPr>
        <p:txBody>
          <a:bodyPr>
            <a:noAutofit/>
          </a:bodyPr>
          <a:lstStyle/>
          <a:p>
            <a:r>
              <a:rPr lang="en-US" sz="2000" b="1" dirty="0" smtClean="0"/>
              <a:t>Identify </a:t>
            </a:r>
            <a:r>
              <a:rPr lang="en-US" sz="2000" dirty="0"/>
              <a:t>the focus and goals of individual behavior within organizations.</a:t>
            </a:r>
          </a:p>
          <a:p>
            <a:r>
              <a:rPr lang="en-US" sz="2000" b="1" dirty="0" smtClean="0"/>
              <a:t>Explain</a:t>
            </a:r>
            <a:r>
              <a:rPr lang="en-US" sz="2000" dirty="0" smtClean="0"/>
              <a:t> </a:t>
            </a:r>
            <a:r>
              <a:rPr lang="en-US" sz="2000" dirty="0"/>
              <a:t>the role that attitudes play in job performance.</a:t>
            </a:r>
          </a:p>
          <a:p>
            <a:r>
              <a:rPr lang="en-US" sz="2000" b="1" dirty="0" smtClean="0"/>
              <a:t>Describe </a:t>
            </a:r>
            <a:r>
              <a:rPr lang="en-US" sz="2000" dirty="0"/>
              <a:t>different</a:t>
            </a:r>
            <a:r>
              <a:rPr lang="en-US" sz="2000" b="1" dirty="0"/>
              <a:t> </a:t>
            </a:r>
            <a:r>
              <a:rPr lang="en-US" sz="2000" dirty="0"/>
              <a:t>personality theories.</a:t>
            </a:r>
          </a:p>
          <a:p>
            <a:r>
              <a:rPr lang="en-US" sz="2000" b="1" dirty="0" smtClean="0"/>
              <a:t>Describe</a:t>
            </a:r>
            <a:r>
              <a:rPr lang="en-US" sz="2000" dirty="0" smtClean="0"/>
              <a:t> </a:t>
            </a:r>
            <a:r>
              <a:rPr lang="en-US" sz="2000" dirty="0"/>
              <a:t>perception and the factors that influence it.</a:t>
            </a:r>
          </a:p>
          <a:p>
            <a:r>
              <a:rPr lang="en-US" sz="2000" b="1" dirty="0" smtClean="0"/>
              <a:t>Discuss </a:t>
            </a:r>
            <a:r>
              <a:rPr lang="en-US" sz="2000" dirty="0"/>
              <a:t>learning theories and their relevance in shaping behavior.</a:t>
            </a:r>
          </a:p>
        </p:txBody>
      </p:sp>
    </p:spTree>
    <p:extLst>
      <p:ext uri="{BB962C8B-B14F-4D97-AF65-F5344CB8AC3E}">
        <p14:creationId xmlns:p14="http://schemas.microsoft.com/office/powerpoint/2010/main" val="27808007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864" y="95251"/>
            <a:ext cx="6169152" cy="435611"/>
          </a:xfrm>
        </p:spPr>
        <p:txBody>
          <a:bodyPr>
            <a:normAutofit fontScale="90000"/>
          </a:bodyPr>
          <a:lstStyle/>
          <a:p>
            <a:r>
              <a:rPr lang="en-US" dirty="0"/>
              <a:t>Focus and Goals of Organizational Behavior</a:t>
            </a:r>
          </a:p>
        </p:txBody>
      </p:sp>
      <p:sp>
        <p:nvSpPr>
          <p:cNvPr id="3" name="Content Placeholder 2"/>
          <p:cNvSpPr>
            <a:spLocks noGrp="1"/>
          </p:cNvSpPr>
          <p:nvPr>
            <p:ph idx="1"/>
          </p:nvPr>
        </p:nvSpPr>
        <p:spPr>
          <a:xfrm>
            <a:off x="816864" y="800100"/>
            <a:ext cx="6841236" cy="3564636"/>
          </a:xfrm>
        </p:spPr>
        <p:txBody>
          <a:bodyPr>
            <a:normAutofit/>
          </a:bodyPr>
          <a:lstStyle/>
          <a:p>
            <a:r>
              <a:rPr lang="en-US" sz="2000" b="1" dirty="0"/>
              <a:t>Behavior</a:t>
            </a:r>
            <a:r>
              <a:rPr lang="en-US" sz="2000" dirty="0"/>
              <a:t>: the actions of people</a:t>
            </a:r>
          </a:p>
          <a:p>
            <a:r>
              <a:rPr lang="en-US" sz="2000" b="1" dirty="0"/>
              <a:t>Organizational behavior</a:t>
            </a:r>
            <a:r>
              <a:rPr lang="en-US" sz="2000" dirty="0"/>
              <a:t>: the study of the actions of people at </a:t>
            </a:r>
            <a:r>
              <a:rPr lang="en-US" sz="2000" dirty="0" smtClean="0"/>
              <a:t>work</a:t>
            </a:r>
          </a:p>
          <a:p>
            <a:r>
              <a:rPr lang="en-US" sz="2000" dirty="0">
                <a:cs typeface="Arial" charset="0"/>
              </a:rPr>
              <a:t>Managers need good people skills. </a:t>
            </a:r>
            <a:endParaRPr lang="en-US" sz="2000" dirty="0" smtClean="0">
              <a:cs typeface="Arial" charset="0"/>
            </a:endParaRPr>
          </a:p>
          <a:p>
            <a:r>
              <a:rPr lang="en-US" sz="2000" dirty="0" smtClean="0">
                <a:cs typeface="Arial" charset="0"/>
              </a:rPr>
              <a:t>The </a:t>
            </a:r>
            <a:r>
              <a:rPr lang="en-US" sz="2000" dirty="0">
                <a:cs typeface="Arial" charset="0"/>
              </a:rPr>
              <a:t>actions of people—</a:t>
            </a:r>
            <a:r>
              <a:rPr lang="en-US" sz="2000" b="1" dirty="0">
                <a:cs typeface="Arial" charset="0"/>
              </a:rPr>
              <a:t>organizational behavior </a:t>
            </a:r>
            <a:r>
              <a:rPr lang="en-US" sz="2000" dirty="0">
                <a:cs typeface="Arial" charset="0"/>
              </a:rPr>
              <a:t>is the study of the actions of people at </a:t>
            </a:r>
            <a:r>
              <a:rPr lang="en-US" sz="2000" dirty="0" smtClean="0">
                <a:cs typeface="Arial" charset="0"/>
              </a:rPr>
              <a:t>work</a:t>
            </a:r>
            <a:r>
              <a:rPr lang="en-US" sz="2000" dirty="0">
                <a:cs typeface="Arial" charset="0"/>
              </a:rPr>
              <a:t> </a:t>
            </a:r>
            <a:r>
              <a:rPr lang="en-US" sz="2000" dirty="0" smtClean="0">
                <a:cs typeface="Arial" charset="0"/>
              </a:rPr>
              <a:t>irrespective of their skills and roles</a:t>
            </a:r>
            <a:endParaRPr lang="en-US" sz="2000" dirty="0"/>
          </a:p>
        </p:txBody>
      </p:sp>
    </p:spTree>
    <p:extLst>
      <p:ext uri="{BB962C8B-B14F-4D97-AF65-F5344CB8AC3E}">
        <p14:creationId xmlns:p14="http://schemas.microsoft.com/office/powerpoint/2010/main" val="14965305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056" y="198882"/>
            <a:ext cx="6829044" cy="400050"/>
          </a:xfrm>
        </p:spPr>
        <p:txBody>
          <a:bodyPr>
            <a:normAutofit fontScale="90000"/>
          </a:bodyPr>
          <a:lstStyle/>
          <a:p>
            <a:r>
              <a:rPr lang="en-US" sz="2100" dirty="0" smtClean="0"/>
              <a:t>“</a:t>
            </a:r>
            <a:r>
              <a:rPr lang="en-US" sz="2100" dirty="0"/>
              <a:t>Organization as an Iceberg” Metaphor</a:t>
            </a:r>
          </a:p>
        </p:txBody>
      </p:sp>
      <p:pic>
        <p:nvPicPr>
          <p:cNvPr id="7" name="Picture 3" descr="An illustration shows the “Organization” as an iceberg floating on water.&#10;Long description is available in notes,&#10;press F6">
            <a:extLst>
              <a:ext uri="{FF2B5EF4-FFF2-40B4-BE49-F238E27FC236}">
                <a16:creationId xmlns="" xmlns:a16="http://schemas.microsoft.com/office/drawing/2014/main" id="{E1BD8951-A255-4110-AD6D-4873969AE2CC}"/>
              </a:ext>
            </a:extLst>
          </p:cNvPr>
          <p:cNvPicPr>
            <a:picLocks noGrp="1" noChangeAspect="1" noChangeArrowheads="1"/>
          </p:cNvPicPr>
          <p:nvPr>
            <p:ph type="pic" sz="quarter" idx="14"/>
          </p:nvPr>
        </p:nvPicPr>
        <p:blipFill>
          <a:blip r:embed="rId3" cstate="print"/>
          <a:stretch>
            <a:fillRect/>
          </a:stretch>
        </p:blipFill>
        <p:spPr bwMode="auto">
          <a:xfrm>
            <a:off x="2737969" y="598933"/>
            <a:ext cx="5482451" cy="4233672"/>
          </a:xfrm>
          <a:prstGeom prst="rect">
            <a:avLst/>
          </a:prstGeom>
        </p:spPr>
      </p:pic>
      <p:sp>
        <p:nvSpPr>
          <p:cNvPr id="5" name="Content Placeholder 4">
            <a:extLst>
              <a:ext uri="{FF2B5EF4-FFF2-40B4-BE49-F238E27FC236}">
                <a16:creationId xmlns="" xmlns:a16="http://schemas.microsoft.com/office/drawing/2014/main" id="{5F416A57-1BF9-4625-82B3-6734F43BA7A8}"/>
              </a:ext>
            </a:extLst>
          </p:cNvPr>
          <p:cNvSpPr>
            <a:spLocks noGrp="1"/>
          </p:cNvSpPr>
          <p:nvPr>
            <p:ph sz="quarter" idx="15"/>
          </p:nvPr>
        </p:nvSpPr>
        <p:spPr>
          <a:xfrm>
            <a:off x="0" y="893826"/>
            <a:ext cx="2861414" cy="1495806"/>
          </a:xfrm>
        </p:spPr>
        <p:txBody>
          <a:bodyPr>
            <a:normAutofit/>
          </a:bodyPr>
          <a:lstStyle/>
          <a:p>
            <a:pPr marL="0" indent="0">
              <a:buNone/>
            </a:pPr>
            <a:r>
              <a:rPr lang="en-US" sz="1800" b="1" dirty="0" smtClean="0"/>
              <a:t>Figure</a:t>
            </a:r>
            <a:r>
              <a:rPr lang="en-US" sz="1800" b="1" dirty="0" smtClean="0"/>
              <a:t> </a:t>
            </a:r>
            <a:r>
              <a:rPr lang="en-US" sz="1800" dirty="0"/>
              <a:t>shows that like an iceberg, </a:t>
            </a:r>
            <a:r>
              <a:rPr lang="en-US" sz="1800" spc="-150" dirty="0"/>
              <a:t>O </a:t>
            </a:r>
            <a:r>
              <a:rPr lang="en-US" sz="1800" dirty="0"/>
              <a:t>B has a small visible dimension and a much larger hidden portion.</a:t>
            </a:r>
          </a:p>
        </p:txBody>
      </p:sp>
    </p:spTree>
    <p:extLst>
      <p:ext uri="{BB962C8B-B14F-4D97-AF65-F5344CB8AC3E}">
        <p14:creationId xmlns:p14="http://schemas.microsoft.com/office/powerpoint/2010/main" val="22761013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328" y="534163"/>
            <a:ext cx="5230368" cy="435611"/>
          </a:xfrm>
        </p:spPr>
        <p:txBody>
          <a:bodyPr>
            <a:normAutofit fontScale="90000"/>
          </a:bodyPr>
          <a:lstStyle/>
          <a:p>
            <a:r>
              <a:rPr lang="en-US" dirty="0"/>
              <a:t>Focus of Organizational Behavior</a:t>
            </a:r>
          </a:p>
        </p:txBody>
      </p:sp>
      <p:sp>
        <p:nvSpPr>
          <p:cNvPr id="3" name="Content Placeholder 2"/>
          <p:cNvSpPr>
            <a:spLocks noGrp="1"/>
          </p:cNvSpPr>
          <p:nvPr>
            <p:ph idx="1"/>
          </p:nvPr>
        </p:nvSpPr>
        <p:spPr>
          <a:xfrm>
            <a:off x="719328" y="1312164"/>
            <a:ext cx="6938772" cy="3198876"/>
          </a:xfrm>
        </p:spPr>
        <p:txBody>
          <a:bodyPr>
            <a:normAutofit/>
          </a:bodyPr>
          <a:lstStyle/>
          <a:p>
            <a:r>
              <a:rPr lang="en-US" sz="2000" dirty="0"/>
              <a:t>Individual </a:t>
            </a:r>
            <a:r>
              <a:rPr lang="en-US" sz="2000" dirty="0" smtClean="0"/>
              <a:t>behavior</a:t>
            </a:r>
          </a:p>
          <a:p>
            <a:pPr lvl="1"/>
            <a:r>
              <a:rPr lang="en-US" sz="2000" dirty="0" smtClean="0">
                <a:cs typeface="Arial" charset="0"/>
              </a:rPr>
              <a:t>attitudes</a:t>
            </a:r>
            <a:r>
              <a:rPr lang="en-US" sz="2000" dirty="0">
                <a:cs typeface="Arial" charset="0"/>
              </a:rPr>
              <a:t>, personality, perception, learning, and motivation</a:t>
            </a:r>
            <a:endParaRPr lang="en-US" sz="2000" dirty="0"/>
          </a:p>
          <a:p>
            <a:r>
              <a:rPr lang="en-US" sz="2000" dirty="0"/>
              <a:t>Group </a:t>
            </a:r>
            <a:r>
              <a:rPr lang="en-US" sz="2000" dirty="0" smtClean="0"/>
              <a:t>behavior</a:t>
            </a:r>
          </a:p>
          <a:p>
            <a:pPr lvl="1"/>
            <a:r>
              <a:rPr lang="en-US" sz="2000" dirty="0">
                <a:cs typeface="Arial" charset="0"/>
              </a:rPr>
              <a:t>norms, roles, team building, leadership, and conflict</a:t>
            </a:r>
            <a:endParaRPr lang="en-US" sz="2000" dirty="0"/>
          </a:p>
          <a:p>
            <a:r>
              <a:rPr lang="en-US" sz="2000" dirty="0"/>
              <a:t>Organizational </a:t>
            </a:r>
            <a:r>
              <a:rPr lang="en-US" sz="2000" dirty="0" smtClean="0"/>
              <a:t>aspects</a:t>
            </a:r>
          </a:p>
          <a:p>
            <a:pPr lvl="1"/>
            <a:r>
              <a:rPr lang="en-US" sz="2000" dirty="0">
                <a:cs typeface="Arial" charset="0"/>
              </a:rPr>
              <a:t>structure, culture, and human resource policies and practices</a:t>
            </a:r>
            <a:endParaRPr lang="en-US" sz="2000" dirty="0" smtClean="0"/>
          </a:p>
          <a:p>
            <a:pPr lvl="1"/>
            <a:endParaRPr lang="en-US" sz="2000" dirty="0"/>
          </a:p>
        </p:txBody>
      </p:sp>
    </p:spTree>
    <p:extLst>
      <p:ext uri="{BB962C8B-B14F-4D97-AF65-F5344CB8AC3E}">
        <p14:creationId xmlns:p14="http://schemas.microsoft.com/office/powerpoint/2010/main" val="1401168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188" y="452639"/>
            <a:ext cx="6172200" cy="355839"/>
          </a:xfrm>
        </p:spPr>
        <p:txBody>
          <a:bodyPr>
            <a:normAutofit fontScale="90000"/>
          </a:bodyPr>
          <a:lstStyle/>
          <a:p>
            <a:r>
              <a:rPr lang="en-US" dirty="0"/>
              <a:t>Goals of Organizational </a:t>
            </a:r>
            <a:r>
              <a:rPr lang="en-US" dirty="0" smtClean="0"/>
              <a:t>Behavior</a:t>
            </a:r>
            <a:endParaRPr lang="en-US" sz="1350" dirty="0"/>
          </a:p>
        </p:txBody>
      </p:sp>
      <p:sp>
        <p:nvSpPr>
          <p:cNvPr id="3" name="Content Placeholder 2"/>
          <p:cNvSpPr>
            <a:spLocks noGrp="1"/>
          </p:cNvSpPr>
          <p:nvPr>
            <p:ph idx="1"/>
          </p:nvPr>
        </p:nvSpPr>
        <p:spPr>
          <a:xfrm>
            <a:off x="742188" y="1094986"/>
            <a:ext cx="6707124" cy="1828800"/>
          </a:xfrm>
        </p:spPr>
        <p:txBody>
          <a:bodyPr>
            <a:normAutofit lnSpcReduction="10000"/>
          </a:bodyPr>
          <a:lstStyle/>
          <a:p>
            <a:r>
              <a:rPr lang="en-US" sz="1800" dirty="0">
                <a:cs typeface="Arial" charset="0"/>
              </a:rPr>
              <a:t>The goals of OB are to </a:t>
            </a:r>
            <a:r>
              <a:rPr lang="en-US" sz="1800" i="1" dirty="0">
                <a:cs typeface="Arial" charset="0"/>
              </a:rPr>
              <a:t>explain, predict, </a:t>
            </a:r>
            <a:r>
              <a:rPr lang="en-US" sz="1800" dirty="0">
                <a:cs typeface="Arial" charset="0"/>
              </a:rPr>
              <a:t>and </a:t>
            </a:r>
            <a:r>
              <a:rPr lang="en-US" sz="1800" i="1" dirty="0">
                <a:cs typeface="Arial" charset="0"/>
              </a:rPr>
              <a:t>influence </a:t>
            </a:r>
            <a:r>
              <a:rPr lang="en-US" sz="1800" dirty="0" smtClean="0">
                <a:cs typeface="Arial" charset="0"/>
              </a:rPr>
              <a:t>behavior</a:t>
            </a:r>
          </a:p>
          <a:p>
            <a:r>
              <a:rPr lang="en-US" sz="1800" dirty="0" smtClean="0">
                <a:cs typeface="Arial" charset="0"/>
              </a:rPr>
              <a:t>Managers </a:t>
            </a:r>
            <a:r>
              <a:rPr lang="en-US" sz="1800" dirty="0">
                <a:cs typeface="Arial" charset="0"/>
              </a:rPr>
              <a:t>need to be able to </a:t>
            </a:r>
            <a:r>
              <a:rPr lang="en-US" sz="1800" i="1" dirty="0">
                <a:cs typeface="Arial" charset="0"/>
              </a:rPr>
              <a:t>explain </a:t>
            </a:r>
            <a:r>
              <a:rPr lang="en-US" sz="1800" dirty="0">
                <a:cs typeface="Arial" charset="0"/>
              </a:rPr>
              <a:t>why employees engage in some behaviors rather than others, </a:t>
            </a:r>
            <a:r>
              <a:rPr lang="en-US" sz="1800" i="1" dirty="0">
                <a:cs typeface="Arial" charset="0"/>
              </a:rPr>
              <a:t>predict </a:t>
            </a:r>
            <a:r>
              <a:rPr lang="en-US" sz="1800" dirty="0">
                <a:cs typeface="Arial" charset="0"/>
              </a:rPr>
              <a:t>how employees will respond to various actions and decisions, and </a:t>
            </a:r>
            <a:r>
              <a:rPr lang="en-US" sz="1800" i="1" dirty="0">
                <a:cs typeface="Arial" charset="0"/>
              </a:rPr>
              <a:t>influence </a:t>
            </a:r>
            <a:r>
              <a:rPr lang="en-US" sz="1800" dirty="0">
                <a:cs typeface="Arial" charset="0"/>
              </a:rPr>
              <a:t>how employees </a:t>
            </a:r>
            <a:r>
              <a:rPr lang="en-US" sz="1800" dirty="0" smtClean="0">
                <a:cs typeface="Arial" charset="0"/>
              </a:rPr>
              <a:t>behave</a:t>
            </a:r>
            <a:endParaRPr lang="en-US" sz="1800" dirty="0">
              <a:cs typeface="Arial" charset="0"/>
            </a:endParaRPr>
          </a:p>
        </p:txBody>
      </p:sp>
      <p:sp>
        <p:nvSpPr>
          <p:cNvPr id="4" name="Content Placeholder 2"/>
          <p:cNvSpPr txBox="1">
            <a:spLocks/>
          </p:cNvSpPr>
          <p:nvPr/>
        </p:nvSpPr>
        <p:spPr>
          <a:xfrm>
            <a:off x="742188" y="3140964"/>
            <a:ext cx="6707124" cy="1828800"/>
          </a:xfrm>
          <a:prstGeom prst="rect">
            <a:avLst/>
          </a:prstGeom>
        </p:spPr>
        <p:txBody>
          <a:bodyPr vert="horz" lIns="91440" tIns="45720" rIns="91440" bIns="45720" rtlCol="0">
            <a:norm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a:lstStyle>
          <a:p>
            <a:r>
              <a:rPr lang="en-US" sz="1800" b="1" dirty="0" smtClean="0"/>
              <a:t>Employee</a:t>
            </a:r>
            <a:r>
              <a:rPr lang="en-US" sz="1800" dirty="0" smtClean="0"/>
              <a:t> </a:t>
            </a:r>
            <a:r>
              <a:rPr lang="en-US" sz="1800" b="1" dirty="0" smtClean="0"/>
              <a:t>productivity</a:t>
            </a:r>
            <a:r>
              <a:rPr lang="en-US" sz="1800" dirty="0" smtClean="0"/>
              <a:t>: a performance measure of both efficiency and effectiveness</a:t>
            </a:r>
          </a:p>
          <a:p>
            <a:r>
              <a:rPr lang="en-US" sz="1800" b="1" dirty="0" smtClean="0"/>
              <a:t>Absenteeism</a:t>
            </a:r>
            <a:r>
              <a:rPr lang="en-US" sz="1800" dirty="0" smtClean="0"/>
              <a:t>: the failure to show up for work</a:t>
            </a:r>
          </a:p>
          <a:p>
            <a:r>
              <a:rPr lang="en-US" sz="1800" b="1" dirty="0" smtClean="0"/>
              <a:t>Turnover</a:t>
            </a:r>
            <a:r>
              <a:rPr lang="en-US" sz="1800" dirty="0" smtClean="0"/>
              <a:t>: the voluntary and involuntary permanent withdrawal from an organization</a:t>
            </a:r>
            <a:endParaRPr lang="en-US" sz="1800" dirty="0"/>
          </a:p>
        </p:txBody>
      </p:sp>
    </p:spTree>
    <p:extLst>
      <p:ext uri="{BB962C8B-B14F-4D97-AF65-F5344CB8AC3E}">
        <p14:creationId xmlns:p14="http://schemas.microsoft.com/office/powerpoint/2010/main" val="34151392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512" y="364489"/>
            <a:ext cx="6609588" cy="435611"/>
          </a:xfrm>
        </p:spPr>
        <p:txBody>
          <a:bodyPr>
            <a:normAutofit fontScale="90000"/>
          </a:bodyPr>
          <a:lstStyle/>
          <a:p>
            <a:r>
              <a:rPr lang="en-US" dirty="0"/>
              <a:t>Goals of Organizational </a:t>
            </a:r>
            <a:r>
              <a:rPr lang="en-US" dirty="0" smtClean="0"/>
              <a:t>Behavior</a:t>
            </a:r>
            <a:endParaRPr lang="en-US" sz="1350" dirty="0"/>
          </a:p>
        </p:txBody>
      </p:sp>
      <p:sp>
        <p:nvSpPr>
          <p:cNvPr id="3" name="Content Placeholder 2"/>
          <p:cNvSpPr>
            <a:spLocks noGrp="1"/>
          </p:cNvSpPr>
          <p:nvPr>
            <p:ph idx="1"/>
          </p:nvPr>
        </p:nvSpPr>
        <p:spPr>
          <a:xfrm>
            <a:off x="1048512" y="982980"/>
            <a:ext cx="6609588" cy="3528060"/>
          </a:xfrm>
        </p:spPr>
        <p:txBody>
          <a:bodyPr>
            <a:normAutofit/>
          </a:bodyPr>
          <a:lstStyle/>
          <a:p>
            <a:pPr>
              <a:spcBef>
                <a:spcPts val="150"/>
              </a:spcBef>
            </a:pPr>
            <a:r>
              <a:rPr lang="en-US" sz="2000" b="1" dirty="0"/>
              <a:t>Organizational citizenship behavior (</a:t>
            </a:r>
            <a:r>
              <a:rPr lang="en-US" sz="2000" b="1" spc="-225" dirty="0"/>
              <a:t>O C </a:t>
            </a:r>
            <a:r>
              <a:rPr lang="en-US" sz="2000" b="1" dirty="0"/>
              <a:t>B)</a:t>
            </a:r>
            <a:r>
              <a:rPr lang="en-US" sz="2000" dirty="0"/>
              <a:t>: discretionary behavior that is not part of an employee’s formal job requirements, but which promotes the effective functioning of the organization</a:t>
            </a:r>
          </a:p>
          <a:p>
            <a:pPr>
              <a:spcBef>
                <a:spcPts val="150"/>
              </a:spcBef>
            </a:pPr>
            <a:r>
              <a:rPr lang="en-US" sz="2000" b="1" dirty="0"/>
              <a:t>Job satisfaction</a:t>
            </a:r>
            <a:r>
              <a:rPr lang="en-US" sz="2000" dirty="0"/>
              <a:t>: an employee’s general attitude toward his or her job</a:t>
            </a:r>
          </a:p>
          <a:p>
            <a:pPr>
              <a:spcBef>
                <a:spcPts val="150"/>
              </a:spcBef>
            </a:pPr>
            <a:r>
              <a:rPr lang="en-US" sz="2000" b="1" dirty="0"/>
              <a:t>Counterproductive workplace behavior</a:t>
            </a:r>
            <a:r>
              <a:rPr lang="en-US" sz="2000" dirty="0"/>
              <a:t>: any intentional employee behavior that is potentially damaging to the organization or to individuals within the organization</a:t>
            </a:r>
          </a:p>
        </p:txBody>
      </p:sp>
    </p:spTree>
    <p:extLst>
      <p:ext uri="{BB962C8B-B14F-4D97-AF65-F5344CB8AC3E}">
        <p14:creationId xmlns:p14="http://schemas.microsoft.com/office/powerpoint/2010/main" val="12557821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896" y="437641"/>
            <a:ext cx="6378702" cy="435611"/>
          </a:xfrm>
        </p:spPr>
        <p:txBody>
          <a:bodyPr>
            <a:normAutofit fontScale="90000"/>
          </a:bodyPr>
          <a:lstStyle/>
          <a:p>
            <a:r>
              <a:rPr lang="en-US" dirty="0"/>
              <a:t>Attitudes and Job Performance</a:t>
            </a:r>
          </a:p>
        </p:txBody>
      </p:sp>
      <p:sp>
        <p:nvSpPr>
          <p:cNvPr id="3" name="Content Placeholder 2"/>
          <p:cNvSpPr>
            <a:spLocks noGrp="1"/>
          </p:cNvSpPr>
          <p:nvPr>
            <p:ph idx="1"/>
          </p:nvPr>
        </p:nvSpPr>
        <p:spPr>
          <a:xfrm>
            <a:off x="1072896" y="1312164"/>
            <a:ext cx="6585204" cy="1955292"/>
          </a:xfrm>
        </p:spPr>
        <p:txBody>
          <a:bodyPr>
            <a:normAutofit/>
          </a:bodyPr>
          <a:lstStyle/>
          <a:p>
            <a:r>
              <a:rPr lang="en-US" sz="2000" b="1" dirty="0"/>
              <a:t>Attitudes</a:t>
            </a:r>
            <a:r>
              <a:rPr lang="en-US" sz="2000" dirty="0"/>
              <a:t>: evaluative statements, either favorable or unfavorable, concerning objects, people, or events</a:t>
            </a:r>
          </a:p>
          <a:p>
            <a:r>
              <a:rPr lang="en-US" sz="2000" dirty="0"/>
              <a:t>Examples of statements that reflect an attitude are:</a:t>
            </a:r>
          </a:p>
          <a:p>
            <a:pPr lvl="1"/>
            <a:r>
              <a:rPr lang="en-US" sz="2000" dirty="0"/>
              <a:t>“I like my job”</a:t>
            </a:r>
          </a:p>
          <a:p>
            <a:pPr lvl="1"/>
            <a:r>
              <a:rPr lang="en-US" sz="2000" dirty="0"/>
              <a:t>“I don’t care for my boss”</a:t>
            </a:r>
          </a:p>
        </p:txBody>
      </p:sp>
    </p:spTree>
    <p:extLst>
      <p:ext uri="{BB962C8B-B14F-4D97-AF65-F5344CB8AC3E}">
        <p14:creationId xmlns:p14="http://schemas.microsoft.com/office/powerpoint/2010/main" val="30503415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632" y="596137"/>
            <a:ext cx="6792468" cy="435611"/>
          </a:xfrm>
        </p:spPr>
        <p:txBody>
          <a:bodyPr>
            <a:normAutofit fontScale="90000"/>
          </a:bodyPr>
          <a:lstStyle/>
          <a:p>
            <a:r>
              <a:rPr lang="en-US" dirty="0"/>
              <a:t>Attitude Components</a:t>
            </a:r>
          </a:p>
        </p:txBody>
      </p:sp>
      <p:sp>
        <p:nvSpPr>
          <p:cNvPr id="3" name="Content Placeholder 2"/>
          <p:cNvSpPr>
            <a:spLocks noGrp="1"/>
          </p:cNvSpPr>
          <p:nvPr>
            <p:ph idx="1"/>
          </p:nvPr>
        </p:nvSpPr>
        <p:spPr>
          <a:xfrm>
            <a:off x="865632" y="1373124"/>
            <a:ext cx="6792468" cy="3308604"/>
          </a:xfrm>
        </p:spPr>
        <p:txBody>
          <a:bodyPr>
            <a:normAutofit/>
          </a:bodyPr>
          <a:lstStyle/>
          <a:p>
            <a:r>
              <a:rPr lang="en-US" sz="2000" b="1" dirty="0"/>
              <a:t>Cognitive component</a:t>
            </a:r>
            <a:r>
              <a:rPr lang="en-US" sz="2000" dirty="0"/>
              <a:t>: that part of an attitude that’s made up of the beliefs, opinions, knowledge, or information held by a person</a:t>
            </a:r>
          </a:p>
          <a:p>
            <a:r>
              <a:rPr lang="en-US" sz="2000" b="1" dirty="0"/>
              <a:t>Affective component</a:t>
            </a:r>
            <a:r>
              <a:rPr lang="en-US" sz="2000" dirty="0"/>
              <a:t>: that part of an attitude that’s the emotional or feeling part</a:t>
            </a:r>
          </a:p>
          <a:p>
            <a:r>
              <a:rPr lang="en-US" sz="2000" b="1" dirty="0"/>
              <a:t>Behavioral component</a:t>
            </a:r>
            <a:r>
              <a:rPr lang="en-US" sz="2000" dirty="0"/>
              <a:t>: that part of an attitude that refers to an intention to behave in a certain way toward someone or something</a:t>
            </a:r>
          </a:p>
        </p:txBody>
      </p:sp>
    </p:spTree>
    <p:extLst>
      <p:ext uri="{BB962C8B-B14F-4D97-AF65-F5344CB8AC3E}">
        <p14:creationId xmlns:p14="http://schemas.microsoft.com/office/powerpoint/2010/main" val="24836450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5044" y="180594"/>
            <a:ext cx="6172200" cy="355839"/>
          </a:xfrm>
        </p:spPr>
        <p:txBody>
          <a:bodyPr>
            <a:normAutofit fontScale="90000"/>
          </a:bodyPr>
          <a:lstStyle/>
          <a:p>
            <a:r>
              <a:rPr lang="en-US" dirty="0"/>
              <a:t>Job Satisfaction</a:t>
            </a:r>
          </a:p>
        </p:txBody>
      </p:sp>
      <p:sp>
        <p:nvSpPr>
          <p:cNvPr id="3" name="Content Placeholder 2"/>
          <p:cNvSpPr>
            <a:spLocks noGrp="1"/>
          </p:cNvSpPr>
          <p:nvPr>
            <p:ph idx="1"/>
          </p:nvPr>
        </p:nvSpPr>
        <p:spPr>
          <a:xfrm>
            <a:off x="1485900" y="800100"/>
            <a:ext cx="6172200" cy="3200400"/>
          </a:xfrm>
        </p:spPr>
        <p:txBody>
          <a:bodyPr>
            <a:normAutofit lnSpcReduction="10000"/>
          </a:bodyPr>
          <a:lstStyle/>
          <a:p>
            <a:r>
              <a:rPr lang="en-US" sz="1800" dirty="0"/>
              <a:t>High level of satisfaction = positive attitude;  Dissatisfaction = negative attitude</a:t>
            </a:r>
          </a:p>
          <a:p>
            <a:r>
              <a:rPr lang="en-US" sz="1800" dirty="0"/>
              <a:t>Linked to:</a:t>
            </a:r>
          </a:p>
          <a:p>
            <a:pPr lvl="1"/>
            <a:r>
              <a:rPr lang="en-US" sz="1800" dirty="0"/>
              <a:t>Productivity</a:t>
            </a:r>
          </a:p>
          <a:p>
            <a:pPr lvl="1"/>
            <a:r>
              <a:rPr lang="en-US" sz="1800" dirty="0"/>
              <a:t>Absenteeism</a:t>
            </a:r>
          </a:p>
          <a:p>
            <a:pPr lvl="1"/>
            <a:r>
              <a:rPr lang="en-US" sz="1800" dirty="0"/>
              <a:t>Turnover</a:t>
            </a:r>
          </a:p>
          <a:p>
            <a:pPr lvl="1"/>
            <a:r>
              <a:rPr lang="en-US" sz="1800" dirty="0"/>
              <a:t>Customer satisfaction</a:t>
            </a:r>
          </a:p>
          <a:p>
            <a:pPr lvl="1"/>
            <a:r>
              <a:rPr lang="en-US" sz="1800" dirty="0"/>
              <a:t>OCB</a:t>
            </a:r>
          </a:p>
          <a:p>
            <a:pPr lvl="1"/>
            <a:r>
              <a:rPr lang="en-US" sz="1800" dirty="0"/>
              <a:t>Counterproductive behavior</a:t>
            </a:r>
          </a:p>
        </p:txBody>
      </p:sp>
    </p:spTree>
    <p:extLst>
      <p:ext uri="{BB962C8B-B14F-4D97-AF65-F5344CB8AC3E}">
        <p14:creationId xmlns:p14="http://schemas.microsoft.com/office/powerpoint/2010/main" val="9989933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368" y="123444"/>
            <a:ext cx="7583424" cy="800100"/>
          </a:xfrm>
        </p:spPr>
        <p:txBody>
          <a:bodyPr>
            <a:normAutofit fontScale="90000"/>
          </a:bodyPr>
          <a:lstStyle/>
          <a:p>
            <a:r>
              <a:rPr lang="en-US" dirty="0"/>
              <a:t>Job Involvement and Organizational </a:t>
            </a:r>
            <a:r>
              <a:rPr lang="en-US" dirty="0" smtClean="0"/>
              <a:t>Commitment</a:t>
            </a:r>
            <a:endParaRPr lang="en-US" sz="1950" dirty="0"/>
          </a:p>
        </p:txBody>
      </p:sp>
      <p:sp>
        <p:nvSpPr>
          <p:cNvPr id="3" name="Content Placeholder 2"/>
          <p:cNvSpPr>
            <a:spLocks noGrp="1"/>
          </p:cNvSpPr>
          <p:nvPr>
            <p:ph idx="1"/>
          </p:nvPr>
        </p:nvSpPr>
        <p:spPr>
          <a:xfrm>
            <a:off x="963168" y="1143000"/>
            <a:ext cx="6694932" cy="3148584"/>
          </a:xfrm>
        </p:spPr>
        <p:txBody>
          <a:bodyPr>
            <a:noAutofit/>
          </a:bodyPr>
          <a:lstStyle/>
          <a:p>
            <a:r>
              <a:rPr lang="en-US" sz="2000" b="1" dirty="0"/>
              <a:t>Job involvement</a:t>
            </a:r>
            <a:r>
              <a:rPr lang="en-US" sz="2000" dirty="0"/>
              <a:t>: the degree to which an employee identifies with his or her job, actively participates in it, and considers his or her job performance to be important to self-worth</a:t>
            </a:r>
          </a:p>
          <a:p>
            <a:r>
              <a:rPr lang="en-US" sz="2000" b="1" dirty="0"/>
              <a:t>Organizational commitment</a:t>
            </a:r>
            <a:r>
              <a:rPr lang="en-US" sz="2000" dirty="0"/>
              <a:t>: the degree to which an employee identifies with a particular organization and its goals and wishes to maintain membership in that organization</a:t>
            </a:r>
          </a:p>
        </p:txBody>
      </p:sp>
      <p:sp>
        <p:nvSpPr>
          <p:cNvPr id="4" name="Content Placeholder 2"/>
          <p:cNvSpPr txBox="1">
            <a:spLocks/>
          </p:cNvSpPr>
          <p:nvPr/>
        </p:nvSpPr>
        <p:spPr>
          <a:xfrm>
            <a:off x="963168" y="3777234"/>
            <a:ext cx="6816852" cy="1028700"/>
          </a:xfrm>
          <a:prstGeom prst="rect">
            <a:avLst/>
          </a:prstGeom>
        </p:spPr>
        <p:txBody>
          <a:bodyPr vert="horz" lIns="91440" tIns="45720" rIns="91440" bIns="45720" rtlCol="0">
            <a:normAutofit/>
          </a:bodyPr>
          <a:lst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a:lstStyle>
          <a:p>
            <a:r>
              <a:rPr lang="en-US" sz="2000" b="1" smtClean="0"/>
              <a:t>Perceived organizational support</a:t>
            </a:r>
            <a:r>
              <a:rPr lang="en-US" sz="2000" smtClean="0"/>
              <a:t>: employees’ general belief that their organization values their contribution and cares about their well-being</a:t>
            </a:r>
            <a:endParaRPr lang="en-US" sz="2000" dirty="0"/>
          </a:p>
        </p:txBody>
      </p:sp>
    </p:spTree>
    <p:extLst>
      <p:ext uri="{BB962C8B-B14F-4D97-AF65-F5344CB8AC3E}">
        <p14:creationId xmlns:p14="http://schemas.microsoft.com/office/powerpoint/2010/main" val="40967775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3168" y="95251"/>
            <a:ext cx="6694932" cy="435611"/>
          </a:xfrm>
        </p:spPr>
        <p:txBody>
          <a:bodyPr>
            <a:normAutofit fontScale="90000"/>
          </a:bodyPr>
          <a:lstStyle/>
          <a:p>
            <a:r>
              <a:rPr lang="en-US" dirty="0"/>
              <a:t>Employee Engagement</a:t>
            </a:r>
          </a:p>
        </p:txBody>
      </p:sp>
      <p:sp>
        <p:nvSpPr>
          <p:cNvPr id="3" name="Content Placeholder 2"/>
          <p:cNvSpPr>
            <a:spLocks noGrp="1"/>
          </p:cNvSpPr>
          <p:nvPr>
            <p:ph idx="1"/>
          </p:nvPr>
        </p:nvSpPr>
        <p:spPr>
          <a:xfrm>
            <a:off x="963168" y="800100"/>
            <a:ext cx="6694932" cy="3906012"/>
          </a:xfrm>
        </p:spPr>
        <p:txBody>
          <a:bodyPr>
            <a:normAutofit/>
          </a:bodyPr>
          <a:lstStyle/>
          <a:p>
            <a:r>
              <a:rPr lang="en-US" sz="2000" b="1" dirty="0"/>
              <a:t>Employee engagement</a:t>
            </a:r>
            <a:r>
              <a:rPr lang="en-US" sz="2000" dirty="0"/>
              <a:t>: when employees are connected to, satisfied with, and enthusiastic about their jobs. Engagement is important because:</a:t>
            </a:r>
          </a:p>
          <a:p>
            <a:pPr lvl="1"/>
            <a:r>
              <a:rPr lang="en-US" sz="2000" dirty="0"/>
              <a:t>Highly engaged employees are passionate about and deeply connected to their work, and </a:t>
            </a:r>
          </a:p>
          <a:p>
            <a:pPr lvl="1"/>
            <a:r>
              <a:rPr lang="en-US" sz="2000" dirty="0"/>
              <a:t>disengaged employees have essentially “checked out” and don’t care. They show up for work, but have no energy or passion for it.</a:t>
            </a:r>
          </a:p>
        </p:txBody>
      </p:sp>
    </p:spTree>
    <p:extLst>
      <p:ext uri="{BB962C8B-B14F-4D97-AF65-F5344CB8AC3E}">
        <p14:creationId xmlns:p14="http://schemas.microsoft.com/office/powerpoint/2010/main" val="10708980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512" y="253747"/>
            <a:ext cx="6609588" cy="435611"/>
          </a:xfrm>
        </p:spPr>
        <p:txBody>
          <a:bodyPr>
            <a:normAutofit fontScale="90000"/>
          </a:bodyPr>
          <a:lstStyle/>
          <a:p>
            <a:r>
              <a:rPr lang="en-US" dirty="0"/>
              <a:t>Attitudes and Consistency</a:t>
            </a:r>
          </a:p>
        </p:txBody>
      </p:sp>
      <p:sp>
        <p:nvSpPr>
          <p:cNvPr id="3" name="Content Placeholder 2"/>
          <p:cNvSpPr>
            <a:spLocks noGrp="1"/>
          </p:cNvSpPr>
          <p:nvPr>
            <p:ph idx="1"/>
          </p:nvPr>
        </p:nvSpPr>
        <p:spPr>
          <a:xfrm>
            <a:off x="1048512" y="982980"/>
            <a:ext cx="6524244" cy="3211068"/>
          </a:xfrm>
        </p:spPr>
        <p:txBody>
          <a:bodyPr>
            <a:normAutofit/>
          </a:bodyPr>
          <a:lstStyle/>
          <a:p>
            <a:r>
              <a:rPr lang="en-US" sz="2000" dirty="0"/>
              <a:t>People generally seek consistency among their attitudes and</a:t>
            </a:r>
            <a:r>
              <a:rPr lang="en-US" sz="2000" i="1" dirty="0"/>
              <a:t> </a:t>
            </a:r>
            <a:r>
              <a:rPr lang="en-US" sz="2000" dirty="0"/>
              <a:t>between their attitudes and behavior; they try to reconcile differing attitudes and align their attitudes and behavior, so they appear rational and consistent</a:t>
            </a:r>
          </a:p>
          <a:p>
            <a:r>
              <a:rPr lang="en-US" sz="2000" dirty="0"/>
              <a:t>Cognitive dissonance theory introduced on the next slide sought to explain the relationship between attitudes and behavior </a:t>
            </a:r>
          </a:p>
        </p:txBody>
      </p:sp>
    </p:spTree>
    <p:extLst>
      <p:ext uri="{BB962C8B-B14F-4D97-AF65-F5344CB8AC3E}">
        <p14:creationId xmlns:p14="http://schemas.microsoft.com/office/powerpoint/2010/main" val="6163705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251"/>
            <a:ext cx="6172200" cy="435611"/>
          </a:xfrm>
        </p:spPr>
        <p:txBody>
          <a:bodyPr>
            <a:normAutofit fontScale="90000"/>
          </a:bodyPr>
          <a:lstStyle/>
          <a:p>
            <a:r>
              <a:rPr lang="en-US" dirty="0"/>
              <a:t>Cognitive Dissonance Theory</a:t>
            </a:r>
          </a:p>
        </p:txBody>
      </p:sp>
      <p:sp>
        <p:nvSpPr>
          <p:cNvPr id="3" name="Content Placeholder 2"/>
          <p:cNvSpPr>
            <a:spLocks noGrp="1"/>
          </p:cNvSpPr>
          <p:nvPr>
            <p:ph idx="1"/>
          </p:nvPr>
        </p:nvSpPr>
        <p:spPr>
          <a:xfrm>
            <a:off x="1485900" y="800100"/>
            <a:ext cx="6172200" cy="3543300"/>
          </a:xfrm>
        </p:spPr>
        <p:txBody>
          <a:bodyPr/>
          <a:lstStyle/>
          <a:p>
            <a:pPr marL="0" indent="0">
              <a:buNone/>
            </a:pPr>
            <a:r>
              <a:rPr lang="en-US" sz="1800" b="1" dirty="0"/>
              <a:t>Cognitive dissonance</a:t>
            </a:r>
            <a:r>
              <a:rPr lang="en-US" sz="1800" dirty="0"/>
              <a:t>: any incompatibility or inconsistency between attitudes or between behavior and attitudes</a:t>
            </a:r>
          </a:p>
          <a:p>
            <a:r>
              <a:rPr lang="en-US" sz="1800" dirty="0"/>
              <a:t>The theory proposes that how hard we’ll try to reduce dissonance is determined by three things: </a:t>
            </a:r>
          </a:p>
          <a:p>
            <a:r>
              <a:rPr lang="en-US" sz="1800" dirty="0"/>
              <a:t>(1) the importance of the factors creating the dissonance, </a:t>
            </a:r>
          </a:p>
          <a:p>
            <a:r>
              <a:rPr lang="en-US" sz="1800" dirty="0"/>
              <a:t>(2) the degree of influence the individual believes they have over those factors, and </a:t>
            </a:r>
          </a:p>
          <a:p>
            <a:r>
              <a:rPr lang="en-US" sz="1800" dirty="0"/>
              <a:t>(3) the rewards that may be involved in dissonance</a:t>
            </a:r>
          </a:p>
        </p:txBody>
      </p:sp>
    </p:spTree>
    <p:extLst>
      <p:ext uri="{BB962C8B-B14F-4D97-AF65-F5344CB8AC3E}">
        <p14:creationId xmlns:p14="http://schemas.microsoft.com/office/powerpoint/2010/main" val="38777104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619507"/>
            <a:ext cx="6172200" cy="435611"/>
          </a:xfrm>
        </p:spPr>
        <p:txBody>
          <a:bodyPr>
            <a:normAutofit fontScale="90000"/>
          </a:bodyPr>
          <a:lstStyle/>
          <a:p>
            <a:r>
              <a:rPr lang="en-US" dirty="0"/>
              <a:t>Assessing Attitudes</a:t>
            </a:r>
          </a:p>
        </p:txBody>
      </p:sp>
      <p:sp>
        <p:nvSpPr>
          <p:cNvPr id="3" name="Content Placeholder 2"/>
          <p:cNvSpPr>
            <a:spLocks noGrp="1"/>
          </p:cNvSpPr>
          <p:nvPr>
            <p:ph idx="1"/>
          </p:nvPr>
        </p:nvSpPr>
        <p:spPr>
          <a:xfrm>
            <a:off x="1485900" y="1470660"/>
            <a:ext cx="6172200" cy="2857500"/>
          </a:xfrm>
        </p:spPr>
        <p:txBody>
          <a:bodyPr/>
          <a:lstStyle/>
          <a:p>
            <a:r>
              <a:rPr lang="en-US" sz="1800" b="1" dirty="0"/>
              <a:t>Attitude surveys</a:t>
            </a:r>
            <a:r>
              <a:rPr lang="en-US" sz="1800" dirty="0"/>
              <a:t>: surveys that elicit responses from employees through questions about how they feel about their jobs, work groups, supervisors, or the organization</a:t>
            </a:r>
          </a:p>
          <a:p>
            <a:r>
              <a:rPr lang="en-US" sz="1800" b="1" dirty="0"/>
              <a:t>Pulse survey</a:t>
            </a:r>
            <a:r>
              <a:rPr lang="en-US" sz="1800" dirty="0"/>
              <a:t>: a short employee attitude survey sent to employees at a regular interval, such as weekly</a:t>
            </a:r>
          </a:p>
        </p:txBody>
      </p:sp>
    </p:spTree>
    <p:extLst>
      <p:ext uri="{BB962C8B-B14F-4D97-AF65-F5344CB8AC3E}">
        <p14:creationId xmlns:p14="http://schemas.microsoft.com/office/powerpoint/2010/main" val="25240938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118384"/>
            <a:ext cx="6172200" cy="427028"/>
          </a:xfrm>
        </p:spPr>
        <p:txBody>
          <a:bodyPr anchor="ctr">
            <a:normAutofit fontScale="90000"/>
          </a:bodyPr>
          <a:lstStyle/>
          <a:p>
            <a:r>
              <a:rPr lang="en-US" sz="2400" dirty="0" smtClean="0"/>
              <a:t>Sample </a:t>
            </a:r>
            <a:r>
              <a:rPr lang="en-US" sz="2400" dirty="0"/>
              <a:t>Employee Attitude Survey</a:t>
            </a:r>
          </a:p>
        </p:txBody>
      </p:sp>
      <p:sp>
        <p:nvSpPr>
          <p:cNvPr id="3" name="Content Placeholder 2"/>
          <p:cNvSpPr>
            <a:spLocks noGrp="1"/>
          </p:cNvSpPr>
          <p:nvPr>
            <p:ph idx="1"/>
          </p:nvPr>
        </p:nvSpPr>
        <p:spPr>
          <a:xfrm>
            <a:off x="1194816" y="791941"/>
            <a:ext cx="6463284" cy="3780059"/>
          </a:xfrm>
        </p:spPr>
        <p:txBody>
          <a:bodyPr>
            <a:noAutofit/>
          </a:bodyPr>
          <a:lstStyle/>
          <a:p>
            <a:pPr marL="0" indent="0">
              <a:spcBef>
                <a:spcPts val="0"/>
              </a:spcBef>
              <a:buClrTx/>
              <a:buSzTx/>
              <a:buNone/>
              <a:defRPr/>
            </a:pPr>
            <a:r>
              <a:rPr lang="en-US" sz="2000" b="1" dirty="0"/>
              <a:t>Here are some sample statements from an employee attitude survey:</a:t>
            </a:r>
          </a:p>
          <a:p>
            <a:pPr>
              <a:spcBef>
                <a:spcPts val="450"/>
              </a:spcBef>
              <a:buClrTx/>
              <a:buSzTx/>
              <a:defRPr/>
            </a:pPr>
            <a:r>
              <a:rPr lang="en-US" sz="2000" dirty="0"/>
              <a:t>I have ample opportunities to use my skills/abilities in my job.</a:t>
            </a:r>
          </a:p>
          <a:p>
            <a:pPr>
              <a:spcBef>
                <a:spcPts val="450"/>
              </a:spcBef>
              <a:buClrTx/>
              <a:buSzTx/>
              <a:defRPr/>
            </a:pPr>
            <a:r>
              <a:rPr lang="en-US" sz="2000" dirty="0"/>
              <a:t>My manager has a good relationship with my work group.</a:t>
            </a:r>
          </a:p>
          <a:p>
            <a:pPr>
              <a:spcBef>
                <a:spcPts val="450"/>
              </a:spcBef>
              <a:buClrTx/>
              <a:buSzTx/>
              <a:defRPr/>
            </a:pPr>
            <a:r>
              <a:rPr lang="en-US" sz="2000" dirty="0"/>
              <a:t>My organization provides me professional development opportunities.</a:t>
            </a:r>
          </a:p>
          <a:p>
            <a:pPr>
              <a:spcBef>
                <a:spcPts val="450"/>
              </a:spcBef>
              <a:buClrTx/>
              <a:buSzTx/>
              <a:defRPr/>
            </a:pPr>
            <a:r>
              <a:rPr lang="en-US" sz="2000" dirty="0"/>
              <a:t>I am told if I’m doing good work or not.</a:t>
            </a:r>
          </a:p>
          <a:p>
            <a:pPr>
              <a:spcBef>
                <a:spcPts val="450"/>
              </a:spcBef>
              <a:buClrTx/>
              <a:buSzTx/>
              <a:defRPr/>
            </a:pPr>
            <a:r>
              <a:rPr lang="en-US" sz="2000" dirty="0"/>
              <a:t>I feel safe in my work environment.</a:t>
            </a:r>
          </a:p>
          <a:p>
            <a:pPr>
              <a:spcBef>
                <a:spcPts val="450"/>
              </a:spcBef>
              <a:buClrTx/>
              <a:buSzTx/>
              <a:defRPr/>
            </a:pPr>
            <a:r>
              <a:rPr lang="en-US" sz="2000" dirty="0"/>
              <a:t>My organization is a great place to work.</a:t>
            </a:r>
          </a:p>
        </p:txBody>
      </p:sp>
    </p:spTree>
    <p:extLst>
      <p:ext uri="{BB962C8B-B14F-4D97-AF65-F5344CB8AC3E}">
        <p14:creationId xmlns:p14="http://schemas.microsoft.com/office/powerpoint/2010/main" val="26568969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285750"/>
            <a:ext cx="6172200" cy="933450"/>
          </a:xfrm>
        </p:spPr>
        <p:txBody>
          <a:bodyPr/>
          <a:lstStyle/>
          <a:p>
            <a:r>
              <a:rPr lang="en-US" dirty="0"/>
              <a:t>Can Artificial Intelligence Help Improve Employee Attitudes?</a:t>
            </a:r>
          </a:p>
        </p:txBody>
      </p:sp>
      <p:sp>
        <p:nvSpPr>
          <p:cNvPr id="3" name="Content Placeholder 2"/>
          <p:cNvSpPr>
            <a:spLocks noGrp="1"/>
          </p:cNvSpPr>
          <p:nvPr>
            <p:ph idx="1"/>
          </p:nvPr>
        </p:nvSpPr>
        <p:spPr>
          <a:xfrm>
            <a:off x="1485900" y="1314450"/>
            <a:ext cx="6172200" cy="3314700"/>
          </a:xfrm>
        </p:spPr>
        <p:txBody>
          <a:bodyPr>
            <a:normAutofit/>
          </a:bodyPr>
          <a:lstStyle/>
          <a:p>
            <a:pPr marL="0" indent="0">
              <a:buNone/>
            </a:pPr>
            <a:r>
              <a:rPr lang="en-US" sz="2000" dirty="0"/>
              <a:t>AI can be used for the following tasks;</a:t>
            </a:r>
          </a:p>
          <a:p>
            <a:r>
              <a:rPr lang="en-US" sz="2000" dirty="0"/>
              <a:t>Tracking employee attitudes</a:t>
            </a:r>
          </a:p>
          <a:p>
            <a:r>
              <a:rPr lang="en-US" sz="2000" dirty="0"/>
              <a:t>Identifying opportunities to boost morale</a:t>
            </a:r>
          </a:p>
          <a:p>
            <a:r>
              <a:rPr lang="en-US" sz="2000" dirty="0"/>
              <a:t>Identifying opportunities to improve employee attitudes by changing work processes and automating tasks that workers may deem uninteresting</a:t>
            </a:r>
          </a:p>
          <a:p>
            <a:r>
              <a:rPr lang="en-US" sz="2000" dirty="0"/>
              <a:t>Making it easier for an employee to gather and organize information for a report</a:t>
            </a:r>
          </a:p>
        </p:txBody>
      </p:sp>
    </p:spTree>
    <p:extLst>
      <p:ext uri="{BB962C8B-B14F-4D97-AF65-F5344CB8AC3E}">
        <p14:creationId xmlns:p14="http://schemas.microsoft.com/office/powerpoint/2010/main" val="37729059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6172" y="461011"/>
            <a:ext cx="6172200" cy="435611"/>
          </a:xfrm>
        </p:spPr>
        <p:txBody>
          <a:bodyPr>
            <a:normAutofit fontScale="90000"/>
          </a:bodyPr>
          <a:lstStyle/>
          <a:p>
            <a:r>
              <a:rPr lang="en-US" dirty="0"/>
              <a:t>Implications for Managers</a:t>
            </a:r>
          </a:p>
        </p:txBody>
      </p:sp>
      <p:sp>
        <p:nvSpPr>
          <p:cNvPr id="3" name="Content Placeholder 2"/>
          <p:cNvSpPr>
            <a:spLocks noGrp="1"/>
          </p:cNvSpPr>
          <p:nvPr>
            <p:ph idx="1"/>
          </p:nvPr>
        </p:nvSpPr>
        <p:spPr>
          <a:xfrm>
            <a:off x="1278636" y="1214628"/>
            <a:ext cx="6172200" cy="3771900"/>
          </a:xfrm>
        </p:spPr>
        <p:txBody>
          <a:bodyPr>
            <a:normAutofit/>
          </a:bodyPr>
          <a:lstStyle/>
          <a:p>
            <a:pPr marL="0" indent="0">
              <a:buNone/>
            </a:pPr>
            <a:r>
              <a:rPr lang="en-US" sz="2000" dirty="0"/>
              <a:t>Managers should be interested in their employees’ attitudes because they influence behavior and organizational performance. </a:t>
            </a:r>
            <a:endParaRPr lang="en-US" sz="2000" dirty="0" smtClean="0"/>
          </a:p>
          <a:p>
            <a:pPr marL="0" indent="0">
              <a:buNone/>
            </a:pPr>
            <a:r>
              <a:rPr lang="en-US" sz="2000" dirty="0" smtClean="0"/>
              <a:t>For </a:t>
            </a:r>
            <a:r>
              <a:rPr lang="en-US" sz="2000" dirty="0"/>
              <a:t>example, satisfied and committed employees:</a:t>
            </a:r>
          </a:p>
          <a:p>
            <a:r>
              <a:rPr lang="en-US" sz="2000" dirty="0"/>
              <a:t>have lower rates of turnover and absenteeism</a:t>
            </a:r>
          </a:p>
          <a:p>
            <a:r>
              <a:rPr lang="en-US" sz="2000" dirty="0"/>
              <a:t>perform better on the job</a:t>
            </a:r>
          </a:p>
          <a:p>
            <a:endParaRPr lang="en-US" sz="2000" dirty="0"/>
          </a:p>
        </p:txBody>
      </p:sp>
    </p:spTree>
    <p:extLst>
      <p:ext uri="{BB962C8B-B14F-4D97-AF65-F5344CB8AC3E}">
        <p14:creationId xmlns:p14="http://schemas.microsoft.com/office/powerpoint/2010/main" val="33960982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251"/>
            <a:ext cx="6172200" cy="435611"/>
          </a:xfrm>
        </p:spPr>
        <p:txBody>
          <a:bodyPr>
            <a:normAutofit fontScale="90000"/>
          </a:bodyPr>
          <a:lstStyle/>
          <a:p>
            <a:r>
              <a:rPr lang="en-US" dirty="0"/>
              <a:t>Personality</a:t>
            </a:r>
          </a:p>
        </p:txBody>
      </p:sp>
      <p:sp>
        <p:nvSpPr>
          <p:cNvPr id="3" name="Content Placeholder 2"/>
          <p:cNvSpPr>
            <a:spLocks noGrp="1"/>
          </p:cNvSpPr>
          <p:nvPr>
            <p:ph idx="1"/>
          </p:nvPr>
        </p:nvSpPr>
        <p:spPr>
          <a:xfrm>
            <a:off x="1485900" y="800100"/>
            <a:ext cx="6172200" cy="3714750"/>
          </a:xfrm>
        </p:spPr>
        <p:txBody>
          <a:bodyPr>
            <a:normAutofit lnSpcReduction="10000"/>
          </a:bodyPr>
          <a:lstStyle/>
          <a:p>
            <a:r>
              <a:rPr lang="en-US" sz="1800" b="1" dirty="0"/>
              <a:t>Personality</a:t>
            </a:r>
            <a:r>
              <a:rPr lang="en-US" sz="1800" dirty="0"/>
              <a:t>: the unique combination of emotional, thought, and behavioral patterns that affect how a person reacts to situations and interacts with others</a:t>
            </a:r>
          </a:p>
          <a:p>
            <a:r>
              <a:rPr lang="en-US" sz="1800" dirty="0"/>
              <a:t>Someone’s personality is commonly described with terms such as;</a:t>
            </a:r>
          </a:p>
          <a:p>
            <a:pPr lvl="1"/>
            <a:r>
              <a:rPr lang="en-US" sz="1800" dirty="0"/>
              <a:t>Quiet</a:t>
            </a:r>
          </a:p>
          <a:p>
            <a:pPr lvl="1"/>
            <a:r>
              <a:rPr lang="en-US" sz="1800" dirty="0"/>
              <a:t>Loud</a:t>
            </a:r>
          </a:p>
          <a:p>
            <a:pPr lvl="1"/>
            <a:r>
              <a:rPr lang="en-US" sz="1800" dirty="0"/>
              <a:t>Passive</a:t>
            </a:r>
          </a:p>
          <a:p>
            <a:pPr lvl="1"/>
            <a:r>
              <a:rPr lang="en-US" sz="1800" dirty="0"/>
              <a:t>Aggressive</a:t>
            </a:r>
          </a:p>
          <a:p>
            <a:pPr lvl="1"/>
            <a:r>
              <a:rPr lang="en-US" sz="1800" dirty="0"/>
              <a:t>Ambitious  </a:t>
            </a:r>
          </a:p>
          <a:p>
            <a:pPr lvl="1"/>
            <a:r>
              <a:rPr lang="en-US" sz="1800" dirty="0"/>
              <a:t>Loyal </a:t>
            </a:r>
          </a:p>
        </p:txBody>
      </p:sp>
    </p:spTree>
    <p:extLst>
      <p:ext uri="{BB962C8B-B14F-4D97-AF65-F5344CB8AC3E}">
        <p14:creationId xmlns:p14="http://schemas.microsoft.com/office/powerpoint/2010/main" val="28472036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251"/>
            <a:ext cx="6172200" cy="435611"/>
          </a:xfrm>
        </p:spPr>
        <p:txBody>
          <a:bodyPr>
            <a:normAutofit fontScale="90000"/>
          </a:bodyPr>
          <a:lstStyle/>
          <a:p>
            <a:r>
              <a:rPr lang="en-US" dirty="0"/>
              <a:t>Additional Personality Insights </a:t>
            </a:r>
            <a:r>
              <a:rPr lang="en-US" sz="1350" dirty="0"/>
              <a:t>(1 of 2)</a:t>
            </a:r>
          </a:p>
        </p:txBody>
      </p:sp>
      <p:sp>
        <p:nvSpPr>
          <p:cNvPr id="3" name="Content Placeholder 2"/>
          <p:cNvSpPr>
            <a:spLocks noGrp="1"/>
          </p:cNvSpPr>
          <p:nvPr>
            <p:ph idx="1"/>
          </p:nvPr>
        </p:nvSpPr>
        <p:spPr>
          <a:xfrm>
            <a:off x="1485900" y="800100"/>
            <a:ext cx="6172200" cy="2686050"/>
          </a:xfrm>
        </p:spPr>
        <p:txBody>
          <a:bodyPr/>
          <a:lstStyle/>
          <a:p>
            <a:r>
              <a:rPr lang="en-US" sz="1800" b="1" dirty="0"/>
              <a:t>Locus of control</a:t>
            </a:r>
            <a:r>
              <a:rPr lang="en-US" sz="1800" dirty="0"/>
              <a:t>: a personality attribute that measures the degree to which people believe they control their own fate</a:t>
            </a:r>
          </a:p>
          <a:p>
            <a:r>
              <a:rPr lang="en-US" sz="1800" b="1" dirty="0"/>
              <a:t>Self-esteem</a:t>
            </a:r>
            <a:r>
              <a:rPr lang="en-US" sz="1800" dirty="0"/>
              <a:t>: an individual’s degree of like or dislike for himself or herself</a:t>
            </a:r>
          </a:p>
          <a:p>
            <a:r>
              <a:rPr lang="en-US" sz="1800" b="1" dirty="0"/>
              <a:t>Self-monitoring</a:t>
            </a:r>
            <a:r>
              <a:rPr lang="en-US" sz="1800" dirty="0"/>
              <a:t>: a personality trait that measures the ability to adjust behavior to external situational factors</a:t>
            </a:r>
          </a:p>
          <a:p>
            <a:endParaRPr lang="en-US" sz="1800" dirty="0"/>
          </a:p>
        </p:txBody>
      </p:sp>
    </p:spTree>
    <p:extLst>
      <p:ext uri="{BB962C8B-B14F-4D97-AF65-F5344CB8AC3E}">
        <p14:creationId xmlns:p14="http://schemas.microsoft.com/office/powerpoint/2010/main" val="16599312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251"/>
            <a:ext cx="6172200" cy="435611"/>
          </a:xfrm>
        </p:spPr>
        <p:txBody>
          <a:bodyPr>
            <a:normAutofit fontScale="90000"/>
          </a:bodyPr>
          <a:lstStyle/>
          <a:p>
            <a:r>
              <a:rPr lang="en-US" dirty="0"/>
              <a:t>Additional Personality Insights </a:t>
            </a:r>
            <a:r>
              <a:rPr lang="en-US" sz="1350" dirty="0"/>
              <a:t>(2 of 2)</a:t>
            </a:r>
            <a:endParaRPr lang="en-US" dirty="0"/>
          </a:p>
        </p:txBody>
      </p:sp>
      <p:sp>
        <p:nvSpPr>
          <p:cNvPr id="3" name="Content Placeholder 2"/>
          <p:cNvSpPr>
            <a:spLocks noGrp="1"/>
          </p:cNvSpPr>
          <p:nvPr>
            <p:ph idx="1"/>
          </p:nvPr>
        </p:nvSpPr>
        <p:spPr>
          <a:xfrm>
            <a:off x="1485900" y="800100"/>
            <a:ext cx="6172200" cy="1371600"/>
          </a:xfrm>
        </p:spPr>
        <p:txBody>
          <a:bodyPr/>
          <a:lstStyle/>
          <a:p>
            <a:r>
              <a:rPr lang="en-US" sz="1800" b="1" dirty="0"/>
              <a:t>Risk-Taking:</a:t>
            </a:r>
            <a:r>
              <a:rPr lang="en-US" sz="1800" dirty="0"/>
              <a:t> an individual’s willingness to take chances</a:t>
            </a:r>
          </a:p>
          <a:p>
            <a:r>
              <a:rPr lang="en-US" sz="1800" b="1" dirty="0"/>
              <a:t>Proactive personality</a:t>
            </a:r>
            <a:r>
              <a:rPr lang="en-US" sz="1800" dirty="0"/>
              <a:t>: a personality trait that describes individuals who are more prone to take actions to influence their environments</a:t>
            </a:r>
          </a:p>
        </p:txBody>
      </p:sp>
    </p:spTree>
    <p:extLst>
      <p:ext uri="{BB962C8B-B14F-4D97-AF65-F5344CB8AC3E}">
        <p14:creationId xmlns:p14="http://schemas.microsoft.com/office/powerpoint/2010/main" val="35768837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251"/>
            <a:ext cx="6172200" cy="435611"/>
          </a:xfrm>
        </p:spPr>
        <p:txBody>
          <a:bodyPr>
            <a:normAutofit fontScale="90000"/>
          </a:bodyPr>
          <a:lstStyle/>
          <a:p>
            <a:r>
              <a:rPr lang="en-US" dirty="0"/>
              <a:t>Personality Types in Different Cultures</a:t>
            </a:r>
          </a:p>
        </p:txBody>
      </p:sp>
      <p:sp>
        <p:nvSpPr>
          <p:cNvPr id="3" name="Content Placeholder 2"/>
          <p:cNvSpPr>
            <a:spLocks noGrp="1"/>
          </p:cNvSpPr>
          <p:nvPr>
            <p:ph idx="1"/>
          </p:nvPr>
        </p:nvSpPr>
        <p:spPr>
          <a:xfrm>
            <a:off x="1485900" y="800100"/>
            <a:ext cx="6172200" cy="2857500"/>
          </a:xfrm>
        </p:spPr>
        <p:txBody>
          <a:bodyPr/>
          <a:lstStyle/>
          <a:p>
            <a:r>
              <a:rPr lang="en-US" sz="1800" dirty="0"/>
              <a:t>No personality type is common for a given country, yet a country’s culture influences the </a:t>
            </a:r>
            <a:r>
              <a:rPr lang="en-US" sz="1800" b="1" dirty="0"/>
              <a:t>dominant</a:t>
            </a:r>
            <a:r>
              <a:rPr lang="en-US" sz="1800" i="1" dirty="0"/>
              <a:t> </a:t>
            </a:r>
            <a:r>
              <a:rPr lang="en-US" sz="1800" dirty="0"/>
              <a:t>personality characteristics of its people</a:t>
            </a:r>
          </a:p>
          <a:p>
            <a:r>
              <a:rPr lang="en-US" sz="1800" dirty="0"/>
              <a:t>The five personality factors studied in the Big Five Model appear in almost all cross-cultural studies</a:t>
            </a:r>
          </a:p>
        </p:txBody>
      </p:sp>
    </p:spTree>
    <p:extLst>
      <p:ext uri="{BB962C8B-B14F-4D97-AF65-F5344CB8AC3E}">
        <p14:creationId xmlns:p14="http://schemas.microsoft.com/office/powerpoint/2010/main" val="5588139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251"/>
            <a:ext cx="6172200" cy="435611"/>
          </a:xfrm>
        </p:spPr>
        <p:txBody>
          <a:bodyPr>
            <a:normAutofit fontScale="90000"/>
          </a:bodyPr>
          <a:lstStyle/>
          <a:p>
            <a:r>
              <a:rPr lang="en-US" dirty="0"/>
              <a:t>Emotions and Emotional Intelligence</a:t>
            </a:r>
          </a:p>
        </p:txBody>
      </p:sp>
      <p:sp>
        <p:nvSpPr>
          <p:cNvPr id="3" name="Content Placeholder 2"/>
          <p:cNvSpPr>
            <a:spLocks noGrp="1"/>
          </p:cNvSpPr>
          <p:nvPr>
            <p:ph idx="1"/>
          </p:nvPr>
        </p:nvSpPr>
        <p:spPr>
          <a:xfrm>
            <a:off x="1485900" y="800101"/>
            <a:ext cx="6172200" cy="1485899"/>
          </a:xfrm>
        </p:spPr>
        <p:txBody>
          <a:bodyPr/>
          <a:lstStyle/>
          <a:p>
            <a:r>
              <a:rPr lang="en-US" sz="1800" b="1" dirty="0"/>
              <a:t>Emotions</a:t>
            </a:r>
            <a:r>
              <a:rPr lang="en-US" sz="1800" dirty="0"/>
              <a:t>: intense feelings that are directed at someone or something</a:t>
            </a:r>
          </a:p>
          <a:p>
            <a:r>
              <a:rPr lang="en-US" sz="1800" b="1" dirty="0"/>
              <a:t>Emotional intelligence</a:t>
            </a:r>
            <a:r>
              <a:rPr lang="en-US" sz="1800" dirty="0"/>
              <a:t>: the ability to notice and to manage emotional cues and information</a:t>
            </a:r>
          </a:p>
        </p:txBody>
      </p:sp>
    </p:spTree>
    <p:extLst>
      <p:ext uri="{BB962C8B-B14F-4D97-AF65-F5344CB8AC3E}">
        <p14:creationId xmlns:p14="http://schemas.microsoft.com/office/powerpoint/2010/main" val="13728425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251"/>
            <a:ext cx="6172200" cy="435611"/>
          </a:xfrm>
        </p:spPr>
        <p:txBody>
          <a:bodyPr>
            <a:normAutofit fontScale="90000"/>
          </a:bodyPr>
          <a:lstStyle/>
          <a:p>
            <a:r>
              <a:rPr lang="en-US" dirty="0"/>
              <a:t>Five Dimensions of Emotional Intelligence</a:t>
            </a:r>
          </a:p>
        </p:txBody>
      </p:sp>
      <p:sp>
        <p:nvSpPr>
          <p:cNvPr id="3" name="Content Placeholder 2"/>
          <p:cNvSpPr>
            <a:spLocks noGrp="1"/>
          </p:cNvSpPr>
          <p:nvPr>
            <p:ph idx="1"/>
          </p:nvPr>
        </p:nvSpPr>
        <p:spPr>
          <a:xfrm>
            <a:off x="1485900" y="800100"/>
            <a:ext cx="6172200" cy="2114550"/>
          </a:xfrm>
        </p:spPr>
        <p:txBody>
          <a:bodyPr/>
          <a:lstStyle/>
          <a:p>
            <a:r>
              <a:rPr lang="en-US" sz="1800" dirty="0"/>
              <a:t>Self-awareness</a:t>
            </a:r>
          </a:p>
          <a:p>
            <a:r>
              <a:rPr lang="en-US" sz="1800" dirty="0"/>
              <a:t>Self-management</a:t>
            </a:r>
          </a:p>
          <a:p>
            <a:r>
              <a:rPr lang="en-US" sz="1800" dirty="0"/>
              <a:t>Self-motivation</a:t>
            </a:r>
          </a:p>
          <a:p>
            <a:r>
              <a:rPr lang="en-US" sz="1800" dirty="0"/>
              <a:t>Empathy</a:t>
            </a:r>
          </a:p>
          <a:p>
            <a:r>
              <a:rPr lang="en-US" sz="1800" dirty="0"/>
              <a:t>Social skills</a:t>
            </a:r>
          </a:p>
        </p:txBody>
      </p:sp>
    </p:spTree>
    <p:extLst>
      <p:ext uri="{BB962C8B-B14F-4D97-AF65-F5344CB8AC3E}">
        <p14:creationId xmlns:p14="http://schemas.microsoft.com/office/powerpoint/2010/main" val="29600082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7789"/>
            <a:ext cx="6172200" cy="435611"/>
          </a:xfrm>
        </p:spPr>
        <p:txBody>
          <a:bodyPr>
            <a:normAutofit fontScale="90000"/>
          </a:bodyPr>
          <a:lstStyle/>
          <a:p>
            <a:r>
              <a:rPr lang="en-US" dirty="0"/>
              <a:t>Implications for Managers: Personality</a:t>
            </a:r>
          </a:p>
        </p:txBody>
      </p:sp>
      <p:sp>
        <p:nvSpPr>
          <p:cNvPr id="3" name="Content Placeholder 2"/>
          <p:cNvSpPr>
            <a:spLocks noGrp="1"/>
          </p:cNvSpPr>
          <p:nvPr>
            <p:ph idx="1"/>
          </p:nvPr>
        </p:nvSpPr>
        <p:spPr>
          <a:xfrm>
            <a:off x="1485900" y="800100"/>
            <a:ext cx="6172200" cy="1657350"/>
          </a:xfrm>
        </p:spPr>
        <p:txBody>
          <a:bodyPr/>
          <a:lstStyle/>
          <a:p>
            <a:r>
              <a:rPr lang="en-US" sz="1800" dirty="0"/>
              <a:t>Managers are likely to have higher-performing and more satisfied employees if consideration is given to matching personalities with jobs.</a:t>
            </a:r>
          </a:p>
          <a:p>
            <a:r>
              <a:rPr lang="en-US" sz="1800" dirty="0"/>
              <a:t>The single best trait associated with superior job performance is conscientiousness.</a:t>
            </a:r>
          </a:p>
        </p:txBody>
      </p:sp>
    </p:spTree>
    <p:extLst>
      <p:ext uri="{BB962C8B-B14F-4D97-AF65-F5344CB8AC3E}">
        <p14:creationId xmlns:p14="http://schemas.microsoft.com/office/powerpoint/2010/main" val="3975097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251"/>
            <a:ext cx="6172200" cy="435611"/>
          </a:xfrm>
        </p:spPr>
        <p:txBody>
          <a:bodyPr>
            <a:normAutofit fontScale="90000"/>
          </a:bodyPr>
          <a:lstStyle/>
          <a:p>
            <a:r>
              <a:rPr lang="en-US" dirty="0"/>
              <a:t>Four Suggestions Related to Hiring</a:t>
            </a:r>
          </a:p>
        </p:txBody>
      </p:sp>
      <p:sp>
        <p:nvSpPr>
          <p:cNvPr id="3" name="Content Placeholder 2"/>
          <p:cNvSpPr>
            <a:spLocks noGrp="1"/>
          </p:cNvSpPr>
          <p:nvPr>
            <p:ph idx="1"/>
          </p:nvPr>
        </p:nvSpPr>
        <p:spPr>
          <a:xfrm>
            <a:off x="1485900" y="800100"/>
            <a:ext cx="6172200" cy="3657600"/>
          </a:xfrm>
        </p:spPr>
        <p:txBody>
          <a:bodyPr/>
          <a:lstStyle/>
          <a:p>
            <a:pPr marL="342900" indent="-342900">
              <a:buFont typeface="+mj-lt"/>
              <a:buAutoNum type="arabicPeriod"/>
            </a:pPr>
            <a:r>
              <a:rPr lang="en-US" sz="1800" dirty="0"/>
              <a:t>Assess vocational interests in the hiring process</a:t>
            </a:r>
          </a:p>
          <a:p>
            <a:pPr marL="342900" indent="-342900">
              <a:buFont typeface="+mj-lt"/>
              <a:buAutoNum type="arabicPeriod"/>
            </a:pPr>
            <a:r>
              <a:rPr lang="en-US" sz="1800" dirty="0"/>
              <a:t>If you’re looking for a single personality trait that is likely to be associated with superior job performance, you’re well advised to hire people who score high on conscientiousness</a:t>
            </a:r>
          </a:p>
          <a:p>
            <a:pPr marL="342900" indent="-342900">
              <a:buFont typeface="+mj-lt"/>
              <a:buAutoNum type="arabicPeriod"/>
            </a:pPr>
            <a:r>
              <a:rPr lang="en-US" sz="1800" dirty="0"/>
              <a:t>When filling jobs where successful social interaction is a major factor in performance, hire people with high emotional intelligence</a:t>
            </a:r>
          </a:p>
          <a:p>
            <a:pPr marL="342900" indent="-342900">
              <a:buFont typeface="+mj-lt"/>
              <a:buAutoNum type="arabicPeriod"/>
            </a:pPr>
            <a:r>
              <a:rPr lang="en-US" sz="1800" dirty="0"/>
              <a:t>Take time to carefully screen job candidates to identify and reject individuals who hold the set of Dark Triad traits. </a:t>
            </a:r>
          </a:p>
        </p:txBody>
      </p:sp>
    </p:spTree>
    <p:extLst>
      <p:ext uri="{BB962C8B-B14F-4D97-AF65-F5344CB8AC3E}">
        <p14:creationId xmlns:p14="http://schemas.microsoft.com/office/powerpoint/2010/main" val="34928241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251"/>
            <a:ext cx="6172200" cy="435611"/>
          </a:xfrm>
        </p:spPr>
        <p:txBody>
          <a:bodyPr>
            <a:normAutofit fontScale="90000"/>
          </a:bodyPr>
          <a:lstStyle/>
          <a:p>
            <a:r>
              <a:rPr lang="en-US" dirty="0"/>
              <a:t>Perception</a:t>
            </a:r>
          </a:p>
        </p:txBody>
      </p:sp>
      <p:sp>
        <p:nvSpPr>
          <p:cNvPr id="3" name="Content Placeholder 2"/>
          <p:cNvSpPr>
            <a:spLocks noGrp="1"/>
          </p:cNvSpPr>
          <p:nvPr>
            <p:ph idx="1"/>
          </p:nvPr>
        </p:nvSpPr>
        <p:spPr>
          <a:xfrm>
            <a:off x="1485900" y="800100"/>
            <a:ext cx="6172200" cy="2286000"/>
          </a:xfrm>
        </p:spPr>
        <p:txBody>
          <a:bodyPr/>
          <a:lstStyle/>
          <a:p>
            <a:r>
              <a:rPr lang="en-US" sz="1800" b="1" dirty="0"/>
              <a:t>Perception</a:t>
            </a:r>
            <a:r>
              <a:rPr lang="en-US" sz="1800" dirty="0"/>
              <a:t>: process by which we give meaning to our environment by organizing and interpreting sensory impressions</a:t>
            </a:r>
          </a:p>
          <a:p>
            <a:r>
              <a:rPr lang="en-US" sz="1800" dirty="0"/>
              <a:t>Research on perception consistently demonstrates that individuals may look at the same thing yet perceive it differently.</a:t>
            </a:r>
          </a:p>
        </p:txBody>
      </p:sp>
    </p:spTree>
    <p:extLst>
      <p:ext uri="{BB962C8B-B14F-4D97-AF65-F5344CB8AC3E}">
        <p14:creationId xmlns:p14="http://schemas.microsoft.com/office/powerpoint/2010/main" val="17921279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251"/>
            <a:ext cx="6172200" cy="435611"/>
          </a:xfrm>
        </p:spPr>
        <p:txBody>
          <a:bodyPr>
            <a:normAutofit fontScale="90000"/>
          </a:bodyPr>
          <a:lstStyle/>
          <a:p>
            <a:r>
              <a:rPr lang="en-US" dirty="0"/>
              <a:t>Factors that Influence Perception</a:t>
            </a:r>
          </a:p>
        </p:txBody>
      </p:sp>
      <p:sp>
        <p:nvSpPr>
          <p:cNvPr id="3" name="Content Placeholder 2"/>
          <p:cNvSpPr>
            <a:spLocks noGrp="1"/>
          </p:cNvSpPr>
          <p:nvPr>
            <p:ph idx="1"/>
          </p:nvPr>
        </p:nvSpPr>
        <p:spPr>
          <a:xfrm>
            <a:off x="1485900" y="800100"/>
            <a:ext cx="6172200" cy="1714500"/>
          </a:xfrm>
        </p:spPr>
        <p:txBody>
          <a:bodyPr>
            <a:normAutofit lnSpcReduction="10000"/>
          </a:bodyPr>
          <a:lstStyle/>
          <a:p>
            <a:r>
              <a:rPr lang="en-US" sz="1800" dirty="0">
                <a:cs typeface="Arial"/>
              </a:rPr>
              <a:t>A number of factors act to shape and sometimes distort perception including:</a:t>
            </a:r>
          </a:p>
          <a:p>
            <a:pPr lvl="1"/>
            <a:r>
              <a:rPr lang="en-US" sz="1800" dirty="0">
                <a:cs typeface="Arial"/>
              </a:rPr>
              <a:t>Perceiver</a:t>
            </a:r>
          </a:p>
          <a:p>
            <a:pPr lvl="1"/>
            <a:r>
              <a:rPr lang="en-US" sz="1800" dirty="0">
                <a:cs typeface="Arial"/>
              </a:rPr>
              <a:t>Target characteristics</a:t>
            </a:r>
          </a:p>
          <a:p>
            <a:pPr lvl="1"/>
            <a:r>
              <a:rPr lang="en-US" sz="1800" dirty="0">
                <a:cs typeface="Arial"/>
              </a:rPr>
              <a:t>Context</a:t>
            </a:r>
            <a:endParaRPr lang="en-US" sz="1800" dirty="0"/>
          </a:p>
        </p:txBody>
      </p:sp>
    </p:spTree>
    <p:extLst>
      <p:ext uri="{BB962C8B-B14F-4D97-AF65-F5344CB8AC3E}">
        <p14:creationId xmlns:p14="http://schemas.microsoft.com/office/powerpoint/2010/main" val="37928354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142875"/>
            <a:ext cx="6172200" cy="457200"/>
          </a:xfrm>
        </p:spPr>
        <p:txBody>
          <a:bodyPr>
            <a:normAutofit fontScale="90000"/>
          </a:bodyPr>
          <a:lstStyle/>
          <a:p>
            <a:r>
              <a:rPr lang="en-US" dirty="0" smtClean="0"/>
              <a:t>What </a:t>
            </a:r>
            <a:r>
              <a:rPr lang="en-US" dirty="0"/>
              <a:t>Do You See?</a:t>
            </a:r>
          </a:p>
        </p:txBody>
      </p:sp>
      <p:pic>
        <p:nvPicPr>
          <p:cNvPr id="7" name="Picture 3" descr="A figure shows two visual puzzles. When seen from different angle, the first visual appears either as an old woman or a young woman. The second visual shows many patches of color which together appear to be that of a knight riding a horse.">
            <a:extLst>
              <a:ext uri="{FF2B5EF4-FFF2-40B4-BE49-F238E27FC236}">
                <a16:creationId xmlns="" xmlns:a16="http://schemas.microsoft.com/office/drawing/2014/main" id="{B04EB1B2-26C4-4DCE-A1E7-7899E7FEE9A8}"/>
              </a:ext>
            </a:extLst>
          </p:cNvPr>
          <p:cNvPicPr>
            <a:picLocks noGrp="1" noChangeAspect="1" noChangeArrowheads="1"/>
          </p:cNvPicPr>
          <p:nvPr>
            <p:ph type="pic" sz="quarter" idx="14"/>
          </p:nvPr>
        </p:nvPicPr>
        <p:blipFill>
          <a:blip r:embed="rId3" cstate="print"/>
          <a:stretch>
            <a:fillRect/>
          </a:stretch>
        </p:blipFill>
        <p:spPr bwMode="auto">
          <a:xfrm>
            <a:off x="1562645" y="827407"/>
            <a:ext cx="6037318" cy="3066957"/>
          </a:xfrm>
          <a:prstGeom prst="rect">
            <a:avLst/>
          </a:prstGeom>
        </p:spPr>
      </p:pic>
      <p:sp>
        <p:nvSpPr>
          <p:cNvPr id="5" name="Content Placeholder 4">
            <a:extLst>
              <a:ext uri="{FF2B5EF4-FFF2-40B4-BE49-F238E27FC236}">
                <a16:creationId xmlns="" xmlns:a16="http://schemas.microsoft.com/office/drawing/2014/main" id="{74A99A9F-74FD-4FF3-A5A1-9754BE998C13}"/>
              </a:ext>
            </a:extLst>
          </p:cNvPr>
          <p:cNvSpPr>
            <a:spLocks noGrp="1"/>
          </p:cNvSpPr>
          <p:nvPr>
            <p:ph sz="quarter" idx="15"/>
          </p:nvPr>
        </p:nvSpPr>
        <p:spPr>
          <a:xfrm>
            <a:off x="1485900" y="4379118"/>
            <a:ext cx="6172200" cy="307182"/>
          </a:xfrm>
        </p:spPr>
        <p:txBody>
          <a:bodyPr>
            <a:normAutofit/>
          </a:bodyPr>
          <a:lstStyle/>
          <a:p>
            <a:pPr marL="0" indent="0">
              <a:buNone/>
            </a:pPr>
            <a:r>
              <a:rPr lang="en-US" dirty="0" smtClean="0"/>
              <a:t>Notice </a:t>
            </a:r>
            <a:r>
              <a:rPr lang="en-US" dirty="0"/>
              <a:t>how what you see changes as you look differently at each one.</a:t>
            </a:r>
          </a:p>
        </p:txBody>
      </p:sp>
    </p:spTree>
    <p:extLst>
      <p:ext uri="{BB962C8B-B14F-4D97-AF65-F5344CB8AC3E}">
        <p14:creationId xmlns:p14="http://schemas.microsoft.com/office/powerpoint/2010/main" val="40765459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251"/>
            <a:ext cx="6172200" cy="435611"/>
          </a:xfrm>
        </p:spPr>
        <p:txBody>
          <a:bodyPr>
            <a:normAutofit fontScale="90000"/>
          </a:bodyPr>
          <a:lstStyle/>
          <a:p>
            <a:r>
              <a:rPr lang="en-US" dirty="0"/>
              <a:t>Attribution Theory </a:t>
            </a:r>
            <a:r>
              <a:rPr lang="en-US" sz="1350" dirty="0"/>
              <a:t>(1 of 2)</a:t>
            </a:r>
          </a:p>
        </p:txBody>
      </p:sp>
      <p:sp>
        <p:nvSpPr>
          <p:cNvPr id="3" name="Content Placeholder 2"/>
          <p:cNvSpPr>
            <a:spLocks noGrp="1"/>
          </p:cNvSpPr>
          <p:nvPr>
            <p:ph idx="1"/>
          </p:nvPr>
        </p:nvSpPr>
        <p:spPr>
          <a:xfrm>
            <a:off x="1485900" y="800100"/>
            <a:ext cx="6172200" cy="2343150"/>
          </a:xfrm>
        </p:spPr>
        <p:txBody>
          <a:bodyPr>
            <a:normAutofit lnSpcReduction="10000"/>
          </a:bodyPr>
          <a:lstStyle/>
          <a:p>
            <a:r>
              <a:rPr lang="en-US" sz="1800" b="1" dirty="0">
                <a:cs typeface="Arial"/>
              </a:rPr>
              <a:t>Attribution theory</a:t>
            </a:r>
            <a:r>
              <a:rPr lang="en-US" sz="1800" dirty="0">
                <a:cs typeface="Arial"/>
              </a:rPr>
              <a:t>: </a:t>
            </a:r>
            <a:r>
              <a:rPr lang="en-US" sz="1800" dirty="0"/>
              <a:t>a theory used to explain how we judge people differently depending on what meaning we attribute to a given behavior</a:t>
            </a:r>
          </a:p>
          <a:p>
            <a:r>
              <a:rPr lang="en-US" sz="1800" dirty="0"/>
              <a:t>Attribution depends on three factors:</a:t>
            </a:r>
          </a:p>
          <a:p>
            <a:pPr lvl="1"/>
            <a:r>
              <a:rPr lang="en-US" sz="1800" dirty="0"/>
              <a:t>Distinctiveness</a:t>
            </a:r>
          </a:p>
          <a:p>
            <a:pPr lvl="1"/>
            <a:r>
              <a:rPr lang="en-US" sz="1800" dirty="0"/>
              <a:t>Consensus</a:t>
            </a:r>
          </a:p>
          <a:p>
            <a:pPr lvl="1"/>
            <a:r>
              <a:rPr lang="en-US" sz="1800" dirty="0"/>
              <a:t>Consistency</a:t>
            </a:r>
          </a:p>
        </p:txBody>
      </p:sp>
    </p:spTree>
    <p:extLst>
      <p:ext uri="{BB962C8B-B14F-4D97-AF65-F5344CB8AC3E}">
        <p14:creationId xmlns:p14="http://schemas.microsoft.com/office/powerpoint/2010/main" val="26949127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143692"/>
            <a:ext cx="6172200" cy="514350"/>
          </a:xfrm>
        </p:spPr>
        <p:txBody>
          <a:bodyPr/>
          <a:lstStyle/>
          <a:p>
            <a:r>
              <a:rPr lang="en-US" dirty="0" smtClean="0"/>
              <a:t>Attribution </a:t>
            </a:r>
            <a:r>
              <a:rPr lang="en-US" dirty="0"/>
              <a:t>Theory</a:t>
            </a:r>
          </a:p>
        </p:txBody>
      </p:sp>
      <p:pic>
        <p:nvPicPr>
          <p:cNvPr id="8" name="Picture Placeholder 7" descr="A chart summarizes the attribution theory.&#10;Long description is available in notes,&#10;press F6">
            <a:extLst>
              <a:ext uri="{FF2B5EF4-FFF2-40B4-BE49-F238E27FC236}">
                <a16:creationId xmlns="" xmlns:a16="http://schemas.microsoft.com/office/drawing/2014/main" id="{42411D29-47CF-4AD3-8E8B-344E32DA9090}"/>
              </a:ext>
            </a:extLst>
          </p:cNvPr>
          <p:cNvPicPr>
            <a:picLocks noGrp="1" noChangeAspect="1"/>
          </p:cNvPicPr>
          <p:nvPr>
            <p:ph type="pic" sz="quarter" idx="14"/>
          </p:nvPr>
        </p:nvPicPr>
        <p:blipFill>
          <a:blip r:embed="rId3" cstate="print"/>
          <a:stretch>
            <a:fillRect/>
          </a:stretch>
        </p:blipFill>
        <p:spPr>
          <a:xfrm>
            <a:off x="1485901" y="817306"/>
            <a:ext cx="6172200" cy="3126044"/>
          </a:xfrm>
          <a:prstGeom prst="rect">
            <a:avLst/>
          </a:prstGeom>
        </p:spPr>
      </p:pic>
      <p:sp>
        <p:nvSpPr>
          <p:cNvPr id="5" name="Content Placeholder 4">
            <a:extLst>
              <a:ext uri="{FF2B5EF4-FFF2-40B4-BE49-F238E27FC236}">
                <a16:creationId xmlns="" xmlns:a16="http://schemas.microsoft.com/office/drawing/2014/main" id="{76F0294A-9B9B-4F4F-A1BC-CA2D6160F4D4}"/>
              </a:ext>
            </a:extLst>
          </p:cNvPr>
          <p:cNvSpPr>
            <a:spLocks noGrp="1"/>
          </p:cNvSpPr>
          <p:nvPr>
            <p:ph sz="quarter" idx="15"/>
          </p:nvPr>
        </p:nvSpPr>
        <p:spPr>
          <a:xfrm>
            <a:off x="1485900" y="4343400"/>
            <a:ext cx="6172200" cy="342900"/>
          </a:xfrm>
        </p:spPr>
        <p:txBody>
          <a:bodyPr/>
          <a:lstStyle/>
          <a:p>
            <a:pPr marL="0" indent="0">
              <a:buNone/>
            </a:pPr>
            <a:r>
              <a:rPr lang="en-US" b="1" dirty="0">
                <a:cs typeface="Arial" charset="0"/>
              </a:rPr>
              <a:t>Exhibit 13-6</a:t>
            </a:r>
            <a:r>
              <a:rPr lang="en-US" dirty="0">
                <a:cs typeface="Arial" charset="0"/>
              </a:rPr>
              <a:t> summarizes the key elements of attribution theory</a:t>
            </a:r>
            <a:endParaRPr lang="en-US" dirty="0"/>
          </a:p>
        </p:txBody>
      </p:sp>
    </p:spTree>
    <p:extLst>
      <p:ext uri="{BB962C8B-B14F-4D97-AF65-F5344CB8AC3E}">
        <p14:creationId xmlns:p14="http://schemas.microsoft.com/office/powerpoint/2010/main" val="42154302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251"/>
            <a:ext cx="6172200" cy="435611"/>
          </a:xfrm>
        </p:spPr>
        <p:txBody>
          <a:bodyPr>
            <a:normAutofit fontScale="90000"/>
          </a:bodyPr>
          <a:lstStyle/>
          <a:p>
            <a:r>
              <a:rPr lang="en-US" dirty="0"/>
              <a:t>Attribution Theory </a:t>
            </a:r>
            <a:r>
              <a:rPr lang="en-US" sz="1350" dirty="0"/>
              <a:t>(2 of 2)</a:t>
            </a:r>
          </a:p>
        </p:txBody>
      </p:sp>
      <p:sp>
        <p:nvSpPr>
          <p:cNvPr id="3" name="Content Placeholder 2"/>
          <p:cNvSpPr>
            <a:spLocks noGrp="1"/>
          </p:cNvSpPr>
          <p:nvPr>
            <p:ph idx="1"/>
          </p:nvPr>
        </p:nvSpPr>
        <p:spPr>
          <a:xfrm>
            <a:off x="1485900" y="800100"/>
            <a:ext cx="6172200" cy="1943100"/>
          </a:xfrm>
        </p:spPr>
        <p:txBody>
          <a:bodyPr>
            <a:normAutofit lnSpcReduction="10000"/>
          </a:bodyPr>
          <a:lstStyle/>
          <a:p>
            <a:r>
              <a:rPr lang="en-US" sz="1800" b="1" dirty="0">
                <a:cs typeface="Arial"/>
              </a:rPr>
              <a:t>Fundamental attribution error: </a:t>
            </a:r>
            <a:r>
              <a:rPr lang="en-US" sz="1800" dirty="0">
                <a:cs typeface="Arial"/>
              </a:rPr>
              <a:t>the tendency to underestimate the influence of external factors and to overestimate the influence of internal or personal factors</a:t>
            </a:r>
          </a:p>
          <a:p>
            <a:r>
              <a:rPr lang="en-US" sz="1800" b="1" dirty="0">
                <a:cs typeface="Arial"/>
              </a:rPr>
              <a:t>Self-serving bias: </a:t>
            </a:r>
            <a:r>
              <a:rPr lang="en-US" sz="1800" dirty="0">
                <a:cs typeface="Arial"/>
              </a:rPr>
              <a:t>the tendency of individuals to attribute their successes to internal factors while blaming personal failures on external factors</a:t>
            </a:r>
            <a:endParaRPr lang="en-US" sz="1800" dirty="0"/>
          </a:p>
        </p:txBody>
      </p:sp>
    </p:spTree>
    <p:extLst>
      <p:ext uri="{BB962C8B-B14F-4D97-AF65-F5344CB8AC3E}">
        <p14:creationId xmlns:p14="http://schemas.microsoft.com/office/powerpoint/2010/main" val="335541302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85344"/>
            <a:ext cx="6172200" cy="453628"/>
          </a:xfrm>
        </p:spPr>
        <p:txBody>
          <a:bodyPr>
            <a:normAutofit fontScale="90000"/>
          </a:bodyPr>
          <a:lstStyle/>
          <a:p>
            <a:r>
              <a:rPr lang="en-US" dirty="0"/>
              <a:t>Shortcuts Used in Judging Others</a:t>
            </a:r>
          </a:p>
        </p:txBody>
      </p:sp>
      <p:sp>
        <p:nvSpPr>
          <p:cNvPr id="3" name="Content Placeholder 2"/>
          <p:cNvSpPr>
            <a:spLocks noGrp="1"/>
          </p:cNvSpPr>
          <p:nvPr>
            <p:ph idx="1"/>
          </p:nvPr>
        </p:nvSpPr>
        <p:spPr>
          <a:xfrm>
            <a:off x="1485900" y="800100"/>
            <a:ext cx="6172200" cy="2400300"/>
          </a:xfrm>
        </p:spPr>
        <p:txBody>
          <a:bodyPr/>
          <a:lstStyle/>
          <a:p>
            <a:r>
              <a:rPr lang="en-US" sz="1800" b="1" dirty="0"/>
              <a:t>Selective perception: </a:t>
            </a:r>
            <a:r>
              <a:rPr lang="en-US" sz="1800" dirty="0"/>
              <a:t>we make selections based on our own background, experience, interests and other factors unique to us</a:t>
            </a:r>
          </a:p>
          <a:p>
            <a:r>
              <a:rPr lang="en-US" sz="1800" b="1" dirty="0"/>
              <a:t>Assumed similarity</a:t>
            </a:r>
            <a:r>
              <a:rPr lang="en-US" sz="1800" dirty="0"/>
              <a:t>: the assumption that others are like oneself</a:t>
            </a:r>
          </a:p>
          <a:p>
            <a:r>
              <a:rPr lang="en-US" sz="1800" b="1" dirty="0"/>
              <a:t>Stereotyping</a:t>
            </a:r>
            <a:r>
              <a:rPr lang="en-US" sz="1800" dirty="0"/>
              <a:t>: judging a person based on a perception of a group to which that person belongs</a:t>
            </a:r>
          </a:p>
        </p:txBody>
      </p:sp>
    </p:spTree>
    <p:extLst>
      <p:ext uri="{BB962C8B-B14F-4D97-AF65-F5344CB8AC3E}">
        <p14:creationId xmlns:p14="http://schemas.microsoft.com/office/powerpoint/2010/main" val="100438721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8D34D38-C7FA-4708-BCE3-FA085F8ED44B}"/>
              </a:ext>
            </a:extLst>
          </p:cNvPr>
          <p:cNvSpPr>
            <a:spLocks noGrp="1"/>
          </p:cNvSpPr>
          <p:nvPr>
            <p:ph type="title"/>
          </p:nvPr>
        </p:nvSpPr>
        <p:spPr>
          <a:xfrm>
            <a:off x="1485900" y="95251"/>
            <a:ext cx="6172200" cy="435611"/>
          </a:xfrm>
        </p:spPr>
        <p:txBody>
          <a:bodyPr>
            <a:normAutofit fontScale="90000"/>
          </a:bodyPr>
          <a:lstStyle/>
          <a:p>
            <a:r>
              <a:rPr lang="en-US" sz="2400" dirty="0"/>
              <a:t>Additional Shortcuts Used in Judging Others</a:t>
            </a:r>
          </a:p>
        </p:txBody>
      </p:sp>
      <p:sp>
        <p:nvSpPr>
          <p:cNvPr id="3" name="Content Placeholder 2">
            <a:extLst>
              <a:ext uri="{FF2B5EF4-FFF2-40B4-BE49-F238E27FC236}">
                <a16:creationId xmlns="" xmlns:a16="http://schemas.microsoft.com/office/drawing/2014/main" id="{10726CAD-6506-40CE-8219-70BB1016E2D2}"/>
              </a:ext>
            </a:extLst>
          </p:cNvPr>
          <p:cNvSpPr>
            <a:spLocks noGrp="1"/>
          </p:cNvSpPr>
          <p:nvPr>
            <p:ph idx="1"/>
          </p:nvPr>
        </p:nvSpPr>
        <p:spPr>
          <a:xfrm>
            <a:off x="1485900" y="800100"/>
            <a:ext cx="6172200" cy="1314450"/>
          </a:xfrm>
        </p:spPr>
        <p:txBody>
          <a:bodyPr>
            <a:normAutofit fontScale="92500"/>
          </a:bodyPr>
          <a:lstStyle/>
          <a:p>
            <a:r>
              <a:rPr lang="en-US" sz="1800" b="1" dirty="0"/>
              <a:t>Halo effect</a:t>
            </a:r>
            <a:r>
              <a:rPr lang="en-US" sz="1800" dirty="0"/>
              <a:t>: a general impression of an individual based on a single characteristic</a:t>
            </a:r>
          </a:p>
          <a:p>
            <a:r>
              <a:rPr lang="en-US" sz="1800" b="1" dirty="0"/>
              <a:t>Contrast effect</a:t>
            </a:r>
            <a:r>
              <a:rPr lang="en-US" sz="1800" dirty="0"/>
              <a:t>: our perception of someone or something can be influenced by the context or surroundings</a:t>
            </a:r>
          </a:p>
        </p:txBody>
      </p:sp>
    </p:spTree>
    <p:extLst>
      <p:ext uri="{BB962C8B-B14F-4D97-AF65-F5344CB8AC3E}">
        <p14:creationId xmlns:p14="http://schemas.microsoft.com/office/powerpoint/2010/main" val="12858530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251"/>
            <a:ext cx="6172200" cy="435611"/>
          </a:xfrm>
        </p:spPr>
        <p:txBody>
          <a:bodyPr>
            <a:normAutofit fontScale="90000"/>
          </a:bodyPr>
          <a:lstStyle/>
          <a:p>
            <a:r>
              <a:rPr lang="en-US" dirty="0"/>
              <a:t>Implications for Managers: Perception</a:t>
            </a:r>
          </a:p>
        </p:txBody>
      </p:sp>
      <p:sp>
        <p:nvSpPr>
          <p:cNvPr id="3" name="Content Placeholder 2"/>
          <p:cNvSpPr>
            <a:spLocks noGrp="1"/>
          </p:cNvSpPr>
          <p:nvPr>
            <p:ph idx="1"/>
          </p:nvPr>
        </p:nvSpPr>
        <p:spPr>
          <a:xfrm>
            <a:off x="1485900" y="800100"/>
            <a:ext cx="6172200" cy="2971800"/>
          </a:xfrm>
        </p:spPr>
        <p:txBody>
          <a:bodyPr/>
          <a:lstStyle/>
          <a:p>
            <a:r>
              <a:rPr lang="en-US" sz="1800" dirty="0"/>
              <a:t>Managers need to recognize that their employees react to perceptions, not to reality</a:t>
            </a:r>
          </a:p>
          <a:p>
            <a:r>
              <a:rPr lang="en-US" sz="1800" dirty="0"/>
              <a:t>Employees organize and interpret what they see, so the potential for perceptual distortion is always present</a:t>
            </a:r>
          </a:p>
          <a:p>
            <a:r>
              <a:rPr lang="en-US" sz="1800" dirty="0"/>
              <a:t>Managers should pay close attention to how employees perceive both their jobs and management actions</a:t>
            </a:r>
          </a:p>
        </p:txBody>
      </p:sp>
    </p:spTree>
    <p:extLst>
      <p:ext uri="{BB962C8B-B14F-4D97-AF65-F5344CB8AC3E}">
        <p14:creationId xmlns:p14="http://schemas.microsoft.com/office/powerpoint/2010/main" val="319067156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251"/>
            <a:ext cx="6172200" cy="435611"/>
          </a:xfrm>
        </p:spPr>
        <p:txBody>
          <a:bodyPr>
            <a:normAutofit fontScale="90000"/>
          </a:bodyPr>
          <a:lstStyle/>
          <a:p>
            <a:r>
              <a:rPr lang="en-US" dirty="0"/>
              <a:t>Learning</a:t>
            </a:r>
          </a:p>
        </p:txBody>
      </p:sp>
      <p:sp>
        <p:nvSpPr>
          <p:cNvPr id="3" name="Content Placeholder 2"/>
          <p:cNvSpPr>
            <a:spLocks noGrp="1"/>
          </p:cNvSpPr>
          <p:nvPr>
            <p:ph idx="1"/>
          </p:nvPr>
        </p:nvSpPr>
        <p:spPr>
          <a:xfrm>
            <a:off x="1485900" y="800100"/>
            <a:ext cx="6172200" cy="2114550"/>
          </a:xfrm>
        </p:spPr>
        <p:txBody>
          <a:bodyPr/>
          <a:lstStyle/>
          <a:p>
            <a:r>
              <a:rPr lang="en-US" sz="1800" dirty="0"/>
              <a:t>Learning is defined as any relatively permanent change in behavior that occurs as a result of experience</a:t>
            </a:r>
          </a:p>
          <a:p>
            <a:r>
              <a:rPr lang="en-US" sz="1800" dirty="0"/>
              <a:t>Two learning theories help us understand individual behavior:</a:t>
            </a:r>
          </a:p>
          <a:p>
            <a:pPr lvl="1"/>
            <a:r>
              <a:rPr lang="en-US" sz="1800" dirty="0"/>
              <a:t>1. Social Learning Theory</a:t>
            </a:r>
          </a:p>
          <a:p>
            <a:pPr lvl="1"/>
            <a:r>
              <a:rPr lang="en-US" sz="1800" dirty="0"/>
              <a:t>2. Operant Conditioning</a:t>
            </a:r>
          </a:p>
        </p:txBody>
      </p:sp>
    </p:spTree>
    <p:extLst>
      <p:ext uri="{BB962C8B-B14F-4D97-AF65-F5344CB8AC3E}">
        <p14:creationId xmlns:p14="http://schemas.microsoft.com/office/powerpoint/2010/main" val="17919082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251"/>
            <a:ext cx="6172200" cy="435611"/>
          </a:xfrm>
        </p:spPr>
        <p:txBody>
          <a:bodyPr>
            <a:normAutofit fontScale="90000"/>
          </a:bodyPr>
          <a:lstStyle/>
          <a:p>
            <a:r>
              <a:rPr lang="en-US" dirty="0"/>
              <a:t>Social Learning</a:t>
            </a:r>
          </a:p>
        </p:txBody>
      </p:sp>
      <p:sp>
        <p:nvSpPr>
          <p:cNvPr id="3" name="Content Placeholder 2"/>
          <p:cNvSpPr>
            <a:spLocks noGrp="1"/>
          </p:cNvSpPr>
          <p:nvPr>
            <p:ph idx="1"/>
          </p:nvPr>
        </p:nvSpPr>
        <p:spPr>
          <a:xfrm>
            <a:off x="1485900" y="800100"/>
            <a:ext cx="6172200" cy="3028950"/>
          </a:xfrm>
        </p:spPr>
        <p:txBody>
          <a:bodyPr/>
          <a:lstStyle/>
          <a:p>
            <a:pPr marL="0" indent="0">
              <a:buNone/>
            </a:pPr>
            <a:r>
              <a:rPr lang="en-US" sz="1800" b="1" dirty="0"/>
              <a:t>Social learning theory</a:t>
            </a:r>
            <a:r>
              <a:rPr lang="en-US" sz="1800" dirty="0"/>
              <a:t>: a theory of learning that says people can learn through observation and direct experience</a:t>
            </a:r>
          </a:p>
          <a:p>
            <a:pPr marL="0" indent="0">
              <a:buNone/>
            </a:pPr>
            <a:r>
              <a:rPr lang="en-US" sz="1800" dirty="0"/>
              <a:t>The influence on behavior is determined by four factors:</a:t>
            </a:r>
          </a:p>
          <a:p>
            <a:pPr marL="342900" indent="-342900">
              <a:buAutoNum type="arabicPeriod"/>
            </a:pPr>
            <a:r>
              <a:rPr lang="en-US" sz="1800" dirty="0"/>
              <a:t>Attentional processes</a:t>
            </a:r>
          </a:p>
          <a:p>
            <a:pPr marL="342900" indent="-342900">
              <a:buAutoNum type="arabicPeriod"/>
            </a:pPr>
            <a:r>
              <a:rPr lang="en-US" sz="1800" dirty="0"/>
              <a:t>Retention processes</a:t>
            </a:r>
          </a:p>
          <a:p>
            <a:pPr marL="342900" indent="-342900">
              <a:buAutoNum type="arabicPeriod"/>
            </a:pPr>
            <a:r>
              <a:rPr lang="en-US" sz="1800" dirty="0"/>
              <a:t>Motor reproduction processes</a:t>
            </a:r>
          </a:p>
          <a:p>
            <a:pPr marL="342900" indent="-342900">
              <a:buAutoNum type="arabicPeriod"/>
            </a:pPr>
            <a:r>
              <a:rPr lang="en-US" sz="1800" dirty="0"/>
              <a:t>Reinforcement processes</a:t>
            </a:r>
          </a:p>
        </p:txBody>
      </p:sp>
    </p:spTree>
    <p:extLst>
      <p:ext uri="{BB962C8B-B14F-4D97-AF65-F5344CB8AC3E}">
        <p14:creationId xmlns:p14="http://schemas.microsoft.com/office/powerpoint/2010/main" val="18624094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181520"/>
            <a:ext cx="6172200" cy="355839"/>
          </a:xfrm>
        </p:spPr>
        <p:txBody>
          <a:bodyPr>
            <a:normAutofit fontScale="90000"/>
          </a:bodyPr>
          <a:lstStyle/>
          <a:p>
            <a:r>
              <a:rPr lang="en-US" dirty="0"/>
              <a:t>Shaping: A Managerial Tool </a:t>
            </a:r>
            <a:r>
              <a:rPr lang="en-US" sz="1500" dirty="0"/>
              <a:t>(1 of 2)</a:t>
            </a:r>
          </a:p>
        </p:txBody>
      </p:sp>
      <p:sp>
        <p:nvSpPr>
          <p:cNvPr id="3" name="Content Placeholder 2"/>
          <p:cNvSpPr>
            <a:spLocks noGrp="1"/>
          </p:cNvSpPr>
          <p:nvPr>
            <p:ph idx="1"/>
          </p:nvPr>
        </p:nvSpPr>
        <p:spPr>
          <a:xfrm>
            <a:off x="1485900" y="800100"/>
            <a:ext cx="6172200" cy="2457450"/>
          </a:xfrm>
        </p:spPr>
        <p:txBody>
          <a:bodyPr/>
          <a:lstStyle/>
          <a:p>
            <a:r>
              <a:rPr lang="en-US" sz="1800" b="1" dirty="0"/>
              <a:t>Shaping behavior: </a:t>
            </a:r>
            <a:r>
              <a:rPr lang="en-US" sz="1800" dirty="0"/>
              <a:t>shaping is a behavior modification approach based on operant conditioning that managers can use to “mold” </a:t>
            </a:r>
            <a:r>
              <a:rPr lang="en-US" sz="1800" dirty="0">
                <a:cs typeface="Arial" charset="0"/>
              </a:rPr>
              <a:t>individuals by guiding their learning in graduated steps</a:t>
            </a:r>
            <a:endParaRPr lang="en-US" sz="1800" dirty="0"/>
          </a:p>
          <a:p>
            <a:r>
              <a:rPr lang="en-US" sz="1800" b="1" dirty="0"/>
              <a:t>Operant conditioning</a:t>
            </a:r>
            <a:r>
              <a:rPr lang="en-US" sz="1800" dirty="0"/>
              <a:t>: a theory of learning that says behavior is a function of its consequences</a:t>
            </a:r>
          </a:p>
        </p:txBody>
      </p:sp>
    </p:spTree>
    <p:extLst>
      <p:ext uri="{BB962C8B-B14F-4D97-AF65-F5344CB8AC3E}">
        <p14:creationId xmlns:p14="http://schemas.microsoft.com/office/powerpoint/2010/main" val="106789873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632"/>
            <a:ext cx="6172200" cy="435611"/>
          </a:xfrm>
        </p:spPr>
        <p:txBody>
          <a:bodyPr>
            <a:normAutofit fontScale="90000"/>
          </a:bodyPr>
          <a:lstStyle/>
          <a:p>
            <a:r>
              <a:rPr lang="en-US" dirty="0"/>
              <a:t>Shaping: A Managerial Tool </a:t>
            </a:r>
            <a:r>
              <a:rPr lang="en-US" sz="1500" dirty="0"/>
              <a:t>(2 of 2)</a:t>
            </a:r>
          </a:p>
        </p:txBody>
      </p:sp>
      <p:sp>
        <p:nvSpPr>
          <p:cNvPr id="3" name="Content Placeholder 2"/>
          <p:cNvSpPr>
            <a:spLocks noGrp="1"/>
          </p:cNvSpPr>
          <p:nvPr>
            <p:ph idx="1"/>
          </p:nvPr>
        </p:nvSpPr>
        <p:spPr>
          <a:xfrm>
            <a:off x="1485900" y="800100"/>
            <a:ext cx="6172200" cy="2514600"/>
          </a:xfrm>
        </p:spPr>
        <p:txBody>
          <a:bodyPr/>
          <a:lstStyle/>
          <a:p>
            <a:pPr marL="0" indent="0">
              <a:buNone/>
            </a:pPr>
            <a:r>
              <a:rPr lang="en-US" sz="1800" dirty="0"/>
              <a:t>There are four ways to shape behavior;</a:t>
            </a:r>
          </a:p>
          <a:p>
            <a:pPr marL="342900" indent="-342900">
              <a:buFont typeface="+mj-lt"/>
              <a:buAutoNum type="arabicPeriod"/>
            </a:pPr>
            <a:r>
              <a:rPr lang="en-US" sz="1800" dirty="0"/>
              <a:t>Positive reinforcement</a:t>
            </a:r>
          </a:p>
          <a:p>
            <a:pPr marL="342900" indent="-342900">
              <a:buFont typeface="+mj-lt"/>
              <a:buAutoNum type="arabicPeriod"/>
            </a:pPr>
            <a:r>
              <a:rPr lang="en-US" sz="1800"/>
              <a:t>Negative reinforcement</a:t>
            </a:r>
            <a:endParaRPr lang="en-US" sz="1800" dirty="0"/>
          </a:p>
          <a:p>
            <a:pPr marL="342900" indent="-342900">
              <a:buFont typeface="+mj-lt"/>
              <a:buAutoNum type="arabicPeriod"/>
            </a:pPr>
            <a:r>
              <a:rPr lang="en-US" sz="1800" dirty="0"/>
              <a:t>Punishment</a:t>
            </a:r>
          </a:p>
          <a:p>
            <a:pPr marL="342900" indent="-342900">
              <a:buFont typeface="+mj-lt"/>
              <a:buAutoNum type="arabicPeriod"/>
            </a:pPr>
            <a:r>
              <a:rPr lang="en-US" sz="1800" dirty="0"/>
              <a:t>Extinction</a:t>
            </a:r>
          </a:p>
        </p:txBody>
      </p:sp>
    </p:spTree>
    <p:extLst>
      <p:ext uri="{BB962C8B-B14F-4D97-AF65-F5344CB8AC3E}">
        <p14:creationId xmlns:p14="http://schemas.microsoft.com/office/powerpoint/2010/main" val="1005505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95251"/>
            <a:ext cx="6172200" cy="435611"/>
          </a:xfrm>
        </p:spPr>
        <p:txBody>
          <a:bodyPr>
            <a:normAutofit fontScale="90000"/>
          </a:bodyPr>
          <a:lstStyle/>
          <a:p>
            <a:r>
              <a:rPr lang="en-US" dirty="0"/>
              <a:t>Implications for Managers: Learning</a:t>
            </a:r>
          </a:p>
        </p:txBody>
      </p:sp>
      <p:sp>
        <p:nvSpPr>
          <p:cNvPr id="3" name="Content Placeholder 2"/>
          <p:cNvSpPr>
            <a:spLocks noGrp="1"/>
          </p:cNvSpPr>
          <p:nvPr>
            <p:ph idx="1"/>
          </p:nvPr>
        </p:nvSpPr>
        <p:spPr>
          <a:xfrm>
            <a:off x="1485900" y="800100"/>
            <a:ext cx="6172200" cy="3314700"/>
          </a:xfrm>
        </p:spPr>
        <p:txBody>
          <a:bodyPr/>
          <a:lstStyle/>
          <a:p>
            <a:r>
              <a:rPr lang="en-US" sz="1800" dirty="0"/>
              <a:t>Employees are going to learn on the job: are managers going to manage their learning through the rewards they allocate and the examples they set, or allow it to occur haphazardly?</a:t>
            </a:r>
          </a:p>
          <a:p>
            <a:r>
              <a:rPr lang="en-US" sz="1800" dirty="0"/>
              <a:t>If marginal employees are rewarded with pay raises and promotions, they will have little reason to change their behavior</a:t>
            </a:r>
          </a:p>
          <a:p>
            <a:r>
              <a:rPr lang="en-US" sz="1800" dirty="0"/>
              <a:t>Productive employees who see marginal performance rewarded might change their behavior</a:t>
            </a:r>
          </a:p>
        </p:txBody>
      </p:sp>
    </p:spTree>
    <p:extLst>
      <p:ext uri="{BB962C8B-B14F-4D97-AF65-F5344CB8AC3E}">
        <p14:creationId xmlns:p14="http://schemas.microsoft.com/office/powerpoint/2010/main" val="386112459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417</TotalTime>
  <Words>9993</Words>
  <Application>Microsoft Office PowerPoint</Application>
  <PresentationFormat>On-screen Show (16:9)</PresentationFormat>
  <Paragraphs>669</Paragraphs>
  <Slides>89</Slides>
  <Notes>53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89</vt:i4>
      </vt:variant>
    </vt:vector>
  </HeadingPairs>
  <TitlesOfParts>
    <vt:vector size="94" baseType="lpstr">
      <vt:lpstr>Verdana</vt:lpstr>
      <vt:lpstr>Trebuchet MS</vt:lpstr>
      <vt:lpstr>Arial</vt:lpstr>
      <vt:lpstr>Wingdings 3</vt:lpstr>
      <vt:lpstr>Facet</vt:lpstr>
      <vt:lpstr>Motivation and Leadership</vt:lpstr>
      <vt:lpstr>3.1 Motivation </vt:lpstr>
      <vt:lpstr>Concept of Motivation</vt:lpstr>
      <vt:lpstr>Definition of Motivation</vt:lpstr>
      <vt:lpstr>The motivational Process</vt:lpstr>
      <vt:lpstr>Types of motivation</vt:lpstr>
      <vt:lpstr>Theories of Motivation</vt:lpstr>
      <vt:lpstr>Maslow’s Theory</vt:lpstr>
      <vt:lpstr>Maslow’s Hierarchy of Needs Theory</vt:lpstr>
      <vt:lpstr>PowerPoint Presentation</vt:lpstr>
      <vt:lpstr>Frederick Herzberg’s two-factor theory</vt:lpstr>
      <vt:lpstr>Frederick Herzberg’s two-factor theory</vt:lpstr>
      <vt:lpstr>Herzberg’s Two-Factor Theory</vt:lpstr>
      <vt:lpstr>Contrasting Views of Satisfaction and Dissatisfaction</vt:lpstr>
      <vt:lpstr>Equity Theory</vt:lpstr>
      <vt:lpstr>Equity Theory</vt:lpstr>
      <vt:lpstr>Equity Theory</vt:lpstr>
      <vt:lpstr>Expectancy Theory</vt:lpstr>
      <vt:lpstr>Figure illustrates the three relationships in the expectancy model.</vt:lpstr>
      <vt:lpstr>Expectancy Relationships</vt:lpstr>
      <vt:lpstr>Techniques of Motivation</vt:lpstr>
      <vt:lpstr>Reward system to motivate performance</vt:lpstr>
      <vt:lpstr>Effective Reward Management</vt:lpstr>
      <vt:lpstr>Mechanisms to achieve QWL Quality of Work Life</vt:lpstr>
      <vt:lpstr>Technology and Motivation</vt:lpstr>
      <vt:lpstr>Managing Cross-Cultural Motivational Challenges</vt:lpstr>
      <vt:lpstr>Motivating Unique Groups of Workers</vt:lpstr>
      <vt:lpstr>Motivating Professionals</vt:lpstr>
      <vt:lpstr>Motivating Contingent Workers</vt:lpstr>
      <vt:lpstr>Motivating Remote Workers</vt:lpstr>
      <vt:lpstr>Designing Appropriate Rewards Programs</vt:lpstr>
      <vt:lpstr>Discussion questions</vt:lpstr>
      <vt:lpstr>3.2 Leadership</vt:lpstr>
      <vt:lpstr>Learning objectives</vt:lpstr>
      <vt:lpstr>Leadership Definition</vt:lpstr>
      <vt:lpstr>Four major ingredients of Leadership</vt:lpstr>
      <vt:lpstr>PowerPoint Presentation</vt:lpstr>
      <vt:lpstr>PowerPoint Presentation</vt:lpstr>
      <vt:lpstr>The managerial grid</vt:lpstr>
      <vt:lpstr>The managerial grid</vt:lpstr>
      <vt:lpstr>Leadership styles: autocratic</vt:lpstr>
      <vt:lpstr>Leadership styles: servant</vt:lpstr>
      <vt:lpstr>Leadership styles: transformational</vt:lpstr>
      <vt:lpstr>3.2.2 Characteristics of learning organization in the ICT industry</vt:lpstr>
      <vt:lpstr>3.2.2 Characteristics of learning organization in the ICT industry</vt:lpstr>
      <vt:lpstr>3.2.2 Characteristics of learning organization in the ICT industry</vt:lpstr>
      <vt:lpstr>3.2.2 Characteristics of learning organization in the ICT industry</vt:lpstr>
      <vt:lpstr>PowerPoint Presentation</vt:lpstr>
      <vt:lpstr>PowerPoint Presentation</vt:lpstr>
      <vt:lpstr>3.3 Challenges and strategies for motivating and leading technical workforce</vt:lpstr>
      <vt:lpstr>Learning Objectives</vt:lpstr>
      <vt:lpstr>Focus and Goals of Organizational Behavior</vt:lpstr>
      <vt:lpstr>“Organization as an Iceberg” Metaphor</vt:lpstr>
      <vt:lpstr>Focus of Organizational Behavior</vt:lpstr>
      <vt:lpstr>Goals of Organizational Behavior</vt:lpstr>
      <vt:lpstr>Goals of Organizational Behavior</vt:lpstr>
      <vt:lpstr>Attitudes and Job Performance</vt:lpstr>
      <vt:lpstr>Attitude Components</vt:lpstr>
      <vt:lpstr>Job Satisfaction</vt:lpstr>
      <vt:lpstr>Job Involvement and Organizational Commitment</vt:lpstr>
      <vt:lpstr>Employee Engagement</vt:lpstr>
      <vt:lpstr>Attitudes and Consistency</vt:lpstr>
      <vt:lpstr>Cognitive Dissonance Theory</vt:lpstr>
      <vt:lpstr>Assessing Attitudes</vt:lpstr>
      <vt:lpstr>Sample Employee Attitude Survey</vt:lpstr>
      <vt:lpstr>Can Artificial Intelligence Help Improve Employee Attitudes?</vt:lpstr>
      <vt:lpstr>Implications for Managers</vt:lpstr>
      <vt:lpstr>Personality</vt:lpstr>
      <vt:lpstr>Additional Personality Insights (1 of 2)</vt:lpstr>
      <vt:lpstr>Additional Personality Insights (2 of 2)</vt:lpstr>
      <vt:lpstr>Personality Types in Different Cultures</vt:lpstr>
      <vt:lpstr>Emotions and Emotional Intelligence</vt:lpstr>
      <vt:lpstr>Five Dimensions of Emotional Intelligence</vt:lpstr>
      <vt:lpstr>Implications for Managers: Personality</vt:lpstr>
      <vt:lpstr>Four Suggestions Related to Hiring</vt:lpstr>
      <vt:lpstr>Perception</vt:lpstr>
      <vt:lpstr>Factors that Influence Perception</vt:lpstr>
      <vt:lpstr>What Do You See?</vt:lpstr>
      <vt:lpstr>Attribution Theory (1 of 2)</vt:lpstr>
      <vt:lpstr>Attribution Theory</vt:lpstr>
      <vt:lpstr>Attribution Theory (2 of 2)</vt:lpstr>
      <vt:lpstr>Shortcuts Used in Judging Others</vt:lpstr>
      <vt:lpstr>Additional Shortcuts Used in Judging Others</vt:lpstr>
      <vt:lpstr>Implications for Managers: Perception</vt:lpstr>
      <vt:lpstr>Learning</vt:lpstr>
      <vt:lpstr>Social Learning</vt:lpstr>
      <vt:lpstr>Shaping: A Managerial Tool (1 of 2)</vt:lpstr>
      <vt:lpstr>Shaping: A Managerial Tool (2 of 2)</vt:lpstr>
      <vt:lpstr>Implications for Managers: Learning</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 and Organizing</dc:title>
  <cp:lastModifiedBy>Microsoft account</cp:lastModifiedBy>
  <cp:revision>49</cp:revision>
  <dcterms:modified xsi:type="dcterms:W3CDTF">2025-05-21T13:26:35Z</dcterms:modified>
</cp:coreProperties>
</file>