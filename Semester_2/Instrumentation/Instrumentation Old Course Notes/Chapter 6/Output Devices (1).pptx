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5" r:id="rId27"/>
    <p:sldId id="286" r:id="rId28"/>
    <p:sldId id="281" r:id="rId29"/>
    <p:sldId id="282" r:id="rId30"/>
    <p:sldId id="283" r:id="rId31"/>
    <p:sldId id="284" r:id="rId32"/>
    <p:sldId id="287"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7/10/2023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7/10/2023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7/10/2023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Output Devices</a:t>
            </a:r>
            <a:endParaRPr lang="en-US" dirty="0"/>
          </a:p>
        </p:txBody>
      </p:sp>
      <p:sp>
        <p:nvSpPr>
          <p:cNvPr id="3" name="Subtitle 2"/>
          <p:cNvSpPr>
            <a:spLocks noGrp="1"/>
          </p:cNvSpPr>
          <p:nvPr>
            <p:ph type="subTitle" idx="1"/>
          </p:nvPr>
        </p:nvSpPr>
        <p:spPr/>
        <p:txBody>
          <a:bodyPr/>
          <a:lstStyle/>
          <a:p>
            <a:r>
              <a:rPr lang="en-US" dirty="0" smtClean="0"/>
              <a:t>Chapter 6</a:t>
            </a:r>
            <a:endParaRPr lang="en-US" dirty="0"/>
          </a:p>
        </p:txBody>
      </p:sp>
    </p:spTree>
    <p:extLst>
      <p:ext uri="{BB962C8B-B14F-4D97-AF65-F5344CB8AC3E}">
        <p14:creationId xmlns:p14="http://schemas.microsoft.com/office/powerpoint/2010/main" val="73123994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Recorder</a:t>
            </a:r>
            <a:endParaRPr lang="en-US" dirty="0"/>
          </a:p>
        </p:txBody>
      </p:sp>
      <p:sp>
        <p:nvSpPr>
          <p:cNvPr id="3" name="Content Placeholder 2"/>
          <p:cNvSpPr>
            <a:spLocks noGrp="1"/>
          </p:cNvSpPr>
          <p:nvPr>
            <p:ph idx="1"/>
          </p:nvPr>
        </p:nvSpPr>
        <p:spPr/>
        <p:txBody>
          <a:bodyPr>
            <a:normAutofit lnSpcReduction="10000"/>
          </a:bodyPr>
          <a:lstStyle/>
          <a:p>
            <a:r>
              <a:rPr lang="en-US" dirty="0"/>
              <a:t>A recorder is a measuring instrument that displays a time-varying signal in </a:t>
            </a:r>
            <a:r>
              <a:rPr lang="en-US" dirty="0" smtClean="0"/>
              <a:t>a form </a:t>
            </a:r>
            <a:r>
              <a:rPr lang="en-US" dirty="0"/>
              <a:t>easy to </a:t>
            </a:r>
            <a:r>
              <a:rPr lang="en-US" dirty="0" smtClean="0"/>
              <a:t>examine and re-examine, </a:t>
            </a:r>
            <a:r>
              <a:rPr lang="en-US" dirty="0"/>
              <a:t>even after the original signal has ceased to exist</a:t>
            </a:r>
            <a:r>
              <a:rPr lang="en-US" dirty="0" smtClean="0"/>
              <a:t>.</a:t>
            </a:r>
          </a:p>
          <a:p>
            <a:r>
              <a:rPr lang="en-US" dirty="0" smtClean="0"/>
              <a:t>Recording preserves the experimental data in a manageable and usable form.</a:t>
            </a:r>
          </a:p>
          <a:p>
            <a:r>
              <a:rPr lang="en-US" dirty="0" smtClean="0"/>
              <a:t>Two types:</a:t>
            </a:r>
          </a:p>
          <a:p>
            <a:pPr lvl="1"/>
            <a:r>
              <a:rPr lang="en-US" dirty="0" smtClean="0"/>
              <a:t>Analog Recorder </a:t>
            </a:r>
          </a:p>
          <a:p>
            <a:pPr lvl="1"/>
            <a:r>
              <a:rPr lang="en-US" dirty="0" smtClean="0"/>
              <a:t>Digital Recorder</a:t>
            </a:r>
            <a:endParaRPr lang="en-US" dirty="0"/>
          </a:p>
        </p:txBody>
      </p:sp>
    </p:spTree>
    <p:extLst>
      <p:ext uri="{BB962C8B-B14F-4D97-AF65-F5344CB8AC3E}">
        <p14:creationId xmlns:p14="http://schemas.microsoft.com/office/powerpoint/2010/main" val="36519604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Recorder</a:t>
            </a:r>
            <a:endParaRPr lang="en-US" dirty="0"/>
          </a:p>
        </p:txBody>
      </p:sp>
      <p:sp>
        <p:nvSpPr>
          <p:cNvPr id="3" name="Content Placeholder 2"/>
          <p:cNvSpPr>
            <a:spLocks noGrp="1"/>
          </p:cNvSpPr>
          <p:nvPr>
            <p:ph idx="1"/>
          </p:nvPr>
        </p:nvSpPr>
        <p:spPr>
          <a:xfrm>
            <a:off x="0" y="1143000"/>
            <a:ext cx="9144000" cy="5638800"/>
          </a:xfrm>
        </p:spPr>
        <p:txBody>
          <a:bodyPr/>
          <a:lstStyle/>
          <a:p>
            <a:pPr marL="0" indent="0" algn="ctr">
              <a:buNone/>
            </a:pPr>
            <a:r>
              <a:rPr lang="en-US" b="1" dirty="0" smtClean="0"/>
              <a:t>Analog Recorder</a:t>
            </a:r>
          </a:p>
          <a:p>
            <a:pPr marL="0" indent="0" algn="ctr">
              <a:buNone/>
            </a:pPr>
            <a:endParaRPr lang="en-US" dirty="0"/>
          </a:p>
          <a:p>
            <a:pPr marL="0" indent="0" algn="ctr">
              <a:buNone/>
            </a:pPr>
            <a:endParaRPr lang="en-US" dirty="0" smtClean="0"/>
          </a:p>
          <a:p>
            <a:pPr marL="0" indent="0">
              <a:buNone/>
            </a:pPr>
            <a:endParaRPr lang="en-US" dirty="0" smtClean="0"/>
          </a:p>
          <a:p>
            <a:pPr marL="0" indent="0">
              <a:buNone/>
            </a:pPr>
            <a:r>
              <a:rPr lang="en-US" sz="2400" dirty="0" smtClean="0"/>
              <a:t>      </a:t>
            </a:r>
            <a:r>
              <a:rPr lang="en-US" sz="2400" b="1" dirty="0" smtClean="0"/>
              <a:t>Graphic Recorder</a:t>
            </a:r>
            <a:r>
              <a:rPr lang="en-US" sz="2400" dirty="0" smtClean="0"/>
              <a:t> </a:t>
            </a:r>
            <a:r>
              <a:rPr lang="en-US" sz="2000" dirty="0" smtClean="0"/>
              <a:t>       </a:t>
            </a:r>
            <a:r>
              <a:rPr lang="en-US" sz="2400" b="1" dirty="0" err="1" smtClean="0"/>
              <a:t>Oscillographic</a:t>
            </a:r>
            <a:r>
              <a:rPr lang="en-US" sz="2400" b="1" dirty="0" smtClean="0"/>
              <a:t> Recorder</a:t>
            </a:r>
            <a:r>
              <a:rPr lang="en-US" sz="2000" dirty="0" smtClean="0"/>
              <a:t>	    </a:t>
            </a:r>
            <a:r>
              <a:rPr lang="en-US" sz="2400" b="1" dirty="0" smtClean="0"/>
              <a:t>Magnetic Tape 							    Recorder</a:t>
            </a:r>
          </a:p>
          <a:p>
            <a:pPr marL="0" indent="0">
              <a:buNone/>
            </a:pPr>
            <a:endParaRPr lang="en-US" sz="2400" b="1" dirty="0"/>
          </a:p>
          <a:p>
            <a:pPr marL="0" indent="0">
              <a:buNone/>
            </a:pPr>
            <a:endParaRPr lang="en-US" sz="2400" b="1" dirty="0" smtClean="0"/>
          </a:p>
          <a:p>
            <a:pPr marL="0" indent="0">
              <a:buNone/>
            </a:pPr>
            <a:r>
              <a:rPr lang="en-US" sz="2400" b="1" dirty="0" smtClean="0"/>
              <a:t>Strip Chart Recorder	      X-Y Recorder	  Circular Chart Recorder</a:t>
            </a:r>
            <a:endParaRPr lang="en-US" sz="2400" b="1" dirty="0"/>
          </a:p>
        </p:txBody>
      </p:sp>
      <p:cxnSp>
        <p:nvCxnSpPr>
          <p:cNvPr id="11" name="Straight Connector 10"/>
          <p:cNvCxnSpPr/>
          <p:nvPr/>
        </p:nvCxnSpPr>
        <p:spPr>
          <a:xfrm>
            <a:off x="1295400" y="2667000"/>
            <a:ext cx="6705600" cy="0"/>
          </a:xfrm>
          <a:prstGeom prst="line">
            <a:avLst/>
          </a:prstGeom>
        </p:spPr>
        <p:style>
          <a:lnRef idx="3">
            <a:schemeClr val="dk1"/>
          </a:lnRef>
          <a:fillRef idx="0">
            <a:schemeClr val="dk1"/>
          </a:fillRef>
          <a:effectRef idx="2">
            <a:schemeClr val="dk1"/>
          </a:effectRef>
          <a:fontRef idx="minor">
            <a:schemeClr val="tx1"/>
          </a:fontRef>
        </p:style>
      </p:cxnSp>
      <p:cxnSp>
        <p:nvCxnSpPr>
          <p:cNvPr id="13" name="Straight Connector 12"/>
          <p:cNvCxnSpPr/>
          <p:nvPr/>
        </p:nvCxnSpPr>
        <p:spPr>
          <a:xfrm>
            <a:off x="4419600" y="1600200"/>
            <a:ext cx="0" cy="1066800"/>
          </a:xfrm>
          <a:prstGeom prst="line">
            <a:avLst/>
          </a:prstGeom>
        </p:spPr>
        <p:style>
          <a:lnRef idx="3">
            <a:schemeClr val="dk1"/>
          </a:lnRef>
          <a:fillRef idx="0">
            <a:schemeClr val="dk1"/>
          </a:fillRef>
          <a:effectRef idx="2">
            <a:schemeClr val="dk1"/>
          </a:effectRef>
          <a:fontRef idx="minor">
            <a:schemeClr val="tx1"/>
          </a:fontRef>
        </p:style>
      </p:cxnSp>
      <p:cxnSp>
        <p:nvCxnSpPr>
          <p:cNvPr id="16" name="Straight Arrow Connector 15"/>
          <p:cNvCxnSpPr/>
          <p:nvPr/>
        </p:nvCxnSpPr>
        <p:spPr>
          <a:xfrm>
            <a:off x="1295400" y="2670464"/>
            <a:ext cx="0" cy="834736"/>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0" name="Straight Arrow Connector 19"/>
          <p:cNvCxnSpPr/>
          <p:nvPr/>
        </p:nvCxnSpPr>
        <p:spPr>
          <a:xfrm>
            <a:off x="4419600" y="2667000"/>
            <a:ext cx="0" cy="8382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2" name="Straight Arrow Connector 21"/>
          <p:cNvCxnSpPr/>
          <p:nvPr/>
        </p:nvCxnSpPr>
        <p:spPr>
          <a:xfrm>
            <a:off x="7980218" y="2705100"/>
            <a:ext cx="0" cy="8001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7" name="Straight Connector 26"/>
          <p:cNvCxnSpPr/>
          <p:nvPr/>
        </p:nvCxnSpPr>
        <p:spPr>
          <a:xfrm>
            <a:off x="1295400" y="4038600"/>
            <a:ext cx="0" cy="609600"/>
          </a:xfrm>
          <a:prstGeom prst="line">
            <a:avLst/>
          </a:prstGeom>
        </p:spPr>
        <p:style>
          <a:lnRef idx="3">
            <a:schemeClr val="dk1"/>
          </a:lnRef>
          <a:fillRef idx="0">
            <a:schemeClr val="dk1"/>
          </a:fillRef>
          <a:effectRef idx="2">
            <a:schemeClr val="dk1"/>
          </a:effectRef>
          <a:fontRef idx="minor">
            <a:schemeClr val="tx1"/>
          </a:fontRef>
        </p:style>
      </p:cxnSp>
      <p:cxnSp>
        <p:nvCxnSpPr>
          <p:cNvPr id="29" name="Straight Connector 28"/>
          <p:cNvCxnSpPr/>
          <p:nvPr/>
        </p:nvCxnSpPr>
        <p:spPr>
          <a:xfrm>
            <a:off x="762000" y="4648200"/>
            <a:ext cx="6477000" cy="0"/>
          </a:xfrm>
          <a:prstGeom prst="line">
            <a:avLst/>
          </a:prstGeom>
        </p:spPr>
        <p:style>
          <a:lnRef idx="3">
            <a:schemeClr val="dk1"/>
          </a:lnRef>
          <a:fillRef idx="0">
            <a:schemeClr val="dk1"/>
          </a:fillRef>
          <a:effectRef idx="2">
            <a:schemeClr val="dk1"/>
          </a:effectRef>
          <a:fontRef idx="minor">
            <a:schemeClr val="tx1"/>
          </a:fontRef>
        </p:style>
      </p:cxnSp>
      <p:cxnSp>
        <p:nvCxnSpPr>
          <p:cNvPr id="31" name="Straight Arrow Connector 30"/>
          <p:cNvCxnSpPr/>
          <p:nvPr/>
        </p:nvCxnSpPr>
        <p:spPr>
          <a:xfrm>
            <a:off x="762000" y="4648200"/>
            <a:ext cx="0" cy="6096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3" name="Straight Arrow Connector 32"/>
          <p:cNvCxnSpPr/>
          <p:nvPr/>
        </p:nvCxnSpPr>
        <p:spPr>
          <a:xfrm>
            <a:off x="4000500" y="4648200"/>
            <a:ext cx="0" cy="6096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5" name="Straight Arrow Connector 34"/>
          <p:cNvCxnSpPr/>
          <p:nvPr/>
        </p:nvCxnSpPr>
        <p:spPr>
          <a:xfrm>
            <a:off x="7239000" y="4648200"/>
            <a:ext cx="0" cy="6096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8565589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Strip Chart Recorder</a:t>
            </a:r>
            <a:endParaRPr lang="en-US" dirty="0"/>
          </a:p>
        </p:txBody>
      </p:sp>
      <p:sp>
        <p:nvSpPr>
          <p:cNvPr id="3" name="Content Placeholder 2"/>
          <p:cNvSpPr>
            <a:spLocks noGrp="1"/>
          </p:cNvSpPr>
          <p:nvPr>
            <p:ph idx="1"/>
          </p:nvPr>
        </p:nvSpPr>
        <p:spPr/>
        <p:txBody>
          <a:bodyPr>
            <a:normAutofit lnSpcReduction="10000"/>
          </a:bodyPr>
          <a:lstStyle/>
          <a:p>
            <a:r>
              <a:rPr lang="en-US" dirty="0" smtClean="0"/>
              <a:t>It records one or more  variables with respect to time. It is a X-t recorder.</a:t>
            </a:r>
          </a:p>
          <a:p>
            <a:r>
              <a:rPr lang="en-US" dirty="0" smtClean="0"/>
              <a:t>A strip chart recorder consists of</a:t>
            </a:r>
            <a:r>
              <a:rPr lang="en-US" dirty="0"/>
              <a:t>: </a:t>
            </a:r>
            <a:endParaRPr lang="en-US" dirty="0" smtClean="0"/>
          </a:p>
          <a:p>
            <a:pPr lvl="1"/>
            <a:r>
              <a:rPr lang="en-US" dirty="0" smtClean="0"/>
              <a:t>A long roll of graph paper moving vertically.</a:t>
            </a:r>
          </a:p>
          <a:p>
            <a:pPr lvl="1"/>
            <a:r>
              <a:rPr lang="en-US" dirty="0" smtClean="0"/>
              <a:t>A system for driving the paper at some selected speed.</a:t>
            </a:r>
          </a:p>
          <a:p>
            <a:pPr lvl="1"/>
            <a:r>
              <a:rPr lang="en-US" dirty="0" smtClean="0"/>
              <a:t>A stylus for making marks on the graph paper.</a:t>
            </a:r>
          </a:p>
          <a:p>
            <a:pPr lvl="1"/>
            <a:r>
              <a:rPr lang="en-US" dirty="0" smtClean="0"/>
              <a:t>A stylus driving system which moves the stylus  in exact replica of quantity being measured.</a:t>
            </a:r>
            <a:endParaRPr lang="en-US" dirty="0"/>
          </a:p>
        </p:txBody>
      </p:sp>
    </p:spTree>
    <p:extLst>
      <p:ext uri="{BB962C8B-B14F-4D97-AF65-F5344CB8AC3E}">
        <p14:creationId xmlns:p14="http://schemas.microsoft.com/office/powerpoint/2010/main" val="2845173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Strip Chart Recorder</a:t>
            </a:r>
            <a:endParaRPr lang="en-US" dirty="0"/>
          </a:p>
        </p:txBody>
      </p:sp>
      <p:sp>
        <p:nvSpPr>
          <p:cNvPr id="3" name="Content Placeholder 2"/>
          <p:cNvSpPr>
            <a:spLocks noGrp="1"/>
          </p:cNvSpPr>
          <p:nvPr>
            <p:ph idx="1"/>
          </p:nvPr>
        </p:nvSpPr>
        <p:spPr>
          <a:xfrm>
            <a:off x="457200" y="1143000"/>
            <a:ext cx="8229600" cy="5638800"/>
          </a:xfrm>
        </p:spPr>
        <p:txBody>
          <a:bodyPr/>
          <a:lstStyle/>
          <a:p>
            <a:pPr lvl="1"/>
            <a:r>
              <a:rPr lang="en-US" dirty="0" smtClean="0"/>
              <a:t>A range selector to fit the input within the acceptable level.</a:t>
            </a:r>
          </a:p>
          <a:p>
            <a:r>
              <a:rPr lang="en-US" dirty="0" smtClean="0"/>
              <a:t>The strip chart recorder is as:</a:t>
            </a: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0600" y="2590800"/>
            <a:ext cx="6934200" cy="4072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43848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Strip Chart Recorder</a:t>
            </a:r>
          </a:p>
        </p:txBody>
      </p:sp>
      <p:sp>
        <p:nvSpPr>
          <p:cNvPr id="3" name="Content Placeholder 2"/>
          <p:cNvSpPr>
            <a:spLocks noGrp="1"/>
          </p:cNvSpPr>
          <p:nvPr>
            <p:ph idx="1"/>
          </p:nvPr>
        </p:nvSpPr>
        <p:spPr>
          <a:xfrm>
            <a:off x="381000" y="1219200"/>
            <a:ext cx="8458200" cy="5410200"/>
          </a:xfrm>
        </p:spPr>
        <p:txBody>
          <a:bodyPr/>
          <a:lstStyle/>
          <a:p>
            <a:r>
              <a:rPr lang="en-US" dirty="0" smtClean="0"/>
              <a:t>Different systems in strip chart recorder:</a:t>
            </a:r>
          </a:p>
          <a:p>
            <a:pPr marL="0" indent="0">
              <a:buNone/>
            </a:pPr>
            <a:r>
              <a:rPr lang="en-US" dirty="0"/>
              <a:t> </a:t>
            </a:r>
            <a:r>
              <a:rPr lang="en-US" dirty="0" smtClean="0"/>
              <a:t>   1.Pen Drive System:</a:t>
            </a:r>
          </a:p>
          <a:p>
            <a:pPr lvl="1"/>
            <a:r>
              <a:rPr lang="en-US" dirty="0" smtClean="0"/>
              <a:t>Consists of long roll of paper moving vertically driven by a synchronous motor equipped with a speed selector.</a:t>
            </a:r>
          </a:p>
          <a:p>
            <a:pPr marL="457200" lvl="1" indent="0">
              <a:buNone/>
            </a:pPr>
            <a:r>
              <a:rPr lang="en-US" sz="3200" dirty="0" smtClean="0"/>
              <a:t>2. Tracing System:</a:t>
            </a:r>
            <a:endParaRPr lang="en-US" sz="3200" dirty="0"/>
          </a:p>
          <a:p>
            <a:pPr lvl="1"/>
            <a:r>
              <a:rPr lang="en-US" dirty="0" smtClean="0"/>
              <a:t>Two types of tracing system to produce graphic representation.</a:t>
            </a:r>
          </a:p>
          <a:p>
            <a:pPr lvl="2"/>
            <a:r>
              <a:rPr lang="en-US" dirty="0" smtClean="0"/>
              <a:t>Curvilinear System</a:t>
            </a:r>
          </a:p>
          <a:p>
            <a:pPr lvl="2"/>
            <a:r>
              <a:rPr lang="en-US" dirty="0" smtClean="0"/>
              <a:t>Rectilinear System</a:t>
            </a:r>
          </a:p>
        </p:txBody>
      </p:sp>
    </p:spTree>
    <p:extLst>
      <p:ext uri="{BB962C8B-B14F-4D97-AF65-F5344CB8AC3E}">
        <p14:creationId xmlns:p14="http://schemas.microsoft.com/office/powerpoint/2010/main" val="20672085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Strip Chart Recorder</a:t>
            </a:r>
          </a:p>
        </p:txBody>
      </p:sp>
      <p:sp>
        <p:nvSpPr>
          <p:cNvPr id="3" name="Content Placeholder 2"/>
          <p:cNvSpPr>
            <a:spLocks noGrp="1"/>
          </p:cNvSpPr>
          <p:nvPr>
            <p:ph idx="1"/>
          </p:nvPr>
        </p:nvSpPr>
        <p:spPr/>
        <p:txBody>
          <a:bodyPr/>
          <a:lstStyle/>
          <a:p>
            <a:pPr marL="0" indent="0">
              <a:buNone/>
            </a:pPr>
            <a:r>
              <a:rPr lang="en-US" dirty="0" smtClean="0"/>
              <a:t>3. Marking Mechanism:</a:t>
            </a:r>
          </a:p>
          <a:p>
            <a:pPr lvl="1"/>
            <a:r>
              <a:rPr lang="en-US" dirty="0" smtClean="0"/>
              <a:t>Marking with ink filled stylus</a:t>
            </a:r>
          </a:p>
          <a:p>
            <a:pPr lvl="1"/>
            <a:r>
              <a:rPr lang="en-US" dirty="0" smtClean="0"/>
              <a:t>Marking with heated stylus</a:t>
            </a:r>
          </a:p>
          <a:p>
            <a:pPr lvl="1"/>
            <a:r>
              <a:rPr lang="en-US" dirty="0" smtClean="0"/>
              <a:t>Chopped bar (impart printing)</a:t>
            </a:r>
          </a:p>
          <a:p>
            <a:pPr lvl="1"/>
            <a:r>
              <a:rPr lang="en-US" dirty="0" smtClean="0"/>
              <a:t>Electric stylus marking</a:t>
            </a:r>
          </a:p>
          <a:p>
            <a:pPr lvl="1"/>
            <a:r>
              <a:rPr lang="en-US" dirty="0" smtClean="0"/>
              <a:t>Optical marking</a:t>
            </a:r>
          </a:p>
          <a:p>
            <a:pPr lvl="1"/>
            <a:r>
              <a:rPr lang="en-US" dirty="0" smtClean="0"/>
              <a:t>Electrostatic stylus</a:t>
            </a:r>
            <a:endParaRPr lang="en-US" dirty="0"/>
          </a:p>
        </p:txBody>
      </p:sp>
    </p:spTree>
    <p:extLst>
      <p:ext uri="{BB962C8B-B14F-4D97-AF65-F5344CB8AC3E}">
        <p14:creationId xmlns:p14="http://schemas.microsoft.com/office/powerpoint/2010/main" val="12271177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X-Y Recorder</a:t>
            </a:r>
            <a:endParaRPr lang="en-US" dirty="0"/>
          </a:p>
        </p:txBody>
      </p:sp>
      <p:sp>
        <p:nvSpPr>
          <p:cNvPr id="3" name="Content Placeholder 2"/>
          <p:cNvSpPr>
            <a:spLocks noGrp="1"/>
          </p:cNvSpPr>
          <p:nvPr>
            <p:ph idx="1"/>
          </p:nvPr>
        </p:nvSpPr>
        <p:spPr/>
        <p:txBody>
          <a:bodyPr>
            <a:normAutofit lnSpcReduction="10000"/>
          </a:bodyPr>
          <a:lstStyle/>
          <a:p>
            <a:r>
              <a:rPr lang="en-US" i="1" dirty="0"/>
              <a:t>X-Y </a:t>
            </a:r>
            <a:r>
              <a:rPr lang="en-US" dirty="0"/>
              <a:t>recorders or X-Y plotters accept two inputs and create a chart or graph of one input versus the other. </a:t>
            </a:r>
            <a:endParaRPr lang="en-US" dirty="0" smtClean="0"/>
          </a:p>
          <a:p>
            <a:r>
              <a:rPr lang="en-US" dirty="0" smtClean="0"/>
              <a:t>They </a:t>
            </a:r>
            <a:r>
              <a:rPr lang="en-US" dirty="0"/>
              <a:t>are commonly used to determine the relationship between the two inputs</a:t>
            </a:r>
            <a:r>
              <a:rPr lang="en-US" dirty="0" smtClean="0"/>
              <a:t>.</a:t>
            </a:r>
          </a:p>
          <a:p>
            <a:r>
              <a:rPr lang="en-US" dirty="0"/>
              <a:t>With the help of these </a:t>
            </a:r>
            <a:r>
              <a:rPr lang="en-US" dirty="0" smtClean="0"/>
              <a:t>recorders</a:t>
            </a:r>
            <a:r>
              <a:rPr lang="en-US" dirty="0"/>
              <a:t> and appropriate transducers, a physical quantity may be plotted against another physical quantity.</a:t>
            </a:r>
          </a:p>
        </p:txBody>
      </p:sp>
    </p:spTree>
    <p:extLst>
      <p:ext uri="{BB962C8B-B14F-4D97-AF65-F5344CB8AC3E}">
        <p14:creationId xmlns:p14="http://schemas.microsoft.com/office/powerpoint/2010/main" val="22948768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X-Y Recorder</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0600" y="1295400"/>
            <a:ext cx="7315200" cy="5230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37261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Working of X-Y </a:t>
            </a:r>
            <a:r>
              <a:rPr lang="en-US" dirty="0"/>
              <a:t>Recorder</a:t>
            </a:r>
          </a:p>
        </p:txBody>
      </p:sp>
      <p:sp>
        <p:nvSpPr>
          <p:cNvPr id="3" name="Content Placeholder 2"/>
          <p:cNvSpPr>
            <a:spLocks noGrp="1"/>
          </p:cNvSpPr>
          <p:nvPr>
            <p:ph idx="1"/>
          </p:nvPr>
        </p:nvSpPr>
        <p:spPr/>
        <p:txBody>
          <a:bodyPr>
            <a:normAutofit fontScale="85000" lnSpcReduction="10000"/>
          </a:bodyPr>
          <a:lstStyle/>
          <a:p>
            <a:pPr fontAlgn="base"/>
            <a:r>
              <a:rPr lang="en-US" dirty="0"/>
              <a:t>A signal enters in each of the two channels.</a:t>
            </a:r>
          </a:p>
          <a:p>
            <a:pPr fontAlgn="base"/>
            <a:r>
              <a:rPr lang="en-US" dirty="0"/>
              <a:t>Attenuators are used to bring the input signals to the levels (full scale range: 0.5 mV) acceptable by the recorder.</a:t>
            </a:r>
          </a:p>
          <a:p>
            <a:pPr fontAlgn="base"/>
            <a:r>
              <a:rPr lang="en-US" dirty="0"/>
              <a:t>As shown in figure, error signals (the difference between the input signals and reference voltage) are fed to a chopper which convert dc signals to ac signals.</a:t>
            </a:r>
          </a:p>
          <a:p>
            <a:pPr fontAlgn="base"/>
            <a:r>
              <a:rPr lang="en-US" dirty="0"/>
              <a:t>The signals are then amplified in order to actuate servomotors which are used to balance the system and hold it in balance as the value of the quantity being recorded changes.</a:t>
            </a:r>
          </a:p>
          <a:p>
            <a:endParaRPr lang="en-US" dirty="0"/>
          </a:p>
        </p:txBody>
      </p:sp>
    </p:spTree>
    <p:extLst>
      <p:ext uri="{BB962C8B-B14F-4D97-AF65-F5344CB8AC3E}">
        <p14:creationId xmlns:p14="http://schemas.microsoft.com/office/powerpoint/2010/main" val="24769565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of X-Y Recorder</a:t>
            </a:r>
          </a:p>
        </p:txBody>
      </p:sp>
      <p:sp>
        <p:nvSpPr>
          <p:cNvPr id="3" name="Content Placeholder 2"/>
          <p:cNvSpPr>
            <a:spLocks noGrp="1"/>
          </p:cNvSpPr>
          <p:nvPr>
            <p:ph idx="1"/>
          </p:nvPr>
        </p:nvSpPr>
        <p:spPr/>
        <p:txBody>
          <a:bodyPr>
            <a:normAutofit/>
          </a:bodyPr>
          <a:lstStyle/>
          <a:p>
            <a:pPr fontAlgn="base"/>
            <a:r>
              <a:rPr lang="en-US" dirty="0"/>
              <a:t>The action described above takes place in both the axes simultaneously. Thus, we get a record of one variable w.r.t. another.</a:t>
            </a:r>
          </a:p>
          <a:p>
            <a:pPr fontAlgn="base"/>
            <a:r>
              <a:rPr lang="en-US" dirty="0" smtClean="0"/>
              <a:t>An </a:t>
            </a:r>
            <a:r>
              <a:rPr lang="en-US" dirty="0"/>
              <a:t>X-Y recorder may have a sensitivity of 10 µV/mm, a </a:t>
            </a:r>
            <a:r>
              <a:rPr lang="en-US" dirty="0" smtClean="0"/>
              <a:t>speed </a:t>
            </a:r>
            <a:r>
              <a:rPr lang="en-US" dirty="0"/>
              <a:t>of 1.5 m/s, a frequency response about 6 Hz for both axes, chart size of 250 x 180 mm, and accuracy of about ± 0.3%.</a:t>
            </a:r>
          </a:p>
          <a:p>
            <a:endParaRPr lang="en-US" dirty="0"/>
          </a:p>
        </p:txBody>
      </p:sp>
    </p:spTree>
    <p:extLst>
      <p:ext uri="{BB962C8B-B14F-4D97-AF65-F5344CB8AC3E}">
        <p14:creationId xmlns:p14="http://schemas.microsoft.com/office/powerpoint/2010/main" val="246909406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Applications </a:t>
            </a:r>
            <a:r>
              <a:rPr lang="en-US" dirty="0"/>
              <a:t>Of X-Y Recorder</a:t>
            </a:r>
            <a:br>
              <a:rPr lang="en-US" dirty="0"/>
            </a:br>
            <a:endParaRPr lang="en-US" dirty="0"/>
          </a:p>
        </p:txBody>
      </p:sp>
      <p:sp>
        <p:nvSpPr>
          <p:cNvPr id="3" name="Content Placeholder 2"/>
          <p:cNvSpPr>
            <a:spLocks noGrp="1"/>
          </p:cNvSpPr>
          <p:nvPr>
            <p:ph idx="1"/>
          </p:nvPr>
        </p:nvSpPr>
        <p:spPr>
          <a:xfrm>
            <a:off x="304800" y="1219200"/>
            <a:ext cx="8610600" cy="5410200"/>
          </a:xfrm>
        </p:spPr>
        <p:txBody>
          <a:bodyPr>
            <a:normAutofit fontScale="92500" lnSpcReduction="20000"/>
          </a:bodyPr>
          <a:lstStyle/>
          <a:p>
            <a:pPr fontAlgn="base"/>
            <a:r>
              <a:rPr lang="en-US" dirty="0"/>
              <a:t>Speed-torque characteristics of motors</a:t>
            </a:r>
          </a:p>
          <a:p>
            <a:pPr fontAlgn="base"/>
            <a:r>
              <a:rPr lang="en-US" dirty="0"/>
              <a:t>Plotting of characteristics of vacuum tubes, </a:t>
            </a:r>
            <a:r>
              <a:rPr lang="en-US" dirty="0" err="1"/>
              <a:t>Zener</a:t>
            </a:r>
            <a:r>
              <a:rPr lang="en-US" dirty="0"/>
              <a:t> diodes, rectifiers, transistors etc.</a:t>
            </a:r>
          </a:p>
          <a:p>
            <a:pPr fontAlgn="base"/>
            <a:r>
              <a:rPr lang="en-US" dirty="0"/>
              <a:t>Pressure-volume diagrams for LC engines</a:t>
            </a:r>
          </a:p>
          <a:p>
            <a:pPr fontAlgn="base"/>
            <a:r>
              <a:rPr lang="en-US" dirty="0"/>
              <a:t>Pressure-flow studies for lungs</a:t>
            </a:r>
          </a:p>
          <a:p>
            <a:pPr fontAlgn="base"/>
            <a:r>
              <a:rPr lang="en-US" dirty="0"/>
              <a:t>Lift drag wind tunnel tests</a:t>
            </a:r>
          </a:p>
          <a:p>
            <a:pPr fontAlgn="base"/>
            <a:r>
              <a:rPr lang="en-US" dirty="0"/>
              <a:t>Regulation curve (output versus input voltage) of power supplies</a:t>
            </a:r>
          </a:p>
          <a:p>
            <a:pPr fontAlgn="base"/>
            <a:r>
              <a:rPr lang="en-US" dirty="0"/>
              <a:t>Electrical characteristics of materials such as resistance versus temperature</a:t>
            </a:r>
          </a:p>
          <a:p>
            <a:pPr fontAlgn="base"/>
            <a:r>
              <a:rPr lang="en-US" dirty="0"/>
              <a:t>Plotting stress versus strain curves, hysteresis curves etc.</a:t>
            </a:r>
          </a:p>
        </p:txBody>
      </p:sp>
    </p:spTree>
    <p:extLst>
      <p:ext uri="{BB962C8B-B14F-4D97-AF65-F5344CB8AC3E}">
        <p14:creationId xmlns:p14="http://schemas.microsoft.com/office/powerpoint/2010/main" val="349400793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Magnetic Tape Recorder</a:t>
            </a:r>
            <a:endParaRPr lang="en-US" dirty="0"/>
          </a:p>
        </p:txBody>
      </p:sp>
      <p:sp>
        <p:nvSpPr>
          <p:cNvPr id="3" name="Content Placeholder 2"/>
          <p:cNvSpPr>
            <a:spLocks noGrp="1"/>
          </p:cNvSpPr>
          <p:nvPr>
            <p:ph idx="1"/>
          </p:nvPr>
        </p:nvSpPr>
        <p:spPr>
          <a:xfrm>
            <a:off x="152400" y="1371600"/>
            <a:ext cx="8839200" cy="5334000"/>
          </a:xfrm>
        </p:spPr>
        <p:txBody>
          <a:bodyPr>
            <a:normAutofit lnSpcReduction="10000"/>
          </a:bodyPr>
          <a:lstStyle/>
          <a:p>
            <a:r>
              <a:rPr lang="en-US" dirty="0"/>
              <a:t>The major advantage of using a magnetic tape recorder is that once the data </a:t>
            </a:r>
            <a:r>
              <a:rPr lang="en-US" dirty="0" smtClean="0"/>
              <a:t>is recorded</a:t>
            </a:r>
            <a:r>
              <a:rPr lang="en-US" dirty="0"/>
              <a:t>, it can be replayed an almost </a:t>
            </a:r>
            <a:r>
              <a:rPr lang="en-US" dirty="0" smtClean="0"/>
              <a:t>indefinite </a:t>
            </a:r>
            <a:r>
              <a:rPr lang="en-US" dirty="0"/>
              <a:t>number of times.</a:t>
            </a:r>
          </a:p>
          <a:p>
            <a:r>
              <a:rPr lang="en-US" dirty="0"/>
              <a:t>The recording period may vary from a few </a:t>
            </a:r>
            <a:r>
              <a:rPr lang="en-US" dirty="0" smtClean="0"/>
              <a:t> minutes </a:t>
            </a:r>
            <a:r>
              <a:rPr lang="en-US" dirty="0"/>
              <a:t>to several days. </a:t>
            </a:r>
            <a:r>
              <a:rPr lang="en-US" dirty="0" smtClean="0"/>
              <a:t>Speed translation </a:t>
            </a:r>
            <a:r>
              <a:rPr lang="en-US" dirty="0"/>
              <a:t>of the data captured can be provided, i.e. fast data can be </a:t>
            </a:r>
            <a:r>
              <a:rPr lang="en-US" dirty="0" smtClean="0"/>
              <a:t>slowed down </a:t>
            </a:r>
            <a:r>
              <a:rPr lang="en-US" dirty="0"/>
              <a:t>and slow data speeded up by using different record and reproduce speeds.</a:t>
            </a:r>
          </a:p>
          <a:p>
            <a:r>
              <a:rPr lang="en-US" dirty="0" smtClean="0"/>
              <a:t>Magnetic tape recorder have </a:t>
            </a:r>
            <a:r>
              <a:rPr lang="en-US" dirty="0"/>
              <a:t>a good response to high frequency, i.e. </a:t>
            </a:r>
            <a:r>
              <a:rPr lang="en-US" dirty="0" smtClean="0"/>
              <a:t>they can </a:t>
            </a:r>
            <a:r>
              <a:rPr lang="en-US" dirty="0"/>
              <a:t>be used to record high frequency signals. </a:t>
            </a:r>
          </a:p>
        </p:txBody>
      </p:sp>
    </p:spTree>
    <p:extLst>
      <p:ext uri="{BB962C8B-B14F-4D97-AF65-F5344CB8AC3E}">
        <p14:creationId xmlns:p14="http://schemas.microsoft.com/office/powerpoint/2010/main" val="128665577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Magnetic Tape Recorder</a:t>
            </a:r>
            <a:endParaRPr lang="en-US" dirty="0"/>
          </a:p>
        </p:txBody>
      </p:sp>
      <p:sp>
        <p:nvSpPr>
          <p:cNvPr id="3" name="Content Placeholder 2"/>
          <p:cNvSpPr>
            <a:spLocks noGrp="1"/>
          </p:cNvSpPr>
          <p:nvPr>
            <p:ph idx="1"/>
          </p:nvPr>
        </p:nvSpPr>
        <p:spPr/>
        <p:txBody>
          <a:bodyPr/>
          <a:lstStyle/>
          <a:p>
            <a:r>
              <a:rPr lang="en-US" sz="3600" b="1" dirty="0"/>
              <a:t>B</a:t>
            </a:r>
            <a:r>
              <a:rPr lang="en-US" sz="3600" b="1" dirty="0" smtClean="0"/>
              <a:t>asic components:</a:t>
            </a:r>
            <a:endParaRPr lang="en-US" sz="3600" b="1" dirty="0"/>
          </a:p>
          <a:p>
            <a:pPr marL="0" indent="0">
              <a:buNone/>
            </a:pPr>
            <a:r>
              <a:rPr lang="en-US" dirty="0" smtClean="0"/>
              <a:t>	1</a:t>
            </a:r>
            <a:r>
              <a:rPr lang="en-US" dirty="0"/>
              <a:t>. </a:t>
            </a:r>
            <a:r>
              <a:rPr lang="en-US" dirty="0" smtClean="0"/>
              <a:t>Magnetic Tape</a:t>
            </a:r>
            <a:endParaRPr lang="en-US" dirty="0"/>
          </a:p>
          <a:p>
            <a:pPr marL="0" indent="0">
              <a:buNone/>
            </a:pPr>
            <a:r>
              <a:rPr lang="en-US" dirty="0" smtClean="0"/>
              <a:t>	2</a:t>
            </a:r>
            <a:r>
              <a:rPr lang="en-US" dirty="0"/>
              <a:t>. </a:t>
            </a:r>
            <a:r>
              <a:rPr lang="en-US" dirty="0" smtClean="0"/>
              <a:t>Recording Head</a:t>
            </a:r>
            <a:endParaRPr lang="en-US" dirty="0"/>
          </a:p>
          <a:p>
            <a:pPr marL="0" indent="0">
              <a:buNone/>
            </a:pPr>
            <a:r>
              <a:rPr lang="en-US" dirty="0" smtClean="0"/>
              <a:t>	3</a:t>
            </a:r>
            <a:r>
              <a:rPr lang="en-US" dirty="0"/>
              <a:t>. Reproducing Head</a:t>
            </a:r>
          </a:p>
          <a:p>
            <a:pPr marL="0" indent="0">
              <a:buNone/>
            </a:pPr>
            <a:r>
              <a:rPr lang="en-US" dirty="0" smtClean="0"/>
              <a:t>	4</a:t>
            </a:r>
            <a:r>
              <a:rPr lang="en-US" dirty="0"/>
              <a:t>. Tape transport mechanism</a:t>
            </a:r>
          </a:p>
          <a:p>
            <a:pPr marL="0" indent="0">
              <a:buNone/>
            </a:pPr>
            <a:r>
              <a:rPr lang="en-US" dirty="0" smtClean="0"/>
              <a:t>	5</a:t>
            </a:r>
            <a:r>
              <a:rPr lang="en-US" dirty="0"/>
              <a:t>. Conditioning devices</a:t>
            </a:r>
          </a:p>
        </p:txBody>
      </p:sp>
    </p:spTree>
    <p:extLst>
      <p:ext uri="{BB962C8B-B14F-4D97-AF65-F5344CB8AC3E}">
        <p14:creationId xmlns:p14="http://schemas.microsoft.com/office/powerpoint/2010/main" val="16937616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Magnetic Tape Recorder</a:t>
            </a:r>
            <a:endParaRPr lang="en-US" dirty="0"/>
          </a:p>
        </p:txBody>
      </p:sp>
      <p:pic>
        <p:nvPicPr>
          <p:cNvPr id="6" name="Content Placeholder 5"/>
          <p:cNvPicPr>
            <a:picLocks noGrp="1"/>
          </p:cNvPicPr>
          <p:nvPr>
            <p:ph idx="1"/>
          </p:nvPr>
        </p:nvPicPr>
        <p:blipFill rotWithShape="1">
          <a:blip r:embed="rId2"/>
          <a:srcRect l="27404" t="18244" r="31250" b="36146"/>
          <a:stretch/>
        </p:blipFill>
        <p:spPr bwMode="auto">
          <a:xfrm>
            <a:off x="609600" y="1447800"/>
            <a:ext cx="8001000" cy="50292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217598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marL="571500" indent="-571500" algn="l">
              <a:buFont typeface="Arial" pitchFamily="34" charset="0"/>
              <a:buChar char="•"/>
            </a:pPr>
            <a:r>
              <a:rPr lang="en-US" sz="3600" dirty="0" smtClean="0"/>
              <a:t>Magnetic Tape:</a:t>
            </a:r>
            <a:endParaRPr lang="en-US" sz="3600" dirty="0"/>
          </a:p>
        </p:txBody>
      </p:sp>
      <p:sp>
        <p:nvSpPr>
          <p:cNvPr id="3" name="Content Placeholder 2"/>
          <p:cNvSpPr>
            <a:spLocks noGrp="1"/>
          </p:cNvSpPr>
          <p:nvPr>
            <p:ph idx="1"/>
          </p:nvPr>
        </p:nvSpPr>
        <p:spPr>
          <a:xfrm>
            <a:off x="228600" y="1066799"/>
            <a:ext cx="8915400" cy="5562601"/>
          </a:xfrm>
        </p:spPr>
        <p:txBody>
          <a:bodyPr>
            <a:normAutofit lnSpcReduction="10000"/>
          </a:bodyPr>
          <a:lstStyle/>
          <a:p>
            <a:pPr lvl="1"/>
            <a:r>
              <a:rPr lang="en-US" dirty="0" smtClean="0"/>
              <a:t>It is </a:t>
            </a:r>
            <a:r>
              <a:rPr lang="en-US" dirty="0"/>
              <a:t>made of a thin sheet of tough, dimensionally </a:t>
            </a:r>
            <a:r>
              <a:rPr lang="en-US" dirty="0" smtClean="0"/>
              <a:t>stable plastic</a:t>
            </a:r>
            <a:r>
              <a:rPr lang="en-US" dirty="0"/>
              <a:t>, one side of which is coated with a magnetic </a:t>
            </a:r>
            <a:r>
              <a:rPr lang="en-US" dirty="0" smtClean="0"/>
              <a:t>material</a:t>
            </a:r>
            <a:r>
              <a:rPr lang="en-US" dirty="0"/>
              <a:t> </a:t>
            </a:r>
            <a:r>
              <a:rPr lang="en-US" dirty="0" smtClean="0"/>
              <a:t>(iron oxide).</a:t>
            </a:r>
            <a:endParaRPr lang="en-US" dirty="0"/>
          </a:p>
          <a:p>
            <a:r>
              <a:rPr lang="en-US" sz="3600" dirty="0" smtClean="0"/>
              <a:t>Recording Head:</a:t>
            </a:r>
          </a:p>
          <a:p>
            <a:pPr lvl="1"/>
            <a:r>
              <a:rPr lang="en-US" dirty="0" smtClean="0"/>
              <a:t>It is s device that impresses residual pattern upon magnetic tape in response to an amplified i/p signal.</a:t>
            </a:r>
          </a:p>
          <a:p>
            <a:pPr lvl="1"/>
            <a:r>
              <a:rPr lang="en-US" dirty="0" smtClean="0"/>
              <a:t>It consists of core of high permeability  material with a coil and fine air gap (10µm).</a:t>
            </a:r>
          </a:p>
          <a:p>
            <a:pPr lvl="1"/>
            <a:r>
              <a:rPr lang="en-US" dirty="0" smtClean="0"/>
              <a:t>The air gap is shunted by passing the magnetic tape and coil current creates flux to bridge the air gap.</a:t>
            </a:r>
          </a:p>
          <a:p>
            <a:pPr lvl="1"/>
            <a:r>
              <a:rPr lang="en-US" dirty="0" smtClean="0"/>
              <a:t>The flux in air gap passes thru the tape and magnetizes iron oxide of the tape.</a:t>
            </a:r>
          </a:p>
          <a:p>
            <a:pPr lvl="1"/>
            <a:endParaRPr lang="en-US" dirty="0"/>
          </a:p>
        </p:txBody>
      </p:sp>
    </p:spTree>
    <p:extLst>
      <p:ext uri="{BB962C8B-B14F-4D97-AF65-F5344CB8AC3E}">
        <p14:creationId xmlns:p14="http://schemas.microsoft.com/office/powerpoint/2010/main" val="18935898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pPr marL="571500" indent="-571500" algn="l">
              <a:buFont typeface="Arial" pitchFamily="34" charset="0"/>
              <a:buChar char="•"/>
            </a:pPr>
            <a:r>
              <a:rPr lang="en-US" sz="3600" dirty="0" smtClean="0"/>
              <a:t>Reproduce Head:</a:t>
            </a:r>
            <a:endParaRPr lang="en-US" sz="3600" dirty="0"/>
          </a:p>
        </p:txBody>
      </p:sp>
      <p:sp>
        <p:nvSpPr>
          <p:cNvPr id="3" name="Content Placeholder 2"/>
          <p:cNvSpPr>
            <a:spLocks noGrp="1"/>
          </p:cNvSpPr>
          <p:nvPr>
            <p:ph idx="1"/>
          </p:nvPr>
        </p:nvSpPr>
        <p:spPr>
          <a:xfrm>
            <a:off x="304800" y="914400"/>
            <a:ext cx="8534400" cy="5562600"/>
          </a:xfrm>
        </p:spPr>
        <p:txBody>
          <a:bodyPr>
            <a:normAutofit/>
          </a:bodyPr>
          <a:lstStyle/>
          <a:p>
            <a:pPr lvl="1"/>
            <a:r>
              <a:rPr lang="en-US" dirty="0" smtClean="0"/>
              <a:t>Similar to record head.</a:t>
            </a:r>
          </a:p>
          <a:p>
            <a:pPr lvl="1"/>
            <a:r>
              <a:rPr lang="en-US" dirty="0" smtClean="0"/>
              <a:t>Magnetic tape is passed over a reproduce head thereby resulting  an o/p voltage proportional to the magnetic flux in the tape across the coil of the reproduce head.</a:t>
            </a:r>
          </a:p>
          <a:p>
            <a:r>
              <a:rPr lang="en-US" sz="3600" dirty="0" smtClean="0"/>
              <a:t>Tape Transport Mechanism</a:t>
            </a:r>
            <a:r>
              <a:rPr lang="en-US" dirty="0" smtClean="0"/>
              <a:t>:</a:t>
            </a:r>
          </a:p>
          <a:p>
            <a:pPr lvl="1"/>
            <a:r>
              <a:rPr lang="en-US" dirty="0" smtClean="0"/>
              <a:t>It moves the tape along the record head or reproduce head at constant speed without any strain, distortion and tear.</a:t>
            </a:r>
          </a:p>
          <a:p>
            <a:pPr lvl="1"/>
            <a:r>
              <a:rPr lang="en-US" dirty="0" smtClean="0"/>
              <a:t>T</a:t>
            </a:r>
            <a:r>
              <a:rPr lang="en-US" dirty="0"/>
              <a:t>a</a:t>
            </a:r>
            <a:r>
              <a:rPr lang="en-US" dirty="0" smtClean="0"/>
              <a:t>pe should be in contact with head.</a:t>
            </a:r>
          </a:p>
          <a:p>
            <a:pPr lvl="1"/>
            <a:r>
              <a:rPr lang="en-US" dirty="0" smtClean="0"/>
              <a:t>Fast winding and rewinding are provided.</a:t>
            </a:r>
            <a:endParaRPr lang="en-US" dirty="0"/>
          </a:p>
        </p:txBody>
      </p:sp>
    </p:spTree>
    <p:extLst>
      <p:ext uri="{BB962C8B-B14F-4D97-AF65-F5344CB8AC3E}">
        <p14:creationId xmlns:p14="http://schemas.microsoft.com/office/powerpoint/2010/main" val="94608110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600" dirty="0" smtClean="0"/>
              <a:t>Conditioning Device:</a:t>
            </a:r>
          </a:p>
          <a:p>
            <a:pPr lvl="1"/>
            <a:r>
              <a:rPr lang="en-US" dirty="0" smtClean="0"/>
              <a:t>Amplifiers and filters</a:t>
            </a:r>
          </a:p>
          <a:p>
            <a:pPr lvl="1"/>
            <a:r>
              <a:rPr lang="en-US" dirty="0" smtClean="0"/>
              <a:t>Modifies the signal to a format that can be properly recorded on a tape.</a:t>
            </a:r>
            <a:endParaRPr lang="en-US" dirty="0"/>
          </a:p>
        </p:txBody>
      </p:sp>
    </p:spTree>
    <p:extLst>
      <p:ext uri="{BB962C8B-B14F-4D97-AF65-F5344CB8AC3E}">
        <p14:creationId xmlns:p14="http://schemas.microsoft.com/office/powerpoint/2010/main" val="367954721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Record and Reproduce Head</a:t>
            </a:r>
            <a:endParaRPr lang="en-US" dirty="0"/>
          </a:p>
        </p:txBody>
      </p:sp>
      <p:pic>
        <p:nvPicPr>
          <p:cNvPr id="4" name="Content Placeholder 3"/>
          <p:cNvPicPr>
            <a:picLocks noGrp="1"/>
          </p:cNvPicPr>
          <p:nvPr>
            <p:ph idx="1"/>
          </p:nvPr>
        </p:nvPicPr>
        <p:blipFill rotWithShape="1">
          <a:blip r:embed="rId2"/>
          <a:srcRect l="16667" t="26226" r="21634" b="23888"/>
          <a:stretch/>
        </p:blipFill>
        <p:spPr bwMode="auto">
          <a:xfrm>
            <a:off x="558125" y="2038551"/>
            <a:ext cx="8027749" cy="364926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14458569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Advantages of magnetic tape recorder</a:t>
            </a:r>
            <a:endParaRPr lang="en-US" dirty="0"/>
          </a:p>
        </p:txBody>
      </p:sp>
      <p:sp>
        <p:nvSpPr>
          <p:cNvPr id="3" name="Content Placeholder 2"/>
          <p:cNvSpPr>
            <a:spLocks noGrp="1"/>
          </p:cNvSpPr>
          <p:nvPr>
            <p:ph idx="1"/>
          </p:nvPr>
        </p:nvSpPr>
        <p:spPr>
          <a:xfrm>
            <a:off x="228600" y="1371600"/>
            <a:ext cx="8610600" cy="5105400"/>
          </a:xfrm>
        </p:spPr>
        <p:txBody>
          <a:bodyPr>
            <a:normAutofit fontScale="92500" lnSpcReduction="10000"/>
          </a:bodyPr>
          <a:lstStyle/>
          <a:p>
            <a:r>
              <a:rPr lang="en-US" dirty="0" smtClean="0"/>
              <a:t>They have wide frequency range DC to several </a:t>
            </a:r>
            <a:r>
              <a:rPr lang="en-US" dirty="0" err="1" smtClean="0"/>
              <a:t>MHz.</a:t>
            </a:r>
            <a:endParaRPr lang="en-US" dirty="0" smtClean="0"/>
          </a:p>
          <a:p>
            <a:r>
              <a:rPr lang="en-US" dirty="0" smtClean="0"/>
              <a:t>They have low distortion.</a:t>
            </a:r>
          </a:p>
          <a:p>
            <a:r>
              <a:rPr lang="en-US" dirty="0" smtClean="0"/>
              <a:t>The signal can be reproduced whenever required as magnitude of electrical signal is stored in magnetic memory.</a:t>
            </a:r>
          </a:p>
          <a:p>
            <a:r>
              <a:rPr lang="en-US" dirty="0" smtClean="0"/>
              <a:t>The recorded signal is immediately available. The recorded signal can be played back or reproduced as many times as required without the loss of signal.</a:t>
            </a:r>
          </a:p>
          <a:p>
            <a:r>
              <a:rPr lang="en-US" dirty="0" smtClean="0"/>
              <a:t>The tape can be erased and reused to record a new set of data.</a:t>
            </a:r>
            <a:endParaRPr lang="en-US" dirty="0"/>
          </a:p>
        </p:txBody>
      </p:sp>
    </p:spTree>
    <p:extLst>
      <p:ext uri="{BB962C8B-B14F-4D97-AF65-F5344CB8AC3E}">
        <p14:creationId xmlns:p14="http://schemas.microsoft.com/office/powerpoint/2010/main" val="47591848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recording</a:t>
            </a:r>
            <a:endParaRPr lang="en-US" dirty="0"/>
          </a:p>
        </p:txBody>
      </p:sp>
      <p:sp>
        <p:nvSpPr>
          <p:cNvPr id="3" name="Content Placeholder 2"/>
          <p:cNvSpPr>
            <a:spLocks noGrp="1"/>
          </p:cNvSpPr>
          <p:nvPr>
            <p:ph idx="1"/>
          </p:nvPr>
        </p:nvSpPr>
        <p:spPr/>
        <p:txBody>
          <a:bodyPr/>
          <a:lstStyle/>
          <a:p>
            <a:r>
              <a:rPr lang="en-US" dirty="0" smtClean="0"/>
              <a:t>Direct recording</a:t>
            </a:r>
          </a:p>
          <a:p>
            <a:r>
              <a:rPr lang="en-US" dirty="0" smtClean="0"/>
              <a:t>FM recording</a:t>
            </a:r>
          </a:p>
          <a:p>
            <a:r>
              <a:rPr lang="en-US" dirty="0" smtClean="0"/>
              <a:t>Pulse duration modulation (PDM) recording</a:t>
            </a:r>
            <a:endParaRPr lang="en-US" dirty="0"/>
          </a:p>
        </p:txBody>
      </p:sp>
    </p:spTree>
    <p:extLst>
      <p:ext uri="{BB962C8B-B14F-4D97-AF65-F5344CB8AC3E}">
        <p14:creationId xmlns:p14="http://schemas.microsoft.com/office/powerpoint/2010/main" val="244083703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Direct Recording</a:t>
            </a:r>
            <a:endParaRPr lang="en-US" dirty="0"/>
          </a:p>
        </p:txBody>
      </p:sp>
      <p:sp>
        <p:nvSpPr>
          <p:cNvPr id="3" name="Content Placeholder 2"/>
          <p:cNvSpPr>
            <a:spLocks noGrp="1"/>
          </p:cNvSpPr>
          <p:nvPr>
            <p:ph idx="1"/>
          </p:nvPr>
        </p:nvSpPr>
        <p:spPr/>
        <p:txBody>
          <a:bodyPr>
            <a:normAutofit/>
          </a:bodyPr>
          <a:lstStyle/>
          <a:p>
            <a:r>
              <a:rPr lang="en-US" dirty="0"/>
              <a:t>A simple magnetic particle on the tape </a:t>
            </a:r>
            <a:r>
              <a:rPr lang="en-US" dirty="0" smtClean="0"/>
              <a:t>might have </a:t>
            </a:r>
            <a:r>
              <a:rPr lang="en-US" dirty="0"/>
              <a:t>the B – H curve </a:t>
            </a:r>
            <a:r>
              <a:rPr lang="en-US" dirty="0" smtClean="0"/>
              <a:t>below where </a:t>
            </a:r>
            <a:r>
              <a:rPr lang="en-US" dirty="0"/>
              <a:t>H is the </a:t>
            </a:r>
            <a:r>
              <a:rPr lang="en-US" dirty="0" err="1"/>
              <a:t>magnetising</a:t>
            </a:r>
            <a:r>
              <a:rPr lang="en-US" dirty="0"/>
              <a:t> force and B the </a:t>
            </a:r>
            <a:r>
              <a:rPr lang="en-US" dirty="0" smtClean="0"/>
              <a:t>flux </a:t>
            </a:r>
            <a:r>
              <a:rPr lang="en-US" dirty="0"/>
              <a:t>density in </a:t>
            </a:r>
            <a:r>
              <a:rPr lang="en-US" dirty="0" smtClean="0"/>
              <a:t>the particle.</a:t>
            </a:r>
          </a:p>
          <a:p>
            <a:r>
              <a:rPr lang="en-US" dirty="0"/>
              <a:t>Consider the material with </a:t>
            </a:r>
            <a:endParaRPr lang="en-US" dirty="0" smtClean="0"/>
          </a:p>
          <a:p>
            <a:pPr marL="0" indent="0">
              <a:buNone/>
            </a:pPr>
            <a:r>
              <a:rPr lang="en-US" dirty="0"/>
              <a:t> </a:t>
            </a:r>
            <a:r>
              <a:rPr lang="en-US" dirty="0" smtClean="0"/>
              <a:t>   no flux </a:t>
            </a:r>
            <a:r>
              <a:rPr lang="en-US" dirty="0"/>
              <a:t>at all, i.e. the </a:t>
            </a:r>
            <a:r>
              <a:rPr lang="en-US" dirty="0" smtClean="0"/>
              <a:t>condition</a:t>
            </a:r>
          </a:p>
          <a:p>
            <a:pPr marL="0" indent="0">
              <a:buNone/>
            </a:pPr>
            <a:r>
              <a:rPr lang="en-US" dirty="0"/>
              <a:t> </a:t>
            </a:r>
            <a:r>
              <a:rPr lang="en-US" dirty="0" smtClean="0"/>
              <a:t>   </a:t>
            </a:r>
            <a:r>
              <a:rPr lang="en-US" dirty="0"/>
              <a:t>at point 0</a:t>
            </a:r>
            <a:r>
              <a:rPr lang="en-US" dirty="0" smtClean="0"/>
              <a:t>.</a:t>
            </a:r>
            <a:endParaRPr lang="en-US"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9018" y="3200400"/>
            <a:ext cx="3179558"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8513619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Direct Recording</a:t>
            </a:r>
            <a:endParaRPr lang="en-US" dirty="0"/>
          </a:p>
        </p:txBody>
      </p:sp>
      <p:sp>
        <p:nvSpPr>
          <p:cNvPr id="3" name="Content Placeholder 2"/>
          <p:cNvSpPr>
            <a:spLocks noGrp="1"/>
          </p:cNvSpPr>
          <p:nvPr>
            <p:ph sz="half" idx="1"/>
          </p:nvPr>
        </p:nvSpPr>
        <p:spPr/>
        <p:txBody>
          <a:bodyPr>
            <a:normAutofit fontScale="70000" lnSpcReduction="20000"/>
          </a:bodyPr>
          <a:lstStyle/>
          <a:p>
            <a:r>
              <a:rPr lang="en-US" dirty="0"/>
              <a:t>If the current in the coil of the recording head increased from 0 in a direction that gives positive values of H, the flux density increases along the path 0 – 1– 2, until the material is eventually saturated. </a:t>
            </a:r>
            <a:endParaRPr lang="en-US" dirty="0" smtClean="0"/>
          </a:p>
          <a:p>
            <a:r>
              <a:rPr lang="en-US" dirty="0" smtClean="0"/>
              <a:t>If </a:t>
            </a:r>
            <a:r>
              <a:rPr lang="en-US" dirty="0"/>
              <a:t>the </a:t>
            </a:r>
            <a:r>
              <a:rPr lang="en-US" dirty="0" smtClean="0"/>
              <a:t>operating point </a:t>
            </a:r>
            <a:r>
              <a:rPr lang="en-US" dirty="0"/>
              <a:t>is brought from 0 only as far as 1, </a:t>
            </a:r>
            <a:r>
              <a:rPr lang="en-US" dirty="0" smtClean="0"/>
              <a:t>and H </a:t>
            </a:r>
            <a:r>
              <a:rPr lang="en-US" dirty="0"/>
              <a:t>is brought back to 0, B follows a </a:t>
            </a:r>
            <a:r>
              <a:rPr lang="en-US" dirty="0" smtClean="0"/>
              <a:t>minor hysteresis loop back </a:t>
            </a:r>
            <a:r>
              <a:rPr lang="en-US" dirty="0"/>
              <a:t>to point 6. </a:t>
            </a:r>
            <a:endParaRPr lang="en-US" dirty="0" smtClean="0"/>
          </a:p>
          <a:p>
            <a:r>
              <a:rPr lang="en-US" dirty="0" smtClean="0"/>
              <a:t>A greater value </a:t>
            </a:r>
            <a:r>
              <a:rPr lang="en-US" dirty="0"/>
              <a:t>of coil current would leave a </a:t>
            </a:r>
            <a:r>
              <a:rPr lang="en-US" dirty="0" smtClean="0"/>
              <a:t>higher residual </a:t>
            </a:r>
            <a:r>
              <a:rPr lang="en-US" dirty="0" err="1"/>
              <a:t>fl</a:t>
            </a:r>
            <a:r>
              <a:rPr lang="en-US" dirty="0"/>
              <a:t> </a:t>
            </a:r>
            <a:r>
              <a:rPr lang="en-US" dirty="0" err="1"/>
              <a:t>ux</a:t>
            </a:r>
            <a:r>
              <a:rPr lang="en-US" dirty="0"/>
              <a:t>, and a lower current a </a:t>
            </a:r>
            <a:r>
              <a:rPr lang="en-US" dirty="0" smtClean="0"/>
              <a:t>lower residual</a:t>
            </a:r>
            <a:r>
              <a:rPr lang="en-US" dirty="0"/>
              <a:t>; a very simple recording </a:t>
            </a:r>
            <a:r>
              <a:rPr lang="en-US" dirty="0" smtClean="0"/>
              <a:t>process results</a:t>
            </a:r>
            <a:r>
              <a:rPr lang="en-US" dirty="0"/>
              <a:t>.</a:t>
            </a:r>
          </a:p>
          <a:p>
            <a:endParaRPr lang="en-US" dirty="0"/>
          </a:p>
        </p:txBody>
      </p:sp>
      <p:pic>
        <p:nvPicPr>
          <p:cNvPr id="6" name="Picture 3"/>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5029200" y="1828800"/>
            <a:ext cx="380008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3292122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Direct Recording</a:t>
            </a:r>
            <a:endParaRPr lang="en-US" dirty="0"/>
          </a:p>
        </p:txBody>
      </p:sp>
      <p:sp>
        <p:nvSpPr>
          <p:cNvPr id="6" name="Content Placeholder 5"/>
          <p:cNvSpPr>
            <a:spLocks noGrp="1"/>
          </p:cNvSpPr>
          <p:nvPr>
            <p:ph idx="1"/>
          </p:nvPr>
        </p:nvSpPr>
        <p:spPr/>
        <p:txBody>
          <a:bodyPr>
            <a:normAutofit fontScale="92500" lnSpcReduction="20000"/>
          </a:bodyPr>
          <a:lstStyle/>
          <a:p>
            <a:r>
              <a:rPr lang="en-US" dirty="0"/>
              <a:t>T</a:t>
            </a:r>
            <a:r>
              <a:rPr lang="en-US" dirty="0" smtClean="0"/>
              <a:t>he </a:t>
            </a:r>
            <a:r>
              <a:rPr lang="en-US" dirty="0"/>
              <a:t>linearity between </a:t>
            </a:r>
            <a:r>
              <a:rPr lang="en-US" dirty="0" smtClean="0"/>
              <a:t>residual flux </a:t>
            </a:r>
            <a:r>
              <a:rPr lang="en-US" dirty="0"/>
              <a:t>and recording current is very poor.</a:t>
            </a:r>
          </a:p>
          <a:p>
            <a:r>
              <a:rPr lang="en-US" dirty="0" smtClean="0"/>
              <a:t>Hence, to </a:t>
            </a:r>
            <a:r>
              <a:rPr lang="en-US" dirty="0"/>
              <a:t>obtain linearity in direct </a:t>
            </a:r>
            <a:r>
              <a:rPr lang="en-US" dirty="0" smtClean="0"/>
              <a:t>recording, FM </a:t>
            </a:r>
            <a:r>
              <a:rPr lang="en-US" dirty="0"/>
              <a:t>is </a:t>
            </a:r>
            <a:r>
              <a:rPr lang="en-US" dirty="0" smtClean="0"/>
              <a:t>used (i.e. a high frequency ac is added). </a:t>
            </a:r>
          </a:p>
          <a:p>
            <a:r>
              <a:rPr lang="en-US" dirty="0" smtClean="0"/>
              <a:t>In </a:t>
            </a:r>
            <a:r>
              <a:rPr lang="en-US" dirty="0"/>
              <a:t>all systems, the signal </a:t>
            </a:r>
            <a:r>
              <a:rPr lang="en-US" dirty="0" smtClean="0"/>
              <a:t>is reproduced </a:t>
            </a:r>
            <a:r>
              <a:rPr lang="en-US" dirty="0"/>
              <a:t>by passing the </a:t>
            </a:r>
            <a:r>
              <a:rPr lang="en-US" dirty="0" err="1"/>
              <a:t>magnetised</a:t>
            </a:r>
            <a:r>
              <a:rPr lang="en-US" dirty="0"/>
              <a:t> </a:t>
            </a:r>
            <a:r>
              <a:rPr lang="en-US" dirty="0" smtClean="0"/>
              <a:t>tape over </a:t>
            </a:r>
            <a:r>
              <a:rPr lang="en-US" dirty="0"/>
              <a:t>a magnetic head similar to the </a:t>
            </a:r>
            <a:r>
              <a:rPr lang="en-US" dirty="0" smtClean="0"/>
              <a:t>recording head</a:t>
            </a:r>
            <a:r>
              <a:rPr lang="en-US" dirty="0"/>
              <a:t>. </a:t>
            </a:r>
            <a:endParaRPr lang="en-US" dirty="0" smtClean="0"/>
          </a:p>
          <a:p>
            <a:r>
              <a:rPr lang="en-US" dirty="0" smtClean="0"/>
              <a:t>The </a:t>
            </a:r>
            <a:r>
              <a:rPr lang="en-US" dirty="0" err="1"/>
              <a:t>magnetisation</a:t>
            </a:r>
            <a:r>
              <a:rPr lang="en-US" dirty="0"/>
              <a:t> of the particles </a:t>
            </a:r>
            <a:r>
              <a:rPr lang="en-US" dirty="0" smtClean="0"/>
              <a:t>on the </a:t>
            </a:r>
            <a:r>
              <a:rPr lang="en-US" dirty="0"/>
              <a:t>tape induces a varying </a:t>
            </a:r>
            <a:r>
              <a:rPr lang="en-US" dirty="0" smtClean="0"/>
              <a:t>flux </a:t>
            </a:r>
            <a:r>
              <a:rPr lang="en-US" dirty="0"/>
              <a:t>in the reproducing head and a voltage is </a:t>
            </a:r>
            <a:r>
              <a:rPr lang="en-US" dirty="0" smtClean="0"/>
              <a:t>induced in </a:t>
            </a:r>
            <a:r>
              <a:rPr lang="en-US" dirty="0"/>
              <a:t>the coil, proportional to the rate of change of </a:t>
            </a:r>
            <a:r>
              <a:rPr lang="en-US" dirty="0" smtClean="0"/>
              <a:t>flux</a:t>
            </a:r>
            <a:r>
              <a:rPr lang="en-US" dirty="0"/>
              <a:t>.</a:t>
            </a:r>
          </a:p>
        </p:txBody>
      </p:sp>
    </p:spTree>
    <p:extLst>
      <p:ext uri="{BB962C8B-B14F-4D97-AF65-F5344CB8AC3E}">
        <p14:creationId xmlns:p14="http://schemas.microsoft.com/office/powerpoint/2010/main" val="49096677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During reproduction:</a:t>
            </a:r>
            <a:endParaRPr lang="en-US" dirty="0"/>
          </a:p>
        </p:txBody>
      </p:sp>
      <p:sp>
        <p:nvSpPr>
          <p:cNvPr id="3" name="Content Placeholder 2"/>
          <p:cNvSpPr>
            <a:spLocks noGrp="1"/>
          </p:cNvSpPr>
          <p:nvPr>
            <p:ph idx="1"/>
          </p:nvPr>
        </p:nvSpPr>
        <p:spPr>
          <a:xfrm>
            <a:off x="0" y="1219200"/>
            <a:ext cx="9144000" cy="5638800"/>
          </a:xfrm>
        </p:spPr>
        <p:txBody>
          <a:bodyPr>
            <a:normAutofit fontScale="92500" lnSpcReduction="10000"/>
          </a:bodyPr>
          <a:lstStyle/>
          <a:p>
            <a:r>
              <a:rPr lang="en-US" dirty="0" smtClean="0"/>
              <a:t>The tape is passed over a reproducing head resulting in an o/p voltage proportional to the magnetic flux in the tape, across the coil of reproducing head.</a:t>
            </a:r>
          </a:p>
          <a:p>
            <a:r>
              <a:rPr lang="en-US" dirty="0" smtClean="0"/>
              <a:t>Since the o/p voltage depends on the rate of change of flux . Id dc at i/p had produced constant tape magnetization, the reproducing head would have given zero o/p voltage. So, the direct recording process can be used with varying i/p signal with about 50Hz.</a:t>
            </a:r>
          </a:p>
          <a:p>
            <a:r>
              <a:rPr lang="en-US" dirty="0" smtClean="0"/>
              <a:t>Since the reproduce head has differentiating characteristics, the reproducing amplifier must have an integrating characteristics so that the system o/p is proportional to i/p.</a:t>
            </a:r>
            <a:endParaRPr lang="en-US" dirty="0"/>
          </a:p>
        </p:txBody>
      </p:sp>
    </p:spTree>
    <p:extLst>
      <p:ext uri="{BB962C8B-B14F-4D97-AF65-F5344CB8AC3E}">
        <p14:creationId xmlns:p14="http://schemas.microsoft.com/office/powerpoint/2010/main" val="100103554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Merits of Direct Recording</a:t>
            </a:r>
            <a:endParaRPr lang="en-US" dirty="0"/>
          </a:p>
        </p:txBody>
      </p:sp>
      <p:sp>
        <p:nvSpPr>
          <p:cNvPr id="3" name="Content Placeholder 2"/>
          <p:cNvSpPr>
            <a:spLocks noGrp="1"/>
          </p:cNvSpPr>
          <p:nvPr>
            <p:ph idx="1"/>
          </p:nvPr>
        </p:nvSpPr>
        <p:spPr/>
        <p:txBody>
          <a:bodyPr>
            <a:normAutofit fontScale="85000" lnSpcReduction="20000"/>
          </a:bodyPr>
          <a:lstStyle/>
          <a:p>
            <a:r>
              <a:rPr lang="en-US" dirty="0"/>
              <a:t>This recording process has a wide frequency response, ranging </a:t>
            </a:r>
            <a:r>
              <a:rPr lang="en-US" dirty="0" smtClean="0"/>
              <a:t>from 50 </a:t>
            </a:r>
            <a:r>
              <a:rPr lang="en-US" dirty="0"/>
              <a:t>Hz – 2 MHz for a tape speed of 3.05 m/s. It provides the greatest</a:t>
            </a:r>
          </a:p>
          <a:p>
            <a:pPr marL="0" indent="0">
              <a:buNone/>
            </a:pPr>
            <a:r>
              <a:rPr lang="en-US" dirty="0" smtClean="0"/>
              <a:t>      bandwidth </a:t>
            </a:r>
            <a:r>
              <a:rPr lang="en-US" dirty="0"/>
              <a:t>obtainable for a given recorder.</a:t>
            </a:r>
          </a:p>
          <a:p>
            <a:r>
              <a:rPr lang="en-US" dirty="0" smtClean="0"/>
              <a:t>It </a:t>
            </a:r>
            <a:r>
              <a:rPr lang="en-US" dirty="0"/>
              <a:t>requires simple electronic circuits.</a:t>
            </a:r>
          </a:p>
          <a:p>
            <a:r>
              <a:rPr lang="en-US" dirty="0" smtClean="0"/>
              <a:t>It </a:t>
            </a:r>
            <a:r>
              <a:rPr lang="en-US" dirty="0"/>
              <a:t>has a good dynamic response and takes overloads without increase </a:t>
            </a:r>
            <a:r>
              <a:rPr lang="en-US" dirty="0" smtClean="0"/>
              <a:t>in distortion</a:t>
            </a:r>
            <a:r>
              <a:rPr lang="en-US" dirty="0"/>
              <a:t>. </a:t>
            </a:r>
            <a:endParaRPr lang="en-US" dirty="0" smtClean="0"/>
          </a:p>
          <a:p>
            <a:r>
              <a:rPr lang="en-US" dirty="0" smtClean="0"/>
              <a:t> </a:t>
            </a:r>
            <a:r>
              <a:rPr lang="en-US" dirty="0"/>
              <a:t>It is used to record signals where information is contained in the </a:t>
            </a:r>
            <a:r>
              <a:rPr lang="en-US" dirty="0" smtClean="0"/>
              <a:t>relation between </a:t>
            </a:r>
            <a:r>
              <a:rPr lang="en-US" dirty="0"/>
              <a:t>frequency and amplitude, such as the spectrum analysis </a:t>
            </a:r>
            <a:r>
              <a:rPr lang="en-US" dirty="0" smtClean="0"/>
              <a:t>of noise</a:t>
            </a:r>
            <a:r>
              <a:rPr lang="en-US" dirty="0"/>
              <a:t>.</a:t>
            </a:r>
          </a:p>
          <a:p>
            <a:r>
              <a:rPr lang="en-US" dirty="0" smtClean="0"/>
              <a:t>It </a:t>
            </a:r>
            <a:r>
              <a:rPr lang="en-US" dirty="0"/>
              <a:t>can be used for recording voice signals.</a:t>
            </a:r>
          </a:p>
        </p:txBody>
      </p:sp>
    </p:spTree>
    <p:extLst>
      <p:ext uri="{BB962C8B-B14F-4D97-AF65-F5344CB8AC3E}">
        <p14:creationId xmlns:p14="http://schemas.microsoft.com/office/powerpoint/2010/main" val="7994752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Demerits of Direct Recording</a:t>
            </a:r>
            <a:endParaRPr lang="en-US" dirty="0"/>
          </a:p>
        </p:txBody>
      </p:sp>
      <p:sp>
        <p:nvSpPr>
          <p:cNvPr id="3" name="Content Placeholder 2"/>
          <p:cNvSpPr>
            <a:spLocks noGrp="1"/>
          </p:cNvSpPr>
          <p:nvPr>
            <p:ph idx="1"/>
          </p:nvPr>
        </p:nvSpPr>
        <p:spPr/>
        <p:txBody>
          <a:bodyPr/>
          <a:lstStyle/>
          <a:p>
            <a:r>
              <a:rPr lang="en-US" dirty="0"/>
              <a:t>The direct recording process is </a:t>
            </a:r>
            <a:r>
              <a:rPr lang="en-US" dirty="0" err="1"/>
              <a:t>characterised</a:t>
            </a:r>
            <a:r>
              <a:rPr lang="en-US" dirty="0"/>
              <a:t> by some </a:t>
            </a:r>
            <a:r>
              <a:rPr lang="en-US" dirty="0" smtClean="0"/>
              <a:t>amplitude instability </a:t>
            </a:r>
            <a:r>
              <a:rPr lang="en-US" dirty="0"/>
              <a:t>caused by random surface </a:t>
            </a:r>
            <a:r>
              <a:rPr lang="en-US" dirty="0" err="1" smtClean="0"/>
              <a:t>inhomogeneiti</a:t>
            </a:r>
            <a:r>
              <a:rPr lang="en-US" dirty="0" smtClean="0"/>
              <a:t> </a:t>
            </a:r>
            <a:r>
              <a:rPr lang="en-US" dirty="0"/>
              <a:t>coating. Some portion may not be perfectly recorded owing to dirt </a:t>
            </a:r>
            <a:r>
              <a:rPr lang="en-US" dirty="0" smtClean="0"/>
              <a:t>or poor </a:t>
            </a:r>
            <a:r>
              <a:rPr lang="en-US" dirty="0"/>
              <a:t>manufacture.</a:t>
            </a:r>
          </a:p>
          <a:p>
            <a:r>
              <a:rPr lang="en-US" dirty="0" smtClean="0"/>
              <a:t>This </a:t>
            </a:r>
            <a:r>
              <a:rPr lang="en-US" dirty="0"/>
              <a:t>recorder is only used when maximum bandwidth is </a:t>
            </a:r>
            <a:r>
              <a:rPr lang="en-US" dirty="0" smtClean="0"/>
              <a:t>required.</a:t>
            </a:r>
            <a:endParaRPr lang="en-US" dirty="0"/>
          </a:p>
        </p:txBody>
      </p:sp>
    </p:spTree>
    <p:extLst>
      <p:ext uri="{BB962C8B-B14F-4D97-AF65-F5344CB8AC3E}">
        <p14:creationId xmlns:p14="http://schemas.microsoft.com/office/powerpoint/2010/main" val="25052286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FM Recording</a:t>
            </a:r>
            <a:endParaRPr lang="en-US" dirty="0"/>
          </a:p>
        </p:txBody>
      </p:sp>
      <p:sp>
        <p:nvSpPr>
          <p:cNvPr id="3" name="Content Placeholder 2"/>
          <p:cNvSpPr>
            <a:spLocks noGrp="1"/>
          </p:cNvSpPr>
          <p:nvPr>
            <p:ph idx="1"/>
          </p:nvPr>
        </p:nvSpPr>
        <p:spPr/>
        <p:txBody>
          <a:bodyPr/>
          <a:lstStyle/>
          <a:p>
            <a:r>
              <a:rPr lang="en-US" dirty="0" smtClean="0"/>
              <a:t>In </a:t>
            </a:r>
            <a:r>
              <a:rPr lang="en-US" dirty="0"/>
              <a:t>FM recording </a:t>
            </a:r>
            <a:r>
              <a:rPr lang="en-US" dirty="0" smtClean="0"/>
              <a:t>system, a carrier oscillator </a:t>
            </a:r>
            <a:r>
              <a:rPr lang="en-US" dirty="0"/>
              <a:t>frequency fc, called the </a:t>
            </a:r>
            <a:r>
              <a:rPr lang="en-US" dirty="0" err="1"/>
              <a:t>centre</a:t>
            </a:r>
            <a:r>
              <a:rPr lang="en-US" dirty="0"/>
              <a:t> frequency, </a:t>
            </a:r>
            <a:r>
              <a:rPr lang="en-US" dirty="0" smtClean="0"/>
              <a:t>is modulated </a:t>
            </a:r>
            <a:r>
              <a:rPr lang="en-US" dirty="0"/>
              <a:t>by the level </a:t>
            </a:r>
            <a:r>
              <a:rPr lang="en-US" dirty="0" smtClean="0"/>
              <a:t>of the </a:t>
            </a:r>
            <a:r>
              <a:rPr lang="en-US" dirty="0"/>
              <a:t>input signal.</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3553689"/>
            <a:ext cx="7220858" cy="2501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898723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FM Recording</a:t>
            </a:r>
            <a:endParaRPr lang="en-US" dirty="0"/>
          </a:p>
        </p:txBody>
      </p:sp>
      <p:sp>
        <p:nvSpPr>
          <p:cNvPr id="3" name="Content Placeholder 2"/>
          <p:cNvSpPr>
            <a:spLocks noGrp="1"/>
          </p:cNvSpPr>
          <p:nvPr>
            <p:ph idx="1"/>
          </p:nvPr>
        </p:nvSpPr>
        <p:spPr/>
        <p:txBody>
          <a:bodyPr>
            <a:normAutofit fontScale="85000" lnSpcReduction="20000"/>
          </a:bodyPr>
          <a:lstStyle/>
          <a:p>
            <a:r>
              <a:rPr lang="en-US" dirty="0"/>
              <a:t>When there is no input signal, i.e. zero input, the modulation is at </a:t>
            </a:r>
            <a:r>
              <a:rPr lang="en-US" dirty="0" err="1" smtClean="0"/>
              <a:t>centre</a:t>
            </a:r>
            <a:r>
              <a:rPr lang="en-US" dirty="0"/>
              <a:t> </a:t>
            </a:r>
            <a:r>
              <a:rPr lang="en-US" dirty="0" smtClean="0"/>
              <a:t>frequency </a:t>
            </a:r>
            <a:r>
              <a:rPr lang="en-US" dirty="0"/>
              <a:t>fc. </a:t>
            </a:r>
            <a:endParaRPr lang="en-US" dirty="0" smtClean="0"/>
          </a:p>
          <a:p>
            <a:r>
              <a:rPr lang="en-US" dirty="0" smtClean="0"/>
              <a:t>If </a:t>
            </a:r>
            <a:r>
              <a:rPr lang="en-US" dirty="0"/>
              <a:t>a positive input signal is applied, the frequency deviates </a:t>
            </a:r>
            <a:r>
              <a:rPr lang="en-US" dirty="0" smtClean="0"/>
              <a:t>from the </a:t>
            </a:r>
            <a:r>
              <a:rPr lang="en-US" dirty="0" err="1"/>
              <a:t>centre</a:t>
            </a:r>
            <a:r>
              <a:rPr lang="en-US" dirty="0"/>
              <a:t> frequency by some amount in a certain direction; the application of </a:t>
            </a:r>
            <a:r>
              <a:rPr lang="en-US" dirty="0" smtClean="0"/>
              <a:t>a negative </a:t>
            </a:r>
            <a:r>
              <a:rPr lang="en-US" dirty="0"/>
              <a:t>input voltage deviates the carrier frequency in the opposite direction.</a:t>
            </a:r>
          </a:p>
          <a:p>
            <a:r>
              <a:rPr lang="en-US" dirty="0"/>
              <a:t>The output of the modulation, which is fed to the tape, is a signal of </a:t>
            </a:r>
            <a:r>
              <a:rPr lang="en-US" dirty="0" smtClean="0"/>
              <a:t>constant frequency </a:t>
            </a:r>
            <a:r>
              <a:rPr lang="en-US" dirty="0"/>
              <a:t>for dc inputs, and varying frequency for ac inputs. The variation </a:t>
            </a:r>
            <a:r>
              <a:rPr lang="en-US" dirty="0" smtClean="0"/>
              <a:t>of frequency </a:t>
            </a:r>
            <a:r>
              <a:rPr lang="en-US" dirty="0"/>
              <a:t>is directly proportional to the amplitude of the input signal.</a:t>
            </a:r>
          </a:p>
        </p:txBody>
      </p:sp>
    </p:spTree>
    <p:extLst>
      <p:ext uri="{BB962C8B-B14F-4D97-AF65-F5344CB8AC3E}">
        <p14:creationId xmlns:p14="http://schemas.microsoft.com/office/powerpoint/2010/main" val="182934622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74638"/>
            <a:ext cx="8153400" cy="792162"/>
          </a:xfrm>
        </p:spPr>
        <p:txBody>
          <a:bodyPr/>
          <a:lstStyle/>
          <a:p>
            <a:r>
              <a:rPr lang="en-US" dirty="0" smtClean="0"/>
              <a:t>FM Recording</a:t>
            </a:r>
            <a:endParaRPr lang="en-US" dirty="0"/>
          </a:p>
        </p:txBody>
      </p:sp>
      <p:sp>
        <p:nvSpPr>
          <p:cNvPr id="3" name="Content Placeholder 2"/>
          <p:cNvSpPr>
            <a:spLocks noGrp="1"/>
          </p:cNvSpPr>
          <p:nvPr>
            <p:ph idx="1"/>
          </p:nvPr>
        </p:nvSpPr>
        <p:spPr>
          <a:xfrm>
            <a:off x="76200" y="1066800"/>
            <a:ext cx="8915400" cy="5638800"/>
          </a:xfrm>
        </p:spPr>
        <p:txBody>
          <a:bodyPr>
            <a:normAutofit fontScale="77500" lnSpcReduction="20000"/>
          </a:bodyPr>
          <a:lstStyle/>
          <a:p>
            <a:r>
              <a:rPr lang="en-US" dirty="0" smtClean="0"/>
              <a:t>On playback, the output of the reproduce head is demodulated and fed through</a:t>
            </a:r>
          </a:p>
          <a:p>
            <a:r>
              <a:rPr lang="en-US" dirty="0" smtClean="0"/>
              <a:t>a low pass filter which removes the carrier and other unwanted frequencies reproduced due to the modulation process.</a:t>
            </a:r>
          </a:p>
          <a:p>
            <a:r>
              <a:rPr lang="en-US" dirty="0" smtClean="0"/>
              <a:t>The operation of FM modulation can be easily checked by applying a known input voltage and measuring the output frequency with an electronic counter.</a:t>
            </a:r>
          </a:p>
          <a:p>
            <a:r>
              <a:rPr lang="en-US" dirty="0" smtClean="0"/>
              <a:t>This signal is applied to the tape with no further conditioning, as the signal is independent of the amplitude.</a:t>
            </a:r>
          </a:p>
          <a:p>
            <a:r>
              <a:rPr lang="en-US" dirty="0" smtClean="0"/>
              <a:t>The FM demodulator converts the difference between the </a:t>
            </a:r>
            <a:r>
              <a:rPr lang="en-US" dirty="0" err="1" smtClean="0"/>
              <a:t>centre</a:t>
            </a:r>
            <a:r>
              <a:rPr lang="en-US" dirty="0" smtClean="0"/>
              <a:t> frequency and the frequency on the tape, to a voltage proportional to the difference in the frequencies. </a:t>
            </a:r>
          </a:p>
          <a:p>
            <a:r>
              <a:rPr lang="en-US" dirty="0" smtClean="0"/>
              <a:t>This system can thus record frequencies from dc to several thousand Hertz.</a:t>
            </a:r>
          </a:p>
          <a:p>
            <a:r>
              <a:rPr lang="en-US" dirty="0" smtClean="0"/>
              <a:t> Residual carrier signals and out of band noise are removed by a low pass filter.</a:t>
            </a:r>
            <a:endParaRPr lang="en-US" dirty="0"/>
          </a:p>
        </p:txBody>
      </p:sp>
    </p:spTree>
    <p:extLst>
      <p:ext uri="{BB962C8B-B14F-4D97-AF65-F5344CB8AC3E}">
        <p14:creationId xmlns:p14="http://schemas.microsoft.com/office/powerpoint/2010/main" val="184233691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Merits of FM Recording</a:t>
            </a:r>
            <a:endParaRPr lang="en-US" dirty="0"/>
          </a:p>
        </p:txBody>
      </p:sp>
      <p:sp>
        <p:nvSpPr>
          <p:cNvPr id="3" name="Content Placeholder 2"/>
          <p:cNvSpPr>
            <a:spLocks noGrp="1"/>
          </p:cNvSpPr>
          <p:nvPr>
            <p:ph idx="1"/>
          </p:nvPr>
        </p:nvSpPr>
        <p:spPr/>
        <p:txBody>
          <a:bodyPr>
            <a:normAutofit fontScale="77500" lnSpcReduction="20000"/>
          </a:bodyPr>
          <a:lstStyle/>
          <a:p>
            <a:r>
              <a:rPr lang="en-US" dirty="0"/>
              <a:t>FM recording is useful primarily when the dc component of the </a:t>
            </a:r>
            <a:r>
              <a:rPr lang="en-US" dirty="0" smtClean="0"/>
              <a:t>input signal </a:t>
            </a:r>
            <a:r>
              <a:rPr lang="en-US" dirty="0"/>
              <a:t>is to be preserved.</a:t>
            </a:r>
          </a:p>
          <a:p>
            <a:r>
              <a:rPr lang="en-US" dirty="0" smtClean="0"/>
              <a:t>This </a:t>
            </a:r>
            <a:r>
              <a:rPr lang="en-US" dirty="0"/>
              <a:t>system has a wide frequency range and can record from dc </a:t>
            </a:r>
            <a:r>
              <a:rPr lang="en-US" dirty="0" smtClean="0"/>
              <a:t>voltages to </a:t>
            </a:r>
            <a:r>
              <a:rPr lang="en-US" dirty="0"/>
              <a:t>several kHz.</a:t>
            </a:r>
          </a:p>
          <a:p>
            <a:r>
              <a:rPr lang="en-US" dirty="0" smtClean="0"/>
              <a:t>There </a:t>
            </a:r>
            <a:r>
              <a:rPr lang="en-US" dirty="0"/>
              <a:t>is no drop-out effect due to </a:t>
            </a:r>
            <a:r>
              <a:rPr lang="en-US" dirty="0" err="1"/>
              <a:t>inhomogeneties</a:t>
            </a:r>
            <a:r>
              <a:rPr lang="en-US" dirty="0"/>
              <a:t> of the </a:t>
            </a:r>
            <a:r>
              <a:rPr lang="en-US" dirty="0" smtClean="0"/>
              <a:t>tape material</a:t>
            </a:r>
            <a:r>
              <a:rPr lang="en-US" dirty="0"/>
              <a:t>.</a:t>
            </a:r>
          </a:p>
          <a:p>
            <a:r>
              <a:rPr lang="en-US" dirty="0" smtClean="0"/>
              <a:t>Independent </a:t>
            </a:r>
            <a:r>
              <a:rPr lang="en-US" dirty="0"/>
              <a:t>of amplitude variations, and accurately reproduces </a:t>
            </a:r>
            <a:r>
              <a:rPr lang="en-US" dirty="0" smtClean="0"/>
              <a:t>the waveform </a:t>
            </a:r>
            <a:r>
              <a:rPr lang="en-US" dirty="0"/>
              <a:t>of the input signal.</a:t>
            </a:r>
          </a:p>
          <a:p>
            <a:r>
              <a:rPr lang="en-US" dirty="0" smtClean="0"/>
              <a:t>Used </a:t>
            </a:r>
            <a:r>
              <a:rPr lang="en-US" dirty="0"/>
              <a:t>extensively for recording voltages derived from </a:t>
            </a:r>
            <a:r>
              <a:rPr lang="en-US" dirty="0" smtClean="0"/>
              <a:t>non-electrical quantities</a:t>
            </a:r>
            <a:r>
              <a:rPr lang="en-US" dirty="0"/>
              <a:t>, such as force, acceleration and pressure.</a:t>
            </a:r>
          </a:p>
          <a:p>
            <a:r>
              <a:rPr lang="en-US" dirty="0" smtClean="0"/>
              <a:t>It </a:t>
            </a:r>
            <a:r>
              <a:rPr lang="en-US" dirty="0"/>
              <a:t>is extremely useful for multiplexing in an instrumentation system.</a:t>
            </a:r>
          </a:p>
        </p:txBody>
      </p:sp>
    </p:spTree>
    <p:extLst>
      <p:ext uri="{BB962C8B-B14F-4D97-AF65-F5344CB8AC3E}">
        <p14:creationId xmlns:p14="http://schemas.microsoft.com/office/powerpoint/2010/main" val="5924426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Demerits of FM Recording</a:t>
            </a:r>
            <a:endParaRPr lang="en-US" dirty="0"/>
          </a:p>
        </p:txBody>
      </p:sp>
      <p:sp>
        <p:nvSpPr>
          <p:cNvPr id="3" name="Content Placeholder 2"/>
          <p:cNvSpPr>
            <a:spLocks noGrp="1"/>
          </p:cNvSpPr>
          <p:nvPr>
            <p:ph idx="1"/>
          </p:nvPr>
        </p:nvSpPr>
        <p:spPr/>
        <p:txBody>
          <a:bodyPr>
            <a:normAutofit/>
          </a:bodyPr>
          <a:lstStyle/>
          <a:p>
            <a:r>
              <a:rPr lang="en-US" dirty="0"/>
              <a:t>FM recording is extremely sensitive to tape speed </a:t>
            </a:r>
            <a:r>
              <a:rPr lang="en-US" dirty="0" smtClean="0"/>
              <a:t>fluctuations</a:t>
            </a:r>
            <a:r>
              <a:rPr lang="en-US" dirty="0"/>
              <a:t>.</a:t>
            </a:r>
          </a:p>
          <a:p>
            <a:r>
              <a:rPr lang="en-US" dirty="0" smtClean="0"/>
              <a:t>FM </a:t>
            </a:r>
            <a:r>
              <a:rPr lang="en-US" dirty="0"/>
              <a:t>recording circuitry is more complicated than that of direct </a:t>
            </a:r>
            <a:r>
              <a:rPr lang="en-US" dirty="0" smtClean="0"/>
              <a:t>recording </a:t>
            </a:r>
            <a:r>
              <a:rPr lang="en-US" dirty="0"/>
              <a:t> </a:t>
            </a:r>
            <a:r>
              <a:rPr lang="en-US" dirty="0" smtClean="0"/>
              <a:t>systems</a:t>
            </a:r>
            <a:r>
              <a:rPr lang="en-US" dirty="0"/>
              <a:t>.</a:t>
            </a:r>
          </a:p>
          <a:p>
            <a:r>
              <a:rPr lang="en-US" dirty="0" smtClean="0"/>
              <a:t>FM </a:t>
            </a:r>
            <a:r>
              <a:rPr lang="en-US" dirty="0"/>
              <a:t>system has a limited frequency response.</a:t>
            </a:r>
          </a:p>
          <a:p>
            <a:r>
              <a:rPr lang="en-US" dirty="0" smtClean="0"/>
              <a:t>It </a:t>
            </a:r>
            <a:r>
              <a:rPr lang="en-US" dirty="0"/>
              <a:t>requires a high tape speed.</a:t>
            </a:r>
          </a:p>
          <a:p>
            <a:r>
              <a:rPr lang="en-US" dirty="0" smtClean="0"/>
              <a:t>It </a:t>
            </a:r>
            <a:r>
              <a:rPr lang="en-US" dirty="0"/>
              <a:t>requires a high quality of tape transport and speed control.</a:t>
            </a:r>
          </a:p>
          <a:p>
            <a:pPr marL="0" indent="0">
              <a:buNone/>
            </a:pPr>
            <a:endParaRPr lang="en-US" dirty="0"/>
          </a:p>
        </p:txBody>
      </p:sp>
    </p:spTree>
    <p:extLst>
      <p:ext uri="{BB962C8B-B14F-4D97-AF65-F5344CB8AC3E}">
        <p14:creationId xmlns:p14="http://schemas.microsoft.com/office/powerpoint/2010/main" val="12150709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469</TotalTime>
  <Words>1817</Words>
  <Application>Microsoft Office PowerPoint</Application>
  <PresentationFormat>On-screen Show (4:3)</PresentationFormat>
  <Paragraphs>160</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Output Devices</vt:lpstr>
      <vt:lpstr>Recorder</vt:lpstr>
      <vt:lpstr>Recorder</vt:lpstr>
      <vt:lpstr>Strip Chart Recorder</vt:lpstr>
      <vt:lpstr>Strip Chart Recorder</vt:lpstr>
      <vt:lpstr>Strip Chart Recorder</vt:lpstr>
      <vt:lpstr>Strip Chart Recorder</vt:lpstr>
      <vt:lpstr>X-Y Recorder</vt:lpstr>
      <vt:lpstr>X-Y Recorder</vt:lpstr>
      <vt:lpstr>Working of X-Y Recorder</vt:lpstr>
      <vt:lpstr>Working of X-Y Recorder</vt:lpstr>
      <vt:lpstr> Applications Of X-Y Recorder </vt:lpstr>
      <vt:lpstr>Magnetic Tape Recorder</vt:lpstr>
      <vt:lpstr>Magnetic Tape Recorder</vt:lpstr>
      <vt:lpstr>Magnetic Tape Recorder</vt:lpstr>
      <vt:lpstr>Magnetic Tape:</vt:lpstr>
      <vt:lpstr>Reproduce Head:</vt:lpstr>
      <vt:lpstr>PowerPoint Presentation</vt:lpstr>
      <vt:lpstr>Record and Reproduce Head</vt:lpstr>
      <vt:lpstr>Advantages of magnetic tape recorder</vt:lpstr>
      <vt:lpstr>Types of recording</vt:lpstr>
      <vt:lpstr>Direct Recording</vt:lpstr>
      <vt:lpstr>Direct Recording</vt:lpstr>
      <vt:lpstr>Direct Recording</vt:lpstr>
      <vt:lpstr>During reproduction:</vt:lpstr>
      <vt:lpstr>Merits of Direct Recording</vt:lpstr>
      <vt:lpstr>Demerits of Direct Recording</vt:lpstr>
      <vt:lpstr>FM Recording</vt:lpstr>
      <vt:lpstr>FM Recording</vt:lpstr>
      <vt:lpstr>FM Recording</vt:lpstr>
      <vt:lpstr>Merits of FM Recording</vt:lpstr>
      <vt:lpstr>Demerits of FM Recording</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Output Devices</dc:title>
  <dc:creator>elx</dc:creator>
  <cp:lastModifiedBy>elx</cp:lastModifiedBy>
  <cp:revision>59</cp:revision>
  <dcterms:created xsi:type="dcterms:W3CDTF">2006-08-16T00:00:00Z</dcterms:created>
  <dcterms:modified xsi:type="dcterms:W3CDTF">2023-07-10T15:09:54Z</dcterms:modified>
</cp:coreProperties>
</file>