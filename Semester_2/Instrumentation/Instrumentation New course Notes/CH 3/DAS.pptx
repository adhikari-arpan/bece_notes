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7" r:id="rId4"/>
    <p:sldId id="258" r:id="rId5"/>
    <p:sldId id="259" r:id="rId6"/>
    <p:sldId id="263" r:id="rId7"/>
    <p:sldId id="264" r:id="rId8"/>
    <p:sldId id="265" r:id="rId9"/>
    <p:sldId id="260" r:id="rId10"/>
    <p:sldId id="261" r:id="rId11"/>
    <p:sldId id="271" r:id="rId12"/>
    <p:sldId id="272" r:id="rId13"/>
    <p:sldId id="262" r:id="rId14"/>
    <p:sldId id="273" r:id="rId15"/>
    <p:sldId id="274" r:id="rId16"/>
    <p:sldId id="267" r:id="rId17"/>
    <p:sldId id="268" r:id="rId18"/>
    <p:sldId id="266" r:id="rId19"/>
    <p:sldId id="269"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3" r:id="rId57"/>
    <p:sldId id="314" r:id="rId58"/>
    <p:sldId id="315" r:id="rId59"/>
    <p:sldId id="311" r:id="rId60"/>
    <p:sldId id="312" r:id="rId61"/>
    <p:sldId id="320" r:id="rId62"/>
    <p:sldId id="316" r:id="rId63"/>
    <p:sldId id="317" r:id="rId64"/>
    <p:sldId id="319"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www.techtarget.com/iotagenda/blog/IoT-Agenda/IoT-is-revolutionizing-natural-disaster-prediction" TargetMode="External"/><Relationship Id="rId2" Type="http://schemas.openxmlformats.org/officeDocument/2006/relationships/hyperlink" Target="https://www.techtarget.com/searchapparchitecture/tip/5-application-performance-metrics-all-dev-teams-should-track" TargetMode="External"/><Relationship Id="rId1" Type="http://schemas.openxmlformats.org/officeDocument/2006/relationships/slideLayout" Target="../slideLayouts/slideLayout1.xml"/><Relationship Id="rId4" Type="http://schemas.openxmlformats.org/officeDocument/2006/relationships/hyperlink" Target="https://www.techtarget.com/iotagenda/feature/Explore-3-IoT-trends-in-healthcare"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s://www.techopedia.com/definition/9756/data-transmission"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hyperlink" Target="https://www.geeksforgeeks.org/transmission-modes-computer-network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en.wikipedia.org/wiki/Megabyte" TargetMode="External"/><Relationship Id="rId7" Type="http://schemas.openxmlformats.org/officeDocument/2006/relationships/hyperlink" Target="https://en.wikipedia.org/wiki/Hard_disk" TargetMode="External"/><Relationship Id="rId2" Type="http://schemas.openxmlformats.org/officeDocument/2006/relationships/hyperlink" Target="https://en.wikipedia.org/wiki/Parallel_communications" TargetMode="External"/><Relationship Id="rId1" Type="http://schemas.openxmlformats.org/officeDocument/2006/relationships/slideLayout" Target="../slideLayouts/slideLayout2.xml"/><Relationship Id="rId6" Type="http://schemas.openxmlformats.org/officeDocument/2006/relationships/hyperlink" Target="https://en.wikipedia.org/wiki/Tape_drive" TargetMode="External"/><Relationship Id="rId5" Type="http://schemas.openxmlformats.org/officeDocument/2006/relationships/hyperlink" Target="https://en.wikipedia.org/wiki/Image_scanner" TargetMode="External"/><Relationship Id="rId4" Type="http://schemas.openxmlformats.org/officeDocument/2006/relationships/hyperlink" Target="https://en.wikipedia.org/wiki/SCSI"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Acquisition System</a:t>
            </a:r>
            <a:endParaRPr lang="en-US" dirty="0"/>
          </a:p>
        </p:txBody>
      </p:sp>
      <p:sp>
        <p:nvSpPr>
          <p:cNvPr id="3" name="Subtitle 2"/>
          <p:cNvSpPr>
            <a:spLocks noGrp="1"/>
          </p:cNvSpPr>
          <p:nvPr>
            <p:ph type="subTitle" idx="1"/>
          </p:nvPr>
        </p:nvSpPr>
        <p:spPr/>
        <p:txBody>
          <a:bodyPr/>
          <a:lstStyle/>
          <a:p>
            <a:r>
              <a:rPr lang="en-US" dirty="0" smtClean="0"/>
              <a:t>Chapter 7</a:t>
            </a:r>
            <a:endParaRPr lang="en-US" dirty="0"/>
          </a:p>
        </p:txBody>
      </p:sp>
    </p:spTree>
    <p:extLst>
      <p:ext uri="{BB962C8B-B14F-4D97-AF65-F5344CB8AC3E}">
        <p14:creationId xmlns:p14="http://schemas.microsoft.com/office/powerpoint/2010/main" val="28851234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8359901" y="5705932"/>
            <a:ext cx="115253" cy="346249"/>
          </a:xfrm>
          <a:prstGeom prst="rect">
            <a:avLst/>
          </a:prstGeom>
        </p:spPr>
        <p:txBody>
          <a:bodyPr vert="horz" wrap="square" lIns="0" tIns="0" rIns="0" bIns="0" rtlCol="0">
            <a:spAutoFit/>
          </a:bodyPr>
          <a:lstStyle/>
          <a:p>
            <a:pPr marL="28575">
              <a:lnSpc>
                <a:spcPts val="930"/>
              </a:lnSpc>
            </a:pPr>
            <a:fld id="{81D60167-4931-47E6-BA6A-407CBD079E47}" type="slidenum">
              <a:rPr sz="900" dirty="0">
                <a:solidFill>
                  <a:srgbClr val="888888"/>
                </a:solidFill>
                <a:latin typeface="Calibri"/>
                <a:cs typeface="Calibri"/>
              </a:rPr>
              <a:pPr marL="28575">
                <a:lnSpc>
                  <a:spcPts val="930"/>
                </a:lnSpc>
              </a:pPr>
              <a:t>2</a:t>
            </a:fld>
            <a:endParaRPr sz="900">
              <a:latin typeface="Calibri"/>
              <a:cs typeface="Calibri"/>
            </a:endParaRPr>
          </a:p>
        </p:txBody>
      </p:sp>
      <p:sp>
        <p:nvSpPr>
          <p:cNvPr id="2" name="object 2"/>
          <p:cNvSpPr txBox="1">
            <a:spLocks noGrp="1"/>
          </p:cNvSpPr>
          <p:nvPr>
            <p:ph type="title"/>
          </p:nvPr>
        </p:nvSpPr>
        <p:spPr>
          <a:xfrm>
            <a:off x="609600" y="457200"/>
            <a:ext cx="7237095" cy="686726"/>
          </a:xfrm>
          <a:prstGeom prst="rect">
            <a:avLst/>
          </a:prstGeom>
        </p:spPr>
        <p:txBody>
          <a:bodyPr vert="horz" wrap="square" lIns="0" tIns="9525" rIns="0" bIns="0" rtlCol="0" anchor="ctr">
            <a:spAutoFit/>
          </a:bodyPr>
          <a:lstStyle/>
          <a:p>
            <a:pPr marL="9525">
              <a:spcBef>
                <a:spcPts val="75"/>
              </a:spcBef>
            </a:pPr>
            <a:r>
              <a:rPr spc="-19" dirty="0"/>
              <a:t>Data </a:t>
            </a:r>
            <a:r>
              <a:rPr dirty="0"/>
              <a:t>Acquisition</a:t>
            </a:r>
            <a:r>
              <a:rPr spc="-19" dirty="0"/>
              <a:t> </a:t>
            </a:r>
            <a:r>
              <a:rPr spc="-23" dirty="0"/>
              <a:t>System</a:t>
            </a:r>
            <a:r>
              <a:rPr spc="-49" dirty="0"/>
              <a:t> </a:t>
            </a:r>
            <a:r>
              <a:rPr spc="-8" dirty="0"/>
              <a:t>(DAS)</a:t>
            </a:r>
          </a:p>
        </p:txBody>
      </p:sp>
      <p:sp>
        <p:nvSpPr>
          <p:cNvPr id="3" name="object 3"/>
          <p:cNvSpPr txBox="1"/>
          <p:nvPr/>
        </p:nvSpPr>
        <p:spPr>
          <a:xfrm>
            <a:off x="699761" y="1669005"/>
            <a:ext cx="7783354" cy="5186965"/>
          </a:xfrm>
          <a:prstGeom prst="rect">
            <a:avLst/>
          </a:prstGeom>
        </p:spPr>
        <p:txBody>
          <a:bodyPr vert="horz" wrap="square" lIns="0" tIns="39529" rIns="0" bIns="0" rtlCol="0">
            <a:spAutoFit/>
          </a:bodyPr>
          <a:lstStyle/>
          <a:p>
            <a:pPr marL="180975" marR="30956" indent="-171926" algn="just">
              <a:lnSpc>
                <a:spcPct val="90000"/>
              </a:lnSpc>
              <a:spcBef>
                <a:spcPts val="311"/>
              </a:spcBef>
              <a:buFont typeface="Arial MT"/>
              <a:buChar char="•"/>
              <a:tabLst>
                <a:tab pos="181451" algn="l"/>
              </a:tabLst>
            </a:pPr>
            <a:r>
              <a:rPr sz="2400" spc="-11" dirty="0">
                <a:latin typeface="Times New Roman" panose="02020603050405020304" pitchFamily="18" charset="0"/>
                <a:cs typeface="Times New Roman" panose="02020603050405020304" pitchFamily="18" charset="0"/>
              </a:rPr>
              <a:t>Data </a:t>
            </a:r>
            <a:r>
              <a:rPr sz="2400" dirty="0">
                <a:latin typeface="Times New Roman" panose="02020603050405020304" pitchFamily="18" charset="0"/>
                <a:cs typeface="Times New Roman" panose="02020603050405020304" pitchFamily="18" charset="0"/>
              </a:rPr>
              <a:t>acquisition </a:t>
            </a:r>
            <a:r>
              <a:rPr sz="2400" spc="-15" dirty="0">
                <a:latin typeface="Times New Roman" panose="02020603050405020304" pitchFamily="18" charset="0"/>
                <a:cs typeface="Times New Roman" panose="02020603050405020304" pitchFamily="18" charset="0"/>
              </a:rPr>
              <a:t>system </a:t>
            </a:r>
            <a:r>
              <a:rPr sz="2400" spc="-4" dirty="0">
                <a:latin typeface="Times New Roman" panose="02020603050405020304" pitchFamily="18" charset="0"/>
                <a:cs typeface="Times New Roman" panose="02020603050405020304" pitchFamily="18" charset="0"/>
              </a:rPr>
              <a:t>(DAS) </a:t>
            </a:r>
            <a:r>
              <a:rPr sz="2400" dirty="0">
                <a:latin typeface="Times New Roman" panose="02020603050405020304" pitchFamily="18" charset="0"/>
                <a:cs typeface="Times New Roman" panose="02020603050405020304" pitchFamily="18" charset="0"/>
              </a:rPr>
              <a:t>is an </a:t>
            </a:r>
            <a:r>
              <a:rPr sz="2400" spc="-4" dirty="0">
                <a:latin typeface="Times New Roman" panose="02020603050405020304" pitchFamily="18" charset="0"/>
                <a:cs typeface="Times New Roman" panose="02020603050405020304" pitchFamily="18" charset="0"/>
              </a:rPr>
              <a:t>electronic </a:t>
            </a:r>
            <a:r>
              <a:rPr sz="2400" spc="-15" dirty="0">
                <a:latin typeface="Times New Roman" panose="02020603050405020304" pitchFamily="18" charset="0"/>
                <a:cs typeface="Times New Roman" panose="02020603050405020304" pitchFamily="18" charset="0"/>
              </a:rPr>
              <a:t>system </a:t>
            </a:r>
            <a:r>
              <a:rPr sz="2400" spc="-4" dirty="0">
                <a:latin typeface="Times New Roman" panose="02020603050405020304" pitchFamily="18" charset="0"/>
                <a:cs typeface="Times New Roman" panose="02020603050405020304" pitchFamily="18" charset="0"/>
              </a:rPr>
              <a:t>that measures </a:t>
            </a:r>
            <a:r>
              <a:rPr sz="2400" dirty="0">
                <a:latin typeface="Times New Roman" panose="02020603050405020304" pitchFamily="18" charset="0"/>
                <a:cs typeface="Times New Roman" panose="02020603050405020304" pitchFamily="18" charset="0"/>
              </a:rPr>
              <a:t>and </a:t>
            </a:r>
            <a:r>
              <a:rPr sz="2400" spc="4"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collect </a:t>
            </a:r>
            <a:r>
              <a:rPr sz="2400" spc="-11" dirty="0">
                <a:latin typeface="Times New Roman" panose="02020603050405020304" pitchFamily="18" charset="0"/>
                <a:cs typeface="Times New Roman" panose="02020603050405020304" pitchFamily="18" charset="0"/>
              </a:rPr>
              <a:t>data </a:t>
            </a:r>
            <a:r>
              <a:rPr sz="2400" spc="-8" dirty="0">
                <a:latin typeface="Times New Roman" panose="02020603050405020304" pitchFamily="18" charset="0"/>
                <a:cs typeface="Times New Roman" panose="02020603050405020304" pitchFamily="18" charset="0"/>
              </a:rPr>
              <a:t>from </a:t>
            </a:r>
            <a:r>
              <a:rPr sz="2400" spc="-4" dirty="0">
                <a:latin typeface="Times New Roman" panose="02020603050405020304" pitchFamily="18" charset="0"/>
                <a:cs typeface="Times New Roman" panose="02020603050405020304" pitchFamily="18" charset="0"/>
              </a:rPr>
              <a:t>measurement </a:t>
            </a:r>
            <a:r>
              <a:rPr sz="2400" spc="-15" dirty="0">
                <a:latin typeface="Times New Roman" panose="02020603050405020304" pitchFamily="18" charset="0"/>
                <a:cs typeface="Times New Roman" panose="02020603050405020304" pitchFamily="18" charset="0"/>
              </a:rPr>
              <a:t>system, </a:t>
            </a:r>
            <a:r>
              <a:rPr sz="2400" spc="-11" dirty="0">
                <a:latin typeface="Times New Roman" panose="02020603050405020304" pitchFamily="18" charset="0"/>
                <a:cs typeface="Times New Roman" panose="02020603050405020304" pitchFamily="18" charset="0"/>
              </a:rPr>
              <a:t>covert </a:t>
            </a:r>
            <a:r>
              <a:rPr sz="2400" dirty="0">
                <a:latin typeface="Times New Roman" panose="02020603050405020304" pitchFamily="18" charset="0"/>
                <a:cs typeface="Times New Roman" panose="02020603050405020304" pitchFamily="18" charset="0"/>
              </a:rPr>
              <a:t>them in </a:t>
            </a:r>
            <a:r>
              <a:rPr sz="2400" spc="-8" dirty="0">
                <a:latin typeface="Times New Roman" panose="02020603050405020304" pitchFamily="18" charset="0"/>
                <a:cs typeface="Times New Roman" panose="02020603050405020304" pitchFamily="18" charset="0"/>
              </a:rPr>
              <a:t>desired </a:t>
            </a:r>
            <a:r>
              <a:rPr sz="2400" spc="-11" dirty="0">
                <a:latin typeface="Times New Roman" panose="02020603050405020304" pitchFamily="18" charset="0"/>
                <a:cs typeface="Times New Roman" panose="02020603050405020304" pitchFamily="18" charset="0"/>
              </a:rPr>
              <a:t>form, stores </a:t>
            </a:r>
            <a:r>
              <a:rPr sz="2400" spc="-431"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data</a:t>
            </a:r>
            <a:r>
              <a:rPr sz="2400" spc="-4" dirty="0">
                <a:latin typeface="Times New Roman" panose="02020603050405020304" pitchFamily="18" charset="0"/>
                <a:cs typeface="Times New Roman" panose="02020603050405020304" pitchFamily="18" charset="0"/>
              </a:rPr>
              <a:t> </a:t>
            </a:r>
            <a:r>
              <a:rPr sz="2400" spc="-19" dirty="0">
                <a:latin typeface="Times New Roman" panose="02020603050405020304" pitchFamily="18" charset="0"/>
                <a:cs typeface="Times New Roman" panose="02020603050405020304" pitchFamily="18" charset="0"/>
              </a:rPr>
              <a:t>for</a:t>
            </a:r>
            <a:r>
              <a:rPr sz="2400" spc="4"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future</a:t>
            </a:r>
            <a:r>
              <a:rPr sz="2400" spc="-19"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retrieval</a:t>
            </a:r>
            <a:endParaRPr sz="2400" dirty="0">
              <a:latin typeface="Times New Roman" panose="02020603050405020304" pitchFamily="18" charset="0"/>
              <a:cs typeface="Times New Roman" panose="02020603050405020304" pitchFamily="18" charset="0"/>
            </a:endParaRPr>
          </a:p>
          <a:p>
            <a:pPr marL="180975" marR="3810" indent="-171926" algn="just">
              <a:lnSpc>
                <a:spcPts val="2108"/>
              </a:lnSpc>
              <a:spcBef>
                <a:spcPts val="780"/>
              </a:spcBef>
              <a:buFont typeface="Arial MT"/>
              <a:buChar char="•"/>
              <a:tabLst>
                <a:tab pos="181451" algn="l"/>
              </a:tabLst>
            </a:pPr>
            <a:r>
              <a:rPr sz="2400" spc="-4" dirty="0">
                <a:latin typeface="Times New Roman" panose="02020603050405020304" pitchFamily="18" charset="0"/>
                <a:cs typeface="Times New Roman" panose="02020603050405020304" pitchFamily="18" charset="0"/>
              </a:rPr>
              <a:t>Basically measure </a:t>
            </a:r>
            <a:r>
              <a:rPr sz="2400" dirty="0">
                <a:latin typeface="Times New Roman" panose="02020603050405020304" pitchFamily="18" charset="0"/>
                <a:cs typeface="Times New Roman" panose="02020603050405020304" pitchFamily="18" charset="0"/>
              </a:rPr>
              <a:t>and </a:t>
            </a:r>
            <a:r>
              <a:rPr sz="2400" spc="-15" dirty="0">
                <a:latin typeface="Times New Roman" panose="02020603050405020304" pitchFamily="18" charset="0"/>
                <a:cs typeface="Times New Roman" panose="02020603050405020304" pitchFamily="18" charset="0"/>
              </a:rPr>
              <a:t>record </a:t>
            </a:r>
            <a:r>
              <a:rPr sz="2400" dirty="0">
                <a:latin typeface="Times New Roman" panose="02020603050405020304" pitchFamily="18" charset="0"/>
                <a:cs typeface="Times New Roman" panose="02020603050405020304" pitchFamily="18" charset="0"/>
              </a:rPr>
              <a:t>the </a:t>
            </a:r>
            <a:r>
              <a:rPr sz="2400" spc="-4" dirty="0">
                <a:latin typeface="Times New Roman" panose="02020603050405020304" pitchFamily="18" charset="0"/>
                <a:cs typeface="Times New Roman" panose="02020603050405020304" pitchFamily="18" charset="0"/>
              </a:rPr>
              <a:t>signals </a:t>
            </a:r>
            <a:r>
              <a:rPr sz="2400" spc="-11" dirty="0">
                <a:latin typeface="Times New Roman" panose="02020603050405020304" pitchFamily="18" charset="0"/>
                <a:cs typeface="Times New Roman" panose="02020603050405020304" pitchFamily="18" charset="0"/>
              </a:rPr>
              <a:t>from </a:t>
            </a:r>
            <a:r>
              <a:rPr sz="2400" spc="-8" dirty="0">
                <a:latin typeface="Times New Roman" panose="02020603050405020304" pitchFamily="18" charset="0"/>
                <a:cs typeface="Times New Roman" panose="02020603050405020304" pitchFamily="18" charset="0"/>
              </a:rPr>
              <a:t>direct measurement </a:t>
            </a:r>
            <a:r>
              <a:rPr sz="2400" spc="-4"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 electrical </a:t>
            </a:r>
            <a:r>
              <a:rPr sz="2400" spc="-4" dirty="0">
                <a:latin typeface="Times New Roman" panose="02020603050405020304" pitchFamily="18" charset="0"/>
                <a:cs typeface="Times New Roman" panose="02020603050405020304" pitchFamily="18" charset="0"/>
              </a:rPr>
              <a:t>quantities such </a:t>
            </a:r>
            <a:r>
              <a:rPr sz="2400" dirty="0">
                <a:latin typeface="Times New Roman" panose="02020603050405020304" pitchFamily="18" charset="0"/>
                <a:cs typeface="Times New Roman" panose="02020603050405020304" pitchFamily="18" charset="0"/>
              </a:rPr>
              <a:t>as dc and ac </a:t>
            </a:r>
            <a:r>
              <a:rPr sz="2400" spc="-8" dirty="0">
                <a:latin typeface="Times New Roman" panose="02020603050405020304" pitchFamily="18" charset="0"/>
                <a:cs typeface="Times New Roman" panose="02020603050405020304" pitchFamily="18" charset="0"/>
              </a:rPr>
              <a:t>voltages, </a:t>
            </a:r>
            <a:r>
              <a:rPr sz="2400" spc="-19" dirty="0">
                <a:latin typeface="Times New Roman" panose="02020603050405020304" pitchFamily="18" charset="0"/>
                <a:cs typeface="Times New Roman" panose="02020603050405020304" pitchFamily="18" charset="0"/>
              </a:rPr>
              <a:t>frequency, </a:t>
            </a:r>
            <a:r>
              <a:rPr sz="2400" spc="-8" dirty="0">
                <a:latin typeface="Times New Roman" panose="02020603050405020304" pitchFamily="18" charset="0"/>
                <a:cs typeface="Times New Roman" panose="02020603050405020304" pitchFamily="18" charset="0"/>
              </a:rPr>
              <a:t>resistance </a:t>
            </a:r>
            <a:r>
              <a:rPr sz="2400" spc="-11" dirty="0">
                <a:latin typeface="Times New Roman" panose="02020603050405020304" pitchFamily="18" charset="0"/>
                <a:cs typeface="Times New Roman" panose="02020603050405020304" pitchFamily="18" charset="0"/>
              </a:rPr>
              <a:t>etc. </a:t>
            </a:r>
            <a:r>
              <a:rPr sz="2400" spc="-4" dirty="0">
                <a:latin typeface="Times New Roman" panose="02020603050405020304" pitchFamily="18" charset="0"/>
                <a:cs typeface="Times New Roman" panose="02020603050405020304" pitchFamily="18" charset="0"/>
              </a:rPr>
              <a:t>or </a:t>
            </a:r>
            <a:r>
              <a:rPr sz="2400" spc="-431" dirty="0">
                <a:latin typeface="Times New Roman" panose="02020603050405020304" pitchFamily="18" charset="0"/>
                <a:cs typeface="Times New Roman" panose="02020603050405020304" pitchFamily="18" charset="0"/>
              </a:rPr>
              <a:t> </a:t>
            </a:r>
            <a:r>
              <a:rPr sz="2400" spc="-4" dirty="0">
                <a:latin typeface="Times New Roman" panose="02020603050405020304" pitchFamily="18" charset="0"/>
                <a:cs typeface="Times New Roman" panose="02020603050405020304" pitchFamily="18" charset="0"/>
              </a:rPr>
              <a:t>signals</a:t>
            </a:r>
            <a:r>
              <a:rPr sz="2400" spc="-23" dirty="0">
                <a:latin typeface="Times New Roman" panose="02020603050405020304" pitchFamily="18" charset="0"/>
                <a:cs typeface="Times New Roman" panose="02020603050405020304" pitchFamily="18" charset="0"/>
              </a:rPr>
              <a:t> </a:t>
            </a:r>
            <a:r>
              <a:rPr sz="2400" spc="-4" dirty="0">
                <a:latin typeface="Times New Roman" panose="02020603050405020304" pitchFamily="18" charset="0"/>
                <a:cs typeface="Times New Roman" panose="02020603050405020304" pitchFamily="18" charset="0"/>
              </a:rPr>
              <a:t>originating</a:t>
            </a:r>
            <a:r>
              <a:rPr sz="2400"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from transducers</a:t>
            </a:r>
            <a:endParaRPr sz="2400" dirty="0">
              <a:latin typeface="Times New Roman" panose="02020603050405020304" pitchFamily="18" charset="0"/>
              <a:cs typeface="Times New Roman" panose="02020603050405020304" pitchFamily="18" charset="0"/>
            </a:endParaRPr>
          </a:p>
          <a:p>
            <a:pPr marL="180975" indent="-171926" algn="just">
              <a:spcBef>
                <a:spcPts val="488"/>
              </a:spcBef>
              <a:buFont typeface="Arial MT"/>
              <a:buChar char="•"/>
              <a:tabLst>
                <a:tab pos="181451" algn="l"/>
              </a:tabLst>
            </a:pPr>
            <a:r>
              <a:rPr sz="2400" spc="-8" dirty="0">
                <a:latin typeface="Times New Roman" panose="02020603050405020304" pitchFamily="18" charset="0"/>
                <a:cs typeface="Times New Roman" panose="02020603050405020304" pitchFamily="18" charset="0"/>
              </a:rPr>
              <a:t>DAS</a:t>
            </a:r>
            <a:r>
              <a:rPr sz="2400" spc="-15"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must</a:t>
            </a:r>
            <a:r>
              <a:rPr sz="2400" spc="-11" dirty="0">
                <a:latin typeface="Times New Roman" panose="02020603050405020304" pitchFamily="18" charset="0"/>
                <a:cs typeface="Times New Roman" panose="02020603050405020304" pitchFamily="18" charset="0"/>
              </a:rPr>
              <a:t> </a:t>
            </a:r>
            <a:r>
              <a:rPr sz="2400" spc="-4" dirty="0">
                <a:latin typeface="Times New Roman" panose="02020603050405020304" pitchFamily="18" charset="0"/>
                <a:cs typeface="Times New Roman" panose="02020603050405020304" pitchFamily="18" charset="0"/>
              </a:rPr>
              <a:t>acquire </a:t>
            </a:r>
            <a:r>
              <a:rPr sz="2400" dirty="0">
                <a:latin typeface="Times New Roman" panose="02020603050405020304" pitchFamily="18" charset="0"/>
                <a:cs typeface="Times New Roman" panose="02020603050405020304" pitchFamily="18" charset="0"/>
              </a:rPr>
              <a:t>the</a:t>
            </a:r>
            <a:r>
              <a:rPr sz="2400" spc="-11" dirty="0">
                <a:latin typeface="Times New Roman" panose="02020603050405020304" pitchFamily="18" charset="0"/>
                <a:cs typeface="Times New Roman" panose="02020603050405020304" pitchFamily="18" charset="0"/>
              </a:rPr>
              <a:t> </a:t>
            </a:r>
            <a:r>
              <a:rPr sz="2400" spc="-4" dirty="0">
                <a:latin typeface="Times New Roman" panose="02020603050405020304" pitchFamily="18" charset="0"/>
                <a:cs typeface="Times New Roman" panose="02020603050405020304" pitchFamily="18" charset="0"/>
              </a:rPr>
              <a:t>necessary</a:t>
            </a:r>
            <a:r>
              <a:rPr sz="2400" spc="-26"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data</a:t>
            </a:r>
            <a:r>
              <a:rPr sz="2400" spc="4"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at</a:t>
            </a:r>
            <a:r>
              <a:rPr sz="2400"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correct</a:t>
            </a:r>
            <a:r>
              <a:rPr sz="2400" spc="4" dirty="0">
                <a:latin typeface="Times New Roman" panose="02020603050405020304" pitchFamily="18" charset="0"/>
                <a:cs typeface="Times New Roman" panose="02020603050405020304" pitchFamily="18" charset="0"/>
              </a:rPr>
              <a:t> </a:t>
            </a:r>
            <a:r>
              <a:rPr sz="2400" spc="-4" dirty="0">
                <a:latin typeface="Times New Roman" panose="02020603050405020304" pitchFamily="18" charset="0"/>
                <a:cs typeface="Times New Roman" panose="02020603050405020304" pitchFamily="18" charset="0"/>
              </a:rPr>
              <a:t>speed</a:t>
            </a:r>
            <a:r>
              <a:rPr sz="2400" spc="-19"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at</a:t>
            </a:r>
            <a:r>
              <a:rPr sz="2400" spc="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4"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correct</a:t>
            </a:r>
            <a:r>
              <a:rPr sz="2400" spc="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time</a:t>
            </a:r>
          </a:p>
          <a:p>
            <a:pPr marL="180975" indent="-171926" algn="just">
              <a:spcBef>
                <a:spcPts val="514"/>
              </a:spcBef>
              <a:buFont typeface="Arial MT"/>
              <a:buChar char="•"/>
              <a:tabLst>
                <a:tab pos="181451" algn="l"/>
              </a:tabLst>
            </a:pPr>
            <a:r>
              <a:rPr sz="2400" spc="-4" dirty="0">
                <a:latin typeface="Times New Roman" panose="02020603050405020304" pitchFamily="18" charset="0"/>
                <a:cs typeface="Times New Roman" panose="02020603050405020304" pitchFamily="18" charset="0"/>
              </a:rPr>
              <a:t>Must</a:t>
            </a:r>
            <a:r>
              <a:rPr sz="2400" spc="-19" dirty="0">
                <a:latin typeface="Times New Roman" panose="02020603050405020304" pitchFamily="18" charset="0"/>
                <a:cs typeface="Times New Roman" panose="02020603050405020304" pitchFamily="18" charset="0"/>
              </a:rPr>
              <a:t> </a:t>
            </a:r>
            <a:r>
              <a:rPr sz="2400" spc="-4" dirty="0">
                <a:latin typeface="Times New Roman" panose="02020603050405020304" pitchFamily="18" charset="0"/>
                <a:cs typeface="Times New Roman" panose="02020603050405020304" pitchFamily="18" charset="0"/>
              </a:rPr>
              <a:t>use</a:t>
            </a:r>
            <a:r>
              <a:rPr sz="2400" spc="-19"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all </a:t>
            </a:r>
            <a:r>
              <a:rPr sz="2400" spc="-11" dirty="0">
                <a:latin typeface="Times New Roman" panose="02020603050405020304" pitchFamily="18" charset="0"/>
                <a:cs typeface="Times New Roman" panose="02020603050405020304" pitchFamily="18" charset="0"/>
              </a:rPr>
              <a:t>data</a:t>
            </a:r>
            <a:r>
              <a:rPr sz="2400" spc="-4"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efficiency</a:t>
            </a:r>
            <a:r>
              <a:rPr sz="2400" spc="-26" dirty="0">
                <a:latin typeface="Times New Roman" panose="02020603050405020304" pitchFamily="18" charset="0"/>
                <a:cs typeface="Times New Roman" panose="02020603050405020304" pitchFamily="18" charset="0"/>
              </a:rPr>
              <a:t> </a:t>
            </a:r>
            <a:r>
              <a:rPr sz="2400" spc="-19" dirty="0">
                <a:latin typeface="Times New Roman" panose="02020603050405020304" pitchFamily="18" charset="0"/>
                <a:cs typeface="Times New Roman" panose="02020603050405020304" pitchFamily="18" charset="0"/>
              </a:rPr>
              <a:t>for</a:t>
            </a:r>
            <a:r>
              <a:rPr sz="2400" spc="-4"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proper</a:t>
            </a:r>
            <a:r>
              <a:rPr sz="2400" spc="-15"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information</a:t>
            </a:r>
            <a:endParaRPr sz="2400" dirty="0">
              <a:latin typeface="Times New Roman" panose="02020603050405020304" pitchFamily="18" charset="0"/>
              <a:cs typeface="Times New Roman" panose="02020603050405020304" pitchFamily="18" charset="0"/>
            </a:endParaRPr>
          </a:p>
          <a:p>
            <a:pPr marL="180975" indent="-171926" algn="just">
              <a:spcBef>
                <a:spcPts val="514"/>
              </a:spcBef>
              <a:buFont typeface="Arial MT"/>
              <a:buChar char="•"/>
              <a:tabLst>
                <a:tab pos="181451" algn="l"/>
              </a:tabLst>
            </a:pPr>
            <a:r>
              <a:rPr sz="2400" spc="-4" dirty="0">
                <a:latin typeface="Times New Roman" panose="02020603050405020304" pitchFamily="18" charset="0"/>
                <a:cs typeface="Times New Roman" panose="02020603050405020304" pitchFamily="18" charset="0"/>
              </a:rPr>
              <a:t>Monitoring</a:t>
            </a:r>
            <a:r>
              <a:rPr sz="2400" spc="-26"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features</a:t>
            </a:r>
            <a:endParaRPr sz="2400" dirty="0">
              <a:latin typeface="Times New Roman" panose="02020603050405020304" pitchFamily="18" charset="0"/>
              <a:cs typeface="Times New Roman" panose="02020603050405020304" pitchFamily="18" charset="0"/>
            </a:endParaRPr>
          </a:p>
          <a:p>
            <a:pPr marL="180975" indent="-171926" algn="just">
              <a:spcBef>
                <a:spcPts val="521"/>
              </a:spcBef>
              <a:buFont typeface="Arial MT"/>
              <a:buChar char="•"/>
              <a:tabLst>
                <a:tab pos="181451" algn="l"/>
              </a:tabLst>
            </a:pPr>
            <a:r>
              <a:rPr sz="2400" spc="-8" dirty="0">
                <a:latin typeface="Times New Roman" panose="02020603050405020304" pitchFamily="18" charset="0"/>
                <a:cs typeface="Times New Roman" panose="02020603050405020304" pitchFamily="18" charset="0"/>
              </a:rPr>
              <a:t>Provide</a:t>
            </a:r>
            <a:r>
              <a:rPr sz="2400" spc="-30"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effective</a:t>
            </a:r>
            <a:r>
              <a:rPr sz="2400" spc="-45" dirty="0">
                <a:latin typeface="Times New Roman" panose="02020603050405020304" pitchFamily="18" charset="0"/>
                <a:cs typeface="Times New Roman" panose="02020603050405020304" pitchFamily="18" charset="0"/>
              </a:rPr>
              <a:t> </a:t>
            </a:r>
            <a:r>
              <a:rPr sz="2400" spc="-4" dirty="0">
                <a:latin typeface="Times New Roman" panose="02020603050405020304" pitchFamily="18" charset="0"/>
                <a:cs typeface="Times New Roman" panose="02020603050405020304" pitchFamily="18" charset="0"/>
              </a:rPr>
              <a:t>communication</a:t>
            </a:r>
            <a:r>
              <a:rPr sz="2400" spc="-11"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system</a:t>
            </a:r>
            <a:endParaRPr sz="2400" dirty="0">
              <a:latin typeface="Times New Roman" panose="02020603050405020304" pitchFamily="18" charset="0"/>
              <a:cs typeface="Times New Roman" panose="02020603050405020304" pitchFamily="18" charset="0"/>
            </a:endParaRPr>
          </a:p>
          <a:p>
            <a:pPr marL="180975" indent="-171926" algn="just">
              <a:spcBef>
                <a:spcPts val="514"/>
              </a:spcBef>
              <a:buFont typeface="Arial MT"/>
              <a:buChar char="•"/>
              <a:tabLst>
                <a:tab pos="181451" algn="l"/>
              </a:tabLst>
            </a:pPr>
            <a:r>
              <a:rPr sz="2400" dirty="0">
                <a:latin typeface="Times New Roman" panose="02020603050405020304" pitchFamily="18" charset="0"/>
                <a:cs typeface="Times New Roman" panose="02020603050405020304" pitchFamily="18" charset="0"/>
              </a:rPr>
              <a:t>Able</a:t>
            </a:r>
            <a:r>
              <a:rPr sz="2400" spc="-15"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to</a:t>
            </a:r>
            <a:r>
              <a:rPr sz="2400" spc="-4"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collect,</a:t>
            </a:r>
            <a:r>
              <a:rPr sz="2400" spc="-4" dirty="0">
                <a:latin typeface="Times New Roman" panose="02020603050405020304" pitchFamily="18" charset="0"/>
                <a:cs typeface="Times New Roman" panose="02020603050405020304" pitchFamily="18" charset="0"/>
              </a:rPr>
              <a:t> manipulate</a:t>
            </a:r>
            <a:r>
              <a:rPr sz="2400" spc="-2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 </a:t>
            </a:r>
            <a:r>
              <a:rPr sz="2400" spc="-15" dirty="0">
                <a:latin typeface="Times New Roman" panose="02020603050405020304" pitchFamily="18" charset="0"/>
                <a:cs typeface="Times New Roman" panose="02020603050405020304" pitchFamily="18" charset="0"/>
              </a:rPr>
              <a:t>store</a:t>
            </a:r>
            <a:r>
              <a:rPr sz="2400" spc="-19"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data</a:t>
            </a:r>
            <a:r>
              <a:rPr sz="2400"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properly</a:t>
            </a:r>
            <a:endParaRPr sz="2400" dirty="0">
              <a:latin typeface="Times New Roman" panose="02020603050405020304" pitchFamily="18" charset="0"/>
              <a:cs typeface="Times New Roman" panose="02020603050405020304" pitchFamily="18" charset="0"/>
            </a:endParaRPr>
          </a:p>
          <a:p>
            <a:pPr marL="180975" indent="-171926" algn="just">
              <a:spcBef>
                <a:spcPts val="514"/>
              </a:spcBef>
              <a:buFont typeface="Arial MT"/>
              <a:buChar char="•"/>
              <a:tabLst>
                <a:tab pos="181451" algn="l"/>
              </a:tabLst>
            </a:pPr>
            <a:r>
              <a:rPr sz="2400" spc="-4" dirty="0">
                <a:latin typeface="Times New Roman" panose="02020603050405020304" pitchFamily="18" charset="0"/>
                <a:cs typeface="Times New Roman" panose="02020603050405020304" pitchFamily="18" charset="0"/>
              </a:rPr>
              <a:t>Reliable,</a:t>
            </a:r>
            <a:r>
              <a:rPr sz="2400" spc="-26"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flexible,</a:t>
            </a:r>
            <a:r>
              <a:rPr sz="2400" spc="-26" dirty="0">
                <a:latin typeface="Times New Roman" panose="02020603050405020304" pitchFamily="18" charset="0"/>
                <a:cs typeface="Times New Roman" panose="02020603050405020304" pitchFamily="18" charset="0"/>
              </a:rPr>
              <a:t> </a:t>
            </a:r>
            <a:r>
              <a:rPr sz="2400" spc="-8" dirty="0">
                <a:latin typeface="Times New Roman" panose="02020603050405020304" pitchFamily="18" charset="0"/>
                <a:cs typeface="Times New Roman" panose="02020603050405020304" pitchFamily="18" charset="0"/>
              </a:rPr>
              <a:t>expandable</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102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Acquisition</a:t>
            </a:r>
            <a:endParaRPr lang="en-US" dirty="0"/>
          </a:p>
        </p:txBody>
      </p:sp>
      <p:sp>
        <p:nvSpPr>
          <p:cNvPr id="3" name="Content Placeholder 2"/>
          <p:cNvSpPr>
            <a:spLocks noGrp="1"/>
          </p:cNvSpPr>
          <p:nvPr>
            <p:ph idx="1"/>
          </p:nvPr>
        </p:nvSpPr>
        <p:spPr/>
        <p:txBody>
          <a:bodyPr>
            <a:normAutofit lnSpcReduction="10000"/>
          </a:bodyPr>
          <a:lstStyle/>
          <a:p>
            <a:r>
              <a:rPr lang="en-US" dirty="0" smtClean="0"/>
              <a:t>The process of collecting the input information as rapidly, accurately, economically and completely as necessary.</a:t>
            </a:r>
          </a:p>
          <a:p>
            <a:r>
              <a:rPr lang="en-US" dirty="0"/>
              <a:t>A typical data acquisition system consists of individual sensors with the </a:t>
            </a:r>
            <a:r>
              <a:rPr lang="en-US" dirty="0" smtClean="0"/>
              <a:t>necessary signal </a:t>
            </a:r>
            <a:r>
              <a:rPr lang="en-US" dirty="0"/>
              <a:t>conditioning, data conversion, </a:t>
            </a:r>
            <a:r>
              <a:rPr lang="en-US" dirty="0" smtClean="0"/>
              <a:t>data processing</a:t>
            </a:r>
            <a:r>
              <a:rPr lang="en-US" dirty="0"/>
              <a:t>, multiplexing, data </a:t>
            </a:r>
            <a:r>
              <a:rPr lang="en-US" dirty="0" smtClean="0"/>
              <a:t>handling and </a:t>
            </a:r>
            <a:r>
              <a:rPr lang="en-US" dirty="0"/>
              <a:t>associated transmission, storage and display systems.</a:t>
            </a:r>
          </a:p>
        </p:txBody>
      </p:sp>
    </p:spTree>
    <p:extLst>
      <p:ext uri="{BB962C8B-B14F-4D97-AF65-F5344CB8AC3E}">
        <p14:creationId xmlns:p14="http://schemas.microsoft.com/office/powerpoint/2010/main" val="11236213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smtClean="0"/>
              <a:t>Acquisition </a:t>
            </a:r>
            <a:r>
              <a:rPr lang="en-US" dirty="0"/>
              <a:t>System</a:t>
            </a:r>
          </a:p>
        </p:txBody>
      </p:sp>
      <p:sp>
        <p:nvSpPr>
          <p:cNvPr id="3" name="Content Placeholder 2"/>
          <p:cNvSpPr>
            <a:spLocks noGrp="1"/>
          </p:cNvSpPr>
          <p:nvPr>
            <p:ph idx="1"/>
          </p:nvPr>
        </p:nvSpPr>
        <p:spPr/>
        <p:txBody>
          <a:bodyPr/>
          <a:lstStyle/>
          <a:p>
            <a:r>
              <a:rPr lang="en-US" dirty="0" smtClean="0"/>
              <a:t>DAS is used to measure and record signals obtained in basically two ways:</a:t>
            </a:r>
          </a:p>
          <a:p>
            <a:endParaRPr lang="en-US" dirty="0" smtClean="0"/>
          </a:p>
          <a:p>
            <a:pPr lvl="1"/>
            <a:r>
              <a:rPr lang="en-US" dirty="0" smtClean="0"/>
              <a:t>Signal originating from direct measurement  of electrical quantities which may include DC and AC voltage, frequency or resistance.</a:t>
            </a:r>
          </a:p>
          <a:p>
            <a:pPr lvl="1"/>
            <a:endParaRPr lang="en-US" dirty="0" smtClean="0"/>
          </a:p>
          <a:p>
            <a:pPr lvl="1"/>
            <a:r>
              <a:rPr lang="en-US" dirty="0" smtClean="0"/>
              <a:t>Signal originating from transducers.</a:t>
            </a:r>
            <a:endParaRPr lang="en-US" dirty="0"/>
          </a:p>
        </p:txBody>
      </p:sp>
    </p:spTree>
    <p:extLst>
      <p:ext uri="{BB962C8B-B14F-4D97-AF65-F5344CB8AC3E}">
        <p14:creationId xmlns:p14="http://schemas.microsoft.com/office/powerpoint/2010/main" val="4066770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Acquisition System</a:t>
            </a:r>
          </a:p>
        </p:txBody>
      </p:sp>
      <p:pic>
        <p:nvPicPr>
          <p:cNvPr id="4" name="Content Placeholder 3"/>
          <p:cNvPicPr>
            <a:picLocks noGrp="1"/>
          </p:cNvPicPr>
          <p:nvPr>
            <p:ph idx="1"/>
          </p:nvPr>
        </p:nvPicPr>
        <p:blipFill rotWithShape="1">
          <a:blip r:embed="rId2">
            <a:extLst>
              <a:ext uri="{BEBA8EAE-BF5A-486C-A8C5-ECC9F3942E4B}">
                <a14:imgProps xmlns:a14="http://schemas.microsoft.com/office/drawing/2010/main">
                  <a14:imgLayer r:embed="rId3">
                    <a14:imgEffect>
                      <a14:brightnessContrast bright="5000" contrast="100000"/>
                    </a14:imgEffect>
                  </a14:imgLayer>
                </a14:imgProps>
              </a:ext>
            </a:extLst>
          </a:blip>
          <a:srcRect l="10898" t="20524" r="11057" b="13056"/>
          <a:stretch/>
        </p:blipFill>
        <p:spPr bwMode="auto">
          <a:xfrm>
            <a:off x="457200" y="1894330"/>
            <a:ext cx="8229600" cy="393770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254006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of DAS</a:t>
            </a:r>
            <a:endParaRPr lang="en-US" dirty="0"/>
          </a:p>
        </p:txBody>
      </p:sp>
      <p:sp>
        <p:nvSpPr>
          <p:cNvPr id="3" name="Content Placeholder 2"/>
          <p:cNvSpPr>
            <a:spLocks noGrp="1"/>
          </p:cNvSpPr>
          <p:nvPr>
            <p:ph idx="1"/>
          </p:nvPr>
        </p:nvSpPr>
        <p:spPr/>
        <p:txBody>
          <a:bodyPr>
            <a:normAutofit lnSpcReduction="10000"/>
          </a:bodyPr>
          <a:lstStyle/>
          <a:p>
            <a:r>
              <a:rPr lang="en-US" dirty="0" smtClean="0"/>
              <a:t>Factors affecting the configuration of DAS:</a:t>
            </a:r>
          </a:p>
          <a:p>
            <a:pPr lvl="1"/>
            <a:r>
              <a:rPr lang="en-US" dirty="0" smtClean="0"/>
              <a:t>Resolution and accuracy</a:t>
            </a:r>
          </a:p>
          <a:p>
            <a:pPr lvl="1"/>
            <a:r>
              <a:rPr lang="en-US" dirty="0" smtClean="0"/>
              <a:t>Number of channels to be monitored.</a:t>
            </a:r>
          </a:p>
          <a:p>
            <a:pPr lvl="1"/>
            <a:r>
              <a:rPr lang="en-US" dirty="0" smtClean="0"/>
              <a:t>Sampling rate per channel.</a:t>
            </a:r>
          </a:p>
          <a:p>
            <a:pPr lvl="1"/>
            <a:r>
              <a:rPr lang="en-US" dirty="0" smtClean="0"/>
              <a:t>Signal conditioner requirement per channel.</a:t>
            </a:r>
          </a:p>
          <a:p>
            <a:pPr lvl="1"/>
            <a:r>
              <a:rPr lang="en-US" dirty="0" smtClean="0"/>
              <a:t>Cost.</a:t>
            </a:r>
          </a:p>
          <a:p>
            <a:r>
              <a:rPr lang="en-US" dirty="0" smtClean="0"/>
              <a:t>Two configurations:</a:t>
            </a:r>
          </a:p>
          <a:p>
            <a:pPr lvl="1"/>
            <a:r>
              <a:rPr lang="en-US" dirty="0" smtClean="0"/>
              <a:t>Single channel DAS</a:t>
            </a:r>
          </a:p>
          <a:p>
            <a:pPr lvl="1"/>
            <a:r>
              <a:rPr lang="en-US" dirty="0" smtClean="0"/>
              <a:t>Multi channel DAS</a:t>
            </a:r>
            <a:endParaRPr lang="en-US" dirty="0"/>
          </a:p>
        </p:txBody>
      </p:sp>
    </p:spTree>
    <p:extLst>
      <p:ext uri="{BB962C8B-B14F-4D97-AF65-F5344CB8AC3E}">
        <p14:creationId xmlns:p14="http://schemas.microsoft.com/office/powerpoint/2010/main" val="5542626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Channel DAS</a:t>
            </a:r>
            <a:endParaRPr lang="en-US" dirty="0"/>
          </a:p>
        </p:txBody>
      </p:sp>
      <p:sp>
        <p:nvSpPr>
          <p:cNvPr id="3" name="Content Placeholder 2"/>
          <p:cNvSpPr>
            <a:spLocks noGrp="1"/>
          </p:cNvSpPr>
          <p:nvPr>
            <p:ph idx="1"/>
          </p:nvPr>
        </p:nvSpPr>
        <p:spPr>
          <a:xfrm>
            <a:off x="304800" y="1295400"/>
            <a:ext cx="8610600" cy="5334000"/>
          </a:xfrm>
        </p:spPr>
        <p:txBody>
          <a:bodyPr>
            <a:normAutofit/>
          </a:bodyPr>
          <a:lstStyle/>
          <a:p>
            <a:endParaRPr lang="en-US" dirty="0" smtClean="0"/>
          </a:p>
          <a:p>
            <a:endParaRPr lang="en-US" dirty="0"/>
          </a:p>
          <a:p>
            <a:endParaRPr lang="en-US" dirty="0" smtClean="0"/>
          </a:p>
          <a:p>
            <a:endParaRPr lang="en-US" dirty="0"/>
          </a:p>
          <a:p>
            <a:r>
              <a:rPr lang="en-US" dirty="0" smtClean="0"/>
              <a:t>It consists of signal conditioner followed by ADC.</a:t>
            </a:r>
          </a:p>
          <a:p>
            <a:r>
              <a:rPr lang="en-US" dirty="0" err="1" smtClean="0"/>
              <a:t>Eg</a:t>
            </a:r>
            <a:r>
              <a:rPr lang="en-US" dirty="0" smtClean="0"/>
              <a:t>: Digital Panel Meter (DPM)</a:t>
            </a:r>
          </a:p>
          <a:p>
            <a:r>
              <a:rPr lang="en-US" dirty="0" smtClean="0"/>
              <a:t>It is slow and BCD o/p must be converted to Binary if processed by digital </a:t>
            </a:r>
            <a:r>
              <a:rPr lang="en-US" dirty="0" err="1" smtClean="0"/>
              <a:t>equipments</a:t>
            </a:r>
            <a:r>
              <a:rPr lang="en-US" dirty="0" smtClean="0"/>
              <a:t>.</a:t>
            </a:r>
            <a:endParaRPr lang="en-US" dirty="0"/>
          </a:p>
        </p:txBody>
      </p:sp>
      <p:pic>
        <p:nvPicPr>
          <p:cNvPr id="4" name="Picture 3"/>
          <p:cNvPicPr/>
          <p:nvPr/>
        </p:nvPicPr>
        <p:blipFill rotWithShape="1">
          <a:blip r:embed="rId2"/>
          <a:srcRect l="33814" t="48746" r="39423" b="32725"/>
          <a:stretch/>
        </p:blipFill>
        <p:spPr bwMode="auto">
          <a:xfrm>
            <a:off x="990600" y="1295400"/>
            <a:ext cx="6477000" cy="23622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078341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 Channel DAS</a:t>
            </a:r>
            <a:endParaRPr lang="en-US" dirty="0"/>
          </a:p>
        </p:txBody>
      </p:sp>
      <p:sp>
        <p:nvSpPr>
          <p:cNvPr id="6" name="Content Placeholder 5"/>
          <p:cNvSpPr>
            <a:spLocks noGrp="1"/>
          </p:cNvSpPr>
          <p:nvPr>
            <p:ph sz="half" idx="1"/>
          </p:nvPr>
        </p:nvSpPr>
        <p:spPr/>
        <p:txBody>
          <a:bodyPr>
            <a:normAutofit fontScale="92500" lnSpcReduction="20000"/>
          </a:bodyPr>
          <a:lstStyle/>
          <a:p>
            <a:r>
              <a:rPr lang="en-US" sz="2400" dirty="0" smtClean="0"/>
              <a:t>Individual analog signal applied to MUX  thru signal conditioner.</a:t>
            </a:r>
          </a:p>
          <a:p>
            <a:r>
              <a:rPr lang="en-US" sz="2400" dirty="0" smtClean="0"/>
              <a:t>Converted to digital form by ADC sequentially.</a:t>
            </a:r>
          </a:p>
          <a:p>
            <a:r>
              <a:rPr lang="en-US" sz="2400" dirty="0" smtClean="0"/>
              <a:t>To make it more faster, the multiplexer takes the i/p thru next channel while the previous data stored in sample and hold </a:t>
            </a:r>
            <a:r>
              <a:rPr lang="en-US" sz="2400" dirty="0" err="1" smtClean="0"/>
              <a:t>ckt</a:t>
            </a:r>
            <a:r>
              <a:rPr lang="en-US" sz="2400" dirty="0" smtClean="0"/>
              <a:t> is converted into digital.</a:t>
            </a:r>
          </a:p>
          <a:p>
            <a:r>
              <a:rPr lang="en-US" sz="2400" dirty="0" smtClean="0"/>
              <a:t>When conversion completed, S/H </a:t>
            </a:r>
            <a:r>
              <a:rPr lang="en-US" sz="2400" dirty="0" err="1" smtClean="0"/>
              <a:t>ckt</a:t>
            </a:r>
            <a:r>
              <a:rPr lang="en-US" sz="2400" dirty="0" smtClean="0"/>
              <a:t> returns to sample mode and acquires the signal of next channel.</a:t>
            </a:r>
            <a:endParaRPr lang="en-US" sz="2400" dirty="0"/>
          </a:p>
        </p:txBody>
      </p:sp>
      <p:pic>
        <p:nvPicPr>
          <p:cNvPr id="8" name="Content Placeholder 7"/>
          <p:cNvPicPr>
            <a:picLocks noGrp="1"/>
          </p:cNvPicPr>
          <p:nvPr>
            <p:ph sz="half" idx="2"/>
          </p:nvPr>
        </p:nvPicPr>
        <p:blipFill rotWithShape="1">
          <a:blip r:embed="rId2"/>
          <a:srcRect l="30288" t="22520" r="34616" b="22178"/>
          <a:stretch/>
        </p:blipFill>
        <p:spPr bwMode="auto">
          <a:xfrm>
            <a:off x="4648200" y="1524000"/>
            <a:ext cx="4343400" cy="4572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913414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Acquisition System</a:t>
            </a:r>
          </a:p>
        </p:txBody>
      </p:sp>
      <p:sp>
        <p:nvSpPr>
          <p:cNvPr id="3" name="Content Placeholder 2"/>
          <p:cNvSpPr>
            <a:spLocks noGrp="1"/>
          </p:cNvSpPr>
          <p:nvPr>
            <p:ph idx="1"/>
          </p:nvPr>
        </p:nvSpPr>
        <p:spPr/>
        <p:txBody>
          <a:bodyPr/>
          <a:lstStyle/>
          <a:p>
            <a:r>
              <a:rPr lang="en-US" dirty="0" smtClean="0"/>
              <a:t>As instrument may be either analog or digital systems, correspondingly we have two types of DAS:</a:t>
            </a:r>
          </a:p>
          <a:p>
            <a:pPr lvl="1"/>
            <a:r>
              <a:rPr lang="en-US" dirty="0" smtClean="0"/>
              <a:t>Analog </a:t>
            </a:r>
            <a:r>
              <a:rPr lang="en-US" dirty="0"/>
              <a:t>Data Acquisition </a:t>
            </a:r>
            <a:r>
              <a:rPr lang="en-US" dirty="0" smtClean="0"/>
              <a:t>System</a:t>
            </a:r>
          </a:p>
          <a:p>
            <a:pPr lvl="1"/>
            <a:r>
              <a:rPr lang="en-US" dirty="0" smtClean="0"/>
              <a:t>Digital </a:t>
            </a:r>
            <a:r>
              <a:rPr lang="en-US" dirty="0"/>
              <a:t>Data Acquisition System</a:t>
            </a:r>
          </a:p>
        </p:txBody>
      </p:sp>
    </p:spTree>
    <p:extLst>
      <p:ext uri="{BB962C8B-B14F-4D97-AF65-F5344CB8AC3E}">
        <p14:creationId xmlns:p14="http://schemas.microsoft.com/office/powerpoint/2010/main" val="36050852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Analog DAS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block diagram of analog DAS:</a:t>
            </a:r>
          </a:p>
          <a:p>
            <a:endParaRPr lang="en-US" dirty="0"/>
          </a:p>
          <a:p>
            <a:endParaRPr lang="en-US" dirty="0" smtClean="0"/>
          </a:p>
          <a:p>
            <a:endParaRPr lang="en-US" dirty="0"/>
          </a:p>
          <a:p>
            <a:endParaRPr lang="en-US" dirty="0" smtClean="0"/>
          </a:p>
          <a:p>
            <a:endParaRPr lang="en-US" dirty="0"/>
          </a:p>
          <a:p>
            <a:endParaRPr lang="en-US" dirty="0" smtClean="0"/>
          </a:p>
          <a:p>
            <a:r>
              <a:rPr lang="en-US" dirty="0" smtClean="0"/>
              <a:t>Components: Transducer, Signal Conditioner,    		        Analog Multiplexer and Analog 		        Recorders.</a:t>
            </a:r>
            <a:endParaRPr lang="en-US" dirty="0"/>
          </a:p>
        </p:txBody>
      </p:sp>
      <p:pic>
        <p:nvPicPr>
          <p:cNvPr id="1026" name="Picture 2" descr="C:\Users\elx\AppData\Local\Microsoft\Windows\INetCache\IE\WEGNKRCV\Data_acquisition_systems[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346" y="2362200"/>
            <a:ext cx="8229600" cy="2510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334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7705" y="893810"/>
            <a:ext cx="1949291" cy="1364316"/>
          </a:xfrm>
          <a:prstGeom prst="rect">
            <a:avLst/>
          </a:prstGeom>
        </p:spPr>
        <p:txBody>
          <a:bodyPr vert="horz" wrap="square" lIns="0" tIns="10001" rIns="0" bIns="0" rtlCol="0" anchor="ctr">
            <a:spAutoFit/>
          </a:bodyPr>
          <a:lstStyle/>
          <a:p>
            <a:pPr marL="9525">
              <a:spcBef>
                <a:spcPts val="79"/>
              </a:spcBef>
            </a:pPr>
            <a:r>
              <a:rPr spc="-4" dirty="0"/>
              <a:t>Analog</a:t>
            </a:r>
            <a:r>
              <a:rPr spc="-53" dirty="0"/>
              <a:t> </a:t>
            </a:r>
            <a:r>
              <a:rPr spc="-11" dirty="0"/>
              <a:t>DAS</a:t>
            </a:r>
          </a:p>
        </p:txBody>
      </p:sp>
      <p:sp>
        <p:nvSpPr>
          <p:cNvPr id="3" name="object 3"/>
          <p:cNvSpPr txBox="1"/>
          <p:nvPr/>
        </p:nvSpPr>
        <p:spPr>
          <a:xfrm>
            <a:off x="1453896" y="2648330"/>
            <a:ext cx="1196816" cy="237566"/>
          </a:xfrm>
          <a:prstGeom prst="rect">
            <a:avLst/>
          </a:prstGeom>
          <a:ln w="12192">
            <a:solidFill>
              <a:srgbClr val="000000"/>
            </a:solidFill>
          </a:ln>
        </p:spPr>
        <p:txBody>
          <a:bodyPr vert="horz" wrap="square" lIns="0" tIns="29528" rIns="0" bIns="0" rtlCol="0">
            <a:spAutoFit/>
          </a:bodyPr>
          <a:lstStyle/>
          <a:p>
            <a:pPr marL="151924">
              <a:spcBef>
                <a:spcPts val="233"/>
              </a:spcBef>
            </a:pPr>
            <a:r>
              <a:rPr sz="1350" spc="-15" dirty="0">
                <a:latin typeface="Calibri"/>
                <a:cs typeface="Calibri"/>
              </a:rPr>
              <a:t>Transducer</a:t>
            </a:r>
            <a:r>
              <a:rPr sz="1350" spc="-30" dirty="0">
                <a:latin typeface="Calibri"/>
                <a:cs typeface="Calibri"/>
              </a:rPr>
              <a:t> </a:t>
            </a:r>
            <a:r>
              <a:rPr sz="1350" dirty="0">
                <a:latin typeface="Calibri"/>
                <a:cs typeface="Calibri"/>
              </a:rPr>
              <a:t>1</a:t>
            </a:r>
            <a:endParaRPr sz="1350">
              <a:latin typeface="Calibri"/>
              <a:cs typeface="Calibri"/>
            </a:endParaRPr>
          </a:p>
        </p:txBody>
      </p:sp>
      <p:sp>
        <p:nvSpPr>
          <p:cNvPr id="4" name="object 4"/>
          <p:cNvSpPr txBox="1"/>
          <p:nvPr/>
        </p:nvSpPr>
        <p:spPr>
          <a:xfrm>
            <a:off x="1453896" y="3062097"/>
            <a:ext cx="1196816" cy="237565"/>
          </a:xfrm>
          <a:prstGeom prst="rect">
            <a:avLst/>
          </a:prstGeom>
          <a:ln w="12192">
            <a:solidFill>
              <a:srgbClr val="000000"/>
            </a:solidFill>
          </a:ln>
        </p:spPr>
        <p:txBody>
          <a:bodyPr vert="horz" wrap="square" lIns="0" tIns="29527" rIns="0" bIns="0" rtlCol="0">
            <a:spAutoFit/>
          </a:bodyPr>
          <a:lstStyle/>
          <a:p>
            <a:pPr marL="151924">
              <a:spcBef>
                <a:spcPts val="232"/>
              </a:spcBef>
            </a:pPr>
            <a:r>
              <a:rPr sz="1350" spc="-15" dirty="0">
                <a:latin typeface="Calibri"/>
                <a:cs typeface="Calibri"/>
              </a:rPr>
              <a:t>Transducer</a:t>
            </a:r>
            <a:r>
              <a:rPr sz="1350" spc="-19" dirty="0">
                <a:latin typeface="Calibri"/>
                <a:cs typeface="Calibri"/>
              </a:rPr>
              <a:t> </a:t>
            </a:r>
            <a:r>
              <a:rPr sz="1350" dirty="0">
                <a:latin typeface="Calibri"/>
                <a:cs typeface="Calibri"/>
              </a:rPr>
              <a:t>2</a:t>
            </a:r>
            <a:endParaRPr sz="1350">
              <a:latin typeface="Calibri"/>
              <a:cs typeface="Calibri"/>
            </a:endParaRPr>
          </a:p>
        </p:txBody>
      </p:sp>
      <p:sp>
        <p:nvSpPr>
          <p:cNvPr id="5" name="object 5"/>
          <p:cNvSpPr txBox="1"/>
          <p:nvPr/>
        </p:nvSpPr>
        <p:spPr>
          <a:xfrm>
            <a:off x="1453896" y="4133088"/>
            <a:ext cx="1196816" cy="237084"/>
          </a:xfrm>
          <a:prstGeom prst="rect">
            <a:avLst/>
          </a:prstGeom>
          <a:ln w="12192">
            <a:solidFill>
              <a:srgbClr val="000000"/>
            </a:solidFill>
          </a:ln>
        </p:spPr>
        <p:txBody>
          <a:bodyPr vert="horz" wrap="square" lIns="0" tIns="29051" rIns="0" bIns="0" rtlCol="0">
            <a:spAutoFit/>
          </a:bodyPr>
          <a:lstStyle/>
          <a:p>
            <a:pPr marL="149543">
              <a:spcBef>
                <a:spcPts val="229"/>
              </a:spcBef>
            </a:pPr>
            <a:r>
              <a:rPr sz="1350" spc="-15" dirty="0">
                <a:latin typeface="Calibri"/>
                <a:cs typeface="Calibri"/>
              </a:rPr>
              <a:t>Transducer</a:t>
            </a:r>
            <a:r>
              <a:rPr sz="1350" spc="-19" dirty="0">
                <a:latin typeface="Calibri"/>
                <a:cs typeface="Calibri"/>
              </a:rPr>
              <a:t> </a:t>
            </a:r>
            <a:r>
              <a:rPr sz="1350" dirty="0">
                <a:latin typeface="Calibri"/>
                <a:cs typeface="Calibri"/>
              </a:rPr>
              <a:t>n</a:t>
            </a:r>
            <a:endParaRPr sz="1350">
              <a:latin typeface="Calibri"/>
              <a:cs typeface="Calibri"/>
            </a:endParaRPr>
          </a:p>
        </p:txBody>
      </p:sp>
      <p:sp>
        <p:nvSpPr>
          <p:cNvPr id="6" name="object 6"/>
          <p:cNvSpPr/>
          <p:nvPr/>
        </p:nvSpPr>
        <p:spPr>
          <a:xfrm>
            <a:off x="2069401" y="3543871"/>
            <a:ext cx="0" cy="382905"/>
          </a:xfrm>
          <a:custGeom>
            <a:avLst/>
            <a:gdLst/>
            <a:ahLst/>
            <a:cxnLst/>
            <a:rect l="l" t="t" r="r" b="b"/>
            <a:pathLst>
              <a:path h="510539">
                <a:moveTo>
                  <a:pt x="0" y="0"/>
                </a:moveTo>
                <a:lnTo>
                  <a:pt x="0" y="510158"/>
                </a:lnTo>
              </a:path>
            </a:pathLst>
          </a:custGeom>
          <a:ln w="28956">
            <a:solidFill>
              <a:srgbClr val="000000"/>
            </a:solidFill>
            <a:prstDash val="dash"/>
          </a:ln>
        </p:spPr>
        <p:txBody>
          <a:bodyPr wrap="square" lIns="0" tIns="0" rIns="0" bIns="0" rtlCol="0"/>
          <a:lstStyle/>
          <a:p>
            <a:endParaRPr sz="1350"/>
          </a:p>
        </p:txBody>
      </p:sp>
      <p:sp>
        <p:nvSpPr>
          <p:cNvPr id="7" name="object 7"/>
          <p:cNvSpPr/>
          <p:nvPr/>
        </p:nvSpPr>
        <p:spPr>
          <a:xfrm>
            <a:off x="3345560" y="2648331"/>
            <a:ext cx="1560195" cy="287179"/>
          </a:xfrm>
          <a:custGeom>
            <a:avLst/>
            <a:gdLst/>
            <a:ahLst/>
            <a:cxnLst/>
            <a:rect l="l" t="t" r="r" b="b"/>
            <a:pathLst>
              <a:path w="2080259" h="382905">
                <a:moveTo>
                  <a:pt x="0" y="382524"/>
                </a:moveTo>
                <a:lnTo>
                  <a:pt x="2080259" y="382524"/>
                </a:lnTo>
                <a:lnTo>
                  <a:pt x="2080259" y="0"/>
                </a:lnTo>
                <a:lnTo>
                  <a:pt x="0" y="0"/>
                </a:lnTo>
                <a:lnTo>
                  <a:pt x="0" y="382524"/>
                </a:lnTo>
                <a:close/>
              </a:path>
            </a:pathLst>
          </a:custGeom>
          <a:ln w="12192">
            <a:solidFill>
              <a:srgbClr val="000000"/>
            </a:solidFill>
          </a:ln>
        </p:spPr>
        <p:txBody>
          <a:bodyPr wrap="square" lIns="0" tIns="0" rIns="0" bIns="0" rtlCol="0"/>
          <a:lstStyle/>
          <a:p>
            <a:endParaRPr sz="1350"/>
          </a:p>
        </p:txBody>
      </p:sp>
      <p:sp>
        <p:nvSpPr>
          <p:cNvPr id="8" name="object 8"/>
          <p:cNvSpPr txBox="1"/>
          <p:nvPr/>
        </p:nvSpPr>
        <p:spPr>
          <a:xfrm>
            <a:off x="3415570" y="2668105"/>
            <a:ext cx="1419701" cy="217367"/>
          </a:xfrm>
          <a:prstGeom prst="rect">
            <a:avLst/>
          </a:prstGeom>
        </p:spPr>
        <p:txBody>
          <a:bodyPr vert="horz" wrap="square" lIns="0" tIns="9525" rIns="0" bIns="0" rtlCol="0">
            <a:spAutoFit/>
          </a:bodyPr>
          <a:lstStyle/>
          <a:p>
            <a:pPr marL="9525">
              <a:spcBef>
                <a:spcPts val="75"/>
              </a:spcBef>
            </a:pPr>
            <a:r>
              <a:rPr sz="1350" spc="-4" dirty="0">
                <a:latin typeface="Calibri"/>
                <a:cs typeface="Calibri"/>
              </a:rPr>
              <a:t>Signal</a:t>
            </a:r>
            <a:r>
              <a:rPr sz="1350" spc="-23" dirty="0">
                <a:latin typeface="Calibri"/>
                <a:cs typeface="Calibri"/>
              </a:rPr>
              <a:t> </a:t>
            </a:r>
            <a:r>
              <a:rPr sz="1350" spc="-4" dirty="0">
                <a:latin typeface="Calibri"/>
                <a:cs typeface="Calibri"/>
              </a:rPr>
              <a:t>Conditioner</a:t>
            </a:r>
            <a:r>
              <a:rPr sz="1350" spc="-11" dirty="0">
                <a:latin typeface="Calibri"/>
                <a:cs typeface="Calibri"/>
              </a:rPr>
              <a:t> </a:t>
            </a:r>
            <a:r>
              <a:rPr sz="1350" dirty="0">
                <a:latin typeface="Calibri"/>
                <a:cs typeface="Calibri"/>
              </a:rPr>
              <a:t>1</a:t>
            </a:r>
            <a:endParaRPr sz="1350">
              <a:latin typeface="Calibri"/>
              <a:cs typeface="Calibri"/>
            </a:endParaRPr>
          </a:p>
        </p:txBody>
      </p:sp>
      <p:sp>
        <p:nvSpPr>
          <p:cNvPr id="9" name="object 9"/>
          <p:cNvSpPr/>
          <p:nvPr/>
        </p:nvSpPr>
        <p:spPr>
          <a:xfrm>
            <a:off x="3345560" y="3062097"/>
            <a:ext cx="1560195" cy="287179"/>
          </a:xfrm>
          <a:custGeom>
            <a:avLst/>
            <a:gdLst/>
            <a:ahLst/>
            <a:cxnLst/>
            <a:rect l="l" t="t" r="r" b="b"/>
            <a:pathLst>
              <a:path w="2080259" h="382904">
                <a:moveTo>
                  <a:pt x="0" y="382524"/>
                </a:moveTo>
                <a:lnTo>
                  <a:pt x="2080259" y="382524"/>
                </a:lnTo>
                <a:lnTo>
                  <a:pt x="2080259" y="0"/>
                </a:lnTo>
                <a:lnTo>
                  <a:pt x="0" y="0"/>
                </a:lnTo>
                <a:lnTo>
                  <a:pt x="0" y="382524"/>
                </a:lnTo>
                <a:close/>
              </a:path>
            </a:pathLst>
          </a:custGeom>
          <a:ln w="12192">
            <a:solidFill>
              <a:srgbClr val="000000"/>
            </a:solidFill>
          </a:ln>
        </p:spPr>
        <p:txBody>
          <a:bodyPr wrap="square" lIns="0" tIns="0" rIns="0" bIns="0" rtlCol="0"/>
          <a:lstStyle/>
          <a:p>
            <a:endParaRPr sz="1350"/>
          </a:p>
        </p:txBody>
      </p:sp>
      <p:sp>
        <p:nvSpPr>
          <p:cNvPr id="10" name="object 10"/>
          <p:cNvSpPr txBox="1"/>
          <p:nvPr/>
        </p:nvSpPr>
        <p:spPr>
          <a:xfrm>
            <a:off x="3415569" y="3082099"/>
            <a:ext cx="1418748" cy="217367"/>
          </a:xfrm>
          <a:prstGeom prst="rect">
            <a:avLst/>
          </a:prstGeom>
        </p:spPr>
        <p:txBody>
          <a:bodyPr vert="horz" wrap="square" lIns="0" tIns="9525" rIns="0" bIns="0" rtlCol="0">
            <a:spAutoFit/>
          </a:bodyPr>
          <a:lstStyle/>
          <a:p>
            <a:pPr marL="9525">
              <a:spcBef>
                <a:spcPts val="75"/>
              </a:spcBef>
            </a:pPr>
            <a:r>
              <a:rPr sz="1350" spc="-4" dirty="0">
                <a:latin typeface="Calibri"/>
                <a:cs typeface="Calibri"/>
              </a:rPr>
              <a:t>Signal</a:t>
            </a:r>
            <a:r>
              <a:rPr sz="1350" spc="-23" dirty="0">
                <a:latin typeface="Calibri"/>
                <a:cs typeface="Calibri"/>
              </a:rPr>
              <a:t> </a:t>
            </a:r>
            <a:r>
              <a:rPr sz="1350" spc="-4" dirty="0">
                <a:latin typeface="Calibri"/>
                <a:cs typeface="Calibri"/>
              </a:rPr>
              <a:t>Conditioner</a:t>
            </a:r>
            <a:r>
              <a:rPr sz="1350" spc="-11" dirty="0">
                <a:latin typeface="Calibri"/>
                <a:cs typeface="Calibri"/>
              </a:rPr>
              <a:t> </a:t>
            </a:r>
            <a:r>
              <a:rPr sz="1350" dirty="0">
                <a:latin typeface="Calibri"/>
                <a:cs typeface="Calibri"/>
              </a:rPr>
              <a:t>2</a:t>
            </a:r>
            <a:endParaRPr sz="1350">
              <a:latin typeface="Calibri"/>
              <a:cs typeface="Calibri"/>
            </a:endParaRPr>
          </a:p>
        </p:txBody>
      </p:sp>
      <p:sp>
        <p:nvSpPr>
          <p:cNvPr id="11" name="object 11"/>
          <p:cNvSpPr/>
          <p:nvPr/>
        </p:nvSpPr>
        <p:spPr>
          <a:xfrm>
            <a:off x="3345560" y="4133088"/>
            <a:ext cx="1560195" cy="285750"/>
          </a:xfrm>
          <a:custGeom>
            <a:avLst/>
            <a:gdLst/>
            <a:ahLst/>
            <a:cxnLst/>
            <a:rect l="l" t="t" r="r" b="b"/>
            <a:pathLst>
              <a:path w="2080259" h="381000">
                <a:moveTo>
                  <a:pt x="0" y="381000"/>
                </a:moveTo>
                <a:lnTo>
                  <a:pt x="2080259" y="381000"/>
                </a:lnTo>
                <a:lnTo>
                  <a:pt x="2080259" y="0"/>
                </a:lnTo>
                <a:lnTo>
                  <a:pt x="0" y="0"/>
                </a:lnTo>
                <a:lnTo>
                  <a:pt x="0" y="381000"/>
                </a:lnTo>
                <a:close/>
              </a:path>
            </a:pathLst>
          </a:custGeom>
          <a:ln w="12192">
            <a:solidFill>
              <a:srgbClr val="000000"/>
            </a:solidFill>
          </a:ln>
        </p:spPr>
        <p:txBody>
          <a:bodyPr wrap="square" lIns="0" tIns="0" rIns="0" bIns="0" rtlCol="0"/>
          <a:lstStyle/>
          <a:p>
            <a:endParaRPr sz="1350"/>
          </a:p>
        </p:txBody>
      </p:sp>
      <p:sp>
        <p:nvSpPr>
          <p:cNvPr id="12" name="object 12"/>
          <p:cNvSpPr txBox="1"/>
          <p:nvPr/>
        </p:nvSpPr>
        <p:spPr>
          <a:xfrm>
            <a:off x="3414427" y="4152804"/>
            <a:ext cx="1422083" cy="217367"/>
          </a:xfrm>
          <a:prstGeom prst="rect">
            <a:avLst/>
          </a:prstGeom>
        </p:spPr>
        <p:txBody>
          <a:bodyPr vert="horz" wrap="square" lIns="0" tIns="9525" rIns="0" bIns="0" rtlCol="0">
            <a:spAutoFit/>
          </a:bodyPr>
          <a:lstStyle/>
          <a:p>
            <a:pPr marL="9525">
              <a:spcBef>
                <a:spcPts val="75"/>
              </a:spcBef>
            </a:pPr>
            <a:r>
              <a:rPr sz="1350" spc="-4" dirty="0">
                <a:latin typeface="Calibri"/>
                <a:cs typeface="Calibri"/>
              </a:rPr>
              <a:t>Signal</a:t>
            </a:r>
            <a:r>
              <a:rPr sz="1350" spc="-23" dirty="0">
                <a:latin typeface="Calibri"/>
                <a:cs typeface="Calibri"/>
              </a:rPr>
              <a:t> </a:t>
            </a:r>
            <a:r>
              <a:rPr sz="1350" spc="-4" dirty="0">
                <a:latin typeface="Calibri"/>
                <a:cs typeface="Calibri"/>
              </a:rPr>
              <a:t>Conditioner</a:t>
            </a:r>
            <a:r>
              <a:rPr sz="1350" spc="-11" dirty="0">
                <a:latin typeface="Calibri"/>
                <a:cs typeface="Calibri"/>
              </a:rPr>
              <a:t> </a:t>
            </a:r>
            <a:r>
              <a:rPr sz="1350" dirty="0">
                <a:latin typeface="Calibri"/>
                <a:cs typeface="Calibri"/>
              </a:rPr>
              <a:t>n</a:t>
            </a:r>
            <a:endParaRPr sz="1350">
              <a:latin typeface="Calibri"/>
              <a:cs typeface="Calibri"/>
            </a:endParaRPr>
          </a:p>
        </p:txBody>
      </p:sp>
      <p:sp>
        <p:nvSpPr>
          <p:cNvPr id="13" name="object 13"/>
          <p:cNvSpPr/>
          <p:nvPr/>
        </p:nvSpPr>
        <p:spPr>
          <a:xfrm>
            <a:off x="4126802" y="3543871"/>
            <a:ext cx="0" cy="382905"/>
          </a:xfrm>
          <a:custGeom>
            <a:avLst/>
            <a:gdLst/>
            <a:ahLst/>
            <a:cxnLst/>
            <a:rect l="l" t="t" r="r" b="b"/>
            <a:pathLst>
              <a:path h="510539">
                <a:moveTo>
                  <a:pt x="0" y="0"/>
                </a:moveTo>
                <a:lnTo>
                  <a:pt x="0" y="510158"/>
                </a:lnTo>
              </a:path>
            </a:pathLst>
          </a:custGeom>
          <a:ln w="28956">
            <a:solidFill>
              <a:srgbClr val="000000"/>
            </a:solidFill>
            <a:prstDash val="dash"/>
          </a:ln>
        </p:spPr>
        <p:txBody>
          <a:bodyPr wrap="square" lIns="0" tIns="0" rIns="0" bIns="0" rtlCol="0"/>
          <a:lstStyle/>
          <a:p>
            <a:endParaRPr sz="1350"/>
          </a:p>
        </p:txBody>
      </p:sp>
      <p:sp>
        <p:nvSpPr>
          <p:cNvPr id="14" name="object 14"/>
          <p:cNvSpPr/>
          <p:nvPr/>
        </p:nvSpPr>
        <p:spPr>
          <a:xfrm>
            <a:off x="5600700" y="2913507"/>
            <a:ext cx="1198245" cy="866775"/>
          </a:xfrm>
          <a:custGeom>
            <a:avLst/>
            <a:gdLst/>
            <a:ahLst/>
            <a:cxnLst/>
            <a:rect l="l" t="t" r="r" b="b"/>
            <a:pathLst>
              <a:path w="1597659" h="1155700">
                <a:moveTo>
                  <a:pt x="0" y="1155192"/>
                </a:moveTo>
                <a:lnTo>
                  <a:pt x="1597152" y="1155192"/>
                </a:lnTo>
                <a:lnTo>
                  <a:pt x="1597152" y="0"/>
                </a:lnTo>
                <a:lnTo>
                  <a:pt x="0" y="0"/>
                </a:lnTo>
                <a:lnTo>
                  <a:pt x="0" y="1155192"/>
                </a:lnTo>
                <a:close/>
              </a:path>
            </a:pathLst>
          </a:custGeom>
          <a:ln w="12192">
            <a:solidFill>
              <a:srgbClr val="000000"/>
            </a:solidFill>
          </a:ln>
        </p:spPr>
        <p:txBody>
          <a:bodyPr wrap="square" lIns="0" tIns="0" rIns="0" bIns="0" rtlCol="0"/>
          <a:lstStyle/>
          <a:p>
            <a:endParaRPr sz="1350"/>
          </a:p>
        </p:txBody>
      </p:sp>
      <p:sp>
        <p:nvSpPr>
          <p:cNvPr id="15" name="object 15"/>
          <p:cNvSpPr txBox="1"/>
          <p:nvPr/>
        </p:nvSpPr>
        <p:spPr>
          <a:xfrm>
            <a:off x="5791200" y="3223356"/>
            <a:ext cx="818198" cy="217367"/>
          </a:xfrm>
          <a:prstGeom prst="rect">
            <a:avLst/>
          </a:prstGeom>
        </p:spPr>
        <p:txBody>
          <a:bodyPr vert="horz" wrap="square" lIns="0" tIns="9525" rIns="0" bIns="0" rtlCol="0">
            <a:spAutoFit/>
          </a:bodyPr>
          <a:lstStyle/>
          <a:p>
            <a:pPr marL="9525">
              <a:spcBef>
                <a:spcPts val="75"/>
              </a:spcBef>
            </a:pPr>
            <a:r>
              <a:rPr sz="1350" dirty="0">
                <a:latin typeface="Calibri"/>
                <a:cs typeface="Calibri"/>
              </a:rPr>
              <a:t>Mu</a:t>
            </a:r>
            <a:r>
              <a:rPr sz="1350" spc="-8" dirty="0">
                <a:latin typeface="Calibri"/>
                <a:cs typeface="Calibri"/>
              </a:rPr>
              <a:t>l</a:t>
            </a:r>
            <a:r>
              <a:rPr sz="1350" dirty="0">
                <a:latin typeface="Calibri"/>
                <a:cs typeface="Calibri"/>
              </a:rPr>
              <a:t>t</a:t>
            </a:r>
            <a:r>
              <a:rPr sz="1350" spc="-8" dirty="0">
                <a:latin typeface="Calibri"/>
                <a:cs typeface="Calibri"/>
              </a:rPr>
              <a:t>i</a:t>
            </a:r>
            <a:r>
              <a:rPr sz="1350" spc="-4" dirty="0">
                <a:latin typeface="Calibri"/>
                <a:cs typeface="Calibri"/>
              </a:rPr>
              <a:t>pl</a:t>
            </a:r>
            <a:r>
              <a:rPr sz="1350" spc="-19" dirty="0">
                <a:latin typeface="Calibri"/>
                <a:cs typeface="Calibri"/>
              </a:rPr>
              <a:t>e</a:t>
            </a:r>
            <a:r>
              <a:rPr sz="1350" spc="-38" dirty="0">
                <a:latin typeface="Calibri"/>
                <a:cs typeface="Calibri"/>
              </a:rPr>
              <a:t>x</a:t>
            </a:r>
            <a:r>
              <a:rPr sz="1350" dirty="0">
                <a:latin typeface="Calibri"/>
                <a:cs typeface="Calibri"/>
              </a:rPr>
              <a:t>er</a:t>
            </a:r>
            <a:endParaRPr sz="1350">
              <a:latin typeface="Calibri"/>
              <a:cs typeface="Calibri"/>
            </a:endParaRPr>
          </a:p>
        </p:txBody>
      </p:sp>
      <p:grpSp>
        <p:nvGrpSpPr>
          <p:cNvPr id="16" name="object 16"/>
          <p:cNvGrpSpPr/>
          <p:nvPr/>
        </p:nvGrpSpPr>
        <p:grpSpPr>
          <a:xfrm>
            <a:off x="2651188" y="2764346"/>
            <a:ext cx="4797743" cy="1561623"/>
            <a:chOff x="3534917" y="2542794"/>
            <a:chExt cx="6396990" cy="2082164"/>
          </a:xfrm>
        </p:grpSpPr>
        <p:sp>
          <p:nvSpPr>
            <p:cNvPr id="17" name="object 17"/>
            <p:cNvSpPr/>
            <p:nvPr/>
          </p:nvSpPr>
          <p:spPr>
            <a:xfrm>
              <a:off x="3534918" y="2542793"/>
              <a:ext cx="6060440" cy="2082164"/>
            </a:xfrm>
            <a:custGeom>
              <a:avLst/>
              <a:gdLst/>
              <a:ahLst/>
              <a:cxnLst/>
              <a:rect l="l" t="t" r="r" b="b"/>
              <a:pathLst>
                <a:path w="6060440" h="2082164">
                  <a:moveTo>
                    <a:pt x="925957" y="2043684"/>
                  </a:moveTo>
                  <a:lnTo>
                    <a:pt x="903097" y="2032254"/>
                  </a:lnTo>
                  <a:lnTo>
                    <a:pt x="849757" y="2005584"/>
                  </a:lnTo>
                  <a:lnTo>
                    <a:pt x="849757" y="2032254"/>
                  </a:lnTo>
                  <a:lnTo>
                    <a:pt x="0" y="2032254"/>
                  </a:lnTo>
                  <a:lnTo>
                    <a:pt x="0" y="2055114"/>
                  </a:lnTo>
                  <a:lnTo>
                    <a:pt x="849757" y="2055114"/>
                  </a:lnTo>
                  <a:lnTo>
                    <a:pt x="849757" y="2081784"/>
                  </a:lnTo>
                  <a:lnTo>
                    <a:pt x="903097" y="2055114"/>
                  </a:lnTo>
                  <a:lnTo>
                    <a:pt x="925957" y="2043684"/>
                  </a:lnTo>
                  <a:close/>
                </a:path>
                <a:path w="6060440" h="2082164">
                  <a:moveTo>
                    <a:pt x="925957" y="597408"/>
                  </a:moveTo>
                  <a:lnTo>
                    <a:pt x="903097" y="585978"/>
                  </a:lnTo>
                  <a:lnTo>
                    <a:pt x="849757" y="559308"/>
                  </a:lnTo>
                  <a:lnTo>
                    <a:pt x="849757" y="585978"/>
                  </a:lnTo>
                  <a:lnTo>
                    <a:pt x="0" y="585978"/>
                  </a:lnTo>
                  <a:lnTo>
                    <a:pt x="0" y="608838"/>
                  </a:lnTo>
                  <a:lnTo>
                    <a:pt x="849757" y="608838"/>
                  </a:lnTo>
                  <a:lnTo>
                    <a:pt x="849757" y="635508"/>
                  </a:lnTo>
                  <a:lnTo>
                    <a:pt x="903084" y="608838"/>
                  </a:lnTo>
                  <a:lnTo>
                    <a:pt x="925957" y="597408"/>
                  </a:lnTo>
                  <a:close/>
                </a:path>
                <a:path w="6060440" h="2082164">
                  <a:moveTo>
                    <a:pt x="925957" y="38100"/>
                  </a:moveTo>
                  <a:lnTo>
                    <a:pt x="903084" y="26670"/>
                  </a:lnTo>
                  <a:lnTo>
                    <a:pt x="849757" y="0"/>
                  </a:lnTo>
                  <a:lnTo>
                    <a:pt x="849757" y="26670"/>
                  </a:lnTo>
                  <a:lnTo>
                    <a:pt x="0" y="26670"/>
                  </a:lnTo>
                  <a:lnTo>
                    <a:pt x="0" y="49530"/>
                  </a:lnTo>
                  <a:lnTo>
                    <a:pt x="849757" y="49530"/>
                  </a:lnTo>
                  <a:lnTo>
                    <a:pt x="849757" y="76200"/>
                  </a:lnTo>
                  <a:lnTo>
                    <a:pt x="903097" y="49530"/>
                  </a:lnTo>
                  <a:lnTo>
                    <a:pt x="925957" y="38100"/>
                  </a:lnTo>
                  <a:close/>
                </a:path>
                <a:path w="6060440" h="2082164">
                  <a:moveTo>
                    <a:pt x="3932809" y="1144524"/>
                  </a:moveTo>
                  <a:lnTo>
                    <a:pt x="3909949" y="1133094"/>
                  </a:lnTo>
                  <a:lnTo>
                    <a:pt x="3856609" y="1106424"/>
                  </a:lnTo>
                  <a:lnTo>
                    <a:pt x="3856609" y="1133094"/>
                  </a:lnTo>
                  <a:lnTo>
                    <a:pt x="3458464" y="1133094"/>
                  </a:lnTo>
                  <a:lnTo>
                    <a:pt x="3458464" y="2005088"/>
                  </a:lnTo>
                  <a:lnTo>
                    <a:pt x="3006852" y="2005088"/>
                  </a:lnTo>
                  <a:lnTo>
                    <a:pt x="3006852" y="2027936"/>
                  </a:lnTo>
                  <a:lnTo>
                    <a:pt x="3481324" y="2027936"/>
                  </a:lnTo>
                  <a:lnTo>
                    <a:pt x="3481324" y="2016506"/>
                  </a:lnTo>
                  <a:lnTo>
                    <a:pt x="3481324" y="2005088"/>
                  </a:lnTo>
                  <a:lnTo>
                    <a:pt x="3481324" y="1155954"/>
                  </a:lnTo>
                  <a:lnTo>
                    <a:pt x="3856609" y="1155954"/>
                  </a:lnTo>
                  <a:lnTo>
                    <a:pt x="3856609" y="1182624"/>
                  </a:lnTo>
                  <a:lnTo>
                    <a:pt x="3909949" y="1155954"/>
                  </a:lnTo>
                  <a:lnTo>
                    <a:pt x="3932809" y="1144524"/>
                  </a:lnTo>
                  <a:close/>
                </a:path>
                <a:path w="6060440" h="2082164">
                  <a:moveTo>
                    <a:pt x="3932809" y="588264"/>
                  </a:moveTo>
                  <a:lnTo>
                    <a:pt x="3909936" y="576834"/>
                  </a:lnTo>
                  <a:lnTo>
                    <a:pt x="3856609" y="550164"/>
                  </a:lnTo>
                  <a:lnTo>
                    <a:pt x="3856609" y="576834"/>
                  </a:lnTo>
                  <a:lnTo>
                    <a:pt x="3006852" y="576834"/>
                  </a:lnTo>
                  <a:lnTo>
                    <a:pt x="3006852" y="599694"/>
                  </a:lnTo>
                  <a:lnTo>
                    <a:pt x="3856609" y="599694"/>
                  </a:lnTo>
                  <a:lnTo>
                    <a:pt x="3856609" y="626364"/>
                  </a:lnTo>
                  <a:lnTo>
                    <a:pt x="3909949" y="599694"/>
                  </a:lnTo>
                  <a:lnTo>
                    <a:pt x="3932809" y="588264"/>
                  </a:lnTo>
                  <a:close/>
                </a:path>
                <a:path w="6060440" h="2082164">
                  <a:moveTo>
                    <a:pt x="3932809" y="398399"/>
                  </a:moveTo>
                  <a:lnTo>
                    <a:pt x="3909949" y="386969"/>
                  </a:lnTo>
                  <a:lnTo>
                    <a:pt x="3856609" y="360299"/>
                  </a:lnTo>
                  <a:lnTo>
                    <a:pt x="3856609" y="386969"/>
                  </a:lnTo>
                  <a:lnTo>
                    <a:pt x="3481324" y="386969"/>
                  </a:lnTo>
                  <a:lnTo>
                    <a:pt x="3481324" y="49530"/>
                  </a:lnTo>
                  <a:lnTo>
                    <a:pt x="3481324" y="38100"/>
                  </a:lnTo>
                  <a:lnTo>
                    <a:pt x="3481324" y="26670"/>
                  </a:lnTo>
                  <a:lnTo>
                    <a:pt x="3006852" y="26670"/>
                  </a:lnTo>
                  <a:lnTo>
                    <a:pt x="3006852" y="49530"/>
                  </a:lnTo>
                  <a:lnTo>
                    <a:pt x="3458464" y="49530"/>
                  </a:lnTo>
                  <a:lnTo>
                    <a:pt x="3458464" y="409829"/>
                  </a:lnTo>
                  <a:lnTo>
                    <a:pt x="3856609" y="409829"/>
                  </a:lnTo>
                  <a:lnTo>
                    <a:pt x="3856609" y="436499"/>
                  </a:lnTo>
                  <a:lnTo>
                    <a:pt x="3909936" y="409829"/>
                  </a:lnTo>
                  <a:lnTo>
                    <a:pt x="3932809" y="398399"/>
                  </a:lnTo>
                  <a:close/>
                </a:path>
                <a:path w="6060440" h="2082164">
                  <a:moveTo>
                    <a:pt x="6060440" y="771144"/>
                  </a:moveTo>
                  <a:lnTo>
                    <a:pt x="6037580" y="759714"/>
                  </a:lnTo>
                  <a:lnTo>
                    <a:pt x="5984240" y="733044"/>
                  </a:lnTo>
                  <a:lnTo>
                    <a:pt x="5984240" y="759714"/>
                  </a:lnTo>
                  <a:lnTo>
                    <a:pt x="5530596" y="759714"/>
                  </a:lnTo>
                  <a:lnTo>
                    <a:pt x="5530596" y="782574"/>
                  </a:lnTo>
                  <a:lnTo>
                    <a:pt x="5984240" y="782574"/>
                  </a:lnTo>
                  <a:lnTo>
                    <a:pt x="5984240" y="809244"/>
                  </a:lnTo>
                  <a:lnTo>
                    <a:pt x="6037580" y="782574"/>
                  </a:lnTo>
                  <a:lnTo>
                    <a:pt x="6060440" y="771144"/>
                  </a:lnTo>
                  <a:close/>
                </a:path>
              </a:pathLst>
            </a:custGeom>
            <a:solidFill>
              <a:srgbClr val="000000"/>
            </a:solidFill>
          </p:spPr>
          <p:txBody>
            <a:bodyPr wrap="square" lIns="0" tIns="0" rIns="0" bIns="0" rtlCol="0"/>
            <a:lstStyle/>
            <a:p>
              <a:endParaRPr sz="1350"/>
            </a:p>
          </p:txBody>
        </p:sp>
        <p:sp>
          <p:nvSpPr>
            <p:cNvPr id="18" name="object 18"/>
            <p:cNvSpPr/>
            <p:nvPr/>
          </p:nvSpPr>
          <p:spPr>
            <a:xfrm>
              <a:off x="9594341" y="3009138"/>
              <a:ext cx="0" cy="580390"/>
            </a:xfrm>
            <a:custGeom>
              <a:avLst/>
              <a:gdLst/>
              <a:ahLst/>
              <a:cxnLst/>
              <a:rect l="l" t="t" r="r" b="b"/>
              <a:pathLst>
                <a:path h="580389">
                  <a:moveTo>
                    <a:pt x="0" y="580389"/>
                  </a:moveTo>
                  <a:lnTo>
                    <a:pt x="0" y="0"/>
                  </a:lnTo>
                </a:path>
              </a:pathLst>
            </a:custGeom>
            <a:ln w="22860">
              <a:solidFill>
                <a:srgbClr val="000000"/>
              </a:solidFill>
            </a:ln>
          </p:spPr>
          <p:txBody>
            <a:bodyPr wrap="square" lIns="0" tIns="0" rIns="0" bIns="0" rtlCol="0"/>
            <a:lstStyle/>
            <a:p>
              <a:endParaRPr sz="1350"/>
            </a:p>
          </p:txBody>
        </p:sp>
        <p:sp>
          <p:nvSpPr>
            <p:cNvPr id="19" name="object 19"/>
            <p:cNvSpPr/>
            <p:nvPr/>
          </p:nvSpPr>
          <p:spPr>
            <a:xfrm>
              <a:off x="9594342" y="2986277"/>
              <a:ext cx="337820" cy="620395"/>
            </a:xfrm>
            <a:custGeom>
              <a:avLst/>
              <a:gdLst/>
              <a:ahLst/>
              <a:cxnLst/>
              <a:rect l="l" t="t" r="r" b="b"/>
              <a:pathLst>
                <a:path w="337820" h="620395">
                  <a:moveTo>
                    <a:pt x="337566" y="582180"/>
                  </a:moveTo>
                  <a:lnTo>
                    <a:pt x="314693" y="570738"/>
                  </a:lnTo>
                  <a:lnTo>
                    <a:pt x="261366" y="544080"/>
                  </a:lnTo>
                  <a:lnTo>
                    <a:pt x="261366" y="570738"/>
                  </a:lnTo>
                  <a:lnTo>
                    <a:pt x="0" y="570738"/>
                  </a:lnTo>
                  <a:lnTo>
                    <a:pt x="0" y="593598"/>
                  </a:lnTo>
                  <a:lnTo>
                    <a:pt x="261366" y="593598"/>
                  </a:lnTo>
                  <a:lnTo>
                    <a:pt x="261366" y="620280"/>
                  </a:lnTo>
                  <a:lnTo>
                    <a:pt x="314706" y="593598"/>
                  </a:lnTo>
                  <a:lnTo>
                    <a:pt x="337566" y="582180"/>
                  </a:lnTo>
                  <a:close/>
                </a:path>
                <a:path w="337820" h="620395">
                  <a:moveTo>
                    <a:pt x="337566" y="38100"/>
                  </a:moveTo>
                  <a:lnTo>
                    <a:pt x="314706" y="26670"/>
                  </a:lnTo>
                  <a:lnTo>
                    <a:pt x="261366" y="0"/>
                  </a:lnTo>
                  <a:lnTo>
                    <a:pt x="261366" y="26670"/>
                  </a:lnTo>
                  <a:lnTo>
                    <a:pt x="0" y="26670"/>
                  </a:lnTo>
                  <a:lnTo>
                    <a:pt x="0" y="49530"/>
                  </a:lnTo>
                  <a:lnTo>
                    <a:pt x="261366" y="49530"/>
                  </a:lnTo>
                  <a:lnTo>
                    <a:pt x="261366" y="76200"/>
                  </a:lnTo>
                  <a:lnTo>
                    <a:pt x="314693" y="49530"/>
                  </a:lnTo>
                  <a:lnTo>
                    <a:pt x="337566" y="38100"/>
                  </a:lnTo>
                  <a:close/>
                </a:path>
              </a:pathLst>
            </a:custGeom>
            <a:solidFill>
              <a:srgbClr val="000000"/>
            </a:solidFill>
          </p:spPr>
          <p:txBody>
            <a:bodyPr wrap="square" lIns="0" tIns="0" rIns="0" bIns="0" rtlCol="0"/>
            <a:lstStyle/>
            <a:p>
              <a:endParaRPr sz="1350"/>
            </a:p>
          </p:txBody>
        </p:sp>
      </p:grpSp>
      <p:sp>
        <p:nvSpPr>
          <p:cNvPr id="20" name="object 20"/>
          <p:cNvSpPr txBox="1"/>
          <p:nvPr/>
        </p:nvSpPr>
        <p:spPr>
          <a:xfrm>
            <a:off x="7508939" y="3001328"/>
            <a:ext cx="1169194" cy="217367"/>
          </a:xfrm>
          <a:prstGeom prst="rect">
            <a:avLst/>
          </a:prstGeom>
        </p:spPr>
        <p:txBody>
          <a:bodyPr vert="horz" wrap="square" lIns="0" tIns="9525" rIns="0" bIns="0" rtlCol="0">
            <a:spAutoFit/>
          </a:bodyPr>
          <a:lstStyle/>
          <a:p>
            <a:pPr marL="9525">
              <a:spcBef>
                <a:spcPts val="75"/>
              </a:spcBef>
            </a:pPr>
            <a:r>
              <a:rPr sz="1350" spc="-4" dirty="0">
                <a:latin typeface="Calibri"/>
                <a:cs typeface="Calibri"/>
              </a:rPr>
              <a:t>Analog</a:t>
            </a:r>
            <a:r>
              <a:rPr sz="1350" spc="-34" dirty="0">
                <a:latin typeface="Calibri"/>
                <a:cs typeface="Calibri"/>
              </a:rPr>
              <a:t> </a:t>
            </a:r>
            <a:r>
              <a:rPr sz="1350" spc="-11" dirty="0">
                <a:latin typeface="Calibri"/>
                <a:cs typeface="Calibri"/>
              </a:rPr>
              <a:t>Recorder</a:t>
            </a:r>
            <a:endParaRPr sz="1350">
              <a:latin typeface="Calibri"/>
              <a:cs typeface="Calibri"/>
            </a:endParaRPr>
          </a:p>
        </p:txBody>
      </p:sp>
      <p:sp>
        <p:nvSpPr>
          <p:cNvPr id="21" name="object 21"/>
          <p:cNvSpPr txBox="1"/>
          <p:nvPr/>
        </p:nvSpPr>
        <p:spPr>
          <a:xfrm>
            <a:off x="7513034" y="3423857"/>
            <a:ext cx="1037273" cy="217367"/>
          </a:xfrm>
          <a:prstGeom prst="rect">
            <a:avLst/>
          </a:prstGeom>
        </p:spPr>
        <p:txBody>
          <a:bodyPr vert="horz" wrap="square" lIns="0" tIns="9525" rIns="0" bIns="0" rtlCol="0">
            <a:spAutoFit/>
          </a:bodyPr>
          <a:lstStyle/>
          <a:p>
            <a:pPr marL="9525">
              <a:spcBef>
                <a:spcPts val="75"/>
              </a:spcBef>
            </a:pPr>
            <a:r>
              <a:rPr sz="1350" spc="-4" dirty="0">
                <a:latin typeface="Calibri"/>
                <a:cs typeface="Calibri"/>
              </a:rPr>
              <a:t>Analog</a:t>
            </a:r>
            <a:r>
              <a:rPr sz="1350" spc="-45" dirty="0">
                <a:latin typeface="Calibri"/>
                <a:cs typeface="Calibri"/>
              </a:rPr>
              <a:t> </a:t>
            </a:r>
            <a:r>
              <a:rPr sz="1350" spc="-8" dirty="0">
                <a:latin typeface="Calibri"/>
                <a:cs typeface="Calibri"/>
              </a:rPr>
              <a:t>Display</a:t>
            </a:r>
            <a:endParaRPr sz="1350">
              <a:latin typeface="Calibri"/>
              <a:cs typeface="Calibri"/>
            </a:endParaRPr>
          </a:p>
        </p:txBody>
      </p:sp>
      <p:sp>
        <p:nvSpPr>
          <p:cNvPr id="22" name="object 22"/>
          <p:cNvSpPr txBox="1"/>
          <p:nvPr/>
        </p:nvSpPr>
        <p:spPr>
          <a:xfrm>
            <a:off x="2812352" y="4729353"/>
            <a:ext cx="2288381" cy="217367"/>
          </a:xfrm>
          <a:prstGeom prst="rect">
            <a:avLst/>
          </a:prstGeom>
        </p:spPr>
        <p:txBody>
          <a:bodyPr vert="horz" wrap="square" lIns="0" tIns="9525" rIns="0" bIns="0" rtlCol="0">
            <a:spAutoFit/>
          </a:bodyPr>
          <a:lstStyle/>
          <a:p>
            <a:pPr marL="9525">
              <a:spcBef>
                <a:spcPts val="75"/>
              </a:spcBef>
            </a:pPr>
            <a:r>
              <a:rPr sz="1350" spc="-4" dirty="0">
                <a:latin typeface="Calibri"/>
                <a:cs typeface="Calibri"/>
              </a:rPr>
              <a:t>Fig:</a:t>
            </a:r>
            <a:r>
              <a:rPr sz="1350" spc="-8" dirty="0">
                <a:latin typeface="Calibri"/>
                <a:cs typeface="Calibri"/>
              </a:rPr>
              <a:t> </a:t>
            </a:r>
            <a:r>
              <a:rPr sz="1350" spc="-4" dirty="0">
                <a:latin typeface="Calibri"/>
                <a:cs typeface="Calibri"/>
              </a:rPr>
              <a:t>Block</a:t>
            </a:r>
            <a:r>
              <a:rPr sz="1350" spc="-8" dirty="0">
                <a:latin typeface="Calibri"/>
                <a:cs typeface="Calibri"/>
              </a:rPr>
              <a:t> diagram</a:t>
            </a:r>
            <a:r>
              <a:rPr sz="1350" dirty="0">
                <a:latin typeface="Calibri"/>
                <a:cs typeface="Calibri"/>
              </a:rPr>
              <a:t> </a:t>
            </a:r>
            <a:r>
              <a:rPr sz="1350" spc="-4" dirty="0">
                <a:latin typeface="Calibri"/>
                <a:cs typeface="Calibri"/>
              </a:rPr>
              <a:t>of</a:t>
            </a:r>
            <a:r>
              <a:rPr sz="1350" spc="-11" dirty="0">
                <a:latin typeface="Calibri"/>
                <a:cs typeface="Calibri"/>
              </a:rPr>
              <a:t> </a:t>
            </a:r>
            <a:r>
              <a:rPr sz="1350" spc="-4" dirty="0">
                <a:latin typeface="Calibri"/>
                <a:cs typeface="Calibri"/>
              </a:rPr>
              <a:t>analog </a:t>
            </a:r>
            <a:r>
              <a:rPr sz="1350" spc="-8" dirty="0">
                <a:latin typeface="Calibri"/>
                <a:cs typeface="Calibri"/>
              </a:rPr>
              <a:t>DAS</a:t>
            </a:r>
            <a:endParaRPr sz="1350">
              <a:latin typeface="Calibri"/>
              <a:cs typeface="Calibri"/>
            </a:endParaRPr>
          </a:p>
        </p:txBody>
      </p:sp>
      <p:sp>
        <p:nvSpPr>
          <p:cNvPr id="23" name="object 23"/>
          <p:cNvSpPr/>
          <p:nvPr/>
        </p:nvSpPr>
        <p:spPr>
          <a:xfrm>
            <a:off x="1237297" y="2797492"/>
            <a:ext cx="232410" cy="57150"/>
          </a:xfrm>
          <a:custGeom>
            <a:avLst/>
            <a:gdLst/>
            <a:ahLst/>
            <a:cxnLst/>
            <a:rect l="l" t="t" r="r" b="b"/>
            <a:pathLst>
              <a:path w="309880" h="76200">
                <a:moveTo>
                  <a:pt x="233299" y="0"/>
                </a:moveTo>
                <a:lnTo>
                  <a:pt x="233299" y="76200"/>
                </a:lnTo>
                <a:lnTo>
                  <a:pt x="286638" y="49530"/>
                </a:lnTo>
                <a:lnTo>
                  <a:pt x="245999" y="49530"/>
                </a:lnTo>
                <a:lnTo>
                  <a:pt x="245999" y="26670"/>
                </a:lnTo>
                <a:lnTo>
                  <a:pt x="286639" y="26670"/>
                </a:lnTo>
                <a:lnTo>
                  <a:pt x="233299" y="0"/>
                </a:lnTo>
                <a:close/>
              </a:path>
              <a:path w="309880" h="76200">
                <a:moveTo>
                  <a:pt x="233299" y="26670"/>
                </a:moveTo>
                <a:lnTo>
                  <a:pt x="0" y="26670"/>
                </a:lnTo>
                <a:lnTo>
                  <a:pt x="0" y="49530"/>
                </a:lnTo>
                <a:lnTo>
                  <a:pt x="233299" y="49530"/>
                </a:lnTo>
                <a:lnTo>
                  <a:pt x="233299" y="26670"/>
                </a:lnTo>
                <a:close/>
              </a:path>
              <a:path w="309880" h="76200">
                <a:moveTo>
                  <a:pt x="286639" y="26670"/>
                </a:moveTo>
                <a:lnTo>
                  <a:pt x="245999" y="26670"/>
                </a:lnTo>
                <a:lnTo>
                  <a:pt x="245999" y="49530"/>
                </a:lnTo>
                <a:lnTo>
                  <a:pt x="286638" y="49530"/>
                </a:lnTo>
                <a:lnTo>
                  <a:pt x="309499" y="38100"/>
                </a:lnTo>
                <a:lnTo>
                  <a:pt x="286639" y="26670"/>
                </a:lnTo>
                <a:close/>
              </a:path>
            </a:pathLst>
          </a:custGeom>
          <a:solidFill>
            <a:srgbClr val="000000"/>
          </a:solidFill>
        </p:spPr>
        <p:txBody>
          <a:bodyPr wrap="square" lIns="0" tIns="0" rIns="0" bIns="0" rtlCol="0"/>
          <a:lstStyle/>
          <a:p>
            <a:endParaRPr sz="1350"/>
          </a:p>
        </p:txBody>
      </p:sp>
      <p:sp>
        <p:nvSpPr>
          <p:cNvPr id="24" name="object 24"/>
          <p:cNvSpPr/>
          <p:nvPr/>
        </p:nvSpPr>
        <p:spPr>
          <a:xfrm>
            <a:off x="1237297" y="3190684"/>
            <a:ext cx="232410" cy="57150"/>
          </a:xfrm>
          <a:custGeom>
            <a:avLst/>
            <a:gdLst/>
            <a:ahLst/>
            <a:cxnLst/>
            <a:rect l="l" t="t" r="r" b="b"/>
            <a:pathLst>
              <a:path w="309880" h="76200">
                <a:moveTo>
                  <a:pt x="233299" y="0"/>
                </a:moveTo>
                <a:lnTo>
                  <a:pt x="233299" y="76200"/>
                </a:lnTo>
                <a:lnTo>
                  <a:pt x="286639" y="49529"/>
                </a:lnTo>
                <a:lnTo>
                  <a:pt x="245999" y="49529"/>
                </a:lnTo>
                <a:lnTo>
                  <a:pt x="245999" y="26669"/>
                </a:lnTo>
                <a:lnTo>
                  <a:pt x="286638" y="26669"/>
                </a:lnTo>
                <a:lnTo>
                  <a:pt x="233299" y="0"/>
                </a:lnTo>
                <a:close/>
              </a:path>
              <a:path w="309880" h="76200">
                <a:moveTo>
                  <a:pt x="233299" y="26669"/>
                </a:moveTo>
                <a:lnTo>
                  <a:pt x="0" y="26669"/>
                </a:lnTo>
                <a:lnTo>
                  <a:pt x="0" y="49529"/>
                </a:lnTo>
                <a:lnTo>
                  <a:pt x="233299" y="49529"/>
                </a:lnTo>
                <a:lnTo>
                  <a:pt x="233299" y="26669"/>
                </a:lnTo>
                <a:close/>
              </a:path>
              <a:path w="309880" h="76200">
                <a:moveTo>
                  <a:pt x="286638" y="26669"/>
                </a:moveTo>
                <a:lnTo>
                  <a:pt x="245999" y="26669"/>
                </a:lnTo>
                <a:lnTo>
                  <a:pt x="245999" y="49529"/>
                </a:lnTo>
                <a:lnTo>
                  <a:pt x="286639" y="49529"/>
                </a:lnTo>
                <a:lnTo>
                  <a:pt x="309499" y="38100"/>
                </a:lnTo>
                <a:lnTo>
                  <a:pt x="286638" y="26669"/>
                </a:lnTo>
                <a:close/>
              </a:path>
            </a:pathLst>
          </a:custGeom>
          <a:solidFill>
            <a:srgbClr val="000000"/>
          </a:solidFill>
        </p:spPr>
        <p:txBody>
          <a:bodyPr wrap="square" lIns="0" tIns="0" rIns="0" bIns="0" rtlCol="0"/>
          <a:lstStyle/>
          <a:p>
            <a:endParaRPr sz="1350"/>
          </a:p>
        </p:txBody>
      </p:sp>
      <p:sp>
        <p:nvSpPr>
          <p:cNvPr id="25" name="object 25"/>
          <p:cNvSpPr/>
          <p:nvPr/>
        </p:nvSpPr>
        <p:spPr>
          <a:xfrm>
            <a:off x="1237297" y="4260532"/>
            <a:ext cx="232410" cy="57150"/>
          </a:xfrm>
          <a:custGeom>
            <a:avLst/>
            <a:gdLst/>
            <a:ahLst/>
            <a:cxnLst/>
            <a:rect l="l" t="t" r="r" b="b"/>
            <a:pathLst>
              <a:path w="309880" h="76200">
                <a:moveTo>
                  <a:pt x="233299" y="0"/>
                </a:moveTo>
                <a:lnTo>
                  <a:pt x="233299" y="76200"/>
                </a:lnTo>
                <a:lnTo>
                  <a:pt x="286639" y="49529"/>
                </a:lnTo>
                <a:lnTo>
                  <a:pt x="245999" y="49529"/>
                </a:lnTo>
                <a:lnTo>
                  <a:pt x="245999" y="26669"/>
                </a:lnTo>
                <a:lnTo>
                  <a:pt x="286638" y="26669"/>
                </a:lnTo>
                <a:lnTo>
                  <a:pt x="233299" y="0"/>
                </a:lnTo>
                <a:close/>
              </a:path>
              <a:path w="309880" h="76200">
                <a:moveTo>
                  <a:pt x="233299" y="26669"/>
                </a:moveTo>
                <a:lnTo>
                  <a:pt x="0" y="26669"/>
                </a:lnTo>
                <a:lnTo>
                  <a:pt x="0" y="49529"/>
                </a:lnTo>
                <a:lnTo>
                  <a:pt x="233299" y="49529"/>
                </a:lnTo>
                <a:lnTo>
                  <a:pt x="233299" y="26669"/>
                </a:lnTo>
                <a:close/>
              </a:path>
              <a:path w="309880" h="76200">
                <a:moveTo>
                  <a:pt x="286638" y="26669"/>
                </a:moveTo>
                <a:lnTo>
                  <a:pt x="245999" y="26669"/>
                </a:lnTo>
                <a:lnTo>
                  <a:pt x="245999" y="49529"/>
                </a:lnTo>
                <a:lnTo>
                  <a:pt x="286639" y="49529"/>
                </a:lnTo>
                <a:lnTo>
                  <a:pt x="309499" y="38100"/>
                </a:lnTo>
                <a:lnTo>
                  <a:pt x="286638" y="26669"/>
                </a:lnTo>
                <a:close/>
              </a:path>
            </a:pathLst>
          </a:custGeom>
          <a:solidFill>
            <a:srgbClr val="000000"/>
          </a:solidFill>
        </p:spPr>
        <p:txBody>
          <a:bodyPr wrap="square" lIns="0" tIns="0" rIns="0" bIns="0" rtlCol="0"/>
          <a:lstStyle/>
          <a:p>
            <a:endParaRPr sz="1350"/>
          </a:p>
        </p:txBody>
      </p:sp>
      <p:sp>
        <p:nvSpPr>
          <p:cNvPr id="26" name="object 26"/>
          <p:cNvSpPr txBox="1"/>
          <p:nvPr/>
        </p:nvSpPr>
        <p:spPr>
          <a:xfrm>
            <a:off x="971740" y="2834487"/>
            <a:ext cx="179536" cy="1329214"/>
          </a:xfrm>
          <a:prstGeom prst="rect">
            <a:avLst/>
          </a:prstGeom>
        </p:spPr>
        <p:txBody>
          <a:bodyPr vert="vert270" wrap="square" lIns="0" tIns="0" rIns="0" bIns="0" rtlCol="0">
            <a:spAutoFit/>
          </a:bodyPr>
          <a:lstStyle/>
          <a:p>
            <a:pPr marL="9525">
              <a:lnSpc>
                <a:spcPts val="1358"/>
              </a:lnSpc>
            </a:pPr>
            <a:r>
              <a:rPr sz="1350" spc="-11" dirty="0">
                <a:latin typeface="Calibri"/>
                <a:cs typeface="Calibri"/>
              </a:rPr>
              <a:t>Physical</a:t>
            </a:r>
            <a:r>
              <a:rPr sz="1350" spc="-34" dirty="0">
                <a:latin typeface="Calibri"/>
                <a:cs typeface="Calibri"/>
              </a:rPr>
              <a:t> </a:t>
            </a:r>
            <a:r>
              <a:rPr sz="1350" spc="-4" dirty="0">
                <a:latin typeface="Calibri"/>
                <a:cs typeface="Calibri"/>
              </a:rPr>
              <a:t>Quantities</a:t>
            </a:r>
            <a:endParaRPr sz="1350">
              <a:latin typeface="Calibri"/>
              <a:cs typeface="Calibri"/>
            </a:endParaRPr>
          </a:p>
        </p:txBody>
      </p:sp>
      <p:sp>
        <p:nvSpPr>
          <p:cNvPr id="28" name="object 28"/>
          <p:cNvSpPr txBox="1"/>
          <p:nvPr/>
        </p:nvSpPr>
        <p:spPr>
          <a:xfrm>
            <a:off x="8359901" y="5705932"/>
            <a:ext cx="115253" cy="346249"/>
          </a:xfrm>
          <a:prstGeom prst="rect">
            <a:avLst/>
          </a:prstGeom>
        </p:spPr>
        <p:txBody>
          <a:bodyPr vert="horz" wrap="square" lIns="0" tIns="0" rIns="0" bIns="0" rtlCol="0">
            <a:spAutoFit/>
          </a:bodyPr>
          <a:lstStyle/>
          <a:p>
            <a:pPr marL="28575">
              <a:lnSpc>
                <a:spcPts val="930"/>
              </a:lnSpc>
            </a:pPr>
            <a:fld id="{81D60167-4931-47E6-BA6A-407CBD079E47}" type="slidenum">
              <a:rPr sz="900" dirty="0">
                <a:solidFill>
                  <a:srgbClr val="888888"/>
                </a:solidFill>
                <a:latin typeface="Calibri"/>
                <a:cs typeface="Calibri"/>
              </a:rPr>
              <a:pPr marL="28575">
                <a:lnSpc>
                  <a:spcPts val="930"/>
                </a:lnSpc>
              </a:pPr>
              <a:t>11</a:t>
            </a:fld>
            <a:endParaRPr sz="900">
              <a:latin typeface="Calibri"/>
              <a:cs typeface="Calibri"/>
            </a:endParaRPr>
          </a:p>
        </p:txBody>
      </p:sp>
    </p:spTree>
    <p:extLst>
      <p:ext uri="{BB962C8B-B14F-4D97-AF65-F5344CB8AC3E}">
        <p14:creationId xmlns:p14="http://schemas.microsoft.com/office/powerpoint/2010/main" val="1866224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8359901" y="5705932"/>
            <a:ext cx="115253" cy="346249"/>
          </a:xfrm>
          <a:prstGeom prst="rect">
            <a:avLst/>
          </a:prstGeom>
        </p:spPr>
        <p:txBody>
          <a:bodyPr vert="horz" wrap="square" lIns="0" tIns="0" rIns="0" bIns="0" rtlCol="0">
            <a:spAutoFit/>
          </a:bodyPr>
          <a:lstStyle/>
          <a:p>
            <a:pPr marL="28575">
              <a:lnSpc>
                <a:spcPts val="930"/>
              </a:lnSpc>
            </a:pPr>
            <a:fld id="{81D60167-4931-47E6-BA6A-407CBD079E47}" type="slidenum">
              <a:rPr sz="900" dirty="0">
                <a:solidFill>
                  <a:srgbClr val="888888"/>
                </a:solidFill>
                <a:latin typeface="Calibri"/>
                <a:cs typeface="Calibri"/>
              </a:rPr>
              <a:pPr marL="28575">
                <a:lnSpc>
                  <a:spcPts val="930"/>
                </a:lnSpc>
              </a:pPr>
              <a:t>12</a:t>
            </a:fld>
            <a:endParaRPr sz="900">
              <a:latin typeface="Calibri"/>
              <a:cs typeface="Calibri"/>
            </a:endParaRPr>
          </a:p>
        </p:txBody>
      </p:sp>
      <p:sp>
        <p:nvSpPr>
          <p:cNvPr id="2" name="object 2"/>
          <p:cNvSpPr txBox="1">
            <a:spLocks noGrp="1"/>
          </p:cNvSpPr>
          <p:nvPr>
            <p:ph type="title"/>
          </p:nvPr>
        </p:nvSpPr>
        <p:spPr>
          <a:xfrm>
            <a:off x="342900" y="1148250"/>
            <a:ext cx="6172200" cy="687207"/>
          </a:xfrm>
          <a:prstGeom prst="rect">
            <a:avLst/>
          </a:prstGeom>
        </p:spPr>
        <p:txBody>
          <a:bodyPr vert="horz" wrap="square" lIns="0" tIns="10001" rIns="0" bIns="0" rtlCol="0" anchor="ctr">
            <a:spAutoFit/>
          </a:bodyPr>
          <a:lstStyle/>
          <a:p>
            <a:pPr marL="9525">
              <a:spcBef>
                <a:spcPts val="79"/>
              </a:spcBef>
            </a:pPr>
            <a:r>
              <a:rPr spc="-4" dirty="0"/>
              <a:t>Analog</a:t>
            </a:r>
            <a:r>
              <a:rPr spc="-53" dirty="0"/>
              <a:t> </a:t>
            </a:r>
            <a:r>
              <a:rPr spc="-11" dirty="0"/>
              <a:t>DAS</a:t>
            </a:r>
          </a:p>
        </p:txBody>
      </p:sp>
      <p:sp>
        <p:nvSpPr>
          <p:cNvPr id="3" name="object 3"/>
          <p:cNvSpPr txBox="1"/>
          <p:nvPr/>
        </p:nvSpPr>
        <p:spPr>
          <a:xfrm>
            <a:off x="687704" y="1818093"/>
            <a:ext cx="8088630" cy="3561681"/>
          </a:xfrm>
          <a:prstGeom prst="rect">
            <a:avLst/>
          </a:prstGeom>
        </p:spPr>
        <p:txBody>
          <a:bodyPr vert="horz" wrap="square" lIns="0" tIns="73343" rIns="0" bIns="0" rtlCol="0">
            <a:spAutoFit/>
          </a:bodyPr>
          <a:lstStyle/>
          <a:p>
            <a:pPr marL="180975" marR="3810" indent="-171926" algn="just">
              <a:lnSpc>
                <a:spcPct val="80000"/>
              </a:lnSpc>
              <a:spcBef>
                <a:spcPts val="578"/>
              </a:spcBef>
              <a:buFont typeface="Arial MT"/>
              <a:buChar char="•"/>
              <a:tabLst>
                <a:tab pos="181451" algn="l"/>
              </a:tabLst>
            </a:pPr>
            <a:r>
              <a:rPr sz="2100" b="1" spc="-19" dirty="0">
                <a:latin typeface="Calibri"/>
                <a:cs typeface="Calibri"/>
              </a:rPr>
              <a:t>Transducer </a:t>
            </a:r>
            <a:r>
              <a:rPr sz="2100" spc="-11" dirty="0">
                <a:latin typeface="Calibri"/>
                <a:cs typeface="Calibri"/>
              </a:rPr>
              <a:t>translates </a:t>
            </a:r>
            <a:r>
              <a:rPr sz="2100" spc="-15" dirty="0">
                <a:latin typeface="Calibri"/>
                <a:cs typeface="Calibri"/>
              </a:rPr>
              <a:t>physical parameters to </a:t>
            </a:r>
            <a:r>
              <a:rPr sz="2100" spc="-4" dirty="0">
                <a:latin typeface="Calibri"/>
                <a:cs typeface="Calibri"/>
              </a:rPr>
              <a:t>electrical signals </a:t>
            </a:r>
            <a:r>
              <a:rPr sz="2100" spc="-8" dirty="0">
                <a:latin typeface="Calibri"/>
                <a:cs typeface="Calibri"/>
              </a:rPr>
              <a:t>acceptable </a:t>
            </a:r>
            <a:r>
              <a:rPr sz="2100" spc="-465" dirty="0">
                <a:latin typeface="Calibri"/>
                <a:cs typeface="Calibri"/>
              </a:rPr>
              <a:t> </a:t>
            </a:r>
            <a:r>
              <a:rPr sz="2100" spc="-11" dirty="0">
                <a:latin typeface="Calibri"/>
                <a:cs typeface="Calibri"/>
              </a:rPr>
              <a:t>by </a:t>
            </a:r>
            <a:r>
              <a:rPr sz="2100" spc="-4" dirty="0">
                <a:latin typeface="Calibri"/>
                <a:cs typeface="Calibri"/>
              </a:rPr>
              <a:t>the </a:t>
            </a:r>
            <a:r>
              <a:rPr sz="2100" spc="-8" dirty="0">
                <a:latin typeface="Calibri"/>
                <a:cs typeface="Calibri"/>
              </a:rPr>
              <a:t>acquisition </a:t>
            </a:r>
            <a:r>
              <a:rPr sz="2100" spc="-19" dirty="0">
                <a:latin typeface="Calibri"/>
                <a:cs typeface="Calibri"/>
              </a:rPr>
              <a:t>system. </a:t>
            </a:r>
            <a:r>
              <a:rPr sz="2100" spc="-8" dirty="0">
                <a:latin typeface="Calibri"/>
                <a:cs typeface="Calibri"/>
              </a:rPr>
              <a:t>The </a:t>
            </a:r>
            <a:r>
              <a:rPr sz="2100" spc="-15" dirty="0">
                <a:latin typeface="Calibri"/>
                <a:cs typeface="Calibri"/>
              </a:rPr>
              <a:t>physical parameters </a:t>
            </a:r>
            <a:r>
              <a:rPr sz="2100" spc="-4" dirty="0">
                <a:latin typeface="Calibri"/>
                <a:cs typeface="Calibri"/>
              </a:rPr>
              <a:t>include </a:t>
            </a:r>
            <a:r>
              <a:rPr sz="2100" spc="-15" dirty="0">
                <a:latin typeface="Calibri"/>
                <a:cs typeface="Calibri"/>
              </a:rPr>
              <a:t>temperature, </a:t>
            </a:r>
            <a:r>
              <a:rPr sz="2100" spc="-11" dirty="0">
                <a:latin typeface="Calibri"/>
                <a:cs typeface="Calibri"/>
              </a:rPr>
              <a:t> pressure,</a:t>
            </a:r>
            <a:r>
              <a:rPr sz="2100" spc="23" dirty="0">
                <a:latin typeface="Calibri"/>
                <a:cs typeface="Calibri"/>
              </a:rPr>
              <a:t> </a:t>
            </a:r>
            <a:r>
              <a:rPr sz="2100" spc="-8" dirty="0">
                <a:latin typeface="Calibri"/>
                <a:cs typeface="Calibri"/>
              </a:rPr>
              <a:t>acceleration,</a:t>
            </a:r>
            <a:r>
              <a:rPr sz="2100" dirty="0">
                <a:latin typeface="Calibri"/>
                <a:cs typeface="Calibri"/>
              </a:rPr>
              <a:t> </a:t>
            </a:r>
            <a:r>
              <a:rPr sz="2100" spc="-8" dirty="0">
                <a:latin typeface="Calibri"/>
                <a:cs typeface="Calibri"/>
              </a:rPr>
              <a:t>weight,</a:t>
            </a:r>
            <a:r>
              <a:rPr sz="2100" spc="-4" dirty="0">
                <a:latin typeface="Calibri"/>
                <a:cs typeface="Calibri"/>
              </a:rPr>
              <a:t> </a:t>
            </a:r>
            <a:r>
              <a:rPr sz="2100" spc="-8" dirty="0">
                <a:latin typeface="Calibri"/>
                <a:cs typeface="Calibri"/>
              </a:rPr>
              <a:t>displacement,</a:t>
            </a:r>
            <a:r>
              <a:rPr sz="2100" spc="30" dirty="0">
                <a:latin typeface="Calibri"/>
                <a:cs typeface="Calibri"/>
              </a:rPr>
              <a:t> </a:t>
            </a:r>
            <a:r>
              <a:rPr sz="2100" spc="-8" dirty="0">
                <a:latin typeface="Calibri"/>
                <a:cs typeface="Calibri"/>
              </a:rPr>
              <a:t>velocity</a:t>
            </a:r>
            <a:r>
              <a:rPr sz="2100" spc="-11" dirty="0">
                <a:latin typeface="Calibri"/>
                <a:cs typeface="Calibri"/>
              </a:rPr>
              <a:t> etc.</a:t>
            </a:r>
            <a:endParaRPr sz="2100">
              <a:latin typeface="Calibri"/>
              <a:cs typeface="Calibri"/>
            </a:endParaRPr>
          </a:p>
          <a:p>
            <a:pPr marL="180975" marR="323374" indent="-171926">
              <a:lnSpc>
                <a:spcPts val="2018"/>
              </a:lnSpc>
              <a:spcBef>
                <a:spcPts val="727"/>
              </a:spcBef>
              <a:buFont typeface="Arial MT"/>
              <a:buChar char="•"/>
              <a:tabLst>
                <a:tab pos="181451" algn="l"/>
              </a:tabLst>
            </a:pPr>
            <a:r>
              <a:rPr sz="2100" spc="-8" dirty="0">
                <a:latin typeface="Calibri"/>
                <a:cs typeface="Calibri"/>
              </a:rPr>
              <a:t>Electrical quantities</a:t>
            </a:r>
            <a:r>
              <a:rPr sz="2100" spc="23" dirty="0">
                <a:latin typeface="Calibri"/>
                <a:cs typeface="Calibri"/>
              </a:rPr>
              <a:t> </a:t>
            </a:r>
            <a:r>
              <a:rPr sz="2100" spc="-8" dirty="0">
                <a:latin typeface="Calibri"/>
                <a:cs typeface="Calibri"/>
              </a:rPr>
              <a:t>such</a:t>
            </a:r>
            <a:r>
              <a:rPr sz="2100" spc="26" dirty="0">
                <a:latin typeface="Calibri"/>
                <a:cs typeface="Calibri"/>
              </a:rPr>
              <a:t> </a:t>
            </a:r>
            <a:r>
              <a:rPr sz="2100" spc="-4" dirty="0">
                <a:latin typeface="Calibri"/>
                <a:cs typeface="Calibri"/>
              </a:rPr>
              <a:t>as</a:t>
            </a:r>
            <a:r>
              <a:rPr sz="2100" dirty="0">
                <a:latin typeface="Calibri"/>
                <a:cs typeface="Calibri"/>
              </a:rPr>
              <a:t> </a:t>
            </a:r>
            <a:r>
              <a:rPr sz="2100" spc="-11" dirty="0">
                <a:latin typeface="Calibri"/>
                <a:cs typeface="Calibri"/>
              </a:rPr>
              <a:t>voltage,</a:t>
            </a:r>
            <a:r>
              <a:rPr sz="2100" spc="26" dirty="0">
                <a:latin typeface="Calibri"/>
                <a:cs typeface="Calibri"/>
              </a:rPr>
              <a:t> </a:t>
            </a:r>
            <a:r>
              <a:rPr sz="2100" spc="-11" dirty="0">
                <a:latin typeface="Calibri"/>
                <a:cs typeface="Calibri"/>
              </a:rPr>
              <a:t>resistance,</a:t>
            </a:r>
            <a:r>
              <a:rPr sz="2100" spc="19" dirty="0">
                <a:latin typeface="Calibri"/>
                <a:cs typeface="Calibri"/>
              </a:rPr>
              <a:t> </a:t>
            </a:r>
            <a:r>
              <a:rPr sz="2100" spc="-4" dirty="0">
                <a:latin typeface="Calibri"/>
                <a:cs typeface="Calibri"/>
              </a:rPr>
              <a:t>and</a:t>
            </a:r>
            <a:r>
              <a:rPr sz="2100" spc="15" dirty="0">
                <a:latin typeface="Calibri"/>
                <a:cs typeface="Calibri"/>
              </a:rPr>
              <a:t> </a:t>
            </a:r>
            <a:r>
              <a:rPr sz="2100" spc="-8" dirty="0">
                <a:latin typeface="Calibri"/>
                <a:cs typeface="Calibri"/>
              </a:rPr>
              <a:t>frequency</a:t>
            </a:r>
            <a:r>
              <a:rPr sz="2100" spc="34" dirty="0">
                <a:latin typeface="Calibri"/>
                <a:cs typeface="Calibri"/>
              </a:rPr>
              <a:t> </a:t>
            </a:r>
            <a:r>
              <a:rPr sz="2100" spc="-15" dirty="0">
                <a:latin typeface="Calibri"/>
                <a:cs typeface="Calibri"/>
              </a:rPr>
              <a:t>may</a:t>
            </a:r>
            <a:r>
              <a:rPr sz="2100" spc="4" dirty="0">
                <a:latin typeface="Calibri"/>
                <a:cs typeface="Calibri"/>
              </a:rPr>
              <a:t> </a:t>
            </a:r>
            <a:r>
              <a:rPr sz="2100" spc="-8" dirty="0">
                <a:latin typeface="Calibri"/>
                <a:cs typeface="Calibri"/>
              </a:rPr>
              <a:t>be </a:t>
            </a:r>
            <a:r>
              <a:rPr sz="2100" spc="-465" dirty="0">
                <a:latin typeface="Calibri"/>
                <a:cs typeface="Calibri"/>
              </a:rPr>
              <a:t> </a:t>
            </a:r>
            <a:r>
              <a:rPr sz="2100" spc="-8" dirty="0">
                <a:latin typeface="Calibri"/>
                <a:cs typeface="Calibri"/>
              </a:rPr>
              <a:t>measured</a:t>
            </a:r>
            <a:r>
              <a:rPr sz="2100" spc="8" dirty="0">
                <a:latin typeface="Calibri"/>
                <a:cs typeface="Calibri"/>
              </a:rPr>
              <a:t> </a:t>
            </a:r>
            <a:r>
              <a:rPr sz="2100" spc="-23" dirty="0">
                <a:latin typeface="Calibri"/>
                <a:cs typeface="Calibri"/>
              </a:rPr>
              <a:t>directly.</a:t>
            </a:r>
            <a:endParaRPr sz="2100">
              <a:latin typeface="Calibri"/>
              <a:cs typeface="Calibri"/>
            </a:endParaRPr>
          </a:p>
          <a:p>
            <a:pPr marL="180975" marR="133350" indent="-171926">
              <a:lnSpc>
                <a:spcPct val="80000"/>
              </a:lnSpc>
              <a:spcBef>
                <a:spcPts val="773"/>
              </a:spcBef>
              <a:buFont typeface="Arial MT"/>
              <a:buChar char="•"/>
              <a:tabLst>
                <a:tab pos="181451" algn="l"/>
              </a:tabLst>
            </a:pPr>
            <a:r>
              <a:rPr sz="2100" b="1" spc="-4" dirty="0">
                <a:latin typeface="Calibri"/>
                <a:cs typeface="Calibri"/>
              </a:rPr>
              <a:t>Signal</a:t>
            </a:r>
            <a:r>
              <a:rPr sz="2100" b="1" spc="11" dirty="0">
                <a:latin typeface="Calibri"/>
                <a:cs typeface="Calibri"/>
              </a:rPr>
              <a:t> </a:t>
            </a:r>
            <a:r>
              <a:rPr sz="2100" b="1" spc="-4" dirty="0">
                <a:latin typeface="Calibri"/>
                <a:cs typeface="Calibri"/>
              </a:rPr>
              <a:t>conditioner</a:t>
            </a:r>
            <a:r>
              <a:rPr sz="2100" b="1" spc="11" dirty="0">
                <a:latin typeface="Calibri"/>
                <a:cs typeface="Calibri"/>
              </a:rPr>
              <a:t> </a:t>
            </a:r>
            <a:r>
              <a:rPr sz="2100" spc="-4" dirty="0">
                <a:latin typeface="Calibri"/>
                <a:cs typeface="Calibri"/>
              </a:rPr>
              <a:t>includes</a:t>
            </a:r>
            <a:r>
              <a:rPr sz="2100" spc="26" dirty="0">
                <a:latin typeface="Calibri"/>
                <a:cs typeface="Calibri"/>
              </a:rPr>
              <a:t> </a:t>
            </a:r>
            <a:r>
              <a:rPr sz="2100" spc="-4" dirty="0">
                <a:latin typeface="Calibri"/>
                <a:cs typeface="Calibri"/>
              </a:rPr>
              <a:t>the</a:t>
            </a:r>
            <a:r>
              <a:rPr sz="2100" spc="4" dirty="0">
                <a:latin typeface="Calibri"/>
                <a:cs typeface="Calibri"/>
              </a:rPr>
              <a:t> </a:t>
            </a:r>
            <a:r>
              <a:rPr sz="2100" spc="-8" dirty="0">
                <a:latin typeface="Calibri"/>
                <a:cs typeface="Calibri"/>
              </a:rPr>
              <a:t>supporting</a:t>
            </a:r>
            <a:r>
              <a:rPr sz="2100" spc="30" dirty="0">
                <a:latin typeface="Calibri"/>
                <a:cs typeface="Calibri"/>
              </a:rPr>
              <a:t> </a:t>
            </a:r>
            <a:r>
              <a:rPr sz="2100" spc="-8" dirty="0">
                <a:latin typeface="Calibri"/>
                <a:cs typeface="Calibri"/>
              </a:rPr>
              <a:t>circuitry</a:t>
            </a:r>
            <a:r>
              <a:rPr sz="2100" spc="11" dirty="0">
                <a:latin typeface="Calibri"/>
                <a:cs typeface="Calibri"/>
              </a:rPr>
              <a:t> </a:t>
            </a:r>
            <a:r>
              <a:rPr sz="2100" spc="-19" dirty="0">
                <a:latin typeface="Calibri"/>
                <a:cs typeface="Calibri"/>
              </a:rPr>
              <a:t>for</a:t>
            </a:r>
            <a:r>
              <a:rPr sz="2100" dirty="0">
                <a:latin typeface="Calibri"/>
                <a:cs typeface="Calibri"/>
              </a:rPr>
              <a:t> </a:t>
            </a:r>
            <a:r>
              <a:rPr sz="2100" spc="-4" dirty="0">
                <a:latin typeface="Calibri"/>
                <a:cs typeface="Calibri"/>
              </a:rPr>
              <a:t>the</a:t>
            </a:r>
            <a:r>
              <a:rPr sz="2100" spc="23" dirty="0">
                <a:latin typeface="Calibri"/>
                <a:cs typeface="Calibri"/>
              </a:rPr>
              <a:t> </a:t>
            </a:r>
            <a:r>
              <a:rPr sz="2100" spc="-8" dirty="0">
                <a:latin typeface="Calibri"/>
                <a:cs typeface="Calibri"/>
              </a:rPr>
              <a:t>transducer </a:t>
            </a:r>
            <a:r>
              <a:rPr sz="2100" spc="-4" dirty="0">
                <a:latin typeface="Calibri"/>
                <a:cs typeface="Calibri"/>
              </a:rPr>
              <a:t> which</a:t>
            </a:r>
            <a:r>
              <a:rPr sz="2100" spc="23" dirty="0">
                <a:latin typeface="Calibri"/>
                <a:cs typeface="Calibri"/>
              </a:rPr>
              <a:t> </a:t>
            </a:r>
            <a:r>
              <a:rPr sz="2100" spc="-15" dirty="0">
                <a:latin typeface="Calibri"/>
                <a:cs typeface="Calibri"/>
              </a:rPr>
              <a:t>provide</a:t>
            </a:r>
            <a:r>
              <a:rPr sz="2100" spc="30" dirty="0">
                <a:latin typeface="Calibri"/>
                <a:cs typeface="Calibri"/>
              </a:rPr>
              <a:t> </a:t>
            </a:r>
            <a:r>
              <a:rPr sz="2100" spc="-15" dirty="0">
                <a:latin typeface="Calibri"/>
                <a:cs typeface="Calibri"/>
              </a:rPr>
              <a:t>excitation</a:t>
            </a:r>
            <a:r>
              <a:rPr sz="2100" spc="15" dirty="0">
                <a:latin typeface="Calibri"/>
                <a:cs typeface="Calibri"/>
              </a:rPr>
              <a:t> </a:t>
            </a:r>
            <a:r>
              <a:rPr sz="2100" spc="-38" dirty="0">
                <a:latin typeface="Calibri"/>
                <a:cs typeface="Calibri"/>
              </a:rPr>
              <a:t>power,</a:t>
            </a:r>
            <a:r>
              <a:rPr sz="2100" spc="19" dirty="0">
                <a:latin typeface="Calibri"/>
                <a:cs typeface="Calibri"/>
              </a:rPr>
              <a:t> </a:t>
            </a:r>
            <a:r>
              <a:rPr sz="2100" spc="-8" dirty="0">
                <a:latin typeface="Calibri"/>
                <a:cs typeface="Calibri"/>
              </a:rPr>
              <a:t>balancing</a:t>
            </a:r>
            <a:r>
              <a:rPr sz="2100" spc="4" dirty="0">
                <a:latin typeface="Calibri"/>
                <a:cs typeface="Calibri"/>
              </a:rPr>
              <a:t> </a:t>
            </a:r>
            <a:r>
              <a:rPr sz="2100" spc="-8" dirty="0">
                <a:latin typeface="Calibri"/>
                <a:cs typeface="Calibri"/>
              </a:rPr>
              <a:t>circuits,</a:t>
            </a:r>
            <a:r>
              <a:rPr sz="2100" spc="19" dirty="0">
                <a:latin typeface="Calibri"/>
                <a:cs typeface="Calibri"/>
              </a:rPr>
              <a:t> </a:t>
            </a:r>
            <a:r>
              <a:rPr sz="2100" spc="-11" dirty="0">
                <a:latin typeface="Calibri"/>
                <a:cs typeface="Calibri"/>
              </a:rPr>
              <a:t>calibration</a:t>
            </a:r>
            <a:r>
              <a:rPr sz="2100" spc="26" dirty="0">
                <a:latin typeface="Calibri"/>
                <a:cs typeface="Calibri"/>
              </a:rPr>
              <a:t> </a:t>
            </a:r>
            <a:r>
              <a:rPr sz="2100" spc="-8" dirty="0">
                <a:latin typeface="Calibri"/>
                <a:cs typeface="Calibri"/>
              </a:rPr>
              <a:t>elements, </a:t>
            </a:r>
            <a:r>
              <a:rPr sz="2100" spc="-465" dirty="0">
                <a:latin typeface="Calibri"/>
                <a:cs typeface="Calibri"/>
              </a:rPr>
              <a:t> </a:t>
            </a:r>
            <a:r>
              <a:rPr sz="2100" spc="-4" dirty="0">
                <a:latin typeface="Calibri"/>
                <a:cs typeface="Calibri"/>
              </a:rPr>
              <a:t>Amplifying,</a:t>
            </a:r>
            <a:r>
              <a:rPr sz="2100" spc="23" dirty="0">
                <a:latin typeface="Calibri"/>
                <a:cs typeface="Calibri"/>
              </a:rPr>
              <a:t> </a:t>
            </a:r>
            <a:r>
              <a:rPr sz="2100" spc="-8" dirty="0">
                <a:latin typeface="Calibri"/>
                <a:cs typeface="Calibri"/>
              </a:rPr>
              <a:t>filtering</a:t>
            </a:r>
            <a:r>
              <a:rPr sz="2100" spc="-4" dirty="0">
                <a:latin typeface="Calibri"/>
                <a:cs typeface="Calibri"/>
              </a:rPr>
              <a:t> </a:t>
            </a:r>
            <a:r>
              <a:rPr sz="2100" spc="-11" dirty="0">
                <a:latin typeface="Calibri"/>
                <a:cs typeface="Calibri"/>
              </a:rPr>
              <a:t>etc.</a:t>
            </a:r>
            <a:endParaRPr sz="2100">
              <a:latin typeface="Calibri"/>
              <a:cs typeface="Calibri"/>
            </a:endParaRPr>
          </a:p>
          <a:p>
            <a:pPr marL="180975" marR="196691" indent="-171926">
              <a:lnSpc>
                <a:spcPts val="2018"/>
              </a:lnSpc>
              <a:spcBef>
                <a:spcPts val="731"/>
              </a:spcBef>
              <a:buFont typeface="Arial MT"/>
              <a:buChar char="•"/>
              <a:tabLst>
                <a:tab pos="181451" algn="l"/>
              </a:tabLst>
            </a:pPr>
            <a:r>
              <a:rPr sz="2100" b="1" spc="-4" dirty="0">
                <a:latin typeface="Calibri"/>
                <a:cs typeface="Calibri"/>
              </a:rPr>
              <a:t>Scanner</a:t>
            </a:r>
            <a:r>
              <a:rPr sz="2100" b="1" spc="19" dirty="0">
                <a:latin typeface="Calibri"/>
                <a:cs typeface="Calibri"/>
              </a:rPr>
              <a:t> </a:t>
            </a:r>
            <a:r>
              <a:rPr sz="2100" b="1" spc="-4" dirty="0">
                <a:latin typeface="Calibri"/>
                <a:cs typeface="Calibri"/>
              </a:rPr>
              <a:t>or</a:t>
            </a:r>
            <a:r>
              <a:rPr sz="2100" b="1" spc="4" dirty="0">
                <a:latin typeface="Calibri"/>
                <a:cs typeface="Calibri"/>
              </a:rPr>
              <a:t> </a:t>
            </a:r>
            <a:r>
              <a:rPr sz="2100" b="1" spc="-15" dirty="0">
                <a:latin typeface="Calibri"/>
                <a:cs typeface="Calibri"/>
              </a:rPr>
              <a:t>multiplexer</a:t>
            </a:r>
            <a:r>
              <a:rPr sz="2100" b="1" spc="49" dirty="0">
                <a:latin typeface="Calibri"/>
                <a:cs typeface="Calibri"/>
              </a:rPr>
              <a:t> </a:t>
            </a:r>
            <a:r>
              <a:rPr sz="2100" spc="-4" dirty="0">
                <a:latin typeface="Calibri"/>
                <a:cs typeface="Calibri"/>
              </a:rPr>
              <a:t>accepts</a:t>
            </a:r>
            <a:r>
              <a:rPr sz="2100" spc="8" dirty="0">
                <a:latin typeface="Calibri"/>
                <a:cs typeface="Calibri"/>
              </a:rPr>
              <a:t> </a:t>
            </a:r>
            <a:r>
              <a:rPr sz="2100" spc="-4" dirty="0">
                <a:latin typeface="Calibri"/>
                <a:cs typeface="Calibri"/>
              </a:rPr>
              <a:t>multiple</a:t>
            </a:r>
            <a:r>
              <a:rPr sz="2100" spc="15" dirty="0">
                <a:latin typeface="Calibri"/>
                <a:cs typeface="Calibri"/>
              </a:rPr>
              <a:t> </a:t>
            </a:r>
            <a:r>
              <a:rPr sz="2100" spc="-4" dirty="0">
                <a:latin typeface="Calibri"/>
                <a:cs typeface="Calibri"/>
              </a:rPr>
              <a:t>analog</a:t>
            </a:r>
            <a:r>
              <a:rPr sz="2100" dirty="0">
                <a:latin typeface="Calibri"/>
                <a:cs typeface="Calibri"/>
              </a:rPr>
              <a:t> </a:t>
            </a:r>
            <a:r>
              <a:rPr sz="2100" spc="-8" dirty="0">
                <a:latin typeface="Calibri"/>
                <a:cs typeface="Calibri"/>
              </a:rPr>
              <a:t>inputs</a:t>
            </a:r>
            <a:r>
              <a:rPr sz="2100" spc="30" dirty="0">
                <a:latin typeface="Calibri"/>
                <a:cs typeface="Calibri"/>
              </a:rPr>
              <a:t> </a:t>
            </a:r>
            <a:r>
              <a:rPr sz="2100" spc="-4" dirty="0">
                <a:latin typeface="Calibri"/>
                <a:cs typeface="Calibri"/>
              </a:rPr>
              <a:t>and</a:t>
            </a:r>
            <a:r>
              <a:rPr sz="2100" spc="15" dirty="0">
                <a:latin typeface="Calibri"/>
                <a:cs typeface="Calibri"/>
              </a:rPr>
              <a:t> </a:t>
            </a:r>
            <a:r>
              <a:rPr sz="2100" spc="-8" dirty="0">
                <a:latin typeface="Calibri"/>
                <a:cs typeface="Calibri"/>
              </a:rPr>
              <a:t>sequentially </a:t>
            </a:r>
            <a:r>
              <a:rPr sz="2100" spc="-465" dirty="0">
                <a:latin typeface="Calibri"/>
                <a:cs typeface="Calibri"/>
              </a:rPr>
              <a:t> </a:t>
            </a:r>
            <a:r>
              <a:rPr sz="2100" spc="-8" dirty="0">
                <a:latin typeface="Calibri"/>
                <a:cs typeface="Calibri"/>
              </a:rPr>
              <a:t>connects</a:t>
            </a:r>
            <a:r>
              <a:rPr sz="2100" spc="8" dirty="0">
                <a:latin typeface="Calibri"/>
                <a:cs typeface="Calibri"/>
              </a:rPr>
              <a:t> </a:t>
            </a:r>
            <a:r>
              <a:rPr sz="2100" spc="-4" dirty="0">
                <a:latin typeface="Calibri"/>
                <a:cs typeface="Calibri"/>
              </a:rPr>
              <a:t>them</a:t>
            </a:r>
            <a:r>
              <a:rPr sz="2100" spc="11" dirty="0">
                <a:latin typeface="Calibri"/>
                <a:cs typeface="Calibri"/>
              </a:rPr>
              <a:t> </a:t>
            </a:r>
            <a:r>
              <a:rPr sz="2100" spc="-15" dirty="0">
                <a:latin typeface="Calibri"/>
                <a:cs typeface="Calibri"/>
              </a:rPr>
              <a:t>to</a:t>
            </a:r>
            <a:r>
              <a:rPr sz="2100" spc="-4" dirty="0">
                <a:latin typeface="Calibri"/>
                <a:cs typeface="Calibri"/>
              </a:rPr>
              <a:t> </a:t>
            </a:r>
            <a:r>
              <a:rPr sz="2100" spc="-8" dirty="0">
                <a:latin typeface="Calibri"/>
                <a:cs typeface="Calibri"/>
              </a:rPr>
              <a:t>one</a:t>
            </a:r>
            <a:r>
              <a:rPr sz="2100" dirty="0">
                <a:latin typeface="Calibri"/>
                <a:cs typeface="Calibri"/>
              </a:rPr>
              <a:t> </a:t>
            </a:r>
            <a:r>
              <a:rPr sz="2100" spc="-4" dirty="0">
                <a:latin typeface="Calibri"/>
                <a:cs typeface="Calibri"/>
              </a:rPr>
              <a:t>measuring</a:t>
            </a:r>
            <a:r>
              <a:rPr sz="2100" spc="15" dirty="0">
                <a:latin typeface="Calibri"/>
                <a:cs typeface="Calibri"/>
              </a:rPr>
              <a:t> </a:t>
            </a:r>
            <a:r>
              <a:rPr sz="2100" spc="-8" dirty="0">
                <a:latin typeface="Calibri"/>
                <a:cs typeface="Calibri"/>
              </a:rPr>
              <a:t>instrument.</a:t>
            </a:r>
            <a:endParaRPr sz="2100">
              <a:latin typeface="Calibri"/>
              <a:cs typeface="Calibri"/>
            </a:endParaRPr>
          </a:p>
          <a:p>
            <a:pPr marL="180975" indent="-171926">
              <a:lnSpc>
                <a:spcPts val="2269"/>
              </a:lnSpc>
              <a:spcBef>
                <a:spcPts val="259"/>
              </a:spcBef>
              <a:buFont typeface="Arial MT"/>
              <a:buChar char="•"/>
              <a:tabLst>
                <a:tab pos="181451" algn="l"/>
              </a:tabLst>
            </a:pPr>
            <a:r>
              <a:rPr sz="2100" spc="-8" dirty="0">
                <a:latin typeface="Calibri"/>
                <a:cs typeface="Calibri"/>
              </a:rPr>
              <a:t>Finally</a:t>
            </a:r>
            <a:r>
              <a:rPr sz="2100" spc="4" dirty="0">
                <a:latin typeface="Calibri"/>
                <a:cs typeface="Calibri"/>
              </a:rPr>
              <a:t> </a:t>
            </a:r>
            <a:r>
              <a:rPr sz="2100" spc="-8" dirty="0">
                <a:latin typeface="Calibri"/>
                <a:cs typeface="Calibri"/>
              </a:rPr>
              <a:t>measured</a:t>
            </a:r>
            <a:r>
              <a:rPr sz="2100" spc="15" dirty="0">
                <a:latin typeface="Calibri"/>
                <a:cs typeface="Calibri"/>
              </a:rPr>
              <a:t> </a:t>
            </a:r>
            <a:r>
              <a:rPr sz="2100" spc="-15" dirty="0">
                <a:latin typeface="Calibri"/>
                <a:cs typeface="Calibri"/>
              </a:rPr>
              <a:t>data</a:t>
            </a:r>
            <a:r>
              <a:rPr sz="2100" spc="4" dirty="0">
                <a:latin typeface="Calibri"/>
                <a:cs typeface="Calibri"/>
              </a:rPr>
              <a:t> </a:t>
            </a:r>
            <a:r>
              <a:rPr sz="2100" spc="-4" dirty="0">
                <a:latin typeface="Calibri"/>
                <a:cs typeface="Calibri"/>
              </a:rPr>
              <a:t>is</a:t>
            </a:r>
            <a:r>
              <a:rPr sz="2100" dirty="0">
                <a:latin typeface="Calibri"/>
                <a:cs typeface="Calibri"/>
              </a:rPr>
              <a:t> </a:t>
            </a:r>
            <a:r>
              <a:rPr sz="2100" spc="-11" dirty="0">
                <a:latin typeface="Calibri"/>
                <a:cs typeface="Calibri"/>
              </a:rPr>
              <a:t>sent</a:t>
            </a:r>
            <a:r>
              <a:rPr sz="2100" spc="15" dirty="0">
                <a:latin typeface="Calibri"/>
                <a:cs typeface="Calibri"/>
              </a:rPr>
              <a:t> </a:t>
            </a:r>
            <a:r>
              <a:rPr sz="2100" spc="-15" dirty="0">
                <a:latin typeface="Calibri"/>
                <a:cs typeface="Calibri"/>
              </a:rPr>
              <a:t>to</a:t>
            </a:r>
            <a:r>
              <a:rPr sz="2100" spc="11" dirty="0">
                <a:latin typeface="Calibri"/>
                <a:cs typeface="Calibri"/>
              </a:rPr>
              <a:t> </a:t>
            </a:r>
            <a:r>
              <a:rPr sz="2100" b="1" spc="-4" dirty="0">
                <a:latin typeface="Calibri"/>
                <a:cs typeface="Calibri"/>
              </a:rPr>
              <a:t>analog</a:t>
            </a:r>
            <a:r>
              <a:rPr sz="2100" b="1" spc="11" dirty="0">
                <a:latin typeface="Calibri"/>
                <a:cs typeface="Calibri"/>
              </a:rPr>
              <a:t> </a:t>
            </a:r>
            <a:r>
              <a:rPr sz="2100" b="1" spc="-11" dirty="0">
                <a:latin typeface="Calibri"/>
                <a:cs typeface="Calibri"/>
              </a:rPr>
              <a:t>recorder</a:t>
            </a:r>
            <a:r>
              <a:rPr sz="2100" b="1" spc="23" dirty="0">
                <a:latin typeface="Calibri"/>
                <a:cs typeface="Calibri"/>
              </a:rPr>
              <a:t> </a:t>
            </a:r>
            <a:r>
              <a:rPr sz="2100" spc="-19" dirty="0">
                <a:latin typeface="Calibri"/>
                <a:cs typeface="Calibri"/>
              </a:rPr>
              <a:t>for</a:t>
            </a:r>
            <a:r>
              <a:rPr sz="2100" spc="8" dirty="0">
                <a:latin typeface="Calibri"/>
                <a:cs typeface="Calibri"/>
              </a:rPr>
              <a:t> </a:t>
            </a:r>
            <a:r>
              <a:rPr sz="2100" spc="-11" dirty="0">
                <a:latin typeface="Calibri"/>
                <a:cs typeface="Calibri"/>
              </a:rPr>
              <a:t>future</a:t>
            </a:r>
            <a:r>
              <a:rPr sz="2100" spc="11" dirty="0">
                <a:latin typeface="Calibri"/>
                <a:cs typeface="Calibri"/>
              </a:rPr>
              <a:t> </a:t>
            </a:r>
            <a:r>
              <a:rPr sz="2100" spc="-11" dirty="0">
                <a:latin typeface="Calibri"/>
                <a:cs typeface="Calibri"/>
              </a:rPr>
              <a:t>retrieval </a:t>
            </a:r>
            <a:r>
              <a:rPr sz="2100" spc="-4" dirty="0">
                <a:latin typeface="Calibri"/>
                <a:cs typeface="Calibri"/>
              </a:rPr>
              <a:t>or</a:t>
            </a:r>
            <a:r>
              <a:rPr sz="2100" spc="8" dirty="0">
                <a:latin typeface="Calibri"/>
                <a:cs typeface="Calibri"/>
              </a:rPr>
              <a:t> </a:t>
            </a:r>
            <a:r>
              <a:rPr sz="2100" spc="-15" dirty="0">
                <a:latin typeface="Calibri"/>
                <a:cs typeface="Calibri"/>
              </a:rPr>
              <a:t>to</a:t>
            </a:r>
            <a:endParaRPr sz="2100">
              <a:latin typeface="Calibri"/>
              <a:cs typeface="Calibri"/>
            </a:endParaRPr>
          </a:p>
          <a:p>
            <a:pPr marL="180975">
              <a:lnSpc>
                <a:spcPts val="2269"/>
              </a:lnSpc>
            </a:pPr>
            <a:r>
              <a:rPr sz="2100" b="1" spc="-4" dirty="0">
                <a:latin typeface="Calibri"/>
                <a:cs typeface="Calibri"/>
              </a:rPr>
              <a:t>analog</a:t>
            </a:r>
            <a:r>
              <a:rPr sz="2100" b="1" spc="-11" dirty="0">
                <a:latin typeface="Calibri"/>
                <a:cs typeface="Calibri"/>
              </a:rPr>
              <a:t> display</a:t>
            </a:r>
            <a:endParaRPr sz="2100">
              <a:latin typeface="Calibri"/>
              <a:cs typeface="Calibri"/>
            </a:endParaRPr>
          </a:p>
        </p:txBody>
      </p:sp>
    </p:spTree>
    <p:extLst>
      <p:ext uri="{BB962C8B-B14F-4D97-AF65-F5344CB8AC3E}">
        <p14:creationId xmlns:p14="http://schemas.microsoft.com/office/powerpoint/2010/main" val="203861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DAS</a:t>
            </a:r>
            <a:endParaRPr lang="en-US" dirty="0"/>
          </a:p>
        </p:txBody>
      </p:sp>
      <p:sp>
        <p:nvSpPr>
          <p:cNvPr id="5" name="Content Placeholder 4"/>
          <p:cNvSpPr>
            <a:spLocks noGrp="1"/>
          </p:cNvSpPr>
          <p:nvPr>
            <p:ph idx="1"/>
          </p:nvPr>
        </p:nvSpPr>
        <p:spPr/>
        <p:txBody>
          <a:bodyPr/>
          <a:lstStyle/>
          <a:p>
            <a:r>
              <a:rPr lang="en-US" dirty="0" smtClean="0"/>
              <a:t>The block diagram of digital DAS is :</a:t>
            </a:r>
          </a:p>
          <a:p>
            <a:endParaRPr lang="en-US" dirty="0"/>
          </a:p>
          <a:p>
            <a:endParaRPr lang="en-US" dirty="0" smtClean="0"/>
          </a:p>
          <a:p>
            <a:endParaRPr lang="en-US" dirty="0"/>
          </a:p>
          <a:p>
            <a:endParaRPr lang="en-US" dirty="0" smtClean="0"/>
          </a:p>
          <a:p>
            <a:endParaRPr lang="en-US" dirty="0" smtClean="0"/>
          </a:p>
          <a:p>
            <a:endParaRPr lang="en-US" dirty="0"/>
          </a:p>
        </p:txBody>
      </p:sp>
      <p:pic>
        <p:nvPicPr>
          <p:cNvPr id="1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3485709" y="-388045"/>
            <a:ext cx="2286001" cy="824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03780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7156" y="893810"/>
            <a:ext cx="1849755" cy="1364316"/>
          </a:xfrm>
          <a:prstGeom prst="rect">
            <a:avLst/>
          </a:prstGeom>
        </p:spPr>
        <p:txBody>
          <a:bodyPr vert="horz" wrap="square" lIns="0" tIns="10001" rIns="0" bIns="0" rtlCol="0" anchor="ctr">
            <a:spAutoFit/>
          </a:bodyPr>
          <a:lstStyle/>
          <a:p>
            <a:pPr marL="9525">
              <a:spcBef>
                <a:spcPts val="79"/>
              </a:spcBef>
            </a:pPr>
            <a:r>
              <a:rPr spc="-8" dirty="0"/>
              <a:t>Digital</a:t>
            </a:r>
            <a:r>
              <a:rPr spc="-49" dirty="0"/>
              <a:t> </a:t>
            </a:r>
            <a:r>
              <a:rPr spc="-15" dirty="0"/>
              <a:t>DAS</a:t>
            </a:r>
          </a:p>
        </p:txBody>
      </p:sp>
      <p:sp>
        <p:nvSpPr>
          <p:cNvPr id="3" name="object 3"/>
          <p:cNvSpPr/>
          <p:nvPr/>
        </p:nvSpPr>
        <p:spPr>
          <a:xfrm>
            <a:off x="714375" y="2490596"/>
            <a:ext cx="1005840" cy="338613"/>
          </a:xfrm>
          <a:custGeom>
            <a:avLst/>
            <a:gdLst/>
            <a:ahLst/>
            <a:cxnLst/>
            <a:rect l="l" t="t" r="r" b="b"/>
            <a:pathLst>
              <a:path w="1341120" h="451485">
                <a:moveTo>
                  <a:pt x="0" y="451103"/>
                </a:moveTo>
                <a:lnTo>
                  <a:pt x="1341120" y="451103"/>
                </a:lnTo>
                <a:lnTo>
                  <a:pt x="1341120" y="0"/>
                </a:lnTo>
                <a:lnTo>
                  <a:pt x="0" y="0"/>
                </a:lnTo>
                <a:lnTo>
                  <a:pt x="0" y="451103"/>
                </a:lnTo>
                <a:close/>
              </a:path>
            </a:pathLst>
          </a:custGeom>
          <a:ln w="12192">
            <a:solidFill>
              <a:srgbClr val="000000"/>
            </a:solidFill>
          </a:ln>
        </p:spPr>
        <p:txBody>
          <a:bodyPr wrap="square" lIns="0" tIns="0" rIns="0" bIns="0" rtlCol="0"/>
          <a:lstStyle/>
          <a:p>
            <a:endParaRPr sz="1350"/>
          </a:p>
        </p:txBody>
      </p:sp>
      <p:sp>
        <p:nvSpPr>
          <p:cNvPr id="4" name="object 4"/>
          <p:cNvSpPr txBox="1"/>
          <p:nvPr/>
        </p:nvSpPr>
        <p:spPr>
          <a:xfrm>
            <a:off x="823722" y="2433542"/>
            <a:ext cx="786289" cy="425116"/>
          </a:xfrm>
          <a:prstGeom prst="rect">
            <a:avLst/>
          </a:prstGeom>
        </p:spPr>
        <p:txBody>
          <a:bodyPr vert="horz" wrap="square" lIns="0" tIns="9525" rIns="0" bIns="0" rtlCol="0">
            <a:spAutoFit/>
          </a:bodyPr>
          <a:lstStyle/>
          <a:p>
            <a:pPr marL="350044" marR="3810" indent="-340994">
              <a:spcBef>
                <a:spcPts val="75"/>
              </a:spcBef>
            </a:pPr>
            <a:r>
              <a:rPr sz="1350" spc="-83" dirty="0">
                <a:latin typeface="Calibri"/>
                <a:cs typeface="Calibri"/>
              </a:rPr>
              <a:t>T</a:t>
            </a:r>
            <a:r>
              <a:rPr sz="1350" spc="-30" dirty="0">
                <a:latin typeface="Calibri"/>
                <a:cs typeface="Calibri"/>
              </a:rPr>
              <a:t>r</a:t>
            </a:r>
            <a:r>
              <a:rPr sz="1350" dirty="0">
                <a:latin typeface="Calibri"/>
                <a:cs typeface="Calibri"/>
              </a:rPr>
              <a:t>an</a:t>
            </a:r>
            <a:r>
              <a:rPr sz="1350" spc="4" dirty="0">
                <a:latin typeface="Calibri"/>
                <a:cs typeface="Calibri"/>
              </a:rPr>
              <a:t>s</a:t>
            </a:r>
            <a:r>
              <a:rPr sz="1350" spc="-4" dirty="0">
                <a:latin typeface="Calibri"/>
                <a:cs typeface="Calibri"/>
              </a:rPr>
              <a:t>d</a:t>
            </a:r>
            <a:r>
              <a:rPr sz="1350" dirty="0">
                <a:latin typeface="Calibri"/>
                <a:cs typeface="Calibri"/>
              </a:rPr>
              <a:t>u</a:t>
            </a:r>
            <a:r>
              <a:rPr sz="1350" spc="-8" dirty="0">
                <a:latin typeface="Calibri"/>
                <a:cs typeface="Calibri"/>
              </a:rPr>
              <a:t>c</a:t>
            </a:r>
            <a:r>
              <a:rPr sz="1350" dirty="0">
                <a:latin typeface="Calibri"/>
                <a:cs typeface="Calibri"/>
              </a:rPr>
              <a:t>er  1</a:t>
            </a:r>
            <a:endParaRPr sz="1350">
              <a:latin typeface="Calibri"/>
              <a:cs typeface="Calibri"/>
            </a:endParaRPr>
          </a:p>
        </p:txBody>
      </p:sp>
      <p:sp>
        <p:nvSpPr>
          <p:cNvPr id="5" name="object 5"/>
          <p:cNvSpPr/>
          <p:nvPr/>
        </p:nvSpPr>
        <p:spPr>
          <a:xfrm>
            <a:off x="714375" y="2903220"/>
            <a:ext cx="1005840" cy="347663"/>
          </a:xfrm>
          <a:custGeom>
            <a:avLst/>
            <a:gdLst/>
            <a:ahLst/>
            <a:cxnLst/>
            <a:rect l="l" t="t" r="r" b="b"/>
            <a:pathLst>
              <a:path w="1341120" h="463550">
                <a:moveTo>
                  <a:pt x="0" y="463296"/>
                </a:moveTo>
                <a:lnTo>
                  <a:pt x="1341120" y="463296"/>
                </a:lnTo>
                <a:lnTo>
                  <a:pt x="1341120" y="0"/>
                </a:lnTo>
                <a:lnTo>
                  <a:pt x="0" y="0"/>
                </a:lnTo>
                <a:lnTo>
                  <a:pt x="0" y="463296"/>
                </a:lnTo>
                <a:close/>
              </a:path>
            </a:pathLst>
          </a:custGeom>
          <a:ln w="12192">
            <a:solidFill>
              <a:srgbClr val="000000"/>
            </a:solidFill>
          </a:ln>
        </p:spPr>
        <p:txBody>
          <a:bodyPr wrap="square" lIns="0" tIns="0" rIns="0" bIns="0" rtlCol="0"/>
          <a:lstStyle/>
          <a:p>
            <a:endParaRPr sz="1350"/>
          </a:p>
        </p:txBody>
      </p:sp>
      <p:sp>
        <p:nvSpPr>
          <p:cNvPr id="6" name="object 6"/>
          <p:cNvSpPr txBox="1"/>
          <p:nvPr/>
        </p:nvSpPr>
        <p:spPr>
          <a:xfrm>
            <a:off x="823722" y="2850927"/>
            <a:ext cx="786289" cy="425116"/>
          </a:xfrm>
          <a:prstGeom prst="rect">
            <a:avLst/>
          </a:prstGeom>
        </p:spPr>
        <p:txBody>
          <a:bodyPr vert="horz" wrap="square" lIns="0" tIns="9525" rIns="0" bIns="0" rtlCol="0">
            <a:spAutoFit/>
          </a:bodyPr>
          <a:lstStyle/>
          <a:p>
            <a:pPr marL="350044" marR="3810" indent="-340994">
              <a:spcBef>
                <a:spcPts val="75"/>
              </a:spcBef>
            </a:pPr>
            <a:r>
              <a:rPr sz="1350" spc="-83" dirty="0">
                <a:latin typeface="Calibri"/>
                <a:cs typeface="Calibri"/>
              </a:rPr>
              <a:t>T</a:t>
            </a:r>
            <a:r>
              <a:rPr sz="1350" spc="-30" dirty="0">
                <a:latin typeface="Calibri"/>
                <a:cs typeface="Calibri"/>
              </a:rPr>
              <a:t>r</a:t>
            </a:r>
            <a:r>
              <a:rPr sz="1350" dirty="0">
                <a:latin typeface="Calibri"/>
                <a:cs typeface="Calibri"/>
              </a:rPr>
              <a:t>an</a:t>
            </a:r>
            <a:r>
              <a:rPr sz="1350" spc="4" dirty="0">
                <a:latin typeface="Calibri"/>
                <a:cs typeface="Calibri"/>
              </a:rPr>
              <a:t>s</a:t>
            </a:r>
            <a:r>
              <a:rPr sz="1350" spc="-4" dirty="0">
                <a:latin typeface="Calibri"/>
                <a:cs typeface="Calibri"/>
              </a:rPr>
              <a:t>d</a:t>
            </a:r>
            <a:r>
              <a:rPr sz="1350" dirty="0">
                <a:latin typeface="Calibri"/>
                <a:cs typeface="Calibri"/>
              </a:rPr>
              <a:t>u</a:t>
            </a:r>
            <a:r>
              <a:rPr sz="1350" spc="-8" dirty="0">
                <a:latin typeface="Calibri"/>
                <a:cs typeface="Calibri"/>
              </a:rPr>
              <a:t>c</a:t>
            </a:r>
            <a:r>
              <a:rPr sz="1350" dirty="0">
                <a:latin typeface="Calibri"/>
                <a:cs typeface="Calibri"/>
              </a:rPr>
              <a:t>er  2</a:t>
            </a:r>
            <a:endParaRPr sz="1350">
              <a:latin typeface="Calibri"/>
              <a:cs typeface="Calibri"/>
            </a:endParaRPr>
          </a:p>
        </p:txBody>
      </p:sp>
      <p:sp>
        <p:nvSpPr>
          <p:cNvPr id="7" name="object 7"/>
          <p:cNvSpPr txBox="1"/>
          <p:nvPr/>
        </p:nvSpPr>
        <p:spPr>
          <a:xfrm>
            <a:off x="714375" y="3974211"/>
            <a:ext cx="1005840" cy="384721"/>
          </a:xfrm>
          <a:prstGeom prst="rect">
            <a:avLst/>
          </a:prstGeom>
          <a:ln w="12191">
            <a:solidFill>
              <a:srgbClr val="000000"/>
            </a:solidFill>
          </a:ln>
        </p:spPr>
        <p:txBody>
          <a:bodyPr vert="horz" wrap="square" lIns="0" tIns="0" rIns="0" bIns="0" rtlCol="0">
            <a:spAutoFit/>
          </a:bodyPr>
          <a:lstStyle/>
          <a:p>
            <a:pPr algn="ctr">
              <a:lnSpc>
                <a:spcPts val="1395"/>
              </a:lnSpc>
            </a:pPr>
            <a:r>
              <a:rPr sz="1350" spc="-15" dirty="0">
                <a:latin typeface="Calibri"/>
                <a:cs typeface="Calibri"/>
              </a:rPr>
              <a:t>Transducer</a:t>
            </a:r>
            <a:endParaRPr sz="1350">
              <a:latin typeface="Calibri"/>
              <a:cs typeface="Calibri"/>
            </a:endParaRPr>
          </a:p>
          <a:p>
            <a:pPr algn="ctr">
              <a:lnSpc>
                <a:spcPts val="1560"/>
              </a:lnSpc>
            </a:pPr>
            <a:r>
              <a:rPr sz="1350" dirty="0">
                <a:latin typeface="Calibri"/>
                <a:cs typeface="Calibri"/>
              </a:rPr>
              <a:t>n</a:t>
            </a:r>
            <a:endParaRPr sz="1350">
              <a:latin typeface="Calibri"/>
              <a:cs typeface="Calibri"/>
            </a:endParaRPr>
          </a:p>
        </p:txBody>
      </p:sp>
      <p:sp>
        <p:nvSpPr>
          <p:cNvPr id="8" name="object 8"/>
          <p:cNvSpPr/>
          <p:nvPr/>
        </p:nvSpPr>
        <p:spPr>
          <a:xfrm>
            <a:off x="1182433" y="3374707"/>
            <a:ext cx="0" cy="382905"/>
          </a:xfrm>
          <a:custGeom>
            <a:avLst/>
            <a:gdLst/>
            <a:ahLst/>
            <a:cxnLst/>
            <a:rect l="l" t="t" r="r" b="b"/>
            <a:pathLst>
              <a:path h="510539">
                <a:moveTo>
                  <a:pt x="0" y="0"/>
                </a:moveTo>
                <a:lnTo>
                  <a:pt x="0" y="510158"/>
                </a:lnTo>
              </a:path>
            </a:pathLst>
          </a:custGeom>
          <a:ln w="28956">
            <a:solidFill>
              <a:srgbClr val="000000"/>
            </a:solidFill>
            <a:prstDash val="dash"/>
          </a:ln>
        </p:spPr>
        <p:txBody>
          <a:bodyPr wrap="square" lIns="0" tIns="0" rIns="0" bIns="0" rtlCol="0"/>
          <a:lstStyle/>
          <a:p>
            <a:endParaRPr sz="1350"/>
          </a:p>
        </p:txBody>
      </p:sp>
      <p:sp>
        <p:nvSpPr>
          <p:cNvPr id="9" name="object 9"/>
          <p:cNvSpPr/>
          <p:nvPr/>
        </p:nvSpPr>
        <p:spPr>
          <a:xfrm>
            <a:off x="2145411" y="2490596"/>
            <a:ext cx="1135380" cy="353378"/>
          </a:xfrm>
          <a:custGeom>
            <a:avLst/>
            <a:gdLst/>
            <a:ahLst/>
            <a:cxnLst/>
            <a:rect l="l" t="t" r="r" b="b"/>
            <a:pathLst>
              <a:path w="1513839" h="471169">
                <a:moveTo>
                  <a:pt x="0" y="470915"/>
                </a:moveTo>
                <a:lnTo>
                  <a:pt x="1513331" y="470915"/>
                </a:lnTo>
                <a:lnTo>
                  <a:pt x="1513331" y="0"/>
                </a:lnTo>
                <a:lnTo>
                  <a:pt x="0" y="0"/>
                </a:lnTo>
                <a:lnTo>
                  <a:pt x="0" y="470915"/>
                </a:lnTo>
                <a:close/>
              </a:path>
            </a:pathLst>
          </a:custGeom>
          <a:ln w="12192">
            <a:solidFill>
              <a:srgbClr val="000000"/>
            </a:solidFill>
          </a:ln>
        </p:spPr>
        <p:txBody>
          <a:bodyPr wrap="square" lIns="0" tIns="0" rIns="0" bIns="0" rtlCol="0"/>
          <a:lstStyle/>
          <a:p>
            <a:endParaRPr sz="1350"/>
          </a:p>
        </p:txBody>
      </p:sp>
      <p:sp>
        <p:nvSpPr>
          <p:cNvPr id="10" name="object 10"/>
          <p:cNvSpPr txBox="1"/>
          <p:nvPr/>
        </p:nvSpPr>
        <p:spPr>
          <a:xfrm>
            <a:off x="2228469" y="2440591"/>
            <a:ext cx="969645" cy="425116"/>
          </a:xfrm>
          <a:prstGeom prst="rect">
            <a:avLst/>
          </a:prstGeom>
        </p:spPr>
        <p:txBody>
          <a:bodyPr vert="horz" wrap="square" lIns="0" tIns="9525" rIns="0" bIns="0" rtlCol="0">
            <a:spAutoFit/>
          </a:bodyPr>
          <a:lstStyle/>
          <a:p>
            <a:pPr marL="9525" marR="3810" indent="269558">
              <a:spcBef>
                <a:spcPts val="75"/>
              </a:spcBef>
            </a:pPr>
            <a:r>
              <a:rPr sz="1350" spc="-4" dirty="0">
                <a:latin typeface="Calibri"/>
                <a:cs typeface="Calibri"/>
              </a:rPr>
              <a:t>Signal </a:t>
            </a:r>
            <a:r>
              <a:rPr sz="1350" dirty="0">
                <a:latin typeface="Calibri"/>
                <a:cs typeface="Calibri"/>
              </a:rPr>
              <a:t> </a:t>
            </a:r>
            <a:r>
              <a:rPr sz="1350" spc="-4" dirty="0">
                <a:latin typeface="Calibri"/>
                <a:cs typeface="Calibri"/>
              </a:rPr>
              <a:t>Conditioner</a:t>
            </a:r>
            <a:r>
              <a:rPr sz="1350" spc="-45" dirty="0">
                <a:latin typeface="Calibri"/>
                <a:cs typeface="Calibri"/>
              </a:rPr>
              <a:t> </a:t>
            </a:r>
            <a:r>
              <a:rPr sz="1350" dirty="0">
                <a:latin typeface="Calibri"/>
                <a:cs typeface="Calibri"/>
              </a:rPr>
              <a:t>1</a:t>
            </a:r>
            <a:endParaRPr sz="1350">
              <a:latin typeface="Calibri"/>
              <a:cs typeface="Calibri"/>
            </a:endParaRPr>
          </a:p>
        </p:txBody>
      </p:sp>
      <p:sp>
        <p:nvSpPr>
          <p:cNvPr id="11" name="object 11"/>
          <p:cNvSpPr/>
          <p:nvPr/>
        </p:nvSpPr>
        <p:spPr>
          <a:xfrm>
            <a:off x="2143125" y="2916936"/>
            <a:ext cx="1137285" cy="375285"/>
          </a:xfrm>
          <a:custGeom>
            <a:avLst/>
            <a:gdLst/>
            <a:ahLst/>
            <a:cxnLst/>
            <a:rect l="l" t="t" r="r" b="b"/>
            <a:pathLst>
              <a:path w="1516379" h="500380">
                <a:moveTo>
                  <a:pt x="0" y="499872"/>
                </a:moveTo>
                <a:lnTo>
                  <a:pt x="1516379" y="499872"/>
                </a:lnTo>
                <a:lnTo>
                  <a:pt x="1516379" y="0"/>
                </a:lnTo>
                <a:lnTo>
                  <a:pt x="0" y="0"/>
                </a:lnTo>
                <a:lnTo>
                  <a:pt x="0" y="499872"/>
                </a:lnTo>
                <a:close/>
              </a:path>
            </a:pathLst>
          </a:custGeom>
          <a:ln w="12192">
            <a:solidFill>
              <a:srgbClr val="000000"/>
            </a:solidFill>
          </a:ln>
        </p:spPr>
        <p:txBody>
          <a:bodyPr wrap="square" lIns="0" tIns="0" rIns="0" bIns="0" rtlCol="0"/>
          <a:lstStyle/>
          <a:p>
            <a:endParaRPr sz="1350"/>
          </a:p>
        </p:txBody>
      </p:sp>
      <p:sp>
        <p:nvSpPr>
          <p:cNvPr id="12" name="object 12"/>
          <p:cNvSpPr txBox="1"/>
          <p:nvPr/>
        </p:nvSpPr>
        <p:spPr>
          <a:xfrm>
            <a:off x="2227325" y="2877692"/>
            <a:ext cx="969645" cy="425116"/>
          </a:xfrm>
          <a:prstGeom prst="rect">
            <a:avLst/>
          </a:prstGeom>
        </p:spPr>
        <p:txBody>
          <a:bodyPr vert="horz" wrap="square" lIns="0" tIns="9525" rIns="0" bIns="0" rtlCol="0">
            <a:spAutoFit/>
          </a:bodyPr>
          <a:lstStyle/>
          <a:p>
            <a:pPr marL="9525" marR="3810" indent="269558">
              <a:spcBef>
                <a:spcPts val="75"/>
              </a:spcBef>
            </a:pPr>
            <a:r>
              <a:rPr sz="1350" spc="-4" dirty="0">
                <a:latin typeface="Calibri"/>
                <a:cs typeface="Calibri"/>
              </a:rPr>
              <a:t>Signal </a:t>
            </a:r>
            <a:r>
              <a:rPr sz="1350" dirty="0">
                <a:latin typeface="Calibri"/>
                <a:cs typeface="Calibri"/>
              </a:rPr>
              <a:t> </a:t>
            </a:r>
            <a:r>
              <a:rPr sz="1350" spc="-4" dirty="0">
                <a:latin typeface="Calibri"/>
                <a:cs typeface="Calibri"/>
              </a:rPr>
              <a:t>Conditioner</a:t>
            </a:r>
            <a:r>
              <a:rPr sz="1350" spc="-45" dirty="0">
                <a:latin typeface="Calibri"/>
                <a:cs typeface="Calibri"/>
              </a:rPr>
              <a:t> </a:t>
            </a:r>
            <a:r>
              <a:rPr sz="1350" dirty="0">
                <a:latin typeface="Calibri"/>
                <a:cs typeface="Calibri"/>
              </a:rPr>
              <a:t>2</a:t>
            </a:r>
            <a:endParaRPr sz="1350">
              <a:latin typeface="Calibri"/>
              <a:cs typeface="Calibri"/>
            </a:endParaRPr>
          </a:p>
        </p:txBody>
      </p:sp>
      <p:sp>
        <p:nvSpPr>
          <p:cNvPr id="13" name="object 13"/>
          <p:cNvSpPr/>
          <p:nvPr/>
        </p:nvSpPr>
        <p:spPr>
          <a:xfrm>
            <a:off x="2143125" y="3913632"/>
            <a:ext cx="1107758" cy="375285"/>
          </a:xfrm>
          <a:custGeom>
            <a:avLst/>
            <a:gdLst/>
            <a:ahLst/>
            <a:cxnLst/>
            <a:rect l="l" t="t" r="r" b="b"/>
            <a:pathLst>
              <a:path w="1477010" h="500379">
                <a:moveTo>
                  <a:pt x="0" y="499872"/>
                </a:moveTo>
                <a:lnTo>
                  <a:pt x="1476755" y="499872"/>
                </a:lnTo>
                <a:lnTo>
                  <a:pt x="1476755" y="0"/>
                </a:lnTo>
                <a:lnTo>
                  <a:pt x="0" y="0"/>
                </a:lnTo>
                <a:lnTo>
                  <a:pt x="0" y="499872"/>
                </a:lnTo>
                <a:close/>
              </a:path>
            </a:pathLst>
          </a:custGeom>
          <a:ln w="12191">
            <a:solidFill>
              <a:srgbClr val="000000"/>
            </a:solidFill>
          </a:ln>
        </p:spPr>
        <p:txBody>
          <a:bodyPr wrap="square" lIns="0" tIns="0" rIns="0" bIns="0" rtlCol="0"/>
          <a:lstStyle/>
          <a:p>
            <a:endParaRPr sz="1350"/>
          </a:p>
        </p:txBody>
      </p:sp>
      <p:sp>
        <p:nvSpPr>
          <p:cNvPr id="14" name="object 14"/>
          <p:cNvSpPr txBox="1"/>
          <p:nvPr/>
        </p:nvSpPr>
        <p:spPr>
          <a:xfrm>
            <a:off x="2209991" y="3874864"/>
            <a:ext cx="972979" cy="425116"/>
          </a:xfrm>
          <a:prstGeom prst="rect">
            <a:avLst/>
          </a:prstGeom>
        </p:spPr>
        <p:txBody>
          <a:bodyPr vert="horz" wrap="square" lIns="0" tIns="9525" rIns="0" bIns="0" rtlCol="0">
            <a:spAutoFit/>
          </a:bodyPr>
          <a:lstStyle/>
          <a:p>
            <a:pPr marL="9525" marR="3810" indent="271939">
              <a:spcBef>
                <a:spcPts val="75"/>
              </a:spcBef>
            </a:pPr>
            <a:r>
              <a:rPr sz="1350" spc="-4" dirty="0">
                <a:latin typeface="Calibri"/>
                <a:cs typeface="Calibri"/>
              </a:rPr>
              <a:t>Signal </a:t>
            </a:r>
            <a:r>
              <a:rPr sz="1350" dirty="0">
                <a:latin typeface="Calibri"/>
                <a:cs typeface="Calibri"/>
              </a:rPr>
              <a:t> </a:t>
            </a:r>
            <a:r>
              <a:rPr sz="1350" spc="-4" dirty="0">
                <a:latin typeface="Calibri"/>
                <a:cs typeface="Calibri"/>
              </a:rPr>
              <a:t>Conditioner</a:t>
            </a:r>
            <a:r>
              <a:rPr sz="1350" spc="-45" dirty="0">
                <a:latin typeface="Calibri"/>
                <a:cs typeface="Calibri"/>
              </a:rPr>
              <a:t> </a:t>
            </a:r>
            <a:r>
              <a:rPr sz="1350" dirty="0">
                <a:latin typeface="Calibri"/>
                <a:cs typeface="Calibri"/>
              </a:rPr>
              <a:t>n</a:t>
            </a:r>
            <a:endParaRPr sz="1350">
              <a:latin typeface="Calibri"/>
              <a:cs typeface="Calibri"/>
            </a:endParaRPr>
          </a:p>
        </p:txBody>
      </p:sp>
      <p:sp>
        <p:nvSpPr>
          <p:cNvPr id="15" name="object 15"/>
          <p:cNvSpPr/>
          <p:nvPr/>
        </p:nvSpPr>
        <p:spPr>
          <a:xfrm>
            <a:off x="2638615" y="3374707"/>
            <a:ext cx="0" cy="382905"/>
          </a:xfrm>
          <a:custGeom>
            <a:avLst/>
            <a:gdLst/>
            <a:ahLst/>
            <a:cxnLst/>
            <a:rect l="l" t="t" r="r" b="b"/>
            <a:pathLst>
              <a:path h="510539">
                <a:moveTo>
                  <a:pt x="0" y="0"/>
                </a:moveTo>
                <a:lnTo>
                  <a:pt x="0" y="510158"/>
                </a:lnTo>
              </a:path>
            </a:pathLst>
          </a:custGeom>
          <a:ln w="28956">
            <a:solidFill>
              <a:srgbClr val="000000"/>
            </a:solidFill>
            <a:prstDash val="dash"/>
          </a:ln>
        </p:spPr>
        <p:txBody>
          <a:bodyPr wrap="square" lIns="0" tIns="0" rIns="0" bIns="0" rtlCol="0"/>
          <a:lstStyle/>
          <a:p>
            <a:endParaRPr sz="1350"/>
          </a:p>
        </p:txBody>
      </p:sp>
      <p:sp>
        <p:nvSpPr>
          <p:cNvPr id="16" name="object 16"/>
          <p:cNvSpPr/>
          <p:nvPr/>
        </p:nvSpPr>
        <p:spPr>
          <a:xfrm>
            <a:off x="3967352" y="2738628"/>
            <a:ext cx="946785" cy="760095"/>
          </a:xfrm>
          <a:custGeom>
            <a:avLst/>
            <a:gdLst/>
            <a:ahLst/>
            <a:cxnLst/>
            <a:rect l="l" t="t" r="r" b="b"/>
            <a:pathLst>
              <a:path w="1262379" h="1013460">
                <a:moveTo>
                  <a:pt x="0" y="1013460"/>
                </a:moveTo>
                <a:lnTo>
                  <a:pt x="1261872" y="1013460"/>
                </a:lnTo>
                <a:lnTo>
                  <a:pt x="1261872" y="0"/>
                </a:lnTo>
                <a:lnTo>
                  <a:pt x="0" y="0"/>
                </a:lnTo>
                <a:lnTo>
                  <a:pt x="0" y="1013460"/>
                </a:lnTo>
                <a:close/>
              </a:path>
            </a:pathLst>
          </a:custGeom>
          <a:ln w="12192">
            <a:solidFill>
              <a:srgbClr val="000000"/>
            </a:solidFill>
          </a:ln>
        </p:spPr>
        <p:txBody>
          <a:bodyPr wrap="square" lIns="0" tIns="0" rIns="0" bIns="0" rtlCol="0"/>
          <a:lstStyle/>
          <a:p>
            <a:endParaRPr sz="1350"/>
          </a:p>
        </p:txBody>
      </p:sp>
      <p:sp>
        <p:nvSpPr>
          <p:cNvPr id="17" name="object 17"/>
          <p:cNvSpPr txBox="1"/>
          <p:nvPr/>
        </p:nvSpPr>
        <p:spPr>
          <a:xfrm>
            <a:off x="4031646" y="2995231"/>
            <a:ext cx="818198" cy="217367"/>
          </a:xfrm>
          <a:prstGeom prst="rect">
            <a:avLst/>
          </a:prstGeom>
        </p:spPr>
        <p:txBody>
          <a:bodyPr vert="horz" wrap="square" lIns="0" tIns="9525" rIns="0" bIns="0" rtlCol="0">
            <a:spAutoFit/>
          </a:bodyPr>
          <a:lstStyle/>
          <a:p>
            <a:pPr marL="9525">
              <a:spcBef>
                <a:spcPts val="75"/>
              </a:spcBef>
            </a:pPr>
            <a:r>
              <a:rPr sz="1350" dirty="0">
                <a:latin typeface="Calibri"/>
                <a:cs typeface="Calibri"/>
              </a:rPr>
              <a:t>Mu</a:t>
            </a:r>
            <a:r>
              <a:rPr sz="1350" spc="-8" dirty="0">
                <a:latin typeface="Calibri"/>
                <a:cs typeface="Calibri"/>
              </a:rPr>
              <a:t>l</a:t>
            </a:r>
            <a:r>
              <a:rPr sz="1350" dirty="0">
                <a:latin typeface="Calibri"/>
                <a:cs typeface="Calibri"/>
              </a:rPr>
              <a:t>t</a:t>
            </a:r>
            <a:r>
              <a:rPr sz="1350" spc="-8" dirty="0">
                <a:latin typeface="Calibri"/>
                <a:cs typeface="Calibri"/>
              </a:rPr>
              <a:t>i</a:t>
            </a:r>
            <a:r>
              <a:rPr sz="1350" spc="-4" dirty="0">
                <a:latin typeface="Calibri"/>
                <a:cs typeface="Calibri"/>
              </a:rPr>
              <a:t>pl</a:t>
            </a:r>
            <a:r>
              <a:rPr sz="1350" spc="-19" dirty="0">
                <a:latin typeface="Calibri"/>
                <a:cs typeface="Calibri"/>
              </a:rPr>
              <a:t>e</a:t>
            </a:r>
            <a:r>
              <a:rPr sz="1350" spc="-38" dirty="0">
                <a:latin typeface="Calibri"/>
                <a:cs typeface="Calibri"/>
              </a:rPr>
              <a:t>x</a:t>
            </a:r>
            <a:r>
              <a:rPr sz="1350" dirty="0">
                <a:latin typeface="Calibri"/>
                <a:cs typeface="Calibri"/>
              </a:rPr>
              <a:t>er</a:t>
            </a:r>
            <a:endParaRPr sz="1350">
              <a:latin typeface="Calibri"/>
              <a:cs typeface="Calibri"/>
            </a:endParaRPr>
          </a:p>
        </p:txBody>
      </p:sp>
      <p:grpSp>
        <p:nvGrpSpPr>
          <p:cNvPr id="18" name="object 18"/>
          <p:cNvGrpSpPr/>
          <p:nvPr/>
        </p:nvGrpSpPr>
        <p:grpSpPr>
          <a:xfrm>
            <a:off x="1720787" y="2520887"/>
            <a:ext cx="6097429" cy="1626870"/>
            <a:chOff x="2294382" y="2218182"/>
            <a:chExt cx="8129905" cy="2169160"/>
          </a:xfrm>
        </p:grpSpPr>
        <p:sp>
          <p:nvSpPr>
            <p:cNvPr id="19" name="object 19"/>
            <p:cNvSpPr/>
            <p:nvPr/>
          </p:nvSpPr>
          <p:spPr>
            <a:xfrm>
              <a:off x="4335018" y="2385059"/>
              <a:ext cx="965835" cy="1951355"/>
            </a:xfrm>
            <a:custGeom>
              <a:avLst/>
              <a:gdLst/>
              <a:ahLst/>
              <a:cxnLst/>
              <a:rect l="l" t="t" r="r" b="b"/>
              <a:pathLst>
                <a:path w="965835" h="1951354">
                  <a:moveTo>
                    <a:pt x="951738" y="1037082"/>
                  </a:moveTo>
                  <a:lnTo>
                    <a:pt x="928878" y="1025652"/>
                  </a:lnTo>
                  <a:lnTo>
                    <a:pt x="875538" y="998982"/>
                  </a:lnTo>
                  <a:lnTo>
                    <a:pt x="875538" y="1025652"/>
                  </a:lnTo>
                  <a:lnTo>
                    <a:pt x="464439" y="1025652"/>
                  </a:lnTo>
                  <a:lnTo>
                    <a:pt x="464439" y="1928495"/>
                  </a:lnTo>
                  <a:lnTo>
                    <a:pt x="0" y="1928495"/>
                  </a:lnTo>
                  <a:lnTo>
                    <a:pt x="0" y="1951355"/>
                  </a:lnTo>
                  <a:lnTo>
                    <a:pt x="487299" y="1951355"/>
                  </a:lnTo>
                  <a:lnTo>
                    <a:pt x="487299" y="1939925"/>
                  </a:lnTo>
                  <a:lnTo>
                    <a:pt x="487299" y="1928495"/>
                  </a:lnTo>
                  <a:lnTo>
                    <a:pt x="487299" y="1048512"/>
                  </a:lnTo>
                  <a:lnTo>
                    <a:pt x="875538" y="1048512"/>
                  </a:lnTo>
                  <a:lnTo>
                    <a:pt x="875538" y="1075182"/>
                  </a:lnTo>
                  <a:lnTo>
                    <a:pt x="928865" y="1048512"/>
                  </a:lnTo>
                  <a:lnTo>
                    <a:pt x="951738" y="1037082"/>
                  </a:lnTo>
                  <a:close/>
                </a:path>
                <a:path w="965835" h="1951354">
                  <a:moveTo>
                    <a:pt x="965581" y="575310"/>
                  </a:moveTo>
                  <a:lnTo>
                    <a:pt x="942708" y="563880"/>
                  </a:lnTo>
                  <a:lnTo>
                    <a:pt x="889381" y="537210"/>
                  </a:lnTo>
                  <a:lnTo>
                    <a:pt x="889381" y="563880"/>
                  </a:lnTo>
                  <a:lnTo>
                    <a:pt x="39624" y="563880"/>
                  </a:lnTo>
                  <a:lnTo>
                    <a:pt x="39624" y="586740"/>
                  </a:lnTo>
                  <a:lnTo>
                    <a:pt x="889381" y="586740"/>
                  </a:lnTo>
                  <a:lnTo>
                    <a:pt x="889381" y="613410"/>
                  </a:lnTo>
                  <a:lnTo>
                    <a:pt x="942721" y="586740"/>
                  </a:lnTo>
                  <a:lnTo>
                    <a:pt x="965581" y="575310"/>
                  </a:lnTo>
                  <a:close/>
                </a:path>
                <a:path w="965835" h="1951354">
                  <a:moveTo>
                    <a:pt x="965581" y="371729"/>
                  </a:moveTo>
                  <a:lnTo>
                    <a:pt x="942721" y="360299"/>
                  </a:lnTo>
                  <a:lnTo>
                    <a:pt x="889381" y="333629"/>
                  </a:lnTo>
                  <a:lnTo>
                    <a:pt x="889381" y="360299"/>
                  </a:lnTo>
                  <a:lnTo>
                    <a:pt x="514096" y="360299"/>
                  </a:lnTo>
                  <a:lnTo>
                    <a:pt x="514096" y="22860"/>
                  </a:lnTo>
                  <a:lnTo>
                    <a:pt x="514096" y="11430"/>
                  </a:lnTo>
                  <a:lnTo>
                    <a:pt x="514096" y="0"/>
                  </a:lnTo>
                  <a:lnTo>
                    <a:pt x="39624" y="0"/>
                  </a:lnTo>
                  <a:lnTo>
                    <a:pt x="39624" y="22860"/>
                  </a:lnTo>
                  <a:lnTo>
                    <a:pt x="491236" y="22860"/>
                  </a:lnTo>
                  <a:lnTo>
                    <a:pt x="491236" y="383159"/>
                  </a:lnTo>
                  <a:lnTo>
                    <a:pt x="889381" y="383159"/>
                  </a:lnTo>
                  <a:lnTo>
                    <a:pt x="889381" y="409829"/>
                  </a:lnTo>
                  <a:lnTo>
                    <a:pt x="942708" y="383159"/>
                  </a:lnTo>
                  <a:lnTo>
                    <a:pt x="965581" y="371729"/>
                  </a:lnTo>
                  <a:close/>
                </a:path>
              </a:pathLst>
            </a:custGeom>
            <a:solidFill>
              <a:srgbClr val="000000"/>
            </a:solidFill>
          </p:spPr>
          <p:txBody>
            <a:bodyPr wrap="square" lIns="0" tIns="0" rIns="0" bIns="0" rtlCol="0"/>
            <a:lstStyle/>
            <a:p>
              <a:endParaRPr sz="1350"/>
            </a:p>
          </p:txBody>
        </p:sp>
        <p:sp>
          <p:nvSpPr>
            <p:cNvPr id="20" name="object 20"/>
            <p:cNvSpPr/>
            <p:nvPr/>
          </p:nvSpPr>
          <p:spPr>
            <a:xfrm>
              <a:off x="2294382" y="2358389"/>
              <a:ext cx="591185" cy="2028825"/>
            </a:xfrm>
            <a:custGeom>
              <a:avLst/>
              <a:gdLst/>
              <a:ahLst/>
              <a:cxnLst/>
              <a:rect l="l" t="t" r="r" b="b"/>
              <a:pathLst>
                <a:path w="591185" h="2028825">
                  <a:moveTo>
                    <a:pt x="590804" y="1990344"/>
                  </a:moveTo>
                  <a:lnTo>
                    <a:pt x="567944" y="1978914"/>
                  </a:lnTo>
                  <a:lnTo>
                    <a:pt x="514604" y="1952244"/>
                  </a:lnTo>
                  <a:lnTo>
                    <a:pt x="514604" y="1978914"/>
                  </a:lnTo>
                  <a:lnTo>
                    <a:pt x="0" y="1978914"/>
                  </a:lnTo>
                  <a:lnTo>
                    <a:pt x="0" y="2001774"/>
                  </a:lnTo>
                  <a:lnTo>
                    <a:pt x="514604" y="2001774"/>
                  </a:lnTo>
                  <a:lnTo>
                    <a:pt x="514604" y="2028444"/>
                  </a:lnTo>
                  <a:lnTo>
                    <a:pt x="567944" y="2001774"/>
                  </a:lnTo>
                  <a:lnTo>
                    <a:pt x="590804" y="1990344"/>
                  </a:lnTo>
                  <a:close/>
                </a:path>
                <a:path w="591185" h="2028825">
                  <a:moveTo>
                    <a:pt x="590804" y="562356"/>
                  </a:moveTo>
                  <a:lnTo>
                    <a:pt x="567931" y="550926"/>
                  </a:lnTo>
                  <a:lnTo>
                    <a:pt x="514604" y="524256"/>
                  </a:lnTo>
                  <a:lnTo>
                    <a:pt x="514604" y="550926"/>
                  </a:lnTo>
                  <a:lnTo>
                    <a:pt x="0" y="550926"/>
                  </a:lnTo>
                  <a:lnTo>
                    <a:pt x="0" y="573786"/>
                  </a:lnTo>
                  <a:lnTo>
                    <a:pt x="514604" y="573786"/>
                  </a:lnTo>
                  <a:lnTo>
                    <a:pt x="514604" y="600456"/>
                  </a:lnTo>
                  <a:lnTo>
                    <a:pt x="567944" y="573786"/>
                  </a:lnTo>
                  <a:lnTo>
                    <a:pt x="590804" y="562356"/>
                  </a:lnTo>
                  <a:close/>
                </a:path>
                <a:path w="591185" h="2028825">
                  <a:moveTo>
                    <a:pt x="590804" y="38100"/>
                  </a:moveTo>
                  <a:lnTo>
                    <a:pt x="567944" y="26670"/>
                  </a:lnTo>
                  <a:lnTo>
                    <a:pt x="514604" y="0"/>
                  </a:lnTo>
                  <a:lnTo>
                    <a:pt x="514604" y="26670"/>
                  </a:lnTo>
                  <a:lnTo>
                    <a:pt x="0" y="26670"/>
                  </a:lnTo>
                  <a:lnTo>
                    <a:pt x="0" y="49530"/>
                  </a:lnTo>
                  <a:lnTo>
                    <a:pt x="514604" y="49530"/>
                  </a:lnTo>
                  <a:lnTo>
                    <a:pt x="514604" y="76200"/>
                  </a:lnTo>
                  <a:lnTo>
                    <a:pt x="567931" y="49530"/>
                  </a:lnTo>
                  <a:lnTo>
                    <a:pt x="590804" y="38100"/>
                  </a:lnTo>
                  <a:close/>
                </a:path>
              </a:pathLst>
            </a:custGeom>
            <a:solidFill>
              <a:srgbClr val="000000"/>
            </a:solidFill>
          </p:spPr>
          <p:txBody>
            <a:bodyPr wrap="square" lIns="0" tIns="0" rIns="0" bIns="0" rtlCol="0"/>
            <a:lstStyle/>
            <a:p>
              <a:endParaRPr sz="1350"/>
            </a:p>
          </p:txBody>
        </p:sp>
        <p:sp>
          <p:nvSpPr>
            <p:cNvPr id="21" name="object 21"/>
            <p:cNvSpPr/>
            <p:nvPr/>
          </p:nvSpPr>
          <p:spPr>
            <a:xfrm>
              <a:off x="7072884" y="2508504"/>
              <a:ext cx="1193800" cy="1013460"/>
            </a:xfrm>
            <a:custGeom>
              <a:avLst/>
              <a:gdLst/>
              <a:ahLst/>
              <a:cxnLst/>
              <a:rect l="l" t="t" r="r" b="b"/>
              <a:pathLst>
                <a:path w="1193800" h="1013460">
                  <a:moveTo>
                    <a:pt x="0" y="1013460"/>
                  </a:moveTo>
                  <a:lnTo>
                    <a:pt x="1193292" y="1013460"/>
                  </a:lnTo>
                  <a:lnTo>
                    <a:pt x="1193292" y="0"/>
                  </a:lnTo>
                  <a:lnTo>
                    <a:pt x="0" y="0"/>
                  </a:lnTo>
                  <a:lnTo>
                    <a:pt x="0" y="1013460"/>
                  </a:lnTo>
                  <a:close/>
                </a:path>
              </a:pathLst>
            </a:custGeom>
            <a:ln w="12192">
              <a:solidFill>
                <a:srgbClr val="000000"/>
              </a:solidFill>
            </a:ln>
          </p:spPr>
          <p:txBody>
            <a:bodyPr wrap="square" lIns="0" tIns="0" rIns="0" bIns="0" rtlCol="0"/>
            <a:lstStyle/>
            <a:p>
              <a:endParaRPr sz="1350"/>
            </a:p>
          </p:txBody>
        </p:sp>
        <p:sp>
          <p:nvSpPr>
            <p:cNvPr id="22" name="object 22"/>
            <p:cNvSpPr/>
            <p:nvPr/>
          </p:nvSpPr>
          <p:spPr>
            <a:xfrm>
              <a:off x="9559289" y="2990850"/>
              <a:ext cx="530225" cy="76200"/>
            </a:xfrm>
            <a:custGeom>
              <a:avLst/>
              <a:gdLst/>
              <a:ahLst/>
              <a:cxnLst/>
              <a:rect l="l" t="t" r="r" b="b"/>
              <a:pathLst>
                <a:path w="530225" h="76200">
                  <a:moveTo>
                    <a:pt x="453643" y="0"/>
                  </a:moveTo>
                  <a:lnTo>
                    <a:pt x="453643" y="76200"/>
                  </a:lnTo>
                  <a:lnTo>
                    <a:pt x="506983" y="49529"/>
                  </a:lnTo>
                  <a:lnTo>
                    <a:pt x="466343" y="49529"/>
                  </a:lnTo>
                  <a:lnTo>
                    <a:pt x="466343" y="26670"/>
                  </a:lnTo>
                  <a:lnTo>
                    <a:pt x="506983" y="26670"/>
                  </a:lnTo>
                  <a:lnTo>
                    <a:pt x="453643" y="0"/>
                  </a:lnTo>
                  <a:close/>
                </a:path>
                <a:path w="530225" h="76200">
                  <a:moveTo>
                    <a:pt x="453643" y="26670"/>
                  </a:moveTo>
                  <a:lnTo>
                    <a:pt x="0" y="26670"/>
                  </a:lnTo>
                  <a:lnTo>
                    <a:pt x="0" y="49529"/>
                  </a:lnTo>
                  <a:lnTo>
                    <a:pt x="453643" y="49529"/>
                  </a:lnTo>
                  <a:lnTo>
                    <a:pt x="453643" y="26670"/>
                  </a:lnTo>
                  <a:close/>
                </a:path>
                <a:path w="530225" h="76200">
                  <a:moveTo>
                    <a:pt x="506983" y="26670"/>
                  </a:moveTo>
                  <a:lnTo>
                    <a:pt x="466343" y="26670"/>
                  </a:lnTo>
                  <a:lnTo>
                    <a:pt x="466343" y="49529"/>
                  </a:lnTo>
                  <a:lnTo>
                    <a:pt x="506983" y="49529"/>
                  </a:lnTo>
                  <a:lnTo>
                    <a:pt x="529843" y="38100"/>
                  </a:lnTo>
                  <a:lnTo>
                    <a:pt x="506983" y="26670"/>
                  </a:lnTo>
                  <a:close/>
                </a:path>
              </a:pathLst>
            </a:custGeom>
            <a:solidFill>
              <a:srgbClr val="000000"/>
            </a:solidFill>
          </p:spPr>
          <p:txBody>
            <a:bodyPr wrap="square" lIns="0" tIns="0" rIns="0" bIns="0" rtlCol="0"/>
            <a:lstStyle/>
            <a:p>
              <a:endParaRPr sz="1350"/>
            </a:p>
          </p:txBody>
        </p:sp>
        <p:sp>
          <p:nvSpPr>
            <p:cNvPr id="23" name="object 23"/>
            <p:cNvSpPr/>
            <p:nvPr/>
          </p:nvSpPr>
          <p:spPr>
            <a:xfrm>
              <a:off x="10089641" y="2239518"/>
              <a:ext cx="0" cy="1687195"/>
            </a:xfrm>
            <a:custGeom>
              <a:avLst/>
              <a:gdLst/>
              <a:ahLst/>
              <a:cxnLst/>
              <a:rect l="l" t="t" r="r" b="b"/>
              <a:pathLst>
                <a:path h="1687195">
                  <a:moveTo>
                    <a:pt x="0" y="1686687"/>
                  </a:moveTo>
                  <a:lnTo>
                    <a:pt x="0" y="0"/>
                  </a:lnTo>
                </a:path>
              </a:pathLst>
            </a:custGeom>
            <a:ln w="22860">
              <a:solidFill>
                <a:srgbClr val="000000"/>
              </a:solidFill>
            </a:ln>
          </p:spPr>
          <p:txBody>
            <a:bodyPr wrap="square" lIns="0" tIns="0" rIns="0" bIns="0" rtlCol="0"/>
            <a:lstStyle/>
            <a:p>
              <a:endParaRPr sz="1350"/>
            </a:p>
          </p:txBody>
        </p:sp>
        <p:sp>
          <p:nvSpPr>
            <p:cNvPr id="24" name="object 24"/>
            <p:cNvSpPr/>
            <p:nvPr/>
          </p:nvSpPr>
          <p:spPr>
            <a:xfrm>
              <a:off x="10086594" y="2218181"/>
              <a:ext cx="337820" cy="577850"/>
            </a:xfrm>
            <a:custGeom>
              <a:avLst/>
              <a:gdLst/>
              <a:ahLst/>
              <a:cxnLst/>
              <a:rect l="l" t="t" r="r" b="b"/>
              <a:pathLst>
                <a:path w="337820" h="577850">
                  <a:moveTo>
                    <a:pt x="337566" y="539496"/>
                  </a:moveTo>
                  <a:lnTo>
                    <a:pt x="314706" y="528066"/>
                  </a:lnTo>
                  <a:lnTo>
                    <a:pt x="261366" y="501396"/>
                  </a:lnTo>
                  <a:lnTo>
                    <a:pt x="261366" y="528066"/>
                  </a:lnTo>
                  <a:lnTo>
                    <a:pt x="0" y="528066"/>
                  </a:lnTo>
                  <a:lnTo>
                    <a:pt x="0" y="550926"/>
                  </a:lnTo>
                  <a:lnTo>
                    <a:pt x="261366" y="550926"/>
                  </a:lnTo>
                  <a:lnTo>
                    <a:pt x="261366" y="577596"/>
                  </a:lnTo>
                  <a:lnTo>
                    <a:pt x="314693" y="550926"/>
                  </a:lnTo>
                  <a:lnTo>
                    <a:pt x="337566" y="539496"/>
                  </a:lnTo>
                  <a:close/>
                </a:path>
                <a:path w="337820" h="577850">
                  <a:moveTo>
                    <a:pt x="337566" y="38100"/>
                  </a:moveTo>
                  <a:lnTo>
                    <a:pt x="314693" y="26670"/>
                  </a:lnTo>
                  <a:lnTo>
                    <a:pt x="261366" y="0"/>
                  </a:lnTo>
                  <a:lnTo>
                    <a:pt x="261366" y="26670"/>
                  </a:lnTo>
                  <a:lnTo>
                    <a:pt x="0" y="26670"/>
                  </a:lnTo>
                  <a:lnTo>
                    <a:pt x="0" y="49530"/>
                  </a:lnTo>
                  <a:lnTo>
                    <a:pt x="261366" y="49530"/>
                  </a:lnTo>
                  <a:lnTo>
                    <a:pt x="261366" y="76200"/>
                  </a:lnTo>
                  <a:lnTo>
                    <a:pt x="314706" y="49530"/>
                  </a:lnTo>
                  <a:lnTo>
                    <a:pt x="337566" y="38100"/>
                  </a:lnTo>
                  <a:close/>
                </a:path>
              </a:pathLst>
            </a:custGeom>
            <a:solidFill>
              <a:srgbClr val="000000"/>
            </a:solidFill>
          </p:spPr>
          <p:txBody>
            <a:bodyPr wrap="square" lIns="0" tIns="0" rIns="0" bIns="0" rtlCol="0"/>
            <a:lstStyle/>
            <a:p>
              <a:endParaRPr sz="1350"/>
            </a:p>
          </p:txBody>
        </p:sp>
      </p:grpSp>
      <p:sp>
        <p:nvSpPr>
          <p:cNvPr id="25" name="object 25"/>
          <p:cNvSpPr txBox="1"/>
          <p:nvPr/>
        </p:nvSpPr>
        <p:spPr>
          <a:xfrm>
            <a:off x="7878317" y="2412016"/>
            <a:ext cx="1128713"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Digital</a:t>
            </a:r>
            <a:r>
              <a:rPr sz="1350" spc="-23" dirty="0">
                <a:latin typeface="Calibri"/>
                <a:cs typeface="Calibri"/>
              </a:rPr>
              <a:t> </a:t>
            </a:r>
            <a:r>
              <a:rPr sz="1350" spc="-11" dirty="0">
                <a:latin typeface="Calibri"/>
                <a:cs typeface="Calibri"/>
              </a:rPr>
              <a:t>Recorder</a:t>
            </a:r>
            <a:endParaRPr sz="1350">
              <a:latin typeface="Calibri"/>
              <a:cs typeface="Calibri"/>
            </a:endParaRPr>
          </a:p>
        </p:txBody>
      </p:sp>
      <p:sp>
        <p:nvSpPr>
          <p:cNvPr id="26" name="object 26"/>
          <p:cNvSpPr txBox="1"/>
          <p:nvPr/>
        </p:nvSpPr>
        <p:spPr>
          <a:xfrm>
            <a:off x="7878317" y="2799969"/>
            <a:ext cx="997268"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Digital</a:t>
            </a:r>
            <a:r>
              <a:rPr sz="1350" spc="-26" dirty="0">
                <a:latin typeface="Calibri"/>
                <a:cs typeface="Calibri"/>
              </a:rPr>
              <a:t> </a:t>
            </a:r>
            <a:r>
              <a:rPr sz="1350" spc="-8" dirty="0">
                <a:latin typeface="Calibri"/>
                <a:cs typeface="Calibri"/>
              </a:rPr>
              <a:t>Display</a:t>
            </a:r>
            <a:endParaRPr sz="1350">
              <a:latin typeface="Calibri"/>
              <a:cs typeface="Calibri"/>
            </a:endParaRPr>
          </a:p>
        </p:txBody>
      </p:sp>
      <p:sp>
        <p:nvSpPr>
          <p:cNvPr id="27" name="object 27"/>
          <p:cNvSpPr txBox="1"/>
          <p:nvPr/>
        </p:nvSpPr>
        <p:spPr>
          <a:xfrm>
            <a:off x="2073688" y="4571143"/>
            <a:ext cx="2265045" cy="217367"/>
          </a:xfrm>
          <a:prstGeom prst="rect">
            <a:avLst/>
          </a:prstGeom>
        </p:spPr>
        <p:txBody>
          <a:bodyPr vert="horz" wrap="square" lIns="0" tIns="9525" rIns="0" bIns="0" rtlCol="0">
            <a:spAutoFit/>
          </a:bodyPr>
          <a:lstStyle/>
          <a:p>
            <a:pPr marL="9525">
              <a:spcBef>
                <a:spcPts val="75"/>
              </a:spcBef>
            </a:pPr>
            <a:r>
              <a:rPr sz="1350" spc="-4" dirty="0">
                <a:latin typeface="Calibri"/>
                <a:cs typeface="Calibri"/>
              </a:rPr>
              <a:t>Fig: Block</a:t>
            </a:r>
            <a:r>
              <a:rPr sz="1350" spc="-8" dirty="0">
                <a:latin typeface="Calibri"/>
                <a:cs typeface="Calibri"/>
              </a:rPr>
              <a:t> diagram</a:t>
            </a:r>
            <a:r>
              <a:rPr sz="1350" spc="4" dirty="0">
                <a:latin typeface="Calibri"/>
                <a:cs typeface="Calibri"/>
              </a:rPr>
              <a:t> </a:t>
            </a:r>
            <a:r>
              <a:rPr sz="1350" spc="-4" dirty="0">
                <a:latin typeface="Calibri"/>
                <a:cs typeface="Calibri"/>
              </a:rPr>
              <a:t>of</a:t>
            </a:r>
            <a:r>
              <a:rPr sz="1350" spc="-11" dirty="0">
                <a:latin typeface="Calibri"/>
                <a:cs typeface="Calibri"/>
              </a:rPr>
              <a:t> </a:t>
            </a:r>
            <a:r>
              <a:rPr sz="1350" spc="-8" dirty="0">
                <a:latin typeface="Calibri"/>
                <a:cs typeface="Calibri"/>
              </a:rPr>
              <a:t>Digital</a:t>
            </a:r>
            <a:r>
              <a:rPr sz="1350" spc="4" dirty="0">
                <a:latin typeface="Calibri"/>
                <a:cs typeface="Calibri"/>
              </a:rPr>
              <a:t> </a:t>
            </a:r>
            <a:r>
              <a:rPr sz="1350" spc="-8" dirty="0">
                <a:latin typeface="Calibri"/>
                <a:cs typeface="Calibri"/>
              </a:rPr>
              <a:t>DAS</a:t>
            </a:r>
            <a:endParaRPr sz="1350">
              <a:latin typeface="Calibri"/>
              <a:cs typeface="Calibri"/>
            </a:endParaRPr>
          </a:p>
        </p:txBody>
      </p:sp>
      <p:sp>
        <p:nvSpPr>
          <p:cNvPr id="28" name="object 28"/>
          <p:cNvSpPr txBox="1"/>
          <p:nvPr/>
        </p:nvSpPr>
        <p:spPr>
          <a:xfrm>
            <a:off x="5394103" y="2892361"/>
            <a:ext cx="716756" cy="425116"/>
          </a:xfrm>
          <a:prstGeom prst="rect">
            <a:avLst/>
          </a:prstGeom>
        </p:spPr>
        <p:txBody>
          <a:bodyPr vert="horz" wrap="square" lIns="0" tIns="9525" rIns="0" bIns="0" rtlCol="0">
            <a:spAutoFit/>
          </a:bodyPr>
          <a:lstStyle/>
          <a:p>
            <a:pPr marL="9525" marR="3810" indent="143828">
              <a:spcBef>
                <a:spcPts val="75"/>
              </a:spcBef>
            </a:pPr>
            <a:r>
              <a:rPr sz="1350" spc="-4" dirty="0">
                <a:latin typeface="Calibri"/>
                <a:cs typeface="Calibri"/>
              </a:rPr>
              <a:t>Signal </a:t>
            </a:r>
            <a:r>
              <a:rPr sz="1350" dirty="0">
                <a:latin typeface="Calibri"/>
                <a:cs typeface="Calibri"/>
              </a:rPr>
              <a:t> </a:t>
            </a:r>
            <a:r>
              <a:rPr sz="1350" spc="-4" dirty="0">
                <a:latin typeface="Calibri"/>
                <a:cs typeface="Calibri"/>
              </a:rPr>
              <a:t>Co</a:t>
            </a:r>
            <a:r>
              <a:rPr sz="1350" spc="-19" dirty="0">
                <a:latin typeface="Calibri"/>
                <a:cs typeface="Calibri"/>
              </a:rPr>
              <a:t>n</a:t>
            </a:r>
            <a:r>
              <a:rPr sz="1350" spc="-8" dirty="0">
                <a:latin typeface="Calibri"/>
                <a:cs typeface="Calibri"/>
              </a:rPr>
              <a:t>v</a:t>
            </a:r>
            <a:r>
              <a:rPr sz="1350" dirty="0">
                <a:latin typeface="Calibri"/>
                <a:cs typeface="Calibri"/>
              </a:rPr>
              <a:t>er</a:t>
            </a:r>
            <a:r>
              <a:rPr sz="1350" spc="-15" dirty="0">
                <a:latin typeface="Calibri"/>
                <a:cs typeface="Calibri"/>
              </a:rPr>
              <a:t>t</a:t>
            </a:r>
            <a:r>
              <a:rPr sz="1350" spc="-4" dirty="0">
                <a:latin typeface="Calibri"/>
                <a:cs typeface="Calibri"/>
              </a:rPr>
              <a:t>or</a:t>
            </a:r>
            <a:endParaRPr sz="1350">
              <a:latin typeface="Calibri"/>
              <a:cs typeface="Calibri"/>
            </a:endParaRPr>
          </a:p>
        </p:txBody>
      </p:sp>
      <p:grpSp>
        <p:nvGrpSpPr>
          <p:cNvPr id="29" name="object 29"/>
          <p:cNvGrpSpPr/>
          <p:nvPr/>
        </p:nvGrpSpPr>
        <p:grpSpPr>
          <a:xfrm>
            <a:off x="4914329" y="2733866"/>
            <a:ext cx="2259330" cy="756285"/>
            <a:chOff x="6552438" y="2502154"/>
            <a:chExt cx="3012440" cy="1008380"/>
          </a:xfrm>
        </p:grpSpPr>
        <p:sp>
          <p:nvSpPr>
            <p:cNvPr id="30" name="object 30"/>
            <p:cNvSpPr/>
            <p:nvPr/>
          </p:nvSpPr>
          <p:spPr>
            <a:xfrm>
              <a:off x="6552438" y="2961894"/>
              <a:ext cx="530225" cy="76200"/>
            </a:xfrm>
            <a:custGeom>
              <a:avLst/>
              <a:gdLst/>
              <a:ahLst/>
              <a:cxnLst/>
              <a:rect l="l" t="t" r="r" b="b"/>
              <a:pathLst>
                <a:path w="530225" h="76200">
                  <a:moveTo>
                    <a:pt x="453643" y="0"/>
                  </a:moveTo>
                  <a:lnTo>
                    <a:pt x="453643" y="76200"/>
                  </a:lnTo>
                  <a:lnTo>
                    <a:pt x="506983" y="49529"/>
                  </a:lnTo>
                  <a:lnTo>
                    <a:pt x="466343" y="49529"/>
                  </a:lnTo>
                  <a:lnTo>
                    <a:pt x="466343" y="26669"/>
                  </a:lnTo>
                  <a:lnTo>
                    <a:pt x="506983" y="26669"/>
                  </a:lnTo>
                  <a:lnTo>
                    <a:pt x="453643" y="0"/>
                  </a:lnTo>
                  <a:close/>
                </a:path>
                <a:path w="530225" h="76200">
                  <a:moveTo>
                    <a:pt x="453643" y="26669"/>
                  </a:moveTo>
                  <a:lnTo>
                    <a:pt x="0" y="26669"/>
                  </a:lnTo>
                  <a:lnTo>
                    <a:pt x="0" y="49529"/>
                  </a:lnTo>
                  <a:lnTo>
                    <a:pt x="453643" y="49529"/>
                  </a:lnTo>
                  <a:lnTo>
                    <a:pt x="453643" y="26669"/>
                  </a:lnTo>
                  <a:close/>
                </a:path>
                <a:path w="530225" h="76200">
                  <a:moveTo>
                    <a:pt x="506983" y="26669"/>
                  </a:moveTo>
                  <a:lnTo>
                    <a:pt x="466343" y="26669"/>
                  </a:lnTo>
                  <a:lnTo>
                    <a:pt x="466343" y="49529"/>
                  </a:lnTo>
                  <a:lnTo>
                    <a:pt x="506983" y="49529"/>
                  </a:lnTo>
                  <a:lnTo>
                    <a:pt x="529843" y="38100"/>
                  </a:lnTo>
                  <a:lnTo>
                    <a:pt x="506983" y="26669"/>
                  </a:lnTo>
                  <a:close/>
                </a:path>
              </a:pathLst>
            </a:custGeom>
            <a:solidFill>
              <a:srgbClr val="000000"/>
            </a:solidFill>
          </p:spPr>
          <p:txBody>
            <a:bodyPr wrap="square" lIns="0" tIns="0" rIns="0" bIns="0" rtlCol="0"/>
            <a:lstStyle/>
            <a:p>
              <a:endParaRPr sz="1350"/>
            </a:p>
          </p:txBody>
        </p:sp>
        <p:sp>
          <p:nvSpPr>
            <p:cNvPr id="31" name="object 31"/>
            <p:cNvSpPr/>
            <p:nvPr/>
          </p:nvSpPr>
          <p:spPr>
            <a:xfrm>
              <a:off x="8796527" y="2508504"/>
              <a:ext cx="762000" cy="995680"/>
            </a:xfrm>
            <a:custGeom>
              <a:avLst/>
              <a:gdLst/>
              <a:ahLst/>
              <a:cxnLst/>
              <a:rect l="l" t="t" r="r" b="b"/>
              <a:pathLst>
                <a:path w="762000" h="995679">
                  <a:moveTo>
                    <a:pt x="0" y="995172"/>
                  </a:moveTo>
                  <a:lnTo>
                    <a:pt x="762000" y="995172"/>
                  </a:lnTo>
                  <a:lnTo>
                    <a:pt x="762000" y="0"/>
                  </a:lnTo>
                  <a:lnTo>
                    <a:pt x="0" y="0"/>
                  </a:lnTo>
                  <a:lnTo>
                    <a:pt x="0" y="995172"/>
                  </a:lnTo>
                  <a:close/>
                </a:path>
              </a:pathLst>
            </a:custGeom>
            <a:ln w="12192">
              <a:solidFill>
                <a:srgbClr val="000000"/>
              </a:solidFill>
            </a:ln>
          </p:spPr>
          <p:txBody>
            <a:bodyPr wrap="square" lIns="0" tIns="0" rIns="0" bIns="0" rtlCol="0"/>
            <a:lstStyle/>
            <a:p>
              <a:endParaRPr sz="1350"/>
            </a:p>
          </p:txBody>
        </p:sp>
      </p:grpSp>
      <p:sp>
        <p:nvSpPr>
          <p:cNvPr id="32" name="object 32"/>
          <p:cNvSpPr txBox="1"/>
          <p:nvPr/>
        </p:nvSpPr>
        <p:spPr>
          <a:xfrm>
            <a:off x="6725697" y="2988754"/>
            <a:ext cx="315754" cy="217367"/>
          </a:xfrm>
          <a:prstGeom prst="rect">
            <a:avLst/>
          </a:prstGeom>
        </p:spPr>
        <p:txBody>
          <a:bodyPr vert="horz" wrap="square" lIns="0" tIns="9525" rIns="0" bIns="0" rtlCol="0">
            <a:spAutoFit/>
          </a:bodyPr>
          <a:lstStyle/>
          <a:p>
            <a:pPr marL="9525">
              <a:spcBef>
                <a:spcPts val="75"/>
              </a:spcBef>
            </a:pPr>
            <a:r>
              <a:rPr sz="1350" dirty="0">
                <a:latin typeface="Calibri"/>
                <a:cs typeface="Calibri"/>
              </a:rPr>
              <a:t>ADC</a:t>
            </a:r>
            <a:endParaRPr sz="1350">
              <a:latin typeface="Calibri"/>
              <a:cs typeface="Calibri"/>
            </a:endParaRPr>
          </a:p>
        </p:txBody>
      </p:sp>
      <p:grpSp>
        <p:nvGrpSpPr>
          <p:cNvPr id="33" name="object 33"/>
          <p:cNvGrpSpPr/>
          <p:nvPr/>
        </p:nvGrpSpPr>
        <p:grpSpPr>
          <a:xfrm>
            <a:off x="4763833" y="3090100"/>
            <a:ext cx="3054668" cy="1173480"/>
            <a:chOff x="6351778" y="2977133"/>
            <a:chExt cx="4072890" cy="1564640"/>
          </a:xfrm>
        </p:grpSpPr>
        <p:sp>
          <p:nvSpPr>
            <p:cNvPr id="34" name="object 34"/>
            <p:cNvSpPr/>
            <p:nvPr/>
          </p:nvSpPr>
          <p:spPr>
            <a:xfrm>
              <a:off x="8266938" y="2977133"/>
              <a:ext cx="2157730" cy="974090"/>
            </a:xfrm>
            <a:custGeom>
              <a:avLst/>
              <a:gdLst/>
              <a:ahLst/>
              <a:cxnLst/>
              <a:rect l="l" t="t" r="r" b="b"/>
              <a:pathLst>
                <a:path w="2157729" h="974089">
                  <a:moveTo>
                    <a:pt x="529844" y="38100"/>
                  </a:moveTo>
                  <a:lnTo>
                    <a:pt x="506971" y="26670"/>
                  </a:lnTo>
                  <a:lnTo>
                    <a:pt x="453644" y="0"/>
                  </a:lnTo>
                  <a:lnTo>
                    <a:pt x="453644" y="26670"/>
                  </a:lnTo>
                  <a:lnTo>
                    <a:pt x="0" y="26670"/>
                  </a:lnTo>
                  <a:lnTo>
                    <a:pt x="0" y="49530"/>
                  </a:lnTo>
                  <a:lnTo>
                    <a:pt x="453644" y="49530"/>
                  </a:lnTo>
                  <a:lnTo>
                    <a:pt x="453644" y="76200"/>
                  </a:lnTo>
                  <a:lnTo>
                    <a:pt x="506984" y="49530"/>
                  </a:lnTo>
                  <a:lnTo>
                    <a:pt x="529844" y="38100"/>
                  </a:lnTo>
                  <a:close/>
                </a:path>
                <a:path w="2157729" h="974089">
                  <a:moveTo>
                    <a:pt x="2157222" y="935736"/>
                  </a:moveTo>
                  <a:lnTo>
                    <a:pt x="2134362" y="924306"/>
                  </a:lnTo>
                  <a:lnTo>
                    <a:pt x="2081022" y="897636"/>
                  </a:lnTo>
                  <a:lnTo>
                    <a:pt x="2081022" y="924306"/>
                  </a:lnTo>
                  <a:lnTo>
                    <a:pt x="1819656" y="924306"/>
                  </a:lnTo>
                  <a:lnTo>
                    <a:pt x="1819656" y="947166"/>
                  </a:lnTo>
                  <a:lnTo>
                    <a:pt x="2081022" y="947166"/>
                  </a:lnTo>
                  <a:lnTo>
                    <a:pt x="2081022" y="973836"/>
                  </a:lnTo>
                  <a:lnTo>
                    <a:pt x="2134362" y="947166"/>
                  </a:lnTo>
                  <a:lnTo>
                    <a:pt x="2157222" y="935736"/>
                  </a:lnTo>
                  <a:close/>
                </a:path>
                <a:path w="2157729" h="974089">
                  <a:moveTo>
                    <a:pt x="2157222" y="379476"/>
                  </a:moveTo>
                  <a:lnTo>
                    <a:pt x="2134349" y="368046"/>
                  </a:lnTo>
                  <a:lnTo>
                    <a:pt x="2081022" y="341376"/>
                  </a:lnTo>
                  <a:lnTo>
                    <a:pt x="2081022" y="368046"/>
                  </a:lnTo>
                  <a:lnTo>
                    <a:pt x="1819656" y="368046"/>
                  </a:lnTo>
                  <a:lnTo>
                    <a:pt x="1819656" y="390906"/>
                  </a:lnTo>
                  <a:lnTo>
                    <a:pt x="2081022" y="390906"/>
                  </a:lnTo>
                  <a:lnTo>
                    <a:pt x="2081022" y="417576"/>
                  </a:lnTo>
                  <a:lnTo>
                    <a:pt x="2134362" y="390906"/>
                  </a:lnTo>
                  <a:lnTo>
                    <a:pt x="2157222" y="379476"/>
                  </a:lnTo>
                  <a:close/>
                </a:path>
              </a:pathLst>
            </a:custGeom>
            <a:solidFill>
              <a:srgbClr val="000000"/>
            </a:solidFill>
          </p:spPr>
          <p:txBody>
            <a:bodyPr wrap="square" lIns="0" tIns="0" rIns="0" bIns="0" rtlCol="0"/>
            <a:lstStyle/>
            <a:p>
              <a:endParaRPr sz="1350"/>
            </a:p>
          </p:txBody>
        </p:sp>
        <p:sp>
          <p:nvSpPr>
            <p:cNvPr id="35" name="object 35"/>
            <p:cNvSpPr/>
            <p:nvPr/>
          </p:nvSpPr>
          <p:spPr>
            <a:xfrm>
              <a:off x="6358128" y="3902963"/>
              <a:ext cx="2623185" cy="632460"/>
            </a:xfrm>
            <a:custGeom>
              <a:avLst/>
              <a:gdLst/>
              <a:ahLst/>
              <a:cxnLst/>
              <a:rect l="l" t="t" r="r" b="b"/>
              <a:pathLst>
                <a:path w="2623184" h="632460">
                  <a:moveTo>
                    <a:pt x="0" y="632460"/>
                  </a:moveTo>
                  <a:lnTo>
                    <a:pt x="2622804" y="632460"/>
                  </a:lnTo>
                  <a:lnTo>
                    <a:pt x="2622804" y="0"/>
                  </a:lnTo>
                  <a:lnTo>
                    <a:pt x="0" y="0"/>
                  </a:lnTo>
                  <a:lnTo>
                    <a:pt x="0" y="632460"/>
                  </a:lnTo>
                  <a:close/>
                </a:path>
              </a:pathLst>
            </a:custGeom>
            <a:ln w="12192">
              <a:solidFill>
                <a:srgbClr val="000000"/>
              </a:solidFill>
            </a:ln>
          </p:spPr>
          <p:txBody>
            <a:bodyPr wrap="square" lIns="0" tIns="0" rIns="0" bIns="0" rtlCol="0"/>
            <a:lstStyle/>
            <a:p>
              <a:endParaRPr sz="1350"/>
            </a:p>
          </p:txBody>
        </p:sp>
      </p:grpSp>
      <p:sp>
        <p:nvSpPr>
          <p:cNvPr id="36" name="object 36"/>
          <p:cNvSpPr txBox="1"/>
          <p:nvPr/>
        </p:nvSpPr>
        <p:spPr>
          <a:xfrm>
            <a:off x="7878318" y="3144202"/>
            <a:ext cx="1122521" cy="425116"/>
          </a:xfrm>
          <a:prstGeom prst="rect">
            <a:avLst/>
          </a:prstGeom>
        </p:spPr>
        <p:txBody>
          <a:bodyPr vert="horz" wrap="square" lIns="0" tIns="9525" rIns="0" bIns="0" rtlCol="0">
            <a:spAutoFit/>
          </a:bodyPr>
          <a:lstStyle/>
          <a:p>
            <a:pPr marL="9525" marR="3810">
              <a:spcBef>
                <a:spcPts val="75"/>
              </a:spcBef>
            </a:pPr>
            <a:r>
              <a:rPr sz="1350" spc="-11" dirty="0">
                <a:latin typeface="Calibri"/>
                <a:cs typeface="Calibri"/>
              </a:rPr>
              <a:t>Data </a:t>
            </a:r>
            <a:r>
              <a:rPr sz="1350" spc="-8" dirty="0">
                <a:latin typeface="Calibri"/>
                <a:cs typeface="Calibri"/>
              </a:rPr>
              <a:t> </a:t>
            </a:r>
            <a:r>
              <a:rPr sz="1350" spc="-4" dirty="0">
                <a:latin typeface="Calibri"/>
                <a:cs typeface="Calibri"/>
              </a:rPr>
              <a:t>Comm</a:t>
            </a:r>
            <a:r>
              <a:rPr sz="1350" spc="4" dirty="0">
                <a:latin typeface="Calibri"/>
                <a:cs typeface="Calibri"/>
              </a:rPr>
              <a:t>u</a:t>
            </a:r>
            <a:r>
              <a:rPr sz="1350" spc="-4" dirty="0">
                <a:latin typeface="Calibri"/>
                <a:cs typeface="Calibri"/>
              </a:rPr>
              <a:t>ni</a:t>
            </a:r>
            <a:r>
              <a:rPr sz="1350" spc="-19" dirty="0">
                <a:latin typeface="Calibri"/>
                <a:cs typeface="Calibri"/>
              </a:rPr>
              <a:t>c</a:t>
            </a:r>
            <a:r>
              <a:rPr sz="1350" spc="-11" dirty="0">
                <a:latin typeface="Calibri"/>
                <a:cs typeface="Calibri"/>
              </a:rPr>
              <a:t>a</a:t>
            </a:r>
            <a:r>
              <a:rPr sz="1350" dirty="0">
                <a:latin typeface="Calibri"/>
                <a:cs typeface="Calibri"/>
              </a:rPr>
              <a:t>t</a:t>
            </a:r>
            <a:r>
              <a:rPr sz="1350" spc="-8" dirty="0">
                <a:latin typeface="Calibri"/>
                <a:cs typeface="Calibri"/>
              </a:rPr>
              <a:t>i</a:t>
            </a:r>
            <a:r>
              <a:rPr sz="1350" spc="-4" dirty="0">
                <a:latin typeface="Calibri"/>
                <a:cs typeface="Calibri"/>
              </a:rPr>
              <a:t>on</a:t>
            </a:r>
            <a:endParaRPr sz="1350">
              <a:latin typeface="Calibri"/>
              <a:cs typeface="Calibri"/>
            </a:endParaRPr>
          </a:p>
        </p:txBody>
      </p:sp>
      <p:sp>
        <p:nvSpPr>
          <p:cNvPr id="37" name="object 37"/>
          <p:cNvSpPr txBox="1"/>
          <p:nvPr/>
        </p:nvSpPr>
        <p:spPr>
          <a:xfrm>
            <a:off x="7878317" y="3677126"/>
            <a:ext cx="1120140" cy="217367"/>
          </a:xfrm>
          <a:prstGeom prst="rect">
            <a:avLst/>
          </a:prstGeom>
        </p:spPr>
        <p:txBody>
          <a:bodyPr vert="horz" wrap="square" lIns="0" tIns="9525" rIns="0" bIns="0" rtlCol="0">
            <a:spAutoFit/>
          </a:bodyPr>
          <a:lstStyle/>
          <a:p>
            <a:pPr marL="9525">
              <a:spcBef>
                <a:spcPts val="75"/>
              </a:spcBef>
            </a:pPr>
            <a:r>
              <a:rPr sz="1350" spc="-11" dirty="0">
                <a:latin typeface="Calibri"/>
                <a:cs typeface="Calibri"/>
              </a:rPr>
              <a:t>Data</a:t>
            </a:r>
            <a:r>
              <a:rPr sz="1350" spc="-26" dirty="0">
                <a:latin typeface="Calibri"/>
                <a:cs typeface="Calibri"/>
              </a:rPr>
              <a:t> </a:t>
            </a:r>
            <a:r>
              <a:rPr sz="1350" spc="-8" dirty="0">
                <a:latin typeface="Calibri"/>
                <a:cs typeface="Calibri"/>
              </a:rPr>
              <a:t>Processing</a:t>
            </a:r>
            <a:endParaRPr sz="1350">
              <a:latin typeface="Calibri"/>
              <a:cs typeface="Calibri"/>
            </a:endParaRPr>
          </a:p>
        </p:txBody>
      </p:sp>
      <p:sp>
        <p:nvSpPr>
          <p:cNvPr id="38" name="object 38"/>
          <p:cNvSpPr txBox="1"/>
          <p:nvPr/>
        </p:nvSpPr>
        <p:spPr>
          <a:xfrm>
            <a:off x="4890992" y="3794817"/>
            <a:ext cx="1721644" cy="425116"/>
          </a:xfrm>
          <a:prstGeom prst="rect">
            <a:avLst/>
          </a:prstGeom>
        </p:spPr>
        <p:txBody>
          <a:bodyPr vert="horz" wrap="square" lIns="0" tIns="9525" rIns="0" bIns="0" rtlCol="0">
            <a:spAutoFit/>
          </a:bodyPr>
          <a:lstStyle/>
          <a:p>
            <a:pPr algn="ctr">
              <a:spcBef>
                <a:spcPts val="75"/>
              </a:spcBef>
            </a:pPr>
            <a:r>
              <a:rPr sz="1350" spc="-4" dirty="0">
                <a:latin typeface="Calibri"/>
                <a:cs typeface="Calibri"/>
              </a:rPr>
              <a:t>Auxiliary</a:t>
            </a:r>
            <a:r>
              <a:rPr sz="1350" spc="-11" dirty="0">
                <a:latin typeface="Calibri"/>
                <a:cs typeface="Calibri"/>
              </a:rPr>
              <a:t> </a:t>
            </a:r>
            <a:r>
              <a:rPr sz="1350" spc="-8" dirty="0">
                <a:latin typeface="Calibri"/>
                <a:cs typeface="Calibri"/>
              </a:rPr>
              <a:t>Equipment</a:t>
            </a:r>
            <a:r>
              <a:rPr sz="1350" spc="-4" dirty="0">
                <a:latin typeface="Calibri"/>
                <a:cs typeface="Calibri"/>
              </a:rPr>
              <a:t> </a:t>
            </a:r>
            <a:r>
              <a:rPr sz="1350" dirty="0">
                <a:latin typeface="Calibri"/>
                <a:cs typeface="Calibri"/>
              </a:rPr>
              <a:t>and</a:t>
            </a:r>
            <a:endParaRPr sz="1350">
              <a:latin typeface="Calibri"/>
              <a:cs typeface="Calibri"/>
            </a:endParaRPr>
          </a:p>
          <a:p>
            <a:pPr marL="476" algn="ctr">
              <a:spcBef>
                <a:spcPts val="4"/>
              </a:spcBef>
            </a:pPr>
            <a:r>
              <a:rPr sz="1350" spc="-11" dirty="0">
                <a:latin typeface="Calibri"/>
                <a:cs typeface="Calibri"/>
              </a:rPr>
              <a:t>System</a:t>
            </a:r>
            <a:r>
              <a:rPr sz="1350" spc="-30" dirty="0">
                <a:latin typeface="Calibri"/>
                <a:cs typeface="Calibri"/>
              </a:rPr>
              <a:t> </a:t>
            </a:r>
            <a:r>
              <a:rPr sz="1350" spc="-8" dirty="0">
                <a:latin typeface="Calibri"/>
                <a:cs typeface="Calibri"/>
              </a:rPr>
              <a:t>Programmer</a:t>
            </a:r>
            <a:endParaRPr sz="1350">
              <a:latin typeface="Calibri"/>
              <a:cs typeface="Calibri"/>
            </a:endParaRPr>
          </a:p>
        </p:txBody>
      </p:sp>
      <p:sp>
        <p:nvSpPr>
          <p:cNvPr id="39" name="object 39"/>
          <p:cNvSpPr/>
          <p:nvPr/>
        </p:nvSpPr>
        <p:spPr>
          <a:xfrm>
            <a:off x="496634" y="2642044"/>
            <a:ext cx="6203156" cy="1521619"/>
          </a:xfrm>
          <a:custGeom>
            <a:avLst/>
            <a:gdLst/>
            <a:ahLst/>
            <a:cxnLst/>
            <a:rect l="l" t="t" r="r" b="b"/>
            <a:pathLst>
              <a:path w="8270875" h="2028825">
                <a:moveTo>
                  <a:pt x="309499" y="1990344"/>
                </a:moveTo>
                <a:lnTo>
                  <a:pt x="286639" y="1978914"/>
                </a:lnTo>
                <a:lnTo>
                  <a:pt x="233299" y="1952244"/>
                </a:lnTo>
                <a:lnTo>
                  <a:pt x="233299" y="1978914"/>
                </a:lnTo>
                <a:lnTo>
                  <a:pt x="0" y="1978914"/>
                </a:lnTo>
                <a:lnTo>
                  <a:pt x="0" y="2001774"/>
                </a:lnTo>
                <a:lnTo>
                  <a:pt x="233299" y="2001774"/>
                </a:lnTo>
                <a:lnTo>
                  <a:pt x="233299" y="2028444"/>
                </a:lnTo>
                <a:lnTo>
                  <a:pt x="286639" y="2001774"/>
                </a:lnTo>
                <a:lnTo>
                  <a:pt x="309499" y="1990344"/>
                </a:lnTo>
                <a:close/>
              </a:path>
              <a:path w="8270875" h="2028825">
                <a:moveTo>
                  <a:pt x="309499" y="562356"/>
                </a:moveTo>
                <a:lnTo>
                  <a:pt x="286626" y="550926"/>
                </a:lnTo>
                <a:lnTo>
                  <a:pt x="233299" y="524256"/>
                </a:lnTo>
                <a:lnTo>
                  <a:pt x="233299" y="550926"/>
                </a:lnTo>
                <a:lnTo>
                  <a:pt x="0" y="550926"/>
                </a:lnTo>
                <a:lnTo>
                  <a:pt x="0" y="573786"/>
                </a:lnTo>
                <a:lnTo>
                  <a:pt x="233299" y="573786"/>
                </a:lnTo>
                <a:lnTo>
                  <a:pt x="233299" y="600456"/>
                </a:lnTo>
                <a:lnTo>
                  <a:pt x="286639" y="573786"/>
                </a:lnTo>
                <a:lnTo>
                  <a:pt x="309499" y="562356"/>
                </a:lnTo>
                <a:close/>
              </a:path>
              <a:path w="8270875" h="2028825">
                <a:moveTo>
                  <a:pt x="309499" y="38100"/>
                </a:moveTo>
                <a:lnTo>
                  <a:pt x="286639" y="26670"/>
                </a:lnTo>
                <a:lnTo>
                  <a:pt x="233299" y="0"/>
                </a:lnTo>
                <a:lnTo>
                  <a:pt x="233299" y="26670"/>
                </a:lnTo>
                <a:lnTo>
                  <a:pt x="0" y="26670"/>
                </a:lnTo>
                <a:lnTo>
                  <a:pt x="0" y="49530"/>
                </a:lnTo>
                <a:lnTo>
                  <a:pt x="233299" y="49530"/>
                </a:lnTo>
                <a:lnTo>
                  <a:pt x="233299" y="76200"/>
                </a:lnTo>
                <a:lnTo>
                  <a:pt x="286639" y="49530"/>
                </a:lnTo>
                <a:lnTo>
                  <a:pt x="309499" y="38100"/>
                </a:lnTo>
                <a:close/>
              </a:path>
              <a:path w="8270875" h="2028825">
                <a:moveTo>
                  <a:pt x="5852160" y="1208544"/>
                </a:moveTo>
                <a:lnTo>
                  <a:pt x="5845810" y="1195844"/>
                </a:lnTo>
                <a:lnTo>
                  <a:pt x="5814060" y="1132332"/>
                </a:lnTo>
                <a:lnTo>
                  <a:pt x="5775960" y="1208544"/>
                </a:lnTo>
                <a:lnTo>
                  <a:pt x="5802630" y="1208544"/>
                </a:lnTo>
                <a:lnTo>
                  <a:pt x="5802630" y="1524000"/>
                </a:lnTo>
                <a:lnTo>
                  <a:pt x="5825490" y="1524000"/>
                </a:lnTo>
                <a:lnTo>
                  <a:pt x="5825490" y="1208544"/>
                </a:lnTo>
                <a:lnTo>
                  <a:pt x="5852160" y="1208544"/>
                </a:lnTo>
                <a:close/>
              </a:path>
              <a:path w="8270875" h="2028825">
                <a:moveTo>
                  <a:pt x="6844284" y="1200912"/>
                </a:moveTo>
                <a:lnTo>
                  <a:pt x="6837934" y="1188212"/>
                </a:lnTo>
                <a:lnTo>
                  <a:pt x="6806184" y="1124712"/>
                </a:lnTo>
                <a:lnTo>
                  <a:pt x="6768084" y="1200912"/>
                </a:lnTo>
                <a:lnTo>
                  <a:pt x="6794754" y="1200912"/>
                </a:lnTo>
                <a:lnTo>
                  <a:pt x="6794754" y="1516380"/>
                </a:lnTo>
                <a:lnTo>
                  <a:pt x="6817614" y="1516380"/>
                </a:lnTo>
                <a:lnTo>
                  <a:pt x="6817614" y="1200912"/>
                </a:lnTo>
                <a:lnTo>
                  <a:pt x="6844284" y="1200912"/>
                </a:lnTo>
                <a:close/>
              </a:path>
              <a:path w="8270875" h="2028825">
                <a:moveTo>
                  <a:pt x="8270748" y="1197864"/>
                </a:moveTo>
                <a:lnTo>
                  <a:pt x="8264398" y="1185164"/>
                </a:lnTo>
                <a:lnTo>
                  <a:pt x="8232648" y="1121664"/>
                </a:lnTo>
                <a:lnTo>
                  <a:pt x="8194548" y="1197864"/>
                </a:lnTo>
                <a:lnTo>
                  <a:pt x="8221218" y="1197864"/>
                </a:lnTo>
                <a:lnTo>
                  <a:pt x="8221218" y="1513332"/>
                </a:lnTo>
                <a:lnTo>
                  <a:pt x="8244078" y="1513332"/>
                </a:lnTo>
                <a:lnTo>
                  <a:pt x="8244078" y="1197864"/>
                </a:lnTo>
                <a:lnTo>
                  <a:pt x="8270748" y="1197864"/>
                </a:lnTo>
                <a:close/>
              </a:path>
            </a:pathLst>
          </a:custGeom>
          <a:solidFill>
            <a:srgbClr val="000000"/>
          </a:solidFill>
        </p:spPr>
        <p:txBody>
          <a:bodyPr wrap="square" lIns="0" tIns="0" rIns="0" bIns="0" rtlCol="0"/>
          <a:lstStyle/>
          <a:p>
            <a:endParaRPr sz="1350"/>
          </a:p>
        </p:txBody>
      </p:sp>
      <p:sp>
        <p:nvSpPr>
          <p:cNvPr id="40" name="object 40"/>
          <p:cNvSpPr txBox="1"/>
          <p:nvPr/>
        </p:nvSpPr>
        <p:spPr>
          <a:xfrm>
            <a:off x="230848" y="2679516"/>
            <a:ext cx="179536" cy="1329214"/>
          </a:xfrm>
          <a:prstGeom prst="rect">
            <a:avLst/>
          </a:prstGeom>
        </p:spPr>
        <p:txBody>
          <a:bodyPr vert="vert270" wrap="square" lIns="0" tIns="0" rIns="0" bIns="0" rtlCol="0">
            <a:spAutoFit/>
          </a:bodyPr>
          <a:lstStyle/>
          <a:p>
            <a:pPr marL="9525">
              <a:lnSpc>
                <a:spcPts val="1358"/>
              </a:lnSpc>
            </a:pPr>
            <a:r>
              <a:rPr sz="1350" spc="-11" dirty="0">
                <a:latin typeface="Calibri"/>
                <a:cs typeface="Calibri"/>
              </a:rPr>
              <a:t>Physical</a:t>
            </a:r>
            <a:r>
              <a:rPr sz="1350" spc="-34" dirty="0">
                <a:latin typeface="Calibri"/>
                <a:cs typeface="Calibri"/>
              </a:rPr>
              <a:t> </a:t>
            </a:r>
            <a:r>
              <a:rPr sz="1350" spc="-4" dirty="0">
                <a:latin typeface="Calibri"/>
                <a:cs typeface="Calibri"/>
              </a:rPr>
              <a:t>Quantities</a:t>
            </a:r>
            <a:endParaRPr sz="1350">
              <a:latin typeface="Calibri"/>
              <a:cs typeface="Calibri"/>
            </a:endParaRPr>
          </a:p>
        </p:txBody>
      </p:sp>
      <p:sp>
        <p:nvSpPr>
          <p:cNvPr id="42" name="object 42"/>
          <p:cNvSpPr txBox="1"/>
          <p:nvPr/>
        </p:nvSpPr>
        <p:spPr>
          <a:xfrm>
            <a:off x="8539353" y="5705932"/>
            <a:ext cx="115253" cy="346249"/>
          </a:xfrm>
          <a:prstGeom prst="rect">
            <a:avLst/>
          </a:prstGeom>
        </p:spPr>
        <p:txBody>
          <a:bodyPr vert="horz" wrap="square" lIns="0" tIns="0" rIns="0" bIns="0" rtlCol="0">
            <a:spAutoFit/>
          </a:bodyPr>
          <a:lstStyle/>
          <a:p>
            <a:pPr marL="28575">
              <a:lnSpc>
                <a:spcPts val="930"/>
              </a:lnSpc>
            </a:pPr>
            <a:fld id="{81D60167-4931-47E6-BA6A-407CBD079E47}" type="slidenum">
              <a:rPr sz="900" dirty="0">
                <a:solidFill>
                  <a:srgbClr val="888888"/>
                </a:solidFill>
                <a:latin typeface="Calibri"/>
                <a:cs typeface="Calibri"/>
              </a:rPr>
              <a:pPr marL="28575">
                <a:lnSpc>
                  <a:spcPts val="930"/>
                </a:lnSpc>
              </a:pPr>
              <a:t>14</a:t>
            </a:fld>
            <a:endParaRPr sz="900">
              <a:latin typeface="Calibri"/>
              <a:cs typeface="Calibri"/>
            </a:endParaRPr>
          </a:p>
        </p:txBody>
      </p:sp>
    </p:spTree>
    <p:extLst>
      <p:ext uri="{BB962C8B-B14F-4D97-AF65-F5344CB8AC3E}">
        <p14:creationId xmlns:p14="http://schemas.microsoft.com/office/powerpoint/2010/main" val="3878414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8539353" y="5705932"/>
            <a:ext cx="115253" cy="346249"/>
          </a:xfrm>
          <a:prstGeom prst="rect">
            <a:avLst/>
          </a:prstGeom>
        </p:spPr>
        <p:txBody>
          <a:bodyPr vert="horz" wrap="square" lIns="0" tIns="0" rIns="0" bIns="0" rtlCol="0">
            <a:spAutoFit/>
          </a:bodyPr>
          <a:lstStyle/>
          <a:p>
            <a:pPr marL="28575">
              <a:lnSpc>
                <a:spcPts val="930"/>
              </a:lnSpc>
            </a:pPr>
            <a:fld id="{81D60167-4931-47E6-BA6A-407CBD079E47}" type="slidenum">
              <a:rPr sz="900" dirty="0">
                <a:solidFill>
                  <a:srgbClr val="888888"/>
                </a:solidFill>
                <a:latin typeface="Calibri"/>
                <a:cs typeface="Calibri"/>
              </a:rPr>
              <a:pPr marL="28575">
                <a:lnSpc>
                  <a:spcPts val="930"/>
                </a:lnSpc>
              </a:pPr>
              <a:t>15</a:t>
            </a:fld>
            <a:endParaRPr sz="900">
              <a:latin typeface="Calibri"/>
              <a:cs typeface="Calibri"/>
            </a:endParaRPr>
          </a:p>
        </p:txBody>
      </p:sp>
      <p:sp>
        <p:nvSpPr>
          <p:cNvPr id="2" name="object 2"/>
          <p:cNvSpPr txBox="1">
            <a:spLocks noGrp="1"/>
          </p:cNvSpPr>
          <p:nvPr>
            <p:ph type="title"/>
          </p:nvPr>
        </p:nvSpPr>
        <p:spPr>
          <a:xfrm>
            <a:off x="687704" y="457200"/>
            <a:ext cx="6779895" cy="687207"/>
          </a:xfrm>
          <a:prstGeom prst="rect">
            <a:avLst/>
          </a:prstGeom>
        </p:spPr>
        <p:txBody>
          <a:bodyPr vert="horz" wrap="square" lIns="0" tIns="10001" rIns="0" bIns="0" rtlCol="0" anchor="ctr">
            <a:spAutoFit/>
          </a:bodyPr>
          <a:lstStyle/>
          <a:p>
            <a:pPr marL="9525">
              <a:spcBef>
                <a:spcPts val="79"/>
              </a:spcBef>
            </a:pPr>
            <a:r>
              <a:rPr spc="-8" dirty="0"/>
              <a:t>Digital</a:t>
            </a:r>
            <a:r>
              <a:rPr spc="-56" dirty="0"/>
              <a:t> </a:t>
            </a:r>
            <a:r>
              <a:rPr spc="-11" dirty="0"/>
              <a:t>DAS</a:t>
            </a:r>
          </a:p>
        </p:txBody>
      </p:sp>
      <p:sp>
        <p:nvSpPr>
          <p:cNvPr id="3" name="object 3"/>
          <p:cNvSpPr txBox="1"/>
          <p:nvPr/>
        </p:nvSpPr>
        <p:spPr>
          <a:xfrm>
            <a:off x="687704" y="1905191"/>
            <a:ext cx="7634288" cy="4138986"/>
          </a:xfrm>
          <a:prstGeom prst="rect">
            <a:avLst/>
          </a:prstGeom>
        </p:spPr>
        <p:txBody>
          <a:bodyPr vert="horz" wrap="square" lIns="0" tIns="72866" rIns="0" bIns="0" rtlCol="0">
            <a:spAutoFit/>
          </a:bodyPr>
          <a:lstStyle/>
          <a:p>
            <a:pPr marL="180975" marR="152400" indent="-171926" algn="just">
              <a:lnSpc>
                <a:spcPct val="80000"/>
              </a:lnSpc>
              <a:spcBef>
                <a:spcPts val="574"/>
              </a:spcBef>
              <a:buFont typeface="Arial MT"/>
              <a:buChar char="•"/>
              <a:tabLst>
                <a:tab pos="181451" algn="l"/>
              </a:tabLst>
            </a:pPr>
            <a:r>
              <a:rPr sz="2400" b="1" spc="-4" dirty="0">
                <a:latin typeface="Calibri"/>
                <a:cs typeface="Calibri"/>
              </a:rPr>
              <a:t>Signal</a:t>
            </a:r>
            <a:r>
              <a:rPr sz="2400" b="1" spc="19" dirty="0">
                <a:latin typeface="Calibri"/>
                <a:cs typeface="Calibri"/>
              </a:rPr>
              <a:t> </a:t>
            </a:r>
            <a:r>
              <a:rPr sz="2400" b="1" spc="-15" dirty="0">
                <a:latin typeface="Calibri"/>
                <a:cs typeface="Calibri"/>
              </a:rPr>
              <a:t>Converter</a:t>
            </a:r>
            <a:r>
              <a:rPr sz="2400" b="1" spc="45" dirty="0">
                <a:latin typeface="Calibri"/>
                <a:cs typeface="Calibri"/>
              </a:rPr>
              <a:t> </a:t>
            </a:r>
            <a:r>
              <a:rPr sz="2400" spc="-15" dirty="0">
                <a:latin typeface="Calibri"/>
                <a:cs typeface="Calibri"/>
              </a:rPr>
              <a:t>converts</a:t>
            </a:r>
            <a:r>
              <a:rPr sz="2400" spc="8" dirty="0">
                <a:latin typeface="Calibri"/>
                <a:cs typeface="Calibri"/>
              </a:rPr>
              <a:t> </a:t>
            </a:r>
            <a:r>
              <a:rPr sz="2400" spc="-4" dirty="0">
                <a:latin typeface="Calibri"/>
                <a:cs typeface="Calibri"/>
              </a:rPr>
              <a:t>the</a:t>
            </a:r>
            <a:r>
              <a:rPr sz="2400" spc="11" dirty="0">
                <a:latin typeface="Calibri"/>
                <a:cs typeface="Calibri"/>
              </a:rPr>
              <a:t> </a:t>
            </a:r>
            <a:r>
              <a:rPr sz="2400" spc="-4" dirty="0">
                <a:latin typeface="Calibri"/>
                <a:cs typeface="Calibri"/>
              </a:rPr>
              <a:t>analog</a:t>
            </a:r>
            <a:r>
              <a:rPr sz="2400" dirty="0">
                <a:latin typeface="Calibri"/>
                <a:cs typeface="Calibri"/>
              </a:rPr>
              <a:t> </a:t>
            </a:r>
            <a:r>
              <a:rPr sz="2400" spc="-8" dirty="0">
                <a:latin typeface="Calibri"/>
                <a:cs typeface="Calibri"/>
              </a:rPr>
              <a:t>signal</a:t>
            </a:r>
            <a:r>
              <a:rPr sz="2400" dirty="0">
                <a:latin typeface="Calibri"/>
                <a:cs typeface="Calibri"/>
              </a:rPr>
              <a:t> </a:t>
            </a:r>
            <a:r>
              <a:rPr sz="2400" spc="-15" dirty="0">
                <a:latin typeface="Calibri"/>
                <a:cs typeface="Calibri"/>
              </a:rPr>
              <a:t>to</a:t>
            </a:r>
            <a:r>
              <a:rPr sz="2400" dirty="0">
                <a:latin typeface="Calibri"/>
                <a:cs typeface="Calibri"/>
              </a:rPr>
              <a:t> </a:t>
            </a:r>
            <a:r>
              <a:rPr sz="2400" spc="-4" dirty="0">
                <a:latin typeface="Calibri"/>
                <a:cs typeface="Calibri"/>
              </a:rPr>
              <a:t>a</a:t>
            </a:r>
            <a:r>
              <a:rPr sz="2400" spc="11" dirty="0">
                <a:latin typeface="Calibri"/>
                <a:cs typeface="Calibri"/>
              </a:rPr>
              <a:t> </a:t>
            </a:r>
            <a:r>
              <a:rPr sz="2400" spc="-15" dirty="0">
                <a:latin typeface="Calibri"/>
                <a:cs typeface="Calibri"/>
              </a:rPr>
              <a:t>form</a:t>
            </a:r>
            <a:r>
              <a:rPr sz="2400" spc="8" dirty="0">
                <a:latin typeface="Calibri"/>
                <a:cs typeface="Calibri"/>
              </a:rPr>
              <a:t> </a:t>
            </a:r>
            <a:r>
              <a:rPr sz="2400" spc="-8" dirty="0">
                <a:latin typeface="Calibri"/>
                <a:cs typeface="Calibri"/>
              </a:rPr>
              <a:t>acceptable</a:t>
            </a:r>
            <a:r>
              <a:rPr sz="2400" dirty="0">
                <a:latin typeface="Calibri"/>
                <a:cs typeface="Calibri"/>
              </a:rPr>
              <a:t> </a:t>
            </a:r>
            <a:r>
              <a:rPr sz="2400" spc="-11" dirty="0">
                <a:latin typeface="Calibri"/>
                <a:cs typeface="Calibri"/>
              </a:rPr>
              <a:t>by </a:t>
            </a:r>
            <a:r>
              <a:rPr sz="2400" spc="-465" dirty="0">
                <a:latin typeface="Calibri"/>
                <a:cs typeface="Calibri"/>
              </a:rPr>
              <a:t> </a:t>
            </a:r>
            <a:r>
              <a:rPr sz="2400" spc="-4" dirty="0">
                <a:latin typeface="Calibri"/>
                <a:cs typeface="Calibri"/>
              </a:rPr>
              <a:t>the ADC.</a:t>
            </a:r>
            <a:r>
              <a:rPr sz="2400" spc="8" dirty="0">
                <a:latin typeface="Calibri"/>
                <a:cs typeface="Calibri"/>
              </a:rPr>
              <a:t> </a:t>
            </a:r>
            <a:r>
              <a:rPr sz="2400" dirty="0">
                <a:latin typeface="Calibri"/>
                <a:cs typeface="Calibri"/>
              </a:rPr>
              <a:t>(e.g.</a:t>
            </a:r>
            <a:r>
              <a:rPr sz="2400" spc="11" dirty="0">
                <a:latin typeface="Calibri"/>
                <a:cs typeface="Calibri"/>
              </a:rPr>
              <a:t> </a:t>
            </a:r>
            <a:r>
              <a:rPr sz="2400" spc="-4" dirty="0">
                <a:latin typeface="Calibri"/>
                <a:cs typeface="Calibri"/>
              </a:rPr>
              <a:t>amplifier</a:t>
            </a:r>
            <a:r>
              <a:rPr sz="2400" spc="4" dirty="0">
                <a:latin typeface="Calibri"/>
                <a:cs typeface="Calibri"/>
              </a:rPr>
              <a:t> </a:t>
            </a:r>
            <a:r>
              <a:rPr sz="2400" spc="-19" dirty="0">
                <a:latin typeface="Calibri"/>
                <a:cs typeface="Calibri"/>
              </a:rPr>
              <a:t>for</a:t>
            </a:r>
            <a:r>
              <a:rPr sz="2400" dirty="0">
                <a:latin typeface="Calibri"/>
                <a:cs typeface="Calibri"/>
              </a:rPr>
              <a:t> </a:t>
            </a:r>
            <a:r>
              <a:rPr sz="2400" spc="-4" dirty="0">
                <a:latin typeface="Calibri"/>
                <a:cs typeface="Calibri"/>
              </a:rPr>
              <a:t>amplifying</a:t>
            </a:r>
            <a:r>
              <a:rPr sz="2400" spc="11" dirty="0">
                <a:latin typeface="Calibri"/>
                <a:cs typeface="Calibri"/>
              </a:rPr>
              <a:t> </a:t>
            </a:r>
            <a:r>
              <a:rPr sz="2400" spc="-8" dirty="0">
                <a:latin typeface="Calibri"/>
                <a:cs typeface="Calibri"/>
              </a:rPr>
              <a:t>low</a:t>
            </a:r>
            <a:r>
              <a:rPr sz="2400" dirty="0">
                <a:latin typeface="Calibri"/>
                <a:cs typeface="Calibri"/>
              </a:rPr>
              <a:t> </a:t>
            </a:r>
            <a:r>
              <a:rPr sz="2400" spc="-15" dirty="0">
                <a:latin typeface="Calibri"/>
                <a:cs typeface="Calibri"/>
              </a:rPr>
              <a:t>voltage</a:t>
            </a:r>
            <a:r>
              <a:rPr sz="2400" spc="-8" dirty="0">
                <a:latin typeface="Calibri"/>
                <a:cs typeface="Calibri"/>
              </a:rPr>
              <a:t> measured</a:t>
            </a:r>
            <a:r>
              <a:rPr sz="2400" spc="11" dirty="0">
                <a:latin typeface="Calibri"/>
                <a:cs typeface="Calibri"/>
              </a:rPr>
              <a:t> </a:t>
            </a:r>
            <a:r>
              <a:rPr sz="2400" spc="-11" dirty="0">
                <a:latin typeface="Calibri"/>
                <a:cs typeface="Calibri"/>
              </a:rPr>
              <a:t>by </a:t>
            </a:r>
            <a:r>
              <a:rPr sz="2400" spc="-8" dirty="0">
                <a:latin typeface="Calibri"/>
                <a:cs typeface="Calibri"/>
              </a:rPr>
              <a:t> transducer)</a:t>
            </a:r>
            <a:endParaRPr sz="2400" dirty="0">
              <a:latin typeface="Calibri"/>
              <a:cs typeface="Calibri"/>
            </a:endParaRPr>
          </a:p>
          <a:p>
            <a:pPr marL="180975" marR="156686" indent="-171926" algn="just">
              <a:lnSpc>
                <a:spcPts val="2018"/>
              </a:lnSpc>
              <a:spcBef>
                <a:spcPts val="731"/>
              </a:spcBef>
              <a:buFont typeface="Arial MT"/>
              <a:buChar char="•"/>
              <a:tabLst>
                <a:tab pos="181451" algn="l"/>
              </a:tabLst>
            </a:pPr>
            <a:r>
              <a:rPr sz="2400" b="1" spc="-4" dirty="0">
                <a:latin typeface="Calibri"/>
                <a:cs typeface="Calibri"/>
              </a:rPr>
              <a:t>Analog</a:t>
            </a:r>
            <a:r>
              <a:rPr sz="2400" b="1" spc="15" dirty="0">
                <a:latin typeface="Calibri"/>
                <a:cs typeface="Calibri"/>
              </a:rPr>
              <a:t> </a:t>
            </a:r>
            <a:r>
              <a:rPr sz="2400" b="1" spc="-11" dirty="0">
                <a:latin typeface="Calibri"/>
                <a:cs typeface="Calibri"/>
              </a:rPr>
              <a:t>to</a:t>
            </a:r>
            <a:r>
              <a:rPr sz="2400" b="1" spc="8" dirty="0">
                <a:latin typeface="Calibri"/>
                <a:cs typeface="Calibri"/>
              </a:rPr>
              <a:t> </a:t>
            </a:r>
            <a:r>
              <a:rPr sz="2400" b="1" spc="-8" dirty="0">
                <a:latin typeface="Calibri"/>
                <a:cs typeface="Calibri"/>
              </a:rPr>
              <a:t>digital</a:t>
            </a:r>
            <a:r>
              <a:rPr sz="2400" b="1" spc="23" dirty="0">
                <a:latin typeface="Calibri"/>
                <a:cs typeface="Calibri"/>
              </a:rPr>
              <a:t> </a:t>
            </a:r>
            <a:r>
              <a:rPr sz="2400" b="1" spc="-15" dirty="0">
                <a:latin typeface="Calibri"/>
                <a:cs typeface="Calibri"/>
              </a:rPr>
              <a:t>convertor</a:t>
            </a:r>
            <a:r>
              <a:rPr sz="2400" b="1" spc="15" dirty="0">
                <a:latin typeface="Calibri"/>
                <a:cs typeface="Calibri"/>
              </a:rPr>
              <a:t> </a:t>
            </a:r>
            <a:r>
              <a:rPr sz="2400" b="1" spc="-4" dirty="0">
                <a:latin typeface="Calibri"/>
                <a:cs typeface="Calibri"/>
              </a:rPr>
              <a:t>(ADC)</a:t>
            </a:r>
            <a:r>
              <a:rPr sz="2400" b="1" spc="26" dirty="0">
                <a:latin typeface="Calibri"/>
                <a:cs typeface="Calibri"/>
              </a:rPr>
              <a:t> </a:t>
            </a:r>
            <a:r>
              <a:rPr sz="2400" spc="-15" dirty="0">
                <a:latin typeface="Calibri"/>
                <a:cs typeface="Calibri"/>
              </a:rPr>
              <a:t>converts</a:t>
            </a:r>
            <a:r>
              <a:rPr sz="2400" spc="23" dirty="0">
                <a:latin typeface="Calibri"/>
                <a:cs typeface="Calibri"/>
              </a:rPr>
              <a:t> </a:t>
            </a:r>
            <a:r>
              <a:rPr sz="2400" spc="-4" dirty="0">
                <a:latin typeface="Calibri"/>
                <a:cs typeface="Calibri"/>
              </a:rPr>
              <a:t>the</a:t>
            </a:r>
            <a:r>
              <a:rPr sz="2400" spc="4" dirty="0">
                <a:latin typeface="Calibri"/>
                <a:cs typeface="Calibri"/>
              </a:rPr>
              <a:t> </a:t>
            </a:r>
            <a:r>
              <a:rPr sz="2400" spc="-4" dirty="0">
                <a:latin typeface="Calibri"/>
                <a:cs typeface="Calibri"/>
              </a:rPr>
              <a:t>analog</a:t>
            </a:r>
            <a:r>
              <a:rPr sz="2400" spc="4" dirty="0">
                <a:latin typeface="Calibri"/>
                <a:cs typeface="Calibri"/>
              </a:rPr>
              <a:t> </a:t>
            </a:r>
            <a:r>
              <a:rPr sz="2400" spc="-15" dirty="0">
                <a:latin typeface="Calibri"/>
                <a:cs typeface="Calibri"/>
              </a:rPr>
              <a:t>voltage</a:t>
            </a:r>
            <a:r>
              <a:rPr sz="2400" spc="8" dirty="0">
                <a:latin typeface="Calibri"/>
                <a:cs typeface="Calibri"/>
              </a:rPr>
              <a:t> </a:t>
            </a:r>
            <a:r>
              <a:rPr sz="2400" spc="-15" dirty="0">
                <a:latin typeface="Calibri"/>
                <a:cs typeface="Calibri"/>
              </a:rPr>
              <a:t>to</a:t>
            </a:r>
            <a:r>
              <a:rPr sz="2400" spc="4" dirty="0">
                <a:latin typeface="Calibri"/>
                <a:cs typeface="Calibri"/>
              </a:rPr>
              <a:t> </a:t>
            </a:r>
            <a:r>
              <a:rPr sz="2400" spc="-4" dirty="0">
                <a:latin typeface="Calibri"/>
                <a:cs typeface="Calibri"/>
              </a:rPr>
              <a:t>its </a:t>
            </a:r>
            <a:r>
              <a:rPr sz="2400" spc="-465" dirty="0">
                <a:latin typeface="Calibri"/>
                <a:cs typeface="Calibri"/>
              </a:rPr>
              <a:t> </a:t>
            </a:r>
            <a:r>
              <a:rPr sz="2400" spc="-11" dirty="0">
                <a:latin typeface="Calibri"/>
                <a:cs typeface="Calibri"/>
              </a:rPr>
              <a:t>equivalent</a:t>
            </a:r>
            <a:r>
              <a:rPr sz="2400" spc="11" dirty="0">
                <a:latin typeface="Calibri"/>
                <a:cs typeface="Calibri"/>
              </a:rPr>
              <a:t> </a:t>
            </a:r>
            <a:r>
              <a:rPr sz="2400" spc="-11" dirty="0">
                <a:latin typeface="Calibri"/>
                <a:cs typeface="Calibri"/>
              </a:rPr>
              <a:t>digital</a:t>
            </a:r>
            <a:r>
              <a:rPr sz="2400" spc="4" dirty="0">
                <a:latin typeface="Calibri"/>
                <a:cs typeface="Calibri"/>
              </a:rPr>
              <a:t> </a:t>
            </a:r>
            <a:r>
              <a:rPr sz="2400" spc="-15" dirty="0">
                <a:latin typeface="Calibri"/>
                <a:cs typeface="Calibri"/>
              </a:rPr>
              <a:t>form.</a:t>
            </a:r>
            <a:endParaRPr sz="2400" dirty="0">
              <a:latin typeface="Calibri"/>
              <a:cs typeface="Calibri"/>
            </a:endParaRPr>
          </a:p>
          <a:p>
            <a:pPr marL="180975" marR="3810" indent="-171926" algn="just">
              <a:lnSpc>
                <a:spcPct val="80000"/>
              </a:lnSpc>
              <a:spcBef>
                <a:spcPts val="769"/>
              </a:spcBef>
              <a:buFont typeface="Arial MT"/>
              <a:buChar char="•"/>
              <a:tabLst>
                <a:tab pos="181451" algn="l"/>
              </a:tabLst>
            </a:pPr>
            <a:r>
              <a:rPr sz="2400" spc="-4" dirty="0">
                <a:latin typeface="Calibri"/>
                <a:cs typeface="Calibri"/>
              </a:rPr>
              <a:t>The</a:t>
            </a:r>
            <a:r>
              <a:rPr sz="2400" dirty="0">
                <a:latin typeface="Calibri"/>
                <a:cs typeface="Calibri"/>
              </a:rPr>
              <a:t> </a:t>
            </a:r>
            <a:r>
              <a:rPr sz="2400" spc="-8" dirty="0">
                <a:latin typeface="Calibri"/>
                <a:cs typeface="Calibri"/>
              </a:rPr>
              <a:t>output</a:t>
            </a:r>
            <a:r>
              <a:rPr sz="2400" spc="23" dirty="0">
                <a:latin typeface="Calibri"/>
                <a:cs typeface="Calibri"/>
              </a:rPr>
              <a:t> </a:t>
            </a:r>
            <a:r>
              <a:rPr sz="2400" spc="-4" dirty="0">
                <a:latin typeface="Calibri"/>
                <a:cs typeface="Calibri"/>
              </a:rPr>
              <a:t>of</a:t>
            </a:r>
            <a:r>
              <a:rPr sz="2400" dirty="0">
                <a:latin typeface="Calibri"/>
                <a:cs typeface="Calibri"/>
              </a:rPr>
              <a:t> </a:t>
            </a:r>
            <a:r>
              <a:rPr sz="2400" spc="-4" dirty="0">
                <a:latin typeface="Calibri"/>
                <a:cs typeface="Calibri"/>
              </a:rPr>
              <a:t>the</a:t>
            </a:r>
            <a:r>
              <a:rPr sz="2400" spc="8" dirty="0">
                <a:latin typeface="Calibri"/>
                <a:cs typeface="Calibri"/>
              </a:rPr>
              <a:t> </a:t>
            </a:r>
            <a:r>
              <a:rPr sz="2400" spc="-4" dirty="0">
                <a:latin typeface="Calibri"/>
                <a:cs typeface="Calibri"/>
              </a:rPr>
              <a:t>ADC</a:t>
            </a:r>
            <a:r>
              <a:rPr sz="2400" spc="8" dirty="0">
                <a:latin typeface="Calibri"/>
                <a:cs typeface="Calibri"/>
              </a:rPr>
              <a:t> </a:t>
            </a:r>
            <a:r>
              <a:rPr sz="2400" spc="-15" dirty="0">
                <a:latin typeface="Calibri"/>
                <a:cs typeface="Calibri"/>
              </a:rPr>
              <a:t>may</a:t>
            </a:r>
            <a:r>
              <a:rPr sz="2400" spc="8" dirty="0">
                <a:latin typeface="Calibri"/>
                <a:cs typeface="Calibri"/>
              </a:rPr>
              <a:t> </a:t>
            </a:r>
            <a:r>
              <a:rPr sz="2400" b="1" spc="-11" dirty="0">
                <a:latin typeface="Calibri"/>
                <a:cs typeface="Calibri"/>
              </a:rPr>
              <a:t>displayed</a:t>
            </a:r>
            <a:r>
              <a:rPr sz="2400" b="1" spc="15" dirty="0">
                <a:latin typeface="Calibri"/>
                <a:cs typeface="Calibri"/>
              </a:rPr>
              <a:t> </a:t>
            </a:r>
            <a:r>
              <a:rPr sz="2400" b="1" spc="-4" dirty="0">
                <a:latin typeface="Calibri"/>
                <a:cs typeface="Calibri"/>
              </a:rPr>
              <a:t>visually</a:t>
            </a:r>
            <a:r>
              <a:rPr sz="2400" b="1" spc="30" dirty="0">
                <a:latin typeface="Calibri"/>
                <a:cs typeface="Calibri"/>
              </a:rPr>
              <a:t> </a:t>
            </a:r>
            <a:r>
              <a:rPr sz="2400" spc="-4" dirty="0">
                <a:latin typeface="Calibri"/>
                <a:cs typeface="Calibri"/>
              </a:rPr>
              <a:t>and</a:t>
            </a:r>
            <a:r>
              <a:rPr sz="2400" spc="11" dirty="0">
                <a:latin typeface="Calibri"/>
                <a:cs typeface="Calibri"/>
              </a:rPr>
              <a:t> </a:t>
            </a:r>
            <a:r>
              <a:rPr sz="2400" spc="-4" dirty="0">
                <a:latin typeface="Calibri"/>
                <a:cs typeface="Calibri"/>
              </a:rPr>
              <a:t>is</a:t>
            </a:r>
            <a:r>
              <a:rPr sz="2400" spc="4" dirty="0">
                <a:latin typeface="Calibri"/>
                <a:cs typeface="Calibri"/>
              </a:rPr>
              <a:t> </a:t>
            </a:r>
            <a:r>
              <a:rPr sz="2400" spc="-4" dirty="0">
                <a:latin typeface="Calibri"/>
                <a:cs typeface="Calibri"/>
              </a:rPr>
              <a:t>also</a:t>
            </a:r>
            <a:r>
              <a:rPr sz="2400" dirty="0">
                <a:latin typeface="Calibri"/>
                <a:cs typeface="Calibri"/>
              </a:rPr>
              <a:t> </a:t>
            </a:r>
            <a:r>
              <a:rPr sz="2400" spc="-11" dirty="0">
                <a:latin typeface="Calibri"/>
                <a:cs typeface="Calibri"/>
              </a:rPr>
              <a:t>available</a:t>
            </a:r>
            <a:r>
              <a:rPr sz="2400" dirty="0">
                <a:latin typeface="Calibri"/>
                <a:cs typeface="Calibri"/>
              </a:rPr>
              <a:t> </a:t>
            </a:r>
            <a:r>
              <a:rPr sz="2400" spc="-4" dirty="0">
                <a:latin typeface="Calibri"/>
                <a:cs typeface="Calibri"/>
              </a:rPr>
              <a:t>as </a:t>
            </a:r>
            <a:r>
              <a:rPr sz="2400" spc="-461" dirty="0">
                <a:latin typeface="Calibri"/>
                <a:cs typeface="Calibri"/>
              </a:rPr>
              <a:t> </a:t>
            </a:r>
            <a:r>
              <a:rPr sz="2400" spc="-15" dirty="0">
                <a:latin typeface="Calibri"/>
                <a:cs typeface="Calibri"/>
              </a:rPr>
              <a:t>voltage</a:t>
            </a:r>
            <a:r>
              <a:rPr sz="2400" spc="4" dirty="0">
                <a:latin typeface="Calibri"/>
                <a:cs typeface="Calibri"/>
              </a:rPr>
              <a:t> </a:t>
            </a:r>
            <a:r>
              <a:rPr sz="2400" spc="-8" dirty="0">
                <a:latin typeface="Calibri"/>
                <a:cs typeface="Calibri"/>
              </a:rPr>
              <a:t>outputs</a:t>
            </a:r>
            <a:r>
              <a:rPr sz="2400" spc="41" dirty="0">
                <a:latin typeface="Calibri"/>
                <a:cs typeface="Calibri"/>
              </a:rPr>
              <a:t> </a:t>
            </a:r>
            <a:r>
              <a:rPr sz="2400" spc="-4" dirty="0">
                <a:latin typeface="Calibri"/>
                <a:cs typeface="Calibri"/>
              </a:rPr>
              <a:t>in</a:t>
            </a:r>
            <a:r>
              <a:rPr sz="2400" spc="8" dirty="0">
                <a:latin typeface="Calibri"/>
                <a:cs typeface="Calibri"/>
              </a:rPr>
              <a:t> </a:t>
            </a:r>
            <a:r>
              <a:rPr sz="2400" spc="-15" dirty="0">
                <a:latin typeface="Calibri"/>
                <a:cs typeface="Calibri"/>
              </a:rPr>
              <a:t>discrete</a:t>
            </a:r>
            <a:r>
              <a:rPr sz="2400" spc="19" dirty="0">
                <a:latin typeface="Calibri"/>
                <a:cs typeface="Calibri"/>
              </a:rPr>
              <a:t> </a:t>
            </a:r>
            <a:r>
              <a:rPr sz="2400" spc="-15" dirty="0">
                <a:latin typeface="Calibri"/>
                <a:cs typeface="Calibri"/>
              </a:rPr>
              <a:t>steps</a:t>
            </a:r>
            <a:r>
              <a:rPr sz="2400" spc="11" dirty="0">
                <a:latin typeface="Calibri"/>
                <a:cs typeface="Calibri"/>
              </a:rPr>
              <a:t> </a:t>
            </a:r>
            <a:r>
              <a:rPr sz="2400" spc="-19" dirty="0">
                <a:latin typeface="Calibri"/>
                <a:cs typeface="Calibri"/>
              </a:rPr>
              <a:t>for</a:t>
            </a:r>
            <a:r>
              <a:rPr sz="2400" spc="8" dirty="0">
                <a:latin typeface="Calibri"/>
                <a:cs typeface="Calibri"/>
              </a:rPr>
              <a:t> </a:t>
            </a:r>
            <a:r>
              <a:rPr sz="2400" spc="-4" dirty="0">
                <a:latin typeface="Calibri"/>
                <a:cs typeface="Calibri"/>
              </a:rPr>
              <a:t>further</a:t>
            </a:r>
            <a:r>
              <a:rPr sz="2400" spc="26" dirty="0">
                <a:latin typeface="Calibri"/>
                <a:cs typeface="Calibri"/>
              </a:rPr>
              <a:t> </a:t>
            </a:r>
            <a:r>
              <a:rPr sz="2400" b="1" spc="-8" dirty="0">
                <a:latin typeface="Calibri"/>
                <a:cs typeface="Calibri"/>
              </a:rPr>
              <a:t>processing</a:t>
            </a:r>
            <a:r>
              <a:rPr sz="2400" b="1" spc="4" dirty="0">
                <a:latin typeface="Calibri"/>
                <a:cs typeface="Calibri"/>
              </a:rPr>
              <a:t> </a:t>
            </a:r>
            <a:r>
              <a:rPr sz="2400" spc="-4" dirty="0">
                <a:latin typeface="Calibri"/>
                <a:cs typeface="Calibri"/>
              </a:rPr>
              <a:t>or</a:t>
            </a:r>
            <a:r>
              <a:rPr sz="2400" spc="4" dirty="0">
                <a:latin typeface="Calibri"/>
                <a:cs typeface="Calibri"/>
              </a:rPr>
              <a:t> </a:t>
            </a:r>
            <a:r>
              <a:rPr sz="2400" b="1" spc="-11" dirty="0">
                <a:latin typeface="Calibri"/>
                <a:cs typeface="Calibri"/>
              </a:rPr>
              <a:t>recording </a:t>
            </a:r>
            <a:r>
              <a:rPr sz="2400" b="1" spc="-8" dirty="0">
                <a:latin typeface="Calibri"/>
                <a:cs typeface="Calibri"/>
              </a:rPr>
              <a:t> </a:t>
            </a:r>
            <a:r>
              <a:rPr sz="2400" spc="-4" dirty="0">
                <a:latin typeface="Calibri"/>
                <a:cs typeface="Calibri"/>
              </a:rPr>
              <a:t>on</a:t>
            </a:r>
            <a:r>
              <a:rPr sz="2400" dirty="0">
                <a:latin typeface="Calibri"/>
                <a:cs typeface="Calibri"/>
              </a:rPr>
              <a:t> </a:t>
            </a:r>
            <a:r>
              <a:rPr sz="2400" spc="-4" dirty="0">
                <a:latin typeface="Calibri"/>
                <a:cs typeface="Calibri"/>
              </a:rPr>
              <a:t>a</a:t>
            </a:r>
            <a:r>
              <a:rPr sz="2400" dirty="0">
                <a:latin typeface="Calibri"/>
                <a:cs typeface="Calibri"/>
              </a:rPr>
              <a:t> </a:t>
            </a:r>
            <a:r>
              <a:rPr sz="2400" spc="-11" dirty="0">
                <a:latin typeface="Calibri"/>
                <a:cs typeface="Calibri"/>
              </a:rPr>
              <a:t>digital</a:t>
            </a:r>
            <a:r>
              <a:rPr sz="2400" spc="-4" dirty="0">
                <a:latin typeface="Calibri"/>
                <a:cs typeface="Calibri"/>
              </a:rPr>
              <a:t> </a:t>
            </a:r>
            <a:r>
              <a:rPr sz="2400" spc="-34" dirty="0">
                <a:latin typeface="Calibri"/>
                <a:cs typeface="Calibri"/>
              </a:rPr>
              <a:t>recorder.</a:t>
            </a:r>
            <a:endParaRPr sz="2400" dirty="0">
              <a:latin typeface="Calibri"/>
              <a:cs typeface="Calibri"/>
            </a:endParaRPr>
          </a:p>
          <a:p>
            <a:pPr marL="180975" marR="70961" indent="-171926" algn="just">
              <a:lnSpc>
                <a:spcPct val="80000"/>
              </a:lnSpc>
              <a:spcBef>
                <a:spcPts val="750"/>
              </a:spcBef>
              <a:buFont typeface="Arial MT"/>
              <a:buChar char="•"/>
              <a:tabLst>
                <a:tab pos="181451" algn="l"/>
              </a:tabLst>
            </a:pPr>
            <a:r>
              <a:rPr sz="2400" b="1" spc="-4" dirty="0">
                <a:latin typeface="Calibri"/>
                <a:cs typeface="Calibri"/>
              </a:rPr>
              <a:t>Auxiliary</a:t>
            </a:r>
            <a:r>
              <a:rPr sz="2400" b="1" spc="34" dirty="0">
                <a:latin typeface="Calibri"/>
                <a:cs typeface="Calibri"/>
              </a:rPr>
              <a:t> </a:t>
            </a:r>
            <a:r>
              <a:rPr sz="2400" b="1" spc="-4" dirty="0">
                <a:latin typeface="Calibri"/>
                <a:cs typeface="Calibri"/>
              </a:rPr>
              <a:t>section</a:t>
            </a:r>
            <a:r>
              <a:rPr sz="2400" b="1" spc="19" dirty="0">
                <a:latin typeface="Calibri"/>
                <a:cs typeface="Calibri"/>
              </a:rPr>
              <a:t> </a:t>
            </a:r>
            <a:r>
              <a:rPr sz="2400" spc="-11" dirty="0">
                <a:latin typeface="Calibri"/>
                <a:cs typeface="Calibri"/>
              </a:rPr>
              <a:t>contains</a:t>
            </a:r>
            <a:r>
              <a:rPr sz="2400" spc="26" dirty="0">
                <a:latin typeface="Calibri"/>
                <a:cs typeface="Calibri"/>
              </a:rPr>
              <a:t> </a:t>
            </a:r>
            <a:r>
              <a:rPr sz="2400" spc="-11" dirty="0">
                <a:latin typeface="Calibri"/>
                <a:cs typeface="Calibri"/>
              </a:rPr>
              <a:t>instruments</a:t>
            </a:r>
            <a:r>
              <a:rPr sz="2400" spc="49" dirty="0">
                <a:latin typeface="Calibri"/>
                <a:cs typeface="Calibri"/>
              </a:rPr>
              <a:t> </a:t>
            </a:r>
            <a:r>
              <a:rPr sz="2400" spc="-19" dirty="0">
                <a:latin typeface="Calibri"/>
                <a:cs typeface="Calibri"/>
              </a:rPr>
              <a:t>for</a:t>
            </a:r>
            <a:r>
              <a:rPr sz="2400" spc="4" dirty="0">
                <a:latin typeface="Calibri"/>
                <a:cs typeface="Calibri"/>
              </a:rPr>
              <a:t> </a:t>
            </a:r>
            <a:r>
              <a:rPr sz="2400" spc="-23" dirty="0">
                <a:latin typeface="Calibri"/>
                <a:cs typeface="Calibri"/>
              </a:rPr>
              <a:t>system</a:t>
            </a:r>
            <a:r>
              <a:rPr sz="2400" spc="15" dirty="0">
                <a:latin typeface="Calibri"/>
                <a:cs typeface="Calibri"/>
              </a:rPr>
              <a:t> </a:t>
            </a:r>
            <a:r>
              <a:rPr sz="2400" spc="-15" dirty="0">
                <a:latin typeface="Calibri"/>
                <a:cs typeface="Calibri"/>
              </a:rPr>
              <a:t>programming</a:t>
            </a:r>
            <a:r>
              <a:rPr sz="2400" spc="26" dirty="0">
                <a:latin typeface="Calibri"/>
                <a:cs typeface="Calibri"/>
              </a:rPr>
              <a:t> </a:t>
            </a:r>
            <a:r>
              <a:rPr sz="2400" spc="-4" dirty="0">
                <a:latin typeface="Calibri"/>
                <a:cs typeface="Calibri"/>
              </a:rPr>
              <a:t>and </a:t>
            </a:r>
            <a:r>
              <a:rPr sz="2400" spc="-465" dirty="0">
                <a:latin typeface="Calibri"/>
                <a:cs typeface="Calibri"/>
              </a:rPr>
              <a:t> </a:t>
            </a:r>
            <a:r>
              <a:rPr sz="2400" spc="-11" dirty="0">
                <a:latin typeface="Calibri"/>
                <a:cs typeface="Calibri"/>
              </a:rPr>
              <a:t>digital</a:t>
            </a:r>
            <a:r>
              <a:rPr sz="2400" spc="8" dirty="0">
                <a:latin typeface="Calibri"/>
                <a:cs typeface="Calibri"/>
              </a:rPr>
              <a:t> </a:t>
            </a:r>
            <a:r>
              <a:rPr sz="2400" spc="-15" dirty="0">
                <a:latin typeface="Calibri"/>
                <a:cs typeface="Calibri"/>
              </a:rPr>
              <a:t>data</a:t>
            </a:r>
            <a:r>
              <a:rPr sz="2400" dirty="0">
                <a:latin typeface="Calibri"/>
                <a:cs typeface="Calibri"/>
              </a:rPr>
              <a:t> </a:t>
            </a:r>
            <a:r>
              <a:rPr sz="2400" spc="-11" dirty="0">
                <a:latin typeface="Calibri"/>
                <a:cs typeface="Calibri"/>
              </a:rPr>
              <a:t>processing</a:t>
            </a:r>
            <a:r>
              <a:rPr sz="2400" spc="23" dirty="0">
                <a:latin typeface="Calibri"/>
                <a:cs typeface="Calibri"/>
              </a:rPr>
              <a:t> </a:t>
            </a:r>
            <a:r>
              <a:rPr sz="2400" spc="-4" dirty="0">
                <a:latin typeface="Calibri"/>
                <a:cs typeface="Calibri"/>
              </a:rPr>
              <a:t>such</a:t>
            </a:r>
            <a:r>
              <a:rPr sz="2400" spc="26" dirty="0">
                <a:latin typeface="Calibri"/>
                <a:cs typeface="Calibri"/>
              </a:rPr>
              <a:t> </a:t>
            </a:r>
            <a:r>
              <a:rPr sz="2400" spc="-4" dirty="0">
                <a:latin typeface="Calibri"/>
                <a:cs typeface="Calibri"/>
              </a:rPr>
              <a:t>as</a:t>
            </a:r>
            <a:r>
              <a:rPr sz="2400" dirty="0">
                <a:latin typeface="Calibri"/>
                <a:cs typeface="Calibri"/>
              </a:rPr>
              <a:t> </a:t>
            </a:r>
            <a:r>
              <a:rPr sz="2400" spc="-8" dirty="0">
                <a:latin typeface="Calibri"/>
                <a:cs typeface="Calibri"/>
              </a:rPr>
              <a:t>linearizing</a:t>
            </a:r>
            <a:r>
              <a:rPr sz="2400" spc="8" dirty="0">
                <a:latin typeface="Calibri"/>
                <a:cs typeface="Calibri"/>
              </a:rPr>
              <a:t> </a:t>
            </a:r>
            <a:r>
              <a:rPr sz="2400" spc="-4" dirty="0">
                <a:latin typeface="Calibri"/>
                <a:cs typeface="Calibri"/>
              </a:rPr>
              <a:t>and</a:t>
            </a:r>
            <a:r>
              <a:rPr sz="2400" spc="15" dirty="0">
                <a:latin typeface="Calibri"/>
                <a:cs typeface="Calibri"/>
              </a:rPr>
              <a:t> </a:t>
            </a:r>
            <a:r>
              <a:rPr sz="2400" spc="-8" dirty="0">
                <a:latin typeface="Calibri"/>
                <a:cs typeface="Calibri"/>
              </a:rPr>
              <a:t>limit</a:t>
            </a:r>
            <a:r>
              <a:rPr sz="2400" spc="53" dirty="0">
                <a:latin typeface="Calibri"/>
                <a:cs typeface="Calibri"/>
              </a:rPr>
              <a:t> </a:t>
            </a:r>
            <a:r>
              <a:rPr sz="2400" spc="-8" dirty="0">
                <a:latin typeface="Calibri"/>
                <a:cs typeface="Calibri"/>
              </a:rPr>
              <a:t>comparison</a:t>
            </a:r>
            <a:r>
              <a:rPr sz="2400" spc="15" dirty="0">
                <a:latin typeface="Calibri"/>
                <a:cs typeface="Calibri"/>
              </a:rPr>
              <a:t> </a:t>
            </a:r>
            <a:r>
              <a:rPr sz="2400" spc="-11" dirty="0">
                <a:latin typeface="Calibri"/>
                <a:cs typeface="Calibri"/>
              </a:rPr>
              <a:t>etc. </a:t>
            </a:r>
            <a:r>
              <a:rPr sz="2400" spc="-8" dirty="0">
                <a:latin typeface="Calibri"/>
                <a:cs typeface="Calibri"/>
              </a:rPr>
              <a:t> These</a:t>
            </a:r>
            <a:r>
              <a:rPr sz="2400" dirty="0">
                <a:latin typeface="Calibri"/>
                <a:cs typeface="Calibri"/>
              </a:rPr>
              <a:t> </a:t>
            </a:r>
            <a:r>
              <a:rPr sz="2400" spc="-8" dirty="0">
                <a:latin typeface="Calibri"/>
                <a:cs typeface="Calibri"/>
              </a:rPr>
              <a:t>functions</a:t>
            </a:r>
            <a:r>
              <a:rPr sz="2400" spc="34" dirty="0">
                <a:latin typeface="Calibri"/>
                <a:cs typeface="Calibri"/>
              </a:rPr>
              <a:t> </a:t>
            </a:r>
            <a:r>
              <a:rPr sz="2400" spc="-15" dirty="0">
                <a:latin typeface="Calibri"/>
                <a:cs typeface="Calibri"/>
              </a:rPr>
              <a:t>may</a:t>
            </a:r>
            <a:r>
              <a:rPr sz="2400" spc="4" dirty="0">
                <a:latin typeface="Calibri"/>
                <a:cs typeface="Calibri"/>
              </a:rPr>
              <a:t> </a:t>
            </a:r>
            <a:r>
              <a:rPr sz="2400" spc="-4" dirty="0">
                <a:latin typeface="Calibri"/>
                <a:cs typeface="Calibri"/>
              </a:rPr>
              <a:t>be</a:t>
            </a:r>
            <a:r>
              <a:rPr sz="2400" spc="4" dirty="0">
                <a:latin typeface="Calibri"/>
                <a:cs typeface="Calibri"/>
              </a:rPr>
              <a:t> </a:t>
            </a:r>
            <a:r>
              <a:rPr sz="2400" spc="-11" dirty="0">
                <a:latin typeface="Calibri"/>
                <a:cs typeface="Calibri"/>
              </a:rPr>
              <a:t>performed</a:t>
            </a:r>
            <a:r>
              <a:rPr sz="2400" spc="15" dirty="0">
                <a:latin typeface="Calibri"/>
                <a:cs typeface="Calibri"/>
              </a:rPr>
              <a:t> </a:t>
            </a:r>
            <a:r>
              <a:rPr sz="2400" spc="-11" dirty="0">
                <a:latin typeface="Calibri"/>
                <a:cs typeface="Calibri"/>
              </a:rPr>
              <a:t>by</a:t>
            </a:r>
            <a:r>
              <a:rPr sz="2400" spc="8" dirty="0">
                <a:latin typeface="Calibri"/>
                <a:cs typeface="Calibri"/>
              </a:rPr>
              <a:t> </a:t>
            </a:r>
            <a:r>
              <a:rPr sz="2400" spc="-8" dirty="0">
                <a:latin typeface="Calibri"/>
                <a:cs typeface="Calibri"/>
              </a:rPr>
              <a:t>individual</a:t>
            </a:r>
            <a:r>
              <a:rPr sz="2400" spc="30" dirty="0">
                <a:latin typeface="Calibri"/>
                <a:cs typeface="Calibri"/>
              </a:rPr>
              <a:t> </a:t>
            </a:r>
            <a:r>
              <a:rPr sz="2400" spc="-11" dirty="0">
                <a:latin typeface="Calibri"/>
                <a:cs typeface="Calibri"/>
              </a:rPr>
              <a:t>instruments</a:t>
            </a:r>
            <a:r>
              <a:rPr sz="2400" spc="45" dirty="0">
                <a:latin typeface="Calibri"/>
                <a:cs typeface="Calibri"/>
              </a:rPr>
              <a:t> </a:t>
            </a:r>
            <a:r>
              <a:rPr sz="2400" spc="-4" dirty="0">
                <a:latin typeface="Calibri"/>
                <a:cs typeface="Calibri"/>
              </a:rPr>
              <a:t>or</a:t>
            </a:r>
            <a:r>
              <a:rPr sz="2400" spc="4" dirty="0">
                <a:latin typeface="Calibri"/>
                <a:cs typeface="Calibri"/>
              </a:rPr>
              <a:t> </a:t>
            </a:r>
            <a:r>
              <a:rPr sz="2400" spc="-11" dirty="0">
                <a:latin typeface="Calibri"/>
                <a:cs typeface="Calibri"/>
              </a:rPr>
              <a:t>by</a:t>
            </a:r>
            <a:r>
              <a:rPr sz="2400" spc="8" dirty="0">
                <a:latin typeface="Calibri"/>
                <a:cs typeface="Calibri"/>
              </a:rPr>
              <a:t> </a:t>
            </a:r>
            <a:r>
              <a:rPr sz="2400" spc="-4" dirty="0">
                <a:latin typeface="Calibri"/>
                <a:cs typeface="Calibri"/>
              </a:rPr>
              <a:t>a </a:t>
            </a:r>
            <a:r>
              <a:rPr sz="2400" spc="-465" dirty="0">
                <a:latin typeface="Calibri"/>
                <a:cs typeface="Calibri"/>
              </a:rPr>
              <a:t> </a:t>
            </a:r>
            <a:r>
              <a:rPr sz="2400" b="1" spc="-8" dirty="0">
                <a:latin typeface="Calibri"/>
                <a:cs typeface="Calibri"/>
              </a:rPr>
              <a:t>digital</a:t>
            </a:r>
            <a:r>
              <a:rPr sz="2400" b="1" spc="8" dirty="0">
                <a:latin typeface="Calibri"/>
                <a:cs typeface="Calibri"/>
              </a:rPr>
              <a:t> </a:t>
            </a:r>
            <a:r>
              <a:rPr sz="2400" b="1" spc="-30" dirty="0">
                <a:latin typeface="Calibri"/>
                <a:cs typeface="Calibri"/>
              </a:rPr>
              <a:t>computer.</a:t>
            </a:r>
            <a:endParaRPr sz="2400" dirty="0">
              <a:latin typeface="Calibri"/>
              <a:cs typeface="Calibri"/>
            </a:endParaRPr>
          </a:p>
        </p:txBody>
      </p:sp>
    </p:spTree>
    <p:extLst>
      <p:ext uri="{BB962C8B-B14F-4D97-AF65-F5344CB8AC3E}">
        <p14:creationId xmlns:p14="http://schemas.microsoft.com/office/powerpoint/2010/main" val="2739952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DAS</a:t>
            </a:r>
            <a:endParaRPr lang="en-US" dirty="0"/>
          </a:p>
        </p:txBody>
      </p:sp>
      <p:sp>
        <p:nvSpPr>
          <p:cNvPr id="3" name="Content Placeholder 2"/>
          <p:cNvSpPr>
            <a:spLocks noGrp="1"/>
          </p:cNvSpPr>
          <p:nvPr>
            <p:ph idx="1"/>
          </p:nvPr>
        </p:nvSpPr>
        <p:spPr/>
        <p:txBody>
          <a:bodyPr>
            <a:normAutofit lnSpcReduction="10000"/>
          </a:bodyPr>
          <a:lstStyle/>
          <a:p>
            <a:r>
              <a:rPr lang="en-US" dirty="0"/>
              <a:t>Mainly, the following </a:t>
            </a:r>
            <a:r>
              <a:rPr lang="en-US" b="1" dirty="0"/>
              <a:t>operations</a:t>
            </a:r>
            <a:r>
              <a:rPr lang="en-US" dirty="0"/>
              <a:t> take place in digital data acquisition.</a:t>
            </a:r>
          </a:p>
          <a:p>
            <a:pPr lvl="1"/>
            <a:r>
              <a:rPr lang="en-US" dirty="0"/>
              <a:t>Acquisition of analog </a:t>
            </a:r>
            <a:r>
              <a:rPr lang="en-US" dirty="0" smtClean="0"/>
              <a:t>signals.</a:t>
            </a:r>
            <a:endParaRPr lang="en-US" dirty="0"/>
          </a:p>
          <a:p>
            <a:pPr lvl="1"/>
            <a:r>
              <a:rPr lang="en-US" dirty="0"/>
              <a:t>Conversion of analog signals into digital signals or digital </a:t>
            </a:r>
            <a:r>
              <a:rPr lang="en-US" dirty="0" smtClean="0"/>
              <a:t>data.</a:t>
            </a:r>
            <a:endParaRPr lang="en-US" dirty="0"/>
          </a:p>
          <a:p>
            <a:pPr lvl="1"/>
            <a:r>
              <a:rPr lang="en-US" dirty="0"/>
              <a:t>Processing of digital signals or digital </a:t>
            </a:r>
            <a:r>
              <a:rPr lang="en-US" dirty="0" smtClean="0"/>
              <a:t>data.</a:t>
            </a:r>
          </a:p>
          <a:p>
            <a:r>
              <a:rPr lang="en-US" dirty="0" smtClean="0"/>
              <a:t>Components:</a:t>
            </a:r>
          </a:p>
          <a:p>
            <a:pPr lvl="1"/>
            <a:r>
              <a:rPr lang="en-US" dirty="0" smtClean="0"/>
              <a:t>Transducer, signal conditioner, MUX, ADC, digital recorder.</a:t>
            </a:r>
            <a:endParaRPr lang="en-US" dirty="0"/>
          </a:p>
          <a:p>
            <a:endParaRPr lang="en-US" dirty="0"/>
          </a:p>
        </p:txBody>
      </p:sp>
    </p:spTree>
    <p:extLst>
      <p:ext uri="{BB962C8B-B14F-4D97-AF65-F5344CB8AC3E}">
        <p14:creationId xmlns:p14="http://schemas.microsoft.com/office/powerpoint/2010/main" val="31692143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Applications </a:t>
            </a:r>
            <a:r>
              <a:rPr lang="en-US" dirty="0"/>
              <a:t>of DAS</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Biomedical, aerospace, telemetry.</a:t>
            </a:r>
          </a:p>
          <a:p>
            <a:r>
              <a:rPr lang="en-US" dirty="0" smtClean="0"/>
              <a:t>Analog DAS is used when wide bandwidth is required or when lower accuracy can be tolerated.</a:t>
            </a:r>
          </a:p>
          <a:p>
            <a:r>
              <a:rPr lang="en-US" dirty="0" smtClean="0"/>
              <a:t>Digital DAS is used when there is narrow bandwidth, high accuracy and low per channel cost is required.</a:t>
            </a:r>
          </a:p>
          <a:p>
            <a:r>
              <a:rPr lang="en-US" dirty="0" smtClean="0"/>
              <a:t>The complexity of digital DAS range from single channel DC voltage measuring and recording to automatic multi channel system which measures a large parameters, compare them and provide decision.</a:t>
            </a:r>
          </a:p>
          <a:p>
            <a:r>
              <a:rPr lang="en-US" dirty="0" smtClean="0"/>
              <a:t>Digital DAS is more complex than analog DAS in both instruments involved and volume and complexity of i/p data they can handle.</a:t>
            </a:r>
          </a:p>
          <a:p>
            <a:endParaRPr lang="en-US" dirty="0"/>
          </a:p>
        </p:txBody>
      </p:sp>
    </p:spTree>
    <p:extLst>
      <p:ext uri="{BB962C8B-B14F-4D97-AF65-F5344CB8AC3E}">
        <p14:creationId xmlns:p14="http://schemas.microsoft.com/office/powerpoint/2010/main" val="30116374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Modern trends in DAS</a:t>
            </a:r>
            <a:endParaRPr lang="en-US" dirty="0"/>
          </a:p>
        </p:txBody>
      </p:sp>
      <p:sp>
        <p:nvSpPr>
          <p:cNvPr id="3" name="Content Placeholder 2"/>
          <p:cNvSpPr>
            <a:spLocks noGrp="1"/>
          </p:cNvSpPr>
          <p:nvPr>
            <p:ph idx="1"/>
          </p:nvPr>
        </p:nvSpPr>
        <p:spPr/>
        <p:txBody>
          <a:bodyPr/>
          <a:lstStyle/>
          <a:p>
            <a:r>
              <a:rPr lang="en-US" dirty="0" smtClean="0"/>
              <a:t>Microcontroller based DAS</a:t>
            </a:r>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639291"/>
            <a:ext cx="6324600" cy="338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78887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trends in DAS</a:t>
            </a:r>
          </a:p>
        </p:txBody>
      </p:sp>
      <p:sp>
        <p:nvSpPr>
          <p:cNvPr id="3" name="Content Placeholder 2"/>
          <p:cNvSpPr>
            <a:spLocks noGrp="1"/>
          </p:cNvSpPr>
          <p:nvPr>
            <p:ph idx="1"/>
          </p:nvPr>
        </p:nvSpPr>
        <p:spPr/>
        <p:txBody>
          <a:bodyPr/>
          <a:lstStyle/>
          <a:p>
            <a:r>
              <a:rPr lang="en-US" dirty="0" smtClean="0"/>
              <a:t>PC based DAS:</a:t>
            </a:r>
            <a:endParaRPr lang="en-US" dirty="0"/>
          </a:p>
        </p:txBody>
      </p:sp>
      <p:pic>
        <p:nvPicPr>
          <p:cNvPr id="2052" name="Picture 4" descr="Data acquisition &amp;amp; contr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276929"/>
            <a:ext cx="5334000" cy="4000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96077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10000"/>
          </a:bodyPr>
          <a:lstStyle/>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Data Transmission and Telemetry</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In modern measurement systems, the various components comprising the system are usually located at a distance from each other. It, therefore, becomes necessary to transmit the data or an information between them through some form of communication channels.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terms data transmission and telemetry refer to the process by which information regarding the quantity being measured, may be using a transducer and signal conditioning equipment, is transferred to a remote location, perhaps to be processed, recorded and displayed. </a:t>
            </a:r>
            <a:r>
              <a:rPr lang="en-US" b="1" dirty="0" smtClean="0">
                <a:solidFill>
                  <a:schemeClr val="tx1"/>
                </a:solidFill>
                <a:latin typeface="Times New Roman" pitchFamily="18" charset="0"/>
                <a:cs typeface="Times New Roman" pitchFamily="18" charset="0"/>
              </a:rPr>
              <a:t>Telemetry</a:t>
            </a:r>
            <a:r>
              <a:rPr lang="en-US" dirty="0" smtClean="0">
                <a:solidFill>
                  <a:schemeClr val="tx1"/>
                </a:solidFill>
                <a:latin typeface="Times New Roman" pitchFamily="18" charset="0"/>
                <a:cs typeface="Times New Roman" pitchFamily="18" charset="0"/>
              </a:rPr>
              <a:t> is the technology which enables a user to collect data from several measurement points at inaccessible or inconvenient locations, transmit that data to a convenient location, and present the several individual measurements in a usable form.</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84148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0000" lnSpcReduction="20000"/>
          </a:bodyPr>
          <a:lstStyle/>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METHODS OF DATA TRANSMISSION </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The transmission of a measured variable to a remote point is an important function in Instrumentation systems because of the size and complexity of modern industrial plants. The most common variables encountered in industrial plants are temperature, pressure and flow. Most measuring devices for these variables such as mercury thermometers, pressure gauges or flow rate meters would require fluid-line connections of great length from the place of measurement to the place of data recording or display. This will result into excessive measurement lags. Hence, there is a need for fast transmission of data.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a:t>
            </a:r>
            <a:r>
              <a:rPr lang="en-US" b="1" dirty="0" smtClean="0">
                <a:solidFill>
                  <a:schemeClr val="tx1"/>
                </a:solidFill>
                <a:latin typeface="Times New Roman" pitchFamily="18" charset="0"/>
                <a:cs typeface="Times New Roman" pitchFamily="18" charset="0"/>
              </a:rPr>
              <a:t>methods employed for data transmission </a:t>
            </a:r>
            <a:r>
              <a:rPr lang="en-US" dirty="0" smtClean="0">
                <a:solidFill>
                  <a:schemeClr val="tx1"/>
                </a:solidFill>
                <a:latin typeface="Times New Roman" pitchFamily="18" charset="0"/>
                <a:cs typeface="Times New Roman" pitchFamily="18" charset="0"/>
              </a:rPr>
              <a:t>depend upon the variable and the distance over which it has to be transmitted. The following methods may be used for data transmission :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Hydraulic transmission,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Pneumatic transmission, and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Electrical and Electronic transmission. </a:t>
            </a:r>
          </a:p>
          <a:p>
            <a:pPr algn="just"/>
            <a:r>
              <a:rPr lang="en-US" dirty="0" smtClean="0">
                <a:solidFill>
                  <a:schemeClr val="tx1"/>
                </a:solidFill>
                <a:latin typeface="Times New Roman" pitchFamily="18" charset="0"/>
                <a:cs typeface="Times New Roman" pitchFamily="18" charset="0"/>
              </a:rPr>
              <a:t>The electrical and electronic methods of data transmission are extensively used in Instrumentation and measurement systems.</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25860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algn="just"/>
            <a:endParaRPr lang="en-US" sz="2400" dirty="0" smtClean="0">
              <a:solidFill>
                <a:schemeClr val="tx1"/>
              </a:solidFill>
              <a:latin typeface="Times New Roman" pitchFamily="18" charset="0"/>
              <a:cs typeface="Times New Roman" pitchFamily="18" charset="0"/>
            </a:endParaRPr>
          </a:p>
          <a:p>
            <a:pPr algn="just"/>
            <a:r>
              <a:rPr lang="en-US" sz="2400" b="1" u="sng" dirty="0" smtClean="0">
                <a:solidFill>
                  <a:schemeClr val="tx1"/>
                </a:solidFill>
                <a:latin typeface="Times New Roman" pitchFamily="18" charset="0"/>
                <a:cs typeface="Times New Roman" pitchFamily="18" charset="0"/>
              </a:rPr>
              <a:t>GENERAL TELEMETRY SYSTEM </a:t>
            </a:r>
          </a:p>
          <a:p>
            <a:pPr algn="just"/>
            <a:endParaRPr lang="en-US" sz="1400" dirty="0" smtClean="0">
              <a:solidFill>
                <a:schemeClr val="tx1"/>
              </a:solidFill>
              <a:latin typeface="Times New Roman" pitchFamily="18" charset="0"/>
              <a:cs typeface="Times New Roman" pitchFamily="18" charset="0"/>
            </a:endParaRPr>
          </a:p>
          <a:p>
            <a:pPr algn="just">
              <a:buFont typeface="Arial" pitchFamily="34" charset="0"/>
              <a:buChar char="•"/>
            </a:pPr>
            <a:r>
              <a:rPr lang="en-US" sz="2000" dirty="0" smtClean="0">
                <a:solidFill>
                  <a:schemeClr val="tx1"/>
                </a:solidFill>
                <a:latin typeface="Times New Roman" pitchFamily="18" charset="0"/>
                <a:cs typeface="Times New Roman" pitchFamily="18" charset="0"/>
              </a:rPr>
              <a:t>Telemetry may be defined as measurement at a distance. A general </a:t>
            </a:r>
            <a:r>
              <a:rPr lang="en-US" sz="2000" dirty="0" err="1" smtClean="0">
                <a:solidFill>
                  <a:schemeClr val="tx1"/>
                </a:solidFill>
                <a:latin typeface="Times New Roman" pitchFamily="18" charset="0"/>
                <a:cs typeface="Times New Roman" pitchFamily="18" charset="0"/>
              </a:rPr>
              <a:t>telemetering</a:t>
            </a:r>
            <a:r>
              <a:rPr lang="en-US" sz="2000" dirty="0" smtClean="0">
                <a:solidFill>
                  <a:schemeClr val="tx1"/>
                </a:solidFill>
                <a:latin typeface="Times New Roman" pitchFamily="18" charset="0"/>
                <a:cs typeface="Times New Roman" pitchFamily="18" charset="0"/>
              </a:rPr>
              <a:t> system is shown in Fig. 27.1. The primary detector and the end device of the </a:t>
            </a:r>
            <a:r>
              <a:rPr lang="en-US" sz="2000" dirty="0" err="1" smtClean="0">
                <a:solidFill>
                  <a:schemeClr val="tx1"/>
                </a:solidFill>
                <a:latin typeface="Times New Roman" pitchFamily="18" charset="0"/>
                <a:cs typeface="Times New Roman" pitchFamily="18" charset="0"/>
              </a:rPr>
              <a:t>telemetering</a:t>
            </a:r>
            <a:r>
              <a:rPr lang="en-US" sz="2000" dirty="0" smtClean="0">
                <a:solidFill>
                  <a:schemeClr val="tx1"/>
                </a:solidFill>
                <a:latin typeface="Times New Roman" pitchFamily="18" charset="0"/>
                <a:cs typeface="Times New Roman" pitchFamily="18" charset="0"/>
              </a:rPr>
              <a:t> system have the same position and functional roles as in a generalized measurement system. However, there are three system elements in the intermediate stage which are peculiar to a </a:t>
            </a:r>
            <a:r>
              <a:rPr lang="en-US" sz="2000" dirty="0" err="1" smtClean="0">
                <a:solidFill>
                  <a:schemeClr val="tx1"/>
                </a:solidFill>
                <a:latin typeface="Times New Roman" pitchFamily="18" charset="0"/>
                <a:cs typeface="Times New Roman" pitchFamily="18" charset="0"/>
              </a:rPr>
              <a:t>telemetering</a:t>
            </a:r>
            <a:r>
              <a:rPr lang="en-US" sz="2000" dirty="0" smtClean="0">
                <a:solidFill>
                  <a:schemeClr val="tx1"/>
                </a:solidFill>
                <a:latin typeface="Times New Roman" pitchFamily="18" charset="0"/>
                <a:cs typeface="Times New Roman" pitchFamily="18" charset="0"/>
              </a:rPr>
              <a:t> system, they are : </a:t>
            </a:r>
          </a:p>
          <a:p>
            <a:pPr marL="514350" indent="-514350" algn="just">
              <a:buFont typeface="+mj-lt"/>
              <a:buAutoNum type="arabicPeriod"/>
            </a:pPr>
            <a:r>
              <a:rPr lang="en-US" sz="2000" dirty="0" smtClean="0">
                <a:solidFill>
                  <a:schemeClr val="tx1"/>
                </a:solidFill>
                <a:latin typeface="Times New Roman" pitchFamily="18" charset="0"/>
                <a:cs typeface="Times New Roman" pitchFamily="18" charset="0"/>
              </a:rPr>
              <a:t>telemeter transmitter, </a:t>
            </a:r>
          </a:p>
          <a:p>
            <a:pPr marL="514350" indent="-514350" algn="just">
              <a:buFont typeface="+mj-lt"/>
              <a:buAutoNum type="arabicPeriod"/>
            </a:pPr>
            <a:r>
              <a:rPr lang="en-US" sz="2000" dirty="0" smtClean="0">
                <a:solidFill>
                  <a:schemeClr val="tx1"/>
                </a:solidFill>
                <a:latin typeface="Times New Roman" pitchFamily="18" charset="0"/>
                <a:cs typeface="Times New Roman" pitchFamily="18" charset="0"/>
              </a:rPr>
              <a:t>telemeter channel, </a:t>
            </a:r>
          </a:p>
          <a:p>
            <a:pPr marL="514350" indent="-514350" algn="just">
              <a:buFont typeface="+mj-lt"/>
              <a:buAutoNum type="arabicPeriod"/>
            </a:pPr>
            <a:r>
              <a:rPr lang="en-US" sz="2000" dirty="0" smtClean="0">
                <a:solidFill>
                  <a:schemeClr val="tx1"/>
                </a:solidFill>
                <a:latin typeface="Times New Roman" pitchFamily="18" charset="0"/>
                <a:cs typeface="Times New Roman" pitchFamily="18" charset="0"/>
              </a:rPr>
              <a:t>telemeter receiver.</a:t>
            </a:r>
          </a:p>
          <a:p>
            <a:pPr marL="514350" indent="-514350" algn="just">
              <a:buFont typeface="+mj-lt"/>
              <a:buAutoNum type="arabicPeriod"/>
            </a:pPr>
            <a:endParaRPr lang="en-US" dirty="0" smtClean="0">
              <a:solidFill>
                <a:schemeClr val="tx1"/>
              </a:solidFill>
              <a:latin typeface="Times New Roman" pitchFamily="18" charset="0"/>
              <a:cs typeface="Times New Roman" pitchFamily="18" charset="0"/>
            </a:endParaRPr>
          </a:p>
          <a:p>
            <a:pPr marL="514350" indent="-514350" algn="just">
              <a:buFont typeface="+mj-lt"/>
              <a:buAutoNum type="arabicPeriod"/>
            </a:pPr>
            <a:endParaRPr lang="en-US" dirty="0">
              <a:solidFill>
                <a:schemeClr val="tx1"/>
              </a:solidFill>
              <a:latin typeface="Times New Roman" pitchFamily="18" charset="0"/>
              <a:cs typeface="Times New Roman" pitchFamily="18" charset="0"/>
            </a:endParaRPr>
          </a:p>
        </p:txBody>
      </p:sp>
      <p:pic>
        <p:nvPicPr>
          <p:cNvPr id="4" name="Picture 3" descr="aa.JPG"/>
          <p:cNvPicPr>
            <a:picLocks noChangeAspect="1"/>
          </p:cNvPicPr>
          <p:nvPr/>
        </p:nvPicPr>
        <p:blipFill>
          <a:blip r:embed="rId2"/>
          <a:stretch>
            <a:fillRect/>
          </a:stretch>
        </p:blipFill>
        <p:spPr>
          <a:xfrm>
            <a:off x="0" y="3962400"/>
            <a:ext cx="9144000" cy="2895600"/>
          </a:xfrm>
          <a:prstGeom prst="rect">
            <a:avLst/>
          </a:prstGeom>
        </p:spPr>
      </p:pic>
    </p:spTree>
    <p:extLst>
      <p:ext uri="{BB962C8B-B14F-4D97-AF65-F5344CB8AC3E}">
        <p14:creationId xmlns:p14="http://schemas.microsoft.com/office/powerpoint/2010/main" val="4075689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The function of the telemeter transmitter is to convert the output of a primary sensing element into an electrical signal and to transmit it over a telemetering channel.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signal is in electrical format and is received by a receiver placed at a remote location.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signal is converted into a usable form by the receiver and is indicated or recorded by an end device, which is graduated in terms of the </a:t>
            </a:r>
            <a:r>
              <a:rPr lang="en-US" dirty="0" err="1" smtClean="0">
                <a:solidFill>
                  <a:schemeClr val="tx1"/>
                </a:solidFill>
                <a:latin typeface="Times New Roman" pitchFamily="18" charset="0"/>
                <a:cs typeface="Times New Roman" pitchFamily="18" charset="0"/>
              </a:rPr>
              <a:t>measurand</a:t>
            </a:r>
            <a:r>
              <a:rPr lang="en-US" smtClean="0">
                <a:solidFill>
                  <a:schemeClr val="tx1"/>
                </a:solidFill>
                <a:latin typeface="Times New Roman" pitchFamily="18" charset="0"/>
                <a:cs typeface="Times New Roman" pitchFamily="18" charset="0"/>
              </a:rPr>
              <a:t>. </a:t>
            </a:r>
          </a:p>
          <a:p>
            <a:pPr algn="just">
              <a:buFont typeface="Arial" pitchFamily="34" charset="0"/>
              <a:buChar char="•"/>
            </a:pPr>
            <a:r>
              <a:rPr lang="en-US" smtClean="0">
                <a:solidFill>
                  <a:schemeClr val="tx1"/>
                </a:solidFill>
                <a:latin typeface="Times New Roman" pitchFamily="18" charset="0"/>
                <a:cs typeface="Times New Roman" pitchFamily="18" charset="0"/>
              </a:rPr>
              <a:t>The </a:t>
            </a:r>
            <a:r>
              <a:rPr lang="en-US" dirty="0" smtClean="0">
                <a:solidFill>
                  <a:schemeClr val="tx1"/>
                </a:solidFill>
                <a:latin typeface="Times New Roman" pitchFamily="18" charset="0"/>
                <a:cs typeface="Times New Roman" pitchFamily="18" charset="0"/>
              </a:rPr>
              <a:t>end device may be a control element which may be used for the control of the input quantity (</a:t>
            </a:r>
            <a:r>
              <a:rPr lang="en-US" dirty="0" err="1" smtClean="0">
                <a:solidFill>
                  <a:schemeClr val="tx1"/>
                </a:solidFill>
                <a:latin typeface="Times New Roman" pitchFamily="18" charset="0"/>
                <a:cs typeface="Times New Roman" pitchFamily="18" charset="0"/>
              </a:rPr>
              <a:t>measurand</a:t>
            </a:r>
            <a:r>
              <a:rPr lang="en-US" dirty="0" smtClean="0">
                <a:solidFill>
                  <a:schemeClr val="tx1"/>
                </a:solidFill>
                <a:latin typeface="Times New Roman" pitchFamily="18" charset="0"/>
                <a:cs typeface="Times New Roman" pitchFamily="18" charset="0"/>
              </a:rPr>
              <a:t>), through a feedback loop to produce desired output.</a:t>
            </a:r>
          </a:p>
          <a:p>
            <a:pPr algn="just">
              <a:buFont typeface="Arial" pitchFamily="34" charset="0"/>
              <a:buChar char="•"/>
            </a:pP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17520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algn="just"/>
            <a:r>
              <a:rPr lang="en-US" sz="2000" b="1" u="sng" dirty="0" smtClean="0">
                <a:solidFill>
                  <a:schemeClr val="tx1"/>
                </a:solidFill>
                <a:latin typeface="Times New Roman" pitchFamily="18" charset="0"/>
                <a:cs typeface="Times New Roman" pitchFamily="18" charset="0"/>
              </a:rPr>
              <a:t>TELEMETRY SCIENCE </a:t>
            </a:r>
          </a:p>
          <a:p>
            <a:pPr algn="just">
              <a:buFont typeface="Arial" pitchFamily="34" charset="0"/>
              <a:buChar char="•"/>
            </a:pPr>
            <a:r>
              <a:rPr lang="en-US" sz="2000" i="1" dirty="0" smtClean="0">
                <a:solidFill>
                  <a:schemeClr val="tx1"/>
                </a:solidFill>
                <a:latin typeface="Times New Roman" pitchFamily="18" charset="0"/>
                <a:cs typeface="Times New Roman" pitchFamily="18" charset="0"/>
              </a:rPr>
              <a:t>Telemetry is the science involved in performing a measurement at a remote location and transmitting</a:t>
            </a:r>
            <a:endParaRPr lang="en-US" sz="2000" dirty="0" smtClean="0">
              <a:solidFill>
                <a:schemeClr val="tx1"/>
              </a:solidFill>
              <a:latin typeface="Times New Roman" pitchFamily="18" charset="0"/>
              <a:cs typeface="Times New Roman" pitchFamily="18" charset="0"/>
            </a:endParaRPr>
          </a:p>
          <a:p>
            <a:pPr algn="just"/>
            <a:r>
              <a:rPr lang="en-US" sz="2000" dirty="0" smtClean="0">
                <a:solidFill>
                  <a:schemeClr val="tx1"/>
                </a:solidFill>
                <a:latin typeface="Times New Roman" pitchFamily="18" charset="0"/>
                <a:cs typeface="Times New Roman" pitchFamily="18" charset="0"/>
              </a:rPr>
              <a:t>the data to a central location for processing and/or storage. Three basic parts comprise the typical telemetry system (Fig. 27.30) : (1) the data source, which is usually a transducer that converts the measured parameter into an electrical signal ; (2) the mode of transmission of the data ; (3) the receiving station and the recovery of the transmitted data.</a:t>
            </a:r>
          </a:p>
          <a:p>
            <a:pPr algn="just"/>
            <a:endParaRPr lang="en-US" sz="2000" dirty="0">
              <a:solidFill>
                <a:schemeClr val="tx1"/>
              </a:solidFill>
              <a:latin typeface="Times New Roman" pitchFamily="18" charset="0"/>
              <a:cs typeface="Times New Roman" pitchFamily="18" charset="0"/>
            </a:endParaRPr>
          </a:p>
        </p:txBody>
      </p:sp>
      <p:pic>
        <p:nvPicPr>
          <p:cNvPr id="4" name="Picture 3" descr="d.JPG"/>
          <p:cNvPicPr>
            <a:picLocks noChangeAspect="1"/>
          </p:cNvPicPr>
          <p:nvPr/>
        </p:nvPicPr>
        <p:blipFill>
          <a:blip r:embed="rId2"/>
          <a:stretch>
            <a:fillRect/>
          </a:stretch>
        </p:blipFill>
        <p:spPr>
          <a:xfrm>
            <a:off x="0" y="2590800"/>
            <a:ext cx="9144000" cy="4267200"/>
          </a:xfrm>
          <a:prstGeom prst="rect">
            <a:avLst/>
          </a:prstGeom>
        </p:spPr>
      </p:pic>
    </p:spTree>
    <p:extLst>
      <p:ext uri="{BB962C8B-B14F-4D97-AF65-F5344CB8AC3E}">
        <p14:creationId xmlns:p14="http://schemas.microsoft.com/office/powerpoint/2010/main" val="1126970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7500" lnSpcReduction="20000"/>
          </a:bodyPr>
          <a:lstStyle/>
          <a:p>
            <a:pPr algn="just"/>
            <a:r>
              <a:rPr lang="en-US" b="1" u="sng" dirty="0" smtClean="0">
                <a:solidFill>
                  <a:schemeClr val="tx1"/>
                </a:solidFill>
                <a:latin typeface="Times New Roman" pitchFamily="18" charset="0"/>
                <a:cs typeface="Times New Roman" pitchFamily="18" charset="0"/>
              </a:rPr>
              <a:t>TYPES OF TELEMETRY SYSTEMS </a:t>
            </a:r>
            <a:endParaRPr lang="en-US" dirty="0" smtClean="0">
              <a:solidFill>
                <a:schemeClr val="tx1"/>
              </a:solidFill>
              <a:latin typeface="Times New Roman" pitchFamily="18" charset="0"/>
              <a:cs typeface="Times New Roman" pitchFamily="18" charset="0"/>
            </a:endParaRPr>
          </a:p>
          <a:p>
            <a:pPr algn="just"/>
            <a:r>
              <a:rPr lang="en-US" i="1" dirty="0" smtClean="0">
                <a:solidFill>
                  <a:schemeClr val="tx1"/>
                </a:solidFill>
                <a:latin typeface="Times New Roman" pitchFamily="18" charset="0"/>
                <a:cs typeface="Times New Roman" pitchFamily="18" charset="0"/>
              </a:rPr>
              <a:t>Two types of </a:t>
            </a:r>
            <a:r>
              <a:rPr lang="en-US" i="1" dirty="0" err="1" smtClean="0">
                <a:solidFill>
                  <a:schemeClr val="tx1"/>
                </a:solidFill>
                <a:latin typeface="Times New Roman" pitchFamily="18" charset="0"/>
                <a:cs typeface="Times New Roman" pitchFamily="18" charset="0"/>
              </a:rPr>
              <a:t>telemetering</a:t>
            </a:r>
            <a:r>
              <a:rPr lang="en-US" i="1" dirty="0" smtClean="0">
                <a:solidFill>
                  <a:schemeClr val="tx1"/>
                </a:solidFill>
                <a:latin typeface="Times New Roman" pitchFamily="18" charset="0"/>
                <a:cs typeface="Times New Roman" pitchFamily="18" charset="0"/>
              </a:rPr>
              <a:t> systems are used :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Land line telemetry,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R.F. (radio frequency) telemetry. </a:t>
            </a:r>
          </a:p>
          <a:p>
            <a:pPr marL="514350" indent="-514350" algn="just"/>
            <a:r>
              <a:rPr lang="en-US" b="1" u="sng" dirty="0" smtClean="0">
                <a:solidFill>
                  <a:schemeClr val="tx1"/>
                </a:solidFill>
                <a:latin typeface="Times New Roman" pitchFamily="18" charset="0"/>
                <a:cs typeface="Times New Roman" pitchFamily="18" charset="0"/>
              </a:rPr>
              <a:t>1. LAND LINE TELEMETERING SYSTEM </a:t>
            </a:r>
          </a:p>
          <a:p>
            <a:pPr algn="just">
              <a:buFont typeface="Arial" pitchFamily="34" charset="0"/>
              <a:buChar char="•"/>
            </a:pPr>
            <a:r>
              <a:rPr lang="en-US" dirty="0" smtClean="0">
                <a:solidFill>
                  <a:schemeClr val="tx1"/>
                </a:solidFill>
                <a:latin typeface="Times New Roman" pitchFamily="18" charset="0"/>
                <a:cs typeface="Times New Roman" pitchFamily="18" charset="0"/>
              </a:rPr>
              <a:t>A land line </a:t>
            </a:r>
            <a:r>
              <a:rPr lang="en-US" dirty="0" err="1" smtClean="0">
                <a:solidFill>
                  <a:schemeClr val="tx1"/>
                </a:solidFill>
                <a:latin typeface="Times New Roman" pitchFamily="18" charset="0"/>
                <a:cs typeface="Times New Roman" pitchFamily="18" charset="0"/>
              </a:rPr>
              <a:t>telemetring</a:t>
            </a:r>
            <a:r>
              <a:rPr lang="en-US" dirty="0" smtClean="0">
                <a:solidFill>
                  <a:schemeClr val="tx1"/>
                </a:solidFill>
                <a:latin typeface="Times New Roman" pitchFamily="18" charset="0"/>
                <a:cs typeface="Times New Roman" pitchFamily="18" charset="0"/>
              </a:rPr>
              <a:t> system requires a telemeter channel which is a physical link between the telemeter transmitter and receiver. This physical link may be a cable, a specially laid out wire, existing telephone and telegraph cables or a power line carrier.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land line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is, in fact, a direct transmission of information through cables and transmission lines. The direct transmission via cables employs current, voltage, frequency, position or impulses to convey the information.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Current, voltage and position type systems can be used only for short distances while for long distance telemetry, pulse and frequency types of systems are used.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information may be in the form of analog or digital signals. While current, voltage, position, frequency and pulse types of signals can be used for analog telemetry, only pulse signals can be used for digital telemetry.</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16082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7500" lnSpcReduction="20000"/>
          </a:bodyPr>
          <a:lstStyle/>
          <a:p>
            <a:pPr algn="just"/>
            <a:r>
              <a:rPr lang="en-US" dirty="0" smtClean="0">
                <a:solidFill>
                  <a:schemeClr val="tx1"/>
                </a:solidFill>
                <a:latin typeface="Times New Roman" pitchFamily="18" charset="0"/>
                <a:cs typeface="Times New Roman" pitchFamily="18" charset="0"/>
              </a:rPr>
              <a:t>The land line telemetry systems can be classified as :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voltage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systems,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current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systems, and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position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systems.</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Voltage </a:t>
            </a:r>
            <a:r>
              <a:rPr lang="en-US" b="1" u="sng" dirty="0" err="1" smtClean="0">
                <a:solidFill>
                  <a:schemeClr val="tx1"/>
                </a:solidFill>
                <a:latin typeface="Times New Roman" pitchFamily="18" charset="0"/>
                <a:cs typeface="Times New Roman" pitchFamily="18" charset="0"/>
              </a:rPr>
              <a:t>Telemetering</a:t>
            </a:r>
            <a:r>
              <a:rPr lang="en-US" b="1" u="sng" dirty="0" smtClean="0">
                <a:solidFill>
                  <a:schemeClr val="tx1"/>
                </a:solidFill>
                <a:latin typeface="Times New Roman" pitchFamily="18" charset="0"/>
                <a:cs typeface="Times New Roman" pitchFamily="18" charset="0"/>
              </a:rPr>
              <a:t> Systems </a:t>
            </a:r>
          </a:p>
          <a:p>
            <a:pPr algn="just">
              <a:buFont typeface="Arial" pitchFamily="34" charset="0"/>
              <a:buChar char="•"/>
            </a:pPr>
            <a:r>
              <a:rPr lang="en-US" dirty="0" smtClean="0">
                <a:solidFill>
                  <a:schemeClr val="tx1"/>
                </a:solidFill>
                <a:latin typeface="Times New Roman" pitchFamily="18" charset="0"/>
                <a:cs typeface="Times New Roman" pitchFamily="18" charset="0"/>
              </a:rPr>
              <a:t>A voltage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 transmits the measured variable as a function of an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or </a:t>
            </a:r>
            <a:r>
              <a:rPr lang="en-US" dirty="0" err="1" smtClean="0">
                <a:solidFill>
                  <a:schemeClr val="tx1"/>
                </a:solidFill>
                <a:latin typeface="Times New Roman" pitchFamily="18" charset="0"/>
                <a:cs typeface="Times New Roman" pitchFamily="18" charset="0"/>
              </a:rPr>
              <a:t>d.c</a:t>
            </a:r>
            <a:r>
              <a:rPr lang="en-US" dirty="0" smtClean="0">
                <a:solidFill>
                  <a:schemeClr val="tx1"/>
                </a:solidFill>
                <a:latin typeface="Times New Roman" pitchFamily="18" charset="0"/>
                <a:cs typeface="Times New Roman" pitchFamily="18" charset="0"/>
              </a:rPr>
              <a:t>. voltage.</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Current </a:t>
            </a:r>
            <a:r>
              <a:rPr lang="en-US" b="1" u="sng" dirty="0" err="1" smtClean="0">
                <a:solidFill>
                  <a:schemeClr val="tx1"/>
                </a:solidFill>
                <a:latin typeface="Times New Roman" pitchFamily="18" charset="0"/>
                <a:cs typeface="Times New Roman" pitchFamily="18" charset="0"/>
              </a:rPr>
              <a:t>Telemetering</a:t>
            </a:r>
            <a:r>
              <a:rPr lang="en-US" b="1" u="sng" dirty="0" smtClean="0">
                <a:solidFill>
                  <a:schemeClr val="tx1"/>
                </a:solidFill>
                <a:latin typeface="Times New Roman" pitchFamily="18" charset="0"/>
                <a:cs typeface="Times New Roman" pitchFamily="18" charset="0"/>
              </a:rPr>
              <a:t> System </a:t>
            </a:r>
          </a:p>
          <a:p>
            <a:pPr algn="just">
              <a:buFont typeface="Arial" pitchFamily="34" charset="0"/>
              <a:buChar char="•"/>
            </a:pPr>
            <a:r>
              <a:rPr lang="en-US" dirty="0" smtClean="0">
                <a:solidFill>
                  <a:schemeClr val="tx1"/>
                </a:solidFill>
                <a:latin typeface="Times New Roman" pitchFamily="18" charset="0"/>
                <a:cs typeface="Times New Roman" pitchFamily="18" charset="0"/>
              </a:rPr>
              <a:t>A current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 transmits the measured variable as a function of an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or </a:t>
            </a:r>
            <a:r>
              <a:rPr lang="en-US" dirty="0" err="1" smtClean="0">
                <a:solidFill>
                  <a:schemeClr val="tx1"/>
                </a:solidFill>
                <a:latin typeface="Times New Roman" pitchFamily="18" charset="0"/>
                <a:cs typeface="Times New Roman" pitchFamily="18" charset="0"/>
              </a:rPr>
              <a:t>d.c</a:t>
            </a:r>
            <a:r>
              <a:rPr lang="en-US" dirty="0" smtClean="0">
                <a:solidFill>
                  <a:schemeClr val="tx1"/>
                </a:solidFill>
                <a:latin typeface="Times New Roman" pitchFamily="18" charset="0"/>
                <a:cs typeface="Times New Roman" pitchFamily="18" charset="0"/>
              </a:rPr>
              <a:t>. current.</a:t>
            </a:r>
          </a:p>
          <a:p>
            <a:pPr algn="just">
              <a:buFont typeface="Arial" pitchFamily="34" charset="0"/>
              <a:buChar char="•"/>
            </a:pPr>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Position </a:t>
            </a:r>
            <a:r>
              <a:rPr lang="en-US" b="1" u="sng" dirty="0" err="1" smtClean="0">
                <a:solidFill>
                  <a:schemeClr val="tx1"/>
                </a:solidFill>
                <a:latin typeface="Times New Roman" pitchFamily="18" charset="0"/>
                <a:cs typeface="Times New Roman" pitchFamily="18" charset="0"/>
              </a:rPr>
              <a:t>Telemetering</a:t>
            </a:r>
            <a:r>
              <a:rPr lang="en-US" b="1" u="sng" dirty="0" smtClean="0">
                <a:solidFill>
                  <a:schemeClr val="tx1"/>
                </a:solidFill>
                <a:latin typeface="Times New Roman" pitchFamily="18" charset="0"/>
                <a:cs typeface="Times New Roman" pitchFamily="18" charset="0"/>
              </a:rPr>
              <a:t> System </a:t>
            </a:r>
          </a:p>
          <a:p>
            <a:pPr algn="just">
              <a:buFont typeface="Arial" pitchFamily="34" charset="0"/>
              <a:buChar char="•"/>
            </a:pPr>
            <a:r>
              <a:rPr lang="en-US" dirty="0" smtClean="0">
                <a:solidFill>
                  <a:schemeClr val="tx1"/>
                </a:solidFill>
                <a:latin typeface="Times New Roman" pitchFamily="18" charset="0"/>
                <a:cs typeface="Times New Roman" pitchFamily="18" charset="0"/>
              </a:rPr>
              <a:t>A position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 transmits and reproduces the measured variable by positioning variable resistors or other electrical components in a  bridge circuit form so as to produce proportional changes at both the transmitter and receiver ends.</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67777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lstStyle/>
          <a:p>
            <a:endParaRPr lang="en-US" dirty="0"/>
          </a:p>
        </p:txBody>
      </p:sp>
      <p:pic>
        <p:nvPicPr>
          <p:cNvPr id="4" name="Picture 3" descr="c.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968319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925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In the land line telemetry, the two primary considerations are : </a:t>
            </a:r>
          </a:p>
          <a:p>
            <a:pPr marL="571500" indent="-571500" algn="just">
              <a:buFont typeface="+mj-lt"/>
              <a:buAutoNum type="romanLcPeriod"/>
            </a:pPr>
            <a:r>
              <a:rPr lang="en-US" dirty="0" smtClean="0">
                <a:solidFill>
                  <a:schemeClr val="tx1"/>
                </a:solidFill>
                <a:latin typeface="Times New Roman" pitchFamily="18" charset="0"/>
                <a:cs typeface="Times New Roman" pitchFamily="18" charset="0"/>
              </a:rPr>
              <a:t>economy and (ii) reliability. </a:t>
            </a:r>
          </a:p>
          <a:p>
            <a:pPr algn="just">
              <a:buFont typeface="Arial" pitchFamily="34" charset="0"/>
              <a:buChar char="•"/>
            </a:pPr>
            <a:r>
              <a:rPr lang="en-US" dirty="0" smtClean="0">
                <a:solidFill>
                  <a:schemeClr val="tx1"/>
                </a:solidFill>
                <a:latin typeface="Times New Roman" pitchFamily="18" charset="0"/>
                <a:cs typeface="Times New Roman" pitchFamily="18" charset="0"/>
              </a:rPr>
              <a:t>In the land-line telemetry, the greatest advantage is the simplicity of the set-up as space required and weight are generally of no consideration.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However, the disadvantages are : </a:t>
            </a:r>
          </a:p>
          <a:p>
            <a:pPr marL="571500" indent="-571500" algn="just">
              <a:buAutoNum type="romanLcParenBoth"/>
            </a:pPr>
            <a:r>
              <a:rPr lang="en-US" dirty="0" smtClean="0">
                <a:solidFill>
                  <a:schemeClr val="tx1"/>
                </a:solidFill>
                <a:latin typeface="Times New Roman" pitchFamily="18" charset="0"/>
                <a:cs typeface="Times New Roman" pitchFamily="18" charset="0"/>
              </a:rPr>
              <a:t>all the transmission link distortions are directly introduced into the system. This is particularly true of induction effects of mains frequency from nearby cables.</a:t>
            </a:r>
          </a:p>
          <a:p>
            <a:pPr marL="571500" indent="-571500" algn="just">
              <a:buAutoNum type="romanLcParenBoth"/>
            </a:pPr>
            <a:r>
              <a:rPr lang="en-US" dirty="0" smtClean="0">
                <a:solidFill>
                  <a:schemeClr val="tx1"/>
                </a:solidFill>
                <a:latin typeface="Times New Roman" pitchFamily="18" charset="0"/>
                <a:cs typeface="Times New Roman" pitchFamily="18" charset="0"/>
              </a:rPr>
              <a:t>the effects of thermo-electric </a:t>
            </a:r>
            <a:r>
              <a:rPr lang="en-US" dirty="0" err="1" smtClean="0">
                <a:solidFill>
                  <a:schemeClr val="tx1"/>
                </a:solidFill>
                <a:latin typeface="Times New Roman" pitchFamily="18" charset="0"/>
                <a:cs typeface="Times New Roman" pitchFamily="18" charset="0"/>
              </a:rPr>
              <a:t>emfs</a:t>
            </a:r>
            <a:r>
              <a:rPr lang="en-US" dirty="0" smtClean="0">
                <a:solidFill>
                  <a:schemeClr val="tx1"/>
                </a:solidFill>
                <a:latin typeface="Times New Roman" pitchFamily="18" charset="0"/>
                <a:cs typeface="Times New Roman" pitchFamily="18" charset="0"/>
              </a:rPr>
              <a:t> may be substantial in case </a:t>
            </a:r>
            <a:r>
              <a:rPr lang="en-US" dirty="0" err="1" smtClean="0">
                <a:solidFill>
                  <a:schemeClr val="tx1"/>
                </a:solidFill>
                <a:latin typeface="Times New Roman" pitchFamily="18" charset="0"/>
                <a:cs typeface="Times New Roman" pitchFamily="18" charset="0"/>
              </a:rPr>
              <a:t>d.c</a:t>
            </a:r>
            <a:r>
              <a:rPr lang="en-US" dirty="0" smtClean="0">
                <a:solidFill>
                  <a:schemeClr val="tx1"/>
                </a:solidFill>
                <a:latin typeface="Times New Roman" pitchFamily="18" charset="0"/>
                <a:cs typeface="Times New Roman" pitchFamily="18" charset="0"/>
              </a:rPr>
              <a:t>. telemetry systems are used. </a:t>
            </a:r>
          </a:p>
          <a:p>
            <a:pPr algn="just"/>
            <a:r>
              <a:rPr lang="en-US" dirty="0" smtClean="0">
                <a:solidFill>
                  <a:schemeClr val="tx1"/>
                </a:solidFill>
                <a:latin typeface="Times New Roman" pitchFamily="18" charset="0"/>
                <a:cs typeface="Times New Roman" pitchFamily="18" charset="0"/>
              </a:rPr>
              <a:t>(iii) the frequency response is limited. </a:t>
            </a:r>
          </a:p>
          <a:p>
            <a:pPr algn="just"/>
            <a:endParaRPr lang="en-US" dirty="0" smtClean="0">
              <a:solidFill>
                <a:schemeClr val="tx1"/>
              </a:solidFill>
              <a:latin typeface="Times New Roman" pitchFamily="18" charset="0"/>
              <a:cs typeface="Times New Roman" pitchFamily="18" charset="0"/>
            </a:endParaRPr>
          </a:p>
          <a:p>
            <a:pPr algn="just"/>
            <a:r>
              <a:rPr lang="en-US" dirty="0" smtClean="0">
                <a:solidFill>
                  <a:schemeClr val="tx1"/>
                </a:solidFill>
                <a:latin typeface="Times New Roman" pitchFamily="18" charset="0"/>
                <a:cs typeface="Times New Roman" pitchFamily="18" charset="0"/>
              </a:rPr>
              <a:t>(</a:t>
            </a:r>
            <a:r>
              <a:rPr lang="en-US" dirty="0" err="1" smtClean="0">
                <a:solidFill>
                  <a:schemeClr val="tx1"/>
                </a:solidFill>
                <a:latin typeface="Times New Roman" pitchFamily="18" charset="0"/>
                <a:cs typeface="Times New Roman" pitchFamily="18" charset="0"/>
              </a:rPr>
              <a:t>iu</a:t>
            </a:r>
            <a:r>
              <a:rPr lang="en-US" dirty="0" smtClean="0">
                <a:solidFill>
                  <a:schemeClr val="tx1"/>
                </a:solidFill>
                <a:latin typeface="Times New Roman" pitchFamily="18" charset="0"/>
                <a:cs typeface="Times New Roman" pitchFamily="18" charset="0"/>
              </a:rPr>
              <a:t>) signal multiplexing tends to be impracticable. </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97784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20000"/>
          </a:bodyPr>
          <a:lstStyle/>
          <a:p>
            <a:pPr algn="just"/>
            <a:r>
              <a:rPr lang="en-US" b="1" u="sng" dirty="0" smtClean="0">
                <a:solidFill>
                  <a:schemeClr val="tx1"/>
                </a:solidFill>
                <a:latin typeface="Times New Roman" pitchFamily="18" charset="0"/>
                <a:cs typeface="Times New Roman" pitchFamily="18" charset="0"/>
              </a:rPr>
              <a:t>2. RADIO FREQUENCY (R.F.) TELEMETRY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telemetry, earlier on, has been defined, as a technology that enables the user to collect data from several measurement points at inaccessible or inconvenient locations. This is very true of applications which require Radio Frequency (R.F.) telemetry, as in such applications, there is no physical link between the transmitting and receiving stations. The link between the transmission station (where the actual measurements are being carried out) and the receiving station (where the </a:t>
            </a:r>
            <a:r>
              <a:rPr lang="en-US" dirty="0" err="1" smtClean="0">
                <a:solidFill>
                  <a:schemeClr val="tx1"/>
                </a:solidFill>
                <a:latin typeface="Times New Roman" pitchFamily="18" charset="0"/>
                <a:cs typeface="Times New Roman" pitchFamily="18" charset="0"/>
              </a:rPr>
              <a:t>measurand</a:t>
            </a:r>
            <a:r>
              <a:rPr lang="en-US" dirty="0" smtClean="0">
                <a:solidFill>
                  <a:schemeClr val="tx1"/>
                </a:solidFill>
                <a:latin typeface="Times New Roman" pitchFamily="18" charset="0"/>
                <a:cs typeface="Times New Roman" pitchFamily="18" charset="0"/>
              </a:rPr>
              <a:t> is measured, recorded and information used for control purposes) can only be established through radio links. </a:t>
            </a:r>
          </a:p>
          <a:p>
            <a:pPr algn="just">
              <a:buFont typeface="Arial" pitchFamily="34" charset="0"/>
              <a:buChar char="•"/>
            </a:pPr>
            <a:r>
              <a:rPr lang="en-US" dirty="0" smtClean="0">
                <a:solidFill>
                  <a:schemeClr val="tx1"/>
                </a:solidFill>
                <a:latin typeface="Times New Roman" pitchFamily="18" charset="0"/>
                <a:cs typeface="Times New Roman" pitchFamily="18" charset="0"/>
              </a:rPr>
              <a:t>For example, an aircraft on a test flight has many parameters which change during the flight i.e., fuel flow, amount of fuel, engine performance, vibrations of critical parts, performance of avionic systems, temperature of various components. The test pilot can monitor some of these, of course, by observing the readings of the meters on the panel, but time permits reading those instruments which are critical to the safety of the flight and even those are not sufficiently accurate for detailed flight analysis. </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88014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925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An alternative would be taken along a team of specialist engineers involved in the design, production of the air-craft and analysis of the data produced and to suggest the corrective actions. This solution is just not practicable.</a:t>
            </a:r>
          </a:p>
          <a:p>
            <a:pPr algn="just">
              <a:buFont typeface="Arial" pitchFamily="34" charset="0"/>
              <a:buChar char="•"/>
            </a:pPr>
            <a:r>
              <a:rPr lang="en-US" dirty="0" smtClean="0">
                <a:solidFill>
                  <a:schemeClr val="tx1"/>
                </a:solidFill>
                <a:latin typeface="Times New Roman" pitchFamily="18" charset="0"/>
                <a:cs typeface="Times New Roman" pitchFamily="18" charset="0"/>
              </a:rPr>
              <a:t>Another, alternative would be to put a sophisticated computer on the flight for analysis of data. This again is not a satisfactory solution.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best way is to locate the team of engineers on a land based station and the test data be transmitted through radio links from the air-craft to the land station. The team of engineers and the computer stationed on land are in a much better environments to </a:t>
            </a:r>
            <a:r>
              <a:rPr lang="en-US" dirty="0" err="1" smtClean="0">
                <a:solidFill>
                  <a:schemeClr val="tx1"/>
                </a:solidFill>
                <a:latin typeface="Times New Roman" pitchFamily="18" charset="0"/>
                <a:cs typeface="Times New Roman" pitchFamily="18" charset="0"/>
              </a:rPr>
              <a:t>analyse</a:t>
            </a:r>
            <a:r>
              <a:rPr lang="en-US" dirty="0" smtClean="0">
                <a:solidFill>
                  <a:schemeClr val="tx1"/>
                </a:solidFill>
                <a:latin typeface="Times New Roman" pitchFamily="18" charset="0"/>
                <a:cs typeface="Times New Roman" pitchFamily="18" charset="0"/>
              </a:rPr>
              <a:t> the data and suggest the corrective measures.</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R.F. telemetry is usually more suitable if the data is to be transmitted over distances greater than 1 km. </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21986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lstStyle/>
          <a:p>
            <a:endParaRPr lang="en-US" dirty="0"/>
          </a:p>
        </p:txBody>
      </p:sp>
      <p:pic>
        <p:nvPicPr>
          <p:cNvPr id="4" name="Picture 3" descr="b.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989370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20000"/>
          </a:bodyPr>
          <a:lstStyle/>
          <a:p>
            <a:pPr algn="just"/>
            <a:r>
              <a:rPr lang="en-US" b="1" u="sng" dirty="0" smtClean="0">
                <a:solidFill>
                  <a:schemeClr val="tx1"/>
                </a:solidFill>
                <a:latin typeface="Times New Roman" pitchFamily="18" charset="0"/>
                <a:cs typeface="Times New Roman" pitchFamily="18" charset="0"/>
              </a:rPr>
              <a:t>TRANSMISSION CHANNELS AND MEDIA</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The most extensively used transmission media are cables and electromagnetic radiation radio links. However, optical, ultrasonic and magnetic induction data links are also used for many applications. </a:t>
            </a:r>
          </a:p>
          <a:p>
            <a:pPr algn="just">
              <a:buFont typeface="Arial" pitchFamily="34" charset="0"/>
              <a:buChar char="•"/>
            </a:pPr>
            <a:r>
              <a:rPr lang="en-US" dirty="0" smtClean="0">
                <a:solidFill>
                  <a:schemeClr val="tx1"/>
                </a:solidFill>
                <a:latin typeface="Times New Roman" pitchFamily="18" charset="0"/>
                <a:cs typeface="Times New Roman" pitchFamily="18" charset="0"/>
              </a:rPr>
              <a:t>Landline telemetry utilizes cables or wires to transmit data from industrial process plants and power generation stations to central monitoring and control units.</a:t>
            </a:r>
          </a:p>
          <a:p>
            <a:pPr algn="just">
              <a:buFont typeface="Arial" pitchFamily="34" charset="0"/>
              <a:buChar char="•"/>
            </a:pPr>
            <a:r>
              <a:rPr lang="en-US" dirty="0" smtClean="0">
                <a:solidFill>
                  <a:schemeClr val="tx1"/>
                </a:solidFill>
                <a:latin typeface="Times New Roman" pitchFamily="18" charset="0"/>
                <a:cs typeface="Times New Roman" pitchFamily="18" charset="0"/>
              </a:rPr>
              <a:t>When the data is to be transmitted over lengths greater than 1 km, radio links are usually more suitable. Certain parts of the radio frequency spectrum are allocated for telemetry. The microwave links are used above about 4 </a:t>
            </a:r>
            <a:r>
              <a:rPr lang="en-US" dirty="0" err="1" smtClean="0">
                <a:solidFill>
                  <a:schemeClr val="tx1"/>
                </a:solidFill>
                <a:latin typeface="Times New Roman" pitchFamily="18" charset="0"/>
                <a:cs typeface="Times New Roman" pitchFamily="18" charset="0"/>
              </a:rPr>
              <a:t>MHz.</a:t>
            </a:r>
            <a:r>
              <a:rPr lang="en-US" dirty="0" smtClean="0">
                <a:solidFill>
                  <a:schemeClr val="tx1"/>
                </a:solidFill>
                <a:latin typeface="Times New Roman" pitchFamily="18" charset="0"/>
                <a:cs typeface="Times New Roman" pitchFamily="18" charset="0"/>
              </a:rPr>
              <a:t> Radio waves at these frequencies tend to travel in a straight line, requiring repeater stations every 30 - 60 km away. </a:t>
            </a:r>
          </a:p>
          <a:p>
            <a:pPr algn="just">
              <a:buFont typeface="Arial" pitchFamily="34" charset="0"/>
              <a:buChar char="•"/>
            </a:pPr>
            <a:r>
              <a:rPr lang="en-US" dirty="0" smtClean="0">
                <a:solidFill>
                  <a:schemeClr val="tx1"/>
                </a:solidFill>
                <a:latin typeface="Times New Roman" pitchFamily="18" charset="0"/>
                <a:cs typeface="Times New Roman" pitchFamily="18" charset="0"/>
              </a:rPr>
              <a:t>Short range non-contact data links of approximate lengths up to 50 m, such as those used force rotating machinery and power lines generally use either FM radio, optical or ultrasonic methods. </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829467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00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The common communication channels used for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are :</a:t>
            </a:r>
          </a:p>
          <a:p>
            <a:pPr algn="just"/>
            <a:r>
              <a:rPr lang="en-US" dirty="0" smtClean="0">
                <a:solidFill>
                  <a:schemeClr val="tx1"/>
                </a:solidFill>
                <a:latin typeface="Times New Roman" pitchFamily="18" charset="0"/>
                <a:cs typeface="Times New Roman" pitchFamily="18" charset="0"/>
              </a:rPr>
              <a:t>(</a:t>
            </a:r>
            <a:r>
              <a:rPr lang="en-US" dirty="0" err="1" smtClean="0">
                <a:solidFill>
                  <a:schemeClr val="tx1"/>
                </a:solidFill>
                <a:latin typeface="Times New Roman" pitchFamily="18" charset="0"/>
                <a:cs typeface="Times New Roman" pitchFamily="18" charset="0"/>
              </a:rPr>
              <a:t>i</a:t>
            </a:r>
            <a:r>
              <a:rPr lang="en-US" dirty="0" smtClean="0">
                <a:solidFill>
                  <a:schemeClr val="tx1"/>
                </a:solidFill>
                <a:latin typeface="Times New Roman" pitchFamily="18" charset="0"/>
                <a:cs typeface="Times New Roman" pitchFamily="18" charset="0"/>
              </a:rPr>
              <a:t>) wire line channels</a:t>
            </a:r>
          </a:p>
          <a:p>
            <a:pPr algn="just"/>
            <a:r>
              <a:rPr lang="en-US" dirty="0" smtClean="0">
                <a:solidFill>
                  <a:schemeClr val="tx1"/>
                </a:solidFill>
                <a:latin typeface="Times New Roman" pitchFamily="18" charset="0"/>
                <a:cs typeface="Times New Roman" pitchFamily="18" charset="0"/>
              </a:rPr>
              <a:t>(ii) microwave channels,</a:t>
            </a:r>
          </a:p>
          <a:p>
            <a:pPr algn="just"/>
            <a:r>
              <a:rPr lang="en-US" dirty="0" smtClean="0">
                <a:solidFill>
                  <a:schemeClr val="tx1"/>
                </a:solidFill>
                <a:latin typeface="Times New Roman" pitchFamily="18" charset="0"/>
                <a:cs typeface="Times New Roman" pitchFamily="18" charset="0"/>
              </a:rPr>
              <a:t>(iii) radio channels, and</a:t>
            </a:r>
          </a:p>
          <a:p>
            <a:pPr algn="just"/>
            <a:r>
              <a:rPr lang="en-US" dirty="0" smtClean="0">
                <a:solidFill>
                  <a:schemeClr val="tx1"/>
                </a:solidFill>
                <a:latin typeface="Times New Roman" pitchFamily="18" charset="0"/>
                <a:cs typeface="Times New Roman" pitchFamily="18" charset="0"/>
              </a:rPr>
              <a:t>(iv) power-line carrier channel.</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1. Wire Line Channels</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For land-line telemetry wire line channels are used. The wire line is the simplest type of channel for transmission of information. The wire lines may be : (a) privately owned or (b) leased from Posts and Telegraphs Department.</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For land-line telemetry an enormous variety of connectors are employed. They range from, a pair of open wires, a pair of twisted wires, wires of a telephone cable, to co-axial cables.</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2. Radio Channels </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Where longer distances are involved, or where measurements have to be made in a missile or moving vehicle, it may be necessary to use radio frequency (RF) techniques to transmit information</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966990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20000"/>
          </a:bodyPr>
          <a:lstStyle/>
          <a:p>
            <a:pPr algn="just"/>
            <a:r>
              <a:rPr lang="en-US" b="1" u="sng" dirty="0" smtClean="0">
                <a:solidFill>
                  <a:schemeClr val="tx1"/>
                </a:solidFill>
                <a:latin typeface="Times New Roman" pitchFamily="18" charset="0"/>
                <a:cs typeface="Times New Roman" pitchFamily="18" charset="0"/>
              </a:rPr>
              <a:t>3. Microwave Channels </a:t>
            </a:r>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Microwave is a special case of radio transmission.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necessity for a large number of communication channels in industries like power and gas transmission and the overcrowding of spectrum in the radio frequency range has led to the increased use of microwave radio transmission. Several bands in the range of 890 MHz to 30 GHz have been allocated for microwave transmission.</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4. Power Line Carrier Channels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use of power line carriers has been prevalent for a long time to transmit information between the central generating station and the local substations.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They utilize the power line equipment for this purpose. </a:t>
            </a:r>
          </a:p>
          <a:p>
            <a:pPr algn="just">
              <a:buFont typeface="Arial" pitchFamily="34" charset="0"/>
              <a:buChar char="•"/>
            </a:pPr>
            <a:r>
              <a:rPr lang="en-US" dirty="0" smtClean="0">
                <a:solidFill>
                  <a:schemeClr val="tx1"/>
                </a:solidFill>
                <a:latin typeface="Times New Roman" pitchFamily="18" charset="0"/>
                <a:cs typeface="Times New Roman" pitchFamily="18" charset="0"/>
              </a:rPr>
              <a:t>An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carrier is coupled to the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voltage transmission line and the information to be </a:t>
            </a:r>
            <a:r>
              <a:rPr lang="en-US" dirty="0" err="1" smtClean="0">
                <a:solidFill>
                  <a:schemeClr val="tx1"/>
                </a:solidFill>
                <a:latin typeface="Times New Roman" pitchFamily="18" charset="0"/>
                <a:cs typeface="Times New Roman" pitchFamily="18" charset="0"/>
              </a:rPr>
              <a:t>telemetered</a:t>
            </a:r>
            <a:r>
              <a:rPr lang="en-US" dirty="0" smtClean="0">
                <a:solidFill>
                  <a:schemeClr val="tx1"/>
                </a:solidFill>
                <a:latin typeface="Times New Roman" pitchFamily="18" charset="0"/>
                <a:cs typeface="Times New Roman" pitchFamily="18" charset="0"/>
              </a:rPr>
              <a:t> is superposed upon the transmitted power.</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88244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a:solidFill>
            <a:schemeClr val="bg1"/>
          </a:solidFill>
        </p:spPr>
        <p:txBody>
          <a:bodyPr>
            <a:normAutofit fontScale="77500" lnSpcReduction="20000"/>
          </a:bodyPr>
          <a:lstStyle/>
          <a:p>
            <a:pPr algn="just"/>
            <a:r>
              <a:rPr lang="en-US" b="1" u="sng" dirty="0" smtClean="0">
                <a:solidFill>
                  <a:schemeClr val="tx1"/>
                </a:solidFill>
                <a:latin typeface="Times New Roman" pitchFamily="18" charset="0"/>
                <a:cs typeface="Times New Roman" pitchFamily="18" charset="0"/>
              </a:rPr>
              <a:t>Application of Telemetry system</a:t>
            </a:r>
          </a:p>
          <a:p>
            <a:pPr algn="just">
              <a:buFont typeface="Arial" pitchFamily="34" charset="0"/>
              <a:buChar char="•"/>
            </a:pPr>
            <a:r>
              <a:rPr lang="en-US" dirty="0" smtClean="0">
                <a:solidFill>
                  <a:schemeClr val="tx1"/>
                </a:solidFill>
                <a:latin typeface="Times New Roman" pitchFamily="18" charset="0"/>
                <a:cs typeface="Times New Roman" pitchFamily="18" charset="0"/>
              </a:rPr>
              <a:t>In software development, telemetry systems are used with an end user's permission to remotely monitor the security, health and </a:t>
            </a:r>
            <a:r>
              <a:rPr lang="en-US" dirty="0" smtClean="0">
                <a:solidFill>
                  <a:schemeClr val="tx1"/>
                </a:solidFill>
                <a:latin typeface="Times New Roman" pitchFamily="18" charset="0"/>
                <a:cs typeface="Times New Roman" pitchFamily="18" charset="0"/>
                <a:hlinkClick r:id="rId2"/>
              </a:rPr>
              <a:t>performance of applications</a:t>
            </a:r>
            <a:r>
              <a:rPr lang="en-US" dirty="0" smtClean="0">
                <a:solidFill>
                  <a:schemeClr val="tx1"/>
                </a:solidFill>
                <a:latin typeface="Times New Roman" pitchFamily="18" charset="0"/>
                <a:cs typeface="Times New Roman" pitchFamily="18" charset="0"/>
              </a:rPr>
              <a:t>. The information developers get from these systems provides insights into how their applications are performing without the need of feedback from users.</a:t>
            </a:r>
          </a:p>
          <a:p>
            <a:pPr algn="just"/>
            <a:r>
              <a:rPr lang="en-US" dirty="0" smtClean="0">
                <a:solidFill>
                  <a:schemeClr val="tx1"/>
                </a:solidFill>
                <a:latin typeface="Times New Roman" pitchFamily="18" charset="0"/>
                <a:cs typeface="Times New Roman" pitchFamily="18" charset="0"/>
              </a:rPr>
              <a:t>Telemetry is also used in the following fields:</a:t>
            </a:r>
          </a:p>
          <a:p>
            <a:pPr algn="just"/>
            <a:r>
              <a:rPr lang="en-US" b="1" dirty="0" smtClean="0">
                <a:solidFill>
                  <a:schemeClr val="tx1"/>
                </a:solidFill>
                <a:latin typeface="Times New Roman" pitchFamily="18" charset="0"/>
                <a:cs typeface="Times New Roman" pitchFamily="18" charset="0"/>
              </a:rPr>
              <a:t>Meteorology.</a:t>
            </a:r>
            <a:r>
              <a:rPr lang="en-US" dirty="0" smtClean="0">
                <a:solidFill>
                  <a:schemeClr val="tx1"/>
                </a:solidFill>
                <a:latin typeface="Times New Roman" pitchFamily="18" charset="0"/>
                <a:cs typeface="Times New Roman" pitchFamily="18" charset="0"/>
              </a:rPr>
              <a:t> Weather balloons and other meteorological devices use telemetry system to </a:t>
            </a:r>
            <a:r>
              <a:rPr lang="en-US" u="sng" dirty="0" smtClean="0">
                <a:solidFill>
                  <a:schemeClr val="tx1"/>
                </a:solidFill>
                <a:latin typeface="Times New Roman" pitchFamily="18" charset="0"/>
                <a:cs typeface="Times New Roman" pitchFamily="18" charset="0"/>
                <a:hlinkClick r:id="rId3"/>
              </a:rPr>
              <a:t>collect and transmit meteorological data</a:t>
            </a:r>
            <a:r>
              <a:rPr lang="en-US" dirty="0" smtClean="0">
                <a:solidFill>
                  <a:schemeClr val="tx1"/>
                </a:solidFill>
                <a:latin typeface="Times New Roman" pitchFamily="18" charset="0"/>
                <a:cs typeface="Times New Roman" pitchFamily="18" charset="0"/>
              </a:rPr>
              <a:t> such as temperature and barometric pressure.</a:t>
            </a:r>
          </a:p>
          <a:p>
            <a:pPr algn="just"/>
            <a:r>
              <a:rPr lang="en-US" b="1" dirty="0" smtClean="0">
                <a:solidFill>
                  <a:schemeClr val="tx1"/>
                </a:solidFill>
                <a:latin typeface="Times New Roman" pitchFamily="18" charset="0"/>
                <a:cs typeface="Times New Roman" pitchFamily="18" charset="0"/>
              </a:rPr>
              <a:t>Agriculture. </a:t>
            </a:r>
            <a:r>
              <a:rPr lang="en-US" dirty="0" smtClean="0">
                <a:solidFill>
                  <a:schemeClr val="tx1"/>
                </a:solidFill>
                <a:latin typeface="Times New Roman" pitchFamily="18" charset="0"/>
                <a:cs typeface="Times New Roman" pitchFamily="18" charset="0"/>
              </a:rPr>
              <a:t>Wireless weather stations and sensors gather data on the environment, such as temperature, humidity and solar radiation, that helps farmers make decisions about what and when to plant crops.</a:t>
            </a:r>
          </a:p>
          <a:p>
            <a:pPr algn="just"/>
            <a:r>
              <a:rPr lang="en-US" b="1" dirty="0" smtClean="0">
                <a:solidFill>
                  <a:schemeClr val="tx1"/>
                </a:solidFill>
                <a:latin typeface="Times New Roman" pitchFamily="18" charset="0"/>
                <a:cs typeface="Times New Roman" pitchFamily="18" charset="0"/>
              </a:rPr>
              <a:t>Space exploration and defense. </a:t>
            </a:r>
            <a:r>
              <a:rPr lang="en-US" dirty="0" smtClean="0">
                <a:solidFill>
                  <a:schemeClr val="tx1"/>
                </a:solidFill>
                <a:latin typeface="Times New Roman" pitchFamily="18" charset="0"/>
                <a:cs typeface="Times New Roman" pitchFamily="18" charset="0"/>
              </a:rPr>
              <a:t>NASA and the U.S. military use telemetry to monitor the location, performance and health of satellites, spacecraft and aircraft.</a:t>
            </a:r>
          </a:p>
          <a:p>
            <a:pPr algn="just"/>
            <a:r>
              <a:rPr lang="en-US" b="1" dirty="0" smtClean="0">
                <a:solidFill>
                  <a:schemeClr val="tx1"/>
                </a:solidFill>
                <a:latin typeface="Times New Roman" pitchFamily="18" charset="0"/>
                <a:cs typeface="Times New Roman" pitchFamily="18" charset="0"/>
              </a:rPr>
              <a:t>Healthcare.</a:t>
            </a:r>
            <a:r>
              <a:rPr lang="en-US" dirty="0" smtClean="0">
                <a:solidFill>
                  <a:schemeClr val="tx1"/>
                </a:solidFill>
                <a:latin typeface="Times New Roman" pitchFamily="18" charset="0"/>
                <a:cs typeface="Times New Roman" pitchFamily="18" charset="0"/>
              </a:rPr>
              <a:t> Individuals with heart conditions or other medical issues use telemetry devices to monitor heart rate, blood pressure and other vital statistics. This </a:t>
            </a:r>
            <a:r>
              <a:rPr lang="en-US" u="sng" dirty="0" smtClean="0">
                <a:solidFill>
                  <a:schemeClr val="tx1"/>
                </a:solidFill>
                <a:latin typeface="Times New Roman" pitchFamily="18" charset="0"/>
                <a:cs typeface="Times New Roman" pitchFamily="18" charset="0"/>
                <a:hlinkClick r:id="rId4"/>
              </a:rPr>
              <a:t>use of telemetry in healthcare</a:t>
            </a:r>
            <a:r>
              <a:rPr lang="en-US" dirty="0" smtClean="0">
                <a:solidFill>
                  <a:schemeClr val="tx1"/>
                </a:solidFill>
                <a:latin typeface="Times New Roman" pitchFamily="18" charset="0"/>
                <a:cs typeface="Times New Roman" pitchFamily="18" charset="0"/>
              </a:rPr>
              <a:t> is sometimes referred to as biotelemetry.</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12469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92500" lnSpcReduction="20000"/>
          </a:bodyPr>
          <a:lstStyle/>
          <a:p>
            <a:pPr algn="just"/>
            <a:r>
              <a:rPr lang="en-US" b="1" dirty="0" smtClean="0">
                <a:solidFill>
                  <a:schemeClr val="tx1"/>
                </a:solidFill>
                <a:latin typeface="Times New Roman" pitchFamily="18" charset="0"/>
                <a:cs typeface="Times New Roman" pitchFamily="18" charset="0"/>
              </a:rPr>
              <a:t>What is data transmission?</a:t>
            </a:r>
          </a:p>
          <a:p>
            <a:pPr algn="just">
              <a:buFont typeface="Arial" pitchFamily="34" charset="0"/>
              <a:buChar char="•"/>
            </a:pPr>
            <a:r>
              <a:rPr lang="en-US" dirty="0" smtClean="0">
                <a:solidFill>
                  <a:schemeClr val="tx1"/>
                </a:solidFill>
                <a:latin typeface="Times New Roman" pitchFamily="18" charset="0"/>
                <a:cs typeface="Times New Roman" pitchFamily="18" charset="0"/>
                <a:hlinkClick r:id="rId2"/>
              </a:rPr>
              <a:t>Data transmission</a:t>
            </a:r>
            <a:r>
              <a:rPr lang="en-US" dirty="0" smtClean="0">
                <a:solidFill>
                  <a:schemeClr val="tx1"/>
                </a:solidFill>
                <a:latin typeface="Times New Roman" pitchFamily="18" charset="0"/>
                <a:cs typeface="Times New Roman" pitchFamily="18" charset="0"/>
              </a:rPr>
              <a:t> refers to the process of transferring data between two or more digital devices. Data is transmitted from one device to another in analog or digital format. Basically, data transmission enables devices or components within devices to speak to each other.</a:t>
            </a:r>
          </a:p>
          <a:p>
            <a:pPr algn="just"/>
            <a:r>
              <a:rPr lang="en-US" b="1" dirty="0" smtClean="0">
                <a:solidFill>
                  <a:schemeClr val="tx1"/>
                </a:solidFill>
                <a:latin typeface="Times New Roman" pitchFamily="18" charset="0"/>
                <a:cs typeface="Times New Roman" pitchFamily="18" charset="0"/>
              </a:rPr>
              <a:t>How does data transmission work between digital devices?</a:t>
            </a:r>
          </a:p>
          <a:p>
            <a:pPr algn="just">
              <a:buFont typeface="Arial" pitchFamily="34" charset="0"/>
              <a:buChar char="•"/>
            </a:pPr>
            <a:r>
              <a:rPr lang="en-US" dirty="0" smtClean="0">
                <a:solidFill>
                  <a:schemeClr val="tx1"/>
                </a:solidFill>
                <a:latin typeface="Times New Roman" pitchFamily="18" charset="0"/>
                <a:cs typeface="Times New Roman" pitchFamily="18" charset="0"/>
              </a:rPr>
              <a:t>Data is transferred in the form of bits between two or more digital devices.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There are two methods used to transmit data between digital devices: serial transmission and parallel transmission. </a:t>
            </a:r>
          </a:p>
          <a:p>
            <a:pPr algn="just">
              <a:buFont typeface="Arial" pitchFamily="34" charset="0"/>
              <a:buChar char="•"/>
            </a:pPr>
            <a:r>
              <a:rPr lang="en-US" dirty="0" smtClean="0">
                <a:solidFill>
                  <a:schemeClr val="tx1"/>
                </a:solidFill>
                <a:latin typeface="Times New Roman" pitchFamily="18" charset="0"/>
                <a:cs typeface="Times New Roman" pitchFamily="18" charset="0"/>
              </a:rPr>
              <a:t>Serial data transmission sends data bits one after another over a single channel. </a:t>
            </a:r>
          </a:p>
          <a:p>
            <a:pPr algn="just">
              <a:buFont typeface="Arial" pitchFamily="34" charset="0"/>
              <a:buChar char="•"/>
            </a:pPr>
            <a:r>
              <a:rPr lang="en-US" dirty="0" smtClean="0">
                <a:solidFill>
                  <a:schemeClr val="tx1"/>
                </a:solidFill>
                <a:latin typeface="Times New Roman" pitchFamily="18" charset="0"/>
                <a:cs typeface="Times New Roman" pitchFamily="18" charset="0"/>
              </a:rPr>
              <a:t>Parallel data transmission sends multiple data bits at the same time over multiple channels.</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76986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fontAlgn="base">
              <a:buNone/>
            </a:pPr>
            <a:r>
              <a:rPr lang="en-US" sz="2200" b="1" u="sng" dirty="0" smtClean="0">
                <a:latin typeface="Times New Roman" pitchFamily="18" charset="0"/>
                <a:cs typeface="Times New Roman" pitchFamily="18" charset="0"/>
              </a:rPr>
              <a:t>Definition of Serial Communication</a:t>
            </a:r>
          </a:p>
          <a:p>
            <a:pPr algn="just" fontAlgn="base"/>
            <a:r>
              <a:rPr lang="en-US" sz="2200" dirty="0" smtClean="0">
                <a:latin typeface="Times New Roman" pitchFamily="18" charset="0"/>
                <a:cs typeface="Times New Roman" pitchFamily="18" charset="0"/>
              </a:rPr>
              <a:t>In serial communication the data bits are transmitted serially over a common communication link one after the other. Basically it does not allow simultaneous transmission of data because only a single channel is utilized. Thereby allowing sequential transfer rather than simultaneous transfer.</a:t>
            </a:r>
          </a:p>
          <a:p>
            <a:pPr algn="just" fontAlgn="base"/>
            <a:r>
              <a:rPr lang="en-US" sz="2200" dirty="0" smtClean="0">
                <a:latin typeface="Times New Roman" pitchFamily="18" charset="0"/>
                <a:cs typeface="Times New Roman" pitchFamily="18" charset="0"/>
              </a:rPr>
              <a:t>It is highly suitable for long distance signal transmission as only a single wire or bus is used. So, it can be connected between two points that are separated at a large distance with respect to each other. But as only a </a:t>
            </a:r>
            <a:r>
              <a:rPr lang="en-US" sz="2200" b="1" dirty="0" smtClean="0">
                <a:latin typeface="Times New Roman" pitchFamily="18" charset="0"/>
                <a:cs typeface="Times New Roman" pitchFamily="18" charset="0"/>
              </a:rPr>
              <a:t>single data bit is transmitted per clock pulse</a:t>
            </a:r>
            <a:r>
              <a:rPr lang="en-US" sz="2200" dirty="0" smtClean="0">
                <a:latin typeface="Times New Roman" pitchFamily="18" charset="0"/>
                <a:cs typeface="Times New Roman" pitchFamily="18" charset="0"/>
              </a:rPr>
              <a:t> thus the transmission of data is a quiet time taking process.</a:t>
            </a:r>
          </a:p>
          <a:p>
            <a:pPr algn="just" fontAlgn="base"/>
            <a:r>
              <a:rPr lang="en-US" sz="2200" dirty="0" smtClean="0">
                <a:latin typeface="Times New Roman" pitchFamily="18" charset="0"/>
                <a:cs typeface="Times New Roman" pitchFamily="18" charset="0"/>
              </a:rPr>
              <a:t>The figure below shows the serial data transmission:</a:t>
            </a:r>
          </a:p>
          <a:p>
            <a:pPr algn="just" fontAlgn="base"/>
            <a:endParaRPr lang="en-US" dirty="0" smtClean="0">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pic>
        <p:nvPicPr>
          <p:cNvPr id="4" name="Picture 3" descr="e.JPG"/>
          <p:cNvPicPr>
            <a:picLocks noChangeAspect="1"/>
          </p:cNvPicPr>
          <p:nvPr/>
        </p:nvPicPr>
        <p:blipFill>
          <a:blip r:embed="rId2"/>
          <a:stretch>
            <a:fillRect/>
          </a:stretch>
        </p:blipFill>
        <p:spPr>
          <a:xfrm>
            <a:off x="457200" y="4038600"/>
            <a:ext cx="8077200" cy="2819400"/>
          </a:xfrm>
          <a:prstGeom prst="rect">
            <a:avLst/>
          </a:prstGeom>
        </p:spPr>
      </p:pic>
    </p:spTree>
    <p:extLst>
      <p:ext uri="{BB962C8B-B14F-4D97-AF65-F5344CB8AC3E}">
        <p14:creationId xmlns:p14="http://schemas.microsoft.com/office/powerpoint/2010/main" val="4228531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algn="just"/>
            <a:r>
              <a:rPr lang="en-US" dirty="0" smtClean="0">
                <a:latin typeface="Times New Roman" pitchFamily="18" charset="0"/>
                <a:cs typeface="Times New Roman" pitchFamily="18" charset="0"/>
              </a:rPr>
              <a:t>Serial transmission has </a:t>
            </a:r>
            <a:r>
              <a:rPr lang="en-US" b="1" dirty="0" smtClean="0">
                <a:latin typeface="Times New Roman" pitchFamily="18" charset="0"/>
                <a:cs typeface="Times New Roman" pitchFamily="18" charset="0"/>
              </a:rPr>
              <a:t>two classifications</a:t>
            </a:r>
            <a:r>
              <a:rPr lang="en-US" dirty="0" smtClean="0">
                <a:latin typeface="Times New Roman" pitchFamily="18" charset="0"/>
                <a:cs typeface="Times New Roman" pitchFamily="18" charset="0"/>
              </a:rPr>
              <a:t>: asynchronous and synchronous.</a:t>
            </a:r>
          </a:p>
          <a:p>
            <a:pPr marL="514350" indent="-514350" algn="just">
              <a:buAutoNum type="arabicPeriod"/>
            </a:pPr>
            <a:r>
              <a:rPr lang="en-US" b="1" u="sng" dirty="0" smtClean="0">
                <a:latin typeface="Times New Roman" pitchFamily="18" charset="0"/>
                <a:cs typeface="Times New Roman" pitchFamily="18" charset="0"/>
              </a:rPr>
              <a:t>Asynchronous Serial Transmission</a:t>
            </a:r>
          </a:p>
          <a:p>
            <a:pPr marL="514350" indent="-514350" algn="just"/>
            <a:r>
              <a:rPr lang="en-US" dirty="0" smtClean="0">
                <a:latin typeface="Times New Roman" pitchFamily="18" charset="0"/>
                <a:cs typeface="Times New Roman" pitchFamily="18" charset="0"/>
              </a:rPr>
              <a:t>Data bits can be sent at any point in time. Stop bits and start bits are used between data bytes to synchronize the transmitter and receiver and to ensure that the data is transmitted correctly. The time between sending and receiving data bits is not constant, so gaps are used to provide time between transmissions.</a:t>
            </a:r>
          </a:p>
          <a:p>
            <a:pPr algn="just"/>
            <a:r>
              <a:rPr lang="en-US" dirty="0" smtClean="0">
                <a:latin typeface="Times New Roman" pitchFamily="18" charset="0"/>
                <a:cs typeface="Times New Roman" pitchFamily="18" charset="0"/>
              </a:rPr>
              <a:t>The advantage of using the asynchronous method is that no synchronization is required between the transmitter and receiver devices. It is also a more cost effective method. A disadvantage is that data transmission can be slower, but this is not always the case.</a:t>
            </a:r>
          </a:p>
          <a:p>
            <a:pPr algn="just"/>
            <a:r>
              <a:rPr lang="en-US" b="1" u="sng" dirty="0" smtClean="0">
                <a:latin typeface="Times New Roman" pitchFamily="18" charset="0"/>
                <a:cs typeface="Times New Roman" pitchFamily="18" charset="0"/>
              </a:rPr>
              <a:t>2.	Synchronous Serial Transmission</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Data bits are transmitted as a continuous stream in time with a master clock. The data transmitter and receiver both operate using a synchronized clock frequency; therefore, start bits, stop bits, and gaps are not used. This means that data moves faster and timing errors are less frequent because the transmitter and receiver time is synced. However, data accuracy is highly dependent on timing being synced correctly between devices. In comparison with asynchronous serial transmission, this method is usually more expensive.</a:t>
            </a:r>
          </a:p>
          <a:p>
            <a:pPr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85058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fontAlgn="base">
              <a:buNone/>
            </a:pPr>
            <a:r>
              <a:rPr lang="en-US" sz="2000" b="1" u="sng" dirty="0" smtClean="0">
                <a:latin typeface="Times New Roman" pitchFamily="18" charset="0"/>
                <a:cs typeface="Times New Roman" pitchFamily="18" charset="0"/>
              </a:rPr>
              <a:t>Definition of Synchronous Transmission</a:t>
            </a:r>
          </a:p>
          <a:p>
            <a:pPr algn="just" fontAlgn="base"/>
            <a:r>
              <a:rPr lang="en-US" sz="2000" dirty="0" smtClean="0">
                <a:latin typeface="Times New Roman" pitchFamily="18" charset="0"/>
                <a:cs typeface="Times New Roman" pitchFamily="18" charset="0"/>
              </a:rPr>
              <a:t>Here the name itself is indicating that synchronous transmission needs synchronization between transmitter and receiver in order to allow communication between the two. Basically, despite having internal clock pulses, the transmitter and receiver share a common clock pulse so as to have synchronization in communication. This means data will be transmitted between the transmitter and receiver only after a constant time interval.</a:t>
            </a:r>
          </a:p>
          <a:p>
            <a:pPr algn="just" fontAlgn="base"/>
            <a:r>
              <a:rPr lang="en-US" sz="2000" dirty="0" smtClean="0">
                <a:latin typeface="Times New Roman" pitchFamily="18" charset="0"/>
                <a:cs typeface="Times New Roman" pitchFamily="18" charset="0"/>
              </a:rPr>
              <a:t>The figure below represents the synchronous transmission between the sender and receiver:</a:t>
            </a: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r>
              <a:rPr lang="en-US" sz="2000" dirty="0" smtClean="0">
                <a:latin typeface="Times New Roman" pitchFamily="18" charset="0"/>
                <a:cs typeface="Times New Roman" pitchFamily="18" charset="0"/>
              </a:rPr>
              <a:t>It allows the transmission of data in the form of frames or blocks. Thus, a huge data amount can be transmitted between transmitter and receiver once the clock pulse is sent. This time interval is decided by the frequency of the external clock pulse. So basically in synchronous transmission, the clock pulse decides when to transmit the data and for this, both transmitter and receiver must be ready to have communication.</a:t>
            </a:r>
          </a:p>
          <a:p>
            <a:pPr algn="just">
              <a:buNone/>
            </a:pPr>
            <a:endParaRPr lang="en-US" sz="2000" dirty="0">
              <a:latin typeface="Times New Roman" pitchFamily="18" charset="0"/>
              <a:cs typeface="Times New Roman" pitchFamily="18" charset="0"/>
            </a:endParaRPr>
          </a:p>
        </p:txBody>
      </p:sp>
      <p:pic>
        <p:nvPicPr>
          <p:cNvPr id="4" name="Picture 3" descr="g.GIF"/>
          <p:cNvPicPr>
            <a:picLocks noChangeAspect="1"/>
          </p:cNvPicPr>
          <p:nvPr/>
        </p:nvPicPr>
        <p:blipFill>
          <a:blip r:embed="rId2"/>
          <a:stretch>
            <a:fillRect/>
          </a:stretch>
        </p:blipFill>
        <p:spPr>
          <a:xfrm>
            <a:off x="1905000" y="2667000"/>
            <a:ext cx="7010400" cy="1981200"/>
          </a:xfrm>
          <a:prstGeom prst="rect">
            <a:avLst/>
          </a:prstGeom>
        </p:spPr>
      </p:pic>
    </p:spTree>
    <p:extLst>
      <p:ext uri="{BB962C8B-B14F-4D97-AF65-F5344CB8AC3E}">
        <p14:creationId xmlns:p14="http://schemas.microsoft.com/office/powerpoint/2010/main" val="1016197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fontAlgn="base">
              <a:buNone/>
            </a:pPr>
            <a:r>
              <a:rPr lang="en-US" sz="2400" b="1" u="sng" dirty="0" smtClean="0">
                <a:latin typeface="Times New Roman" pitchFamily="18" charset="0"/>
                <a:cs typeface="Times New Roman" pitchFamily="18" charset="0"/>
              </a:rPr>
              <a:t>Definition of Asynchronous Transmission</a:t>
            </a:r>
          </a:p>
          <a:p>
            <a:pPr algn="just" fontAlgn="base"/>
            <a:r>
              <a:rPr lang="en-US" sz="2400" dirty="0" smtClean="0">
                <a:latin typeface="Times New Roman" pitchFamily="18" charset="0"/>
                <a:cs typeface="Times New Roman" pitchFamily="18" charset="0"/>
              </a:rPr>
              <a:t>Asynchronous transmission is a type of serial transmission that follows a non-synchronized form of communication. Thus start and stop bits are required in order to intimate the receiver about the beginning and end of the data stream.</a:t>
            </a:r>
          </a:p>
          <a:p>
            <a:pPr algn="just" fontAlgn="base"/>
            <a:r>
              <a:rPr lang="en-US" sz="2400" dirty="0" smtClean="0">
                <a:latin typeface="Times New Roman" pitchFamily="18" charset="0"/>
                <a:cs typeface="Times New Roman" pitchFamily="18" charset="0"/>
              </a:rPr>
              <a:t>The figure below shows the asynchronous transmission technique:</a:t>
            </a:r>
          </a:p>
          <a:p>
            <a:pPr algn="just"/>
            <a:endParaRPr lang="en-US" dirty="0">
              <a:latin typeface="Times New Roman" pitchFamily="18" charset="0"/>
              <a:cs typeface="Times New Roman" pitchFamily="18" charset="0"/>
            </a:endParaRPr>
          </a:p>
        </p:txBody>
      </p:sp>
      <p:pic>
        <p:nvPicPr>
          <p:cNvPr id="4" name="Picture 3" descr="h.GIF"/>
          <p:cNvPicPr>
            <a:picLocks noChangeAspect="1"/>
          </p:cNvPicPr>
          <p:nvPr/>
        </p:nvPicPr>
        <p:blipFill>
          <a:blip r:embed="rId2"/>
          <a:stretch>
            <a:fillRect/>
          </a:stretch>
        </p:blipFill>
        <p:spPr>
          <a:xfrm>
            <a:off x="533400" y="2819400"/>
            <a:ext cx="7391400" cy="2571750"/>
          </a:xfrm>
          <a:prstGeom prst="rect">
            <a:avLst/>
          </a:prstGeom>
        </p:spPr>
      </p:pic>
    </p:spTree>
    <p:extLst>
      <p:ext uri="{BB962C8B-B14F-4D97-AF65-F5344CB8AC3E}">
        <p14:creationId xmlns:p14="http://schemas.microsoft.com/office/powerpoint/2010/main" val="9220465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lgn="just" fontAlgn="base"/>
            <a:r>
              <a:rPr lang="en-US" dirty="0" smtClean="0">
                <a:latin typeface="Times New Roman" pitchFamily="18" charset="0"/>
                <a:cs typeface="Times New Roman" pitchFamily="18" charset="0"/>
              </a:rPr>
              <a:t>Here the data is transferred from an end to another in the form of bytes or characters. Thus when the transmitter wants to send data then it has to notify the receiver that it is going to send the data bits. So for this reason before sending the actual data the transmitter sends a start bit that notifies the receiver about the transmission.</a:t>
            </a:r>
          </a:p>
          <a:p>
            <a:pPr algn="just" fontAlgn="base"/>
            <a:r>
              <a:rPr lang="en-US" dirty="0" smtClean="0">
                <a:latin typeface="Times New Roman" pitchFamily="18" charset="0"/>
                <a:cs typeface="Times New Roman" pitchFamily="18" charset="0"/>
              </a:rPr>
              <a:t>And after sending the data byte, the transmitter sends stop bit that shows the completion of the data. The transmitter and receiver in the asynchronous transmission system have their internal clock for operation. But do not operate on a common clock pulse.</a:t>
            </a:r>
          </a:p>
          <a:p>
            <a:pPr algn="just" fontAlgn="base"/>
            <a:r>
              <a:rPr lang="en-US" dirty="0" smtClean="0">
                <a:latin typeface="Times New Roman" pitchFamily="18" charset="0"/>
                <a:cs typeface="Times New Roman" pitchFamily="18" charset="0"/>
              </a:rPr>
              <a:t>Thereby leading to unawareness about the proper transmission. Therefore, due to this reason start and stop bits are utilized in the asynchronous communication system. However, the presence of start and stop bit reduces the data transmission rate in the case of asynchronous transmission.</a:t>
            </a:r>
          </a:p>
          <a:p>
            <a:pPr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01449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algn="just" fontAlgn="base">
              <a:buNone/>
            </a:pPr>
            <a:r>
              <a:rPr lang="en-US" sz="2400" b="1" u="sng" dirty="0" smtClean="0">
                <a:latin typeface="Times New Roman" pitchFamily="18" charset="0"/>
                <a:cs typeface="Times New Roman" pitchFamily="18" charset="0"/>
              </a:rPr>
              <a:t>Key Differences Between Synchronous and Asynchronous Transmission</a:t>
            </a:r>
          </a:p>
          <a:p>
            <a:pPr algn="just" fontAlgn="base"/>
            <a:r>
              <a:rPr lang="en-US" sz="2400" dirty="0" smtClean="0">
                <a:latin typeface="Times New Roman" pitchFamily="18" charset="0"/>
                <a:cs typeface="Times New Roman" pitchFamily="18" charset="0"/>
              </a:rPr>
              <a:t>The synchronous transmission allows the transmission of data in frame or block formats. Whereas, in asynchronous transmission, a byte or character is transmitted at a time.</a:t>
            </a:r>
          </a:p>
          <a:p>
            <a:pPr algn="just" fontAlgn="base"/>
            <a:r>
              <a:rPr lang="en-US" sz="2400" dirty="0" smtClean="0">
                <a:latin typeface="Times New Roman" pitchFamily="18" charset="0"/>
                <a:cs typeface="Times New Roman" pitchFamily="18" charset="0"/>
              </a:rPr>
              <a:t>Due to the transmission of data in the form of frames the </a:t>
            </a:r>
            <a:r>
              <a:rPr lang="en-US" sz="2400" b="1" dirty="0" smtClean="0">
                <a:latin typeface="Times New Roman" pitchFamily="18" charset="0"/>
                <a:cs typeface="Times New Roman" pitchFamily="18" charset="0"/>
              </a:rPr>
              <a:t>rate of data transmission</a:t>
            </a:r>
            <a:r>
              <a:rPr lang="en-US" sz="2400" dirty="0" smtClean="0">
                <a:latin typeface="Times New Roman" pitchFamily="18" charset="0"/>
                <a:cs typeface="Times New Roman" pitchFamily="18" charset="0"/>
              </a:rPr>
              <a:t> is quite fast in synchronous transmission. While in asynchronous transmission the rate of data transmission is comparatively slow.</a:t>
            </a:r>
          </a:p>
          <a:p>
            <a:pPr algn="just" fontAlgn="base"/>
            <a:r>
              <a:rPr lang="en-US" sz="2400" dirty="0" smtClean="0">
                <a:latin typeface="Times New Roman" pitchFamily="18" charset="0"/>
                <a:cs typeface="Times New Roman" pitchFamily="18" charset="0"/>
              </a:rPr>
              <a:t>Synchronous communication needs synchronization between sender and receiver thus the two shares a common clock pulse. On the contrary, Asynchronous communication does not permit synchronized communication and thus the sender and receiver have their own internal clock.</a:t>
            </a:r>
          </a:p>
          <a:p>
            <a:pPr algn="just" fontAlgn="base"/>
            <a:r>
              <a:rPr lang="en-US" sz="2400" dirty="0" smtClean="0">
                <a:latin typeface="Times New Roman" pitchFamily="18" charset="0"/>
                <a:cs typeface="Times New Roman" pitchFamily="18" charset="0"/>
              </a:rPr>
              <a:t>Due to the existence of </a:t>
            </a:r>
            <a:r>
              <a:rPr lang="en-US" sz="2400" b="1" dirty="0" smtClean="0">
                <a:latin typeface="Times New Roman" pitchFamily="18" charset="0"/>
                <a:cs typeface="Times New Roman" pitchFamily="18" charset="0"/>
              </a:rPr>
              <a:t>clock pulse</a:t>
            </a:r>
            <a:r>
              <a:rPr lang="en-US" sz="2400" dirty="0" smtClean="0">
                <a:latin typeface="Times New Roman" pitchFamily="18" charset="0"/>
                <a:cs typeface="Times New Roman" pitchFamily="18" charset="0"/>
              </a:rPr>
              <a:t>, data in the form of frames can be continuously transmitted between sender and receiver. While the absence of a common clock pulse causes the existence of gaps between data bits.</a:t>
            </a:r>
          </a:p>
          <a:p>
            <a:pPr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68468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20000"/>
          </a:bodyPr>
          <a:lstStyle/>
          <a:p>
            <a:pPr algn="just" fontAlgn="base"/>
            <a:r>
              <a:rPr lang="en-US" dirty="0" smtClean="0">
                <a:latin typeface="Times New Roman" pitchFamily="18" charset="0"/>
                <a:cs typeface="Times New Roman" pitchFamily="18" charset="0"/>
              </a:rPr>
              <a:t>The synchronous transmission does not require </a:t>
            </a:r>
            <a:r>
              <a:rPr lang="en-US" b="1" dirty="0" smtClean="0">
                <a:latin typeface="Times New Roman" pitchFamily="18" charset="0"/>
                <a:cs typeface="Times New Roman" pitchFamily="18" charset="0"/>
              </a:rPr>
              <a:t>start and stop bits</a:t>
            </a:r>
            <a:r>
              <a:rPr lang="en-US" dirty="0" smtClean="0">
                <a:latin typeface="Times New Roman" pitchFamily="18" charset="0"/>
                <a:cs typeface="Times New Roman" pitchFamily="18" charset="0"/>
              </a:rPr>
              <a:t>. As against in order to have asynchronous transmission between sender and receiver, start and stop bits are necessarily needed before and after the message signal bits.</a:t>
            </a:r>
          </a:p>
          <a:p>
            <a:pPr algn="just" fontAlgn="base"/>
            <a:r>
              <a:rPr lang="en-US" dirty="0" smtClean="0">
                <a:latin typeface="Times New Roman" pitchFamily="18" charset="0"/>
                <a:cs typeface="Times New Roman" pitchFamily="18" charset="0"/>
              </a:rPr>
              <a:t>The </a:t>
            </a:r>
            <a:r>
              <a:rPr lang="en-US" b="1" dirty="0" smtClean="0">
                <a:latin typeface="Times New Roman" pitchFamily="18" charset="0"/>
                <a:cs typeface="Times New Roman" pitchFamily="18" charset="0"/>
              </a:rPr>
              <a:t>time interval</a:t>
            </a:r>
            <a:r>
              <a:rPr lang="en-US" dirty="0" smtClean="0">
                <a:latin typeface="Times New Roman" pitchFamily="18" charset="0"/>
                <a:cs typeface="Times New Roman" pitchFamily="18" charset="0"/>
              </a:rPr>
              <a:t> of transmission remains constant between the data to be transmitted. However, in the case of asynchronous transmission variable time intervals between the data bits exist.</a:t>
            </a:r>
          </a:p>
          <a:p>
            <a:pPr algn="just" fontAlgn="base"/>
            <a:r>
              <a:rPr lang="en-US" dirty="0" smtClean="0">
                <a:latin typeface="Times New Roman" pitchFamily="18" charset="0"/>
                <a:cs typeface="Times New Roman" pitchFamily="18" charset="0"/>
              </a:rPr>
              <a:t>A system supporting synchronous transmission is comparatively </a:t>
            </a:r>
            <a:r>
              <a:rPr lang="en-US" b="1" dirty="0" smtClean="0">
                <a:latin typeface="Times New Roman" pitchFamily="18" charset="0"/>
                <a:cs typeface="Times New Roman" pitchFamily="18" charset="0"/>
              </a:rPr>
              <a:t>complex</a:t>
            </a:r>
            <a:r>
              <a:rPr lang="en-US" dirty="0" smtClean="0">
                <a:latin typeface="Times New Roman" pitchFamily="18" charset="0"/>
                <a:cs typeface="Times New Roman" pitchFamily="18" charset="0"/>
              </a:rPr>
              <a:t> than asynchronous transmission system.</a:t>
            </a:r>
          </a:p>
          <a:p>
            <a:pPr algn="just" fontAlgn="base"/>
            <a:r>
              <a:rPr lang="en-US" dirty="0" smtClean="0">
                <a:latin typeface="Times New Roman" pitchFamily="18" charset="0"/>
                <a:cs typeface="Times New Roman" pitchFamily="18" charset="0"/>
              </a:rPr>
              <a:t>Due to synchronized communication, the synchronous transmission is more </a:t>
            </a:r>
            <a:r>
              <a:rPr lang="en-US" b="1" dirty="0" smtClean="0">
                <a:latin typeface="Times New Roman" pitchFamily="18" charset="0"/>
                <a:cs typeface="Times New Roman" pitchFamily="18" charset="0"/>
              </a:rPr>
              <a:t>efficient</a:t>
            </a:r>
            <a:r>
              <a:rPr lang="en-US" dirty="0" smtClean="0">
                <a:latin typeface="Times New Roman" pitchFamily="18" charset="0"/>
                <a:cs typeface="Times New Roman" pitchFamily="18" charset="0"/>
              </a:rPr>
              <a:t> compared to asynchronous transmission.</a:t>
            </a:r>
          </a:p>
          <a:p>
            <a:pPr algn="just" fontAlgn="base"/>
            <a:r>
              <a:rPr lang="en-US" dirty="0" smtClean="0">
                <a:latin typeface="Times New Roman" pitchFamily="18" charset="0"/>
                <a:cs typeface="Times New Roman" pitchFamily="18" charset="0"/>
              </a:rPr>
              <a:t>The </a:t>
            </a:r>
            <a:r>
              <a:rPr lang="en-US" dirty="0" err="1" smtClean="0">
                <a:latin typeface="Times New Roman" pitchFamily="18" charset="0"/>
                <a:cs typeface="Times New Roman" pitchFamily="18" charset="0"/>
              </a:rPr>
              <a:t>complexing</a:t>
            </a:r>
            <a:r>
              <a:rPr lang="en-US" dirty="0" smtClean="0">
                <a:latin typeface="Times New Roman" pitchFamily="18" charset="0"/>
                <a:cs typeface="Times New Roman" pitchFamily="18" charset="0"/>
              </a:rPr>
              <a:t> of the system in synchronous transmission increases the </a:t>
            </a:r>
            <a:r>
              <a:rPr lang="en-US" b="1" dirty="0" smtClean="0">
                <a:latin typeface="Times New Roman" pitchFamily="18" charset="0"/>
                <a:cs typeface="Times New Roman" pitchFamily="18" charset="0"/>
              </a:rPr>
              <a:t>cost</a:t>
            </a:r>
            <a:r>
              <a:rPr lang="en-US" dirty="0" smtClean="0">
                <a:latin typeface="Times New Roman" pitchFamily="18" charset="0"/>
                <a:cs typeface="Times New Roman" pitchFamily="18" charset="0"/>
              </a:rPr>
              <a:t> of the system. Thus synchronous transmission is more expensive than asynchronous transmission.</a:t>
            </a:r>
          </a:p>
          <a:p>
            <a:pPr>
              <a:buNone/>
            </a:pPr>
            <a:endParaRPr lang="en-US" dirty="0"/>
          </a:p>
        </p:txBody>
      </p:sp>
    </p:spTree>
    <p:extLst>
      <p:ext uri="{BB962C8B-B14F-4D97-AF65-F5344CB8AC3E}">
        <p14:creationId xmlns:p14="http://schemas.microsoft.com/office/powerpoint/2010/main" val="8697440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fontAlgn="base">
              <a:buNone/>
            </a:pPr>
            <a:r>
              <a:rPr lang="en-US" sz="2400" b="1" u="sng" dirty="0" smtClean="0">
                <a:latin typeface="Times New Roman" pitchFamily="18" charset="0"/>
                <a:cs typeface="Times New Roman" pitchFamily="18" charset="0"/>
              </a:rPr>
              <a:t>Definition of Parallel Communication</a:t>
            </a:r>
          </a:p>
          <a:p>
            <a:pPr algn="just" fontAlgn="base"/>
            <a:r>
              <a:rPr lang="en-US" sz="2400" dirty="0" smtClean="0">
                <a:latin typeface="Times New Roman" pitchFamily="18" charset="0"/>
                <a:cs typeface="Times New Roman" pitchFamily="18" charset="0"/>
              </a:rPr>
              <a:t>In parallel communication the various data bits are simultaneously transmitted using multiple communication links between sender and receiver. Here, despite using a single channel between sender and receiver, various links are used and each bit of data is transmitted separately over all the communication link.</a:t>
            </a:r>
          </a:p>
          <a:p>
            <a:pPr algn="just" fontAlgn="base"/>
            <a:r>
              <a:rPr lang="en-US" sz="2400" dirty="0" smtClean="0">
                <a:latin typeface="Times New Roman" pitchFamily="18" charset="0"/>
                <a:cs typeface="Times New Roman" pitchFamily="18" charset="0"/>
              </a:rPr>
              <a:t>The figure below shows the transmission of 8 byte data using parallel communication technique:</a:t>
            </a:r>
          </a:p>
          <a:p>
            <a:pPr>
              <a:buNone/>
            </a:pPr>
            <a:endParaRPr lang="en-US" dirty="0"/>
          </a:p>
        </p:txBody>
      </p:sp>
      <p:pic>
        <p:nvPicPr>
          <p:cNvPr id="4" name="Picture 3" descr="f.JPG"/>
          <p:cNvPicPr>
            <a:picLocks noChangeAspect="1"/>
          </p:cNvPicPr>
          <p:nvPr/>
        </p:nvPicPr>
        <p:blipFill>
          <a:blip r:embed="rId2"/>
          <a:stretch>
            <a:fillRect/>
          </a:stretch>
        </p:blipFill>
        <p:spPr>
          <a:xfrm>
            <a:off x="533400" y="3352800"/>
            <a:ext cx="8153400" cy="3505200"/>
          </a:xfrm>
          <a:prstGeom prst="rect">
            <a:avLst/>
          </a:prstGeom>
        </p:spPr>
      </p:pic>
    </p:spTree>
    <p:extLst>
      <p:ext uri="{BB962C8B-B14F-4D97-AF65-F5344CB8AC3E}">
        <p14:creationId xmlns:p14="http://schemas.microsoft.com/office/powerpoint/2010/main" val="40997215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fontAlgn="base"/>
            <a:r>
              <a:rPr lang="en-US" dirty="0" smtClean="0">
                <a:latin typeface="Times New Roman" pitchFamily="18" charset="0"/>
                <a:cs typeface="Times New Roman" pitchFamily="18" charset="0"/>
              </a:rPr>
              <a:t>Here, as we can see that for the transmission of 8-bit of data, 8 separate communication links are utilized. </a:t>
            </a:r>
          </a:p>
          <a:p>
            <a:pPr algn="just" fontAlgn="base"/>
            <a:r>
              <a:rPr lang="en-US" dirty="0" smtClean="0">
                <a:latin typeface="Times New Roman" pitchFamily="18" charset="0"/>
                <a:cs typeface="Times New Roman" pitchFamily="18" charset="0"/>
              </a:rPr>
              <a:t>And so rather following a sequential data transmission, simultaneous transmission of data is allowed. This leads to a faster communication between the sender and receiver.</a:t>
            </a:r>
          </a:p>
          <a:p>
            <a:pPr algn="just" fontAlgn="base"/>
            <a:r>
              <a:rPr lang="en-US" dirty="0" smtClean="0">
                <a:latin typeface="Times New Roman" pitchFamily="18" charset="0"/>
                <a:cs typeface="Times New Roman" pitchFamily="18" charset="0"/>
              </a:rPr>
              <a:t>But for connecting multiple lines between sender and receiver multiple connecting unit are to be present between a pair of sender and receiver. </a:t>
            </a:r>
          </a:p>
          <a:p>
            <a:pPr algn="just" fontAlgn="base"/>
            <a:r>
              <a:rPr lang="en-US" dirty="0" smtClean="0">
                <a:latin typeface="Times New Roman" pitchFamily="18" charset="0"/>
                <a:cs typeface="Times New Roman" pitchFamily="18" charset="0"/>
              </a:rPr>
              <a:t>And this is the reason why parallel communication is not suitable for long distance transmission, because connecting multiple lines to large distances is very difficult and expensive.</a:t>
            </a:r>
          </a:p>
          <a:p>
            <a:pPr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346768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algn="just" fontAlgn="base">
              <a:buNone/>
            </a:pPr>
            <a:r>
              <a:rPr lang="en-US" b="1" u="sng" dirty="0" smtClean="0"/>
              <a:t>Differences Between Serial and Parallel Communication</a:t>
            </a:r>
          </a:p>
          <a:p>
            <a:pPr algn="just" fontAlgn="base"/>
            <a:r>
              <a:rPr lang="en-US" dirty="0" smtClean="0"/>
              <a:t>Due to the presence of single communication link the speed of data transmission is slow. While multiple links in case of parallel communication allows data transmission at comparatively faster rate.</a:t>
            </a:r>
          </a:p>
          <a:p>
            <a:pPr algn="just" fontAlgn="base"/>
            <a:r>
              <a:rPr lang="en-US" dirty="0" smtClean="0"/>
              <a:t>Whenever there exists a need for </a:t>
            </a:r>
            <a:r>
              <a:rPr lang="en-US" b="1" dirty="0" smtClean="0"/>
              <a:t>system up-gradation</a:t>
            </a:r>
            <a:r>
              <a:rPr lang="en-US" dirty="0" smtClean="0"/>
              <a:t> then upgrading a system that uses serial communication is quite an easy task as compared to upgrading a parallel communication system.</a:t>
            </a:r>
          </a:p>
          <a:p>
            <a:pPr algn="just" fontAlgn="base"/>
            <a:r>
              <a:rPr lang="en-US" dirty="0" smtClean="0"/>
              <a:t>In serial communication, the all data bits are transmitted over a common channel thus proper spacing is required to be maintained in order to avoid interference. While in parallel communication, the utilization of multiple link reduces the chances of interference between the transmitted bits.</a:t>
            </a:r>
          </a:p>
          <a:p>
            <a:pPr algn="just" fontAlgn="base"/>
            <a:r>
              <a:rPr lang="en-US" dirty="0" smtClean="0"/>
              <a:t>Serial communication supports higher </a:t>
            </a:r>
            <a:r>
              <a:rPr lang="en-US" b="1" dirty="0" smtClean="0"/>
              <a:t>bandwidth</a:t>
            </a:r>
            <a:r>
              <a:rPr lang="en-US" dirty="0" smtClean="0"/>
              <a:t> while parallel communication supports comparatively lower bandwidth.</a:t>
            </a:r>
          </a:p>
          <a:p>
            <a:pPr algn="just" fontAlgn="base"/>
            <a:r>
              <a:rPr lang="en-US" dirty="0" smtClean="0"/>
              <a:t>Serial communication is efficient for high frequency operation. However, parallel communication shows its suitability more in case of low frequency operations.</a:t>
            </a:r>
          </a:p>
          <a:p>
            <a:pPr algn="just" fontAlgn="base"/>
            <a:r>
              <a:rPr lang="en-US" dirty="0" smtClean="0"/>
              <a:t>Due to existence of single link, the problem of </a:t>
            </a:r>
            <a:r>
              <a:rPr lang="en-US" b="1" dirty="0" smtClean="0"/>
              <a:t>crosstalk</a:t>
            </a:r>
            <a:r>
              <a:rPr lang="en-US" dirty="0" smtClean="0"/>
              <a:t> is not present in serial communication. But multiple links increase the chances of crosstalk in parallel communication.</a:t>
            </a:r>
          </a:p>
          <a:p>
            <a:pPr algn="just" fontAlgn="base"/>
            <a:r>
              <a:rPr lang="en-US" dirty="0" smtClean="0"/>
              <a:t>Serial communication is suitable for long distance transmission of data as against parallel communication is suitable for short distance transmission of data.</a:t>
            </a:r>
          </a:p>
          <a:p>
            <a:pPr algn="just">
              <a:buNone/>
            </a:pPr>
            <a:endParaRPr lang="en-US" dirty="0"/>
          </a:p>
        </p:txBody>
      </p:sp>
    </p:spTree>
    <p:extLst>
      <p:ext uri="{BB962C8B-B14F-4D97-AF65-F5344CB8AC3E}">
        <p14:creationId xmlns:p14="http://schemas.microsoft.com/office/powerpoint/2010/main" val="25424242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fontAlgn="base">
              <a:buNone/>
            </a:pPr>
            <a:r>
              <a:rPr lang="en-US" sz="2000" u="sng" dirty="0" smtClean="0">
                <a:latin typeface="Times New Roman" pitchFamily="18" charset="0"/>
                <a:cs typeface="Times New Roman" pitchFamily="18" charset="0"/>
                <a:hlinkClick r:id="rId2"/>
              </a:rPr>
              <a:t>Transmission Modes in Computer Networks</a:t>
            </a:r>
            <a:r>
              <a:rPr lang="en-US" sz="2000" dirty="0" smtClean="0">
                <a:latin typeface="Times New Roman" pitchFamily="18" charset="0"/>
                <a:cs typeface="Times New Roman" pitchFamily="18" charset="0"/>
              </a:rPr>
              <a:t> </a:t>
            </a:r>
          </a:p>
          <a:p>
            <a:pPr algn="just" fontAlgn="base"/>
            <a:r>
              <a:rPr lang="en-US" sz="2000" dirty="0" smtClean="0">
                <a:latin typeface="Times New Roman" pitchFamily="18" charset="0"/>
                <a:cs typeface="Times New Roman" pitchFamily="18" charset="0"/>
              </a:rPr>
              <a:t>There are 3 types of transmission modes which are given below: Simplex mode, Half duplex mode, and Full-duplex mode. </a:t>
            </a:r>
          </a:p>
          <a:p>
            <a:pPr algn="just" fontAlgn="base"/>
            <a:r>
              <a:rPr lang="en-US" sz="2000" b="1" dirty="0" smtClean="0">
                <a:latin typeface="Times New Roman" pitchFamily="18" charset="0"/>
                <a:cs typeface="Times New Roman" pitchFamily="18" charset="0"/>
              </a:rPr>
              <a:t>Simplex mode:</a:t>
            </a:r>
            <a:r>
              <a:rPr lang="en-US" sz="2000" dirty="0" smtClean="0">
                <a:latin typeface="Times New Roman" pitchFamily="18" charset="0"/>
                <a:cs typeface="Times New Roman" pitchFamily="18" charset="0"/>
              </a:rPr>
              <a:t> In simplex mode, Sender can send the data but the sender can’t receive the data. It is a unidirectional communication.</a:t>
            </a:r>
          </a:p>
          <a:p>
            <a:pPr algn="just" fontAlgn="base"/>
            <a:r>
              <a:rPr lang="en-US" sz="2000" b="1" dirty="0" smtClean="0">
                <a:latin typeface="Times New Roman" pitchFamily="18" charset="0"/>
                <a:cs typeface="Times New Roman" pitchFamily="18" charset="0"/>
              </a:rPr>
              <a:t>Half-duplex mode:</a:t>
            </a:r>
            <a:r>
              <a:rPr lang="en-US" sz="2000" dirty="0" smtClean="0">
                <a:latin typeface="Times New Roman" pitchFamily="18" charset="0"/>
                <a:cs typeface="Times New Roman" pitchFamily="18" charset="0"/>
              </a:rPr>
              <a:t> In half-duplex mode, Sender can send the data and also can receive the data one at a time. It is two-way directional communication but one at a time. </a:t>
            </a:r>
          </a:p>
          <a:p>
            <a:pPr algn="just" fontAlgn="base"/>
            <a:r>
              <a:rPr lang="en-US" sz="2000" b="1" dirty="0" smtClean="0">
                <a:latin typeface="Times New Roman" pitchFamily="18" charset="0"/>
                <a:cs typeface="Times New Roman" pitchFamily="18" charset="0"/>
              </a:rPr>
              <a:t>Full duplex mode:</a:t>
            </a:r>
            <a:r>
              <a:rPr lang="en-US" sz="2000" dirty="0" smtClean="0">
                <a:latin typeface="Times New Roman" pitchFamily="18" charset="0"/>
                <a:cs typeface="Times New Roman" pitchFamily="18" charset="0"/>
              </a:rPr>
              <a:t> In full-duplex mode, Sender can send the data and also can receive the data simultaneously. It is two-way directional communication simultaneously. </a:t>
            </a:r>
          </a:p>
          <a:p>
            <a:pPr algn="just">
              <a:buNone/>
            </a:pPr>
            <a:endParaRPr lang="en-US" sz="2000" dirty="0">
              <a:latin typeface="Times New Roman" pitchFamily="18" charset="0"/>
              <a:cs typeface="Times New Roman" pitchFamily="18" charset="0"/>
            </a:endParaRPr>
          </a:p>
        </p:txBody>
      </p:sp>
      <p:pic>
        <p:nvPicPr>
          <p:cNvPr id="4" name="Picture 3" descr="a.GIF"/>
          <p:cNvPicPr>
            <a:picLocks noChangeAspect="1"/>
          </p:cNvPicPr>
          <p:nvPr/>
        </p:nvPicPr>
        <p:blipFill>
          <a:blip r:embed="rId3"/>
          <a:stretch>
            <a:fillRect/>
          </a:stretch>
        </p:blipFill>
        <p:spPr>
          <a:xfrm>
            <a:off x="838200" y="4191000"/>
            <a:ext cx="5267325" cy="1704975"/>
          </a:xfrm>
          <a:prstGeom prst="rect">
            <a:avLst/>
          </a:prstGeom>
        </p:spPr>
      </p:pic>
    </p:spTree>
    <p:extLst>
      <p:ext uri="{BB962C8B-B14F-4D97-AF65-F5344CB8AC3E}">
        <p14:creationId xmlns:p14="http://schemas.microsoft.com/office/powerpoint/2010/main" val="6724422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GIF"/>
          <p:cNvPicPr>
            <a:picLocks noChangeAspect="1"/>
          </p:cNvPicPr>
          <p:nvPr/>
        </p:nvPicPr>
        <p:blipFill>
          <a:blip r:embed="rId2"/>
          <a:stretch>
            <a:fillRect/>
          </a:stretch>
        </p:blipFill>
        <p:spPr>
          <a:xfrm>
            <a:off x="1828800" y="4552950"/>
            <a:ext cx="5553075" cy="2305050"/>
          </a:xfrm>
          <a:prstGeom prst="rect">
            <a:avLst/>
          </a:prstGeom>
        </p:spPr>
      </p:pic>
      <p:pic>
        <p:nvPicPr>
          <p:cNvPr id="7" name="Content Placeholder 6" descr="b.GIF"/>
          <p:cNvPicPr>
            <a:picLocks noGrp="1" noChangeAspect="1"/>
          </p:cNvPicPr>
          <p:nvPr>
            <p:ph idx="1"/>
          </p:nvPr>
        </p:nvPicPr>
        <p:blipFill>
          <a:blip r:embed="rId3"/>
          <a:stretch>
            <a:fillRect/>
          </a:stretch>
        </p:blipFill>
        <p:spPr>
          <a:xfrm>
            <a:off x="533400" y="0"/>
            <a:ext cx="7848600" cy="4038600"/>
          </a:xfrm>
        </p:spPr>
      </p:pic>
    </p:spTree>
    <p:extLst>
      <p:ext uri="{BB962C8B-B14F-4D97-AF65-F5344CB8AC3E}">
        <p14:creationId xmlns:p14="http://schemas.microsoft.com/office/powerpoint/2010/main" val="23682265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525963"/>
          </a:xfrm>
        </p:spPr>
        <p:txBody>
          <a:bodyPr/>
          <a:lstStyle/>
          <a:p>
            <a:r>
              <a:rPr lang="en-US" b="1" u="sng" dirty="0" smtClean="0">
                <a:latin typeface="Times New Roman" pitchFamily="18" charset="0"/>
                <a:cs typeface="Times New Roman" pitchFamily="18" charset="0"/>
              </a:rPr>
              <a:t>RS 232 cable</a:t>
            </a:r>
          </a:p>
          <a:p>
            <a:endParaRPr lang="en-US" dirty="0"/>
          </a:p>
        </p:txBody>
      </p:sp>
      <p:pic>
        <p:nvPicPr>
          <p:cNvPr id="4" name="Picture 3" descr="Capture.GIF"/>
          <p:cNvPicPr>
            <a:picLocks noChangeAspect="1"/>
          </p:cNvPicPr>
          <p:nvPr/>
        </p:nvPicPr>
        <p:blipFill>
          <a:blip r:embed="rId2"/>
          <a:stretch>
            <a:fillRect/>
          </a:stretch>
        </p:blipFill>
        <p:spPr>
          <a:xfrm>
            <a:off x="0" y="1524000"/>
            <a:ext cx="4267200" cy="4419600"/>
          </a:xfrm>
          <a:prstGeom prst="rect">
            <a:avLst/>
          </a:prstGeom>
        </p:spPr>
      </p:pic>
      <p:pic>
        <p:nvPicPr>
          <p:cNvPr id="5" name="Picture 4" descr="Capture.GIF"/>
          <p:cNvPicPr>
            <a:picLocks noChangeAspect="1"/>
          </p:cNvPicPr>
          <p:nvPr/>
        </p:nvPicPr>
        <p:blipFill>
          <a:blip r:embed="rId3"/>
          <a:stretch>
            <a:fillRect/>
          </a:stretch>
        </p:blipFill>
        <p:spPr>
          <a:xfrm>
            <a:off x="5019675" y="1143000"/>
            <a:ext cx="4124325" cy="4143375"/>
          </a:xfrm>
          <a:prstGeom prst="rect">
            <a:avLst/>
          </a:prstGeom>
        </p:spPr>
      </p:pic>
    </p:spTree>
    <p:extLst>
      <p:ext uri="{BB962C8B-B14F-4D97-AF65-F5344CB8AC3E}">
        <p14:creationId xmlns:p14="http://schemas.microsoft.com/office/powerpoint/2010/main" val="12500999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lgn="just">
              <a:buNone/>
            </a:pPr>
            <a:r>
              <a:rPr lang="en-US" b="1" u="sng" dirty="0" smtClean="0">
                <a:latin typeface="Times New Roman" pitchFamily="18" charset="0"/>
                <a:cs typeface="Times New Roman" pitchFamily="18" charset="0"/>
              </a:rPr>
              <a:t>Features and application of RS 232 cable</a:t>
            </a:r>
          </a:p>
          <a:p>
            <a:pPr algn="just"/>
            <a:r>
              <a:rPr lang="en-US" b="1" dirty="0" smtClean="0">
                <a:latin typeface="Times New Roman" pitchFamily="18" charset="0"/>
                <a:cs typeface="Times New Roman" pitchFamily="18" charset="0"/>
              </a:rPr>
              <a:t>RS232 cables </a:t>
            </a:r>
            <a:r>
              <a:rPr lang="en-US" dirty="0" smtClean="0">
                <a:latin typeface="Times New Roman" pitchFamily="18" charset="0"/>
                <a:cs typeface="Times New Roman" pitchFamily="18" charset="0"/>
              </a:rPr>
              <a:t>support a typical transmission speed of 9600 bps at 15 m. They provide asynchronous communication capabilities with hardware flow control, software flow control, and parity checking. Most gears, instruments with digital control interfaces, and communication devices have an RS232 interface.</a:t>
            </a:r>
          </a:p>
          <a:p>
            <a:pPr algn="just"/>
            <a:r>
              <a:rPr lang="en-US" dirty="0" smtClean="0">
                <a:latin typeface="Times New Roman" pitchFamily="18" charset="0"/>
                <a:cs typeface="Times New Roman" pitchFamily="18" charset="0"/>
              </a:rPr>
              <a:t>The application may determine the cable's dimensional and electrical specifications, as well as its end connectors and approvals and certifications. </a:t>
            </a:r>
          </a:p>
          <a:p>
            <a:pPr algn="just"/>
            <a:r>
              <a:rPr lang="en-US" dirty="0" smtClean="0">
                <a:latin typeface="Times New Roman" pitchFamily="18" charset="0"/>
                <a:cs typeface="Times New Roman" pitchFamily="18" charset="0"/>
              </a:rPr>
              <a:t>Suppliers offer serial cables for audio / video (A/V), automotive, imaging, medical, radio frequency (RF), and telecommunications applications. </a:t>
            </a:r>
          </a:p>
          <a:p>
            <a:pPr algn="just"/>
            <a:r>
              <a:rPr lang="en-US" dirty="0" smtClean="0">
                <a:latin typeface="Times New Roman" pitchFamily="18" charset="0"/>
                <a:cs typeface="Times New Roman" pitchFamily="18" charset="0"/>
              </a:rPr>
              <a:t>There are also cables for personal computers (PCs), local area network (LAN) and Ethernet applications, and industrial control and instrumentation systems.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305241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just" fontAlgn="base">
              <a:buNone/>
            </a:pPr>
            <a:r>
              <a:rPr lang="en-US" b="1" u="sng" dirty="0" smtClean="0">
                <a:latin typeface="Times New Roman" pitchFamily="18" charset="0"/>
                <a:cs typeface="Times New Roman" pitchFamily="18" charset="0"/>
              </a:rPr>
              <a:t>Features &amp; Benefits</a:t>
            </a:r>
          </a:p>
          <a:p>
            <a:pPr algn="just" fontAlgn="base"/>
            <a:r>
              <a:rPr lang="en-US" dirty="0" smtClean="0">
                <a:latin typeface="Times New Roman" pitchFamily="18" charset="0"/>
                <a:cs typeface="Times New Roman" pitchFamily="18" charset="0"/>
              </a:rPr>
              <a:t>Best-in-Class Shield Technology: Patented </a:t>
            </a:r>
            <a:r>
              <a:rPr lang="en-US" dirty="0" err="1" smtClean="0">
                <a:latin typeface="Times New Roman" pitchFamily="18" charset="0"/>
                <a:cs typeface="Times New Roman" pitchFamily="18" charset="0"/>
              </a:rPr>
              <a:t>Beldfoil</a:t>
            </a:r>
            <a:r>
              <a:rPr lang="en-US" dirty="0" smtClean="0">
                <a:latin typeface="Times New Roman" pitchFamily="18" charset="0"/>
                <a:cs typeface="Times New Roman" pitchFamily="18" charset="0"/>
              </a:rPr>
              <a:t> shield technology offers 100% coverage, preventing outside noise from affecting the signal</a:t>
            </a:r>
          </a:p>
          <a:p>
            <a:pPr algn="just" fontAlgn="base"/>
            <a:r>
              <a:rPr lang="en-US" dirty="0" smtClean="0">
                <a:latin typeface="Times New Roman" pitchFamily="18" charset="0"/>
                <a:cs typeface="Times New Roman" pitchFamily="18" charset="0"/>
              </a:rPr>
              <a:t>Multiple Temperature Options: Range of jacket material options suited for different temperature ratings and budget requirements</a:t>
            </a:r>
          </a:p>
          <a:p>
            <a:pPr algn="just" fontAlgn="base"/>
            <a:r>
              <a:rPr lang="en-US" dirty="0" smtClean="0">
                <a:latin typeface="Times New Roman" pitchFamily="18" charset="0"/>
                <a:cs typeface="Times New Roman" pitchFamily="18" charset="0"/>
              </a:rPr>
              <a:t>Longer Transmission Distances: Lower capacitance allows signal transmission over extended distances</a:t>
            </a:r>
          </a:p>
          <a:p>
            <a:pPr algn="just" fontAlgn="base"/>
            <a:r>
              <a:rPr lang="en-US" dirty="0" smtClean="0">
                <a:latin typeface="Times New Roman" pitchFamily="18" charset="0"/>
                <a:cs typeface="Times New Roman" pitchFamily="18" charset="0"/>
              </a:rPr>
              <a:t>Simplified Installation: Cables use finely stranded conductors for increased flexibility</a:t>
            </a:r>
          </a:p>
          <a:p>
            <a:pPr algn="just" fontAlgn="base"/>
            <a:r>
              <a:rPr lang="en-US" dirty="0" smtClean="0">
                <a:latin typeface="Times New Roman" pitchFamily="18" charset="0"/>
                <a:cs typeface="Times New Roman" pitchFamily="18" charset="0"/>
              </a:rPr>
              <a:t>Easy to Spec &amp; Design: Offered in a range of gauge sizes, shielding options, conductor types and pair counts</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918750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pPr algn="just">
              <a:buNone/>
            </a:pPr>
            <a:r>
              <a:rPr lang="en-US" b="1" u="sng" dirty="0" smtClean="0">
                <a:latin typeface="Times New Roman" pitchFamily="18" charset="0"/>
                <a:cs typeface="Times New Roman" pitchFamily="18" charset="0"/>
              </a:rPr>
              <a:t>What is RS232?</a:t>
            </a:r>
          </a:p>
          <a:p>
            <a:pPr algn="just"/>
            <a:r>
              <a:rPr lang="en-US" b="1" i="1" dirty="0" smtClean="0">
                <a:latin typeface="Times New Roman" pitchFamily="18" charset="0"/>
                <a:cs typeface="Times New Roman" pitchFamily="18" charset="0"/>
              </a:rPr>
              <a:t>RS232C “Recommended Standard 232C”</a:t>
            </a:r>
            <a:r>
              <a:rPr lang="en-US" i="1" dirty="0" smtClean="0">
                <a:latin typeface="Times New Roman" pitchFamily="18" charset="0"/>
                <a:cs typeface="Times New Roman" pitchFamily="18" charset="0"/>
              </a:rPr>
              <a:t> is the recent version of Standard 25 pin whereas, </a:t>
            </a:r>
            <a:r>
              <a:rPr lang="en-US" b="1" i="1" dirty="0" smtClean="0">
                <a:latin typeface="Times New Roman" pitchFamily="18" charset="0"/>
                <a:cs typeface="Times New Roman" pitchFamily="18" charset="0"/>
              </a:rPr>
              <a:t>RS232D</a:t>
            </a:r>
            <a:r>
              <a:rPr lang="en-US" i="1" dirty="0" smtClean="0">
                <a:latin typeface="Times New Roman" pitchFamily="18" charset="0"/>
                <a:cs typeface="Times New Roman" pitchFamily="18" charset="0"/>
              </a:rPr>
              <a:t> which is of 22 pins. In new PC’s male D-type which is of 9 pins.</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RS232 is a standard protocol used for serial communication, it is used for connecting computer and its peripheral devices to allow serial data exchange between them. As it obtains the voltage for the path used for the data exchange between the devices. It is used in serial communication up to 50 feet with the rate of 1.492kbps. As EIA defines, the RS232 is used for connecting </a:t>
            </a:r>
            <a:r>
              <a:rPr lang="en-US" b="1" dirty="0" smtClean="0">
                <a:latin typeface="Times New Roman" pitchFamily="18" charset="0"/>
                <a:cs typeface="Times New Roman" pitchFamily="18" charset="0"/>
              </a:rPr>
              <a:t>Data Transmission Equipment (DTE)</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Data Communication Equipment (DCE)</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Universal Asynchronous Data Receiver &amp;Transmitter (UART)</a:t>
            </a:r>
            <a:r>
              <a:rPr lang="en-US" dirty="0" smtClean="0">
                <a:latin typeface="Times New Roman" pitchFamily="18" charset="0"/>
                <a:cs typeface="Times New Roman" pitchFamily="18" charset="0"/>
              </a:rPr>
              <a:t> used in connection with RS232 for transferring data between printer and computer. The microcontrollers are not able to handle such kind of voltage levels, connectors are connected between RS232 signals. These connectors are known as the </a:t>
            </a:r>
            <a:r>
              <a:rPr lang="en-US" b="1" dirty="0" smtClean="0">
                <a:latin typeface="Times New Roman" pitchFamily="18" charset="0"/>
                <a:cs typeface="Times New Roman" pitchFamily="18" charset="0"/>
              </a:rPr>
              <a:t>DB-9 Connector</a:t>
            </a:r>
            <a:r>
              <a:rPr lang="en-US" dirty="0" smtClean="0">
                <a:latin typeface="Times New Roman" pitchFamily="18" charset="0"/>
                <a:cs typeface="Times New Roman" pitchFamily="18" charset="0"/>
              </a:rPr>
              <a:t> as a serial port and they are of two type’s </a:t>
            </a:r>
            <a:r>
              <a:rPr lang="en-US" b="1" dirty="0" smtClean="0">
                <a:latin typeface="Times New Roman" pitchFamily="18" charset="0"/>
                <a:cs typeface="Times New Roman" pitchFamily="18" charset="0"/>
              </a:rPr>
              <a:t>Male connector (DTE) &amp; Female connector (DCE).</a:t>
            </a:r>
            <a:endParaRPr lang="en-US" dirty="0" smtClean="0">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491824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a:buNone/>
            </a:pPr>
            <a:r>
              <a:rPr lang="en-US" sz="2400" b="1" u="sng" dirty="0" smtClean="0">
                <a:latin typeface="Times New Roman" pitchFamily="18" charset="0"/>
                <a:cs typeface="Times New Roman" pitchFamily="18" charset="0"/>
              </a:rPr>
              <a:t>IEEE 1284</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is a standard that defines bi-directional </a:t>
            </a:r>
            <a:r>
              <a:rPr lang="en-US" sz="2400" dirty="0" smtClean="0">
                <a:latin typeface="Times New Roman" pitchFamily="18" charset="0"/>
                <a:cs typeface="Times New Roman" pitchFamily="18" charset="0"/>
                <a:hlinkClick r:id="rId2" tooltip="Parallel communications"/>
              </a:rPr>
              <a:t>parallel communications</a:t>
            </a:r>
            <a:r>
              <a:rPr lang="en-US" sz="2400" dirty="0" smtClean="0">
                <a:latin typeface="Times New Roman" pitchFamily="18" charset="0"/>
                <a:cs typeface="Times New Roman" pitchFamily="18" charset="0"/>
              </a:rPr>
              <a:t> between computers and other devices. The IEEE 1284 standard allows for faster throughput and bidirectional data flow with a theoretical maximum throughput of 4 </a:t>
            </a:r>
            <a:r>
              <a:rPr lang="en-US" sz="2400" dirty="0" smtClean="0">
                <a:latin typeface="Times New Roman" pitchFamily="18" charset="0"/>
                <a:cs typeface="Times New Roman" pitchFamily="18" charset="0"/>
                <a:hlinkClick r:id="rId3" tooltip="Megabyte"/>
              </a:rPr>
              <a:t>megabytes</a:t>
            </a:r>
            <a:r>
              <a:rPr lang="en-US" sz="2400" dirty="0" smtClean="0">
                <a:latin typeface="Times New Roman" pitchFamily="18" charset="0"/>
                <a:cs typeface="Times New Roman" pitchFamily="18" charset="0"/>
              </a:rPr>
              <a:t> per second; actual throughput is around 2 megabytes/second depending on hardware. </a:t>
            </a:r>
          </a:p>
          <a:p>
            <a:pPr algn="just"/>
            <a:r>
              <a:rPr lang="en-US" sz="2400" dirty="0" smtClean="0">
                <a:latin typeface="Times New Roman" pitchFamily="18" charset="0"/>
                <a:cs typeface="Times New Roman" pitchFamily="18" charset="0"/>
              </a:rPr>
              <a:t>In the printer venue, this allows for faster printing and back-channel status and management. Since the new standard allowed the peripheral to send large amounts of data back to the host, devices that had previously used </a:t>
            </a:r>
            <a:r>
              <a:rPr lang="en-US" sz="2400" dirty="0" smtClean="0">
                <a:latin typeface="Times New Roman" pitchFamily="18" charset="0"/>
                <a:cs typeface="Times New Roman" pitchFamily="18" charset="0"/>
                <a:hlinkClick r:id="rId4" tooltip="SCSI"/>
              </a:rPr>
              <a:t>SCSI</a:t>
            </a:r>
            <a:r>
              <a:rPr lang="en-US" sz="2400" dirty="0" smtClean="0">
                <a:latin typeface="Times New Roman" pitchFamily="18" charset="0"/>
                <a:cs typeface="Times New Roman" pitchFamily="18" charset="0"/>
              </a:rPr>
              <a:t> interfaces could be produced at a much lower cost. This included </a:t>
            </a:r>
            <a:r>
              <a:rPr lang="en-US" sz="2400" dirty="0" smtClean="0">
                <a:latin typeface="Times New Roman" pitchFamily="18" charset="0"/>
                <a:cs typeface="Times New Roman" pitchFamily="18" charset="0"/>
                <a:hlinkClick r:id="rId5" tooltip="Image scanner"/>
              </a:rPr>
              <a:t>scanners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hlinkClick r:id="rId6" tooltip="Tape drive"/>
              </a:rPr>
              <a:t>tape drives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hlinkClick r:id="rId7" tooltip="Hard disk"/>
              </a:rPr>
              <a:t>hard disks</a:t>
            </a:r>
            <a:r>
              <a:rPr lang="en-US" sz="2400" dirty="0" smtClean="0">
                <a:latin typeface="Times New Roman" pitchFamily="18" charset="0"/>
                <a:cs typeface="Times New Roman" pitchFamily="18" charset="0"/>
              </a:rPr>
              <a:t>, computer networks connected directly via parallel interface, network adapters and other devices. No longer was the consumer required to purchase an expensive SCSI card—they could simply use their built-in parallel interface.</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44684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Optical communication is any type of communication in which light is used to carry the signal to the remote end, instead of electrical current. Optical communication relies on optical fibers to carry signals to their destinations. A modulator/demodulator, a transmitter/receiver, a light signal and a transparent channel are the building blocks of the optical communications system.</a:t>
            </a:r>
            <a:endParaRPr lang="en-US" dirty="0"/>
          </a:p>
        </p:txBody>
      </p:sp>
    </p:spTree>
    <p:extLst>
      <p:ext uri="{BB962C8B-B14F-4D97-AF65-F5344CB8AC3E}">
        <p14:creationId xmlns:p14="http://schemas.microsoft.com/office/powerpoint/2010/main" val="8615276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Optical communication systems consist of the following components:</a:t>
            </a:r>
          </a:p>
          <a:p>
            <a:r>
              <a:rPr lang="en-US" dirty="0"/>
              <a:t>Transmitter: Converts and transmits an electronic signal into a light signal. The most commonly used transmitters are semiconductor devices, such as light-emitting diodes (LEDs) and laser diodes.</a:t>
            </a:r>
          </a:p>
          <a:p>
            <a:r>
              <a:rPr lang="en-US" dirty="0"/>
              <a:t>Receivers: Typically consist of a photo-detector, which converts light into electricity using the photoelectric effect. The photo detector is typically a semiconductor-based photodiode.</a:t>
            </a:r>
          </a:p>
          <a:p>
            <a:r>
              <a:rPr lang="en-US" dirty="0"/>
              <a:t>Optical Fiber: Consists of a core, cladding and a buffer through which the cladding guides the light along the core by using total internal reflection.</a:t>
            </a:r>
          </a:p>
          <a:p>
            <a:r>
              <a:rPr lang="en-US" dirty="0"/>
              <a:t>The main benefits of optical communication include high bandwidth, exceptionally low loss, great transmission range and no electromagnetic interference. The cons of optic communication include the high cost of cable, transmitter/receiver and other support equipment, and the skill and expertise required during cable installation and interconnection.</a:t>
            </a:r>
          </a:p>
          <a:p>
            <a:endParaRPr lang="en-US" dirty="0"/>
          </a:p>
        </p:txBody>
      </p:sp>
    </p:spTree>
    <p:extLst>
      <p:ext uri="{BB962C8B-B14F-4D97-AF65-F5344CB8AC3E}">
        <p14:creationId xmlns:p14="http://schemas.microsoft.com/office/powerpoint/2010/main" val="1730778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Functional Advantages</a:t>
            </a:r>
          </a:p>
          <a:p>
            <a:r>
              <a:rPr lang="en-US" dirty="0"/>
              <a:t>The functional advantages of optical fibers are −</a:t>
            </a:r>
          </a:p>
          <a:p>
            <a:r>
              <a:rPr lang="en-US" dirty="0"/>
              <a:t>The transmission bandwidth of the fiber optic cables is higher than the metal cables.</a:t>
            </a:r>
          </a:p>
          <a:p>
            <a:r>
              <a:rPr lang="en-US" dirty="0"/>
              <a:t>The amount of data transmission is higher in fiber optic cables.</a:t>
            </a:r>
          </a:p>
          <a:p>
            <a:r>
              <a:rPr lang="en-US" dirty="0"/>
              <a:t>The power loss is very low and hence helpful in long-distance transmissions.</a:t>
            </a:r>
          </a:p>
          <a:p>
            <a:r>
              <a:rPr lang="en-US" dirty="0"/>
              <a:t>Fiber optic cables provide high security and cannot be tapped.</a:t>
            </a:r>
          </a:p>
          <a:p>
            <a:r>
              <a:rPr lang="en-US" dirty="0"/>
              <a:t>Fiber optic cables are the most secure way for data transmission.</a:t>
            </a:r>
          </a:p>
          <a:p>
            <a:r>
              <a:rPr lang="en-US" dirty="0"/>
              <a:t>Fiber optic cables are immune to electromagnetic interference.</a:t>
            </a:r>
          </a:p>
          <a:p>
            <a:r>
              <a:rPr lang="en-US" dirty="0"/>
              <a:t>These are not affected by electrical noise.</a:t>
            </a:r>
          </a:p>
          <a:p>
            <a:endParaRPr lang="en-US" dirty="0"/>
          </a:p>
        </p:txBody>
      </p:sp>
    </p:spTree>
    <p:extLst>
      <p:ext uri="{BB962C8B-B14F-4D97-AF65-F5344CB8AC3E}">
        <p14:creationId xmlns:p14="http://schemas.microsoft.com/office/powerpoint/2010/main" val="34512413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Physical Advantages</a:t>
            </a:r>
          </a:p>
          <a:p>
            <a:r>
              <a:rPr lang="en-US" dirty="0"/>
              <a:t>The physical advantages of fiber optic cables are −</a:t>
            </a:r>
          </a:p>
          <a:p>
            <a:r>
              <a:rPr lang="en-US" dirty="0"/>
              <a:t>The capacity of these cables is much higher than copper wire cables.</a:t>
            </a:r>
          </a:p>
          <a:p>
            <a:r>
              <a:rPr lang="en-US" dirty="0"/>
              <a:t>Though the capacity is higher, the size of the cable doesn’t increase like it does in copper wire cabling system.</a:t>
            </a:r>
          </a:p>
          <a:p>
            <a:r>
              <a:rPr lang="en-US" dirty="0"/>
              <a:t>The space occupied by these cables is much less.</a:t>
            </a:r>
          </a:p>
          <a:p>
            <a:r>
              <a:rPr lang="en-US" dirty="0"/>
              <a:t>The weight of these FOC cables is much lighter than the copper ones.</a:t>
            </a:r>
          </a:p>
          <a:p>
            <a:r>
              <a:rPr lang="en-US" dirty="0"/>
              <a:t>Since these cables are di-electric, no spark hazards are present.</a:t>
            </a:r>
          </a:p>
          <a:p>
            <a:r>
              <a:rPr lang="en-US" dirty="0"/>
              <a:t>These cables are more corrosion resistant than copper cables, as they are bent easily and are flexible.</a:t>
            </a:r>
          </a:p>
          <a:p>
            <a:r>
              <a:rPr lang="en-US" dirty="0"/>
              <a:t>The raw material for the manufacture of fiber optic cables is glass, which is cheaper than copper.</a:t>
            </a:r>
          </a:p>
          <a:p>
            <a:r>
              <a:rPr lang="en-US" dirty="0"/>
              <a:t>Fiber optic cables last longer than copper cables.</a:t>
            </a:r>
          </a:p>
          <a:p>
            <a:endParaRPr lang="en-US" dirty="0"/>
          </a:p>
        </p:txBody>
      </p:sp>
    </p:spTree>
    <p:extLst>
      <p:ext uri="{BB962C8B-B14F-4D97-AF65-F5344CB8AC3E}">
        <p14:creationId xmlns:p14="http://schemas.microsoft.com/office/powerpoint/2010/main" val="3647923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Disadvantages</a:t>
            </a:r>
          </a:p>
          <a:p>
            <a:r>
              <a:rPr lang="en-US" dirty="0"/>
              <a:t>Although fiber optics offer many advantages, they have the following drawbacks −</a:t>
            </a:r>
          </a:p>
          <a:p>
            <a:r>
              <a:rPr lang="en-US" dirty="0"/>
              <a:t>Though fiber optic cables last longer, the installation cost is high.</a:t>
            </a:r>
          </a:p>
          <a:p>
            <a:r>
              <a:rPr lang="en-US" dirty="0"/>
              <a:t>The number of repeaters are to be increased with distance.</a:t>
            </a:r>
          </a:p>
          <a:p>
            <a:r>
              <a:rPr lang="en-US" dirty="0"/>
              <a:t>They are fragile if not enclosed in a plastic sheath. Hence, more protection is needed than copper ones.</a:t>
            </a:r>
          </a:p>
          <a:p>
            <a:r>
              <a:rPr lang="en-US" dirty="0"/>
              <a:t>Applications of Fiber Optics</a:t>
            </a:r>
          </a:p>
          <a:p>
            <a:r>
              <a:rPr lang="en-US" dirty="0"/>
              <a:t>The optical fibers have many applications. Some of them are as follows −</a:t>
            </a:r>
          </a:p>
          <a:p>
            <a:r>
              <a:rPr lang="en-US" dirty="0"/>
              <a:t>Used in telephone systems</a:t>
            </a:r>
          </a:p>
          <a:p>
            <a:r>
              <a:rPr lang="en-US" dirty="0"/>
              <a:t>Used in sub-marine cable networks</a:t>
            </a:r>
          </a:p>
          <a:p>
            <a:r>
              <a:rPr lang="en-US" dirty="0"/>
              <a:t>Used in data link for computer networks, CATV Systems</a:t>
            </a:r>
          </a:p>
          <a:p>
            <a:r>
              <a:rPr lang="en-US" dirty="0"/>
              <a:t>Used in CCTV surveillance cameras</a:t>
            </a:r>
          </a:p>
          <a:p>
            <a:r>
              <a:rPr lang="en-US" dirty="0"/>
              <a:t>Used for connecting fire, police, and other emergency services.</a:t>
            </a:r>
          </a:p>
          <a:p>
            <a:r>
              <a:rPr lang="en-US" dirty="0"/>
              <a:t>Used in hospitals, schools, and traffic management systems.</a:t>
            </a:r>
          </a:p>
          <a:p>
            <a:endParaRPr lang="en-US" dirty="0"/>
          </a:p>
        </p:txBody>
      </p:sp>
    </p:spTree>
    <p:extLst>
      <p:ext uri="{BB962C8B-B14F-4D97-AF65-F5344CB8AC3E}">
        <p14:creationId xmlns:p14="http://schemas.microsoft.com/office/powerpoint/2010/main" val="40548643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Fiber Optic</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Fiber optic refers to the technology and medium used in the transmission of data as pulses of light through a strand or fiber medium made of glass or plastic (optical fiber), versus being sent as electrical pulses through conductive metal, like copper wires. Optical fiber technology can carry much more data than conventional copper wires and is less prone to electromagnetic interference, simply because data is transmitted in the form of light, rather than electricity.</a:t>
            </a:r>
            <a:endParaRPr lang="en-US" dirty="0"/>
          </a:p>
        </p:txBody>
      </p:sp>
    </p:spTree>
    <p:extLst>
      <p:ext uri="{BB962C8B-B14F-4D97-AF65-F5344CB8AC3E}">
        <p14:creationId xmlns:p14="http://schemas.microsoft.com/office/powerpoint/2010/main" val="28005750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Fiber optic technology uses glass fibers to transmit data at blazing fast speeds, although not as fast as the speed of light. This is because the general notion of the speed of light, which is 299,792,458 meters per second, occurs in a vacuum. In reality, the speed at which light travels greatly varies, depending on the medium through which it passes.</a:t>
            </a:r>
          </a:p>
          <a:p>
            <a:r>
              <a:rPr lang="en-US" dirty="0"/>
              <a:t>To decode data, special hardware with light sensors is needed for each terminal of the fiber optic cable. This technology is considerably more expensive because manufacturing this type of cable is more expensive, and even connecting two ends requires expensive measures.</a:t>
            </a:r>
          </a:p>
          <a:p>
            <a:endParaRPr lang="en-US" dirty="0"/>
          </a:p>
        </p:txBody>
      </p:sp>
    </p:spTree>
    <p:extLst>
      <p:ext uri="{BB962C8B-B14F-4D97-AF65-F5344CB8AC3E}">
        <p14:creationId xmlns:p14="http://schemas.microsoft.com/office/powerpoint/2010/main" val="206986373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p:spPr>
      </p:pic>
    </p:spTree>
    <p:extLst>
      <p:ext uri="{BB962C8B-B14F-4D97-AF65-F5344CB8AC3E}">
        <p14:creationId xmlns:p14="http://schemas.microsoft.com/office/powerpoint/2010/main" val="31430905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p:spPr>
      </p:pic>
    </p:spTree>
    <p:extLst>
      <p:ext uri="{BB962C8B-B14F-4D97-AF65-F5344CB8AC3E}">
        <p14:creationId xmlns:p14="http://schemas.microsoft.com/office/powerpoint/2010/main" val="302666807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p:spPr>
      </p:pic>
    </p:spTree>
    <p:extLst>
      <p:ext uri="{BB962C8B-B14F-4D97-AF65-F5344CB8AC3E}">
        <p14:creationId xmlns:p14="http://schemas.microsoft.com/office/powerpoint/2010/main" val="226184756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8534399" cy="6858000"/>
          </a:xfrm>
        </p:spPr>
      </p:pic>
    </p:spTree>
    <p:extLst>
      <p:ext uri="{BB962C8B-B14F-4D97-AF65-F5344CB8AC3E}">
        <p14:creationId xmlns:p14="http://schemas.microsoft.com/office/powerpoint/2010/main" val="1881379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4365</Words>
  <Application>Microsoft Office PowerPoint</Application>
  <PresentationFormat>On-screen Show (4:3)</PresentationFormat>
  <Paragraphs>353</Paragraphs>
  <Slides>64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Arial MT</vt:lpstr>
      <vt:lpstr>Calibri</vt:lpstr>
      <vt:lpstr>Times New Roman</vt:lpstr>
      <vt:lpstr>Office Theme</vt:lpstr>
      <vt:lpstr>Data Acquisition System</vt:lpstr>
      <vt:lpstr>Data Acquisition System (DAS)</vt:lpstr>
      <vt:lpstr>Data Acquisition</vt:lpstr>
      <vt:lpstr>Data Acquisition System</vt:lpstr>
      <vt:lpstr>Data Acquisition System</vt:lpstr>
      <vt:lpstr>Configuration of DAS</vt:lpstr>
      <vt:lpstr>Single Channel DAS</vt:lpstr>
      <vt:lpstr>Multi Channel DAS</vt:lpstr>
      <vt:lpstr>Data Acquisition System</vt:lpstr>
      <vt:lpstr>Analog DAS</vt:lpstr>
      <vt:lpstr>Analog DAS</vt:lpstr>
      <vt:lpstr>Analog DAS</vt:lpstr>
      <vt:lpstr>Digital DAS</vt:lpstr>
      <vt:lpstr>Digital DAS</vt:lpstr>
      <vt:lpstr>Digital DAS</vt:lpstr>
      <vt:lpstr>Digital DAS</vt:lpstr>
      <vt:lpstr> Applications of DAS </vt:lpstr>
      <vt:lpstr>Modern trends in DAS</vt:lpstr>
      <vt:lpstr>Modern trends in DAS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Fiber Optic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Acquisition System</dc:title>
  <dc:creator>elx</dc:creator>
  <cp:lastModifiedBy>Navaraj</cp:lastModifiedBy>
  <cp:revision>28</cp:revision>
  <dcterms:created xsi:type="dcterms:W3CDTF">2006-08-16T00:00:00Z</dcterms:created>
  <dcterms:modified xsi:type="dcterms:W3CDTF">2023-07-30T06:04:07Z</dcterms:modified>
</cp:coreProperties>
</file>