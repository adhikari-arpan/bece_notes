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Default Extension="gif" ContentType="image/gif"/>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9"/>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328" r:id="rId14"/>
    <p:sldId id="330" r:id="rId15"/>
    <p:sldId id="331" r:id="rId16"/>
    <p:sldId id="332"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339" r:id="rId34"/>
    <p:sldId id="340" r:id="rId35"/>
    <p:sldId id="341" r:id="rId36"/>
    <p:sldId id="335" r:id="rId37"/>
    <p:sldId id="336" r:id="rId38"/>
    <p:sldId id="337" r:id="rId39"/>
    <p:sldId id="338" r:id="rId40"/>
    <p:sldId id="343" r:id="rId41"/>
    <p:sldId id="344" r:id="rId42"/>
    <p:sldId id="345" r:id="rId43"/>
    <p:sldId id="346" r:id="rId44"/>
    <p:sldId id="347" r:id="rId45"/>
    <p:sldId id="348" r:id="rId46"/>
    <p:sldId id="349" r:id="rId47"/>
    <p:sldId id="350" r:id="rId48"/>
    <p:sldId id="291" r:id="rId49"/>
    <p:sldId id="311" r:id="rId50"/>
    <p:sldId id="312" r:id="rId51"/>
    <p:sldId id="313" r:id="rId52"/>
    <p:sldId id="314" r:id="rId53"/>
    <p:sldId id="315" r:id="rId54"/>
    <p:sldId id="316" r:id="rId55"/>
    <p:sldId id="317" r:id="rId56"/>
    <p:sldId id="318" r:id="rId57"/>
    <p:sldId id="319" r:id="rId58"/>
    <p:sldId id="320" r:id="rId59"/>
    <p:sldId id="321" r:id="rId60"/>
    <p:sldId id="322" r:id="rId61"/>
    <p:sldId id="323" r:id="rId62"/>
    <p:sldId id="326" r:id="rId63"/>
    <p:sldId id="333" r:id="rId64"/>
    <p:sldId id="334" r:id="rId65"/>
    <p:sldId id="358" r:id="rId66"/>
    <p:sldId id="359" r:id="rId67"/>
    <p:sldId id="351" r:id="rId68"/>
    <p:sldId id="352" r:id="rId69"/>
    <p:sldId id="360" r:id="rId70"/>
    <p:sldId id="361" r:id="rId71"/>
    <p:sldId id="356" r:id="rId72"/>
    <p:sldId id="357" r:id="rId73"/>
    <p:sldId id="353" r:id="rId74"/>
    <p:sldId id="354" r:id="rId75"/>
    <p:sldId id="355" r:id="rId76"/>
    <p:sldId id="362" r:id="rId77"/>
    <p:sldId id="327" r:id="rId78"/>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750" y="-96"/>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2900"/>
          </a:xfrm>
          <a:prstGeom prst="rect">
            <a:avLst/>
          </a:prstGeom>
        </p:spPr>
        <p:txBody>
          <a:bodyPr vert="horz" lIns="91440" tIns="45720" rIns="91440" bIns="45720" rtlCol="0"/>
          <a:lstStyle>
            <a:lvl1pPr algn="r">
              <a:defRPr sz="1200"/>
            </a:lvl1pPr>
          </a:lstStyle>
          <a:p>
            <a:fld id="{4C66E4B7-4B2C-4B98-A0BE-924D0DC82E25}" type="datetimeFigureOut">
              <a:rPr lang="en-US" smtClean="0"/>
              <a:pPr/>
              <a:t>29-Jul-23</a:t>
            </a:fld>
            <a:endParaRPr lang="en-US"/>
          </a:p>
        </p:txBody>
      </p:sp>
      <p:sp>
        <p:nvSpPr>
          <p:cNvPr id="4" name="Slide Image Placeholder 3"/>
          <p:cNvSpPr>
            <a:spLocks noGrp="1" noRot="1" noChangeAspect="1"/>
          </p:cNvSpPr>
          <p:nvPr>
            <p:ph type="sldImg" idx="2"/>
          </p:nvPr>
        </p:nvSpPr>
        <p:spPr>
          <a:xfrm>
            <a:off x="3810000" y="514350"/>
            <a:ext cx="4572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257550"/>
            <a:ext cx="9753600" cy="30861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6513513"/>
            <a:ext cx="52832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2900"/>
          </a:xfrm>
          <a:prstGeom prst="rect">
            <a:avLst/>
          </a:prstGeom>
        </p:spPr>
        <p:txBody>
          <a:bodyPr vert="horz" lIns="91440" tIns="45720" rIns="91440" bIns="45720" rtlCol="0" anchor="b"/>
          <a:lstStyle>
            <a:lvl1pPr algn="r">
              <a:defRPr sz="1200"/>
            </a:lvl1pPr>
          </a:lstStyle>
          <a:p>
            <a:fld id="{15620963-0F1E-4491-9071-1552296F68F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6CCAB32F-B8BE-4C2D-90C0-F7A7414EE22C}" type="datetime1">
              <a:rPr lang="en-US" smtClean="0"/>
              <a:pPr/>
              <a:t>29-Jul-23</a:t>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dirty="0"/>
              <a:pPr marL="38100">
                <a:lnSpc>
                  <a:spcPts val="1240"/>
                </a:lnSpc>
              </a:pPr>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Light"/>
                <a:cs typeface="Calibri Light"/>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0B5BFF4F-A535-42E4-9045-8B6671C187BA}" type="datetime1">
              <a:rPr lang="en-US" smtClean="0"/>
              <a:pPr/>
              <a:t>29-Jul-23</a:t>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dirty="0"/>
              <a:pPr marL="38100">
                <a:lnSpc>
                  <a:spcPts val="1240"/>
                </a:lnSpc>
              </a:pPr>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Light"/>
                <a:cs typeface="Calibri Light"/>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3AFD087F-DCA3-4A08-902E-BF365182C20B}" type="datetime1">
              <a:rPr lang="en-US" smtClean="0"/>
              <a:pPr/>
              <a:t>29-Jul-23</a:t>
            </a:fld>
            <a:endParaRPr lang="en-US"/>
          </a:p>
        </p:txBody>
      </p:sp>
      <p:sp>
        <p:nvSpPr>
          <p:cNvPr id="7" name="Holder 7"/>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dirty="0"/>
              <a:pPr marL="38100">
                <a:lnSpc>
                  <a:spcPts val="1240"/>
                </a:lnSpc>
              </a:pPr>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C8D56645-3336-46FE-92F3-995D1A34F966}" type="datetime1">
              <a:rPr lang="en-US" smtClean="0"/>
              <a:pPr/>
              <a:t>29-Jul-23</a:t>
            </a:fld>
            <a:endParaRPr lang="en-US"/>
          </a:p>
        </p:txBody>
      </p:sp>
      <p:sp>
        <p:nvSpPr>
          <p:cNvPr id="5" name="Holder 5"/>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dirty="0"/>
              <a:pPr marL="38100">
                <a:lnSpc>
                  <a:spcPts val="1240"/>
                </a:lnSpc>
              </a:pPr>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537C6281-EF2C-46C3-8E24-C265A59F1319}" type="datetime1">
              <a:rPr lang="en-US" smtClean="0"/>
              <a:pPr/>
              <a:t>29-Jul-23</a:t>
            </a:fld>
            <a:endParaRPr lang="en-US"/>
          </a:p>
        </p:txBody>
      </p:sp>
      <p:sp>
        <p:nvSpPr>
          <p:cNvPr id="4" name="Holder 4"/>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dirty="0"/>
              <a:pPr marL="38100">
                <a:lnSpc>
                  <a:spcPts val="1240"/>
                </a:lnSpc>
              </a:pPr>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97509" y="308228"/>
            <a:ext cx="10996980" cy="1300480"/>
          </a:xfrm>
          <a:prstGeom prst="rect">
            <a:avLst/>
          </a:prstGeom>
        </p:spPr>
        <p:txBody>
          <a:bodyPr wrap="square" lIns="0" tIns="0" rIns="0" bIns="0">
            <a:spAutoFit/>
          </a:bodyPr>
          <a:lstStyle>
            <a:lvl1pPr>
              <a:defRPr sz="4400" b="0" i="0">
                <a:solidFill>
                  <a:schemeClr val="tx1"/>
                </a:solidFill>
                <a:latin typeface="Calibri Light"/>
                <a:cs typeface="Calibri Light"/>
              </a:defRPr>
            </a:lvl1pPr>
          </a:lstStyle>
          <a:p>
            <a:endParaRPr/>
          </a:p>
        </p:txBody>
      </p:sp>
      <p:sp>
        <p:nvSpPr>
          <p:cNvPr id="3" name="Holder 3"/>
          <p:cNvSpPr>
            <a:spLocks noGrp="1"/>
          </p:cNvSpPr>
          <p:nvPr>
            <p:ph type="body" idx="1"/>
          </p:nvPr>
        </p:nvSpPr>
        <p:spPr>
          <a:xfrm>
            <a:off x="1217015" y="1640537"/>
            <a:ext cx="9757968" cy="1925954"/>
          </a:xfrm>
          <a:prstGeom prst="rect">
            <a:avLst/>
          </a:prstGeom>
        </p:spPr>
        <p:txBody>
          <a:bodyPr wrap="square" lIns="0" tIns="0" rIns="0" bIns="0">
            <a:spAutoFit/>
          </a:bodyPr>
          <a:lstStyle>
            <a:lvl1pPr>
              <a:defRPr sz="24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29AB4719-8D70-4F11-8BC2-DE4154FF85F0}" type="datetime1">
              <a:rPr lang="en-US" smtClean="0"/>
              <a:pPr/>
              <a:t>29-Jul-23</a:t>
            </a:fld>
            <a:endParaRPr lang="en-US"/>
          </a:p>
        </p:txBody>
      </p:sp>
      <p:sp>
        <p:nvSpPr>
          <p:cNvPr id="6" name="Holder 6"/>
          <p:cNvSpPr>
            <a:spLocks noGrp="1"/>
          </p:cNvSpPr>
          <p:nvPr>
            <p:ph type="sldNum" sz="quarter" idx="7"/>
          </p:nvPr>
        </p:nvSpPr>
        <p:spPr>
          <a:xfrm>
            <a:off x="11068811" y="6464909"/>
            <a:ext cx="231775" cy="177800"/>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38100">
              <a:lnSpc>
                <a:spcPts val="1240"/>
              </a:lnSpc>
            </a:pPr>
            <a:fld id="{81D60167-4931-47E6-BA6A-407CBD079E47}" type="slidenum">
              <a:rPr dirty="0"/>
              <a:pPr marL="38100">
                <a:lnSpc>
                  <a:spcPts val="1240"/>
                </a:lnSpc>
              </a:pPr>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20.gif"/><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1.gi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Layout" Target="../slideLayouts/slideLayout5.xml"/><Relationship Id="rId5" Type="http://schemas.openxmlformats.org/officeDocument/2006/relationships/image" Target="../media/image25.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0.gi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www.allaboutcircuits.com/video-lectures/op-amp-voltage-comparator/" TargetMode="External"/><Relationship Id="rId2" Type="http://schemas.openxmlformats.org/officeDocument/2006/relationships/hyperlink" Target="https://www.allaboutcircuits.com/textbook/semiconductors/chpt-8/differentiator-integrator-circuits/"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hyperlink" Target="https://www.allaboutcircuits.com/worksheets/flip-flop-circuits/"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3" Type="http://schemas.openxmlformats.org/officeDocument/2006/relationships/hyperlink" Target="https://www.geeksforgeeks.org/digital-to-analog-conversion/" TargetMode="External"/><Relationship Id="rId2" Type="http://schemas.openxmlformats.org/officeDocument/2006/relationships/hyperlink" Target="https://www.geeksforgeeks.org/analog-to-digital-conversion/" TargetMode="Externa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3" Type="http://schemas.openxmlformats.org/officeDocument/2006/relationships/hyperlink" Target="https://en.wikipedia.org/wiki/Resistor" TargetMode="External"/><Relationship Id="rId2" Type="http://schemas.openxmlformats.org/officeDocument/2006/relationships/hyperlink" Target="https://en.wikipedia.org/wiki/Voltage_divider" TargetMode="External"/><Relationship Id="rId1" Type="http://schemas.openxmlformats.org/officeDocument/2006/relationships/slideLayout" Target="../slideLayouts/slideLayout5.xml"/><Relationship Id="rId6" Type="http://schemas.openxmlformats.org/officeDocument/2006/relationships/hyperlink" Target="https://en.wikipedia.org/wiki/RC_circuit" TargetMode="External"/><Relationship Id="rId5" Type="http://schemas.openxmlformats.org/officeDocument/2006/relationships/hyperlink" Target="https://en.wikipedia.org/wiki/Parasitic_capacitance" TargetMode="External"/><Relationship Id="rId4" Type="http://schemas.openxmlformats.org/officeDocument/2006/relationships/hyperlink" Target="https://en.wikipedia.org/wiki/Megohm" TargetMode="External"/></Relationships>
</file>

<file path=ppt/slides/_rels/slide66.xml.rels><?xml version="1.0" encoding="UTF-8" standalone="yes"?>
<Relationships xmlns="http://schemas.openxmlformats.org/package/2006/relationships"><Relationship Id="rId2" Type="http://schemas.openxmlformats.org/officeDocument/2006/relationships/image" Target="../media/image64.gif"/><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image" Target="../media/image68.png"/><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3" Type="http://schemas.openxmlformats.org/officeDocument/2006/relationships/hyperlink" Target="https://www.allthingsnature.org/what-is-copper.htm" TargetMode="External"/><Relationship Id="rId2" Type="http://schemas.openxmlformats.org/officeDocument/2006/relationships/hyperlink" Target="https://www.allthescience.org/what-is-aluminum.htm" TargetMode="External"/><Relationship Id="rId1" Type="http://schemas.openxmlformats.org/officeDocument/2006/relationships/slideLayout" Target="../slideLayouts/slideLayout5.xml"/><Relationship Id="rId5" Type="http://schemas.openxmlformats.org/officeDocument/2006/relationships/image" Target="../media/image71.jpeg"/><Relationship Id="rId4" Type="http://schemas.openxmlformats.org/officeDocument/2006/relationships/hyperlink" Target="https://www.aboutmechanics.com/what-is-wire-mesh.htm" TargetMode="External"/></Relationships>
</file>

<file path=ppt/slides/_rels/slide75.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image" Target="../media/image72.jpeg"/><Relationship Id="rId1" Type="http://schemas.openxmlformats.org/officeDocument/2006/relationships/slideLayout" Target="../slideLayouts/slideLayout5.xml"/><Relationship Id="rId4" Type="http://schemas.openxmlformats.org/officeDocument/2006/relationships/image" Target="../media/image74.jpeg"/></Relationships>
</file>

<file path=ppt/slides/_rels/slide76.xml.rels><?xml version="1.0" encoding="UTF-8" standalone="yes"?>
<Relationships xmlns="http://schemas.openxmlformats.org/package/2006/relationships"><Relationship Id="rId2" Type="http://schemas.openxmlformats.org/officeDocument/2006/relationships/image" Target="../media/image75.gif"/><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body" idx="1"/>
          </p:nvPr>
        </p:nvSpPr>
        <p:spPr>
          <a:xfrm>
            <a:off x="1217015" y="1640537"/>
            <a:ext cx="9757968" cy="1798439"/>
          </a:xfrm>
          <a:prstGeom prst="rect">
            <a:avLst/>
          </a:prstGeom>
        </p:spPr>
        <p:txBody>
          <a:bodyPr vert="horz" wrap="square" lIns="0" tIns="358646" rIns="0" bIns="0" rtlCol="0">
            <a:spAutoFit/>
          </a:bodyPr>
          <a:lstStyle/>
          <a:p>
            <a:pPr marL="5715" algn="ctr">
              <a:lnSpc>
                <a:spcPts val="4375"/>
              </a:lnSpc>
              <a:spcBef>
                <a:spcPts val="95"/>
              </a:spcBef>
            </a:pPr>
            <a:r>
              <a:rPr sz="4000" spc="-15">
                <a:latin typeface="Calibri Light"/>
                <a:cs typeface="Calibri Light"/>
              </a:rPr>
              <a:t>Chapter</a:t>
            </a:r>
            <a:r>
              <a:rPr sz="4000" spc="-30">
                <a:latin typeface="Calibri Light"/>
                <a:cs typeface="Calibri Light"/>
              </a:rPr>
              <a:t> </a:t>
            </a:r>
            <a:r>
              <a:rPr lang="en-US" sz="4000" spc="-5" dirty="0" smtClean="0">
                <a:latin typeface="Calibri Light"/>
                <a:cs typeface="Calibri Light"/>
              </a:rPr>
              <a:t>IV</a:t>
            </a:r>
            <a:endParaRPr sz="4000">
              <a:latin typeface="Calibri Light"/>
              <a:cs typeface="Calibri Light"/>
            </a:endParaRPr>
          </a:p>
          <a:p>
            <a:pPr marL="5715" algn="ctr">
              <a:lnSpc>
                <a:spcPts val="6775"/>
              </a:lnSpc>
            </a:pPr>
            <a:r>
              <a:rPr lang="en-US" sz="6000" spc="-65" dirty="0" smtClean="0">
                <a:latin typeface="Calibri Light"/>
                <a:cs typeface="Calibri Light"/>
              </a:rPr>
              <a:t>Data Converter and Connectors</a:t>
            </a:r>
            <a:endParaRPr sz="6000">
              <a:latin typeface="Calibri Light"/>
              <a:cs typeface="Calibri Light"/>
            </a:endParaRPr>
          </a:p>
        </p:txBody>
      </p:sp>
      <p:sp>
        <p:nvSpPr>
          <p:cNvPr id="3" name="Slide Number Placeholder 2"/>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48080"/>
            <a:ext cx="9904095" cy="635000"/>
          </a:xfrm>
          <a:prstGeom prst="rect">
            <a:avLst/>
          </a:prstGeom>
        </p:spPr>
        <p:txBody>
          <a:bodyPr vert="horz" wrap="square" lIns="0" tIns="12065" rIns="0" bIns="0" rtlCol="0">
            <a:spAutoFit/>
          </a:bodyPr>
          <a:lstStyle/>
          <a:p>
            <a:pPr marL="12700">
              <a:lnSpc>
                <a:spcPct val="100000"/>
              </a:lnSpc>
              <a:spcBef>
                <a:spcPts val="95"/>
              </a:spcBef>
            </a:pPr>
            <a:r>
              <a:rPr sz="4000" spc="-25" dirty="0"/>
              <a:t>Analog</a:t>
            </a:r>
            <a:r>
              <a:rPr sz="4000" spc="-95" dirty="0"/>
              <a:t> </a:t>
            </a:r>
            <a:r>
              <a:rPr sz="4000" spc="-30" dirty="0"/>
              <a:t>to</a:t>
            </a:r>
            <a:r>
              <a:rPr sz="4000" spc="-55" dirty="0"/>
              <a:t> </a:t>
            </a:r>
            <a:r>
              <a:rPr sz="4000" spc="-35" dirty="0"/>
              <a:t>Digital</a:t>
            </a:r>
            <a:r>
              <a:rPr sz="4000" spc="-75" dirty="0"/>
              <a:t> </a:t>
            </a:r>
            <a:r>
              <a:rPr sz="4000" spc="-20" dirty="0"/>
              <a:t>and</a:t>
            </a:r>
            <a:r>
              <a:rPr sz="4000" spc="-75" dirty="0"/>
              <a:t> </a:t>
            </a:r>
            <a:r>
              <a:rPr sz="4000" spc="-35" dirty="0"/>
              <a:t>Digital</a:t>
            </a:r>
            <a:r>
              <a:rPr sz="4000" spc="-70" dirty="0"/>
              <a:t> </a:t>
            </a:r>
            <a:r>
              <a:rPr sz="4000" spc="-30" dirty="0"/>
              <a:t>to</a:t>
            </a:r>
            <a:r>
              <a:rPr sz="4000" spc="-60" dirty="0"/>
              <a:t> </a:t>
            </a:r>
            <a:r>
              <a:rPr sz="4000" spc="-25" dirty="0"/>
              <a:t>Analog</a:t>
            </a:r>
            <a:r>
              <a:rPr sz="4000" spc="-90" dirty="0"/>
              <a:t> </a:t>
            </a:r>
            <a:r>
              <a:rPr sz="4000" spc="-50" dirty="0"/>
              <a:t>Conversion</a:t>
            </a:r>
            <a:endParaRPr sz="4000"/>
          </a:p>
        </p:txBody>
      </p:sp>
      <p:sp>
        <p:nvSpPr>
          <p:cNvPr id="3" name="object 3"/>
          <p:cNvSpPr txBox="1"/>
          <p:nvPr/>
        </p:nvSpPr>
        <p:spPr>
          <a:xfrm>
            <a:off x="692912" y="1404315"/>
            <a:ext cx="10784205" cy="3395979"/>
          </a:xfrm>
          <a:prstGeom prst="rect">
            <a:avLst/>
          </a:prstGeom>
        </p:spPr>
        <p:txBody>
          <a:bodyPr vert="horz" wrap="square" lIns="0" tIns="55244" rIns="0" bIns="0" rtlCol="0">
            <a:spAutoFit/>
          </a:bodyPr>
          <a:lstStyle/>
          <a:p>
            <a:pPr marL="241300" marR="5080" indent="-228600">
              <a:lnSpc>
                <a:spcPct val="90000"/>
              </a:lnSpc>
              <a:spcBef>
                <a:spcPts val="434"/>
              </a:spcBef>
              <a:buFont typeface="Arial MT"/>
              <a:buChar char="•"/>
              <a:tabLst>
                <a:tab pos="241300" algn="l"/>
              </a:tabLst>
            </a:pPr>
            <a:r>
              <a:rPr sz="2800" spc="-5" dirty="0">
                <a:latin typeface="Calibri"/>
                <a:cs typeface="Calibri"/>
              </a:rPr>
              <a:t>The </a:t>
            </a:r>
            <a:r>
              <a:rPr sz="2800" spc="-15" dirty="0">
                <a:latin typeface="Calibri"/>
                <a:cs typeface="Calibri"/>
              </a:rPr>
              <a:t>most</a:t>
            </a:r>
            <a:r>
              <a:rPr sz="2800" spc="20" dirty="0">
                <a:latin typeface="Calibri"/>
                <a:cs typeface="Calibri"/>
              </a:rPr>
              <a:t> </a:t>
            </a:r>
            <a:r>
              <a:rPr sz="2800" spc="-15" dirty="0">
                <a:latin typeface="Calibri"/>
                <a:cs typeface="Calibri"/>
              </a:rPr>
              <a:t>naturally</a:t>
            </a:r>
            <a:r>
              <a:rPr sz="2800" spc="20" dirty="0">
                <a:latin typeface="Calibri"/>
                <a:cs typeface="Calibri"/>
              </a:rPr>
              <a:t> </a:t>
            </a:r>
            <a:r>
              <a:rPr sz="2800" spc="-10" dirty="0">
                <a:latin typeface="Calibri"/>
                <a:cs typeface="Calibri"/>
              </a:rPr>
              <a:t>occurring</a:t>
            </a:r>
            <a:r>
              <a:rPr sz="2800" spc="5" dirty="0">
                <a:latin typeface="Calibri"/>
                <a:cs typeface="Calibri"/>
              </a:rPr>
              <a:t> </a:t>
            </a:r>
            <a:r>
              <a:rPr sz="2800" spc="-5" dirty="0">
                <a:latin typeface="Calibri"/>
                <a:cs typeface="Calibri"/>
              </a:rPr>
              <a:t>phenomena</a:t>
            </a:r>
            <a:r>
              <a:rPr sz="2800" spc="40" dirty="0">
                <a:latin typeface="Calibri"/>
                <a:cs typeface="Calibri"/>
              </a:rPr>
              <a:t> </a:t>
            </a:r>
            <a:r>
              <a:rPr sz="2800" spc="-15" dirty="0">
                <a:latin typeface="Calibri"/>
                <a:cs typeface="Calibri"/>
              </a:rPr>
              <a:t>are</a:t>
            </a:r>
            <a:r>
              <a:rPr sz="2800" dirty="0">
                <a:latin typeface="Calibri"/>
                <a:cs typeface="Calibri"/>
              </a:rPr>
              <a:t> </a:t>
            </a:r>
            <a:r>
              <a:rPr sz="2800" spc="-5" dirty="0">
                <a:latin typeface="Calibri"/>
                <a:cs typeface="Calibri"/>
              </a:rPr>
              <a:t>analog in</a:t>
            </a:r>
            <a:r>
              <a:rPr sz="2800" dirty="0">
                <a:latin typeface="Calibri"/>
                <a:cs typeface="Calibri"/>
              </a:rPr>
              <a:t> </a:t>
            </a:r>
            <a:r>
              <a:rPr sz="2800" spc="-15" dirty="0">
                <a:latin typeface="Calibri"/>
                <a:cs typeface="Calibri"/>
              </a:rPr>
              <a:t>nature.</a:t>
            </a:r>
            <a:r>
              <a:rPr sz="2800" spc="30" dirty="0">
                <a:latin typeface="Calibri"/>
                <a:cs typeface="Calibri"/>
              </a:rPr>
              <a:t> </a:t>
            </a:r>
            <a:r>
              <a:rPr sz="2800" spc="-5" dirty="0">
                <a:latin typeface="Calibri"/>
                <a:cs typeface="Calibri"/>
              </a:rPr>
              <a:t>Analog </a:t>
            </a:r>
            <a:r>
              <a:rPr sz="2800" dirty="0">
                <a:latin typeface="Calibri"/>
                <a:cs typeface="Calibri"/>
              </a:rPr>
              <a:t> </a:t>
            </a:r>
            <a:r>
              <a:rPr sz="2800" spc="-10" dirty="0">
                <a:latin typeface="Calibri"/>
                <a:cs typeface="Calibri"/>
              </a:rPr>
              <a:t>quantities</a:t>
            </a:r>
            <a:r>
              <a:rPr sz="2800" spc="30" dirty="0">
                <a:latin typeface="Calibri"/>
                <a:cs typeface="Calibri"/>
              </a:rPr>
              <a:t> </a:t>
            </a:r>
            <a:r>
              <a:rPr sz="2800" spc="-20" dirty="0">
                <a:latin typeface="Calibri"/>
                <a:cs typeface="Calibri"/>
              </a:rPr>
              <a:t>are</a:t>
            </a:r>
            <a:r>
              <a:rPr sz="2800" dirty="0">
                <a:latin typeface="Calibri"/>
                <a:cs typeface="Calibri"/>
              </a:rPr>
              <a:t> </a:t>
            </a:r>
            <a:r>
              <a:rPr sz="2800" spc="-15" dirty="0">
                <a:latin typeface="Calibri"/>
                <a:cs typeface="Calibri"/>
              </a:rPr>
              <a:t>continuous</a:t>
            </a:r>
            <a:r>
              <a:rPr sz="2800" spc="55" dirty="0">
                <a:latin typeface="Calibri"/>
                <a:cs typeface="Calibri"/>
              </a:rPr>
              <a:t> </a:t>
            </a:r>
            <a:r>
              <a:rPr sz="2800" spc="-5" dirty="0">
                <a:latin typeface="Calibri"/>
                <a:cs typeface="Calibri"/>
              </a:rPr>
              <a:t>functions</a:t>
            </a:r>
            <a:r>
              <a:rPr sz="2800" spc="40" dirty="0">
                <a:latin typeface="Calibri"/>
                <a:cs typeface="Calibri"/>
              </a:rPr>
              <a:t> </a:t>
            </a:r>
            <a:r>
              <a:rPr sz="2800" spc="-5" dirty="0">
                <a:latin typeface="Calibri"/>
                <a:cs typeface="Calibri"/>
              </a:rPr>
              <a:t>of time</a:t>
            </a:r>
            <a:r>
              <a:rPr sz="2800" spc="10" dirty="0">
                <a:latin typeface="Calibri"/>
                <a:cs typeface="Calibri"/>
              </a:rPr>
              <a:t> </a:t>
            </a:r>
            <a:r>
              <a:rPr sz="2800" spc="-5" dirty="0">
                <a:latin typeface="Calibri"/>
                <a:cs typeface="Calibri"/>
              </a:rPr>
              <a:t>and</a:t>
            </a:r>
            <a:r>
              <a:rPr sz="2800" spc="15" dirty="0">
                <a:latin typeface="Calibri"/>
                <a:cs typeface="Calibri"/>
              </a:rPr>
              <a:t> </a:t>
            </a:r>
            <a:r>
              <a:rPr sz="2800" spc="-15" dirty="0">
                <a:latin typeface="Calibri"/>
                <a:cs typeface="Calibri"/>
              </a:rPr>
              <a:t>most</a:t>
            </a:r>
            <a:r>
              <a:rPr sz="2800" spc="25" dirty="0">
                <a:latin typeface="Calibri"/>
                <a:cs typeface="Calibri"/>
              </a:rPr>
              <a:t> </a:t>
            </a:r>
            <a:r>
              <a:rPr sz="2800" spc="-15" dirty="0">
                <a:latin typeface="Calibri"/>
                <a:cs typeface="Calibri"/>
              </a:rPr>
              <a:t>transducers</a:t>
            </a:r>
            <a:r>
              <a:rPr sz="2800" spc="50" dirty="0">
                <a:latin typeface="Calibri"/>
                <a:cs typeface="Calibri"/>
              </a:rPr>
              <a:t> </a:t>
            </a:r>
            <a:r>
              <a:rPr sz="2800" spc="-10" dirty="0">
                <a:latin typeface="Calibri"/>
                <a:cs typeface="Calibri"/>
              </a:rPr>
              <a:t>give</a:t>
            </a:r>
            <a:r>
              <a:rPr sz="2800" spc="5" dirty="0">
                <a:latin typeface="Calibri"/>
                <a:cs typeface="Calibri"/>
              </a:rPr>
              <a:t> </a:t>
            </a:r>
            <a:r>
              <a:rPr sz="2800" spc="-5" dirty="0">
                <a:latin typeface="Calibri"/>
                <a:cs typeface="Calibri"/>
              </a:rPr>
              <a:t>an </a:t>
            </a:r>
            <a:r>
              <a:rPr sz="2800" spc="-615" dirty="0">
                <a:latin typeface="Calibri"/>
                <a:cs typeface="Calibri"/>
              </a:rPr>
              <a:t> </a:t>
            </a:r>
            <a:r>
              <a:rPr sz="2800" spc="-5" dirty="0">
                <a:latin typeface="Calibri"/>
                <a:cs typeface="Calibri"/>
              </a:rPr>
              <a:t>analog</a:t>
            </a:r>
            <a:r>
              <a:rPr sz="2800" spc="-10" dirty="0">
                <a:latin typeface="Calibri"/>
                <a:cs typeface="Calibri"/>
              </a:rPr>
              <a:t> output.</a:t>
            </a:r>
            <a:endParaRPr sz="2800">
              <a:latin typeface="Calibri"/>
              <a:cs typeface="Calibri"/>
            </a:endParaRPr>
          </a:p>
          <a:p>
            <a:pPr marL="241300" marR="234950" indent="-228600">
              <a:lnSpc>
                <a:spcPct val="90000"/>
              </a:lnSpc>
              <a:spcBef>
                <a:spcPts val="1005"/>
              </a:spcBef>
              <a:buFont typeface="Arial MT"/>
              <a:buChar char="•"/>
              <a:tabLst>
                <a:tab pos="241300" algn="l"/>
              </a:tabLst>
            </a:pPr>
            <a:r>
              <a:rPr sz="2800" spc="-15" dirty="0">
                <a:latin typeface="Calibri"/>
                <a:cs typeface="Calibri"/>
              </a:rPr>
              <a:t>Digital</a:t>
            </a:r>
            <a:r>
              <a:rPr sz="2800" dirty="0">
                <a:latin typeface="Calibri"/>
                <a:cs typeface="Calibri"/>
              </a:rPr>
              <a:t> </a:t>
            </a:r>
            <a:r>
              <a:rPr sz="2800" spc="-15" dirty="0">
                <a:latin typeface="Calibri"/>
                <a:cs typeface="Calibri"/>
              </a:rPr>
              <a:t>to</a:t>
            </a:r>
            <a:r>
              <a:rPr sz="2800" dirty="0">
                <a:latin typeface="Calibri"/>
                <a:cs typeface="Calibri"/>
              </a:rPr>
              <a:t> </a:t>
            </a:r>
            <a:r>
              <a:rPr sz="2800" spc="-5" dirty="0">
                <a:latin typeface="Calibri"/>
                <a:cs typeface="Calibri"/>
              </a:rPr>
              <a:t>analog</a:t>
            </a:r>
            <a:r>
              <a:rPr sz="2800" spc="5" dirty="0">
                <a:latin typeface="Calibri"/>
                <a:cs typeface="Calibri"/>
              </a:rPr>
              <a:t> </a:t>
            </a:r>
            <a:r>
              <a:rPr sz="2800" spc="-25" dirty="0">
                <a:latin typeface="Calibri"/>
                <a:cs typeface="Calibri"/>
              </a:rPr>
              <a:t>converters</a:t>
            </a:r>
            <a:r>
              <a:rPr sz="2800" spc="10" dirty="0">
                <a:latin typeface="Calibri"/>
                <a:cs typeface="Calibri"/>
              </a:rPr>
              <a:t> </a:t>
            </a:r>
            <a:r>
              <a:rPr sz="2800" spc="-20" dirty="0">
                <a:latin typeface="Calibri"/>
                <a:cs typeface="Calibri"/>
              </a:rPr>
              <a:t>are</a:t>
            </a:r>
            <a:r>
              <a:rPr sz="2800" spc="10" dirty="0">
                <a:latin typeface="Calibri"/>
                <a:cs typeface="Calibri"/>
              </a:rPr>
              <a:t> </a:t>
            </a:r>
            <a:r>
              <a:rPr sz="2800" spc="-10" dirty="0">
                <a:latin typeface="Calibri"/>
                <a:cs typeface="Calibri"/>
              </a:rPr>
              <a:t>used</a:t>
            </a:r>
            <a:r>
              <a:rPr sz="2800" spc="20" dirty="0">
                <a:latin typeface="Calibri"/>
                <a:cs typeface="Calibri"/>
              </a:rPr>
              <a:t> </a:t>
            </a:r>
            <a:r>
              <a:rPr sz="2800" spc="-5" dirty="0">
                <a:latin typeface="Calibri"/>
                <a:cs typeface="Calibri"/>
              </a:rPr>
              <a:t>in</a:t>
            </a:r>
            <a:r>
              <a:rPr sz="2800" spc="20" dirty="0">
                <a:latin typeface="Calibri"/>
                <a:cs typeface="Calibri"/>
              </a:rPr>
              <a:t> </a:t>
            </a:r>
            <a:r>
              <a:rPr sz="2800" spc="-15" dirty="0">
                <a:latin typeface="Calibri"/>
                <a:cs typeface="Calibri"/>
              </a:rPr>
              <a:t>computer</a:t>
            </a:r>
            <a:r>
              <a:rPr sz="2800" spc="10" dirty="0">
                <a:latin typeface="Calibri"/>
                <a:cs typeface="Calibri"/>
              </a:rPr>
              <a:t> </a:t>
            </a:r>
            <a:r>
              <a:rPr sz="2800" spc="-15" dirty="0">
                <a:latin typeface="Calibri"/>
                <a:cs typeface="Calibri"/>
              </a:rPr>
              <a:t>driven</a:t>
            </a:r>
            <a:r>
              <a:rPr sz="2800" spc="30" dirty="0">
                <a:latin typeface="Calibri"/>
                <a:cs typeface="Calibri"/>
              </a:rPr>
              <a:t> </a:t>
            </a:r>
            <a:r>
              <a:rPr sz="2800" spc="-15" dirty="0">
                <a:latin typeface="Calibri"/>
                <a:cs typeface="Calibri"/>
              </a:rPr>
              <a:t>CRT</a:t>
            </a:r>
            <a:r>
              <a:rPr sz="2800" spc="10" dirty="0">
                <a:latin typeface="Calibri"/>
                <a:cs typeface="Calibri"/>
              </a:rPr>
              <a:t> </a:t>
            </a:r>
            <a:r>
              <a:rPr sz="2800" spc="-20" dirty="0">
                <a:latin typeface="Calibri"/>
                <a:cs typeface="Calibri"/>
              </a:rPr>
              <a:t>displays, </a:t>
            </a:r>
            <a:r>
              <a:rPr sz="2800" spc="-15" dirty="0">
                <a:latin typeface="Calibri"/>
                <a:cs typeface="Calibri"/>
              </a:rPr>
              <a:t> digital</a:t>
            </a:r>
            <a:r>
              <a:rPr sz="2800" spc="10" dirty="0">
                <a:latin typeface="Calibri"/>
                <a:cs typeface="Calibri"/>
              </a:rPr>
              <a:t> </a:t>
            </a:r>
            <a:r>
              <a:rPr sz="2800" spc="-15" dirty="0">
                <a:latin typeface="Calibri"/>
                <a:cs typeface="Calibri"/>
              </a:rPr>
              <a:t>generation</a:t>
            </a:r>
            <a:r>
              <a:rPr sz="2800" spc="-5" dirty="0">
                <a:latin typeface="Calibri"/>
                <a:cs typeface="Calibri"/>
              </a:rPr>
              <a:t> of</a:t>
            </a:r>
            <a:r>
              <a:rPr sz="2800" spc="10" dirty="0">
                <a:latin typeface="Calibri"/>
                <a:cs typeface="Calibri"/>
              </a:rPr>
              <a:t> </a:t>
            </a:r>
            <a:r>
              <a:rPr sz="2800" spc="-5" dirty="0">
                <a:latin typeface="Calibri"/>
                <a:cs typeface="Calibri"/>
              </a:rPr>
              <a:t>analog</a:t>
            </a:r>
            <a:r>
              <a:rPr sz="2800" dirty="0">
                <a:latin typeface="Calibri"/>
                <a:cs typeface="Calibri"/>
              </a:rPr>
              <a:t> </a:t>
            </a:r>
            <a:r>
              <a:rPr sz="2800" spc="-25" dirty="0">
                <a:latin typeface="Calibri"/>
                <a:cs typeface="Calibri"/>
              </a:rPr>
              <a:t>waveforms,</a:t>
            </a:r>
            <a:r>
              <a:rPr sz="2800" spc="5" dirty="0">
                <a:latin typeface="Calibri"/>
                <a:cs typeface="Calibri"/>
              </a:rPr>
              <a:t> </a:t>
            </a:r>
            <a:r>
              <a:rPr sz="2800" spc="-5" dirty="0">
                <a:latin typeface="Calibri"/>
                <a:cs typeface="Calibri"/>
              </a:rPr>
              <a:t>and</a:t>
            </a:r>
            <a:r>
              <a:rPr sz="2800" spc="25" dirty="0">
                <a:latin typeface="Calibri"/>
                <a:cs typeface="Calibri"/>
              </a:rPr>
              <a:t> </a:t>
            </a:r>
            <a:r>
              <a:rPr sz="2800" spc="-15" dirty="0">
                <a:latin typeface="Calibri"/>
                <a:cs typeface="Calibri"/>
              </a:rPr>
              <a:t>digital</a:t>
            </a:r>
            <a:r>
              <a:rPr sz="2800" dirty="0">
                <a:latin typeface="Calibri"/>
                <a:cs typeface="Calibri"/>
              </a:rPr>
              <a:t> </a:t>
            </a:r>
            <a:r>
              <a:rPr sz="2800" spc="-20" dirty="0">
                <a:latin typeface="Calibri"/>
                <a:cs typeface="Calibri"/>
              </a:rPr>
              <a:t>control</a:t>
            </a:r>
            <a:r>
              <a:rPr sz="2800" spc="20" dirty="0">
                <a:latin typeface="Calibri"/>
                <a:cs typeface="Calibri"/>
              </a:rPr>
              <a:t> </a:t>
            </a:r>
            <a:r>
              <a:rPr sz="2800" spc="-5" dirty="0">
                <a:latin typeface="Calibri"/>
                <a:cs typeface="Calibri"/>
              </a:rPr>
              <a:t>of</a:t>
            </a:r>
            <a:r>
              <a:rPr sz="2800" dirty="0">
                <a:latin typeface="Calibri"/>
                <a:cs typeface="Calibri"/>
              </a:rPr>
              <a:t> </a:t>
            </a:r>
            <a:r>
              <a:rPr sz="2800" spc="-10" dirty="0">
                <a:latin typeface="Calibri"/>
                <a:cs typeface="Calibri"/>
              </a:rPr>
              <a:t>automatic </a:t>
            </a:r>
            <a:r>
              <a:rPr sz="2800" spc="-620" dirty="0">
                <a:latin typeface="Calibri"/>
                <a:cs typeface="Calibri"/>
              </a:rPr>
              <a:t> </a:t>
            </a:r>
            <a:r>
              <a:rPr sz="2800" spc="-15" dirty="0">
                <a:latin typeface="Calibri"/>
                <a:cs typeface="Calibri"/>
              </a:rPr>
              <a:t>process</a:t>
            </a:r>
            <a:r>
              <a:rPr sz="2800" spc="20" dirty="0">
                <a:latin typeface="Calibri"/>
                <a:cs typeface="Calibri"/>
              </a:rPr>
              <a:t> </a:t>
            </a:r>
            <a:r>
              <a:rPr sz="2800" spc="-20" dirty="0">
                <a:latin typeface="Calibri"/>
                <a:cs typeface="Calibri"/>
              </a:rPr>
              <a:t>control</a:t>
            </a:r>
            <a:r>
              <a:rPr sz="2800" spc="15" dirty="0">
                <a:latin typeface="Calibri"/>
                <a:cs typeface="Calibri"/>
              </a:rPr>
              <a:t> </a:t>
            </a:r>
            <a:r>
              <a:rPr sz="2800" spc="-25" dirty="0">
                <a:latin typeface="Calibri"/>
                <a:cs typeface="Calibri"/>
              </a:rPr>
              <a:t>systems.</a:t>
            </a:r>
            <a:endParaRPr sz="2800">
              <a:latin typeface="Calibri"/>
              <a:cs typeface="Calibri"/>
            </a:endParaRPr>
          </a:p>
          <a:p>
            <a:pPr marL="241300" marR="755015" indent="-228600">
              <a:lnSpc>
                <a:spcPts val="3020"/>
              </a:lnSpc>
              <a:spcBef>
                <a:spcPts val="1045"/>
              </a:spcBef>
              <a:buFont typeface="Arial MT"/>
              <a:buChar char="•"/>
              <a:tabLst>
                <a:tab pos="241300" algn="l"/>
                <a:tab pos="1971675" algn="l"/>
                <a:tab pos="3001010" algn="l"/>
                <a:tab pos="4366260" algn="l"/>
                <a:tab pos="5171440" algn="l"/>
                <a:tab pos="6976745" algn="l"/>
                <a:tab pos="8808720" algn="l"/>
                <a:tab pos="9471660" algn="l"/>
              </a:tabLst>
            </a:pPr>
            <a:r>
              <a:rPr sz="2800" spc="-5" dirty="0">
                <a:latin typeface="Calibri"/>
                <a:cs typeface="Calibri"/>
              </a:rPr>
              <a:t>Mo</a:t>
            </a:r>
            <a:r>
              <a:rPr sz="2800" spc="-45" dirty="0">
                <a:latin typeface="Calibri"/>
                <a:cs typeface="Calibri"/>
              </a:rPr>
              <a:t>r</a:t>
            </a:r>
            <a:r>
              <a:rPr sz="2800" spc="-5" dirty="0">
                <a:latin typeface="Calibri"/>
                <a:cs typeface="Calibri"/>
              </a:rPr>
              <a:t>e</a:t>
            </a:r>
            <a:r>
              <a:rPr sz="2800" spc="-15" dirty="0">
                <a:latin typeface="Calibri"/>
                <a:cs typeface="Calibri"/>
              </a:rPr>
              <a:t>o</a:t>
            </a:r>
            <a:r>
              <a:rPr sz="2800" spc="-35" dirty="0">
                <a:latin typeface="Calibri"/>
                <a:cs typeface="Calibri"/>
              </a:rPr>
              <a:t>v</a:t>
            </a:r>
            <a:r>
              <a:rPr sz="2800" spc="-5" dirty="0">
                <a:latin typeface="Calibri"/>
                <a:cs typeface="Calibri"/>
              </a:rPr>
              <a:t>e</a:t>
            </a:r>
            <a:r>
              <a:rPr sz="2800" spc="-250" dirty="0">
                <a:latin typeface="Calibri"/>
                <a:cs typeface="Calibri"/>
              </a:rPr>
              <a:t>r</a:t>
            </a:r>
            <a:r>
              <a:rPr sz="2800" spc="-5" dirty="0">
                <a:latin typeface="Calibri"/>
                <a:cs typeface="Calibri"/>
              </a:rPr>
              <a:t>,</a:t>
            </a:r>
            <a:r>
              <a:rPr sz="2800" dirty="0">
                <a:latin typeface="Calibri"/>
                <a:cs typeface="Calibri"/>
              </a:rPr>
              <a:t>	</a:t>
            </a:r>
            <a:r>
              <a:rPr sz="2800" spc="-10" dirty="0">
                <a:latin typeface="Calibri"/>
                <a:cs typeface="Calibri"/>
              </a:rPr>
              <a:t>s</a:t>
            </a:r>
            <a:r>
              <a:rPr sz="2800" dirty="0">
                <a:latin typeface="Calibri"/>
                <a:cs typeface="Calibri"/>
              </a:rPr>
              <a:t>o</a:t>
            </a:r>
            <a:r>
              <a:rPr sz="2800" spc="-5" dirty="0">
                <a:latin typeface="Calibri"/>
                <a:cs typeface="Calibri"/>
              </a:rPr>
              <a:t>me</a:t>
            </a:r>
            <a:r>
              <a:rPr sz="2800" dirty="0">
                <a:latin typeface="Calibri"/>
                <a:cs typeface="Calibri"/>
              </a:rPr>
              <a:t>	</a:t>
            </a:r>
            <a:r>
              <a:rPr sz="2800" spc="-10" dirty="0">
                <a:latin typeface="Calibri"/>
                <a:cs typeface="Calibri"/>
              </a:rPr>
              <a:t>popula</a:t>
            </a:r>
            <a:r>
              <a:rPr sz="2800" spc="-5" dirty="0">
                <a:latin typeface="Calibri"/>
                <a:cs typeface="Calibri"/>
              </a:rPr>
              <a:t>r</a:t>
            </a:r>
            <a:r>
              <a:rPr sz="2800" dirty="0">
                <a:latin typeface="Calibri"/>
                <a:cs typeface="Calibri"/>
              </a:rPr>
              <a:t>	A</a:t>
            </a:r>
            <a:r>
              <a:rPr sz="2800" spc="-10" dirty="0">
                <a:latin typeface="Calibri"/>
                <a:cs typeface="Calibri"/>
              </a:rPr>
              <a:t>/</a:t>
            </a:r>
            <a:r>
              <a:rPr sz="2800" spc="-5" dirty="0">
                <a:latin typeface="Calibri"/>
                <a:cs typeface="Calibri"/>
              </a:rPr>
              <a:t>D</a:t>
            </a:r>
            <a:r>
              <a:rPr sz="2800" dirty="0">
                <a:latin typeface="Calibri"/>
                <a:cs typeface="Calibri"/>
              </a:rPr>
              <a:t>	</a:t>
            </a:r>
            <a:r>
              <a:rPr sz="2800" spc="-20" dirty="0">
                <a:latin typeface="Calibri"/>
                <a:cs typeface="Calibri"/>
              </a:rPr>
              <a:t>c</a:t>
            </a:r>
            <a:r>
              <a:rPr sz="2800" spc="-10" dirty="0">
                <a:latin typeface="Calibri"/>
                <a:cs typeface="Calibri"/>
              </a:rPr>
              <a:t>o</a:t>
            </a:r>
            <a:r>
              <a:rPr sz="2800" spc="-60" dirty="0">
                <a:latin typeface="Calibri"/>
                <a:cs typeface="Calibri"/>
              </a:rPr>
              <a:t>n</a:t>
            </a:r>
            <a:r>
              <a:rPr sz="2800" spc="-35" dirty="0">
                <a:latin typeface="Calibri"/>
                <a:cs typeface="Calibri"/>
              </a:rPr>
              <a:t>v</a:t>
            </a:r>
            <a:r>
              <a:rPr sz="2800" spc="-5" dirty="0">
                <a:latin typeface="Calibri"/>
                <a:cs typeface="Calibri"/>
              </a:rPr>
              <a:t>e</a:t>
            </a:r>
            <a:r>
              <a:rPr sz="2800" spc="-60" dirty="0">
                <a:latin typeface="Calibri"/>
                <a:cs typeface="Calibri"/>
              </a:rPr>
              <a:t>r</a:t>
            </a:r>
            <a:r>
              <a:rPr sz="2800" spc="-10" dirty="0">
                <a:latin typeface="Calibri"/>
                <a:cs typeface="Calibri"/>
              </a:rPr>
              <a:t>sio</a:t>
            </a:r>
            <a:r>
              <a:rPr sz="2800" spc="-5" dirty="0">
                <a:latin typeface="Calibri"/>
                <a:cs typeface="Calibri"/>
              </a:rPr>
              <a:t>n</a:t>
            </a:r>
            <a:r>
              <a:rPr sz="2800" dirty="0">
                <a:latin typeface="Calibri"/>
                <a:cs typeface="Calibri"/>
              </a:rPr>
              <a:t>	</a:t>
            </a:r>
            <a:r>
              <a:rPr sz="2800" spc="-25" dirty="0">
                <a:latin typeface="Calibri"/>
                <a:cs typeface="Calibri"/>
              </a:rPr>
              <a:t>t</a:t>
            </a:r>
            <a:r>
              <a:rPr sz="2800" spc="-5" dirty="0">
                <a:latin typeface="Calibri"/>
                <a:cs typeface="Calibri"/>
              </a:rPr>
              <a:t>echn</a:t>
            </a:r>
            <a:r>
              <a:rPr sz="2800" spc="-15" dirty="0">
                <a:latin typeface="Calibri"/>
                <a:cs typeface="Calibri"/>
              </a:rPr>
              <a:t>i</a:t>
            </a:r>
            <a:r>
              <a:rPr sz="2800" spc="-10" dirty="0">
                <a:latin typeface="Calibri"/>
                <a:cs typeface="Calibri"/>
              </a:rPr>
              <a:t>que</a:t>
            </a:r>
            <a:r>
              <a:rPr sz="2800" spc="-5" dirty="0">
                <a:latin typeface="Calibri"/>
                <a:cs typeface="Calibri"/>
              </a:rPr>
              <a:t>s</a:t>
            </a:r>
            <a:r>
              <a:rPr sz="2800" dirty="0">
                <a:latin typeface="Calibri"/>
                <a:cs typeface="Calibri"/>
              </a:rPr>
              <a:t>	</a:t>
            </a:r>
            <a:r>
              <a:rPr sz="2800" spc="-10" dirty="0">
                <a:latin typeface="Calibri"/>
                <a:cs typeface="Calibri"/>
              </a:rPr>
              <a:t>us</a:t>
            </a:r>
            <a:r>
              <a:rPr sz="2800" spc="-5" dirty="0">
                <a:latin typeface="Calibri"/>
                <a:cs typeface="Calibri"/>
              </a:rPr>
              <a:t>e</a:t>
            </a:r>
            <a:r>
              <a:rPr sz="2800" dirty="0">
                <a:latin typeface="Calibri"/>
                <a:cs typeface="Calibri"/>
              </a:rPr>
              <a:t>	</a:t>
            </a:r>
            <a:r>
              <a:rPr sz="2800" spc="-10" dirty="0">
                <a:latin typeface="Calibri"/>
                <a:cs typeface="Calibri"/>
              </a:rPr>
              <a:t>D</a:t>
            </a:r>
            <a:r>
              <a:rPr sz="2800" spc="-105" dirty="0">
                <a:latin typeface="Calibri"/>
                <a:cs typeface="Calibri"/>
              </a:rPr>
              <a:t>/</a:t>
            </a:r>
            <a:r>
              <a:rPr sz="2800" spc="-5" dirty="0">
                <a:latin typeface="Calibri"/>
                <a:cs typeface="Calibri"/>
              </a:rPr>
              <a:t>A  </a:t>
            </a:r>
            <a:r>
              <a:rPr sz="2800" spc="-25" dirty="0">
                <a:latin typeface="Calibri"/>
                <a:cs typeface="Calibri"/>
              </a:rPr>
              <a:t>converters</a:t>
            </a:r>
            <a:r>
              <a:rPr sz="2800" spc="5" dirty="0">
                <a:latin typeface="Calibri"/>
                <a:cs typeface="Calibri"/>
              </a:rPr>
              <a:t> </a:t>
            </a:r>
            <a:r>
              <a:rPr sz="2800" spc="-25" dirty="0">
                <a:latin typeface="Calibri"/>
                <a:cs typeface="Calibri"/>
              </a:rPr>
              <a:t>for</a:t>
            </a:r>
            <a:r>
              <a:rPr sz="2800" spc="-5" dirty="0">
                <a:latin typeface="Calibri"/>
                <a:cs typeface="Calibri"/>
              </a:rPr>
              <a:t> functioning.</a:t>
            </a:r>
            <a:endParaRPr sz="2800">
              <a:latin typeface="Calibri"/>
              <a:cs typeface="Calibri"/>
            </a:endParaRPr>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46812" rIns="0" bIns="0" rtlCol="0">
            <a:spAutoFit/>
          </a:bodyPr>
          <a:lstStyle/>
          <a:p>
            <a:pPr marL="332105" marR="5080">
              <a:lnSpc>
                <a:spcPts val="4320"/>
              </a:lnSpc>
              <a:spcBef>
                <a:spcPts val="640"/>
              </a:spcBef>
            </a:pPr>
            <a:r>
              <a:rPr sz="4000" spc="-45" dirty="0"/>
              <a:t>General</a:t>
            </a:r>
            <a:r>
              <a:rPr sz="4000" spc="-80" dirty="0"/>
              <a:t> </a:t>
            </a:r>
            <a:r>
              <a:rPr sz="4000" spc="-40" dirty="0"/>
              <a:t>Considerations</a:t>
            </a:r>
            <a:r>
              <a:rPr sz="4000" spc="-65" dirty="0"/>
              <a:t> </a:t>
            </a:r>
            <a:r>
              <a:rPr sz="4000" spc="-15" dirty="0"/>
              <a:t>of</a:t>
            </a:r>
            <a:r>
              <a:rPr sz="4000" spc="-60" dirty="0"/>
              <a:t> </a:t>
            </a:r>
            <a:r>
              <a:rPr sz="4000" spc="-25" dirty="0"/>
              <a:t>Analog</a:t>
            </a:r>
            <a:r>
              <a:rPr sz="4000" spc="-95" dirty="0"/>
              <a:t> </a:t>
            </a:r>
            <a:r>
              <a:rPr sz="4000" spc="-30" dirty="0"/>
              <a:t>to</a:t>
            </a:r>
            <a:r>
              <a:rPr sz="4000" spc="-60" dirty="0"/>
              <a:t> </a:t>
            </a:r>
            <a:r>
              <a:rPr sz="4000" spc="-35" dirty="0"/>
              <a:t>Digital</a:t>
            </a:r>
            <a:r>
              <a:rPr sz="4000" spc="-80" dirty="0"/>
              <a:t> </a:t>
            </a:r>
            <a:r>
              <a:rPr sz="4000" spc="-20" dirty="0"/>
              <a:t>and </a:t>
            </a:r>
            <a:r>
              <a:rPr sz="4000" spc="-885" dirty="0"/>
              <a:t> </a:t>
            </a:r>
            <a:r>
              <a:rPr sz="4000" spc="-35" dirty="0"/>
              <a:t>Digital</a:t>
            </a:r>
            <a:r>
              <a:rPr sz="4000" spc="-80" dirty="0"/>
              <a:t> </a:t>
            </a:r>
            <a:r>
              <a:rPr sz="4000" spc="-30" dirty="0"/>
              <a:t>to</a:t>
            </a:r>
            <a:r>
              <a:rPr sz="4000" spc="-65" dirty="0"/>
              <a:t> </a:t>
            </a:r>
            <a:r>
              <a:rPr sz="4000" spc="-25" dirty="0"/>
              <a:t>Analog</a:t>
            </a:r>
            <a:r>
              <a:rPr sz="4000" spc="-95" dirty="0"/>
              <a:t> </a:t>
            </a:r>
            <a:r>
              <a:rPr sz="4000" spc="-50" dirty="0"/>
              <a:t>Conversion</a:t>
            </a:r>
            <a:endParaRPr sz="4000"/>
          </a:p>
        </p:txBody>
      </p:sp>
      <p:pic>
        <p:nvPicPr>
          <p:cNvPr id="3" name="object 3"/>
          <p:cNvPicPr/>
          <p:nvPr/>
        </p:nvPicPr>
        <p:blipFill>
          <a:blip r:embed="rId2" cstate="print"/>
          <a:stretch>
            <a:fillRect/>
          </a:stretch>
        </p:blipFill>
        <p:spPr>
          <a:xfrm>
            <a:off x="3126731" y="5101168"/>
            <a:ext cx="4251745" cy="773575"/>
          </a:xfrm>
          <a:prstGeom prst="rect">
            <a:avLst/>
          </a:prstGeom>
        </p:spPr>
      </p:pic>
      <p:pic>
        <p:nvPicPr>
          <p:cNvPr id="4" name="object 4"/>
          <p:cNvPicPr/>
          <p:nvPr/>
        </p:nvPicPr>
        <p:blipFill>
          <a:blip r:embed="rId3" cstate="print"/>
          <a:stretch>
            <a:fillRect/>
          </a:stretch>
        </p:blipFill>
        <p:spPr>
          <a:xfrm>
            <a:off x="3118852" y="6011087"/>
            <a:ext cx="2717491" cy="424189"/>
          </a:xfrm>
          <a:prstGeom prst="rect">
            <a:avLst/>
          </a:prstGeom>
        </p:spPr>
      </p:pic>
      <p:pic>
        <p:nvPicPr>
          <p:cNvPr id="5" name="object 5"/>
          <p:cNvPicPr/>
          <p:nvPr/>
        </p:nvPicPr>
        <p:blipFill>
          <a:blip r:embed="rId4" cstate="print"/>
          <a:stretch>
            <a:fillRect/>
          </a:stretch>
        </p:blipFill>
        <p:spPr>
          <a:xfrm>
            <a:off x="3126731" y="1805046"/>
            <a:ext cx="4825601" cy="574600"/>
          </a:xfrm>
          <a:prstGeom prst="rect">
            <a:avLst/>
          </a:prstGeom>
        </p:spPr>
      </p:pic>
      <p:pic>
        <p:nvPicPr>
          <p:cNvPr id="6" name="object 6"/>
          <p:cNvPicPr/>
          <p:nvPr/>
        </p:nvPicPr>
        <p:blipFill>
          <a:blip r:embed="rId5" cstate="print"/>
          <a:stretch>
            <a:fillRect/>
          </a:stretch>
        </p:blipFill>
        <p:spPr>
          <a:xfrm>
            <a:off x="2551990" y="2494372"/>
            <a:ext cx="5921976" cy="481861"/>
          </a:xfrm>
          <a:prstGeom prst="rect">
            <a:avLst/>
          </a:prstGeom>
        </p:spPr>
      </p:pic>
      <p:pic>
        <p:nvPicPr>
          <p:cNvPr id="7" name="object 7"/>
          <p:cNvPicPr/>
          <p:nvPr/>
        </p:nvPicPr>
        <p:blipFill>
          <a:blip r:embed="rId6" cstate="print"/>
          <a:stretch>
            <a:fillRect/>
          </a:stretch>
        </p:blipFill>
        <p:spPr>
          <a:xfrm>
            <a:off x="3317388" y="3137916"/>
            <a:ext cx="4486504" cy="1681987"/>
          </a:xfrm>
          <a:prstGeom prst="rect">
            <a:avLst/>
          </a:prstGeom>
        </p:spPr>
      </p:pic>
      <p:sp>
        <p:nvSpPr>
          <p:cNvPr id="8" name="Slide Number Placeholder 7"/>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51455" y="4891415"/>
            <a:ext cx="6123715" cy="944155"/>
          </a:xfrm>
          <a:prstGeom prst="rect">
            <a:avLst/>
          </a:prstGeom>
        </p:spPr>
      </p:pic>
      <p:pic>
        <p:nvPicPr>
          <p:cNvPr id="3" name="object 3"/>
          <p:cNvPicPr/>
          <p:nvPr/>
        </p:nvPicPr>
        <p:blipFill>
          <a:blip r:embed="rId3" cstate="print"/>
          <a:stretch>
            <a:fillRect/>
          </a:stretch>
        </p:blipFill>
        <p:spPr>
          <a:xfrm>
            <a:off x="851455" y="772668"/>
            <a:ext cx="6956244" cy="1282903"/>
          </a:xfrm>
          <a:prstGeom prst="rect">
            <a:avLst/>
          </a:prstGeom>
        </p:spPr>
      </p:pic>
      <p:pic>
        <p:nvPicPr>
          <p:cNvPr id="4" name="object 4"/>
          <p:cNvPicPr/>
          <p:nvPr/>
        </p:nvPicPr>
        <p:blipFill>
          <a:blip r:embed="rId4" cstate="print"/>
          <a:stretch>
            <a:fillRect/>
          </a:stretch>
        </p:blipFill>
        <p:spPr>
          <a:xfrm>
            <a:off x="851455" y="2268473"/>
            <a:ext cx="2849100" cy="500634"/>
          </a:xfrm>
          <a:prstGeom prst="rect">
            <a:avLst/>
          </a:prstGeom>
        </p:spPr>
      </p:pic>
      <p:pic>
        <p:nvPicPr>
          <p:cNvPr id="5" name="object 5"/>
          <p:cNvPicPr/>
          <p:nvPr/>
        </p:nvPicPr>
        <p:blipFill>
          <a:blip r:embed="rId5" cstate="print"/>
          <a:stretch>
            <a:fillRect/>
          </a:stretch>
        </p:blipFill>
        <p:spPr>
          <a:xfrm>
            <a:off x="851455" y="3035456"/>
            <a:ext cx="4717666" cy="1439526"/>
          </a:xfrm>
          <a:prstGeom prst="rect">
            <a:avLst/>
          </a:prstGeom>
        </p:spPr>
      </p:pic>
      <p:sp>
        <p:nvSpPr>
          <p:cNvPr id="6" name="Slide Number Placeholder 5"/>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4</a:t>
            </a:fld>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84174"/>
            <a:ext cx="6663055" cy="635000"/>
          </a:xfrm>
          <a:prstGeom prst="rect">
            <a:avLst/>
          </a:prstGeom>
        </p:spPr>
        <p:txBody>
          <a:bodyPr vert="horz" wrap="square" lIns="0" tIns="12065" rIns="0" bIns="0" rtlCol="0">
            <a:spAutoFit/>
          </a:bodyPr>
          <a:lstStyle/>
          <a:p>
            <a:pPr marL="12700">
              <a:lnSpc>
                <a:spcPct val="100000"/>
              </a:lnSpc>
              <a:spcBef>
                <a:spcPts val="95"/>
              </a:spcBef>
            </a:pPr>
            <a:r>
              <a:rPr sz="4000" spc="-35" dirty="0"/>
              <a:t>Digital</a:t>
            </a:r>
            <a:r>
              <a:rPr sz="4000" spc="-80" dirty="0"/>
              <a:t> </a:t>
            </a:r>
            <a:r>
              <a:rPr sz="4000" spc="-30" dirty="0"/>
              <a:t>to</a:t>
            </a:r>
            <a:r>
              <a:rPr sz="4000" spc="-65" dirty="0"/>
              <a:t> </a:t>
            </a:r>
            <a:r>
              <a:rPr sz="4000" spc="-25" dirty="0"/>
              <a:t>Analog</a:t>
            </a:r>
            <a:r>
              <a:rPr sz="4000" spc="-100" dirty="0"/>
              <a:t> </a:t>
            </a:r>
            <a:r>
              <a:rPr sz="4000" spc="-50" dirty="0"/>
              <a:t>Converter</a:t>
            </a:r>
            <a:r>
              <a:rPr sz="4000" spc="-85" dirty="0"/>
              <a:t> </a:t>
            </a:r>
            <a:r>
              <a:rPr sz="4000" spc="-35" dirty="0"/>
              <a:t>(DAC)</a:t>
            </a:r>
            <a:endParaRPr sz="4000"/>
          </a:p>
        </p:txBody>
      </p:sp>
      <p:sp>
        <p:nvSpPr>
          <p:cNvPr id="3" name="object 3"/>
          <p:cNvSpPr txBox="1"/>
          <p:nvPr/>
        </p:nvSpPr>
        <p:spPr>
          <a:xfrm>
            <a:off x="1293622" y="2051763"/>
            <a:ext cx="5109845" cy="1205230"/>
          </a:xfrm>
          <a:prstGeom prst="rect">
            <a:avLst/>
          </a:prstGeom>
        </p:spPr>
        <p:txBody>
          <a:bodyPr vert="horz" wrap="square" lIns="0" tIns="39370" rIns="0" bIns="0" rtlCol="0">
            <a:spAutoFit/>
          </a:bodyPr>
          <a:lstStyle/>
          <a:p>
            <a:pPr marL="12700">
              <a:lnSpc>
                <a:spcPct val="100000"/>
              </a:lnSpc>
              <a:spcBef>
                <a:spcPts val="310"/>
              </a:spcBef>
            </a:pPr>
            <a:r>
              <a:rPr sz="2400" spc="-10" dirty="0">
                <a:latin typeface="Calibri"/>
                <a:cs typeface="Calibri"/>
              </a:rPr>
              <a:t>Following</a:t>
            </a:r>
            <a:r>
              <a:rPr sz="2400" spc="-30" dirty="0">
                <a:latin typeface="Calibri"/>
                <a:cs typeface="Calibri"/>
              </a:rPr>
              <a:t> </a:t>
            </a:r>
            <a:r>
              <a:rPr sz="2400" spc="-15" dirty="0">
                <a:latin typeface="Calibri"/>
                <a:cs typeface="Calibri"/>
              </a:rPr>
              <a:t>are</a:t>
            </a:r>
            <a:r>
              <a:rPr sz="2400" spc="-10" dirty="0">
                <a:latin typeface="Calibri"/>
                <a:cs typeface="Calibri"/>
              </a:rPr>
              <a:t> </a:t>
            </a:r>
            <a:r>
              <a:rPr sz="2400" dirty="0">
                <a:latin typeface="Calibri"/>
                <a:cs typeface="Calibri"/>
              </a:rPr>
              <a:t>the</a:t>
            </a:r>
            <a:r>
              <a:rPr sz="2400" spc="-15" dirty="0">
                <a:latin typeface="Calibri"/>
                <a:cs typeface="Calibri"/>
              </a:rPr>
              <a:t> </a:t>
            </a:r>
            <a:r>
              <a:rPr sz="2400" dirty="0">
                <a:latin typeface="Calibri"/>
                <a:cs typeface="Calibri"/>
              </a:rPr>
              <a:t>types</a:t>
            </a:r>
            <a:r>
              <a:rPr sz="2400" spc="-25" dirty="0">
                <a:latin typeface="Calibri"/>
                <a:cs typeface="Calibri"/>
              </a:rPr>
              <a:t> </a:t>
            </a:r>
            <a:r>
              <a:rPr sz="2400" spc="-5" dirty="0">
                <a:latin typeface="Calibri"/>
                <a:cs typeface="Calibri"/>
              </a:rPr>
              <a:t>of</a:t>
            </a:r>
            <a:r>
              <a:rPr sz="2400" spc="-15" dirty="0">
                <a:latin typeface="Calibri"/>
                <a:cs typeface="Calibri"/>
              </a:rPr>
              <a:t> DAC:</a:t>
            </a:r>
            <a:endParaRPr sz="2400">
              <a:latin typeface="Calibri"/>
              <a:cs typeface="Calibri"/>
            </a:endParaRPr>
          </a:p>
          <a:p>
            <a:pPr marL="241300" indent="-228600">
              <a:lnSpc>
                <a:spcPct val="100000"/>
              </a:lnSpc>
              <a:spcBef>
                <a:spcPts val="219"/>
              </a:spcBef>
              <a:buFont typeface="Arial MT"/>
              <a:buChar char="•"/>
              <a:tabLst>
                <a:tab pos="241300" algn="l"/>
              </a:tabLst>
            </a:pPr>
            <a:r>
              <a:rPr sz="2400" spc="-20" dirty="0">
                <a:latin typeface="Calibri"/>
                <a:cs typeface="Calibri"/>
              </a:rPr>
              <a:t>Weighted</a:t>
            </a:r>
            <a:r>
              <a:rPr sz="2400" spc="-10" dirty="0">
                <a:latin typeface="Calibri"/>
                <a:cs typeface="Calibri"/>
              </a:rPr>
              <a:t> </a:t>
            </a:r>
            <a:r>
              <a:rPr sz="2400" spc="-15" dirty="0">
                <a:latin typeface="Calibri"/>
                <a:cs typeface="Calibri"/>
              </a:rPr>
              <a:t>Resistor</a:t>
            </a:r>
            <a:r>
              <a:rPr sz="2400" spc="-35" dirty="0">
                <a:latin typeface="Calibri"/>
                <a:cs typeface="Calibri"/>
              </a:rPr>
              <a:t> </a:t>
            </a:r>
            <a:r>
              <a:rPr sz="2400" spc="-10" dirty="0">
                <a:latin typeface="Calibri"/>
                <a:cs typeface="Calibri"/>
              </a:rPr>
              <a:t>Network</a:t>
            </a:r>
            <a:r>
              <a:rPr sz="2400" spc="-25" dirty="0">
                <a:latin typeface="Calibri"/>
                <a:cs typeface="Calibri"/>
              </a:rPr>
              <a:t> </a:t>
            </a:r>
            <a:r>
              <a:rPr sz="2400" spc="-5" dirty="0">
                <a:latin typeface="Calibri"/>
                <a:cs typeface="Calibri"/>
              </a:rPr>
              <a:t>(WRN)</a:t>
            </a:r>
            <a:r>
              <a:rPr sz="2400" spc="-15" dirty="0">
                <a:latin typeface="Calibri"/>
                <a:cs typeface="Calibri"/>
              </a:rPr>
              <a:t> </a:t>
            </a:r>
            <a:r>
              <a:rPr sz="2400" spc="-20" dirty="0">
                <a:latin typeface="Calibri"/>
                <a:cs typeface="Calibri"/>
              </a:rPr>
              <a:t>DAC</a:t>
            </a:r>
            <a:endParaRPr sz="2400">
              <a:latin typeface="Calibri"/>
              <a:cs typeface="Calibri"/>
            </a:endParaRPr>
          </a:p>
          <a:p>
            <a:pPr marL="241300" indent="-228600">
              <a:lnSpc>
                <a:spcPct val="100000"/>
              </a:lnSpc>
              <a:spcBef>
                <a:spcPts val="215"/>
              </a:spcBef>
              <a:buFont typeface="Arial MT"/>
              <a:buChar char="•"/>
              <a:tabLst>
                <a:tab pos="241300" algn="l"/>
              </a:tabLst>
            </a:pPr>
            <a:r>
              <a:rPr sz="2400" dirty="0">
                <a:latin typeface="Calibri"/>
                <a:cs typeface="Calibri"/>
              </a:rPr>
              <a:t>R:2R</a:t>
            </a:r>
            <a:r>
              <a:rPr sz="2400" spc="-45" dirty="0">
                <a:latin typeface="Calibri"/>
                <a:cs typeface="Calibri"/>
              </a:rPr>
              <a:t> </a:t>
            </a:r>
            <a:r>
              <a:rPr sz="2400" spc="-5" dirty="0">
                <a:latin typeface="Calibri"/>
                <a:cs typeface="Calibri"/>
              </a:rPr>
              <a:t>Ladder</a:t>
            </a:r>
            <a:r>
              <a:rPr sz="2400" spc="-10" dirty="0">
                <a:latin typeface="Calibri"/>
                <a:cs typeface="Calibri"/>
              </a:rPr>
              <a:t> Network</a:t>
            </a:r>
            <a:r>
              <a:rPr sz="2400" spc="-30" dirty="0">
                <a:latin typeface="Calibri"/>
                <a:cs typeface="Calibri"/>
              </a:rPr>
              <a:t> </a:t>
            </a:r>
            <a:r>
              <a:rPr sz="2400" spc="-20" dirty="0">
                <a:latin typeface="Calibri"/>
                <a:cs typeface="Calibri"/>
              </a:rPr>
              <a:t>DAC</a:t>
            </a:r>
            <a:endParaRPr sz="2400">
              <a:latin typeface="Calibri"/>
              <a:cs typeface="Calibri"/>
            </a:endParaRPr>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5</a:t>
            </a:fld>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771524"/>
            <a:ext cx="5521960" cy="452120"/>
          </a:xfrm>
          <a:prstGeom prst="rect">
            <a:avLst/>
          </a:prstGeom>
        </p:spPr>
        <p:txBody>
          <a:bodyPr vert="horz" wrap="square" lIns="0" tIns="12065" rIns="0" bIns="0" rtlCol="0">
            <a:spAutoFit/>
          </a:bodyPr>
          <a:lstStyle/>
          <a:p>
            <a:pPr marL="12700">
              <a:lnSpc>
                <a:spcPct val="100000"/>
              </a:lnSpc>
              <a:spcBef>
                <a:spcPts val="95"/>
              </a:spcBef>
            </a:pPr>
            <a:r>
              <a:rPr sz="2800" b="1" spc="-5" dirty="0">
                <a:latin typeface="Arial"/>
                <a:cs typeface="Arial"/>
              </a:rPr>
              <a:t>Weighted</a:t>
            </a:r>
            <a:r>
              <a:rPr sz="2800" b="1" spc="15" dirty="0">
                <a:latin typeface="Arial"/>
                <a:cs typeface="Arial"/>
              </a:rPr>
              <a:t> </a:t>
            </a:r>
            <a:r>
              <a:rPr sz="2800" b="1" spc="-5" dirty="0">
                <a:latin typeface="Arial"/>
                <a:cs typeface="Arial"/>
              </a:rPr>
              <a:t>Resistor</a:t>
            </a:r>
            <a:r>
              <a:rPr sz="2800" b="1" spc="5" dirty="0">
                <a:latin typeface="Arial"/>
                <a:cs typeface="Arial"/>
              </a:rPr>
              <a:t> </a:t>
            </a:r>
            <a:r>
              <a:rPr sz="2800" b="1" spc="-5" dirty="0">
                <a:latin typeface="Arial"/>
                <a:cs typeface="Arial"/>
              </a:rPr>
              <a:t>Network</a:t>
            </a:r>
            <a:r>
              <a:rPr sz="2800" b="1" spc="30" dirty="0">
                <a:latin typeface="Arial"/>
                <a:cs typeface="Arial"/>
              </a:rPr>
              <a:t> </a:t>
            </a:r>
            <a:r>
              <a:rPr sz="2800" b="1" spc="-10" dirty="0">
                <a:latin typeface="Arial"/>
                <a:cs typeface="Arial"/>
              </a:rPr>
              <a:t>DAC</a:t>
            </a:r>
            <a:endParaRPr sz="2800">
              <a:latin typeface="Arial"/>
              <a:cs typeface="Arial"/>
            </a:endParaRPr>
          </a:p>
        </p:txBody>
      </p:sp>
      <p:sp>
        <p:nvSpPr>
          <p:cNvPr id="3" name="object 3"/>
          <p:cNvSpPr txBox="1"/>
          <p:nvPr/>
        </p:nvSpPr>
        <p:spPr>
          <a:xfrm>
            <a:off x="1374394" y="1802638"/>
            <a:ext cx="9838690" cy="1379220"/>
          </a:xfrm>
          <a:prstGeom prst="rect">
            <a:avLst/>
          </a:prstGeom>
        </p:spPr>
        <p:txBody>
          <a:bodyPr vert="horz" wrap="square" lIns="0" tIns="48895" rIns="0" bIns="0" rtlCol="0">
            <a:spAutoFit/>
          </a:bodyPr>
          <a:lstStyle/>
          <a:p>
            <a:pPr marL="241300" marR="5080" indent="-228600">
              <a:lnSpc>
                <a:spcPct val="90000"/>
              </a:lnSpc>
              <a:spcBef>
                <a:spcPts val="385"/>
              </a:spcBef>
              <a:buFont typeface="Arial MT"/>
              <a:buChar char="•"/>
              <a:tabLst>
                <a:tab pos="241300" algn="l"/>
              </a:tabLst>
            </a:pPr>
            <a:r>
              <a:rPr sz="2400" dirty="0">
                <a:latin typeface="Calibri"/>
                <a:cs typeface="Calibri"/>
              </a:rPr>
              <a:t>In WRN </a:t>
            </a:r>
            <a:r>
              <a:rPr sz="2400" spc="-15" dirty="0">
                <a:latin typeface="Calibri"/>
                <a:cs typeface="Calibri"/>
              </a:rPr>
              <a:t>DAC, </a:t>
            </a:r>
            <a:r>
              <a:rPr sz="2400" dirty="0">
                <a:latin typeface="Calibri"/>
                <a:cs typeface="Calibri"/>
              </a:rPr>
              <a:t>the </a:t>
            </a:r>
            <a:r>
              <a:rPr sz="2400" spc="-15" dirty="0">
                <a:latin typeface="Calibri"/>
                <a:cs typeface="Calibri"/>
              </a:rPr>
              <a:t>resistor </a:t>
            </a:r>
            <a:r>
              <a:rPr sz="2400" dirty="0">
                <a:latin typeface="Calibri"/>
                <a:cs typeface="Calibri"/>
              </a:rPr>
              <a:t>is </a:t>
            </a:r>
            <a:r>
              <a:rPr sz="2400" spc="-10" dirty="0">
                <a:latin typeface="Calibri"/>
                <a:cs typeface="Calibri"/>
              </a:rPr>
              <a:t>weighted </a:t>
            </a:r>
            <a:r>
              <a:rPr sz="2400" spc="-15" dirty="0">
                <a:latin typeface="Calibri"/>
                <a:cs typeface="Calibri"/>
              </a:rPr>
              <a:t>reverse </a:t>
            </a:r>
            <a:r>
              <a:rPr sz="2400" spc="-5" dirty="0">
                <a:latin typeface="Calibri"/>
                <a:cs typeface="Calibri"/>
              </a:rPr>
              <a:t>of </a:t>
            </a:r>
            <a:r>
              <a:rPr sz="2400" dirty="0">
                <a:latin typeface="Calibri"/>
                <a:cs typeface="Calibri"/>
              </a:rPr>
              <a:t>the </a:t>
            </a:r>
            <a:r>
              <a:rPr sz="2400" spc="-5" dirty="0">
                <a:latin typeface="Calibri"/>
                <a:cs typeface="Calibri"/>
              </a:rPr>
              <a:t>binary </a:t>
            </a:r>
            <a:r>
              <a:rPr sz="2400" spc="-25" dirty="0">
                <a:latin typeface="Calibri"/>
                <a:cs typeface="Calibri"/>
              </a:rPr>
              <a:t>system </a:t>
            </a:r>
            <a:r>
              <a:rPr sz="2400" dirty="0">
                <a:latin typeface="Calibri"/>
                <a:cs typeface="Calibri"/>
              </a:rPr>
              <a:t>i.e., </a:t>
            </a:r>
            <a:r>
              <a:rPr sz="2400" spc="5" dirty="0">
                <a:latin typeface="Calibri"/>
                <a:cs typeface="Calibri"/>
              </a:rPr>
              <a:t> </a:t>
            </a:r>
            <a:r>
              <a:rPr sz="2400" spc="-10" dirty="0">
                <a:latin typeface="Calibri"/>
                <a:cs typeface="Calibri"/>
              </a:rPr>
              <a:t>resistance associated </a:t>
            </a:r>
            <a:r>
              <a:rPr sz="2400" dirty="0">
                <a:latin typeface="Calibri"/>
                <a:cs typeface="Calibri"/>
              </a:rPr>
              <a:t>with MSB </a:t>
            </a:r>
            <a:r>
              <a:rPr sz="2400" spc="-5" dirty="0">
                <a:latin typeface="Calibri"/>
                <a:cs typeface="Calibri"/>
              </a:rPr>
              <a:t>has </a:t>
            </a:r>
            <a:r>
              <a:rPr sz="2400" dirty="0">
                <a:latin typeface="Calibri"/>
                <a:cs typeface="Calibri"/>
              </a:rPr>
              <a:t>the </a:t>
            </a:r>
            <a:r>
              <a:rPr sz="2400" spc="-5" dirty="0">
                <a:latin typeface="Calibri"/>
                <a:cs typeface="Calibri"/>
              </a:rPr>
              <a:t>least </a:t>
            </a:r>
            <a:r>
              <a:rPr sz="2400" spc="-10" dirty="0">
                <a:latin typeface="Calibri"/>
                <a:cs typeface="Calibri"/>
              </a:rPr>
              <a:t>value </a:t>
            </a:r>
            <a:r>
              <a:rPr sz="2400" dirty="0">
                <a:latin typeface="Calibri"/>
                <a:cs typeface="Calibri"/>
              </a:rPr>
              <a:t>and as </a:t>
            </a:r>
            <a:r>
              <a:rPr sz="2400" spc="-15" dirty="0">
                <a:latin typeface="Calibri"/>
                <a:cs typeface="Calibri"/>
              </a:rPr>
              <a:t>we move from </a:t>
            </a:r>
            <a:r>
              <a:rPr sz="2400" dirty="0">
                <a:latin typeface="Calibri"/>
                <a:cs typeface="Calibri"/>
              </a:rPr>
              <a:t>MSB </a:t>
            </a:r>
            <a:r>
              <a:rPr sz="2400" spc="-530" dirty="0">
                <a:latin typeface="Calibri"/>
                <a:cs typeface="Calibri"/>
              </a:rPr>
              <a:t> </a:t>
            </a:r>
            <a:r>
              <a:rPr sz="2400" spc="-15" dirty="0">
                <a:latin typeface="Calibri"/>
                <a:cs typeface="Calibri"/>
              </a:rPr>
              <a:t>to LSB, </a:t>
            </a:r>
            <a:r>
              <a:rPr sz="2400" dirty="0">
                <a:latin typeface="Calibri"/>
                <a:cs typeface="Calibri"/>
              </a:rPr>
              <a:t>the </a:t>
            </a:r>
            <a:r>
              <a:rPr sz="2400" spc="-10" dirty="0">
                <a:latin typeface="Calibri"/>
                <a:cs typeface="Calibri"/>
              </a:rPr>
              <a:t>resistance value </a:t>
            </a:r>
            <a:r>
              <a:rPr sz="2400" spc="-5" dirty="0">
                <a:latin typeface="Calibri"/>
                <a:cs typeface="Calibri"/>
              </a:rPr>
              <a:t>increases </a:t>
            </a:r>
            <a:r>
              <a:rPr sz="2400" dirty="0">
                <a:latin typeface="Calibri"/>
                <a:cs typeface="Calibri"/>
              </a:rPr>
              <a:t>with a </a:t>
            </a:r>
            <a:r>
              <a:rPr sz="2400" spc="-15" dirty="0">
                <a:latin typeface="Calibri"/>
                <a:cs typeface="Calibri"/>
              </a:rPr>
              <a:t>factor </a:t>
            </a:r>
            <a:r>
              <a:rPr sz="2400" dirty="0">
                <a:latin typeface="Calibri"/>
                <a:cs typeface="Calibri"/>
              </a:rPr>
              <a:t>2 as </a:t>
            </a:r>
            <a:r>
              <a:rPr sz="2400" spc="-10" dirty="0">
                <a:latin typeface="Calibri"/>
                <a:cs typeface="Calibri"/>
              </a:rPr>
              <a:t>given </a:t>
            </a:r>
            <a:r>
              <a:rPr sz="2400" dirty="0">
                <a:latin typeface="Calibri"/>
                <a:cs typeface="Calibri"/>
              </a:rPr>
              <a:t>in </a:t>
            </a:r>
            <a:r>
              <a:rPr sz="2400" spc="-5" dirty="0">
                <a:latin typeface="Calibri"/>
                <a:cs typeface="Calibri"/>
              </a:rPr>
              <a:t>the </a:t>
            </a:r>
            <a:r>
              <a:rPr sz="2400" spc="-10" dirty="0">
                <a:latin typeface="Calibri"/>
                <a:cs typeface="Calibri"/>
              </a:rPr>
              <a:t>following </a:t>
            </a:r>
            <a:r>
              <a:rPr sz="2400" spc="-5" dirty="0">
                <a:latin typeface="Calibri"/>
                <a:cs typeface="Calibri"/>
              </a:rPr>
              <a:t> table.</a:t>
            </a:r>
            <a:endParaRPr sz="2400">
              <a:latin typeface="Calibri"/>
              <a:cs typeface="Calibri"/>
            </a:endParaRPr>
          </a:p>
        </p:txBody>
      </p:sp>
      <p:sp>
        <p:nvSpPr>
          <p:cNvPr id="5" name="object 5"/>
          <p:cNvSpPr txBox="1"/>
          <p:nvPr/>
        </p:nvSpPr>
        <p:spPr>
          <a:xfrm>
            <a:off x="11171935" y="6426809"/>
            <a:ext cx="10287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888888"/>
                </a:solidFill>
                <a:latin typeface="Calibri"/>
                <a:cs typeface="Calibri"/>
              </a:rPr>
              <a:t>7</a:t>
            </a:r>
            <a:endParaRPr sz="1200">
              <a:latin typeface="Calibri"/>
              <a:cs typeface="Calibri"/>
            </a:endParaRPr>
          </a:p>
        </p:txBody>
      </p:sp>
      <p:pic>
        <p:nvPicPr>
          <p:cNvPr id="6" name="object 6"/>
          <p:cNvPicPr/>
          <p:nvPr/>
        </p:nvPicPr>
        <p:blipFill>
          <a:blip r:embed="rId2" cstate="print"/>
          <a:stretch>
            <a:fillRect/>
          </a:stretch>
        </p:blipFill>
        <p:spPr>
          <a:xfrm>
            <a:off x="2664179" y="3615854"/>
            <a:ext cx="4848038" cy="2253607"/>
          </a:xfrm>
          <a:prstGeom prst="rect">
            <a:avLst/>
          </a:prstGeom>
        </p:spPr>
      </p:pic>
      <p:sp>
        <p:nvSpPr>
          <p:cNvPr id="7" name="Slide Number Placeholder 6"/>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6</a:t>
            </a:fld>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17798" y="646895"/>
            <a:ext cx="4732309" cy="3179641"/>
          </a:xfrm>
          <a:prstGeom prst="rect">
            <a:avLst/>
          </a:prstGeom>
        </p:spPr>
      </p:pic>
      <p:pic>
        <p:nvPicPr>
          <p:cNvPr id="3" name="object 3"/>
          <p:cNvPicPr/>
          <p:nvPr/>
        </p:nvPicPr>
        <p:blipFill>
          <a:blip r:embed="rId3" cstate="print"/>
          <a:stretch>
            <a:fillRect/>
          </a:stretch>
        </p:blipFill>
        <p:spPr>
          <a:xfrm>
            <a:off x="495641" y="4376349"/>
            <a:ext cx="5830358" cy="1383424"/>
          </a:xfrm>
          <a:prstGeom prst="rect">
            <a:avLst/>
          </a:prstGeom>
        </p:spPr>
      </p:pic>
      <p:pic>
        <p:nvPicPr>
          <p:cNvPr id="4" name="object 4"/>
          <p:cNvPicPr/>
          <p:nvPr/>
        </p:nvPicPr>
        <p:blipFill>
          <a:blip r:embed="rId4" cstate="print"/>
          <a:stretch>
            <a:fillRect/>
          </a:stretch>
        </p:blipFill>
        <p:spPr>
          <a:xfrm>
            <a:off x="6994896" y="738531"/>
            <a:ext cx="4634841" cy="4146714"/>
          </a:xfrm>
          <a:prstGeom prst="rect">
            <a:avLst/>
          </a:prstGeom>
        </p:spPr>
      </p:pic>
      <p:sp>
        <p:nvSpPr>
          <p:cNvPr id="5" name="Slide Number Placeholder 4"/>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7</a:t>
            </a:fld>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12692" y="624743"/>
            <a:ext cx="5678745" cy="4254383"/>
          </a:xfrm>
          <a:prstGeom prst="rect">
            <a:avLst/>
          </a:prstGeom>
        </p:spPr>
      </p:pic>
      <p:sp>
        <p:nvSpPr>
          <p:cNvPr id="3" name="Slide Number Placeholder 2"/>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8</a:t>
            </a:fld>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08228"/>
            <a:ext cx="8238490" cy="696595"/>
          </a:xfrm>
          <a:prstGeom prst="rect">
            <a:avLst/>
          </a:prstGeom>
        </p:spPr>
        <p:txBody>
          <a:bodyPr vert="horz" wrap="square" lIns="0" tIns="12700" rIns="0" bIns="0" rtlCol="0">
            <a:spAutoFit/>
          </a:bodyPr>
          <a:lstStyle/>
          <a:p>
            <a:pPr marL="12700">
              <a:lnSpc>
                <a:spcPct val="100000"/>
              </a:lnSpc>
              <a:spcBef>
                <a:spcPts val="100"/>
              </a:spcBef>
            </a:pPr>
            <a:r>
              <a:rPr spc="-55" dirty="0"/>
              <a:t>Drawbacks</a:t>
            </a:r>
            <a:r>
              <a:rPr spc="-90" dirty="0"/>
              <a:t> </a:t>
            </a:r>
            <a:r>
              <a:rPr spc="-15" dirty="0"/>
              <a:t>of</a:t>
            </a:r>
            <a:r>
              <a:rPr spc="-75" dirty="0"/>
              <a:t> </a:t>
            </a:r>
            <a:r>
              <a:rPr spc="-20" dirty="0"/>
              <a:t>the</a:t>
            </a:r>
            <a:r>
              <a:rPr spc="-90" dirty="0"/>
              <a:t> </a:t>
            </a:r>
            <a:r>
              <a:rPr spc="-30" dirty="0"/>
              <a:t>WRN</a:t>
            </a:r>
            <a:r>
              <a:rPr spc="-114" dirty="0"/>
              <a:t> </a:t>
            </a:r>
            <a:r>
              <a:rPr spc="-45" dirty="0"/>
              <a:t>network</a:t>
            </a:r>
            <a:r>
              <a:rPr spc="-100" dirty="0"/>
              <a:t> </a:t>
            </a:r>
            <a:r>
              <a:rPr spc="-40" dirty="0"/>
              <a:t>DAC:</a:t>
            </a:r>
          </a:p>
        </p:txBody>
      </p:sp>
      <p:sp>
        <p:nvSpPr>
          <p:cNvPr id="3" name="object 3"/>
          <p:cNvSpPr txBox="1"/>
          <p:nvPr/>
        </p:nvSpPr>
        <p:spPr>
          <a:xfrm>
            <a:off x="1374394" y="1819401"/>
            <a:ext cx="9878060" cy="2110740"/>
          </a:xfrm>
          <a:prstGeom prst="rect">
            <a:avLst/>
          </a:prstGeom>
        </p:spPr>
        <p:txBody>
          <a:bodyPr vert="horz" wrap="square" lIns="0" tIns="11430" rIns="0" bIns="0" rtlCol="0">
            <a:spAutoFit/>
          </a:bodyPr>
          <a:lstStyle/>
          <a:p>
            <a:pPr marL="299085" marR="5080" indent="-287020" algn="just">
              <a:lnSpc>
                <a:spcPct val="111900"/>
              </a:lnSpc>
              <a:spcBef>
                <a:spcPts val="90"/>
              </a:spcBef>
            </a:pPr>
            <a:r>
              <a:rPr sz="1100" dirty="0">
                <a:latin typeface="Times New Roman"/>
                <a:cs typeface="Times New Roman"/>
              </a:rPr>
              <a:t>1.</a:t>
            </a:r>
            <a:r>
              <a:rPr sz="1100" spc="5" dirty="0">
                <a:latin typeface="Times New Roman"/>
                <a:cs typeface="Times New Roman"/>
              </a:rPr>
              <a:t> </a:t>
            </a:r>
            <a:r>
              <a:rPr sz="2400" spc="-5" dirty="0">
                <a:latin typeface="Times New Roman"/>
                <a:cs typeface="Times New Roman"/>
              </a:rPr>
              <a:t>As the no. </a:t>
            </a:r>
            <a:r>
              <a:rPr sz="2400" spc="-10" dirty="0">
                <a:latin typeface="Times New Roman"/>
                <a:cs typeface="Times New Roman"/>
              </a:rPr>
              <a:t>of </a:t>
            </a:r>
            <a:r>
              <a:rPr sz="2400" spc="-5" dirty="0">
                <a:latin typeface="Times New Roman"/>
                <a:cs typeface="Times New Roman"/>
              </a:rPr>
              <a:t>bit </a:t>
            </a:r>
            <a:r>
              <a:rPr sz="2400" spc="-10" dirty="0">
                <a:latin typeface="Times New Roman"/>
                <a:cs typeface="Times New Roman"/>
              </a:rPr>
              <a:t>increases, the resistance value </a:t>
            </a:r>
            <a:r>
              <a:rPr sz="2400" spc="-5" dirty="0">
                <a:latin typeface="Times New Roman"/>
                <a:cs typeface="Times New Roman"/>
              </a:rPr>
              <a:t>also </a:t>
            </a:r>
            <a:r>
              <a:rPr sz="2400" spc="-10" dirty="0">
                <a:latin typeface="Times New Roman"/>
                <a:cs typeface="Times New Roman"/>
              </a:rPr>
              <a:t>increases. </a:t>
            </a:r>
            <a:r>
              <a:rPr sz="2400" spc="-5" dirty="0">
                <a:latin typeface="Times New Roman"/>
                <a:cs typeface="Times New Roman"/>
              </a:rPr>
              <a:t>Thus, </a:t>
            </a:r>
            <a:r>
              <a:rPr sz="2400" spc="-10" dirty="0">
                <a:latin typeface="Times New Roman"/>
                <a:cs typeface="Times New Roman"/>
              </a:rPr>
              <a:t>for higher </a:t>
            </a:r>
            <a:r>
              <a:rPr sz="2400" spc="-585" dirty="0">
                <a:latin typeface="Times New Roman"/>
                <a:cs typeface="Times New Roman"/>
              </a:rPr>
              <a:t> </a:t>
            </a:r>
            <a:r>
              <a:rPr sz="2400" spc="-5" dirty="0">
                <a:latin typeface="Times New Roman"/>
                <a:cs typeface="Times New Roman"/>
              </a:rPr>
              <a:t>bit </a:t>
            </a:r>
            <a:r>
              <a:rPr sz="2400" spc="-20" dirty="0">
                <a:latin typeface="Times New Roman"/>
                <a:cs typeface="Times New Roman"/>
              </a:rPr>
              <a:t>converter, </a:t>
            </a:r>
            <a:r>
              <a:rPr sz="2400" dirty="0">
                <a:latin typeface="Times New Roman"/>
                <a:cs typeface="Times New Roman"/>
              </a:rPr>
              <a:t>the </a:t>
            </a:r>
            <a:r>
              <a:rPr sz="2400" spc="-5" dirty="0">
                <a:latin typeface="Times New Roman"/>
                <a:cs typeface="Times New Roman"/>
              </a:rPr>
              <a:t>range </a:t>
            </a:r>
            <a:r>
              <a:rPr sz="2400" spc="-10" dirty="0">
                <a:latin typeface="Times New Roman"/>
                <a:cs typeface="Times New Roman"/>
              </a:rPr>
              <a:t>of resistor becomes very </a:t>
            </a:r>
            <a:r>
              <a:rPr sz="2400" spc="-5" dirty="0">
                <a:latin typeface="Times New Roman"/>
                <a:cs typeface="Times New Roman"/>
              </a:rPr>
              <a:t>high and it </a:t>
            </a:r>
            <a:r>
              <a:rPr sz="2400" spc="-10" dirty="0">
                <a:latin typeface="Times New Roman"/>
                <a:cs typeface="Times New Roman"/>
              </a:rPr>
              <a:t>becomes </a:t>
            </a:r>
            <a:r>
              <a:rPr sz="2400" spc="-15" dirty="0">
                <a:latin typeface="Times New Roman"/>
                <a:cs typeface="Times New Roman"/>
              </a:rPr>
              <a:t>difficult </a:t>
            </a:r>
            <a:r>
              <a:rPr sz="2400" spc="-10" dirty="0">
                <a:latin typeface="Times New Roman"/>
                <a:cs typeface="Times New Roman"/>
              </a:rPr>
              <a:t> </a:t>
            </a:r>
            <a:r>
              <a:rPr sz="2400" dirty="0">
                <a:latin typeface="Times New Roman"/>
                <a:cs typeface="Times New Roman"/>
              </a:rPr>
              <a:t>to</a:t>
            </a:r>
            <a:r>
              <a:rPr sz="2400" spc="-30" dirty="0">
                <a:latin typeface="Times New Roman"/>
                <a:cs typeface="Times New Roman"/>
              </a:rPr>
              <a:t> </a:t>
            </a:r>
            <a:r>
              <a:rPr sz="2400" spc="-5" dirty="0">
                <a:latin typeface="Times New Roman"/>
                <a:cs typeface="Times New Roman"/>
              </a:rPr>
              <a:t>fabricate</a:t>
            </a:r>
            <a:r>
              <a:rPr sz="2400" spc="-55" dirty="0">
                <a:latin typeface="Times New Roman"/>
                <a:cs typeface="Times New Roman"/>
              </a:rPr>
              <a:t> </a:t>
            </a:r>
            <a:r>
              <a:rPr sz="2400" dirty="0">
                <a:latin typeface="Times New Roman"/>
                <a:cs typeface="Times New Roman"/>
              </a:rPr>
              <a:t>all</a:t>
            </a:r>
            <a:r>
              <a:rPr sz="2400" spc="-35" dirty="0">
                <a:latin typeface="Times New Roman"/>
                <a:cs typeface="Times New Roman"/>
              </a:rPr>
              <a:t> </a:t>
            </a:r>
            <a:r>
              <a:rPr sz="2400" dirty="0">
                <a:latin typeface="Times New Roman"/>
                <a:cs typeface="Times New Roman"/>
              </a:rPr>
              <a:t>the</a:t>
            </a:r>
            <a:r>
              <a:rPr sz="2400" spc="-30" dirty="0">
                <a:latin typeface="Times New Roman"/>
                <a:cs typeface="Times New Roman"/>
              </a:rPr>
              <a:t> </a:t>
            </a:r>
            <a:r>
              <a:rPr sz="2400" spc="-5" dirty="0">
                <a:latin typeface="Times New Roman"/>
                <a:cs typeface="Times New Roman"/>
              </a:rPr>
              <a:t>resistors</a:t>
            </a:r>
            <a:r>
              <a:rPr sz="2400" spc="-40" dirty="0">
                <a:latin typeface="Times New Roman"/>
                <a:cs typeface="Times New Roman"/>
              </a:rPr>
              <a:t> </a:t>
            </a:r>
            <a:r>
              <a:rPr sz="2400" dirty="0">
                <a:latin typeface="Times New Roman"/>
                <a:cs typeface="Times New Roman"/>
              </a:rPr>
              <a:t>in</a:t>
            </a:r>
            <a:r>
              <a:rPr sz="2400" spc="-25" dirty="0">
                <a:latin typeface="Times New Roman"/>
                <a:cs typeface="Times New Roman"/>
              </a:rPr>
              <a:t> </a:t>
            </a:r>
            <a:r>
              <a:rPr sz="2400" dirty="0">
                <a:latin typeface="Times New Roman"/>
                <a:cs typeface="Times New Roman"/>
              </a:rPr>
              <a:t>the</a:t>
            </a:r>
            <a:r>
              <a:rPr sz="2400" spc="-30" dirty="0">
                <a:latin typeface="Times New Roman"/>
                <a:cs typeface="Times New Roman"/>
              </a:rPr>
              <a:t> </a:t>
            </a:r>
            <a:r>
              <a:rPr sz="2400" spc="-5" dirty="0">
                <a:latin typeface="Times New Roman"/>
                <a:cs typeface="Times New Roman"/>
              </a:rPr>
              <a:t>same</a:t>
            </a:r>
            <a:r>
              <a:rPr sz="2400" spc="-70" dirty="0">
                <a:latin typeface="Times New Roman"/>
                <a:cs typeface="Times New Roman"/>
              </a:rPr>
              <a:t> </a:t>
            </a:r>
            <a:r>
              <a:rPr sz="2400" spc="-5" dirty="0">
                <a:latin typeface="Times New Roman"/>
                <a:cs typeface="Times New Roman"/>
              </a:rPr>
              <a:t>IC.</a:t>
            </a:r>
            <a:endParaRPr sz="2400">
              <a:latin typeface="Times New Roman"/>
              <a:cs typeface="Times New Roman"/>
            </a:endParaRPr>
          </a:p>
          <a:p>
            <a:pPr marL="299085" marR="5715" indent="-287020" algn="just">
              <a:lnSpc>
                <a:spcPct val="112100"/>
              </a:lnSpc>
              <a:spcBef>
                <a:spcPts val="300"/>
              </a:spcBef>
            </a:pPr>
            <a:r>
              <a:rPr sz="1100" dirty="0">
                <a:latin typeface="Times New Roman"/>
                <a:cs typeface="Times New Roman"/>
              </a:rPr>
              <a:t>2.   </a:t>
            </a:r>
            <a:r>
              <a:rPr sz="1100" spc="5" dirty="0">
                <a:latin typeface="Times New Roman"/>
                <a:cs typeface="Times New Roman"/>
              </a:rPr>
              <a:t> </a:t>
            </a:r>
            <a:r>
              <a:rPr sz="2400" spc="-5" dirty="0">
                <a:latin typeface="Times New Roman"/>
                <a:cs typeface="Times New Roman"/>
              </a:rPr>
              <a:t>For </a:t>
            </a:r>
            <a:r>
              <a:rPr sz="2400" spc="-10" dirty="0">
                <a:latin typeface="Times New Roman"/>
                <a:cs typeface="Times New Roman"/>
              </a:rPr>
              <a:t>higher </a:t>
            </a:r>
            <a:r>
              <a:rPr sz="2400" spc="-5" dirty="0">
                <a:latin typeface="Times New Roman"/>
                <a:cs typeface="Times New Roman"/>
              </a:rPr>
              <a:t>bit </a:t>
            </a:r>
            <a:r>
              <a:rPr sz="2400" spc="-20" dirty="0">
                <a:latin typeface="Times New Roman"/>
                <a:cs typeface="Times New Roman"/>
              </a:rPr>
              <a:t>converter, </a:t>
            </a:r>
            <a:r>
              <a:rPr sz="2400" spc="-10" dirty="0">
                <a:latin typeface="Times New Roman"/>
                <a:cs typeface="Times New Roman"/>
              </a:rPr>
              <a:t>the tolerance value of resistance </a:t>
            </a:r>
            <a:r>
              <a:rPr sz="2400" spc="-5" dirty="0">
                <a:latin typeface="Times New Roman"/>
                <a:cs typeface="Times New Roman"/>
              </a:rPr>
              <a:t>in LSB </a:t>
            </a:r>
            <a:r>
              <a:rPr sz="2400" spc="-10" dirty="0">
                <a:latin typeface="Times New Roman"/>
                <a:cs typeface="Times New Roman"/>
              </a:rPr>
              <a:t>becomes </a:t>
            </a:r>
            <a:r>
              <a:rPr sz="2400" spc="-5" dirty="0">
                <a:latin typeface="Times New Roman"/>
                <a:cs typeface="Times New Roman"/>
              </a:rPr>
              <a:t> much</a:t>
            </a:r>
            <a:r>
              <a:rPr sz="2400" spc="-15" dirty="0">
                <a:latin typeface="Times New Roman"/>
                <a:cs typeface="Times New Roman"/>
              </a:rPr>
              <a:t> </a:t>
            </a:r>
            <a:r>
              <a:rPr sz="2400" spc="-5" dirty="0">
                <a:latin typeface="Times New Roman"/>
                <a:cs typeface="Times New Roman"/>
              </a:rPr>
              <a:t>greater</a:t>
            </a:r>
            <a:r>
              <a:rPr sz="2400" spc="-40" dirty="0">
                <a:latin typeface="Times New Roman"/>
                <a:cs typeface="Times New Roman"/>
              </a:rPr>
              <a:t> </a:t>
            </a:r>
            <a:r>
              <a:rPr sz="2400" dirty="0">
                <a:latin typeface="Times New Roman"/>
                <a:cs typeface="Times New Roman"/>
              </a:rPr>
              <a:t>than</a:t>
            </a:r>
            <a:r>
              <a:rPr sz="2400" spc="-45" dirty="0">
                <a:latin typeface="Times New Roman"/>
                <a:cs typeface="Times New Roman"/>
              </a:rPr>
              <a:t> </a:t>
            </a:r>
            <a:r>
              <a:rPr sz="2400" spc="-5" dirty="0">
                <a:latin typeface="Times New Roman"/>
                <a:cs typeface="Times New Roman"/>
              </a:rPr>
              <a:t>actual</a:t>
            </a:r>
            <a:r>
              <a:rPr sz="2400" spc="-55" dirty="0">
                <a:latin typeface="Times New Roman"/>
                <a:cs typeface="Times New Roman"/>
              </a:rPr>
              <a:t> </a:t>
            </a:r>
            <a:r>
              <a:rPr sz="2400" dirty="0">
                <a:latin typeface="Times New Roman"/>
                <a:cs typeface="Times New Roman"/>
              </a:rPr>
              <a:t>value</a:t>
            </a:r>
            <a:r>
              <a:rPr sz="2400" spc="-40" dirty="0">
                <a:latin typeface="Times New Roman"/>
                <a:cs typeface="Times New Roman"/>
              </a:rPr>
              <a:t> </a:t>
            </a:r>
            <a:r>
              <a:rPr sz="2400" dirty="0">
                <a:latin typeface="Times New Roman"/>
                <a:cs typeface="Times New Roman"/>
              </a:rPr>
              <a:t>in</a:t>
            </a:r>
            <a:r>
              <a:rPr sz="2400" spc="-25" dirty="0">
                <a:latin typeface="Times New Roman"/>
                <a:cs typeface="Times New Roman"/>
              </a:rPr>
              <a:t> </a:t>
            </a:r>
            <a:r>
              <a:rPr sz="2400" dirty="0">
                <a:latin typeface="Times New Roman"/>
                <a:cs typeface="Times New Roman"/>
              </a:rPr>
              <a:t>the</a:t>
            </a:r>
            <a:r>
              <a:rPr sz="2400" spc="-35" dirty="0">
                <a:latin typeface="Times New Roman"/>
                <a:cs typeface="Times New Roman"/>
              </a:rPr>
              <a:t> </a:t>
            </a:r>
            <a:r>
              <a:rPr sz="2400" spc="-5" dirty="0">
                <a:latin typeface="Times New Roman"/>
                <a:cs typeface="Times New Roman"/>
              </a:rPr>
              <a:t>MSB.</a:t>
            </a:r>
            <a:endParaRPr sz="2400">
              <a:latin typeface="Times New Roman"/>
              <a:cs typeface="Times New Roman"/>
            </a:endParaRPr>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9</a:t>
            </a:fld>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5751830" cy="697230"/>
          </a:xfrm>
          <a:prstGeom prst="rect">
            <a:avLst/>
          </a:prstGeom>
        </p:spPr>
        <p:txBody>
          <a:bodyPr vert="horz" wrap="square" lIns="0" tIns="13335" rIns="0" bIns="0" rtlCol="0">
            <a:spAutoFit/>
          </a:bodyPr>
          <a:lstStyle/>
          <a:p>
            <a:pPr marL="12700">
              <a:lnSpc>
                <a:spcPct val="100000"/>
              </a:lnSpc>
              <a:spcBef>
                <a:spcPts val="105"/>
              </a:spcBef>
            </a:pPr>
            <a:r>
              <a:rPr spc="-20" dirty="0"/>
              <a:t>R:2R</a:t>
            </a:r>
            <a:r>
              <a:rPr spc="-110" dirty="0"/>
              <a:t> </a:t>
            </a:r>
            <a:r>
              <a:rPr spc="-30" dirty="0"/>
              <a:t>Ladder</a:t>
            </a:r>
            <a:r>
              <a:rPr spc="-114" dirty="0"/>
              <a:t> </a:t>
            </a:r>
            <a:r>
              <a:rPr spc="-45" dirty="0"/>
              <a:t>Network</a:t>
            </a:r>
            <a:r>
              <a:rPr spc="-114" dirty="0"/>
              <a:t> </a:t>
            </a:r>
            <a:r>
              <a:rPr spc="-45" dirty="0"/>
              <a:t>DAC</a:t>
            </a:r>
          </a:p>
        </p:txBody>
      </p:sp>
      <p:sp>
        <p:nvSpPr>
          <p:cNvPr id="3" name="object 3"/>
          <p:cNvSpPr txBox="1"/>
          <p:nvPr/>
        </p:nvSpPr>
        <p:spPr>
          <a:xfrm>
            <a:off x="862685" y="1391792"/>
            <a:ext cx="10285730" cy="1219835"/>
          </a:xfrm>
          <a:prstGeom prst="rect">
            <a:avLst/>
          </a:prstGeom>
        </p:spPr>
        <p:txBody>
          <a:bodyPr vert="horz" wrap="square" lIns="0" tIns="60960" rIns="0" bIns="0" rtlCol="0">
            <a:spAutoFit/>
          </a:bodyPr>
          <a:lstStyle/>
          <a:p>
            <a:pPr marL="241300" marR="5080" indent="-228600">
              <a:lnSpc>
                <a:spcPts val="3020"/>
              </a:lnSpc>
              <a:spcBef>
                <a:spcPts val="480"/>
              </a:spcBef>
              <a:buFont typeface="Arial MT"/>
              <a:buChar char="•"/>
              <a:tabLst>
                <a:tab pos="241300" algn="l"/>
              </a:tabLst>
            </a:pPr>
            <a:r>
              <a:rPr sz="2800" spc="-10" dirty="0">
                <a:latin typeface="Calibri"/>
                <a:cs typeface="Calibri"/>
              </a:rPr>
              <a:t>The</a:t>
            </a:r>
            <a:r>
              <a:rPr sz="2800" spc="-5" dirty="0">
                <a:latin typeface="Calibri"/>
                <a:cs typeface="Calibri"/>
              </a:rPr>
              <a:t> </a:t>
            </a:r>
            <a:r>
              <a:rPr sz="2800" spc="-10" dirty="0">
                <a:latin typeface="Calibri"/>
                <a:cs typeface="Calibri"/>
              </a:rPr>
              <a:t>two</a:t>
            </a:r>
            <a:r>
              <a:rPr sz="2800" spc="-5" dirty="0">
                <a:latin typeface="Calibri"/>
                <a:cs typeface="Calibri"/>
              </a:rPr>
              <a:t> </a:t>
            </a:r>
            <a:r>
              <a:rPr sz="2800" spc="-15" dirty="0">
                <a:latin typeface="Calibri"/>
                <a:cs typeface="Calibri"/>
              </a:rPr>
              <a:t>drawbacks</a:t>
            </a:r>
            <a:r>
              <a:rPr sz="2800" spc="20" dirty="0">
                <a:latin typeface="Calibri"/>
                <a:cs typeface="Calibri"/>
              </a:rPr>
              <a:t> </a:t>
            </a:r>
            <a:r>
              <a:rPr sz="2800" spc="-5" dirty="0">
                <a:latin typeface="Calibri"/>
                <a:cs typeface="Calibri"/>
              </a:rPr>
              <a:t>of </a:t>
            </a:r>
            <a:r>
              <a:rPr sz="2800" spc="-15" dirty="0">
                <a:latin typeface="Calibri"/>
                <a:cs typeface="Calibri"/>
              </a:rPr>
              <a:t>weighted</a:t>
            </a:r>
            <a:r>
              <a:rPr sz="2800" dirty="0">
                <a:latin typeface="Calibri"/>
                <a:cs typeface="Calibri"/>
              </a:rPr>
              <a:t> </a:t>
            </a:r>
            <a:r>
              <a:rPr sz="2800" spc="-20" dirty="0">
                <a:latin typeface="Calibri"/>
                <a:cs typeface="Calibri"/>
              </a:rPr>
              <a:t>resistor</a:t>
            </a:r>
            <a:r>
              <a:rPr sz="2800" spc="10" dirty="0">
                <a:latin typeface="Calibri"/>
                <a:cs typeface="Calibri"/>
              </a:rPr>
              <a:t> </a:t>
            </a:r>
            <a:r>
              <a:rPr sz="2800" spc="-10" dirty="0">
                <a:latin typeface="Calibri"/>
                <a:cs typeface="Calibri"/>
              </a:rPr>
              <a:t>network</a:t>
            </a:r>
            <a:r>
              <a:rPr sz="2800" spc="5" dirty="0">
                <a:latin typeface="Calibri"/>
                <a:cs typeface="Calibri"/>
              </a:rPr>
              <a:t> </a:t>
            </a:r>
            <a:r>
              <a:rPr sz="2800" spc="-10" dirty="0">
                <a:latin typeface="Calibri"/>
                <a:cs typeface="Calibri"/>
              </a:rPr>
              <a:t>can</a:t>
            </a:r>
            <a:r>
              <a:rPr sz="2800" spc="-5" dirty="0">
                <a:latin typeface="Calibri"/>
                <a:cs typeface="Calibri"/>
              </a:rPr>
              <a:t> be</a:t>
            </a:r>
            <a:r>
              <a:rPr sz="2800" spc="10" dirty="0">
                <a:latin typeface="Calibri"/>
                <a:cs typeface="Calibri"/>
              </a:rPr>
              <a:t> </a:t>
            </a:r>
            <a:r>
              <a:rPr sz="2800" spc="-20" dirty="0">
                <a:latin typeface="Calibri"/>
                <a:cs typeface="Calibri"/>
              </a:rPr>
              <a:t>overcome </a:t>
            </a:r>
            <a:r>
              <a:rPr sz="2800" spc="-15" dirty="0">
                <a:latin typeface="Calibri"/>
                <a:cs typeface="Calibri"/>
              </a:rPr>
              <a:t> </a:t>
            </a:r>
            <a:r>
              <a:rPr sz="2800" spc="-10" dirty="0">
                <a:latin typeface="Calibri"/>
                <a:cs typeface="Calibri"/>
              </a:rPr>
              <a:t>using</a:t>
            </a:r>
            <a:r>
              <a:rPr sz="2800" spc="20" dirty="0">
                <a:latin typeface="Calibri"/>
                <a:cs typeface="Calibri"/>
              </a:rPr>
              <a:t> </a:t>
            </a:r>
            <a:r>
              <a:rPr sz="2800" spc="-5" dirty="0">
                <a:latin typeface="Calibri"/>
                <a:cs typeface="Calibri"/>
              </a:rPr>
              <a:t>R:2R</a:t>
            </a:r>
            <a:r>
              <a:rPr sz="2800" spc="30" dirty="0">
                <a:latin typeface="Calibri"/>
                <a:cs typeface="Calibri"/>
              </a:rPr>
              <a:t> </a:t>
            </a:r>
            <a:r>
              <a:rPr sz="2800" spc="-5" dirty="0">
                <a:latin typeface="Calibri"/>
                <a:cs typeface="Calibri"/>
              </a:rPr>
              <a:t>ladder</a:t>
            </a:r>
            <a:r>
              <a:rPr sz="2800" spc="10" dirty="0">
                <a:latin typeface="Calibri"/>
                <a:cs typeface="Calibri"/>
              </a:rPr>
              <a:t> </a:t>
            </a:r>
            <a:r>
              <a:rPr sz="2800" spc="-10" dirty="0">
                <a:latin typeface="Calibri"/>
                <a:cs typeface="Calibri"/>
              </a:rPr>
              <a:t>network,</a:t>
            </a:r>
            <a:r>
              <a:rPr sz="2800" spc="10" dirty="0">
                <a:latin typeface="Calibri"/>
                <a:cs typeface="Calibri"/>
              </a:rPr>
              <a:t> </a:t>
            </a:r>
            <a:r>
              <a:rPr sz="2800" spc="-5" dirty="0">
                <a:latin typeface="Calibri"/>
                <a:cs typeface="Calibri"/>
              </a:rPr>
              <a:t>as in</a:t>
            </a:r>
            <a:r>
              <a:rPr sz="2800" spc="15" dirty="0">
                <a:latin typeface="Calibri"/>
                <a:cs typeface="Calibri"/>
              </a:rPr>
              <a:t> </a:t>
            </a:r>
            <a:r>
              <a:rPr sz="2800" spc="-10" dirty="0">
                <a:latin typeface="Calibri"/>
                <a:cs typeface="Calibri"/>
              </a:rPr>
              <a:t>this</a:t>
            </a:r>
            <a:r>
              <a:rPr sz="2800" spc="25" dirty="0">
                <a:latin typeface="Calibri"/>
                <a:cs typeface="Calibri"/>
              </a:rPr>
              <a:t> </a:t>
            </a:r>
            <a:r>
              <a:rPr sz="2800" spc="-25" dirty="0">
                <a:latin typeface="Calibri"/>
                <a:cs typeface="Calibri"/>
              </a:rPr>
              <a:t>DAC,</a:t>
            </a:r>
            <a:r>
              <a:rPr sz="2800" spc="25" dirty="0">
                <a:latin typeface="Calibri"/>
                <a:cs typeface="Calibri"/>
              </a:rPr>
              <a:t> </a:t>
            </a:r>
            <a:r>
              <a:rPr sz="2800" spc="-10" dirty="0">
                <a:latin typeface="Calibri"/>
                <a:cs typeface="Calibri"/>
              </a:rPr>
              <a:t>only</a:t>
            </a:r>
            <a:r>
              <a:rPr sz="2800" spc="10" dirty="0">
                <a:latin typeface="Calibri"/>
                <a:cs typeface="Calibri"/>
              </a:rPr>
              <a:t> </a:t>
            </a:r>
            <a:r>
              <a:rPr sz="2800" spc="-10" dirty="0">
                <a:latin typeface="Calibri"/>
                <a:cs typeface="Calibri"/>
              </a:rPr>
              <a:t>two</a:t>
            </a:r>
            <a:r>
              <a:rPr sz="2800" spc="-5" dirty="0">
                <a:latin typeface="Calibri"/>
                <a:cs typeface="Calibri"/>
              </a:rPr>
              <a:t> </a:t>
            </a:r>
            <a:r>
              <a:rPr sz="2800" spc="-10" dirty="0">
                <a:latin typeface="Calibri"/>
                <a:cs typeface="Calibri"/>
              </a:rPr>
              <a:t>value</a:t>
            </a:r>
            <a:r>
              <a:rPr sz="2800" dirty="0">
                <a:latin typeface="Calibri"/>
                <a:cs typeface="Calibri"/>
              </a:rPr>
              <a:t> </a:t>
            </a:r>
            <a:r>
              <a:rPr sz="2800" spc="-25" dirty="0">
                <a:latin typeface="Calibri"/>
                <a:cs typeface="Calibri"/>
              </a:rPr>
              <a:t>resistors</a:t>
            </a:r>
            <a:r>
              <a:rPr sz="2800" spc="25" dirty="0">
                <a:latin typeface="Calibri"/>
                <a:cs typeface="Calibri"/>
              </a:rPr>
              <a:t> </a:t>
            </a:r>
            <a:r>
              <a:rPr sz="2800" spc="-20" dirty="0">
                <a:latin typeface="Calibri"/>
                <a:cs typeface="Calibri"/>
              </a:rPr>
              <a:t>are </a:t>
            </a:r>
            <a:r>
              <a:rPr sz="2800" spc="-620" dirty="0">
                <a:latin typeface="Calibri"/>
                <a:cs typeface="Calibri"/>
              </a:rPr>
              <a:t> </a:t>
            </a:r>
            <a:r>
              <a:rPr sz="2800" spc="-10" dirty="0">
                <a:latin typeface="Calibri"/>
                <a:cs typeface="Calibri"/>
              </a:rPr>
              <a:t>used.</a:t>
            </a:r>
            <a:endParaRPr sz="2800">
              <a:latin typeface="Calibri"/>
              <a:cs typeface="Calibri"/>
            </a:endParaRPr>
          </a:p>
        </p:txBody>
      </p:sp>
      <p:pic>
        <p:nvPicPr>
          <p:cNvPr id="4" name="object 4"/>
          <p:cNvPicPr/>
          <p:nvPr/>
        </p:nvPicPr>
        <p:blipFill>
          <a:blip r:embed="rId2" cstate="print"/>
          <a:stretch>
            <a:fillRect/>
          </a:stretch>
        </p:blipFill>
        <p:spPr>
          <a:xfrm>
            <a:off x="959341" y="3416020"/>
            <a:ext cx="3914085" cy="1704648"/>
          </a:xfrm>
          <a:prstGeom prst="rect">
            <a:avLst/>
          </a:prstGeom>
        </p:spPr>
      </p:pic>
      <p:pic>
        <p:nvPicPr>
          <p:cNvPr id="5" name="object 5"/>
          <p:cNvPicPr/>
          <p:nvPr/>
        </p:nvPicPr>
        <p:blipFill>
          <a:blip r:embed="rId3" cstate="print"/>
          <a:stretch>
            <a:fillRect/>
          </a:stretch>
        </p:blipFill>
        <p:spPr>
          <a:xfrm>
            <a:off x="5822694" y="2516612"/>
            <a:ext cx="5359925" cy="4027955"/>
          </a:xfrm>
          <a:prstGeom prst="rect">
            <a:avLst/>
          </a:prstGeom>
        </p:spPr>
      </p:pic>
      <p:sp>
        <p:nvSpPr>
          <p:cNvPr id="6" name="Slide Number Placeholder 5"/>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10</a:t>
            </a:fld>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6699" y="424942"/>
            <a:ext cx="10938510" cy="1604010"/>
          </a:xfrm>
          <a:prstGeom prst="rect">
            <a:avLst/>
          </a:prstGeom>
        </p:spPr>
        <p:txBody>
          <a:bodyPr vert="horz" wrap="square" lIns="0" tIns="60960" rIns="0" bIns="0" rtlCol="0">
            <a:spAutoFit/>
          </a:bodyPr>
          <a:lstStyle/>
          <a:p>
            <a:pPr marL="240665" marR="5080" indent="-228600">
              <a:lnSpc>
                <a:spcPts val="3020"/>
              </a:lnSpc>
              <a:spcBef>
                <a:spcPts val="480"/>
              </a:spcBef>
              <a:buFont typeface="Arial MT"/>
              <a:buChar char="•"/>
              <a:tabLst>
                <a:tab pos="241300" algn="l"/>
              </a:tabLst>
            </a:pPr>
            <a:r>
              <a:rPr sz="2800" spc="-10" dirty="0">
                <a:latin typeface="Calibri"/>
                <a:cs typeface="Calibri"/>
              </a:rPr>
              <a:t>Right</a:t>
            </a:r>
            <a:r>
              <a:rPr sz="2800" spc="15" dirty="0">
                <a:latin typeface="Calibri"/>
                <a:cs typeface="Calibri"/>
              </a:rPr>
              <a:t> </a:t>
            </a:r>
            <a:r>
              <a:rPr sz="2800" spc="-10" dirty="0">
                <a:latin typeface="Calibri"/>
                <a:cs typeface="Calibri"/>
              </a:rPr>
              <a:t>hand</a:t>
            </a:r>
            <a:r>
              <a:rPr sz="2800" spc="20" dirty="0">
                <a:latin typeface="Calibri"/>
                <a:cs typeface="Calibri"/>
              </a:rPr>
              <a:t> </a:t>
            </a:r>
            <a:r>
              <a:rPr sz="2800" spc="-10" dirty="0">
                <a:latin typeface="Calibri"/>
                <a:cs typeface="Calibri"/>
              </a:rPr>
              <a:t>side</a:t>
            </a:r>
            <a:r>
              <a:rPr sz="2800" spc="25" dirty="0">
                <a:latin typeface="Calibri"/>
                <a:cs typeface="Calibri"/>
              </a:rPr>
              <a:t> </a:t>
            </a:r>
            <a:r>
              <a:rPr sz="2800" spc="-5" dirty="0">
                <a:latin typeface="Calibri"/>
                <a:cs typeface="Calibri"/>
              </a:rPr>
              <a:t>of</a:t>
            </a:r>
            <a:r>
              <a:rPr sz="2800" dirty="0">
                <a:latin typeface="Calibri"/>
                <a:cs typeface="Calibri"/>
              </a:rPr>
              <a:t> </a:t>
            </a:r>
            <a:r>
              <a:rPr sz="2800" spc="-5" dirty="0">
                <a:latin typeface="Calibri"/>
                <a:cs typeface="Calibri"/>
              </a:rPr>
              <a:t>each</a:t>
            </a:r>
            <a:r>
              <a:rPr sz="2800" dirty="0">
                <a:latin typeface="Calibri"/>
                <a:cs typeface="Calibri"/>
              </a:rPr>
              <a:t> </a:t>
            </a:r>
            <a:r>
              <a:rPr sz="2800" spc="-10" dirty="0">
                <a:latin typeface="Calibri"/>
                <a:cs typeface="Calibri"/>
              </a:rPr>
              <a:t>node</a:t>
            </a:r>
            <a:r>
              <a:rPr sz="2800" spc="30" dirty="0">
                <a:latin typeface="Calibri"/>
                <a:cs typeface="Calibri"/>
              </a:rPr>
              <a:t> </a:t>
            </a:r>
            <a:r>
              <a:rPr sz="2800" spc="-5" dirty="0">
                <a:latin typeface="Calibri"/>
                <a:cs typeface="Calibri"/>
              </a:rPr>
              <a:t>of</a:t>
            </a:r>
            <a:r>
              <a:rPr sz="2800" dirty="0">
                <a:latin typeface="Calibri"/>
                <a:cs typeface="Calibri"/>
              </a:rPr>
              <a:t> </a:t>
            </a:r>
            <a:r>
              <a:rPr sz="2800" spc="-15" dirty="0">
                <a:latin typeface="Calibri"/>
                <a:cs typeface="Calibri"/>
              </a:rPr>
              <a:t>Figure</a:t>
            </a:r>
            <a:r>
              <a:rPr sz="2800" spc="5" dirty="0">
                <a:latin typeface="Calibri"/>
                <a:cs typeface="Calibri"/>
              </a:rPr>
              <a:t> </a:t>
            </a:r>
            <a:r>
              <a:rPr sz="2800" spc="-5" dirty="0">
                <a:latin typeface="Calibri"/>
                <a:cs typeface="Calibri"/>
              </a:rPr>
              <a:t>5.2</a:t>
            </a:r>
            <a:r>
              <a:rPr sz="2800" spc="35" dirty="0">
                <a:latin typeface="Calibri"/>
                <a:cs typeface="Calibri"/>
              </a:rPr>
              <a:t> </a:t>
            </a:r>
            <a:r>
              <a:rPr sz="2800" spc="-5" dirty="0">
                <a:latin typeface="Calibri"/>
                <a:cs typeface="Calibri"/>
              </a:rPr>
              <a:t>(a)</a:t>
            </a:r>
            <a:r>
              <a:rPr sz="2800" spc="5" dirty="0">
                <a:latin typeface="Calibri"/>
                <a:cs typeface="Calibri"/>
              </a:rPr>
              <a:t> </a:t>
            </a:r>
            <a:r>
              <a:rPr sz="2800" spc="-10" dirty="0">
                <a:latin typeface="Calibri"/>
                <a:cs typeface="Calibri"/>
              </a:rPr>
              <a:t>has</a:t>
            </a:r>
            <a:r>
              <a:rPr sz="2800" spc="15" dirty="0">
                <a:latin typeface="Calibri"/>
                <a:cs typeface="Calibri"/>
              </a:rPr>
              <a:t> </a:t>
            </a:r>
            <a:r>
              <a:rPr sz="2800" spc="-10" dirty="0">
                <a:latin typeface="Calibri"/>
                <a:cs typeface="Calibri"/>
              </a:rPr>
              <a:t>two</a:t>
            </a:r>
            <a:r>
              <a:rPr sz="2800" spc="5" dirty="0">
                <a:latin typeface="Calibri"/>
                <a:cs typeface="Calibri"/>
              </a:rPr>
              <a:t> </a:t>
            </a:r>
            <a:r>
              <a:rPr sz="2800" spc="-10" dirty="0">
                <a:latin typeface="Calibri"/>
                <a:cs typeface="Calibri"/>
              </a:rPr>
              <a:t>equal</a:t>
            </a:r>
            <a:r>
              <a:rPr sz="2800" spc="20" dirty="0">
                <a:latin typeface="Calibri"/>
                <a:cs typeface="Calibri"/>
              </a:rPr>
              <a:t> </a:t>
            </a:r>
            <a:r>
              <a:rPr sz="2800" spc="-25" dirty="0">
                <a:latin typeface="Calibri"/>
                <a:cs typeface="Calibri"/>
              </a:rPr>
              <a:t>resistors</a:t>
            </a:r>
            <a:r>
              <a:rPr sz="2800" spc="30" dirty="0">
                <a:latin typeface="Calibri"/>
                <a:cs typeface="Calibri"/>
              </a:rPr>
              <a:t> </a:t>
            </a:r>
            <a:r>
              <a:rPr sz="2800" spc="-5" dirty="0">
                <a:latin typeface="Calibri"/>
                <a:cs typeface="Calibri"/>
              </a:rPr>
              <a:t>each </a:t>
            </a:r>
            <a:r>
              <a:rPr sz="2800" spc="-620" dirty="0">
                <a:latin typeface="Calibri"/>
                <a:cs typeface="Calibri"/>
              </a:rPr>
              <a:t> </a:t>
            </a:r>
            <a:r>
              <a:rPr sz="2800" spc="-15" dirty="0">
                <a:latin typeface="Calibri"/>
                <a:cs typeface="Calibri"/>
              </a:rPr>
              <a:t>having</a:t>
            </a:r>
            <a:r>
              <a:rPr sz="2800" spc="5" dirty="0">
                <a:latin typeface="Calibri"/>
                <a:cs typeface="Calibri"/>
              </a:rPr>
              <a:t> </a:t>
            </a:r>
            <a:r>
              <a:rPr sz="2800" spc="-15" dirty="0">
                <a:latin typeface="Calibri"/>
                <a:cs typeface="Calibri"/>
              </a:rPr>
              <a:t>resistance</a:t>
            </a:r>
            <a:r>
              <a:rPr sz="2800" spc="30" dirty="0">
                <a:latin typeface="Calibri"/>
                <a:cs typeface="Calibri"/>
              </a:rPr>
              <a:t> </a:t>
            </a:r>
            <a:r>
              <a:rPr sz="2800" spc="-5" dirty="0">
                <a:latin typeface="Calibri"/>
                <a:cs typeface="Calibri"/>
              </a:rPr>
              <a:t>2R</a:t>
            </a:r>
            <a:r>
              <a:rPr sz="2800" spc="20" dirty="0">
                <a:latin typeface="Calibri"/>
                <a:cs typeface="Calibri"/>
              </a:rPr>
              <a:t> </a:t>
            </a:r>
            <a:r>
              <a:rPr sz="2800" spc="-15" dirty="0">
                <a:latin typeface="Calibri"/>
                <a:cs typeface="Calibri"/>
              </a:rPr>
              <a:t>connected</a:t>
            </a:r>
            <a:r>
              <a:rPr sz="2800" spc="20" dirty="0">
                <a:latin typeface="Calibri"/>
                <a:cs typeface="Calibri"/>
              </a:rPr>
              <a:t> </a:t>
            </a:r>
            <a:r>
              <a:rPr sz="2800" spc="-5" dirty="0">
                <a:latin typeface="Calibri"/>
                <a:cs typeface="Calibri"/>
              </a:rPr>
              <a:t>in</a:t>
            </a:r>
            <a:r>
              <a:rPr sz="2800" spc="5" dirty="0">
                <a:latin typeface="Calibri"/>
                <a:cs typeface="Calibri"/>
              </a:rPr>
              <a:t> </a:t>
            </a:r>
            <a:r>
              <a:rPr sz="2800" spc="-15" dirty="0">
                <a:latin typeface="Calibri"/>
                <a:cs typeface="Calibri"/>
              </a:rPr>
              <a:t>parallel.</a:t>
            </a:r>
            <a:r>
              <a:rPr sz="2800" spc="5" dirty="0">
                <a:latin typeface="Calibri"/>
                <a:cs typeface="Calibri"/>
              </a:rPr>
              <a:t> </a:t>
            </a:r>
            <a:r>
              <a:rPr sz="2800" spc="-20" dirty="0">
                <a:latin typeface="Calibri"/>
                <a:cs typeface="Calibri"/>
              </a:rPr>
              <a:t>So,</a:t>
            </a:r>
            <a:r>
              <a:rPr sz="2800" spc="5" dirty="0">
                <a:latin typeface="Calibri"/>
                <a:cs typeface="Calibri"/>
              </a:rPr>
              <a:t> </a:t>
            </a:r>
            <a:r>
              <a:rPr sz="2800" spc="-5" dirty="0">
                <a:latin typeface="Calibri"/>
                <a:cs typeface="Calibri"/>
              </a:rPr>
              <a:t>the</a:t>
            </a:r>
            <a:r>
              <a:rPr sz="2800" spc="10" dirty="0">
                <a:latin typeface="Calibri"/>
                <a:cs typeface="Calibri"/>
              </a:rPr>
              <a:t> </a:t>
            </a:r>
            <a:r>
              <a:rPr sz="2800" spc="-15" dirty="0">
                <a:latin typeface="Calibri"/>
                <a:cs typeface="Calibri"/>
              </a:rPr>
              <a:t>current</a:t>
            </a:r>
            <a:r>
              <a:rPr sz="2800" spc="20" dirty="0">
                <a:latin typeface="Calibri"/>
                <a:cs typeface="Calibri"/>
              </a:rPr>
              <a:t> </a:t>
            </a:r>
            <a:r>
              <a:rPr sz="2800" spc="-10" dirty="0">
                <a:latin typeface="Calibri"/>
                <a:cs typeface="Calibri"/>
              </a:rPr>
              <a:t>reaching</a:t>
            </a:r>
            <a:r>
              <a:rPr sz="2800" spc="10" dirty="0">
                <a:latin typeface="Calibri"/>
                <a:cs typeface="Calibri"/>
              </a:rPr>
              <a:t> </a:t>
            </a:r>
            <a:r>
              <a:rPr sz="2800" spc="-20" dirty="0">
                <a:latin typeface="Calibri"/>
                <a:cs typeface="Calibri"/>
              </a:rPr>
              <a:t>to</a:t>
            </a:r>
            <a:r>
              <a:rPr sz="2800" dirty="0">
                <a:latin typeface="Calibri"/>
                <a:cs typeface="Calibri"/>
              </a:rPr>
              <a:t> </a:t>
            </a:r>
            <a:r>
              <a:rPr sz="2800" spc="-20" dirty="0">
                <a:latin typeface="Calibri"/>
                <a:cs typeface="Calibri"/>
              </a:rPr>
              <a:t>any </a:t>
            </a:r>
            <a:r>
              <a:rPr sz="2800" spc="-15" dirty="0">
                <a:latin typeface="Calibri"/>
                <a:cs typeface="Calibri"/>
              </a:rPr>
              <a:t> </a:t>
            </a:r>
            <a:r>
              <a:rPr sz="2800" spc="-10" dirty="0">
                <a:latin typeface="Calibri"/>
                <a:cs typeface="Calibri"/>
              </a:rPr>
              <a:t>node</a:t>
            </a:r>
            <a:r>
              <a:rPr sz="2800" spc="5" dirty="0">
                <a:latin typeface="Calibri"/>
                <a:cs typeface="Calibri"/>
              </a:rPr>
              <a:t> </a:t>
            </a:r>
            <a:r>
              <a:rPr sz="2800" spc="-5" dirty="0">
                <a:latin typeface="Calibri"/>
                <a:cs typeface="Calibri"/>
              </a:rPr>
              <a:t>will</a:t>
            </a:r>
            <a:r>
              <a:rPr sz="2800" spc="5" dirty="0">
                <a:latin typeface="Calibri"/>
                <a:cs typeface="Calibri"/>
              </a:rPr>
              <a:t> </a:t>
            </a:r>
            <a:r>
              <a:rPr sz="2800" spc="-5" dirty="0">
                <a:latin typeface="Calibri"/>
                <a:cs typeface="Calibri"/>
              </a:rPr>
              <a:t>be </a:t>
            </a:r>
            <a:r>
              <a:rPr sz="2800" spc="-10" dirty="0">
                <a:latin typeface="Calibri"/>
                <a:cs typeface="Calibri"/>
              </a:rPr>
              <a:t>divided</a:t>
            </a:r>
            <a:r>
              <a:rPr sz="2800" spc="20" dirty="0">
                <a:latin typeface="Calibri"/>
                <a:cs typeface="Calibri"/>
              </a:rPr>
              <a:t> </a:t>
            </a:r>
            <a:r>
              <a:rPr sz="2800" spc="-20" dirty="0">
                <a:latin typeface="Calibri"/>
                <a:cs typeface="Calibri"/>
              </a:rPr>
              <a:t>into</a:t>
            </a:r>
            <a:r>
              <a:rPr sz="2800" spc="15" dirty="0">
                <a:latin typeface="Calibri"/>
                <a:cs typeface="Calibri"/>
              </a:rPr>
              <a:t> </a:t>
            </a:r>
            <a:r>
              <a:rPr sz="2800" spc="-10" dirty="0">
                <a:latin typeface="Calibri"/>
                <a:cs typeface="Calibri"/>
              </a:rPr>
              <a:t>two</a:t>
            </a:r>
            <a:r>
              <a:rPr sz="2800" spc="-5" dirty="0">
                <a:latin typeface="Calibri"/>
                <a:cs typeface="Calibri"/>
              </a:rPr>
              <a:t> equal</a:t>
            </a:r>
            <a:r>
              <a:rPr sz="2800" spc="5" dirty="0">
                <a:latin typeface="Calibri"/>
                <a:cs typeface="Calibri"/>
              </a:rPr>
              <a:t> </a:t>
            </a:r>
            <a:r>
              <a:rPr sz="2800" spc="-10" dirty="0">
                <a:latin typeface="Calibri"/>
                <a:cs typeface="Calibri"/>
              </a:rPr>
              <a:t>parts.</a:t>
            </a:r>
            <a:r>
              <a:rPr sz="2800" spc="20" dirty="0">
                <a:latin typeface="Calibri"/>
                <a:cs typeface="Calibri"/>
              </a:rPr>
              <a:t> </a:t>
            </a:r>
            <a:r>
              <a:rPr sz="2800" spc="-10" dirty="0">
                <a:latin typeface="Calibri"/>
                <a:cs typeface="Calibri"/>
              </a:rPr>
              <a:t>The</a:t>
            </a:r>
            <a:r>
              <a:rPr sz="2800" spc="-5" dirty="0">
                <a:latin typeface="Calibri"/>
                <a:cs typeface="Calibri"/>
              </a:rPr>
              <a:t> </a:t>
            </a:r>
            <a:r>
              <a:rPr sz="2800" spc="-15" dirty="0">
                <a:latin typeface="Calibri"/>
                <a:cs typeface="Calibri"/>
              </a:rPr>
              <a:t>current</a:t>
            </a:r>
            <a:r>
              <a:rPr sz="2800" spc="25" dirty="0">
                <a:latin typeface="Calibri"/>
                <a:cs typeface="Calibri"/>
              </a:rPr>
              <a:t> </a:t>
            </a:r>
            <a:r>
              <a:rPr sz="2800" spc="-5" dirty="0">
                <a:latin typeface="Calibri"/>
                <a:cs typeface="Calibri"/>
              </a:rPr>
              <a:t>will</a:t>
            </a:r>
            <a:r>
              <a:rPr sz="2800" dirty="0">
                <a:latin typeface="Calibri"/>
                <a:cs typeface="Calibri"/>
              </a:rPr>
              <a:t> </a:t>
            </a:r>
            <a:r>
              <a:rPr sz="2800" spc="-5" dirty="0">
                <a:latin typeface="Calibri"/>
                <a:cs typeface="Calibri"/>
              </a:rPr>
              <a:t>be</a:t>
            </a:r>
            <a:r>
              <a:rPr sz="2800" dirty="0">
                <a:latin typeface="Calibri"/>
                <a:cs typeface="Calibri"/>
              </a:rPr>
              <a:t> </a:t>
            </a:r>
            <a:r>
              <a:rPr sz="2800" spc="-10" dirty="0">
                <a:latin typeface="Calibri"/>
                <a:cs typeface="Calibri"/>
              </a:rPr>
              <a:t>divided </a:t>
            </a:r>
            <a:r>
              <a:rPr sz="2800" spc="-5" dirty="0">
                <a:latin typeface="Calibri"/>
                <a:cs typeface="Calibri"/>
              </a:rPr>
              <a:t> </a:t>
            </a:r>
            <a:r>
              <a:rPr sz="2800" spc="-15" dirty="0">
                <a:latin typeface="Calibri"/>
                <a:cs typeface="Calibri"/>
              </a:rPr>
              <a:t>according</a:t>
            </a:r>
            <a:r>
              <a:rPr sz="2800" dirty="0">
                <a:latin typeface="Calibri"/>
                <a:cs typeface="Calibri"/>
              </a:rPr>
              <a:t> </a:t>
            </a:r>
            <a:r>
              <a:rPr sz="2800" spc="-20" dirty="0">
                <a:latin typeface="Calibri"/>
                <a:cs typeface="Calibri"/>
              </a:rPr>
              <a:t>to</a:t>
            </a:r>
            <a:r>
              <a:rPr sz="2800" spc="-5" dirty="0">
                <a:latin typeface="Calibri"/>
                <a:cs typeface="Calibri"/>
              </a:rPr>
              <a:t> the</a:t>
            </a:r>
            <a:r>
              <a:rPr sz="2800" spc="10" dirty="0">
                <a:latin typeface="Calibri"/>
                <a:cs typeface="Calibri"/>
              </a:rPr>
              <a:t> </a:t>
            </a:r>
            <a:r>
              <a:rPr sz="2800" spc="-15" dirty="0">
                <a:latin typeface="Calibri"/>
                <a:cs typeface="Calibri"/>
              </a:rPr>
              <a:t>expression</a:t>
            </a:r>
            <a:endParaRPr sz="2800">
              <a:latin typeface="Calibri"/>
              <a:cs typeface="Calibri"/>
            </a:endParaRPr>
          </a:p>
        </p:txBody>
      </p:sp>
      <p:sp>
        <p:nvSpPr>
          <p:cNvPr id="3" name="object 3"/>
          <p:cNvSpPr txBox="1"/>
          <p:nvPr/>
        </p:nvSpPr>
        <p:spPr>
          <a:xfrm>
            <a:off x="666699" y="3110611"/>
            <a:ext cx="10901045" cy="1220470"/>
          </a:xfrm>
          <a:prstGeom prst="rect">
            <a:avLst/>
          </a:prstGeom>
        </p:spPr>
        <p:txBody>
          <a:bodyPr vert="horz" wrap="square" lIns="0" tIns="60960" rIns="0" bIns="0" rtlCol="0">
            <a:spAutoFit/>
          </a:bodyPr>
          <a:lstStyle/>
          <a:p>
            <a:pPr marL="240665" marR="5080" indent="-228600">
              <a:lnSpc>
                <a:spcPts val="3020"/>
              </a:lnSpc>
              <a:spcBef>
                <a:spcPts val="480"/>
              </a:spcBef>
              <a:buFont typeface="Arial MT"/>
              <a:buChar char="•"/>
              <a:tabLst>
                <a:tab pos="241300" algn="l"/>
              </a:tabLst>
            </a:pPr>
            <a:r>
              <a:rPr sz="2800" spc="-10" dirty="0">
                <a:latin typeface="Calibri"/>
                <a:cs typeface="Calibri"/>
              </a:rPr>
              <a:t>Thus,</a:t>
            </a:r>
            <a:r>
              <a:rPr sz="2800" spc="15" dirty="0">
                <a:latin typeface="Calibri"/>
                <a:cs typeface="Calibri"/>
              </a:rPr>
              <a:t> </a:t>
            </a:r>
            <a:r>
              <a:rPr sz="2800" spc="-5" dirty="0">
                <a:latin typeface="Calibri"/>
                <a:cs typeface="Calibri"/>
              </a:rPr>
              <a:t>the</a:t>
            </a:r>
            <a:r>
              <a:rPr sz="2800" spc="10" dirty="0">
                <a:latin typeface="Calibri"/>
                <a:cs typeface="Calibri"/>
              </a:rPr>
              <a:t> </a:t>
            </a:r>
            <a:r>
              <a:rPr sz="2800" spc="-20" dirty="0">
                <a:latin typeface="Calibri"/>
                <a:cs typeface="Calibri"/>
              </a:rPr>
              <a:t>resistive</a:t>
            </a:r>
            <a:r>
              <a:rPr sz="2800" spc="25" dirty="0">
                <a:latin typeface="Calibri"/>
                <a:cs typeface="Calibri"/>
              </a:rPr>
              <a:t> </a:t>
            </a:r>
            <a:r>
              <a:rPr sz="2800" spc="-5" dirty="0">
                <a:latin typeface="Calibri"/>
                <a:cs typeface="Calibri"/>
              </a:rPr>
              <a:t>ladder</a:t>
            </a:r>
            <a:r>
              <a:rPr sz="2800" spc="10" dirty="0">
                <a:latin typeface="Calibri"/>
                <a:cs typeface="Calibri"/>
              </a:rPr>
              <a:t> </a:t>
            </a:r>
            <a:r>
              <a:rPr sz="2800" spc="-10" dirty="0">
                <a:latin typeface="Calibri"/>
                <a:cs typeface="Calibri"/>
              </a:rPr>
              <a:t>network</a:t>
            </a:r>
            <a:r>
              <a:rPr sz="2800" spc="5" dirty="0">
                <a:latin typeface="Calibri"/>
                <a:cs typeface="Calibri"/>
              </a:rPr>
              <a:t> </a:t>
            </a:r>
            <a:r>
              <a:rPr sz="2800" spc="-5" dirty="0">
                <a:latin typeface="Calibri"/>
                <a:cs typeface="Calibri"/>
              </a:rPr>
              <a:t>of</a:t>
            </a:r>
            <a:r>
              <a:rPr sz="2800" dirty="0">
                <a:latin typeface="Calibri"/>
                <a:cs typeface="Calibri"/>
              </a:rPr>
              <a:t> </a:t>
            </a:r>
            <a:r>
              <a:rPr sz="2800" spc="-15" dirty="0">
                <a:latin typeface="Calibri"/>
                <a:cs typeface="Calibri"/>
              </a:rPr>
              <a:t>Figure</a:t>
            </a:r>
            <a:r>
              <a:rPr sz="2800" spc="5" dirty="0">
                <a:latin typeface="Calibri"/>
                <a:cs typeface="Calibri"/>
              </a:rPr>
              <a:t> </a:t>
            </a:r>
            <a:r>
              <a:rPr sz="2800" spc="-5" dirty="0">
                <a:latin typeface="Calibri"/>
                <a:cs typeface="Calibri"/>
              </a:rPr>
              <a:t>5.2</a:t>
            </a:r>
            <a:r>
              <a:rPr sz="2800" spc="25" dirty="0">
                <a:latin typeface="Calibri"/>
                <a:cs typeface="Calibri"/>
              </a:rPr>
              <a:t> </a:t>
            </a:r>
            <a:r>
              <a:rPr sz="2800" spc="-5" dirty="0">
                <a:latin typeface="Calibri"/>
                <a:cs typeface="Calibri"/>
              </a:rPr>
              <a:t>(a)</a:t>
            </a:r>
            <a:r>
              <a:rPr sz="2800" dirty="0">
                <a:latin typeface="Calibri"/>
                <a:cs typeface="Calibri"/>
              </a:rPr>
              <a:t> </a:t>
            </a:r>
            <a:r>
              <a:rPr sz="2800" spc="-20" dirty="0">
                <a:latin typeface="Calibri"/>
                <a:cs typeface="Calibri"/>
              </a:rPr>
              <a:t>generates</a:t>
            </a:r>
            <a:r>
              <a:rPr sz="2800" dirty="0">
                <a:latin typeface="Calibri"/>
                <a:cs typeface="Calibri"/>
              </a:rPr>
              <a:t> </a:t>
            </a:r>
            <a:r>
              <a:rPr sz="2800" spc="-5" dirty="0">
                <a:latin typeface="Calibri"/>
                <a:cs typeface="Calibri"/>
              </a:rPr>
              <a:t>a</a:t>
            </a:r>
            <a:r>
              <a:rPr sz="2800" dirty="0">
                <a:latin typeface="Calibri"/>
                <a:cs typeface="Calibri"/>
              </a:rPr>
              <a:t> </a:t>
            </a:r>
            <a:r>
              <a:rPr sz="2800" spc="-10" dirty="0">
                <a:latin typeface="Calibri"/>
                <a:cs typeface="Calibri"/>
              </a:rPr>
              <a:t>binary </a:t>
            </a:r>
            <a:r>
              <a:rPr sz="2800" spc="-5" dirty="0">
                <a:latin typeface="Calibri"/>
                <a:cs typeface="Calibri"/>
              </a:rPr>
              <a:t> </a:t>
            </a:r>
            <a:r>
              <a:rPr sz="2800" spc="-10" dirty="0">
                <a:latin typeface="Calibri"/>
                <a:cs typeface="Calibri"/>
              </a:rPr>
              <a:t>sequence</a:t>
            </a:r>
            <a:r>
              <a:rPr sz="2800" spc="30" dirty="0">
                <a:latin typeface="Calibri"/>
                <a:cs typeface="Calibri"/>
              </a:rPr>
              <a:t> </a:t>
            </a:r>
            <a:r>
              <a:rPr sz="2800" spc="-5" dirty="0">
                <a:latin typeface="Calibri"/>
                <a:cs typeface="Calibri"/>
              </a:rPr>
              <a:t>of</a:t>
            </a:r>
            <a:r>
              <a:rPr sz="2800" dirty="0">
                <a:latin typeface="Calibri"/>
                <a:cs typeface="Calibri"/>
              </a:rPr>
              <a:t> </a:t>
            </a:r>
            <a:r>
              <a:rPr sz="2800" spc="-5" dirty="0">
                <a:latin typeface="Calibri"/>
                <a:cs typeface="Calibri"/>
              </a:rPr>
              <a:t>the</a:t>
            </a:r>
            <a:r>
              <a:rPr sz="2800" spc="20" dirty="0">
                <a:latin typeface="Calibri"/>
                <a:cs typeface="Calibri"/>
              </a:rPr>
              <a:t> </a:t>
            </a:r>
            <a:r>
              <a:rPr sz="2800" spc="-15" dirty="0">
                <a:latin typeface="Calibri"/>
                <a:cs typeface="Calibri"/>
              </a:rPr>
              <a:t>current.</a:t>
            </a:r>
            <a:r>
              <a:rPr sz="2800" spc="30" dirty="0">
                <a:latin typeface="Calibri"/>
                <a:cs typeface="Calibri"/>
              </a:rPr>
              <a:t> </a:t>
            </a:r>
            <a:r>
              <a:rPr sz="2800" spc="-5" dirty="0">
                <a:latin typeface="Calibri"/>
                <a:cs typeface="Calibri"/>
              </a:rPr>
              <a:t>If</a:t>
            </a:r>
            <a:r>
              <a:rPr sz="2800" spc="5" dirty="0">
                <a:latin typeface="Calibri"/>
                <a:cs typeface="Calibri"/>
              </a:rPr>
              <a:t> </a:t>
            </a:r>
            <a:r>
              <a:rPr sz="2800" dirty="0">
                <a:latin typeface="Calibri"/>
                <a:cs typeface="Calibri"/>
              </a:rPr>
              <a:t>all</a:t>
            </a:r>
            <a:r>
              <a:rPr sz="2800" spc="-10" dirty="0">
                <a:latin typeface="Calibri"/>
                <a:cs typeface="Calibri"/>
              </a:rPr>
              <a:t> the</a:t>
            </a:r>
            <a:r>
              <a:rPr sz="2800" spc="10" dirty="0">
                <a:latin typeface="Calibri"/>
                <a:cs typeface="Calibri"/>
              </a:rPr>
              <a:t> </a:t>
            </a:r>
            <a:r>
              <a:rPr sz="2800" spc="-10" dirty="0">
                <a:latin typeface="Calibri"/>
                <a:cs typeface="Calibri"/>
              </a:rPr>
              <a:t>bits</a:t>
            </a:r>
            <a:r>
              <a:rPr sz="2800" spc="30" dirty="0">
                <a:latin typeface="Calibri"/>
                <a:cs typeface="Calibri"/>
              </a:rPr>
              <a:t> </a:t>
            </a:r>
            <a:r>
              <a:rPr sz="2800" spc="-5" dirty="0">
                <a:latin typeface="Calibri"/>
                <a:cs typeface="Calibri"/>
              </a:rPr>
              <a:t>of</a:t>
            </a:r>
            <a:r>
              <a:rPr sz="2800" dirty="0">
                <a:latin typeface="Calibri"/>
                <a:cs typeface="Calibri"/>
              </a:rPr>
              <a:t> </a:t>
            </a:r>
            <a:r>
              <a:rPr sz="2800" spc="-15" dirty="0">
                <a:latin typeface="Calibri"/>
                <a:cs typeface="Calibri"/>
              </a:rPr>
              <a:t>digital</a:t>
            </a:r>
            <a:r>
              <a:rPr sz="2800" spc="20" dirty="0">
                <a:latin typeface="Calibri"/>
                <a:cs typeface="Calibri"/>
              </a:rPr>
              <a:t> </a:t>
            </a:r>
            <a:r>
              <a:rPr sz="2800" spc="-10" dirty="0">
                <a:latin typeface="Calibri"/>
                <a:cs typeface="Calibri"/>
              </a:rPr>
              <a:t>inputs</a:t>
            </a:r>
            <a:r>
              <a:rPr sz="2800" spc="35" dirty="0">
                <a:latin typeface="Calibri"/>
                <a:cs typeface="Calibri"/>
              </a:rPr>
              <a:t> </a:t>
            </a:r>
            <a:r>
              <a:rPr sz="2800" spc="-5" dirty="0">
                <a:latin typeface="Calibri"/>
                <a:cs typeface="Calibri"/>
              </a:rPr>
              <a:t>of</a:t>
            </a:r>
            <a:r>
              <a:rPr sz="2800" spc="5" dirty="0">
                <a:latin typeface="Calibri"/>
                <a:cs typeface="Calibri"/>
              </a:rPr>
              <a:t> </a:t>
            </a:r>
            <a:r>
              <a:rPr sz="2800" spc="-15" dirty="0">
                <a:latin typeface="Calibri"/>
                <a:cs typeface="Calibri"/>
              </a:rPr>
              <a:t>Figure</a:t>
            </a:r>
            <a:r>
              <a:rPr sz="2800" spc="20" dirty="0">
                <a:latin typeface="Calibri"/>
                <a:cs typeface="Calibri"/>
              </a:rPr>
              <a:t> </a:t>
            </a:r>
            <a:r>
              <a:rPr sz="2800" spc="-5" dirty="0">
                <a:latin typeface="Calibri"/>
                <a:cs typeface="Calibri"/>
              </a:rPr>
              <a:t>5.2</a:t>
            </a:r>
            <a:r>
              <a:rPr sz="2800" spc="30" dirty="0">
                <a:latin typeface="Calibri"/>
                <a:cs typeface="Calibri"/>
              </a:rPr>
              <a:t> </a:t>
            </a:r>
            <a:r>
              <a:rPr sz="2800" spc="-5" dirty="0">
                <a:latin typeface="Calibri"/>
                <a:cs typeface="Calibri"/>
              </a:rPr>
              <a:t>(b)</a:t>
            </a:r>
            <a:r>
              <a:rPr sz="2800" spc="25" dirty="0">
                <a:latin typeface="Calibri"/>
                <a:cs typeface="Calibri"/>
              </a:rPr>
              <a:t> </a:t>
            </a:r>
            <a:r>
              <a:rPr sz="2800" spc="-20" dirty="0">
                <a:latin typeface="Calibri"/>
                <a:cs typeface="Calibri"/>
              </a:rPr>
              <a:t>are </a:t>
            </a:r>
            <a:r>
              <a:rPr sz="2800" spc="-620" dirty="0">
                <a:latin typeface="Calibri"/>
                <a:cs typeface="Calibri"/>
              </a:rPr>
              <a:t> </a:t>
            </a:r>
            <a:r>
              <a:rPr sz="2800" spc="-10" dirty="0">
                <a:latin typeface="Calibri"/>
                <a:cs typeface="Calibri"/>
              </a:rPr>
              <a:t>high</a:t>
            </a:r>
            <a:r>
              <a:rPr sz="2800" spc="10" dirty="0">
                <a:latin typeface="Calibri"/>
                <a:cs typeface="Calibri"/>
              </a:rPr>
              <a:t> </a:t>
            </a:r>
            <a:r>
              <a:rPr sz="2800" spc="-5" dirty="0">
                <a:latin typeface="Calibri"/>
                <a:cs typeface="Calibri"/>
              </a:rPr>
              <a:t>i.e.,</a:t>
            </a:r>
            <a:r>
              <a:rPr sz="2800" spc="15" dirty="0">
                <a:latin typeface="Calibri"/>
                <a:cs typeface="Calibri"/>
              </a:rPr>
              <a:t> </a:t>
            </a:r>
            <a:r>
              <a:rPr sz="2800" spc="-10" dirty="0">
                <a:latin typeface="Calibri"/>
                <a:cs typeface="Calibri"/>
              </a:rPr>
              <a:t>input</a:t>
            </a:r>
            <a:r>
              <a:rPr sz="2800" spc="35" dirty="0">
                <a:latin typeface="Calibri"/>
                <a:cs typeface="Calibri"/>
              </a:rPr>
              <a:t> </a:t>
            </a:r>
            <a:r>
              <a:rPr sz="2800" spc="-5" dirty="0">
                <a:latin typeface="Calibri"/>
                <a:cs typeface="Calibri"/>
              </a:rPr>
              <a:t>equals</a:t>
            </a:r>
            <a:r>
              <a:rPr sz="2800" spc="10" dirty="0">
                <a:latin typeface="Calibri"/>
                <a:cs typeface="Calibri"/>
              </a:rPr>
              <a:t> </a:t>
            </a:r>
            <a:r>
              <a:rPr sz="2800" spc="-5" dirty="0">
                <a:latin typeface="Calibri"/>
                <a:cs typeface="Calibri"/>
              </a:rPr>
              <a:t>1111,</a:t>
            </a:r>
            <a:r>
              <a:rPr sz="2800" spc="40" dirty="0">
                <a:latin typeface="Calibri"/>
                <a:cs typeface="Calibri"/>
              </a:rPr>
              <a:t> </a:t>
            </a:r>
            <a:r>
              <a:rPr sz="2800" spc="-5" dirty="0">
                <a:latin typeface="Calibri"/>
                <a:cs typeface="Calibri"/>
              </a:rPr>
              <a:t>then</a:t>
            </a:r>
            <a:r>
              <a:rPr sz="2800" spc="20" dirty="0">
                <a:latin typeface="Calibri"/>
                <a:cs typeface="Calibri"/>
              </a:rPr>
              <a:t> </a:t>
            </a:r>
            <a:r>
              <a:rPr sz="2800" spc="-5" dirty="0">
                <a:latin typeface="Calibri"/>
                <a:cs typeface="Calibri"/>
              </a:rPr>
              <a:t>the </a:t>
            </a:r>
            <a:r>
              <a:rPr sz="2800" spc="-20" dirty="0">
                <a:latin typeface="Calibri"/>
                <a:cs typeface="Calibri"/>
              </a:rPr>
              <a:t>resultant</a:t>
            </a:r>
            <a:r>
              <a:rPr sz="2800" spc="40" dirty="0">
                <a:latin typeface="Calibri"/>
                <a:cs typeface="Calibri"/>
              </a:rPr>
              <a:t> </a:t>
            </a:r>
            <a:r>
              <a:rPr sz="2800" spc="-15" dirty="0">
                <a:latin typeface="Calibri"/>
                <a:cs typeface="Calibri"/>
              </a:rPr>
              <a:t>current</a:t>
            </a:r>
            <a:r>
              <a:rPr sz="2800" spc="25" dirty="0">
                <a:latin typeface="Calibri"/>
                <a:cs typeface="Calibri"/>
              </a:rPr>
              <a:t> </a:t>
            </a:r>
            <a:r>
              <a:rPr sz="2800" spc="-5" dirty="0">
                <a:latin typeface="Calibri"/>
                <a:cs typeface="Calibri"/>
              </a:rPr>
              <a:t>is</a:t>
            </a:r>
            <a:r>
              <a:rPr sz="2800" dirty="0">
                <a:latin typeface="Calibri"/>
                <a:cs typeface="Calibri"/>
              </a:rPr>
              <a:t> </a:t>
            </a:r>
            <a:r>
              <a:rPr sz="2800" spc="-10" dirty="0">
                <a:latin typeface="Calibri"/>
                <a:cs typeface="Calibri"/>
              </a:rPr>
              <a:t>given</a:t>
            </a:r>
            <a:r>
              <a:rPr sz="2800" spc="10" dirty="0">
                <a:latin typeface="Calibri"/>
                <a:cs typeface="Calibri"/>
              </a:rPr>
              <a:t> </a:t>
            </a:r>
            <a:r>
              <a:rPr sz="2800" spc="-15" dirty="0">
                <a:latin typeface="Calibri"/>
                <a:cs typeface="Calibri"/>
              </a:rPr>
              <a:t>by</a:t>
            </a:r>
            <a:endParaRPr sz="2800">
              <a:latin typeface="Calibri"/>
              <a:cs typeface="Calibri"/>
            </a:endParaRPr>
          </a:p>
        </p:txBody>
      </p:sp>
      <p:pic>
        <p:nvPicPr>
          <p:cNvPr id="4" name="object 4"/>
          <p:cNvPicPr/>
          <p:nvPr/>
        </p:nvPicPr>
        <p:blipFill>
          <a:blip r:embed="rId2" cstate="print"/>
          <a:stretch>
            <a:fillRect/>
          </a:stretch>
        </p:blipFill>
        <p:spPr>
          <a:xfrm>
            <a:off x="1501294" y="2228088"/>
            <a:ext cx="3187496" cy="641320"/>
          </a:xfrm>
          <a:prstGeom prst="rect">
            <a:avLst/>
          </a:prstGeom>
        </p:spPr>
      </p:pic>
      <p:pic>
        <p:nvPicPr>
          <p:cNvPr id="5" name="object 5"/>
          <p:cNvPicPr/>
          <p:nvPr/>
        </p:nvPicPr>
        <p:blipFill>
          <a:blip r:embed="rId3" cstate="print"/>
          <a:stretch>
            <a:fillRect/>
          </a:stretch>
        </p:blipFill>
        <p:spPr>
          <a:xfrm>
            <a:off x="4120698" y="4563952"/>
            <a:ext cx="3584974" cy="2266736"/>
          </a:xfrm>
          <a:prstGeom prst="rect">
            <a:avLst/>
          </a:prstGeom>
        </p:spPr>
      </p:pic>
      <p:sp>
        <p:nvSpPr>
          <p:cNvPr id="6" name="Slide Number Placeholder 5"/>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11</a:t>
            </a:fld>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39634" y="701317"/>
            <a:ext cx="6453970" cy="2422744"/>
          </a:xfrm>
          <a:prstGeom prst="rect">
            <a:avLst/>
          </a:prstGeom>
        </p:spPr>
      </p:pic>
      <p:sp>
        <p:nvSpPr>
          <p:cNvPr id="3" name="Slide Number Placeholder 2"/>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12</a:t>
            </a:fld>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13</a:t>
            </a:fld>
            <a:endParaRPr lang="en-US" dirty="0"/>
          </a:p>
        </p:txBody>
      </p:sp>
      <p:sp>
        <p:nvSpPr>
          <p:cNvPr id="3" name="Rectangle 2"/>
          <p:cNvSpPr/>
          <p:nvPr/>
        </p:nvSpPr>
        <p:spPr>
          <a:xfrm>
            <a:off x="304800" y="197346"/>
            <a:ext cx="11201400" cy="3508653"/>
          </a:xfrm>
          <a:prstGeom prst="rect">
            <a:avLst/>
          </a:prstGeom>
        </p:spPr>
        <p:txBody>
          <a:bodyPr wrap="square">
            <a:spAutoFit/>
          </a:bodyPr>
          <a:lstStyle/>
          <a:p>
            <a:r>
              <a:rPr lang="en-US" sz="2400" b="1" u="sng" dirty="0" smtClean="0"/>
              <a:t>PWM type DAC </a:t>
            </a:r>
            <a:r>
              <a:rPr lang="en-US" dirty="0" smtClean="0"/>
              <a:t>Pulse Width Modulation (PWM) refers to a form of signal modulation where data is represented by the ratio of the on time to the total time (known as the duty cycle). PWM has the property where the instantaneous DC component is directly proportional to the duty cycle. It is primarily used for controlling digital encoded analog signal of varying amplitude. </a:t>
            </a:r>
            <a:r>
              <a:rPr lang="en-US" dirty="0" err="1" smtClean="0"/>
              <a:t>Vavg</a:t>
            </a:r>
            <a:r>
              <a:rPr lang="en-US" dirty="0" smtClean="0"/>
              <a:t> 80% Duty Cycle t ON t OFF </a:t>
            </a:r>
            <a:r>
              <a:rPr lang="en-US" dirty="0" err="1" smtClean="0"/>
              <a:t>Vhi</a:t>
            </a:r>
            <a:r>
              <a:rPr lang="en-US" dirty="0" smtClean="0"/>
              <a:t> </a:t>
            </a:r>
            <a:r>
              <a:rPr lang="en-US" dirty="0" err="1" smtClean="0"/>
              <a:t>Vlo</a:t>
            </a:r>
            <a:r>
              <a:rPr lang="en-US" dirty="0" smtClean="0"/>
              <a:t> t W </a:t>
            </a:r>
            <a:r>
              <a:rPr lang="en-US" dirty="0" err="1" smtClean="0"/>
              <a:t>Voffset</a:t>
            </a:r>
            <a:r>
              <a:rPr lang="en-US" dirty="0" smtClean="0"/>
              <a:t> Figure 1 Duty Cycle and Frequency of PWM The relationship between the time-average voltage (</a:t>
            </a:r>
            <a:r>
              <a:rPr lang="en-US" dirty="0" err="1" smtClean="0"/>
              <a:t>Vavg</a:t>
            </a:r>
            <a:r>
              <a:rPr lang="en-US" dirty="0" smtClean="0"/>
              <a:t>) the high and low voltages of the square wave (</a:t>
            </a:r>
            <a:r>
              <a:rPr lang="en-US" dirty="0" err="1" smtClean="0"/>
              <a:t>Vhi</a:t>
            </a:r>
            <a:r>
              <a:rPr lang="en-US" dirty="0" smtClean="0"/>
              <a:t> and </a:t>
            </a:r>
            <a:r>
              <a:rPr lang="en-US" dirty="0" err="1" smtClean="0"/>
              <a:t>Vlo</a:t>
            </a:r>
            <a:r>
              <a:rPr lang="en-US" dirty="0" smtClean="0"/>
              <a:t>) and the duty cycle (D) in percent is as follows: </a:t>
            </a:r>
            <a:r>
              <a:rPr lang="en-US" dirty="0" err="1" smtClean="0"/>
              <a:t>Vavg</a:t>
            </a:r>
            <a:r>
              <a:rPr lang="en-US" dirty="0" smtClean="0"/>
              <a:t> = (</a:t>
            </a:r>
            <a:r>
              <a:rPr lang="en-US" dirty="0" err="1" smtClean="0"/>
              <a:t>Vhi</a:t>
            </a:r>
            <a:r>
              <a:rPr lang="en-US" dirty="0" smtClean="0"/>
              <a:t> - </a:t>
            </a:r>
            <a:r>
              <a:rPr lang="en-US" dirty="0" err="1" smtClean="0"/>
              <a:t>Vlo</a:t>
            </a:r>
            <a:r>
              <a:rPr lang="en-US" dirty="0" smtClean="0"/>
              <a:t>) * D + </a:t>
            </a:r>
            <a:r>
              <a:rPr lang="en-US" dirty="0" err="1" smtClean="0"/>
              <a:t>Voffset</a:t>
            </a:r>
            <a:r>
              <a:rPr lang="en-US" dirty="0" smtClean="0"/>
              <a:t> ……………….……………………….……………….…..…[1] where D = </a:t>
            </a:r>
            <a:r>
              <a:rPr lang="en-US" dirty="0" err="1" smtClean="0"/>
              <a:t>tON</a:t>
            </a:r>
            <a:r>
              <a:rPr lang="en-US" dirty="0" smtClean="0"/>
              <a:t> / </a:t>
            </a:r>
            <a:r>
              <a:rPr lang="en-US" dirty="0" err="1" smtClean="0"/>
              <a:t>tW</a:t>
            </a:r>
            <a:r>
              <a:rPr lang="en-US" dirty="0" smtClean="0"/>
              <a:t> or D = PWDR value/1023 (for 10-bit PWM) ……………………………[2] If </a:t>
            </a:r>
            <a:r>
              <a:rPr lang="en-US" dirty="0" err="1" smtClean="0"/>
              <a:t>Vhi</a:t>
            </a:r>
            <a:r>
              <a:rPr lang="en-US" dirty="0" smtClean="0"/>
              <a:t> is 5V, </a:t>
            </a:r>
            <a:r>
              <a:rPr lang="en-US" dirty="0" err="1" smtClean="0"/>
              <a:t>Vlo</a:t>
            </a:r>
            <a:r>
              <a:rPr lang="en-US" dirty="0" smtClean="0"/>
              <a:t> is 0V (i.e. </a:t>
            </a:r>
            <a:r>
              <a:rPr lang="en-US" dirty="0" err="1" smtClean="0"/>
              <a:t>Voffset</a:t>
            </a:r>
            <a:r>
              <a:rPr lang="en-US" dirty="0" smtClean="0"/>
              <a:t> = 0) and D is 80%, </a:t>
            </a:r>
            <a:r>
              <a:rPr lang="en-US" dirty="0" err="1" smtClean="0"/>
              <a:t>Vavg</a:t>
            </a:r>
            <a:r>
              <a:rPr lang="en-US" dirty="0" smtClean="0"/>
              <a:t> would be 4 V. Another important parameter of PWM is the frequency. It is defined by number of pulse per second. f = 1 / </a:t>
            </a:r>
            <a:r>
              <a:rPr lang="en-US" dirty="0" err="1" smtClean="0"/>
              <a:t>tW</a:t>
            </a:r>
            <a:r>
              <a:rPr lang="en-US" dirty="0" smtClean="0"/>
              <a:t>………………………………………………………………….….….….….….…..[3] where </a:t>
            </a:r>
            <a:r>
              <a:rPr lang="en-US" dirty="0" err="1" smtClean="0"/>
              <a:t>tW</a:t>
            </a:r>
            <a:r>
              <a:rPr lang="en-US" dirty="0" smtClean="0"/>
              <a:t> = </a:t>
            </a:r>
            <a:r>
              <a:rPr lang="en-US" dirty="0" err="1" smtClean="0"/>
              <a:t>tON</a:t>
            </a:r>
            <a:r>
              <a:rPr lang="en-US" dirty="0" smtClean="0"/>
              <a:t> + </a:t>
            </a:r>
            <a:r>
              <a:rPr lang="en-US" dirty="0" err="1" smtClean="0"/>
              <a:t>tOFF</a:t>
            </a:r>
            <a:r>
              <a:rPr lang="en-US" dirty="0" smtClean="0"/>
              <a:t>………………………………………………………………….….…...[4] From equations [2] and [3], it can be proven that F = D / </a:t>
            </a:r>
            <a:r>
              <a:rPr lang="en-US" dirty="0" err="1" smtClean="0"/>
              <a:t>tON</a:t>
            </a:r>
            <a:r>
              <a:rPr lang="en-US" dirty="0" smtClean="0"/>
              <a:t>…………………………………………………………………….…...…...….......[4]</a:t>
            </a:r>
            <a:endParaRPr lang="en-US" dirty="0"/>
          </a:p>
        </p:txBody>
      </p:sp>
      <p:pic>
        <p:nvPicPr>
          <p:cNvPr id="4" name="Picture 3" descr="Capture.GIF"/>
          <p:cNvPicPr>
            <a:picLocks noChangeAspect="1"/>
          </p:cNvPicPr>
          <p:nvPr/>
        </p:nvPicPr>
        <p:blipFill>
          <a:blip r:embed="rId2"/>
          <a:stretch>
            <a:fillRect/>
          </a:stretch>
        </p:blipFill>
        <p:spPr>
          <a:xfrm>
            <a:off x="990600" y="3581400"/>
            <a:ext cx="8305800" cy="3114675"/>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81000" y="228600"/>
            <a:ext cx="11430000" cy="5909310"/>
          </a:xfrm>
        </p:spPr>
        <p:txBody>
          <a:bodyPr/>
          <a:lstStyle/>
          <a:p>
            <a:pPr algn="just"/>
            <a:r>
              <a:rPr lang="en-US" b="1" u="sng" dirty="0" smtClean="0">
                <a:latin typeface="Times New Roman" pitchFamily="18" charset="0"/>
                <a:cs typeface="Times New Roman" pitchFamily="18" charset="0"/>
              </a:rPr>
              <a:t>Quantization Error</a:t>
            </a:r>
            <a:endParaRPr lang="en-US" dirty="0" smtClean="0">
              <a:latin typeface="Times New Roman" pitchFamily="18" charset="0"/>
              <a:cs typeface="Times New Roman" pitchFamily="18" charset="0"/>
            </a:endParaRPr>
          </a:p>
          <a:p>
            <a:pPr algn="just">
              <a:buFont typeface="Arial" pitchFamily="34" charset="0"/>
              <a:buChar char="•"/>
            </a:pPr>
            <a:r>
              <a:rPr lang="en-US" dirty="0" smtClean="0">
                <a:latin typeface="Times New Roman" pitchFamily="18" charset="0"/>
                <a:cs typeface="Times New Roman" pitchFamily="18" charset="0"/>
              </a:rPr>
              <a:t>In-order to convert an analog quantity to a digital number involves </a:t>
            </a:r>
            <a:r>
              <a:rPr lang="en-US" i="1" dirty="0" smtClean="0">
                <a:latin typeface="Times New Roman" pitchFamily="18" charset="0"/>
                <a:cs typeface="Times New Roman" pitchFamily="18" charset="0"/>
              </a:rPr>
              <a:t>quantization. The characteristics of a </a:t>
            </a:r>
            <a:r>
              <a:rPr lang="en-US" i="1" dirty="0" err="1" smtClean="0">
                <a:latin typeface="Times New Roman" pitchFamily="18" charset="0"/>
                <a:cs typeface="Times New Roman" pitchFamily="18" charset="0"/>
              </a:rPr>
              <a:t>Quantizer</a:t>
            </a:r>
            <a:r>
              <a:rPr lang="en-US" i="1" dirty="0" smtClean="0">
                <a:latin typeface="Times New Roman" pitchFamily="18" charset="0"/>
                <a:cs typeface="Times New Roman" pitchFamily="18" charset="0"/>
              </a:rPr>
              <a:t> are shown in Fig. 26.104. </a:t>
            </a:r>
          </a:p>
          <a:p>
            <a:pPr algn="just">
              <a:buFont typeface="Arial" pitchFamily="34" charset="0"/>
              <a:buChar char="•"/>
            </a:pPr>
            <a:r>
              <a:rPr lang="en-US" dirty="0" smtClean="0">
                <a:latin typeface="Times New Roman" pitchFamily="18" charset="0"/>
                <a:cs typeface="Times New Roman" pitchFamily="18" charset="0"/>
              </a:rPr>
              <a:t>This </a:t>
            </a:r>
            <a:r>
              <a:rPr lang="en-US" dirty="0" err="1" smtClean="0">
                <a:latin typeface="Times New Roman" pitchFamily="18" charset="0"/>
                <a:cs typeface="Times New Roman" pitchFamily="18" charset="0"/>
              </a:rPr>
              <a:t>quantizer</a:t>
            </a:r>
            <a:r>
              <a:rPr lang="en-US" dirty="0" smtClean="0">
                <a:latin typeface="Times New Roman" pitchFamily="18" charset="0"/>
                <a:cs typeface="Times New Roman" pitchFamily="18" charset="0"/>
              </a:rPr>
              <a:t> is used for conversion of analog voltages of 0-7 V. Now in binary code, decimal number 7 = binary 111. </a:t>
            </a:r>
          </a:p>
          <a:p>
            <a:pPr algn="just">
              <a:buFont typeface="Arial" pitchFamily="34" charset="0"/>
              <a:buChar char="•"/>
            </a:pPr>
            <a:r>
              <a:rPr lang="en-US" dirty="0" smtClean="0">
                <a:latin typeface="Times New Roman" pitchFamily="18" charset="0"/>
                <a:cs typeface="Times New Roman" pitchFamily="18" charset="0"/>
              </a:rPr>
              <a:t>Therefore the digital number has 3 bits. </a:t>
            </a:r>
          </a:p>
          <a:p>
            <a:pPr algn="just">
              <a:buFont typeface="Arial" pitchFamily="34" charset="0"/>
              <a:buChar char="•"/>
            </a:pPr>
            <a:r>
              <a:rPr lang="en-US" dirty="0" smtClean="0">
                <a:latin typeface="Times New Roman" pitchFamily="18" charset="0"/>
                <a:cs typeface="Times New Roman" pitchFamily="18" charset="0"/>
              </a:rPr>
              <a:t>The analog input is shown in Fig. 26.104 (a) on the horizontal axis and the discrete output voltage level on the vertical axis. </a:t>
            </a:r>
          </a:p>
          <a:p>
            <a:pPr algn="just">
              <a:buFont typeface="Arial" pitchFamily="34" charset="0"/>
              <a:buChar char="•"/>
            </a:pPr>
            <a:r>
              <a:rPr lang="en-US" dirty="0" smtClean="0">
                <a:latin typeface="Times New Roman" pitchFamily="18" charset="0"/>
                <a:cs typeface="Times New Roman" pitchFamily="18" charset="0"/>
              </a:rPr>
              <a:t>The basic operation of A/D conversion involves </a:t>
            </a:r>
            <a:r>
              <a:rPr lang="en-US" i="1" dirty="0" smtClean="0">
                <a:latin typeface="Times New Roman" pitchFamily="18" charset="0"/>
                <a:cs typeface="Times New Roman" pitchFamily="18" charset="0"/>
              </a:rPr>
              <a:t>two processes, (</a:t>
            </a:r>
            <a:r>
              <a:rPr lang="en-US" i="1" dirty="0" err="1" smtClean="0">
                <a:latin typeface="Times New Roman" pitchFamily="18" charset="0"/>
                <a:cs typeface="Times New Roman" pitchFamily="18" charset="0"/>
              </a:rPr>
              <a:t>i</a:t>
            </a:r>
            <a:r>
              <a:rPr lang="en-US" i="1" dirty="0" smtClean="0">
                <a:latin typeface="Times New Roman" pitchFamily="18" charset="0"/>
                <a:cs typeface="Times New Roman" pitchFamily="18" charset="0"/>
              </a:rPr>
              <a:t>) quantization and (ii) coding </a:t>
            </a:r>
          </a:p>
          <a:p>
            <a:pPr algn="just">
              <a:buFont typeface="Arial" pitchFamily="34" charset="0"/>
              <a:buChar char="•"/>
            </a:pPr>
            <a:r>
              <a:rPr lang="en-US" dirty="0" smtClean="0">
                <a:latin typeface="Times New Roman" pitchFamily="18" charset="0"/>
                <a:cs typeface="Times New Roman" pitchFamily="18" charset="0"/>
              </a:rPr>
              <a:t>The decision levels of the A/D convertor are at 0.5, 1.5, 2.5. 3.5, etc. Thus the design levels are spaced 1 V apart. Analog values between two decision levels cannot be coded. In fact, analog values between 1 ±0.5 are read as digital value 001. </a:t>
            </a:r>
          </a:p>
          <a:p>
            <a:pPr algn="just">
              <a:buFont typeface="Arial" pitchFamily="34" charset="0"/>
              <a:buChar char="•"/>
            </a:pPr>
            <a:r>
              <a:rPr lang="en-US" dirty="0" smtClean="0">
                <a:latin typeface="Times New Roman" pitchFamily="18" charset="0"/>
                <a:cs typeface="Times New Roman" pitchFamily="18" charset="0"/>
              </a:rPr>
              <a:t>The distance between decision levels is Q, the quantization size. An </a:t>
            </a:r>
            <a:r>
              <a:rPr lang="en-US" i="1" dirty="0" smtClean="0">
                <a:latin typeface="Times New Roman" pitchFamily="18" charset="0"/>
                <a:cs typeface="Times New Roman" pitchFamily="18" charset="0"/>
              </a:rPr>
              <a:t>n bit A/D converter has 2^n discrete levels with resolution = 1/2" or 1 part in 2" and analog decision levels = 2"-l. </a:t>
            </a:r>
          </a:p>
          <a:p>
            <a:pPr algn="just"/>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04800" y="381000"/>
            <a:ext cx="11506200" cy="6324600"/>
          </a:xfrm>
        </p:spPr>
        <p:txBody>
          <a:bodyPr/>
          <a:lstStyle/>
          <a:p>
            <a:endParaRPr lang="en-US"/>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15</a:t>
            </a:fld>
            <a:endParaRPr lang="en-US" dirty="0"/>
          </a:p>
        </p:txBody>
      </p:sp>
      <p:pic>
        <p:nvPicPr>
          <p:cNvPr id="5" name="Picture 4" descr="Capture.GIF"/>
          <p:cNvPicPr>
            <a:picLocks noChangeAspect="1"/>
          </p:cNvPicPr>
          <p:nvPr/>
        </p:nvPicPr>
        <p:blipFill>
          <a:blip r:embed="rId2"/>
          <a:stretch>
            <a:fillRect/>
          </a:stretch>
        </p:blipFill>
        <p:spPr>
          <a:xfrm>
            <a:off x="304800" y="0"/>
            <a:ext cx="9982200"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04800" y="381000"/>
            <a:ext cx="11506200" cy="4431983"/>
          </a:xfrm>
        </p:spPr>
        <p:txBody>
          <a:bodyPr/>
          <a:lstStyle/>
          <a:p>
            <a:pPr algn="just"/>
            <a:endParaRPr lang="en-US" dirty="0" smtClean="0">
              <a:latin typeface="Times New Roman" pitchFamily="18" charset="0"/>
              <a:cs typeface="Times New Roman" pitchFamily="18" charset="0"/>
            </a:endParaRPr>
          </a:p>
          <a:p>
            <a:pPr algn="just"/>
            <a:endParaRPr lang="en-US" dirty="0" smtClean="0">
              <a:latin typeface="Times New Roman" pitchFamily="18" charset="0"/>
              <a:cs typeface="Times New Roman" pitchFamily="18" charset="0"/>
            </a:endParaRPr>
          </a:p>
          <a:p>
            <a:pPr algn="just">
              <a:buFont typeface="Arial" pitchFamily="34" charset="0"/>
              <a:buChar char="•"/>
            </a:pPr>
            <a:r>
              <a:rPr lang="en-US" dirty="0" smtClean="0">
                <a:latin typeface="Times New Roman" pitchFamily="18" charset="0"/>
                <a:cs typeface="Times New Roman" pitchFamily="18" charset="0"/>
              </a:rPr>
              <a:t>If the input to the </a:t>
            </a:r>
            <a:r>
              <a:rPr lang="en-US" dirty="0" err="1" smtClean="0">
                <a:latin typeface="Times New Roman" pitchFamily="18" charset="0"/>
                <a:cs typeface="Times New Roman" pitchFamily="18" charset="0"/>
              </a:rPr>
              <a:t>quantizer</a:t>
            </a:r>
            <a:r>
              <a:rPr lang="en-US" dirty="0" smtClean="0">
                <a:latin typeface="Times New Roman" pitchFamily="18" charset="0"/>
                <a:cs typeface="Times New Roman" pitchFamily="18" charset="0"/>
              </a:rPr>
              <a:t> is moved through its full range and subtracted from the discrete output levels, the error signal is shown in Fig. 26.104(h). </a:t>
            </a:r>
          </a:p>
          <a:p>
            <a:pPr algn="just">
              <a:buFont typeface="Arial" pitchFamily="34" charset="0"/>
              <a:buChar char="•"/>
            </a:pPr>
            <a:r>
              <a:rPr lang="en-US" dirty="0" smtClean="0">
                <a:latin typeface="Times New Roman" pitchFamily="18" charset="0"/>
                <a:cs typeface="Times New Roman" pitchFamily="18" charset="0"/>
              </a:rPr>
              <a:t>This is called </a:t>
            </a:r>
            <a:r>
              <a:rPr lang="en-US" i="1" dirty="0" smtClean="0">
                <a:latin typeface="Times New Roman" pitchFamily="18" charset="0"/>
                <a:cs typeface="Times New Roman" pitchFamily="18" charset="0"/>
              </a:rPr>
              <a:t>quantization error. </a:t>
            </a:r>
          </a:p>
          <a:p>
            <a:pPr algn="just">
              <a:buFont typeface="Arial" pitchFamily="34" charset="0"/>
              <a:buChar char="•"/>
            </a:pPr>
            <a:r>
              <a:rPr lang="en-US" i="1" dirty="0" smtClean="0">
                <a:latin typeface="Times New Roman" pitchFamily="18" charset="0"/>
                <a:cs typeface="Times New Roman" pitchFamily="18" charset="0"/>
              </a:rPr>
              <a:t>The quantization error is dependent on the number of quantization levels. </a:t>
            </a:r>
          </a:p>
          <a:p>
            <a:pPr algn="just">
              <a:buFont typeface="Arial" pitchFamily="34" charset="0"/>
              <a:buChar char="•"/>
            </a:pPr>
            <a:r>
              <a:rPr lang="en-US" i="1" dirty="0" smtClean="0">
                <a:latin typeface="Times New Roman" pitchFamily="18" charset="0"/>
                <a:cs typeface="Times New Roman" pitchFamily="18" charset="0"/>
              </a:rPr>
              <a:t>The quantization levels are an index of the resolution of the instrument. </a:t>
            </a:r>
          </a:p>
          <a:p>
            <a:pPr algn="just">
              <a:buFont typeface="Arial" pitchFamily="34" charset="0"/>
              <a:buChar char="•"/>
            </a:pPr>
            <a:r>
              <a:rPr lang="en-US" i="1" dirty="0" smtClean="0">
                <a:latin typeface="Times New Roman" pitchFamily="18" charset="0"/>
                <a:cs typeface="Times New Roman" pitchFamily="18" charset="0"/>
              </a:rPr>
              <a:t>The quantization error is of a </a:t>
            </a:r>
            <a:r>
              <a:rPr lang="en-US" i="1" dirty="0" err="1" smtClean="0">
                <a:latin typeface="Times New Roman" pitchFamily="18" charset="0"/>
                <a:cs typeface="Times New Roman" pitchFamily="18" charset="0"/>
              </a:rPr>
              <a:t>sawtooth</a:t>
            </a:r>
            <a:r>
              <a:rPr lang="en-US" i="1" dirty="0" smtClean="0">
                <a:latin typeface="Times New Roman" pitchFamily="18" charset="0"/>
                <a:cs typeface="Times New Roman" pitchFamily="18" charset="0"/>
              </a:rPr>
              <a:t> waveform as shown in Fig. 26.104(b). </a:t>
            </a:r>
          </a:p>
          <a:p>
            <a:pPr algn="just">
              <a:buFont typeface="Arial" pitchFamily="34" charset="0"/>
              <a:buChar char="•"/>
            </a:pPr>
            <a:r>
              <a:rPr lang="en-US" i="1" dirty="0" smtClean="0">
                <a:latin typeface="Times New Roman" pitchFamily="18" charset="0"/>
                <a:cs typeface="Times New Roman" pitchFamily="18" charset="0"/>
              </a:rPr>
              <a:t>The peak to peak value is Q. The output of a </a:t>
            </a:r>
            <a:r>
              <a:rPr lang="en-US" i="1" dirty="0" err="1" smtClean="0">
                <a:latin typeface="Times New Roman" pitchFamily="18" charset="0"/>
                <a:cs typeface="Times New Roman" pitchFamily="18" charset="0"/>
              </a:rPr>
              <a:t>quantizer</a:t>
            </a:r>
            <a:r>
              <a:rPr lang="en-US" i="1" dirty="0" smtClean="0">
                <a:latin typeface="Times New Roman" pitchFamily="18" charset="0"/>
                <a:cs typeface="Times New Roman" pitchFamily="18" charset="0"/>
              </a:rPr>
              <a:t> can be considered as a noise signal with an </a:t>
            </a:r>
            <a:r>
              <a:rPr lang="en-US" i="1" dirty="0" err="1" smtClean="0">
                <a:latin typeface="Times New Roman" pitchFamily="18" charset="0"/>
                <a:cs typeface="Times New Roman" pitchFamily="18" charset="0"/>
              </a:rPr>
              <a:t>rms</a:t>
            </a:r>
            <a:r>
              <a:rPr lang="en-US" i="1" dirty="0" smtClean="0">
                <a:latin typeface="Times New Roman" pitchFamily="18" charset="0"/>
                <a:cs typeface="Times New Roman" pitchFamily="18" charset="0"/>
              </a:rPr>
              <a:t> value of </a:t>
            </a:r>
          </a:p>
          <a:p>
            <a:pPr algn="just"/>
            <a:r>
              <a:rPr lang="en-US" dirty="0" err="1" smtClean="0">
                <a:latin typeface="Times New Roman" pitchFamily="18" charset="0"/>
                <a:cs typeface="Times New Roman" pitchFamily="18" charset="0"/>
              </a:rPr>
              <a:t>Eq</a:t>
            </a:r>
            <a:r>
              <a:rPr lang="en-US" dirty="0" smtClean="0">
                <a:latin typeface="Times New Roman" pitchFamily="18" charset="0"/>
                <a:cs typeface="Times New Roman" pitchFamily="18" charset="0"/>
              </a:rPr>
              <a:t> =Q/2√3</a:t>
            </a:r>
            <a:r>
              <a:rPr lang="en-US" i="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..(26.186)</a:t>
            </a:r>
          </a:p>
          <a:p>
            <a:pPr algn="just"/>
            <a:r>
              <a:rPr lang="en-US" dirty="0" smtClean="0">
                <a:latin typeface="Times New Roman" pitchFamily="18" charset="0"/>
                <a:cs typeface="Times New Roman" pitchFamily="18" charset="0"/>
              </a:rPr>
              <a:t>which is the </a:t>
            </a:r>
            <a:r>
              <a:rPr lang="en-US" i="1" dirty="0" smtClean="0">
                <a:latin typeface="Times New Roman" pitchFamily="18" charset="0"/>
                <a:cs typeface="Times New Roman" pitchFamily="18" charset="0"/>
              </a:rPr>
              <a:t>quantization error.</a:t>
            </a:r>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77139"/>
            <a:ext cx="6670040" cy="635000"/>
          </a:xfrm>
          <a:prstGeom prst="rect">
            <a:avLst/>
          </a:prstGeom>
        </p:spPr>
        <p:txBody>
          <a:bodyPr vert="horz" wrap="square" lIns="0" tIns="12065" rIns="0" bIns="0" rtlCol="0">
            <a:spAutoFit/>
          </a:bodyPr>
          <a:lstStyle/>
          <a:p>
            <a:pPr marL="12700">
              <a:lnSpc>
                <a:spcPct val="100000"/>
              </a:lnSpc>
              <a:spcBef>
                <a:spcPts val="95"/>
              </a:spcBef>
            </a:pPr>
            <a:r>
              <a:rPr sz="4000" spc="-25" dirty="0"/>
              <a:t>Analog</a:t>
            </a:r>
            <a:r>
              <a:rPr sz="4000" spc="-100" dirty="0"/>
              <a:t> </a:t>
            </a:r>
            <a:r>
              <a:rPr sz="4000" spc="-30" dirty="0"/>
              <a:t>to</a:t>
            </a:r>
            <a:r>
              <a:rPr sz="4000" spc="-70" dirty="0"/>
              <a:t> </a:t>
            </a:r>
            <a:r>
              <a:rPr sz="4000" spc="-35" dirty="0"/>
              <a:t>Digital</a:t>
            </a:r>
            <a:r>
              <a:rPr sz="4000" spc="-80" dirty="0"/>
              <a:t> </a:t>
            </a:r>
            <a:r>
              <a:rPr sz="4000" spc="-50" dirty="0"/>
              <a:t>Converter</a:t>
            </a:r>
            <a:r>
              <a:rPr sz="4000" spc="-85" dirty="0"/>
              <a:t> </a:t>
            </a:r>
            <a:r>
              <a:rPr sz="4000" spc="-25" dirty="0"/>
              <a:t>(ADC)</a:t>
            </a:r>
            <a:endParaRPr sz="4000"/>
          </a:p>
        </p:txBody>
      </p:sp>
      <p:sp>
        <p:nvSpPr>
          <p:cNvPr id="3" name="object 3"/>
          <p:cNvSpPr txBox="1"/>
          <p:nvPr/>
        </p:nvSpPr>
        <p:spPr>
          <a:xfrm>
            <a:off x="405485" y="1178813"/>
            <a:ext cx="6224905" cy="3229089"/>
          </a:xfrm>
          <a:prstGeom prst="rect">
            <a:avLst/>
          </a:prstGeom>
        </p:spPr>
        <p:txBody>
          <a:bodyPr vert="horz" wrap="square" lIns="0" tIns="104140" rIns="0" bIns="0" rtlCol="0">
            <a:spAutoFit/>
          </a:bodyPr>
          <a:lstStyle/>
          <a:p>
            <a:pPr marL="12700">
              <a:lnSpc>
                <a:spcPct val="100000"/>
              </a:lnSpc>
              <a:spcBef>
                <a:spcPts val="820"/>
              </a:spcBef>
            </a:pPr>
            <a:r>
              <a:rPr sz="2400" dirty="0">
                <a:latin typeface="Calibri"/>
                <a:cs typeface="Calibri"/>
              </a:rPr>
              <a:t>Analog</a:t>
            </a:r>
            <a:r>
              <a:rPr sz="2400" spc="-25" dirty="0">
                <a:latin typeface="Calibri"/>
                <a:cs typeface="Calibri"/>
              </a:rPr>
              <a:t> </a:t>
            </a:r>
            <a:r>
              <a:rPr sz="2400" spc="-15" dirty="0">
                <a:latin typeface="Calibri"/>
                <a:cs typeface="Calibri"/>
              </a:rPr>
              <a:t>to </a:t>
            </a:r>
            <a:r>
              <a:rPr sz="2400" spc="-10" dirty="0">
                <a:latin typeface="Calibri"/>
                <a:cs typeface="Calibri"/>
              </a:rPr>
              <a:t>digital</a:t>
            </a:r>
            <a:r>
              <a:rPr sz="2400" spc="-30" dirty="0">
                <a:latin typeface="Calibri"/>
                <a:cs typeface="Calibri"/>
              </a:rPr>
              <a:t> </a:t>
            </a:r>
            <a:r>
              <a:rPr sz="2400" spc="-15" dirty="0">
                <a:latin typeface="Calibri"/>
                <a:cs typeface="Calibri"/>
              </a:rPr>
              <a:t>converters</a:t>
            </a:r>
            <a:r>
              <a:rPr sz="2400" spc="-25" dirty="0">
                <a:latin typeface="Calibri"/>
                <a:cs typeface="Calibri"/>
              </a:rPr>
              <a:t> </a:t>
            </a:r>
            <a:r>
              <a:rPr sz="2400" spc="-15" dirty="0">
                <a:latin typeface="Calibri"/>
                <a:cs typeface="Calibri"/>
              </a:rPr>
              <a:t>are</a:t>
            </a:r>
            <a:r>
              <a:rPr sz="2400" spc="-5" dirty="0">
                <a:latin typeface="Calibri"/>
                <a:cs typeface="Calibri"/>
              </a:rPr>
              <a:t> of </a:t>
            </a:r>
            <a:r>
              <a:rPr sz="2400" spc="-10" dirty="0">
                <a:latin typeface="Calibri"/>
                <a:cs typeface="Calibri"/>
              </a:rPr>
              <a:t>following</a:t>
            </a:r>
            <a:r>
              <a:rPr sz="2400" spc="-25" dirty="0">
                <a:latin typeface="Calibri"/>
                <a:cs typeface="Calibri"/>
              </a:rPr>
              <a:t> </a:t>
            </a:r>
            <a:r>
              <a:rPr sz="2400" spc="-5" dirty="0">
                <a:latin typeface="Calibri"/>
                <a:cs typeface="Calibri"/>
              </a:rPr>
              <a:t>types:</a:t>
            </a:r>
            <a:endParaRPr sz="2400">
              <a:latin typeface="Calibri"/>
              <a:cs typeface="Calibri"/>
            </a:endParaRPr>
          </a:p>
          <a:p>
            <a:pPr marL="596265" indent="-584200">
              <a:lnSpc>
                <a:spcPct val="100000"/>
              </a:lnSpc>
              <a:spcBef>
                <a:spcPts val="720"/>
              </a:spcBef>
              <a:buAutoNum type="arabicPeriod"/>
              <a:tabLst>
                <a:tab pos="596265" algn="l"/>
                <a:tab pos="596900" algn="l"/>
              </a:tabLst>
            </a:pPr>
            <a:r>
              <a:rPr sz="2400" spc="-10" dirty="0">
                <a:latin typeface="Calibri"/>
                <a:cs typeface="Calibri"/>
              </a:rPr>
              <a:t>Successive</a:t>
            </a:r>
            <a:r>
              <a:rPr sz="2400" spc="-20" dirty="0">
                <a:latin typeface="Calibri"/>
                <a:cs typeface="Calibri"/>
              </a:rPr>
              <a:t> </a:t>
            </a:r>
            <a:r>
              <a:rPr sz="2400" spc="-10" dirty="0">
                <a:latin typeface="Calibri"/>
                <a:cs typeface="Calibri"/>
              </a:rPr>
              <a:t>Approximation</a:t>
            </a:r>
            <a:r>
              <a:rPr sz="2400" spc="-45" dirty="0">
                <a:latin typeface="Calibri"/>
                <a:cs typeface="Calibri"/>
              </a:rPr>
              <a:t> </a:t>
            </a:r>
            <a:r>
              <a:rPr sz="2400" spc="-5" dirty="0">
                <a:latin typeface="Calibri"/>
                <a:cs typeface="Calibri"/>
              </a:rPr>
              <a:t>(SA)</a:t>
            </a:r>
            <a:r>
              <a:rPr sz="2400" spc="-40" dirty="0">
                <a:latin typeface="Calibri"/>
                <a:cs typeface="Calibri"/>
              </a:rPr>
              <a:t> </a:t>
            </a:r>
            <a:r>
              <a:rPr sz="2400" dirty="0">
                <a:latin typeface="Calibri"/>
                <a:cs typeface="Calibri"/>
              </a:rPr>
              <a:t>ADC</a:t>
            </a:r>
            <a:endParaRPr sz="2400">
              <a:latin typeface="Calibri"/>
              <a:cs typeface="Calibri"/>
            </a:endParaRPr>
          </a:p>
          <a:p>
            <a:pPr marL="527685" indent="-515620">
              <a:lnSpc>
                <a:spcPct val="100000"/>
              </a:lnSpc>
              <a:spcBef>
                <a:spcPts val="705"/>
              </a:spcBef>
              <a:buAutoNum type="arabicPeriod"/>
              <a:tabLst>
                <a:tab pos="527685" algn="l"/>
                <a:tab pos="528320" algn="l"/>
              </a:tabLst>
            </a:pPr>
            <a:r>
              <a:rPr sz="2400" dirty="0">
                <a:latin typeface="Calibri"/>
                <a:cs typeface="Calibri"/>
              </a:rPr>
              <a:t>Ramp</a:t>
            </a:r>
            <a:r>
              <a:rPr sz="2400" spc="-55" dirty="0">
                <a:latin typeface="Calibri"/>
                <a:cs typeface="Calibri"/>
              </a:rPr>
              <a:t> </a:t>
            </a:r>
            <a:r>
              <a:rPr sz="2400" dirty="0">
                <a:latin typeface="Calibri"/>
                <a:cs typeface="Calibri"/>
              </a:rPr>
              <a:t>ADC</a:t>
            </a:r>
            <a:endParaRPr sz="2400">
              <a:latin typeface="Calibri"/>
              <a:cs typeface="Calibri"/>
            </a:endParaRPr>
          </a:p>
          <a:p>
            <a:pPr marL="527685" indent="-515620">
              <a:lnSpc>
                <a:spcPct val="100000"/>
              </a:lnSpc>
              <a:spcBef>
                <a:spcPts val="710"/>
              </a:spcBef>
              <a:buAutoNum type="arabicPeriod"/>
              <a:tabLst>
                <a:tab pos="527685" algn="l"/>
                <a:tab pos="528320" algn="l"/>
              </a:tabLst>
            </a:pPr>
            <a:r>
              <a:rPr sz="2400" spc="-5" dirty="0">
                <a:latin typeface="Calibri"/>
                <a:cs typeface="Calibri"/>
              </a:rPr>
              <a:t>Dual</a:t>
            </a:r>
            <a:r>
              <a:rPr sz="2400" spc="-20" dirty="0">
                <a:latin typeface="Calibri"/>
                <a:cs typeface="Calibri"/>
              </a:rPr>
              <a:t> </a:t>
            </a:r>
            <a:r>
              <a:rPr sz="2400" dirty="0">
                <a:latin typeface="Calibri"/>
                <a:cs typeface="Calibri"/>
              </a:rPr>
              <a:t>Ramp</a:t>
            </a:r>
            <a:r>
              <a:rPr sz="2400" spc="-35" dirty="0">
                <a:latin typeface="Calibri"/>
                <a:cs typeface="Calibri"/>
              </a:rPr>
              <a:t> </a:t>
            </a:r>
            <a:r>
              <a:rPr sz="2400" dirty="0">
                <a:latin typeface="Calibri"/>
                <a:cs typeface="Calibri"/>
              </a:rPr>
              <a:t>ADC</a:t>
            </a:r>
            <a:r>
              <a:rPr sz="2400" spc="-25" dirty="0">
                <a:latin typeface="Calibri"/>
                <a:cs typeface="Calibri"/>
              </a:rPr>
              <a:t> </a:t>
            </a:r>
            <a:r>
              <a:rPr sz="2400" spc="-5" dirty="0">
                <a:latin typeface="Calibri"/>
                <a:cs typeface="Calibri"/>
              </a:rPr>
              <a:t>(Dual</a:t>
            </a:r>
            <a:r>
              <a:rPr sz="2400" spc="-25" dirty="0">
                <a:latin typeface="Calibri"/>
                <a:cs typeface="Calibri"/>
              </a:rPr>
              <a:t> </a:t>
            </a:r>
            <a:r>
              <a:rPr sz="2400" spc="-5" dirty="0">
                <a:latin typeface="Calibri"/>
                <a:cs typeface="Calibri"/>
              </a:rPr>
              <a:t>Slope</a:t>
            </a:r>
            <a:r>
              <a:rPr sz="2400" spc="-30" dirty="0">
                <a:latin typeface="Calibri"/>
                <a:cs typeface="Calibri"/>
              </a:rPr>
              <a:t> </a:t>
            </a:r>
            <a:r>
              <a:rPr sz="2400" dirty="0">
                <a:latin typeface="Calibri"/>
                <a:cs typeface="Calibri"/>
              </a:rPr>
              <a:t>ADC)</a:t>
            </a:r>
            <a:endParaRPr sz="2400">
              <a:latin typeface="Calibri"/>
              <a:cs typeface="Calibri"/>
            </a:endParaRPr>
          </a:p>
          <a:p>
            <a:pPr marL="527685" indent="-515620">
              <a:lnSpc>
                <a:spcPct val="100000"/>
              </a:lnSpc>
              <a:spcBef>
                <a:spcPts val="720"/>
              </a:spcBef>
              <a:buAutoNum type="arabicPeriod"/>
              <a:tabLst>
                <a:tab pos="527685" algn="l"/>
                <a:tab pos="528320" algn="l"/>
              </a:tabLst>
            </a:pPr>
            <a:r>
              <a:rPr sz="2400" spc="-5" dirty="0">
                <a:latin typeface="Calibri"/>
                <a:cs typeface="Calibri"/>
              </a:rPr>
              <a:t>Flash</a:t>
            </a:r>
            <a:r>
              <a:rPr sz="2400" spc="-30" dirty="0">
                <a:latin typeface="Calibri"/>
                <a:cs typeface="Calibri"/>
              </a:rPr>
              <a:t> </a:t>
            </a:r>
            <a:r>
              <a:rPr sz="2400" dirty="0">
                <a:latin typeface="Calibri"/>
                <a:cs typeface="Calibri"/>
              </a:rPr>
              <a:t>ADC</a:t>
            </a:r>
            <a:r>
              <a:rPr sz="2400" spc="-25" dirty="0">
                <a:latin typeface="Calibri"/>
                <a:cs typeface="Calibri"/>
              </a:rPr>
              <a:t> </a:t>
            </a:r>
            <a:r>
              <a:rPr sz="2400" spc="-5" dirty="0">
                <a:latin typeface="Calibri"/>
                <a:cs typeface="Calibri"/>
              </a:rPr>
              <a:t>(or</a:t>
            </a:r>
            <a:r>
              <a:rPr sz="2400" spc="-25" dirty="0">
                <a:latin typeface="Calibri"/>
                <a:cs typeface="Calibri"/>
              </a:rPr>
              <a:t> </a:t>
            </a:r>
            <a:r>
              <a:rPr sz="2400" spc="-15" dirty="0">
                <a:latin typeface="Calibri"/>
                <a:cs typeface="Calibri"/>
              </a:rPr>
              <a:t>Parallel</a:t>
            </a:r>
            <a:r>
              <a:rPr sz="2400" spc="-30" dirty="0">
                <a:latin typeface="Calibri"/>
                <a:cs typeface="Calibri"/>
              </a:rPr>
              <a:t> </a:t>
            </a:r>
            <a:r>
              <a:rPr sz="2400">
                <a:latin typeface="Calibri"/>
                <a:cs typeface="Calibri"/>
              </a:rPr>
              <a:t>ADC</a:t>
            </a:r>
            <a:r>
              <a:rPr sz="2400" smtClean="0">
                <a:latin typeface="Calibri"/>
                <a:cs typeface="Calibri"/>
              </a:rPr>
              <a:t>)</a:t>
            </a:r>
            <a:endParaRPr lang="en-US" sz="2400" dirty="0" smtClean="0">
              <a:latin typeface="Calibri"/>
              <a:cs typeface="Calibri"/>
            </a:endParaRPr>
          </a:p>
          <a:p>
            <a:pPr marL="527685" indent="-515620">
              <a:lnSpc>
                <a:spcPct val="100000"/>
              </a:lnSpc>
              <a:spcBef>
                <a:spcPts val="720"/>
              </a:spcBef>
              <a:buAutoNum type="arabicPeriod"/>
              <a:tabLst>
                <a:tab pos="527685" algn="l"/>
                <a:tab pos="528320" algn="l"/>
              </a:tabLst>
            </a:pPr>
            <a:r>
              <a:rPr lang="en-US" sz="2400" dirty="0" smtClean="0">
                <a:latin typeface="Calibri"/>
                <a:cs typeface="Calibri"/>
              </a:rPr>
              <a:t>Countertype ADC</a:t>
            </a:r>
          </a:p>
          <a:p>
            <a:pPr marL="527685" indent="-515620">
              <a:lnSpc>
                <a:spcPct val="100000"/>
              </a:lnSpc>
              <a:spcBef>
                <a:spcPts val="720"/>
              </a:spcBef>
              <a:buAutoNum type="arabicPeriod"/>
              <a:tabLst>
                <a:tab pos="527685" algn="l"/>
                <a:tab pos="528320" algn="l"/>
              </a:tabLst>
            </a:pPr>
            <a:r>
              <a:rPr lang="en-US" sz="2400" dirty="0" smtClean="0">
                <a:latin typeface="Calibri"/>
                <a:cs typeface="Calibri"/>
              </a:rPr>
              <a:t>Introduction to Delta-Sigma ADC</a:t>
            </a:r>
            <a:endParaRPr sz="2400">
              <a:latin typeface="Calibri"/>
              <a:cs typeface="Calibri"/>
            </a:endParaRPr>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17</a:t>
            </a:fld>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39039"/>
            <a:ext cx="9086850" cy="697230"/>
          </a:xfrm>
          <a:prstGeom prst="rect">
            <a:avLst/>
          </a:prstGeom>
        </p:spPr>
        <p:txBody>
          <a:bodyPr vert="horz" wrap="square" lIns="0" tIns="13335" rIns="0" bIns="0" rtlCol="0">
            <a:spAutoFit/>
          </a:bodyPr>
          <a:lstStyle/>
          <a:p>
            <a:pPr marL="12700">
              <a:lnSpc>
                <a:spcPct val="100000"/>
              </a:lnSpc>
              <a:spcBef>
                <a:spcPts val="105"/>
              </a:spcBef>
            </a:pPr>
            <a:r>
              <a:rPr spc="-35" dirty="0"/>
              <a:t>Successive</a:t>
            </a:r>
            <a:r>
              <a:rPr spc="-100" dirty="0"/>
              <a:t> </a:t>
            </a:r>
            <a:r>
              <a:rPr spc="-55" dirty="0"/>
              <a:t>Approximation</a:t>
            </a:r>
            <a:r>
              <a:rPr spc="-110" dirty="0"/>
              <a:t> </a:t>
            </a:r>
            <a:r>
              <a:rPr spc="-25" dirty="0"/>
              <a:t>(SA)</a:t>
            </a:r>
            <a:r>
              <a:rPr spc="-90" dirty="0"/>
              <a:t> </a:t>
            </a:r>
            <a:r>
              <a:rPr spc="-85" dirty="0"/>
              <a:t>Type</a:t>
            </a:r>
            <a:r>
              <a:rPr spc="-95" dirty="0"/>
              <a:t> </a:t>
            </a:r>
            <a:r>
              <a:rPr spc="-30" dirty="0"/>
              <a:t>ADC:</a:t>
            </a:r>
          </a:p>
        </p:txBody>
      </p:sp>
      <p:sp>
        <p:nvSpPr>
          <p:cNvPr id="3" name="object 3"/>
          <p:cNvSpPr txBox="1"/>
          <p:nvPr/>
        </p:nvSpPr>
        <p:spPr>
          <a:xfrm>
            <a:off x="405485" y="1270253"/>
            <a:ext cx="11239500" cy="1962785"/>
          </a:xfrm>
          <a:prstGeom prst="rect">
            <a:avLst/>
          </a:prstGeom>
        </p:spPr>
        <p:txBody>
          <a:bodyPr vert="horz" wrap="square" lIns="0" tIns="53975" rIns="0" bIns="0" rtlCol="0">
            <a:spAutoFit/>
          </a:bodyPr>
          <a:lstStyle/>
          <a:p>
            <a:pPr marL="241300" marR="498475" indent="-228600">
              <a:lnSpc>
                <a:spcPts val="2590"/>
              </a:lnSpc>
              <a:spcBef>
                <a:spcPts val="425"/>
              </a:spcBef>
              <a:buFont typeface="Arial MT"/>
              <a:buChar char="•"/>
              <a:tabLst>
                <a:tab pos="241300" algn="l"/>
              </a:tabLst>
            </a:pPr>
            <a:r>
              <a:rPr sz="2400" spc="-10" dirty="0">
                <a:latin typeface="Calibri"/>
                <a:cs typeface="Calibri"/>
              </a:rPr>
              <a:t>Successive approximation </a:t>
            </a:r>
            <a:r>
              <a:rPr sz="2400" dirty="0">
                <a:latin typeface="Calibri"/>
                <a:cs typeface="Calibri"/>
              </a:rPr>
              <a:t>ADC is </a:t>
            </a:r>
            <a:r>
              <a:rPr sz="2400" spc="-10" dirty="0">
                <a:latin typeface="Calibri"/>
                <a:cs typeface="Calibri"/>
              </a:rPr>
              <a:t>probably </a:t>
            </a:r>
            <a:r>
              <a:rPr sz="2400" dirty="0">
                <a:latin typeface="Calibri"/>
                <a:cs typeface="Calibri"/>
              </a:rPr>
              <a:t>the </a:t>
            </a:r>
            <a:r>
              <a:rPr sz="2400" spc="-10" dirty="0">
                <a:latin typeface="Calibri"/>
                <a:cs typeface="Calibri"/>
              </a:rPr>
              <a:t>most commonly </a:t>
            </a:r>
            <a:r>
              <a:rPr sz="2400" spc="-5" dirty="0">
                <a:latin typeface="Calibri"/>
                <a:cs typeface="Calibri"/>
              </a:rPr>
              <a:t>used analog-to-digital </a:t>
            </a:r>
            <a:r>
              <a:rPr sz="2400" spc="-530" dirty="0">
                <a:latin typeface="Calibri"/>
                <a:cs typeface="Calibri"/>
              </a:rPr>
              <a:t> </a:t>
            </a:r>
            <a:r>
              <a:rPr sz="2400" spc="-40" dirty="0">
                <a:latin typeface="Calibri"/>
                <a:cs typeface="Calibri"/>
              </a:rPr>
              <a:t>converter.</a:t>
            </a:r>
            <a:endParaRPr sz="2400">
              <a:latin typeface="Calibri"/>
              <a:cs typeface="Calibri"/>
            </a:endParaRPr>
          </a:p>
          <a:p>
            <a:pPr marL="241300" indent="-228600">
              <a:lnSpc>
                <a:spcPts val="2735"/>
              </a:lnSpc>
              <a:spcBef>
                <a:spcPts val="685"/>
              </a:spcBef>
              <a:buFont typeface="Arial MT"/>
              <a:buChar char="•"/>
              <a:tabLst>
                <a:tab pos="241300" algn="l"/>
              </a:tabLst>
            </a:pPr>
            <a:r>
              <a:rPr sz="2400" spc="-5" dirty="0">
                <a:latin typeface="Calibri"/>
                <a:cs typeface="Calibri"/>
              </a:rPr>
              <a:t>This</a:t>
            </a:r>
            <a:r>
              <a:rPr sz="2400" spc="5" dirty="0">
                <a:latin typeface="Calibri"/>
                <a:cs typeface="Calibri"/>
              </a:rPr>
              <a:t> </a:t>
            </a:r>
            <a:r>
              <a:rPr sz="2400" spc="-5" dirty="0">
                <a:latin typeface="Calibri"/>
                <a:cs typeface="Calibri"/>
              </a:rPr>
              <a:t>method</a:t>
            </a:r>
            <a:r>
              <a:rPr sz="2400" spc="-15" dirty="0">
                <a:latin typeface="Calibri"/>
                <a:cs typeface="Calibri"/>
              </a:rPr>
              <a:t> </a:t>
            </a:r>
            <a:r>
              <a:rPr sz="2400" dirty="0">
                <a:latin typeface="Calibri"/>
                <a:cs typeface="Calibri"/>
              </a:rPr>
              <a:t>is</a:t>
            </a:r>
            <a:r>
              <a:rPr sz="2400" spc="5" dirty="0">
                <a:latin typeface="Calibri"/>
                <a:cs typeface="Calibri"/>
              </a:rPr>
              <a:t> </a:t>
            </a:r>
            <a:r>
              <a:rPr sz="2400" spc="-5" dirty="0">
                <a:latin typeface="Calibri"/>
                <a:cs typeface="Calibri"/>
              </a:rPr>
              <a:t>based</a:t>
            </a:r>
            <a:r>
              <a:rPr sz="2400" spc="5" dirty="0">
                <a:latin typeface="Calibri"/>
                <a:cs typeface="Calibri"/>
              </a:rPr>
              <a:t> </a:t>
            </a:r>
            <a:r>
              <a:rPr sz="2400" spc="-10" dirty="0">
                <a:latin typeface="Calibri"/>
                <a:cs typeface="Calibri"/>
              </a:rPr>
              <a:t>on</a:t>
            </a:r>
            <a:r>
              <a:rPr sz="2400" dirty="0">
                <a:latin typeface="Calibri"/>
                <a:cs typeface="Calibri"/>
              </a:rPr>
              <a:t> </a:t>
            </a:r>
            <a:r>
              <a:rPr sz="2400" spc="-10" dirty="0">
                <a:latin typeface="Calibri"/>
                <a:cs typeface="Calibri"/>
              </a:rPr>
              <a:t>comparing</a:t>
            </a:r>
            <a:r>
              <a:rPr sz="2400" spc="-20" dirty="0">
                <a:latin typeface="Calibri"/>
                <a:cs typeface="Calibri"/>
              </a:rPr>
              <a:t> </a:t>
            </a:r>
            <a:r>
              <a:rPr sz="2400" dirty="0">
                <a:latin typeface="Calibri"/>
                <a:cs typeface="Calibri"/>
              </a:rPr>
              <a:t>the</a:t>
            </a:r>
            <a:r>
              <a:rPr sz="2400" spc="5" dirty="0">
                <a:latin typeface="Calibri"/>
                <a:cs typeface="Calibri"/>
              </a:rPr>
              <a:t> </a:t>
            </a:r>
            <a:r>
              <a:rPr sz="2400" dirty="0">
                <a:latin typeface="Calibri"/>
                <a:cs typeface="Calibri"/>
              </a:rPr>
              <a:t>input</a:t>
            </a:r>
            <a:r>
              <a:rPr sz="2400" spc="-5" dirty="0">
                <a:latin typeface="Calibri"/>
                <a:cs typeface="Calibri"/>
              </a:rPr>
              <a:t> </a:t>
            </a:r>
            <a:r>
              <a:rPr sz="2400" dirty="0">
                <a:latin typeface="Calibri"/>
                <a:cs typeface="Calibri"/>
              </a:rPr>
              <a:t>analog</a:t>
            </a:r>
            <a:r>
              <a:rPr sz="2400" spc="-15" dirty="0">
                <a:latin typeface="Calibri"/>
                <a:cs typeface="Calibri"/>
              </a:rPr>
              <a:t> voltage</a:t>
            </a:r>
            <a:r>
              <a:rPr sz="2400" spc="5" dirty="0">
                <a:latin typeface="Calibri"/>
                <a:cs typeface="Calibri"/>
              </a:rPr>
              <a:t> </a:t>
            </a:r>
            <a:r>
              <a:rPr sz="2400" dirty="0">
                <a:latin typeface="Calibri"/>
                <a:cs typeface="Calibri"/>
              </a:rPr>
              <a:t>with</a:t>
            </a:r>
            <a:r>
              <a:rPr sz="2400" spc="-15" dirty="0">
                <a:latin typeface="Calibri"/>
                <a:cs typeface="Calibri"/>
              </a:rPr>
              <a:t> </a:t>
            </a:r>
            <a:r>
              <a:rPr sz="2400" spc="-5" dirty="0">
                <a:latin typeface="Calibri"/>
                <a:cs typeface="Calibri"/>
              </a:rPr>
              <a:t>another</a:t>
            </a:r>
            <a:r>
              <a:rPr sz="2400" spc="5" dirty="0">
                <a:latin typeface="Calibri"/>
                <a:cs typeface="Calibri"/>
              </a:rPr>
              <a:t> </a:t>
            </a:r>
            <a:r>
              <a:rPr sz="2400" dirty="0">
                <a:latin typeface="Calibri"/>
                <a:cs typeface="Calibri"/>
              </a:rPr>
              <a:t>analog</a:t>
            </a:r>
            <a:r>
              <a:rPr sz="2400" spc="-20" dirty="0">
                <a:latin typeface="Calibri"/>
                <a:cs typeface="Calibri"/>
              </a:rPr>
              <a:t> </a:t>
            </a:r>
            <a:r>
              <a:rPr sz="2400" spc="-15" dirty="0">
                <a:latin typeface="Calibri"/>
                <a:cs typeface="Calibri"/>
              </a:rPr>
              <a:t>voltage</a:t>
            </a:r>
            <a:endParaRPr sz="2400">
              <a:latin typeface="Calibri"/>
              <a:cs typeface="Calibri"/>
            </a:endParaRPr>
          </a:p>
          <a:p>
            <a:pPr marL="241300">
              <a:lnSpc>
                <a:spcPts val="2735"/>
              </a:lnSpc>
            </a:pPr>
            <a:r>
              <a:rPr sz="2400" spc="-10" dirty="0">
                <a:latin typeface="Calibri"/>
                <a:cs typeface="Calibri"/>
              </a:rPr>
              <a:t>until</a:t>
            </a:r>
            <a:r>
              <a:rPr sz="2400" spc="-5" dirty="0">
                <a:latin typeface="Calibri"/>
                <a:cs typeface="Calibri"/>
              </a:rPr>
              <a:t> </a:t>
            </a:r>
            <a:r>
              <a:rPr sz="2400" dirty="0">
                <a:latin typeface="Calibri"/>
                <a:cs typeface="Calibri"/>
              </a:rPr>
              <a:t>the</a:t>
            </a:r>
            <a:r>
              <a:rPr sz="2400" spc="-15" dirty="0">
                <a:latin typeface="Calibri"/>
                <a:cs typeface="Calibri"/>
              </a:rPr>
              <a:t> </a:t>
            </a:r>
            <a:r>
              <a:rPr sz="2400" spc="-10" dirty="0">
                <a:latin typeface="Calibri"/>
                <a:cs typeface="Calibri"/>
              </a:rPr>
              <a:t>two </a:t>
            </a:r>
            <a:r>
              <a:rPr sz="2400" spc="-15" dirty="0">
                <a:latin typeface="Calibri"/>
                <a:cs typeface="Calibri"/>
              </a:rPr>
              <a:t>are</a:t>
            </a:r>
            <a:r>
              <a:rPr sz="2400" dirty="0">
                <a:latin typeface="Calibri"/>
                <a:cs typeface="Calibri"/>
              </a:rPr>
              <a:t> </a:t>
            </a:r>
            <a:r>
              <a:rPr sz="2400" spc="-5" dirty="0">
                <a:latin typeface="Calibri"/>
                <a:cs typeface="Calibri"/>
              </a:rPr>
              <a:t>equal or</a:t>
            </a:r>
            <a:r>
              <a:rPr sz="2400" spc="-20" dirty="0">
                <a:latin typeface="Calibri"/>
                <a:cs typeface="Calibri"/>
              </a:rPr>
              <a:t> </a:t>
            </a:r>
            <a:r>
              <a:rPr sz="2400" dirty="0">
                <a:latin typeface="Calibri"/>
                <a:cs typeface="Calibri"/>
              </a:rPr>
              <a:t>as</a:t>
            </a:r>
            <a:r>
              <a:rPr sz="2400" spc="-5" dirty="0">
                <a:latin typeface="Calibri"/>
                <a:cs typeface="Calibri"/>
              </a:rPr>
              <a:t> </a:t>
            </a:r>
            <a:r>
              <a:rPr sz="2400" dirty="0">
                <a:latin typeface="Calibri"/>
                <a:cs typeface="Calibri"/>
              </a:rPr>
              <a:t>close</a:t>
            </a:r>
            <a:r>
              <a:rPr sz="2400" spc="-15" dirty="0">
                <a:latin typeface="Calibri"/>
                <a:cs typeface="Calibri"/>
              </a:rPr>
              <a:t> </a:t>
            </a:r>
            <a:r>
              <a:rPr sz="2400" dirty="0">
                <a:latin typeface="Calibri"/>
                <a:cs typeface="Calibri"/>
              </a:rPr>
              <a:t>as</a:t>
            </a:r>
            <a:r>
              <a:rPr sz="2400" spc="-5" dirty="0">
                <a:latin typeface="Calibri"/>
                <a:cs typeface="Calibri"/>
              </a:rPr>
              <a:t> </a:t>
            </a:r>
            <a:r>
              <a:rPr sz="2400" dirty="0">
                <a:latin typeface="Calibri"/>
                <a:cs typeface="Calibri"/>
              </a:rPr>
              <a:t>it</a:t>
            </a:r>
            <a:r>
              <a:rPr sz="2400" spc="-15" dirty="0">
                <a:latin typeface="Calibri"/>
                <a:cs typeface="Calibri"/>
              </a:rPr>
              <a:t> </a:t>
            </a:r>
            <a:r>
              <a:rPr sz="2400" dirty="0">
                <a:latin typeface="Calibri"/>
                <a:cs typeface="Calibri"/>
              </a:rPr>
              <a:t>is </a:t>
            </a:r>
            <a:r>
              <a:rPr sz="2400" spc="-10" dirty="0">
                <a:latin typeface="Calibri"/>
                <a:cs typeface="Calibri"/>
              </a:rPr>
              <a:t>possible</a:t>
            </a:r>
            <a:r>
              <a:rPr sz="2400" spc="5" dirty="0">
                <a:latin typeface="Calibri"/>
                <a:cs typeface="Calibri"/>
              </a:rPr>
              <a:t> </a:t>
            </a:r>
            <a:r>
              <a:rPr sz="2400" spc="-15" dirty="0">
                <a:latin typeface="Calibri"/>
                <a:cs typeface="Calibri"/>
              </a:rPr>
              <a:t>to</a:t>
            </a:r>
            <a:r>
              <a:rPr sz="2400" spc="-25" dirty="0">
                <a:latin typeface="Calibri"/>
                <a:cs typeface="Calibri"/>
              </a:rPr>
              <a:t> </a:t>
            </a:r>
            <a:r>
              <a:rPr sz="2400" spc="-5" dirty="0">
                <a:latin typeface="Calibri"/>
                <a:cs typeface="Calibri"/>
              </a:rPr>
              <a:t>set</a:t>
            </a:r>
            <a:r>
              <a:rPr sz="2400" dirty="0">
                <a:latin typeface="Calibri"/>
                <a:cs typeface="Calibri"/>
              </a:rPr>
              <a:t> them.</a:t>
            </a:r>
            <a:endParaRPr sz="2400">
              <a:latin typeface="Calibri"/>
              <a:cs typeface="Calibri"/>
            </a:endParaRPr>
          </a:p>
          <a:p>
            <a:pPr marL="241300" indent="-228600">
              <a:lnSpc>
                <a:spcPct val="100000"/>
              </a:lnSpc>
              <a:spcBef>
                <a:spcPts val="710"/>
              </a:spcBef>
              <a:buFont typeface="Arial MT"/>
              <a:buChar char="•"/>
              <a:tabLst>
                <a:tab pos="241300" algn="l"/>
              </a:tabLst>
            </a:pPr>
            <a:r>
              <a:rPr sz="2400" spc="-10" dirty="0">
                <a:latin typeface="Calibri"/>
                <a:cs typeface="Calibri"/>
              </a:rPr>
              <a:t>Figure </a:t>
            </a:r>
            <a:r>
              <a:rPr sz="2400" spc="-5" dirty="0">
                <a:latin typeface="Calibri"/>
                <a:cs typeface="Calibri"/>
              </a:rPr>
              <a:t>5.3</a:t>
            </a:r>
            <a:r>
              <a:rPr sz="2400" spc="-10" dirty="0">
                <a:latin typeface="Calibri"/>
                <a:cs typeface="Calibri"/>
              </a:rPr>
              <a:t> </a:t>
            </a:r>
            <a:r>
              <a:rPr sz="2400" spc="-15" dirty="0">
                <a:latin typeface="Calibri"/>
                <a:cs typeface="Calibri"/>
              </a:rPr>
              <a:t>illustrates</a:t>
            </a:r>
            <a:r>
              <a:rPr sz="2400" spc="-10" dirty="0">
                <a:latin typeface="Calibri"/>
                <a:cs typeface="Calibri"/>
              </a:rPr>
              <a:t> </a:t>
            </a:r>
            <a:r>
              <a:rPr sz="2400" dirty="0">
                <a:latin typeface="Calibri"/>
                <a:cs typeface="Calibri"/>
              </a:rPr>
              <a:t>the</a:t>
            </a:r>
            <a:r>
              <a:rPr sz="2400" spc="-10" dirty="0">
                <a:latin typeface="Calibri"/>
                <a:cs typeface="Calibri"/>
              </a:rPr>
              <a:t> </a:t>
            </a:r>
            <a:r>
              <a:rPr sz="2400" spc="-20" dirty="0">
                <a:latin typeface="Calibri"/>
                <a:cs typeface="Calibri"/>
              </a:rPr>
              <a:t>subsystems</a:t>
            </a:r>
            <a:r>
              <a:rPr sz="2400" spc="5" dirty="0">
                <a:latin typeface="Calibri"/>
                <a:cs typeface="Calibri"/>
              </a:rPr>
              <a:t> </a:t>
            </a:r>
            <a:r>
              <a:rPr sz="2400" spc="-15" dirty="0">
                <a:latin typeface="Calibri"/>
                <a:cs typeface="Calibri"/>
              </a:rPr>
              <a:t>involved.</a:t>
            </a:r>
            <a:endParaRPr sz="2400">
              <a:latin typeface="Calibri"/>
              <a:cs typeface="Calibri"/>
            </a:endParaRPr>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18</a:t>
            </a:fld>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05968" y="888491"/>
            <a:ext cx="5293259" cy="4975161"/>
          </a:xfrm>
          <a:prstGeom prst="rect">
            <a:avLst/>
          </a:prstGeom>
        </p:spPr>
      </p:pic>
      <p:pic>
        <p:nvPicPr>
          <p:cNvPr id="3" name="object 3"/>
          <p:cNvPicPr/>
          <p:nvPr/>
        </p:nvPicPr>
        <p:blipFill>
          <a:blip r:embed="rId3" cstate="print"/>
          <a:stretch>
            <a:fillRect/>
          </a:stretch>
        </p:blipFill>
        <p:spPr>
          <a:xfrm>
            <a:off x="6263654" y="813150"/>
            <a:ext cx="5109914" cy="1616878"/>
          </a:xfrm>
          <a:prstGeom prst="rect">
            <a:avLst/>
          </a:prstGeom>
        </p:spPr>
      </p:pic>
      <p:pic>
        <p:nvPicPr>
          <p:cNvPr id="4" name="object 4"/>
          <p:cNvPicPr/>
          <p:nvPr/>
        </p:nvPicPr>
        <p:blipFill>
          <a:blip r:embed="rId4" cstate="print"/>
          <a:stretch>
            <a:fillRect/>
          </a:stretch>
        </p:blipFill>
        <p:spPr>
          <a:xfrm>
            <a:off x="6288038" y="2803506"/>
            <a:ext cx="5109914" cy="1653431"/>
          </a:xfrm>
          <a:prstGeom prst="rect">
            <a:avLst/>
          </a:prstGeom>
        </p:spPr>
      </p:pic>
      <p:pic>
        <p:nvPicPr>
          <p:cNvPr id="5" name="object 5"/>
          <p:cNvPicPr/>
          <p:nvPr/>
        </p:nvPicPr>
        <p:blipFill>
          <a:blip r:embed="rId5" cstate="print"/>
          <a:stretch>
            <a:fillRect/>
          </a:stretch>
        </p:blipFill>
        <p:spPr>
          <a:xfrm>
            <a:off x="6288038" y="4761626"/>
            <a:ext cx="5109914" cy="1682720"/>
          </a:xfrm>
          <a:prstGeom prst="rect">
            <a:avLst/>
          </a:prstGeom>
        </p:spPr>
      </p:pic>
      <p:sp>
        <p:nvSpPr>
          <p:cNvPr id="6" name="Slide Number Placeholder 5"/>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19</a:t>
            </a:fld>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373270" y="507491"/>
            <a:ext cx="3785544" cy="5943921"/>
          </a:xfrm>
          <a:prstGeom prst="rect">
            <a:avLst/>
          </a:prstGeom>
        </p:spPr>
      </p:pic>
      <p:pic>
        <p:nvPicPr>
          <p:cNvPr id="3" name="object 3"/>
          <p:cNvPicPr/>
          <p:nvPr/>
        </p:nvPicPr>
        <p:blipFill>
          <a:blip r:embed="rId3" cstate="print"/>
          <a:stretch>
            <a:fillRect/>
          </a:stretch>
        </p:blipFill>
        <p:spPr>
          <a:xfrm>
            <a:off x="520508" y="721362"/>
            <a:ext cx="5692729" cy="2747330"/>
          </a:xfrm>
          <a:prstGeom prst="rect">
            <a:avLst/>
          </a:prstGeom>
        </p:spPr>
      </p:pic>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20</a:t>
            </a:fld>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14273" y="384428"/>
            <a:ext cx="10807065" cy="5497195"/>
          </a:xfrm>
          <a:prstGeom prst="rect">
            <a:avLst/>
          </a:prstGeom>
        </p:spPr>
        <p:txBody>
          <a:bodyPr vert="horz" wrap="square" lIns="0" tIns="92075" rIns="0" bIns="0" rtlCol="0">
            <a:spAutoFit/>
          </a:bodyPr>
          <a:lstStyle/>
          <a:p>
            <a:pPr marL="241300" marR="499109" indent="-229235">
              <a:lnSpc>
                <a:spcPct val="80000"/>
              </a:lnSpc>
              <a:spcBef>
                <a:spcPts val="725"/>
              </a:spcBef>
              <a:buFont typeface="Arial MT"/>
              <a:buChar char="•"/>
              <a:tabLst>
                <a:tab pos="241935" algn="l"/>
              </a:tabLst>
            </a:pPr>
            <a:r>
              <a:rPr sz="2600" spc="-5" dirty="0">
                <a:latin typeface="Calibri"/>
                <a:cs typeface="Calibri"/>
              </a:rPr>
              <a:t>Successive </a:t>
            </a:r>
            <a:r>
              <a:rPr sz="2600" spc="-10" dirty="0">
                <a:latin typeface="Calibri"/>
                <a:cs typeface="Calibri"/>
              </a:rPr>
              <a:t>approximation </a:t>
            </a:r>
            <a:r>
              <a:rPr sz="2600" spc="-5" dirty="0">
                <a:latin typeface="Calibri"/>
                <a:cs typeface="Calibri"/>
              </a:rPr>
              <a:t>principle </a:t>
            </a:r>
            <a:r>
              <a:rPr sz="2600" spc="-10" dirty="0">
                <a:latin typeface="Calibri"/>
                <a:cs typeface="Calibri"/>
              </a:rPr>
              <a:t>can </a:t>
            </a:r>
            <a:r>
              <a:rPr sz="2600" spc="-5" dirty="0">
                <a:latin typeface="Calibri"/>
                <a:cs typeface="Calibri"/>
              </a:rPr>
              <a:t>be </a:t>
            </a:r>
            <a:r>
              <a:rPr sz="2600" dirty="0">
                <a:latin typeface="Calibri"/>
                <a:cs typeface="Calibri"/>
              </a:rPr>
              <a:t>easily </a:t>
            </a:r>
            <a:r>
              <a:rPr sz="2600" spc="-15" dirty="0">
                <a:latin typeface="Calibri"/>
                <a:cs typeface="Calibri"/>
              </a:rPr>
              <a:t>understood </a:t>
            </a:r>
            <a:r>
              <a:rPr sz="2600" spc="-5" dirty="0">
                <a:latin typeface="Calibri"/>
                <a:cs typeface="Calibri"/>
              </a:rPr>
              <a:t>using </a:t>
            </a:r>
            <a:r>
              <a:rPr sz="2600" dirty="0">
                <a:latin typeface="Calibri"/>
                <a:cs typeface="Calibri"/>
              </a:rPr>
              <a:t>a </a:t>
            </a:r>
            <a:r>
              <a:rPr sz="2600" spc="-5" dirty="0">
                <a:latin typeface="Calibri"/>
                <a:cs typeface="Calibri"/>
              </a:rPr>
              <a:t>simple </a:t>
            </a:r>
            <a:r>
              <a:rPr sz="2600" spc="-575" dirty="0">
                <a:latin typeface="Calibri"/>
                <a:cs typeface="Calibri"/>
              </a:rPr>
              <a:t> </a:t>
            </a:r>
            <a:r>
              <a:rPr sz="2600" spc="-10" dirty="0">
                <a:latin typeface="Calibri"/>
                <a:cs typeface="Calibri"/>
              </a:rPr>
              <a:t>example;</a:t>
            </a:r>
            <a:r>
              <a:rPr sz="2600" spc="-35" dirty="0">
                <a:latin typeface="Calibri"/>
                <a:cs typeface="Calibri"/>
              </a:rPr>
              <a:t> </a:t>
            </a:r>
            <a:r>
              <a:rPr sz="2600" dirty="0">
                <a:latin typeface="Calibri"/>
                <a:cs typeface="Calibri"/>
              </a:rPr>
              <a:t>the</a:t>
            </a:r>
            <a:r>
              <a:rPr sz="2600" spc="-10" dirty="0">
                <a:latin typeface="Calibri"/>
                <a:cs typeface="Calibri"/>
              </a:rPr>
              <a:t> </a:t>
            </a:r>
            <a:r>
              <a:rPr sz="2600" spc="-5" dirty="0">
                <a:latin typeface="Calibri"/>
                <a:cs typeface="Calibri"/>
              </a:rPr>
              <a:t>determination</a:t>
            </a:r>
            <a:r>
              <a:rPr sz="2600" spc="-40" dirty="0">
                <a:latin typeface="Calibri"/>
                <a:cs typeface="Calibri"/>
              </a:rPr>
              <a:t> </a:t>
            </a:r>
            <a:r>
              <a:rPr sz="2600" spc="-5" dirty="0">
                <a:latin typeface="Calibri"/>
                <a:cs typeface="Calibri"/>
              </a:rPr>
              <a:t>of </a:t>
            </a:r>
            <a:r>
              <a:rPr sz="2600" dirty="0">
                <a:latin typeface="Calibri"/>
                <a:cs typeface="Calibri"/>
              </a:rPr>
              <a:t>the</a:t>
            </a:r>
            <a:r>
              <a:rPr sz="2600" spc="-15" dirty="0">
                <a:latin typeface="Calibri"/>
                <a:cs typeface="Calibri"/>
              </a:rPr>
              <a:t> </a:t>
            </a:r>
            <a:r>
              <a:rPr sz="2600" spc="-10" dirty="0">
                <a:latin typeface="Calibri"/>
                <a:cs typeface="Calibri"/>
              </a:rPr>
              <a:t>weight </a:t>
            </a:r>
            <a:r>
              <a:rPr sz="2600" spc="-5" dirty="0">
                <a:latin typeface="Calibri"/>
                <a:cs typeface="Calibri"/>
              </a:rPr>
              <a:t>of </a:t>
            </a:r>
            <a:r>
              <a:rPr sz="2600" dirty="0">
                <a:latin typeface="Calibri"/>
                <a:cs typeface="Calibri"/>
              </a:rPr>
              <a:t>an </a:t>
            </a:r>
            <a:r>
              <a:rPr sz="2600" spc="-5" dirty="0">
                <a:latin typeface="Calibri"/>
                <a:cs typeface="Calibri"/>
              </a:rPr>
              <a:t>object.</a:t>
            </a:r>
            <a:endParaRPr sz="2600">
              <a:latin typeface="Calibri"/>
              <a:cs typeface="Calibri"/>
            </a:endParaRPr>
          </a:p>
          <a:p>
            <a:pPr marL="241300" marR="680085" indent="-229235">
              <a:lnSpc>
                <a:spcPct val="80000"/>
              </a:lnSpc>
              <a:spcBef>
                <a:spcPts val="1000"/>
              </a:spcBef>
              <a:buFont typeface="Arial MT"/>
              <a:buChar char="•"/>
              <a:tabLst>
                <a:tab pos="241935" algn="l"/>
              </a:tabLst>
            </a:pPr>
            <a:r>
              <a:rPr sz="2600" spc="-15" dirty="0">
                <a:latin typeface="Calibri"/>
                <a:cs typeface="Calibri"/>
              </a:rPr>
              <a:t>By </a:t>
            </a:r>
            <a:r>
              <a:rPr sz="2600" spc="-5" dirty="0">
                <a:latin typeface="Calibri"/>
                <a:cs typeface="Calibri"/>
              </a:rPr>
              <a:t>using </a:t>
            </a:r>
            <a:r>
              <a:rPr sz="2600" dirty="0">
                <a:latin typeface="Calibri"/>
                <a:cs typeface="Calibri"/>
              </a:rPr>
              <a:t>a </a:t>
            </a:r>
            <a:r>
              <a:rPr sz="2600" spc="-5" dirty="0">
                <a:latin typeface="Calibri"/>
                <a:cs typeface="Calibri"/>
              </a:rPr>
              <a:t>balance </a:t>
            </a:r>
            <a:r>
              <a:rPr sz="2600" dirty="0">
                <a:latin typeface="Calibri"/>
                <a:cs typeface="Calibri"/>
              </a:rPr>
              <a:t>and </a:t>
            </a:r>
            <a:r>
              <a:rPr sz="2600" spc="-5" dirty="0">
                <a:latin typeface="Calibri"/>
                <a:cs typeface="Calibri"/>
              </a:rPr>
              <a:t>placing </a:t>
            </a:r>
            <a:r>
              <a:rPr sz="2600" dirty="0">
                <a:latin typeface="Calibri"/>
                <a:cs typeface="Calibri"/>
              </a:rPr>
              <a:t>the </a:t>
            </a:r>
            <a:r>
              <a:rPr sz="2600" spc="-5" dirty="0">
                <a:latin typeface="Calibri"/>
                <a:cs typeface="Calibri"/>
              </a:rPr>
              <a:t>object on one side </a:t>
            </a:r>
            <a:r>
              <a:rPr sz="2600" dirty="0">
                <a:latin typeface="Calibri"/>
                <a:cs typeface="Calibri"/>
              </a:rPr>
              <a:t>and an </a:t>
            </a:r>
            <a:r>
              <a:rPr sz="2600" spc="-15" dirty="0">
                <a:latin typeface="Calibri"/>
                <a:cs typeface="Calibri"/>
              </a:rPr>
              <a:t>approximate </a:t>
            </a:r>
            <a:r>
              <a:rPr sz="2600" spc="-575" dirty="0">
                <a:latin typeface="Calibri"/>
                <a:cs typeface="Calibri"/>
              </a:rPr>
              <a:t> </a:t>
            </a:r>
            <a:r>
              <a:rPr sz="2600" spc="-10" dirty="0">
                <a:latin typeface="Calibri"/>
                <a:cs typeface="Calibri"/>
              </a:rPr>
              <a:t>weight </a:t>
            </a:r>
            <a:r>
              <a:rPr sz="2600" dirty="0">
                <a:latin typeface="Calibri"/>
                <a:cs typeface="Calibri"/>
              </a:rPr>
              <a:t>on</a:t>
            </a:r>
            <a:r>
              <a:rPr sz="2600" spc="-5" dirty="0">
                <a:latin typeface="Calibri"/>
                <a:cs typeface="Calibri"/>
              </a:rPr>
              <a:t> </a:t>
            </a:r>
            <a:r>
              <a:rPr sz="2600" dirty="0">
                <a:latin typeface="Calibri"/>
                <a:cs typeface="Calibri"/>
              </a:rPr>
              <a:t>the</a:t>
            </a:r>
            <a:r>
              <a:rPr sz="2600" spc="-20" dirty="0">
                <a:latin typeface="Calibri"/>
                <a:cs typeface="Calibri"/>
              </a:rPr>
              <a:t> </a:t>
            </a:r>
            <a:r>
              <a:rPr sz="2600" spc="-5" dirty="0">
                <a:latin typeface="Calibri"/>
                <a:cs typeface="Calibri"/>
              </a:rPr>
              <a:t>other</a:t>
            </a:r>
            <a:r>
              <a:rPr sz="2600" spc="-20" dirty="0">
                <a:latin typeface="Calibri"/>
                <a:cs typeface="Calibri"/>
              </a:rPr>
              <a:t> </a:t>
            </a:r>
            <a:r>
              <a:rPr sz="2600" spc="-5" dirty="0">
                <a:latin typeface="Calibri"/>
                <a:cs typeface="Calibri"/>
              </a:rPr>
              <a:t>side,</a:t>
            </a:r>
            <a:r>
              <a:rPr sz="2600" spc="-15" dirty="0">
                <a:latin typeface="Calibri"/>
                <a:cs typeface="Calibri"/>
              </a:rPr>
              <a:t> </a:t>
            </a:r>
            <a:r>
              <a:rPr sz="2600" dirty="0">
                <a:latin typeface="Calibri"/>
                <a:cs typeface="Calibri"/>
              </a:rPr>
              <a:t>the</a:t>
            </a:r>
            <a:r>
              <a:rPr sz="2600" spc="-25" dirty="0">
                <a:latin typeface="Calibri"/>
                <a:cs typeface="Calibri"/>
              </a:rPr>
              <a:t> </a:t>
            </a:r>
            <a:r>
              <a:rPr sz="2600" spc="-10" dirty="0">
                <a:latin typeface="Calibri"/>
                <a:cs typeface="Calibri"/>
              </a:rPr>
              <a:t>weight </a:t>
            </a:r>
            <a:r>
              <a:rPr sz="2600" dirty="0">
                <a:latin typeface="Calibri"/>
                <a:cs typeface="Calibri"/>
              </a:rPr>
              <a:t>of the</a:t>
            </a:r>
            <a:r>
              <a:rPr sz="2600" spc="-20" dirty="0">
                <a:latin typeface="Calibri"/>
                <a:cs typeface="Calibri"/>
              </a:rPr>
              <a:t> </a:t>
            </a:r>
            <a:r>
              <a:rPr sz="2600" spc="-5" dirty="0">
                <a:latin typeface="Calibri"/>
                <a:cs typeface="Calibri"/>
              </a:rPr>
              <a:t>object</a:t>
            </a:r>
            <a:r>
              <a:rPr sz="2600" spc="-20" dirty="0">
                <a:latin typeface="Calibri"/>
                <a:cs typeface="Calibri"/>
              </a:rPr>
              <a:t> </a:t>
            </a:r>
            <a:r>
              <a:rPr sz="2600" dirty="0">
                <a:latin typeface="Calibri"/>
                <a:cs typeface="Calibri"/>
              </a:rPr>
              <a:t>is </a:t>
            </a:r>
            <a:r>
              <a:rPr sz="2600" spc="-5" dirty="0">
                <a:latin typeface="Calibri"/>
                <a:cs typeface="Calibri"/>
              </a:rPr>
              <a:t>determined.</a:t>
            </a:r>
            <a:endParaRPr sz="2600">
              <a:latin typeface="Calibri"/>
              <a:cs typeface="Calibri"/>
            </a:endParaRPr>
          </a:p>
          <a:p>
            <a:pPr marL="241300" marR="173990" indent="-229235">
              <a:lnSpc>
                <a:spcPts val="2500"/>
              </a:lnSpc>
              <a:spcBef>
                <a:spcPts val="985"/>
              </a:spcBef>
              <a:buFont typeface="Arial MT"/>
              <a:buChar char="•"/>
              <a:tabLst>
                <a:tab pos="241935" algn="l"/>
              </a:tabLst>
            </a:pPr>
            <a:r>
              <a:rPr sz="2600" dirty="0">
                <a:latin typeface="Calibri"/>
                <a:cs typeface="Calibri"/>
              </a:rPr>
              <a:t>If the </a:t>
            </a:r>
            <a:r>
              <a:rPr sz="2600" spc="-10" dirty="0">
                <a:latin typeface="Calibri"/>
                <a:cs typeface="Calibri"/>
              </a:rPr>
              <a:t>weight </a:t>
            </a:r>
            <a:r>
              <a:rPr sz="2600" spc="-5" dirty="0">
                <a:latin typeface="Calibri"/>
                <a:cs typeface="Calibri"/>
              </a:rPr>
              <a:t>placed </a:t>
            </a:r>
            <a:r>
              <a:rPr sz="2600" dirty="0">
                <a:latin typeface="Calibri"/>
                <a:cs typeface="Calibri"/>
              </a:rPr>
              <a:t>is </a:t>
            </a:r>
            <a:r>
              <a:rPr sz="2600" spc="-10" dirty="0">
                <a:latin typeface="Calibri"/>
                <a:cs typeface="Calibri"/>
              </a:rPr>
              <a:t>more </a:t>
            </a:r>
            <a:r>
              <a:rPr sz="2600" dirty="0">
                <a:latin typeface="Calibri"/>
                <a:cs typeface="Calibri"/>
              </a:rPr>
              <a:t>than the </a:t>
            </a:r>
            <a:r>
              <a:rPr sz="2600" spc="-5" dirty="0">
                <a:latin typeface="Calibri"/>
                <a:cs typeface="Calibri"/>
              </a:rPr>
              <a:t>unknown </a:t>
            </a:r>
            <a:r>
              <a:rPr sz="2600" spc="-10" dirty="0">
                <a:latin typeface="Calibri"/>
                <a:cs typeface="Calibri"/>
              </a:rPr>
              <a:t>weight, </a:t>
            </a:r>
            <a:r>
              <a:rPr sz="2600" dirty="0">
                <a:latin typeface="Calibri"/>
                <a:cs typeface="Calibri"/>
              </a:rPr>
              <a:t>the </a:t>
            </a:r>
            <a:r>
              <a:rPr sz="2600" spc="-10" dirty="0">
                <a:latin typeface="Calibri"/>
                <a:cs typeface="Calibri"/>
              </a:rPr>
              <a:t>weight </a:t>
            </a:r>
            <a:r>
              <a:rPr sz="2600" dirty="0">
                <a:latin typeface="Calibri"/>
                <a:cs typeface="Calibri"/>
              </a:rPr>
              <a:t>is </a:t>
            </a:r>
            <a:r>
              <a:rPr sz="2600" spc="-15" dirty="0">
                <a:latin typeface="Calibri"/>
                <a:cs typeface="Calibri"/>
              </a:rPr>
              <a:t>removed </a:t>
            </a:r>
            <a:r>
              <a:rPr sz="2600" spc="-575" dirty="0">
                <a:latin typeface="Calibri"/>
                <a:cs typeface="Calibri"/>
              </a:rPr>
              <a:t> </a:t>
            </a:r>
            <a:r>
              <a:rPr sz="2600" dirty="0">
                <a:latin typeface="Calibri"/>
                <a:cs typeface="Calibri"/>
              </a:rPr>
              <a:t>and another </a:t>
            </a:r>
            <a:r>
              <a:rPr sz="2600" spc="-10" dirty="0">
                <a:latin typeface="Calibri"/>
                <a:cs typeface="Calibri"/>
              </a:rPr>
              <a:t>weight </a:t>
            </a:r>
            <a:r>
              <a:rPr sz="2600" spc="-5" dirty="0">
                <a:latin typeface="Calibri"/>
                <a:cs typeface="Calibri"/>
              </a:rPr>
              <a:t>of smaller </a:t>
            </a:r>
            <a:r>
              <a:rPr sz="2600" spc="-10" dirty="0">
                <a:latin typeface="Calibri"/>
                <a:cs typeface="Calibri"/>
              </a:rPr>
              <a:t>value </a:t>
            </a:r>
            <a:r>
              <a:rPr sz="2600" dirty="0">
                <a:latin typeface="Calibri"/>
                <a:cs typeface="Calibri"/>
              </a:rPr>
              <a:t>is </a:t>
            </a:r>
            <a:r>
              <a:rPr sz="2600" spc="-5" dirty="0">
                <a:latin typeface="Calibri"/>
                <a:cs typeface="Calibri"/>
              </a:rPr>
              <a:t>placed </a:t>
            </a:r>
            <a:r>
              <a:rPr sz="2600" dirty="0">
                <a:latin typeface="Calibri"/>
                <a:cs typeface="Calibri"/>
              </a:rPr>
              <a:t>and </a:t>
            </a:r>
            <a:r>
              <a:rPr sz="2600" spc="-10" dirty="0">
                <a:latin typeface="Calibri"/>
                <a:cs typeface="Calibri"/>
              </a:rPr>
              <a:t>again </a:t>
            </a:r>
            <a:r>
              <a:rPr sz="2600" dirty="0">
                <a:latin typeface="Calibri"/>
                <a:cs typeface="Calibri"/>
              </a:rPr>
              <a:t>the </a:t>
            </a:r>
            <a:r>
              <a:rPr sz="2600" spc="-5" dirty="0">
                <a:latin typeface="Calibri"/>
                <a:cs typeface="Calibri"/>
              </a:rPr>
              <a:t>measurement </a:t>
            </a:r>
            <a:r>
              <a:rPr sz="2600" dirty="0">
                <a:latin typeface="Calibri"/>
                <a:cs typeface="Calibri"/>
              </a:rPr>
              <a:t>is </a:t>
            </a:r>
            <a:r>
              <a:rPr sz="2600" spc="5" dirty="0">
                <a:latin typeface="Calibri"/>
                <a:cs typeface="Calibri"/>
              </a:rPr>
              <a:t> </a:t>
            </a:r>
            <a:r>
              <a:rPr sz="2600" spc="-10" dirty="0">
                <a:latin typeface="Calibri"/>
                <a:cs typeface="Calibri"/>
              </a:rPr>
              <a:t>performed.</a:t>
            </a:r>
            <a:endParaRPr sz="2600">
              <a:latin typeface="Calibri"/>
              <a:cs typeface="Calibri"/>
            </a:endParaRPr>
          </a:p>
          <a:p>
            <a:pPr marL="241300" marR="5080" indent="-229235">
              <a:lnSpc>
                <a:spcPts val="2500"/>
              </a:lnSpc>
              <a:spcBef>
                <a:spcPts val="985"/>
              </a:spcBef>
              <a:buFont typeface="Arial MT"/>
              <a:buChar char="•"/>
              <a:tabLst>
                <a:tab pos="241935" algn="l"/>
              </a:tabLst>
            </a:pPr>
            <a:r>
              <a:rPr sz="2600" spc="-5" dirty="0">
                <a:latin typeface="Calibri"/>
                <a:cs typeface="Calibri"/>
              </a:rPr>
              <a:t>Now </a:t>
            </a:r>
            <a:r>
              <a:rPr sz="2600" dirty="0">
                <a:latin typeface="Calibri"/>
                <a:cs typeface="Calibri"/>
              </a:rPr>
              <a:t>if it is </a:t>
            </a:r>
            <a:r>
              <a:rPr sz="2600" spc="-15" dirty="0">
                <a:latin typeface="Calibri"/>
                <a:cs typeface="Calibri"/>
              </a:rPr>
              <a:t>found </a:t>
            </a:r>
            <a:r>
              <a:rPr sz="2600" spc="-5" dirty="0">
                <a:latin typeface="Calibri"/>
                <a:cs typeface="Calibri"/>
              </a:rPr>
              <a:t>that </a:t>
            </a:r>
            <a:r>
              <a:rPr sz="2600" dirty="0">
                <a:latin typeface="Calibri"/>
                <a:cs typeface="Calibri"/>
              </a:rPr>
              <a:t>the </a:t>
            </a:r>
            <a:r>
              <a:rPr sz="2600" spc="-10" dirty="0">
                <a:latin typeface="Calibri"/>
                <a:cs typeface="Calibri"/>
              </a:rPr>
              <a:t>weight </a:t>
            </a:r>
            <a:r>
              <a:rPr sz="2600" spc="-5" dirty="0">
                <a:latin typeface="Calibri"/>
                <a:cs typeface="Calibri"/>
              </a:rPr>
              <a:t>placed </a:t>
            </a:r>
            <a:r>
              <a:rPr sz="2600" dirty="0">
                <a:latin typeface="Calibri"/>
                <a:cs typeface="Calibri"/>
              </a:rPr>
              <a:t>is less than </a:t>
            </a:r>
            <a:r>
              <a:rPr sz="2600" spc="-5" dirty="0">
                <a:latin typeface="Calibri"/>
                <a:cs typeface="Calibri"/>
              </a:rPr>
              <a:t>that </a:t>
            </a:r>
            <a:r>
              <a:rPr sz="2600" dirty="0">
                <a:latin typeface="Calibri"/>
                <a:cs typeface="Calibri"/>
              </a:rPr>
              <a:t>of the </a:t>
            </a:r>
            <a:r>
              <a:rPr sz="2600" spc="-5" dirty="0">
                <a:latin typeface="Calibri"/>
                <a:cs typeface="Calibri"/>
              </a:rPr>
              <a:t>object, </a:t>
            </a:r>
            <a:r>
              <a:rPr sz="2600" dirty="0">
                <a:latin typeface="Calibri"/>
                <a:cs typeface="Calibri"/>
              </a:rPr>
              <a:t>another </a:t>
            </a:r>
            <a:r>
              <a:rPr sz="2600" spc="-575" dirty="0">
                <a:latin typeface="Calibri"/>
                <a:cs typeface="Calibri"/>
              </a:rPr>
              <a:t> </a:t>
            </a:r>
            <a:r>
              <a:rPr sz="2600" spc="-10" dirty="0">
                <a:latin typeface="Calibri"/>
                <a:cs typeface="Calibri"/>
              </a:rPr>
              <a:t>weight </a:t>
            </a:r>
            <a:r>
              <a:rPr sz="2600" spc="-5" dirty="0">
                <a:latin typeface="Calibri"/>
                <a:cs typeface="Calibri"/>
              </a:rPr>
              <a:t>of smaller </a:t>
            </a:r>
            <a:r>
              <a:rPr sz="2600" spc="-10" dirty="0">
                <a:latin typeface="Calibri"/>
                <a:cs typeface="Calibri"/>
              </a:rPr>
              <a:t>value </a:t>
            </a:r>
            <a:r>
              <a:rPr sz="2600" dirty="0">
                <a:latin typeface="Calibri"/>
                <a:cs typeface="Calibri"/>
              </a:rPr>
              <a:t>is added </a:t>
            </a:r>
            <a:r>
              <a:rPr sz="2600" spc="-15" dirty="0">
                <a:latin typeface="Calibri"/>
                <a:cs typeface="Calibri"/>
              </a:rPr>
              <a:t>to </a:t>
            </a:r>
            <a:r>
              <a:rPr sz="2600" dirty="0">
                <a:latin typeface="Calibri"/>
                <a:cs typeface="Calibri"/>
              </a:rPr>
              <a:t>the </a:t>
            </a:r>
            <a:r>
              <a:rPr sz="2600" spc="-10" dirty="0">
                <a:latin typeface="Calibri"/>
                <a:cs typeface="Calibri"/>
              </a:rPr>
              <a:t>weight </a:t>
            </a:r>
            <a:r>
              <a:rPr sz="2600" spc="-5" dirty="0">
                <a:latin typeface="Calibri"/>
                <a:cs typeface="Calibri"/>
              </a:rPr>
              <a:t>already </a:t>
            </a:r>
            <a:r>
              <a:rPr sz="2600" spc="-10" dirty="0">
                <a:latin typeface="Calibri"/>
                <a:cs typeface="Calibri"/>
              </a:rPr>
              <a:t>present, </a:t>
            </a:r>
            <a:r>
              <a:rPr sz="2600" dirty="0">
                <a:latin typeface="Calibri"/>
                <a:cs typeface="Calibri"/>
              </a:rPr>
              <a:t>and the </a:t>
            </a:r>
            <a:r>
              <a:rPr sz="2600" spc="5" dirty="0">
                <a:latin typeface="Calibri"/>
                <a:cs typeface="Calibri"/>
              </a:rPr>
              <a:t> </a:t>
            </a:r>
            <a:r>
              <a:rPr sz="2600" spc="-5" dirty="0">
                <a:latin typeface="Calibri"/>
                <a:cs typeface="Calibri"/>
              </a:rPr>
              <a:t>measurement</a:t>
            </a:r>
            <a:r>
              <a:rPr sz="2600" spc="-50" dirty="0">
                <a:latin typeface="Calibri"/>
                <a:cs typeface="Calibri"/>
              </a:rPr>
              <a:t> </a:t>
            </a:r>
            <a:r>
              <a:rPr sz="2600" dirty="0">
                <a:latin typeface="Calibri"/>
                <a:cs typeface="Calibri"/>
              </a:rPr>
              <a:t>is </a:t>
            </a:r>
            <a:r>
              <a:rPr sz="2600" spc="-10" dirty="0">
                <a:latin typeface="Calibri"/>
                <a:cs typeface="Calibri"/>
              </a:rPr>
              <a:t>performed.</a:t>
            </a:r>
            <a:endParaRPr sz="2600">
              <a:latin typeface="Calibri"/>
              <a:cs typeface="Calibri"/>
            </a:endParaRPr>
          </a:p>
          <a:p>
            <a:pPr marL="241300" marR="842644" indent="-229235">
              <a:lnSpc>
                <a:spcPts val="2500"/>
              </a:lnSpc>
              <a:spcBef>
                <a:spcPts val="985"/>
              </a:spcBef>
              <a:buFont typeface="Arial MT"/>
              <a:buChar char="•"/>
              <a:tabLst>
                <a:tab pos="241935" algn="l"/>
              </a:tabLst>
            </a:pPr>
            <a:r>
              <a:rPr sz="2600" dirty="0">
                <a:latin typeface="Calibri"/>
                <a:cs typeface="Calibri"/>
              </a:rPr>
              <a:t>If it is </a:t>
            </a:r>
            <a:r>
              <a:rPr sz="2600" spc="-20" dirty="0">
                <a:latin typeface="Calibri"/>
                <a:cs typeface="Calibri"/>
              </a:rPr>
              <a:t>found </a:t>
            </a:r>
            <a:r>
              <a:rPr sz="2600" spc="-15" dirty="0">
                <a:latin typeface="Calibri"/>
                <a:cs typeface="Calibri"/>
              </a:rPr>
              <a:t>to </a:t>
            </a:r>
            <a:r>
              <a:rPr sz="2600" dirty="0">
                <a:latin typeface="Calibri"/>
                <a:cs typeface="Calibri"/>
              </a:rPr>
              <a:t>be </a:t>
            </a:r>
            <a:r>
              <a:rPr sz="2600" spc="-15" dirty="0">
                <a:latin typeface="Calibri"/>
                <a:cs typeface="Calibri"/>
              </a:rPr>
              <a:t>greater </a:t>
            </a:r>
            <a:r>
              <a:rPr sz="2600" dirty="0">
                <a:latin typeface="Calibri"/>
                <a:cs typeface="Calibri"/>
              </a:rPr>
              <a:t>than the </a:t>
            </a:r>
            <a:r>
              <a:rPr sz="2600" spc="-5" dirty="0">
                <a:latin typeface="Calibri"/>
                <a:cs typeface="Calibri"/>
              </a:rPr>
              <a:t>unknown </a:t>
            </a:r>
            <a:r>
              <a:rPr sz="2600" spc="-10" dirty="0">
                <a:latin typeface="Calibri"/>
                <a:cs typeface="Calibri"/>
              </a:rPr>
              <a:t>weight, </a:t>
            </a:r>
            <a:r>
              <a:rPr sz="2600" dirty="0">
                <a:latin typeface="Calibri"/>
                <a:cs typeface="Calibri"/>
              </a:rPr>
              <a:t>the added </a:t>
            </a:r>
            <a:r>
              <a:rPr sz="2600" spc="-10" dirty="0">
                <a:latin typeface="Calibri"/>
                <a:cs typeface="Calibri"/>
              </a:rPr>
              <a:t>weight </a:t>
            </a:r>
            <a:r>
              <a:rPr sz="2600" dirty="0">
                <a:latin typeface="Calibri"/>
                <a:cs typeface="Calibri"/>
              </a:rPr>
              <a:t>is </a:t>
            </a:r>
            <a:r>
              <a:rPr sz="2600" spc="-575" dirty="0">
                <a:latin typeface="Calibri"/>
                <a:cs typeface="Calibri"/>
              </a:rPr>
              <a:t> </a:t>
            </a:r>
            <a:r>
              <a:rPr sz="2600" spc="-15" dirty="0">
                <a:latin typeface="Calibri"/>
                <a:cs typeface="Calibri"/>
              </a:rPr>
              <a:t>removed</a:t>
            </a:r>
            <a:r>
              <a:rPr sz="2600" spc="-10" dirty="0">
                <a:latin typeface="Calibri"/>
                <a:cs typeface="Calibri"/>
              </a:rPr>
              <a:t> </a:t>
            </a:r>
            <a:r>
              <a:rPr sz="2600" dirty="0">
                <a:latin typeface="Calibri"/>
                <a:cs typeface="Calibri"/>
              </a:rPr>
              <a:t>and</a:t>
            </a:r>
            <a:r>
              <a:rPr sz="2600" spc="-10" dirty="0">
                <a:latin typeface="Calibri"/>
                <a:cs typeface="Calibri"/>
              </a:rPr>
              <a:t> </a:t>
            </a:r>
            <a:r>
              <a:rPr sz="2600" dirty="0">
                <a:latin typeface="Calibri"/>
                <a:cs typeface="Calibri"/>
              </a:rPr>
              <a:t>another</a:t>
            </a:r>
            <a:r>
              <a:rPr sz="2600" spc="-10" dirty="0">
                <a:latin typeface="Calibri"/>
                <a:cs typeface="Calibri"/>
              </a:rPr>
              <a:t> weight </a:t>
            </a:r>
            <a:r>
              <a:rPr sz="2600" spc="-5" dirty="0">
                <a:latin typeface="Calibri"/>
                <a:cs typeface="Calibri"/>
              </a:rPr>
              <a:t>of smaller</a:t>
            </a:r>
            <a:r>
              <a:rPr sz="2600" dirty="0">
                <a:latin typeface="Calibri"/>
                <a:cs typeface="Calibri"/>
              </a:rPr>
              <a:t> </a:t>
            </a:r>
            <a:r>
              <a:rPr sz="2600" spc="-10" dirty="0">
                <a:latin typeface="Calibri"/>
                <a:cs typeface="Calibri"/>
              </a:rPr>
              <a:t>value </a:t>
            </a:r>
            <a:r>
              <a:rPr sz="2600" dirty="0">
                <a:latin typeface="Calibri"/>
                <a:cs typeface="Calibri"/>
              </a:rPr>
              <a:t>is</a:t>
            </a:r>
            <a:endParaRPr sz="2600">
              <a:latin typeface="Calibri"/>
              <a:cs typeface="Calibri"/>
            </a:endParaRPr>
          </a:p>
          <a:p>
            <a:pPr marL="241300">
              <a:lnSpc>
                <a:spcPts val="2510"/>
              </a:lnSpc>
            </a:pPr>
            <a:r>
              <a:rPr sz="2600" dirty="0">
                <a:latin typeface="Calibri"/>
                <a:cs typeface="Calibri"/>
              </a:rPr>
              <a:t>added.</a:t>
            </a:r>
            <a:endParaRPr sz="2600">
              <a:latin typeface="Calibri"/>
              <a:cs typeface="Calibri"/>
            </a:endParaRPr>
          </a:p>
          <a:p>
            <a:pPr marL="241300" marR="212090" indent="-229235">
              <a:lnSpc>
                <a:spcPts val="2500"/>
              </a:lnSpc>
              <a:spcBef>
                <a:spcPts val="985"/>
              </a:spcBef>
              <a:buFont typeface="Arial MT"/>
              <a:buChar char="•"/>
              <a:tabLst>
                <a:tab pos="241935" algn="l"/>
              </a:tabLst>
            </a:pPr>
            <a:r>
              <a:rPr sz="2600" dirty="0">
                <a:latin typeface="Calibri"/>
                <a:cs typeface="Calibri"/>
              </a:rPr>
              <a:t>In this manner </a:t>
            </a:r>
            <a:r>
              <a:rPr sz="2600" spc="-10" dirty="0">
                <a:latin typeface="Calibri"/>
                <a:cs typeface="Calibri"/>
              </a:rPr>
              <a:t>by </a:t>
            </a:r>
            <a:r>
              <a:rPr sz="2600" dirty="0">
                <a:latin typeface="Calibri"/>
                <a:cs typeface="Calibri"/>
              </a:rPr>
              <a:t>adding and </a:t>
            </a:r>
            <a:r>
              <a:rPr sz="2600" spc="-5" dirty="0">
                <a:latin typeface="Calibri"/>
                <a:cs typeface="Calibri"/>
              </a:rPr>
              <a:t>removing </a:t>
            </a:r>
            <a:r>
              <a:rPr sz="2600" dirty="0">
                <a:latin typeface="Calibri"/>
                <a:cs typeface="Calibri"/>
              </a:rPr>
              <a:t>the </a:t>
            </a:r>
            <a:r>
              <a:rPr sz="2600" spc="-10" dirty="0">
                <a:latin typeface="Calibri"/>
                <a:cs typeface="Calibri"/>
              </a:rPr>
              <a:t>appropriate weight, </a:t>
            </a:r>
            <a:r>
              <a:rPr sz="2600" dirty="0">
                <a:latin typeface="Calibri"/>
                <a:cs typeface="Calibri"/>
              </a:rPr>
              <a:t>the </a:t>
            </a:r>
            <a:r>
              <a:rPr sz="2600" spc="-10" dirty="0">
                <a:latin typeface="Calibri"/>
                <a:cs typeface="Calibri"/>
              </a:rPr>
              <a:t>weight </a:t>
            </a:r>
            <a:r>
              <a:rPr sz="2600" spc="-5" dirty="0">
                <a:latin typeface="Calibri"/>
                <a:cs typeface="Calibri"/>
              </a:rPr>
              <a:t>of </a:t>
            </a:r>
            <a:r>
              <a:rPr sz="2600" spc="-575" dirty="0">
                <a:latin typeface="Calibri"/>
                <a:cs typeface="Calibri"/>
              </a:rPr>
              <a:t> </a:t>
            </a:r>
            <a:r>
              <a:rPr sz="2600" dirty="0">
                <a:latin typeface="Calibri"/>
                <a:cs typeface="Calibri"/>
              </a:rPr>
              <a:t>the</a:t>
            </a:r>
            <a:r>
              <a:rPr sz="2600" spc="-15" dirty="0">
                <a:latin typeface="Calibri"/>
                <a:cs typeface="Calibri"/>
              </a:rPr>
              <a:t> </a:t>
            </a:r>
            <a:r>
              <a:rPr sz="2600" spc="-5" dirty="0">
                <a:latin typeface="Calibri"/>
                <a:cs typeface="Calibri"/>
              </a:rPr>
              <a:t>unknown</a:t>
            </a:r>
            <a:r>
              <a:rPr sz="2600" spc="-15" dirty="0">
                <a:latin typeface="Calibri"/>
                <a:cs typeface="Calibri"/>
              </a:rPr>
              <a:t> </a:t>
            </a:r>
            <a:r>
              <a:rPr sz="2600" spc="-5" dirty="0">
                <a:latin typeface="Calibri"/>
                <a:cs typeface="Calibri"/>
              </a:rPr>
              <a:t>object</a:t>
            </a:r>
            <a:r>
              <a:rPr sz="2600" spc="-10" dirty="0">
                <a:latin typeface="Calibri"/>
                <a:cs typeface="Calibri"/>
              </a:rPr>
              <a:t> </a:t>
            </a:r>
            <a:r>
              <a:rPr sz="2600" dirty="0">
                <a:latin typeface="Calibri"/>
                <a:cs typeface="Calibri"/>
              </a:rPr>
              <a:t>is</a:t>
            </a:r>
            <a:r>
              <a:rPr sz="2600" spc="-10" dirty="0">
                <a:latin typeface="Calibri"/>
                <a:cs typeface="Calibri"/>
              </a:rPr>
              <a:t> </a:t>
            </a:r>
            <a:r>
              <a:rPr sz="2600" spc="-5" dirty="0">
                <a:latin typeface="Calibri"/>
                <a:cs typeface="Calibri"/>
              </a:rPr>
              <a:t>determined.</a:t>
            </a:r>
            <a:endParaRPr sz="2600">
              <a:latin typeface="Calibri"/>
              <a:cs typeface="Calibri"/>
            </a:endParaRPr>
          </a:p>
        </p:txBody>
      </p:sp>
      <p:sp>
        <p:nvSpPr>
          <p:cNvPr id="3" name="Slide Number Placeholder 2"/>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21</a:t>
            </a:fld>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51536"/>
            <a:ext cx="2148205" cy="635000"/>
          </a:xfrm>
          <a:prstGeom prst="rect">
            <a:avLst/>
          </a:prstGeom>
        </p:spPr>
        <p:txBody>
          <a:bodyPr vert="horz" wrap="square" lIns="0" tIns="12065" rIns="0" bIns="0" rtlCol="0">
            <a:spAutoFit/>
          </a:bodyPr>
          <a:lstStyle/>
          <a:p>
            <a:pPr marL="12700">
              <a:lnSpc>
                <a:spcPct val="100000"/>
              </a:lnSpc>
              <a:spcBef>
                <a:spcPts val="95"/>
              </a:spcBef>
            </a:pPr>
            <a:r>
              <a:rPr sz="4000" spc="-30" dirty="0"/>
              <a:t>Ramp</a:t>
            </a:r>
            <a:r>
              <a:rPr sz="4000" spc="-165" dirty="0"/>
              <a:t> </a:t>
            </a:r>
            <a:r>
              <a:rPr sz="4000" spc="-30" dirty="0"/>
              <a:t>ADC</a:t>
            </a:r>
            <a:endParaRPr sz="4000"/>
          </a:p>
        </p:txBody>
      </p:sp>
      <p:sp>
        <p:nvSpPr>
          <p:cNvPr id="3" name="object 3"/>
          <p:cNvSpPr txBox="1"/>
          <p:nvPr/>
        </p:nvSpPr>
        <p:spPr>
          <a:xfrm>
            <a:off x="562152" y="1116914"/>
            <a:ext cx="11102340" cy="3522345"/>
          </a:xfrm>
          <a:prstGeom prst="rect">
            <a:avLst/>
          </a:prstGeom>
        </p:spPr>
        <p:txBody>
          <a:bodyPr vert="horz" wrap="square" lIns="0" tIns="60325" rIns="0" bIns="0" rtlCol="0">
            <a:spAutoFit/>
          </a:bodyPr>
          <a:lstStyle/>
          <a:p>
            <a:pPr marL="241300" marR="544830" indent="-228600">
              <a:lnSpc>
                <a:spcPts val="3030"/>
              </a:lnSpc>
              <a:spcBef>
                <a:spcPts val="475"/>
              </a:spcBef>
              <a:buFont typeface="Arial MT"/>
              <a:buChar char="•"/>
              <a:tabLst>
                <a:tab pos="241300" algn="l"/>
              </a:tabLst>
            </a:pPr>
            <a:r>
              <a:rPr sz="2800" spc="-5" dirty="0">
                <a:latin typeface="Calibri"/>
                <a:cs typeface="Calibri"/>
              </a:rPr>
              <a:t>The</a:t>
            </a:r>
            <a:r>
              <a:rPr sz="2800" spc="10" dirty="0">
                <a:latin typeface="Calibri"/>
                <a:cs typeface="Calibri"/>
              </a:rPr>
              <a:t> </a:t>
            </a:r>
            <a:r>
              <a:rPr sz="2800" i="1" spc="-5" dirty="0">
                <a:latin typeface="Calibri"/>
                <a:cs typeface="Calibri"/>
              </a:rPr>
              <a:t>ramp</a:t>
            </a:r>
            <a:r>
              <a:rPr sz="2800" i="1" dirty="0">
                <a:latin typeface="Calibri"/>
                <a:cs typeface="Calibri"/>
              </a:rPr>
              <a:t> </a:t>
            </a:r>
            <a:r>
              <a:rPr sz="2800" spc="-20" dirty="0">
                <a:latin typeface="Calibri"/>
                <a:cs typeface="Calibri"/>
              </a:rPr>
              <a:t>form</a:t>
            </a:r>
            <a:r>
              <a:rPr sz="2800" spc="5" dirty="0">
                <a:latin typeface="Calibri"/>
                <a:cs typeface="Calibri"/>
              </a:rPr>
              <a:t> </a:t>
            </a:r>
            <a:r>
              <a:rPr sz="2800" spc="-5" dirty="0">
                <a:latin typeface="Calibri"/>
                <a:cs typeface="Calibri"/>
              </a:rPr>
              <a:t>of</a:t>
            </a:r>
            <a:r>
              <a:rPr sz="2800" spc="5" dirty="0">
                <a:latin typeface="Calibri"/>
                <a:cs typeface="Calibri"/>
              </a:rPr>
              <a:t> </a:t>
            </a:r>
            <a:r>
              <a:rPr sz="2800" spc="-10" dirty="0">
                <a:latin typeface="Calibri"/>
                <a:cs typeface="Calibri"/>
              </a:rPr>
              <a:t>analog-to-digital</a:t>
            </a:r>
            <a:r>
              <a:rPr sz="2800" spc="15" dirty="0">
                <a:latin typeface="Calibri"/>
                <a:cs typeface="Calibri"/>
              </a:rPr>
              <a:t> </a:t>
            </a:r>
            <a:r>
              <a:rPr sz="2800" spc="-20" dirty="0">
                <a:latin typeface="Calibri"/>
                <a:cs typeface="Calibri"/>
              </a:rPr>
              <a:t>converter</a:t>
            </a:r>
            <a:r>
              <a:rPr sz="2800" spc="15" dirty="0">
                <a:latin typeface="Calibri"/>
                <a:cs typeface="Calibri"/>
              </a:rPr>
              <a:t> </a:t>
            </a:r>
            <a:r>
              <a:rPr sz="2800" spc="-20" dirty="0">
                <a:latin typeface="Calibri"/>
                <a:cs typeface="Calibri"/>
              </a:rPr>
              <a:t>involves</a:t>
            </a:r>
            <a:r>
              <a:rPr sz="2800" spc="20" dirty="0">
                <a:latin typeface="Calibri"/>
                <a:cs typeface="Calibri"/>
              </a:rPr>
              <a:t> </a:t>
            </a:r>
            <a:r>
              <a:rPr sz="2800" spc="-5" dirty="0">
                <a:latin typeface="Calibri"/>
                <a:cs typeface="Calibri"/>
              </a:rPr>
              <a:t>an</a:t>
            </a:r>
            <a:r>
              <a:rPr sz="2800" spc="20" dirty="0">
                <a:latin typeface="Calibri"/>
                <a:cs typeface="Calibri"/>
              </a:rPr>
              <a:t> </a:t>
            </a:r>
            <a:r>
              <a:rPr sz="2800" spc="-5" dirty="0">
                <a:latin typeface="Calibri"/>
                <a:cs typeface="Calibri"/>
              </a:rPr>
              <a:t>analog </a:t>
            </a:r>
            <a:r>
              <a:rPr sz="2800" spc="-20" dirty="0">
                <a:latin typeface="Calibri"/>
                <a:cs typeface="Calibri"/>
              </a:rPr>
              <a:t>voltage </a:t>
            </a:r>
            <a:r>
              <a:rPr sz="2800" spc="-615" dirty="0">
                <a:latin typeface="Calibri"/>
                <a:cs typeface="Calibri"/>
              </a:rPr>
              <a:t> </a:t>
            </a:r>
            <a:r>
              <a:rPr sz="2800" spc="-5" dirty="0">
                <a:latin typeface="Calibri"/>
                <a:cs typeface="Calibri"/>
              </a:rPr>
              <a:t>which</a:t>
            </a:r>
            <a:r>
              <a:rPr sz="2800" spc="15" dirty="0">
                <a:latin typeface="Calibri"/>
                <a:cs typeface="Calibri"/>
              </a:rPr>
              <a:t> </a:t>
            </a:r>
            <a:r>
              <a:rPr sz="2800" spc="-5" dirty="0">
                <a:latin typeface="Calibri"/>
                <a:cs typeface="Calibri"/>
              </a:rPr>
              <a:t>is</a:t>
            </a:r>
            <a:r>
              <a:rPr sz="2800" dirty="0">
                <a:latin typeface="Calibri"/>
                <a:cs typeface="Calibri"/>
              </a:rPr>
              <a:t> </a:t>
            </a:r>
            <a:r>
              <a:rPr sz="2800" spc="-10" dirty="0">
                <a:latin typeface="Calibri"/>
                <a:cs typeface="Calibri"/>
              </a:rPr>
              <a:t>increased</a:t>
            </a:r>
            <a:r>
              <a:rPr sz="2800" spc="10" dirty="0">
                <a:latin typeface="Calibri"/>
                <a:cs typeface="Calibri"/>
              </a:rPr>
              <a:t> </a:t>
            </a:r>
            <a:r>
              <a:rPr sz="2800" spc="-15" dirty="0">
                <a:latin typeface="Calibri"/>
                <a:cs typeface="Calibri"/>
              </a:rPr>
              <a:t>at</a:t>
            </a:r>
            <a:r>
              <a:rPr sz="2800" spc="-5" dirty="0">
                <a:latin typeface="Calibri"/>
                <a:cs typeface="Calibri"/>
              </a:rPr>
              <a:t> a </a:t>
            </a:r>
            <a:r>
              <a:rPr sz="2800" spc="-20" dirty="0">
                <a:latin typeface="Calibri"/>
                <a:cs typeface="Calibri"/>
              </a:rPr>
              <a:t>constant</a:t>
            </a:r>
            <a:r>
              <a:rPr sz="2800" spc="40" dirty="0">
                <a:latin typeface="Calibri"/>
                <a:cs typeface="Calibri"/>
              </a:rPr>
              <a:t> </a:t>
            </a:r>
            <a:r>
              <a:rPr sz="2800" spc="-25" dirty="0">
                <a:latin typeface="Calibri"/>
                <a:cs typeface="Calibri"/>
              </a:rPr>
              <a:t>rate,</a:t>
            </a:r>
            <a:r>
              <a:rPr sz="2800" spc="-10" dirty="0">
                <a:latin typeface="Calibri"/>
                <a:cs typeface="Calibri"/>
              </a:rPr>
              <a:t> </a:t>
            </a:r>
            <a:r>
              <a:rPr sz="2800" spc="-5" dirty="0">
                <a:latin typeface="Calibri"/>
                <a:cs typeface="Calibri"/>
              </a:rPr>
              <a:t>a</a:t>
            </a:r>
            <a:r>
              <a:rPr sz="2800" dirty="0">
                <a:latin typeface="Calibri"/>
                <a:cs typeface="Calibri"/>
              </a:rPr>
              <a:t> </a:t>
            </a:r>
            <a:r>
              <a:rPr sz="2800" spc="-10" dirty="0">
                <a:latin typeface="Calibri"/>
                <a:cs typeface="Calibri"/>
              </a:rPr>
              <a:t>so-called</a:t>
            </a:r>
            <a:r>
              <a:rPr sz="2800" spc="20" dirty="0">
                <a:latin typeface="Calibri"/>
                <a:cs typeface="Calibri"/>
              </a:rPr>
              <a:t> </a:t>
            </a:r>
            <a:r>
              <a:rPr sz="2800" spc="-20" dirty="0">
                <a:latin typeface="Calibri"/>
                <a:cs typeface="Calibri"/>
              </a:rPr>
              <a:t>ramp</a:t>
            </a:r>
            <a:r>
              <a:rPr sz="2800" spc="10" dirty="0">
                <a:latin typeface="Calibri"/>
                <a:cs typeface="Calibri"/>
              </a:rPr>
              <a:t> </a:t>
            </a:r>
            <a:r>
              <a:rPr sz="2800" spc="-15" dirty="0">
                <a:latin typeface="Calibri"/>
                <a:cs typeface="Calibri"/>
              </a:rPr>
              <a:t>voltage.</a:t>
            </a:r>
            <a:endParaRPr sz="2800">
              <a:latin typeface="Calibri"/>
              <a:cs typeface="Calibri"/>
            </a:endParaRPr>
          </a:p>
          <a:p>
            <a:pPr marL="241300" marR="1221740" indent="-228600">
              <a:lnSpc>
                <a:spcPts val="3020"/>
              </a:lnSpc>
              <a:spcBef>
                <a:spcPts val="1005"/>
              </a:spcBef>
              <a:buFont typeface="Arial MT"/>
              <a:buChar char="•"/>
              <a:tabLst>
                <a:tab pos="241300" algn="l"/>
              </a:tabLst>
            </a:pPr>
            <a:r>
              <a:rPr sz="2800" spc="-10" dirty="0">
                <a:latin typeface="Calibri"/>
                <a:cs typeface="Calibri"/>
              </a:rPr>
              <a:t>This</a:t>
            </a:r>
            <a:r>
              <a:rPr sz="2800" spc="5" dirty="0">
                <a:latin typeface="Calibri"/>
                <a:cs typeface="Calibri"/>
              </a:rPr>
              <a:t> </a:t>
            </a:r>
            <a:r>
              <a:rPr sz="2800" spc="-20" dirty="0">
                <a:latin typeface="Calibri"/>
                <a:cs typeface="Calibri"/>
              </a:rPr>
              <a:t>ramp</a:t>
            </a:r>
            <a:r>
              <a:rPr sz="2800" spc="25" dirty="0">
                <a:latin typeface="Calibri"/>
                <a:cs typeface="Calibri"/>
              </a:rPr>
              <a:t> </a:t>
            </a:r>
            <a:r>
              <a:rPr sz="2800" spc="-20" dirty="0">
                <a:latin typeface="Calibri"/>
                <a:cs typeface="Calibri"/>
              </a:rPr>
              <a:t>voltage</a:t>
            </a:r>
            <a:r>
              <a:rPr sz="2800" dirty="0">
                <a:latin typeface="Calibri"/>
                <a:cs typeface="Calibri"/>
              </a:rPr>
              <a:t> </a:t>
            </a:r>
            <a:r>
              <a:rPr sz="2800" spc="-15" dirty="0">
                <a:latin typeface="Calibri"/>
                <a:cs typeface="Calibri"/>
              </a:rPr>
              <a:t>is</a:t>
            </a:r>
            <a:r>
              <a:rPr sz="2800" spc="10" dirty="0">
                <a:latin typeface="Calibri"/>
                <a:cs typeface="Calibri"/>
              </a:rPr>
              <a:t> </a:t>
            </a:r>
            <a:r>
              <a:rPr sz="2800" spc="-20" dirty="0">
                <a:latin typeface="Calibri"/>
                <a:cs typeface="Calibri"/>
              </a:rPr>
              <a:t>generated</a:t>
            </a:r>
            <a:r>
              <a:rPr sz="2800" spc="-5" dirty="0">
                <a:latin typeface="Calibri"/>
                <a:cs typeface="Calibri"/>
              </a:rPr>
              <a:t> </a:t>
            </a:r>
            <a:r>
              <a:rPr sz="2800" spc="-15" dirty="0">
                <a:latin typeface="Calibri"/>
                <a:cs typeface="Calibri"/>
              </a:rPr>
              <a:t>by</a:t>
            </a:r>
            <a:r>
              <a:rPr sz="2800" spc="20" dirty="0">
                <a:latin typeface="Calibri"/>
                <a:cs typeface="Calibri"/>
              </a:rPr>
              <a:t> </a:t>
            </a:r>
            <a:r>
              <a:rPr sz="2800" spc="-5" dirty="0">
                <a:latin typeface="Calibri"/>
                <a:cs typeface="Calibri"/>
              </a:rPr>
              <a:t>a</a:t>
            </a:r>
            <a:r>
              <a:rPr sz="2800" dirty="0">
                <a:latin typeface="Calibri"/>
                <a:cs typeface="Calibri"/>
              </a:rPr>
              <a:t> </a:t>
            </a:r>
            <a:r>
              <a:rPr sz="2800" spc="-10" dirty="0">
                <a:latin typeface="Calibri"/>
                <a:cs typeface="Calibri"/>
              </a:rPr>
              <a:t>capacitor</a:t>
            </a:r>
            <a:r>
              <a:rPr sz="2800" dirty="0">
                <a:latin typeface="Calibri"/>
                <a:cs typeface="Calibri"/>
              </a:rPr>
              <a:t> </a:t>
            </a:r>
            <a:r>
              <a:rPr sz="2800" spc="-10" dirty="0">
                <a:latin typeface="Calibri"/>
                <a:cs typeface="Calibri"/>
              </a:rPr>
              <a:t>being</a:t>
            </a:r>
            <a:r>
              <a:rPr sz="2800" spc="5" dirty="0">
                <a:latin typeface="Calibri"/>
                <a:cs typeface="Calibri"/>
              </a:rPr>
              <a:t> </a:t>
            </a:r>
            <a:r>
              <a:rPr sz="2800" spc="-10" dirty="0">
                <a:latin typeface="Calibri"/>
                <a:cs typeface="Calibri"/>
              </a:rPr>
              <a:t>charged</a:t>
            </a:r>
            <a:r>
              <a:rPr sz="2800" spc="10" dirty="0">
                <a:latin typeface="Calibri"/>
                <a:cs typeface="Calibri"/>
              </a:rPr>
              <a:t> </a:t>
            </a:r>
            <a:r>
              <a:rPr sz="2800" spc="-20" dirty="0">
                <a:latin typeface="Calibri"/>
                <a:cs typeface="Calibri"/>
              </a:rPr>
              <a:t>from</a:t>
            </a:r>
            <a:r>
              <a:rPr sz="2800" spc="15" dirty="0">
                <a:latin typeface="Calibri"/>
                <a:cs typeface="Calibri"/>
              </a:rPr>
              <a:t> </a:t>
            </a:r>
            <a:r>
              <a:rPr sz="2800" spc="-5" dirty="0">
                <a:latin typeface="Calibri"/>
                <a:cs typeface="Calibri"/>
              </a:rPr>
              <a:t>a </a:t>
            </a:r>
            <a:r>
              <a:rPr sz="2800" spc="-620" dirty="0">
                <a:latin typeface="Calibri"/>
                <a:cs typeface="Calibri"/>
              </a:rPr>
              <a:t> </a:t>
            </a:r>
            <a:r>
              <a:rPr sz="2800" spc="-20" dirty="0">
                <a:latin typeface="Calibri"/>
                <a:cs typeface="Calibri"/>
              </a:rPr>
              <a:t>constant</a:t>
            </a:r>
            <a:r>
              <a:rPr sz="2800" spc="30" dirty="0">
                <a:latin typeface="Calibri"/>
                <a:cs typeface="Calibri"/>
              </a:rPr>
              <a:t> </a:t>
            </a:r>
            <a:r>
              <a:rPr sz="2800" spc="-15" dirty="0">
                <a:latin typeface="Calibri"/>
                <a:cs typeface="Calibri"/>
              </a:rPr>
              <a:t>current</a:t>
            </a:r>
            <a:r>
              <a:rPr sz="2800" spc="20" dirty="0">
                <a:latin typeface="Calibri"/>
                <a:cs typeface="Calibri"/>
              </a:rPr>
              <a:t> </a:t>
            </a:r>
            <a:r>
              <a:rPr sz="2800" spc="-15" dirty="0">
                <a:latin typeface="Calibri"/>
                <a:cs typeface="Calibri"/>
              </a:rPr>
              <a:t>source.</a:t>
            </a:r>
            <a:endParaRPr sz="2800">
              <a:latin typeface="Calibri"/>
              <a:cs typeface="Calibri"/>
            </a:endParaRPr>
          </a:p>
          <a:p>
            <a:pPr marL="241300" marR="430530" indent="-228600">
              <a:lnSpc>
                <a:spcPts val="3020"/>
              </a:lnSpc>
              <a:spcBef>
                <a:spcPts val="1005"/>
              </a:spcBef>
              <a:buFont typeface="Arial MT"/>
              <a:buChar char="•"/>
              <a:tabLst>
                <a:tab pos="241300" algn="l"/>
              </a:tabLst>
            </a:pPr>
            <a:r>
              <a:rPr sz="2800" spc="-10" dirty="0">
                <a:latin typeface="Calibri"/>
                <a:cs typeface="Calibri"/>
              </a:rPr>
              <a:t>The</a:t>
            </a:r>
            <a:r>
              <a:rPr sz="2800" spc="-5" dirty="0">
                <a:latin typeface="Calibri"/>
                <a:cs typeface="Calibri"/>
              </a:rPr>
              <a:t> time</a:t>
            </a:r>
            <a:r>
              <a:rPr sz="2800" spc="10" dirty="0">
                <a:latin typeface="Calibri"/>
                <a:cs typeface="Calibri"/>
              </a:rPr>
              <a:t> </a:t>
            </a:r>
            <a:r>
              <a:rPr sz="2800" spc="-30" dirty="0">
                <a:latin typeface="Calibri"/>
                <a:cs typeface="Calibri"/>
              </a:rPr>
              <a:t>taken</a:t>
            </a:r>
            <a:r>
              <a:rPr sz="2800" spc="5" dirty="0">
                <a:latin typeface="Calibri"/>
                <a:cs typeface="Calibri"/>
              </a:rPr>
              <a:t> </a:t>
            </a:r>
            <a:r>
              <a:rPr sz="2800" spc="-25" dirty="0">
                <a:latin typeface="Calibri"/>
                <a:cs typeface="Calibri"/>
              </a:rPr>
              <a:t>for</a:t>
            </a:r>
            <a:r>
              <a:rPr sz="2800" dirty="0">
                <a:latin typeface="Calibri"/>
                <a:cs typeface="Calibri"/>
              </a:rPr>
              <a:t> </a:t>
            </a:r>
            <a:r>
              <a:rPr sz="2800" spc="-5" dirty="0">
                <a:latin typeface="Calibri"/>
                <a:cs typeface="Calibri"/>
              </a:rPr>
              <a:t>the</a:t>
            </a:r>
            <a:r>
              <a:rPr sz="2800" spc="15" dirty="0">
                <a:latin typeface="Calibri"/>
                <a:cs typeface="Calibri"/>
              </a:rPr>
              <a:t> </a:t>
            </a:r>
            <a:r>
              <a:rPr sz="2800" spc="-20" dirty="0">
                <a:latin typeface="Calibri"/>
                <a:cs typeface="Calibri"/>
              </a:rPr>
              <a:t>ramp</a:t>
            </a:r>
            <a:r>
              <a:rPr sz="2800" spc="15" dirty="0">
                <a:latin typeface="Calibri"/>
                <a:cs typeface="Calibri"/>
              </a:rPr>
              <a:t> </a:t>
            </a:r>
            <a:r>
              <a:rPr sz="2800" spc="-20" dirty="0">
                <a:latin typeface="Calibri"/>
                <a:cs typeface="Calibri"/>
              </a:rPr>
              <a:t>voltage</a:t>
            </a:r>
            <a:r>
              <a:rPr sz="2800" dirty="0">
                <a:latin typeface="Calibri"/>
                <a:cs typeface="Calibri"/>
              </a:rPr>
              <a:t> </a:t>
            </a:r>
            <a:r>
              <a:rPr sz="2800" spc="-20" dirty="0">
                <a:latin typeface="Calibri"/>
                <a:cs typeface="Calibri"/>
              </a:rPr>
              <a:t>to</a:t>
            </a:r>
            <a:r>
              <a:rPr sz="2800" dirty="0">
                <a:latin typeface="Calibri"/>
                <a:cs typeface="Calibri"/>
              </a:rPr>
              <a:t> </a:t>
            </a:r>
            <a:r>
              <a:rPr sz="2800" spc="-10" dirty="0">
                <a:latin typeface="Calibri"/>
                <a:cs typeface="Calibri"/>
              </a:rPr>
              <a:t>increase</a:t>
            </a:r>
            <a:r>
              <a:rPr sz="2800" spc="20" dirty="0">
                <a:latin typeface="Calibri"/>
                <a:cs typeface="Calibri"/>
              </a:rPr>
              <a:t> </a:t>
            </a:r>
            <a:r>
              <a:rPr sz="2800" spc="-20" dirty="0">
                <a:latin typeface="Calibri"/>
                <a:cs typeface="Calibri"/>
              </a:rPr>
              <a:t>to</a:t>
            </a:r>
            <a:r>
              <a:rPr sz="2800" dirty="0">
                <a:latin typeface="Calibri"/>
                <a:cs typeface="Calibri"/>
              </a:rPr>
              <a:t> </a:t>
            </a:r>
            <a:r>
              <a:rPr sz="2800" spc="-5" dirty="0">
                <a:latin typeface="Calibri"/>
                <a:cs typeface="Calibri"/>
              </a:rPr>
              <a:t>the</a:t>
            </a:r>
            <a:r>
              <a:rPr sz="2800" spc="15" dirty="0">
                <a:latin typeface="Calibri"/>
                <a:cs typeface="Calibri"/>
              </a:rPr>
              <a:t> </a:t>
            </a:r>
            <a:r>
              <a:rPr sz="2800" spc="-10" dirty="0">
                <a:latin typeface="Calibri"/>
                <a:cs typeface="Calibri"/>
              </a:rPr>
              <a:t>value</a:t>
            </a:r>
            <a:r>
              <a:rPr sz="2800" dirty="0">
                <a:latin typeface="Calibri"/>
                <a:cs typeface="Calibri"/>
              </a:rPr>
              <a:t> </a:t>
            </a:r>
            <a:r>
              <a:rPr sz="2800" spc="-5" dirty="0">
                <a:latin typeface="Calibri"/>
                <a:cs typeface="Calibri"/>
              </a:rPr>
              <a:t>of</a:t>
            </a:r>
            <a:r>
              <a:rPr sz="2800" spc="-15" dirty="0">
                <a:latin typeface="Calibri"/>
                <a:cs typeface="Calibri"/>
              </a:rPr>
              <a:t> </a:t>
            </a:r>
            <a:r>
              <a:rPr sz="2800" spc="-5" dirty="0">
                <a:latin typeface="Calibri"/>
                <a:cs typeface="Calibri"/>
              </a:rPr>
              <a:t>the</a:t>
            </a:r>
            <a:r>
              <a:rPr sz="2800" spc="10" dirty="0">
                <a:latin typeface="Calibri"/>
                <a:cs typeface="Calibri"/>
              </a:rPr>
              <a:t> </a:t>
            </a:r>
            <a:r>
              <a:rPr sz="2800" spc="-10" dirty="0">
                <a:latin typeface="Calibri"/>
                <a:cs typeface="Calibri"/>
              </a:rPr>
              <a:t>input </a:t>
            </a:r>
            <a:r>
              <a:rPr sz="2800" spc="-615" dirty="0">
                <a:latin typeface="Calibri"/>
                <a:cs typeface="Calibri"/>
              </a:rPr>
              <a:t> </a:t>
            </a:r>
            <a:r>
              <a:rPr sz="2800" spc="-5" dirty="0">
                <a:latin typeface="Calibri"/>
                <a:cs typeface="Calibri"/>
              </a:rPr>
              <a:t>analog </a:t>
            </a:r>
            <a:r>
              <a:rPr sz="2800" spc="-20" dirty="0">
                <a:latin typeface="Calibri"/>
                <a:cs typeface="Calibri"/>
              </a:rPr>
              <a:t>voltage</a:t>
            </a:r>
            <a:r>
              <a:rPr sz="2800" spc="5" dirty="0">
                <a:latin typeface="Calibri"/>
                <a:cs typeface="Calibri"/>
              </a:rPr>
              <a:t> </a:t>
            </a:r>
            <a:r>
              <a:rPr sz="2800" spc="-10" dirty="0">
                <a:latin typeface="Calibri"/>
                <a:cs typeface="Calibri"/>
              </a:rPr>
              <a:t>will</a:t>
            </a:r>
            <a:r>
              <a:rPr sz="2800" spc="5" dirty="0">
                <a:latin typeface="Calibri"/>
                <a:cs typeface="Calibri"/>
              </a:rPr>
              <a:t> </a:t>
            </a:r>
            <a:r>
              <a:rPr sz="2800" spc="-10" dirty="0">
                <a:latin typeface="Calibri"/>
                <a:cs typeface="Calibri"/>
              </a:rPr>
              <a:t>depend</a:t>
            </a:r>
            <a:r>
              <a:rPr sz="2800" spc="30" dirty="0">
                <a:latin typeface="Calibri"/>
                <a:cs typeface="Calibri"/>
              </a:rPr>
              <a:t> </a:t>
            </a:r>
            <a:r>
              <a:rPr sz="2800" spc="-5" dirty="0">
                <a:latin typeface="Calibri"/>
                <a:cs typeface="Calibri"/>
              </a:rPr>
              <a:t>on</a:t>
            </a:r>
            <a:r>
              <a:rPr sz="2800" spc="10" dirty="0">
                <a:latin typeface="Calibri"/>
                <a:cs typeface="Calibri"/>
              </a:rPr>
              <a:t> </a:t>
            </a:r>
            <a:r>
              <a:rPr sz="2800" spc="-5" dirty="0">
                <a:latin typeface="Calibri"/>
                <a:cs typeface="Calibri"/>
              </a:rPr>
              <a:t>the</a:t>
            </a:r>
            <a:r>
              <a:rPr sz="2800" dirty="0">
                <a:latin typeface="Calibri"/>
                <a:cs typeface="Calibri"/>
              </a:rPr>
              <a:t> </a:t>
            </a:r>
            <a:r>
              <a:rPr sz="2800" spc="-25" dirty="0">
                <a:latin typeface="Calibri"/>
                <a:cs typeface="Calibri"/>
              </a:rPr>
              <a:t>size</a:t>
            </a:r>
            <a:r>
              <a:rPr sz="2800" spc="5" dirty="0">
                <a:latin typeface="Calibri"/>
                <a:cs typeface="Calibri"/>
              </a:rPr>
              <a:t> </a:t>
            </a:r>
            <a:r>
              <a:rPr sz="2800" spc="-5" dirty="0">
                <a:latin typeface="Calibri"/>
                <a:cs typeface="Calibri"/>
              </a:rPr>
              <a:t>of</a:t>
            </a:r>
            <a:r>
              <a:rPr sz="2800" dirty="0">
                <a:latin typeface="Calibri"/>
                <a:cs typeface="Calibri"/>
              </a:rPr>
              <a:t> </a:t>
            </a:r>
            <a:r>
              <a:rPr sz="2800" spc="-5" dirty="0">
                <a:latin typeface="Calibri"/>
                <a:cs typeface="Calibri"/>
              </a:rPr>
              <a:t>the</a:t>
            </a:r>
            <a:r>
              <a:rPr sz="2800" spc="10" dirty="0">
                <a:latin typeface="Calibri"/>
                <a:cs typeface="Calibri"/>
              </a:rPr>
              <a:t> </a:t>
            </a:r>
            <a:r>
              <a:rPr sz="2800" spc="-10" dirty="0">
                <a:latin typeface="Calibri"/>
                <a:cs typeface="Calibri"/>
              </a:rPr>
              <a:t>sampled</a:t>
            </a:r>
            <a:r>
              <a:rPr sz="2800" spc="25" dirty="0">
                <a:latin typeface="Calibri"/>
                <a:cs typeface="Calibri"/>
              </a:rPr>
              <a:t> </a:t>
            </a:r>
            <a:r>
              <a:rPr sz="2800" spc="-5" dirty="0">
                <a:latin typeface="Calibri"/>
                <a:cs typeface="Calibri"/>
              </a:rPr>
              <a:t>analog</a:t>
            </a:r>
            <a:r>
              <a:rPr sz="2800" dirty="0">
                <a:latin typeface="Calibri"/>
                <a:cs typeface="Calibri"/>
              </a:rPr>
              <a:t> </a:t>
            </a:r>
            <a:r>
              <a:rPr sz="2800" spc="-15" dirty="0">
                <a:latin typeface="Calibri"/>
                <a:cs typeface="Calibri"/>
              </a:rPr>
              <a:t>voltage.</a:t>
            </a:r>
            <a:endParaRPr sz="2800">
              <a:latin typeface="Calibri"/>
              <a:cs typeface="Calibri"/>
            </a:endParaRPr>
          </a:p>
          <a:p>
            <a:pPr marL="241300" marR="5080" indent="-228600">
              <a:lnSpc>
                <a:spcPts val="3020"/>
              </a:lnSpc>
              <a:spcBef>
                <a:spcPts val="1005"/>
              </a:spcBef>
              <a:buFont typeface="Arial MT"/>
              <a:buChar char="•"/>
              <a:tabLst>
                <a:tab pos="241300" algn="l"/>
              </a:tabLst>
            </a:pPr>
            <a:r>
              <a:rPr sz="2800" spc="-15" dirty="0">
                <a:latin typeface="Calibri"/>
                <a:cs typeface="Calibri"/>
              </a:rPr>
              <a:t>Figure</a:t>
            </a:r>
            <a:r>
              <a:rPr sz="2800" spc="20" dirty="0">
                <a:latin typeface="Calibri"/>
                <a:cs typeface="Calibri"/>
              </a:rPr>
              <a:t> </a:t>
            </a:r>
            <a:r>
              <a:rPr sz="2800" spc="-5" dirty="0">
                <a:latin typeface="Calibri"/>
                <a:cs typeface="Calibri"/>
              </a:rPr>
              <a:t>5.5</a:t>
            </a:r>
            <a:r>
              <a:rPr sz="2800" spc="30" dirty="0">
                <a:latin typeface="Calibri"/>
                <a:cs typeface="Calibri"/>
              </a:rPr>
              <a:t> </a:t>
            </a:r>
            <a:r>
              <a:rPr sz="2800" spc="-15" dirty="0">
                <a:latin typeface="Calibri"/>
                <a:cs typeface="Calibri"/>
              </a:rPr>
              <a:t>indicates</a:t>
            </a:r>
            <a:r>
              <a:rPr sz="2800" spc="15" dirty="0">
                <a:latin typeface="Calibri"/>
                <a:cs typeface="Calibri"/>
              </a:rPr>
              <a:t> </a:t>
            </a:r>
            <a:r>
              <a:rPr sz="2800" spc="-5" dirty="0">
                <a:latin typeface="Calibri"/>
                <a:cs typeface="Calibri"/>
              </a:rPr>
              <a:t>the</a:t>
            </a:r>
            <a:r>
              <a:rPr sz="2800" spc="10" dirty="0">
                <a:latin typeface="Calibri"/>
                <a:cs typeface="Calibri"/>
              </a:rPr>
              <a:t> </a:t>
            </a:r>
            <a:r>
              <a:rPr sz="2800" spc="-25" dirty="0">
                <a:latin typeface="Calibri"/>
                <a:cs typeface="Calibri"/>
              </a:rPr>
              <a:t>subsystems</a:t>
            </a:r>
            <a:r>
              <a:rPr sz="2800" spc="55" dirty="0">
                <a:latin typeface="Calibri"/>
                <a:cs typeface="Calibri"/>
              </a:rPr>
              <a:t> </a:t>
            </a:r>
            <a:r>
              <a:rPr sz="2800" spc="-20" dirty="0">
                <a:latin typeface="Calibri"/>
                <a:cs typeface="Calibri"/>
              </a:rPr>
              <a:t>involved</a:t>
            </a:r>
            <a:r>
              <a:rPr sz="2800" spc="25" dirty="0">
                <a:latin typeface="Calibri"/>
                <a:cs typeface="Calibri"/>
              </a:rPr>
              <a:t> </a:t>
            </a:r>
            <a:r>
              <a:rPr sz="2800" spc="-5" dirty="0">
                <a:latin typeface="Calibri"/>
                <a:cs typeface="Calibri"/>
              </a:rPr>
              <a:t>in</a:t>
            </a:r>
            <a:r>
              <a:rPr sz="2800" spc="5" dirty="0">
                <a:latin typeface="Calibri"/>
                <a:cs typeface="Calibri"/>
              </a:rPr>
              <a:t> </a:t>
            </a:r>
            <a:r>
              <a:rPr sz="2800" spc="-5" dirty="0">
                <a:latin typeface="Calibri"/>
                <a:cs typeface="Calibri"/>
              </a:rPr>
              <a:t>the</a:t>
            </a:r>
            <a:r>
              <a:rPr sz="2800" spc="10" dirty="0">
                <a:latin typeface="Calibri"/>
                <a:cs typeface="Calibri"/>
              </a:rPr>
              <a:t> </a:t>
            </a:r>
            <a:r>
              <a:rPr sz="2800" spc="-20" dirty="0">
                <a:latin typeface="Calibri"/>
                <a:cs typeface="Calibri"/>
              </a:rPr>
              <a:t>ramp</a:t>
            </a:r>
            <a:r>
              <a:rPr sz="2800" spc="25" dirty="0">
                <a:latin typeface="Calibri"/>
                <a:cs typeface="Calibri"/>
              </a:rPr>
              <a:t> </a:t>
            </a:r>
            <a:r>
              <a:rPr sz="2800" spc="-25" dirty="0">
                <a:latin typeface="Calibri"/>
                <a:cs typeface="Calibri"/>
              </a:rPr>
              <a:t>form</a:t>
            </a:r>
            <a:r>
              <a:rPr sz="2800" dirty="0">
                <a:latin typeface="Calibri"/>
                <a:cs typeface="Calibri"/>
              </a:rPr>
              <a:t> </a:t>
            </a:r>
            <a:r>
              <a:rPr sz="2800" spc="-5" dirty="0">
                <a:latin typeface="Calibri"/>
                <a:cs typeface="Calibri"/>
              </a:rPr>
              <a:t>of</a:t>
            </a:r>
            <a:r>
              <a:rPr sz="2800" spc="5" dirty="0">
                <a:latin typeface="Calibri"/>
                <a:cs typeface="Calibri"/>
              </a:rPr>
              <a:t> </a:t>
            </a:r>
            <a:r>
              <a:rPr sz="2800" spc="-5" dirty="0">
                <a:latin typeface="Calibri"/>
                <a:cs typeface="Calibri"/>
              </a:rPr>
              <a:t>analog-to- </a:t>
            </a:r>
            <a:r>
              <a:rPr sz="2800" spc="-620" dirty="0">
                <a:latin typeface="Calibri"/>
                <a:cs typeface="Calibri"/>
              </a:rPr>
              <a:t> </a:t>
            </a:r>
            <a:r>
              <a:rPr sz="2800" spc="-15" dirty="0">
                <a:latin typeface="Calibri"/>
                <a:cs typeface="Calibri"/>
              </a:rPr>
              <a:t>digital</a:t>
            </a:r>
            <a:r>
              <a:rPr sz="2800" spc="5" dirty="0">
                <a:latin typeface="Calibri"/>
                <a:cs typeface="Calibri"/>
              </a:rPr>
              <a:t> </a:t>
            </a:r>
            <a:r>
              <a:rPr sz="2800" spc="-45" dirty="0">
                <a:latin typeface="Calibri"/>
                <a:cs typeface="Calibri"/>
              </a:rPr>
              <a:t>converter.</a:t>
            </a:r>
            <a:r>
              <a:rPr sz="2800" spc="-5" dirty="0">
                <a:latin typeface="Calibri"/>
                <a:cs typeface="Calibri"/>
              </a:rPr>
              <a:t> </a:t>
            </a:r>
            <a:r>
              <a:rPr sz="2800" dirty="0">
                <a:latin typeface="Calibri"/>
                <a:cs typeface="Calibri"/>
              </a:rPr>
              <a:t>Ramp</a:t>
            </a:r>
            <a:r>
              <a:rPr sz="2800" spc="5" dirty="0">
                <a:latin typeface="Calibri"/>
                <a:cs typeface="Calibri"/>
              </a:rPr>
              <a:t> </a:t>
            </a:r>
            <a:r>
              <a:rPr sz="2800" spc="-5" dirty="0">
                <a:latin typeface="Calibri"/>
                <a:cs typeface="Calibri"/>
              </a:rPr>
              <a:t>ADCs</a:t>
            </a:r>
            <a:r>
              <a:rPr sz="2800" spc="20" dirty="0">
                <a:latin typeface="Calibri"/>
                <a:cs typeface="Calibri"/>
              </a:rPr>
              <a:t> </a:t>
            </a:r>
            <a:r>
              <a:rPr sz="2800" spc="-15" dirty="0">
                <a:latin typeface="Calibri"/>
                <a:cs typeface="Calibri"/>
              </a:rPr>
              <a:t>are</a:t>
            </a:r>
            <a:r>
              <a:rPr sz="2800" spc="-10" dirty="0">
                <a:latin typeface="Calibri"/>
                <a:cs typeface="Calibri"/>
              </a:rPr>
              <a:t> </a:t>
            </a:r>
            <a:r>
              <a:rPr sz="2800" spc="-5" dirty="0">
                <a:latin typeface="Calibri"/>
                <a:cs typeface="Calibri"/>
              </a:rPr>
              <a:t>cheap</a:t>
            </a:r>
            <a:r>
              <a:rPr sz="2800" spc="5" dirty="0">
                <a:latin typeface="Calibri"/>
                <a:cs typeface="Calibri"/>
              </a:rPr>
              <a:t> </a:t>
            </a:r>
            <a:r>
              <a:rPr sz="2800" spc="-10" dirty="0">
                <a:latin typeface="Calibri"/>
                <a:cs typeface="Calibri"/>
              </a:rPr>
              <a:t>but</a:t>
            </a:r>
            <a:r>
              <a:rPr sz="2800" spc="20" dirty="0">
                <a:latin typeface="Calibri"/>
                <a:cs typeface="Calibri"/>
              </a:rPr>
              <a:t> </a:t>
            </a:r>
            <a:r>
              <a:rPr sz="2800" spc="-15" dirty="0">
                <a:latin typeface="Calibri"/>
                <a:cs typeface="Calibri"/>
              </a:rPr>
              <a:t>relatively</a:t>
            </a:r>
            <a:r>
              <a:rPr sz="2800" dirty="0">
                <a:latin typeface="Calibri"/>
                <a:cs typeface="Calibri"/>
              </a:rPr>
              <a:t> </a:t>
            </a:r>
            <a:r>
              <a:rPr sz="2800" spc="-45" dirty="0">
                <a:latin typeface="Calibri"/>
                <a:cs typeface="Calibri"/>
              </a:rPr>
              <a:t>slow.</a:t>
            </a:r>
            <a:endParaRPr sz="2800">
              <a:latin typeface="Calibri"/>
              <a:cs typeface="Calibri"/>
            </a:endParaRPr>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22</a:t>
            </a:fld>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27623" y="1834549"/>
            <a:ext cx="5692642" cy="2698742"/>
          </a:xfrm>
          <a:prstGeom prst="rect">
            <a:avLst/>
          </a:prstGeom>
        </p:spPr>
      </p:pic>
      <p:pic>
        <p:nvPicPr>
          <p:cNvPr id="3" name="object 3"/>
          <p:cNvPicPr/>
          <p:nvPr/>
        </p:nvPicPr>
        <p:blipFill>
          <a:blip r:embed="rId3" cstate="print"/>
          <a:stretch>
            <a:fillRect/>
          </a:stretch>
        </p:blipFill>
        <p:spPr>
          <a:xfrm>
            <a:off x="7320334" y="318340"/>
            <a:ext cx="4011457" cy="2753821"/>
          </a:xfrm>
          <a:prstGeom prst="rect">
            <a:avLst/>
          </a:prstGeom>
        </p:spPr>
      </p:pic>
      <p:grpSp>
        <p:nvGrpSpPr>
          <p:cNvPr id="4" name="object 4"/>
          <p:cNvGrpSpPr/>
          <p:nvPr/>
        </p:nvGrpSpPr>
        <p:grpSpPr>
          <a:xfrm>
            <a:off x="7758900" y="3271002"/>
            <a:ext cx="3596640" cy="3274060"/>
            <a:chOff x="7758900" y="3271002"/>
            <a:chExt cx="3596640" cy="3274060"/>
          </a:xfrm>
        </p:grpSpPr>
        <p:pic>
          <p:nvPicPr>
            <p:cNvPr id="5" name="object 5"/>
            <p:cNvPicPr/>
            <p:nvPr/>
          </p:nvPicPr>
          <p:blipFill>
            <a:blip r:embed="rId4" cstate="print"/>
            <a:stretch>
              <a:fillRect/>
            </a:stretch>
          </p:blipFill>
          <p:spPr>
            <a:xfrm>
              <a:off x="7758900" y="3271002"/>
              <a:ext cx="3596423" cy="3273518"/>
            </a:xfrm>
            <a:prstGeom prst="rect">
              <a:avLst/>
            </a:prstGeom>
          </p:spPr>
        </p:pic>
        <p:sp>
          <p:nvSpPr>
            <p:cNvPr id="6" name="object 6"/>
            <p:cNvSpPr/>
            <p:nvPr/>
          </p:nvSpPr>
          <p:spPr>
            <a:xfrm>
              <a:off x="8225027" y="5864351"/>
              <a:ext cx="2207260" cy="485140"/>
            </a:xfrm>
            <a:custGeom>
              <a:avLst/>
              <a:gdLst/>
              <a:ahLst/>
              <a:cxnLst/>
              <a:rect l="l" t="t" r="r" b="b"/>
              <a:pathLst>
                <a:path w="2207259" h="485139">
                  <a:moveTo>
                    <a:pt x="2206752" y="0"/>
                  </a:moveTo>
                  <a:lnTo>
                    <a:pt x="0" y="0"/>
                  </a:lnTo>
                  <a:lnTo>
                    <a:pt x="0" y="484632"/>
                  </a:lnTo>
                  <a:lnTo>
                    <a:pt x="2206752" y="484632"/>
                  </a:lnTo>
                  <a:lnTo>
                    <a:pt x="2206752" y="0"/>
                  </a:lnTo>
                  <a:close/>
                </a:path>
              </a:pathLst>
            </a:custGeom>
            <a:solidFill>
              <a:srgbClr val="FFFFFF"/>
            </a:solidFill>
          </p:spPr>
          <p:txBody>
            <a:bodyPr wrap="square" lIns="0" tIns="0" rIns="0" bIns="0" rtlCol="0"/>
            <a:lstStyle/>
            <a:p>
              <a:endParaRPr/>
            </a:p>
          </p:txBody>
        </p:sp>
        <p:sp>
          <p:nvSpPr>
            <p:cNvPr id="7" name="object 7"/>
            <p:cNvSpPr/>
            <p:nvPr/>
          </p:nvSpPr>
          <p:spPr>
            <a:xfrm>
              <a:off x="8317103" y="6105232"/>
              <a:ext cx="1751330" cy="10795"/>
            </a:xfrm>
            <a:custGeom>
              <a:avLst/>
              <a:gdLst/>
              <a:ahLst/>
              <a:cxnLst/>
              <a:rect l="l" t="t" r="r" b="b"/>
              <a:pathLst>
                <a:path w="1751329" h="10795">
                  <a:moveTo>
                    <a:pt x="83820" y="0"/>
                  </a:moveTo>
                  <a:lnTo>
                    <a:pt x="0" y="0"/>
                  </a:lnTo>
                  <a:lnTo>
                    <a:pt x="0" y="10668"/>
                  </a:lnTo>
                  <a:lnTo>
                    <a:pt x="83820" y="10668"/>
                  </a:lnTo>
                  <a:lnTo>
                    <a:pt x="83820" y="0"/>
                  </a:lnTo>
                  <a:close/>
                </a:path>
                <a:path w="1751329" h="10795">
                  <a:moveTo>
                    <a:pt x="294132" y="0"/>
                  </a:moveTo>
                  <a:lnTo>
                    <a:pt x="210312" y="0"/>
                  </a:lnTo>
                  <a:lnTo>
                    <a:pt x="210312" y="10668"/>
                  </a:lnTo>
                  <a:lnTo>
                    <a:pt x="294132" y="10668"/>
                  </a:lnTo>
                  <a:lnTo>
                    <a:pt x="294132" y="0"/>
                  </a:lnTo>
                  <a:close/>
                </a:path>
                <a:path w="1751329" h="10795">
                  <a:moveTo>
                    <a:pt x="536448" y="0"/>
                  </a:moveTo>
                  <a:lnTo>
                    <a:pt x="452628" y="0"/>
                  </a:lnTo>
                  <a:lnTo>
                    <a:pt x="452628" y="10668"/>
                  </a:lnTo>
                  <a:lnTo>
                    <a:pt x="536448" y="10668"/>
                  </a:lnTo>
                  <a:lnTo>
                    <a:pt x="536448" y="0"/>
                  </a:lnTo>
                  <a:close/>
                </a:path>
                <a:path w="1751329" h="10795">
                  <a:moveTo>
                    <a:pt x="745236" y="0"/>
                  </a:moveTo>
                  <a:lnTo>
                    <a:pt x="661416" y="0"/>
                  </a:lnTo>
                  <a:lnTo>
                    <a:pt x="661416" y="10668"/>
                  </a:lnTo>
                  <a:lnTo>
                    <a:pt x="745236" y="10668"/>
                  </a:lnTo>
                  <a:lnTo>
                    <a:pt x="745236" y="0"/>
                  </a:lnTo>
                  <a:close/>
                </a:path>
                <a:path w="1751329" h="10795">
                  <a:moveTo>
                    <a:pt x="989076" y="0"/>
                  </a:moveTo>
                  <a:lnTo>
                    <a:pt x="905256" y="0"/>
                  </a:lnTo>
                  <a:lnTo>
                    <a:pt x="905256" y="10668"/>
                  </a:lnTo>
                  <a:lnTo>
                    <a:pt x="989076" y="10668"/>
                  </a:lnTo>
                  <a:lnTo>
                    <a:pt x="989076" y="0"/>
                  </a:lnTo>
                  <a:close/>
                </a:path>
                <a:path w="1751329" h="10795">
                  <a:moveTo>
                    <a:pt x="1264920" y="0"/>
                  </a:moveTo>
                  <a:lnTo>
                    <a:pt x="1181100" y="0"/>
                  </a:lnTo>
                  <a:lnTo>
                    <a:pt x="1181100" y="10668"/>
                  </a:lnTo>
                  <a:lnTo>
                    <a:pt x="1264920" y="10668"/>
                  </a:lnTo>
                  <a:lnTo>
                    <a:pt x="1264920" y="0"/>
                  </a:lnTo>
                  <a:close/>
                </a:path>
                <a:path w="1751329" h="10795">
                  <a:moveTo>
                    <a:pt x="1507236" y="0"/>
                  </a:moveTo>
                  <a:lnTo>
                    <a:pt x="1423416" y="0"/>
                  </a:lnTo>
                  <a:lnTo>
                    <a:pt x="1423416" y="10668"/>
                  </a:lnTo>
                  <a:lnTo>
                    <a:pt x="1507236" y="10668"/>
                  </a:lnTo>
                  <a:lnTo>
                    <a:pt x="1507236" y="0"/>
                  </a:lnTo>
                  <a:close/>
                </a:path>
                <a:path w="1751329" h="10795">
                  <a:moveTo>
                    <a:pt x="1751076" y="0"/>
                  </a:moveTo>
                  <a:lnTo>
                    <a:pt x="1667256" y="0"/>
                  </a:lnTo>
                  <a:lnTo>
                    <a:pt x="1667256" y="10668"/>
                  </a:lnTo>
                  <a:lnTo>
                    <a:pt x="1751076" y="10668"/>
                  </a:lnTo>
                  <a:lnTo>
                    <a:pt x="1751076" y="0"/>
                  </a:lnTo>
                  <a:close/>
                </a:path>
              </a:pathLst>
            </a:custGeom>
            <a:solidFill>
              <a:srgbClr val="000000"/>
            </a:solidFill>
          </p:spPr>
          <p:txBody>
            <a:bodyPr wrap="square" lIns="0" tIns="0" rIns="0" bIns="0" rtlCol="0"/>
            <a:lstStyle/>
            <a:p>
              <a:endParaRPr/>
            </a:p>
          </p:txBody>
        </p:sp>
      </p:grpSp>
      <p:sp>
        <p:nvSpPr>
          <p:cNvPr id="8" name="object 8"/>
          <p:cNvSpPr txBox="1"/>
          <p:nvPr/>
        </p:nvSpPr>
        <p:spPr>
          <a:xfrm>
            <a:off x="8225028" y="5864352"/>
            <a:ext cx="2207260" cy="485140"/>
          </a:xfrm>
          <a:prstGeom prst="rect">
            <a:avLst/>
          </a:prstGeom>
        </p:spPr>
        <p:txBody>
          <a:bodyPr vert="horz" wrap="square" lIns="0" tIns="22225" rIns="0" bIns="0" rtlCol="0">
            <a:spAutoFit/>
          </a:bodyPr>
          <a:lstStyle/>
          <a:p>
            <a:pPr marL="92710">
              <a:lnSpc>
                <a:spcPct val="100000"/>
              </a:lnSpc>
              <a:spcBef>
                <a:spcPts val="175"/>
              </a:spcBef>
              <a:tabLst>
                <a:tab pos="545465" algn="l"/>
                <a:tab pos="998219" algn="l"/>
                <a:tab pos="1273810" algn="l"/>
                <a:tab pos="1516380" algn="l"/>
                <a:tab pos="1760220" algn="l"/>
              </a:tabLst>
            </a:pPr>
            <a:r>
              <a:rPr sz="1200" dirty="0">
                <a:latin typeface="Cambria Math"/>
                <a:cs typeface="Cambria Math"/>
              </a:rPr>
              <a:t>1  </a:t>
            </a:r>
            <a:r>
              <a:rPr sz="1200" spc="190" dirty="0">
                <a:latin typeface="Cambria Math"/>
                <a:cs typeface="Cambria Math"/>
              </a:rPr>
              <a:t> </a:t>
            </a:r>
            <a:r>
              <a:rPr sz="1200" dirty="0">
                <a:latin typeface="Cambria Math"/>
                <a:cs typeface="Cambria Math"/>
              </a:rPr>
              <a:t>2	3  </a:t>
            </a:r>
            <a:r>
              <a:rPr sz="1200" spc="185" dirty="0">
                <a:latin typeface="Cambria Math"/>
                <a:cs typeface="Cambria Math"/>
              </a:rPr>
              <a:t> </a:t>
            </a:r>
            <a:r>
              <a:rPr sz="1200" dirty="0">
                <a:latin typeface="Cambria Math"/>
                <a:cs typeface="Cambria Math"/>
              </a:rPr>
              <a:t>4	5	6	7	8</a:t>
            </a:r>
            <a:endParaRPr sz="1200">
              <a:latin typeface="Cambria Math"/>
              <a:cs typeface="Cambria Math"/>
            </a:endParaRPr>
          </a:p>
          <a:p>
            <a:pPr marL="92710">
              <a:lnSpc>
                <a:spcPct val="100000"/>
              </a:lnSpc>
              <a:spcBef>
                <a:spcPts val="275"/>
              </a:spcBef>
              <a:tabLst>
                <a:tab pos="545465" algn="l"/>
                <a:tab pos="998219" algn="l"/>
                <a:tab pos="1273810" algn="l"/>
                <a:tab pos="1516380" algn="l"/>
                <a:tab pos="1760220" algn="l"/>
              </a:tabLst>
            </a:pPr>
            <a:r>
              <a:rPr sz="1200" dirty="0">
                <a:latin typeface="Cambria Math"/>
                <a:cs typeface="Cambria Math"/>
              </a:rPr>
              <a:t>8  </a:t>
            </a:r>
            <a:r>
              <a:rPr sz="1200" spc="190" dirty="0">
                <a:latin typeface="Cambria Math"/>
                <a:cs typeface="Cambria Math"/>
              </a:rPr>
              <a:t> </a:t>
            </a:r>
            <a:r>
              <a:rPr sz="1200" dirty="0">
                <a:latin typeface="Cambria Math"/>
                <a:cs typeface="Cambria Math"/>
              </a:rPr>
              <a:t>8	8  </a:t>
            </a:r>
            <a:r>
              <a:rPr sz="1200" spc="185" dirty="0">
                <a:latin typeface="Cambria Math"/>
                <a:cs typeface="Cambria Math"/>
              </a:rPr>
              <a:t> </a:t>
            </a:r>
            <a:r>
              <a:rPr sz="1200" dirty="0">
                <a:latin typeface="Cambria Math"/>
                <a:cs typeface="Cambria Math"/>
              </a:rPr>
              <a:t>8	8	8	8	8</a:t>
            </a:r>
            <a:endParaRPr sz="1200">
              <a:latin typeface="Cambria Math"/>
              <a:cs typeface="Cambria Math"/>
            </a:endParaRPr>
          </a:p>
        </p:txBody>
      </p:sp>
      <p:sp>
        <p:nvSpPr>
          <p:cNvPr id="9" name="object 9"/>
          <p:cNvSpPr txBox="1">
            <a:spLocks noGrp="1"/>
          </p:cNvSpPr>
          <p:nvPr>
            <p:ph type="title"/>
          </p:nvPr>
        </p:nvSpPr>
        <p:spPr>
          <a:xfrm>
            <a:off x="916939" y="351536"/>
            <a:ext cx="2148205" cy="635000"/>
          </a:xfrm>
          <a:prstGeom prst="rect">
            <a:avLst/>
          </a:prstGeom>
        </p:spPr>
        <p:txBody>
          <a:bodyPr vert="horz" wrap="square" lIns="0" tIns="12065" rIns="0" bIns="0" rtlCol="0">
            <a:spAutoFit/>
          </a:bodyPr>
          <a:lstStyle/>
          <a:p>
            <a:pPr marL="12700">
              <a:lnSpc>
                <a:spcPct val="100000"/>
              </a:lnSpc>
              <a:spcBef>
                <a:spcPts val="95"/>
              </a:spcBef>
            </a:pPr>
            <a:r>
              <a:rPr sz="4000" spc="-30" dirty="0"/>
              <a:t>Ramp</a:t>
            </a:r>
            <a:r>
              <a:rPr sz="4000" spc="-165" dirty="0"/>
              <a:t> </a:t>
            </a:r>
            <a:r>
              <a:rPr sz="4000" spc="-30" dirty="0"/>
              <a:t>ADC</a:t>
            </a:r>
            <a:endParaRPr sz="4000"/>
          </a:p>
        </p:txBody>
      </p:sp>
      <p:sp>
        <p:nvSpPr>
          <p:cNvPr id="10" name="Slide Number Placeholder 9"/>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23</a:t>
            </a:fld>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76757" y="1426845"/>
            <a:ext cx="10531475" cy="5015230"/>
          </a:xfrm>
          <a:prstGeom prst="rect">
            <a:avLst/>
          </a:prstGeom>
        </p:spPr>
        <p:txBody>
          <a:bodyPr vert="horz" wrap="square" lIns="0" tIns="104775" rIns="0" bIns="0" rtlCol="0">
            <a:spAutoFit/>
          </a:bodyPr>
          <a:lstStyle/>
          <a:p>
            <a:pPr marL="241300" marR="532765" indent="-228600">
              <a:lnSpc>
                <a:spcPct val="70000"/>
              </a:lnSpc>
              <a:spcBef>
                <a:spcPts val="825"/>
              </a:spcBef>
              <a:buFont typeface="Arial MT"/>
              <a:buChar char="•"/>
              <a:tabLst>
                <a:tab pos="240665" algn="l"/>
                <a:tab pos="241300" algn="l"/>
              </a:tabLst>
            </a:pPr>
            <a:r>
              <a:rPr sz="2000" spc="-5" dirty="0">
                <a:latin typeface="Calibri"/>
                <a:cs typeface="Calibri"/>
              </a:rPr>
              <a:t>The</a:t>
            </a:r>
            <a:r>
              <a:rPr sz="2000" dirty="0">
                <a:latin typeface="Calibri"/>
                <a:cs typeface="Calibri"/>
              </a:rPr>
              <a:t> </a:t>
            </a:r>
            <a:r>
              <a:rPr sz="2000" spc="-10" dirty="0">
                <a:latin typeface="Calibri"/>
                <a:cs typeface="Calibri"/>
              </a:rPr>
              <a:t>ramp</a:t>
            </a:r>
            <a:r>
              <a:rPr sz="2000" spc="-5" dirty="0">
                <a:latin typeface="Calibri"/>
                <a:cs typeface="Calibri"/>
              </a:rPr>
              <a:t> </a:t>
            </a:r>
            <a:r>
              <a:rPr sz="2000" spc="-15" dirty="0">
                <a:latin typeface="Calibri"/>
                <a:cs typeface="Calibri"/>
              </a:rPr>
              <a:t>form </a:t>
            </a:r>
            <a:r>
              <a:rPr sz="2000" spc="-5" dirty="0">
                <a:latin typeface="Calibri"/>
                <a:cs typeface="Calibri"/>
              </a:rPr>
              <a:t>of</a:t>
            </a:r>
            <a:r>
              <a:rPr sz="2000" dirty="0">
                <a:latin typeface="Calibri"/>
                <a:cs typeface="Calibri"/>
              </a:rPr>
              <a:t> </a:t>
            </a:r>
            <a:r>
              <a:rPr sz="2000" spc="-5" dirty="0">
                <a:latin typeface="Calibri"/>
                <a:cs typeface="Calibri"/>
              </a:rPr>
              <a:t>analog-to-digital</a:t>
            </a:r>
            <a:r>
              <a:rPr sz="2000" spc="5" dirty="0">
                <a:latin typeface="Calibri"/>
                <a:cs typeface="Calibri"/>
              </a:rPr>
              <a:t> </a:t>
            </a:r>
            <a:r>
              <a:rPr sz="2000" spc="-15" dirty="0">
                <a:latin typeface="Calibri"/>
                <a:cs typeface="Calibri"/>
              </a:rPr>
              <a:t>converter</a:t>
            </a:r>
            <a:r>
              <a:rPr sz="2000" spc="5" dirty="0">
                <a:latin typeface="Calibri"/>
                <a:cs typeface="Calibri"/>
              </a:rPr>
              <a:t> </a:t>
            </a:r>
            <a:r>
              <a:rPr sz="2000" spc="-15" dirty="0">
                <a:latin typeface="Calibri"/>
                <a:cs typeface="Calibri"/>
              </a:rPr>
              <a:t>involves</a:t>
            </a:r>
            <a:r>
              <a:rPr sz="2000" spc="30" dirty="0">
                <a:latin typeface="Calibri"/>
                <a:cs typeface="Calibri"/>
              </a:rPr>
              <a:t> </a:t>
            </a:r>
            <a:r>
              <a:rPr sz="2000" dirty="0">
                <a:latin typeface="Calibri"/>
                <a:cs typeface="Calibri"/>
              </a:rPr>
              <a:t>an</a:t>
            </a:r>
            <a:r>
              <a:rPr sz="2000" spc="5" dirty="0">
                <a:latin typeface="Calibri"/>
                <a:cs typeface="Calibri"/>
              </a:rPr>
              <a:t> </a:t>
            </a:r>
            <a:r>
              <a:rPr sz="2000" dirty="0">
                <a:latin typeface="Calibri"/>
                <a:cs typeface="Calibri"/>
              </a:rPr>
              <a:t>analog </a:t>
            </a:r>
            <a:r>
              <a:rPr sz="2000" spc="-10" dirty="0">
                <a:latin typeface="Calibri"/>
                <a:cs typeface="Calibri"/>
              </a:rPr>
              <a:t>voltage</a:t>
            </a:r>
            <a:r>
              <a:rPr sz="2000" spc="-5" dirty="0">
                <a:latin typeface="Calibri"/>
                <a:cs typeface="Calibri"/>
              </a:rPr>
              <a:t> </a:t>
            </a:r>
            <a:r>
              <a:rPr sz="2000" dirty="0">
                <a:latin typeface="Calibri"/>
                <a:cs typeface="Calibri"/>
              </a:rPr>
              <a:t>which</a:t>
            </a:r>
            <a:r>
              <a:rPr sz="2000" spc="5" dirty="0">
                <a:latin typeface="Calibri"/>
                <a:cs typeface="Calibri"/>
              </a:rPr>
              <a:t> </a:t>
            </a:r>
            <a:r>
              <a:rPr sz="2000" spc="-5" dirty="0">
                <a:latin typeface="Calibri"/>
                <a:cs typeface="Calibri"/>
              </a:rPr>
              <a:t>is</a:t>
            </a:r>
            <a:r>
              <a:rPr sz="2000" spc="10" dirty="0">
                <a:latin typeface="Calibri"/>
                <a:cs typeface="Calibri"/>
              </a:rPr>
              <a:t> </a:t>
            </a:r>
            <a:r>
              <a:rPr sz="2000" spc="-5" dirty="0">
                <a:latin typeface="Calibri"/>
                <a:cs typeface="Calibri"/>
              </a:rPr>
              <a:t>increased</a:t>
            </a:r>
            <a:r>
              <a:rPr sz="2000" spc="20" dirty="0">
                <a:latin typeface="Calibri"/>
                <a:cs typeface="Calibri"/>
              </a:rPr>
              <a:t> </a:t>
            </a:r>
            <a:r>
              <a:rPr sz="2000" spc="-15" dirty="0">
                <a:latin typeface="Calibri"/>
                <a:cs typeface="Calibri"/>
              </a:rPr>
              <a:t>at</a:t>
            </a:r>
            <a:r>
              <a:rPr sz="2000" spc="5" dirty="0">
                <a:latin typeface="Calibri"/>
                <a:cs typeface="Calibri"/>
              </a:rPr>
              <a:t> </a:t>
            </a:r>
            <a:r>
              <a:rPr sz="2000" dirty="0">
                <a:latin typeface="Calibri"/>
                <a:cs typeface="Calibri"/>
              </a:rPr>
              <a:t>a </a:t>
            </a:r>
            <a:r>
              <a:rPr sz="2000" spc="-434" dirty="0">
                <a:latin typeface="Calibri"/>
                <a:cs typeface="Calibri"/>
              </a:rPr>
              <a:t> </a:t>
            </a:r>
            <a:r>
              <a:rPr sz="2000" spc="-10" dirty="0">
                <a:latin typeface="Calibri"/>
                <a:cs typeface="Calibri"/>
              </a:rPr>
              <a:t>constant</a:t>
            </a:r>
            <a:r>
              <a:rPr sz="2000" spc="-15" dirty="0">
                <a:latin typeface="Calibri"/>
                <a:cs typeface="Calibri"/>
              </a:rPr>
              <a:t> </a:t>
            </a:r>
            <a:r>
              <a:rPr sz="2000" spc="-20" dirty="0">
                <a:latin typeface="Calibri"/>
                <a:cs typeface="Calibri"/>
              </a:rPr>
              <a:t>rate,</a:t>
            </a:r>
            <a:r>
              <a:rPr sz="2000" spc="15" dirty="0">
                <a:latin typeface="Calibri"/>
                <a:cs typeface="Calibri"/>
              </a:rPr>
              <a:t> </a:t>
            </a:r>
            <a:r>
              <a:rPr sz="2000" dirty="0">
                <a:latin typeface="Calibri"/>
                <a:cs typeface="Calibri"/>
              </a:rPr>
              <a:t>a </a:t>
            </a:r>
            <a:r>
              <a:rPr sz="2000" spc="-5" dirty="0">
                <a:latin typeface="Calibri"/>
                <a:cs typeface="Calibri"/>
              </a:rPr>
              <a:t>so-called</a:t>
            </a:r>
            <a:r>
              <a:rPr sz="2000" dirty="0">
                <a:latin typeface="Calibri"/>
                <a:cs typeface="Calibri"/>
              </a:rPr>
              <a:t> </a:t>
            </a:r>
            <a:r>
              <a:rPr sz="2000" spc="-10" dirty="0">
                <a:latin typeface="Calibri"/>
                <a:cs typeface="Calibri"/>
              </a:rPr>
              <a:t>ramp voltage.</a:t>
            </a:r>
            <a:endParaRPr sz="2000">
              <a:latin typeface="Calibri"/>
              <a:cs typeface="Calibri"/>
            </a:endParaRPr>
          </a:p>
          <a:p>
            <a:pPr marL="241300" indent="-228600">
              <a:lnSpc>
                <a:spcPct val="100000"/>
              </a:lnSpc>
              <a:spcBef>
                <a:spcPts val="275"/>
              </a:spcBef>
              <a:buFont typeface="Arial MT"/>
              <a:buChar char="•"/>
              <a:tabLst>
                <a:tab pos="240665" algn="l"/>
                <a:tab pos="241300" algn="l"/>
              </a:tabLst>
            </a:pPr>
            <a:r>
              <a:rPr sz="2000" spc="-5" dirty="0">
                <a:latin typeface="Calibri"/>
                <a:cs typeface="Calibri"/>
              </a:rPr>
              <a:t>This</a:t>
            </a:r>
            <a:r>
              <a:rPr sz="2000" spc="-10" dirty="0">
                <a:latin typeface="Calibri"/>
                <a:cs typeface="Calibri"/>
              </a:rPr>
              <a:t> ramp</a:t>
            </a:r>
            <a:r>
              <a:rPr sz="2000" spc="5" dirty="0">
                <a:latin typeface="Calibri"/>
                <a:cs typeface="Calibri"/>
              </a:rPr>
              <a:t> </a:t>
            </a:r>
            <a:r>
              <a:rPr sz="2000" spc="-10" dirty="0">
                <a:latin typeface="Calibri"/>
                <a:cs typeface="Calibri"/>
              </a:rPr>
              <a:t>voltage </a:t>
            </a:r>
            <a:r>
              <a:rPr sz="2000" dirty="0">
                <a:latin typeface="Calibri"/>
                <a:cs typeface="Calibri"/>
              </a:rPr>
              <a:t>is</a:t>
            </a:r>
            <a:r>
              <a:rPr sz="2000" spc="10" dirty="0">
                <a:latin typeface="Calibri"/>
                <a:cs typeface="Calibri"/>
              </a:rPr>
              <a:t> </a:t>
            </a:r>
            <a:r>
              <a:rPr sz="2000" spc="-10" dirty="0">
                <a:latin typeface="Calibri"/>
                <a:cs typeface="Calibri"/>
              </a:rPr>
              <a:t>generated</a:t>
            </a:r>
            <a:r>
              <a:rPr sz="2000" dirty="0">
                <a:latin typeface="Calibri"/>
                <a:cs typeface="Calibri"/>
              </a:rPr>
              <a:t> </a:t>
            </a:r>
            <a:r>
              <a:rPr sz="2000" spc="-5" dirty="0">
                <a:latin typeface="Calibri"/>
                <a:cs typeface="Calibri"/>
              </a:rPr>
              <a:t>by</a:t>
            </a:r>
            <a:r>
              <a:rPr sz="2000" dirty="0">
                <a:latin typeface="Calibri"/>
                <a:cs typeface="Calibri"/>
              </a:rPr>
              <a:t> a</a:t>
            </a:r>
            <a:r>
              <a:rPr sz="2000" spc="-10" dirty="0">
                <a:latin typeface="Calibri"/>
                <a:cs typeface="Calibri"/>
              </a:rPr>
              <a:t> </a:t>
            </a:r>
            <a:r>
              <a:rPr sz="2000" spc="-5" dirty="0">
                <a:latin typeface="Calibri"/>
                <a:cs typeface="Calibri"/>
              </a:rPr>
              <a:t>capacitor being</a:t>
            </a:r>
            <a:r>
              <a:rPr sz="2000" spc="-15" dirty="0">
                <a:latin typeface="Calibri"/>
                <a:cs typeface="Calibri"/>
              </a:rPr>
              <a:t> </a:t>
            </a:r>
            <a:r>
              <a:rPr sz="2000" spc="-5" dirty="0">
                <a:latin typeface="Calibri"/>
                <a:cs typeface="Calibri"/>
              </a:rPr>
              <a:t>charged</a:t>
            </a:r>
            <a:r>
              <a:rPr sz="2000" spc="-15" dirty="0">
                <a:latin typeface="Calibri"/>
                <a:cs typeface="Calibri"/>
              </a:rPr>
              <a:t> from</a:t>
            </a:r>
            <a:r>
              <a:rPr sz="2000" spc="-5" dirty="0">
                <a:latin typeface="Calibri"/>
                <a:cs typeface="Calibri"/>
              </a:rPr>
              <a:t> </a:t>
            </a:r>
            <a:r>
              <a:rPr sz="2000" dirty="0">
                <a:latin typeface="Calibri"/>
                <a:cs typeface="Calibri"/>
              </a:rPr>
              <a:t>a</a:t>
            </a:r>
            <a:r>
              <a:rPr sz="2000" spc="5" dirty="0">
                <a:latin typeface="Calibri"/>
                <a:cs typeface="Calibri"/>
              </a:rPr>
              <a:t> </a:t>
            </a:r>
            <a:r>
              <a:rPr sz="2000" spc="-10" dirty="0">
                <a:latin typeface="Calibri"/>
                <a:cs typeface="Calibri"/>
              </a:rPr>
              <a:t>constant current</a:t>
            </a:r>
            <a:r>
              <a:rPr sz="2000" spc="5" dirty="0">
                <a:latin typeface="Calibri"/>
                <a:cs typeface="Calibri"/>
              </a:rPr>
              <a:t> </a:t>
            </a:r>
            <a:r>
              <a:rPr sz="2000" spc="-5" dirty="0">
                <a:latin typeface="Calibri"/>
                <a:cs typeface="Calibri"/>
              </a:rPr>
              <a:t>source.</a:t>
            </a:r>
            <a:endParaRPr sz="2000">
              <a:latin typeface="Calibri"/>
              <a:cs typeface="Calibri"/>
            </a:endParaRPr>
          </a:p>
          <a:p>
            <a:pPr marL="241300" marR="566420" indent="-228600">
              <a:lnSpc>
                <a:spcPct val="70000"/>
              </a:lnSpc>
              <a:spcBef>
                <a:spcPts val="1010"/>
              </a:spcBef>
              <a:buFont typeface="Arial MT"/>
              <a:buChar char="•"/>
              <a:tabLst>
                <a:tab pos="240665" algn="l"/>
                <a:tab pos="241300" algn="l"/>
              </a:tabLst>
            </a:pPr>
            <a:r>
              <a:rPr sz="2000" spc="-5" dirty="0">
                <a:latin typeface="Calibri"/>
                <a:cs typeface="Calibri"/>
              </a:rPr>
              <a:t>The charge</a:t>
            </a:r>
            <a:r>
              <a:rPr sz="2000" spc="-15" dirty="0">
                <a:latin typeface="Calibri"/>
                <a:cs typeface="Calibri"/>
              </a:rPr>
              <a:t> </a:t>
            </a:r>
            <a:r>
              <a:rPr sz="2000" dirty="0">
                <a:latin typeface="Calibri"/>
                <a:cs typeface="Calibri"/>
              </a:rPr>
              <a:t>q</a:t>
            </a:r>
            <a:r>
              <a:rPr sz="2000" spc="-5" dirty="0">
                <a:latin typeface="Calibri"/>
                <a:cs typeface="Calibri"/>
              </a:rPr>
              <a:t> on</a:t>
            </a:r>
            <a:r>
              <a:rPr sz="2000" spc="-20" dirty="0">
                <a:latin typeface="Calibri"/>
                <a:cs typeface="Calibri"/>
              </a:rPr>
              <a:t> </a:t>
            </a:r>
            <a:r>
              <a:rPr sz="2000" dirty="0">
                <a:latin typeface="Calibri"/>
                <a:cs typeface="Calibri"/>
              </a:rPr>
              <a:t>the</a:t>
            </a:r>
            <a:r>
              <a:rPr sz="2000" spc="5" dirty="0">
                <a:latin typeface="Calibri"/>
                <a:cs typeface="Calibri"/>
              </a:rPr>
              <a:t> </a:t>
            </a:r>
            <a:r>
              <a:rPr sz="2000" spc="-5" dirty="0">
                <a:latin typeface="Calibri"/>
                <a:cs typeface="Calibri"/>
              </a:rPr>
              <a:t>capacitor </a:t>
            </a:r>
            <a:r>
              <a:rPr sz="2000" dirty="0">
                <a:latin typeface="Calibri"/>
                <a:cs typeface="Calibri"/>
              </a:rPr>
              <a:t>is</a:t>
            </a:r>
            <a:r>
              <a:rPr sz="2000" spc="-5" dirty="0">
                <a:latin typeface="Calibri"/>
                <a:cs typeface="Calibri"/>
              </a:rPr>
              <a:t> </a:t>
            </a:r>
            <a:r>
              <a:rPr sz="2000" dirty="0">
                <a:latin typeface="Calibri"/>
                <a:cs typeface="Calibri"/>
              </a:rPr>
              <a:t>It,</a:t>
            </a:r>
            <a:r>
              <a:rPr sz="2000" spc="5" dirty="0">
                <a:latin typeface="Calibri"/>
                <a:cs typeface="Calibri"/>
              </a:rPr>
              <a:t> </a:t>
            </a:r>
            <a:r>
              <a:rPr sz="2000" spc="-10" dirty="0">
                <a:latin typeface="Calibri"/>
                <a:cs typeface="Calibri"/>
              </a:rPr>
              <a:t>where</a:t>
            </a:r>
            <a:r>
              <a:rPr sz="2000" dirty="0">
                <a:latin typeface="Calibri"/>
                <a:cs typeface="Calibri"/>
              </a:rPr>
              <a:t> I</a:t>
            </a:r>
            <a:r>
              <a:rPr sz="2000" spc="-5" dirty="0">
                <a:latin typeface="Calibri"/>
                <a:cs typeface="Calibri"/>
              </a:rPr>
              <a:t> </a:t>
            </a:r>
            <a:r>
              <a:rPr sz="2000" dirty="0">
                <a:latin typeface="Calibri"/>
                <a:cs typeface="Calibri"/>
              </a:rPr>
              <a:t>is</a:t>
            </a:r>
            <a:r>
              <a:rPr sz="2000" spc="10" dirty="0">
                <a:latin typeface="Calibri"/>
                <a:cs typeface="Calibri"/>
              </a:rPr>
              <a:t> </a:t>
            </a:r>
            <a:r>
              <a:rPr sz="2000" dirty="0">
                <a:latin typeface="Calibri"/>
                <a:cs typeface="Calibri"/>
              </a:rPr>
              <a:t>the</a:t>
            </a:r>
            <a:r>
              <a:rPr sz="2000" spc="-10" dirty="0">
                <a:latin typeface="Calibri"/>
                <a:cs typeface="Calibri"/>
              </a:rPr>
              <a:t> constant</a:t>
            </a:r>
            <a:r>
              <a:rPr sz="2000" spc="5" dirty="0">
                <a:latin typeface="Calibri"/>
                <a:cs typeface="Calibri"/>
              </a:rPr>
              <a:t> </a:t>
            </a:r>
            <a:r>
              <a:rPr sz="2000" spc="-10" dirty="0">
                <a:latin typeface="Calibri"/>
                <a:cs typeface="Calibri"/>
              </a:rPr>
              <a:t>current </a:t>
            </a:r>
            <a:r>
              <a:rPr sz="2000" dirty="0">
                <a:latin typeface="Calibri"/>
                <a:cs typeface="Calibri"/>
              </a:rPr>
              <a:t>and t</a:t>
            </a:r>
            <a:r>
              <a:rPr sz="2000" spc="5" dirty="0">
                <a:latin typeface="Calibri"/>
                <a:cs typeface="Calibri"/>
              </a:rPr>
              <a:t> </a:t>
            </a:r>
            <a:r>
              <a:rPr sz="2000" dirty="0">
                <a:latin typeface="Calibri"/>
                <a:cs typeface="Calibri"/>
              </a:rPr>
              <a:t>the</a:t>
            </a:r>
            <a:r>
              <a:rPr sz="2000" spc="-10" dirty="0">
                <a:latin typeface="Calibri"/>
                <a:cs typeface="Calibri"/>
              </a:rPr>
              <a:t> </a:t>
            </a:r>
            <a:r>
              <a:rPr sz="2000" spc="-5" dirty="0">
                <a:latin typeface="Calibri"/>
                <a:cs typeface="Calibri"/>
              </a:rPr>
              <a:t>time</a:t>
            </a:r>
            <a:r>
              <a:rPr sz="2000" spc="15" dirty="0">
                <a:latin typeface="Calibri"/>
                <a:cs typeface="Calibri"/>
              </a:rPr>
              <a:t> </a:t>
            </a:r>
            <a:r>
              <a:rPr sz="2000" spc="-15" dirty="0">
                <a:latin typeface="Calibri"/>
                <a:cs typeface="Calibri"/>
              </a:rPr>
              <a:t>for</a:t>
            </a:r>
            <a:r>
              <a:rPr sz="2000" spc="-10" dirty="0">
                <a:latin typeface="Calibri"/>
                <a:cs typeface="Calibri"/>
              </a:rPr>
              <a:t> </a:t>
            </a:r>
            <a:r>
              <a:rPr sz="2000" dirty="0">
                <a:latin typeface="Calibri"/>
                <a:cs typeface="Calibri"/>
              </a:rPr>
              <a:t>which</a:t>
            </a:r>
            <a:r>
              <a:rPr sz="2000" spc="-5" dirty="0">
                <a:latin typeface="Calibri"/>
                <a:cs typeface="Calibri"/>
              </a:rPr>
              <a:t> </a:t>
            </a:r>
            <a:r>
              <a:rPr sz="2000" dirty="0">
                <a:latin typeface="Calibri"/>
                <a:cs typeface="Calibri"/>
              </a:rPr>
              <a:t>the </a:t>
            </a:r>
            <a:r>
              <a:rPr sz="2000" spc="-434" dirty="0">
                <a:latin typeface="Calibri"/>
                <a:cs typeface="Calibri"/>
              </a:rPr>
              <a:t> </a:t>
            </a:r>
            <a:r>
              <a:rPr sz="2000" spc="-10" dirty="0">
                <a:latin typeface="Calibri"/>
                <a:cs typeface="Calibri"/>
              </a:rPr>
              <a:t>current</a:t>
            </a:r>
            <a:r>
              <a:rPr sz="2000" spc="-5" dirty="0">
                <a:latin typeface="Calibri"/>
                <a:cs typeface="Calibri"/>
              </a:rPr>
              <a:t> charges</a:t>
            </a:r>
            <a:r>
              <a:rPr sz="2000" spc="-15" dirty="0">
                <a:latin typeface="Calibri"/>
                <a:cs typeface="Calibri"/>
              </a:rPr>
              <a:t> </a:t>
            </a:r>
            <a:r>
              <a:rPr sz="2000" dirty="0">
                <a:latin typeface="Calibri"/>
                <a:cs typeface="Calibri"/>
              </a:rPr>
              <a:t>the</a:t>
            </a:r>
            <a:r>
              <a:rPr sz="2000" spc="-10" dirty="0">
                <a:latin typeface="Calibri"/>
                <a:cs typeface="Calibri"/>
              </a:rPr>
              <a:t> </a:t>
            </a:r>
            <a:r>
              <a:rPr sz="2000" spc="-25" dirty="0">
                <a:latin typeface="Calibri"/>
                <a:cs typeface="Calibri"/>
              </a:rPr>
              <a:t>capacitor.</a:t>
            </a:r>
            <a:endParaRPr sz="2000">
              <a:latin typeface="Calibri"/>
              <a:cs typeface="Calibri"/>
            </a:endParaRPr>
          </a:p>
          <a:p>
            <a:pPr marL="241300" indent="-228600">
              <a:lnSpc>
                <a:spcPct val="100000"/>
              </a:lnSpc>
              <a:spcBef>
                <a:spcPts val="275"/>
              </a:spcBef>
              <a:buFont typeface="Arial MT"/>
              <a:buChar char="•"/>
              <a:tabLst>
                <a:tab pos="240665" algn="l"/>
                <a:tab pos="241300" algn="l"/>
              </a:tabLst>
            </a:pPr>
            <a:r>
              <a:rPr sz="2000" spc="-5" dirty="0">
                <a:latin typeface="Calibri"/>
                <a:cs typeface="Calibri"/>
              </a:rPr>
              <a:t>Since </a:t>
            </a:r>
            <a:r>
              <a:rPr sz="2000" dirty="0">
                <a:latin typeface="Calibri"/>
                <a:cs typeface="Calibri"/>
              </a:rPr>
              <a:t>the </a:t>
            </a:r>
            <a:r>
              <a:rPr sz="2000" spc="-5" dirty="0">
                <a:latin typeface="Calibri"/>
                <a:cs typeface="Calibri"/>
              </a:rPr>
              <a:t>potential</a:t>
            </a:r>
            <a:r>
              <a:rPr sz="2000" dirty="0">
                <a:latin typeface="Calibri"/>
                <a:cs typeface="Calibri"/>
              </a:rPr>
              <a:t> </a:t>
            </a:r>
            <a:r>
              <a:rPr sz="2000" spc="-10" dirty="0">
                <a:latin typeface="Calibri"/>
                <a:cs typeface="Calibri"/>
              </a:rPr>
              <a:t>difference</a:t>
            </a:r>
            <a:r>
              <a:rPr sz="2000" dirty="0">
                <a:latin typeface="Calibri"/>
                <a:cs typeface="Calibri"/>
              </a:rPr>
              <a:t> </a:t>
            </a:r>
            <a:r>
              <a:rPr sz="2000" spc="-10" dirty="0">
                <a:latin typeface="Calibri"/>
                <a:cs typeface="Calibri"/>
              </a:rPr>
              <a:t>across</a:t>
            </a:r>
            <a:r>
              <a:rPr sz="2000" spc="5" dirty="0">
                <a:latin typeface="Calibri"/>
                <a:cs typeface="Calibri"/>
              </a:rPr>
              <a:t> </a:t>
            </a:r>
            <a:r>
              <a:rPr sz="2000" dirty="0">
                <a:latin typeface="Calibri"/>
                <a:cs typeface="Calibri"/>
              </a:rPr>
              <a:t>the </a:t>
            </a:r>
            <a:r>
              <a:rPr sz="2000" spc="-5" dirty="0">
                <a:latin typeface="Calibri"/>
                <a:cs typeface="Calibri"/>
              </a:rPr>
              <a:t>capacitor </a:t>
            </a:r>
            <a:r>
              <a:rPr sz="2000">
                <a:latin typeface="Calibri"/>
                <a:cs typeface="Calibri"/>
              </a:rPr>
              <a:t>is</a:t>
            </a:r>
            <a:r>
              <a:rPr sz="2000" spc="15">
                <a:latin typeface="Calibri"/>
                <a:cs typeface="Calibri"/>
              </a:rPr>
              <a:t> </a:t>
            </a:r>
            <a:r>
              <a:rPr sz="2000" smtClean="0">
                <a:latin typeface="Calibri"/>
                <a:cs typeface="Calibri"/>
              </a:rPr>
              <a:t>q</a:t>
            </a:r>
            <a:r>
              <a:rPr lang="en-US" sz="2000" dirty="0" smtClean="0">
                <a:latin typeface="Calibri"/>
                <a:cs typeface="Calibri"/>
              </a:rPr>
              <a:t>/</a:t>
            </a:r>
            <a:r>
              <a:rPr sz="2000" smtClean="0">
                <a:latin typeface="Calibri"/>
                <a:cs typeface="Calibri"/>
              </a:rPr>
              <a:t>C</a:t>
            </a:r>
            <a:r>
              <a:rPr sz="2000" spc="-15" smtClean="0">
                <a:latin typeface="Calibri"/>
                <a:cs typeface="Calibri"/>
              </a:rPr>
              <a:t> </a:t>
            </a:r>
            <a:r>
              <a:rPr sz="2000" dirty="0">
                <a:latin typeface="Calibri"/>
                <a:cs typeface="Calibri"/>
              </a:rPr>
              <a:t>,</a:t>
            </a:r>
            <a:endParaRPr sz="2000">
              <a:latin typeface="Calibri"/>
              <a:cs typeface="Calibri"/>
            </a:endParaRPr>
          </a:p>
          <a:p>
            <a:pPr marL="241300" marR="524510" indent="-228600">
              <a:lnSpc>
                <a:spcPct val="70000"/>
              </a:lnSpc>
              <a:spcBef>
                <a:spcPts val="994"/>
              </a:spcBef>
              <a:buFont typeface="Arial MT"/>
              <a:buChar char="•"/>
              <a:tabLst>
                <a:tab pos="240665" algn="l"/>
                <a:tab pos="241300" algn="l"/>
              </a:tabLst>
            </a:pPr>
            <a:r>
              <a:rPr sz="2000" dirty="0">
                <a:latin typeface="Calibri"/>
                <a:cs typeface="Calibri"/>
              </a:rPr>
              <a:t>then the</a:t>
            </a:r>
            <a:r>
              <a:rPr sz="2000" spc="5" dirty="0">
                <a:latin typeface="Calibri"/>
                <a:cs typeface="Calibri"/>
              </a:rPr>
              <a:t> </a:t>
            </a:r>
            <a:r>
              <a:rPr sz="2000" spc="-5" dirty="0">
                <a:latin typeface="Calibri"/>
                <a:cs typeface="Calibri"/>
              </a:rPr>
              <a:t>potential </a:t>
            </a:r>
            <a:r>
              <a:rPr sz="2000" spc="-10" dirty="0">
                <a:latin typeface="Calibri"/>
                <a:cs typeface="Calibri"/>
              </a:rPr>
              <a:t>difference</a:t>
            </a:r>
            <a:r>
              <a:rPr sz="2000" spc="20" dirty="0">
                <a:latin typeface="Calibri"/>
                <a:cs typeface="Calibri"/>
              </a:rPr>
              <a:t> </a:t>
            </a:r>
            <a:r>
              <a:rPr sz="2000" dirty="0">
                <a:latin typeface="Calibri"/>
                <a:cs typeface="Calibri"/>
              </a:rPr>
              <a:t>is</a:t>
            </a:r>
            <a:r>
              <a:rPr sz="2000" spc="-5" dirty="0">
                <a:latin typeface="Calibri"/>
                <a:cs typeface="Calibri"/>
              </a:rPr>
              <a:t> </a:t>
            </a:r>
            <a:r>
              <a:rPr sz="2000" spc="-10" dirty="0">
                <a:latin typeface="Calibri"/>
                <a:cs typeface="Calibri"/>
              </a:rPr>
              <a:t>proportional </a:t>
            </a:r>
            <a:r>
              <a:rPr sz="2000" spc="-15" dirty="0">
                <a:latin typeface="Calibri"/>
                <a:cs typeface="Calibri"/>
              </a:rPr>
              <a:t>to</a:t>
            </a:r>
            <a:r>
              <a:rPr sz="2000" dirty="0">
                <a:latin typeface="Calibri"/>
                <a:cs typeface="Calibri"/>
              </a:rPr>
              <a:t> the</a:t>
            </a:r>
            <a:r>
              <a:rPr sz="2000" spc="10" dirty="0">
                <a:latin typeface="Calibri"/>
                <a:cs typeface="Calibri"/>
              </a:rPr>
              <a:t> </a:t>
            </a:r>
            <a:r>
              <a:rPr sz="2000" spc="-5" dirty="0">
                <a:latin typeface="Calibri"/>
                <a:cs typeface="Calibri"/>
              </a:rPr>
              <a:t>time</a:t>
            </a:r>
            <a:r>
              <a:rPr sz="2000" spc="15" dirty="0">
                <a:latin typeface="Calibri"/>
                <a:cs typeface="Calibri"/>
              </a:rPr>
              <a:t> </a:t>
            </a:r>
            <a:r>
              <a:rPr sz="2000" spc="-15" dirty="0">
                <a:latin typeface="Calibri"/>
                <a:cs typeface="Calibri"/>
              </a:rPr>
              <a:t>for</a:t>
            </a:r>
            <a:r>
              <a:rPr sz="2000" spc="-10" dirty="0">
                <a:latin typeface="Calibri"/>
                <a:cs typeface="Calibri"/>
              </a:rPr>
              <a:t> </a:t>
            </a:r>
            <a:r>
              <a:rPr sz="2000" dirty="0">
                <a:latin typeface="Calibri"/>
                <a:cs typeface="Calibri"/>
              </a:rPr>
              <a:t>which</a:t>
            </a:r>
            <a:r>
              <a:rPr sz="2000" spc="-10" dirty="0">
                <a:latin typeface="Calibri"/>
                <a:cs typeface="Calibri"/>
              </a:rPr>
              <a:t> </a:t>
            </a:r>
            <a:r>
              <a:rPr sz="2000" dirty="0">
                <a:latin typeface="Calibri"/>
                <a:cs typeface="Calibri"/>
              </a:rPr>
              <a:t>the</a:t>
            </a:r>
            <a:r>
              <a:rPr sz="2000" spc="5" dirty="0">
                <a:latin typeface="Calibri"/>
                <a:cs typeface="Calibri"/>
              </a:rPr>
              <a:t> </a:t>
            </a:r>
            <a:r>
              <a:rPr sz="2000" spc="-5" dirty="0">
                <a:latin typeface="Calibri"/>
                <a:cs typeface="Calibri"/>
              </a:rPr>
              <a:t>charging</a:t>
            </a:r>
            <a:r>
              <a:rPr sz="2000" spc="-20" dirty="0">
                <a:latin typeface="Calibri"/>
                <a:cs typeface="Calibri"/>
              </a:rPr>
              <a:t> </a:t>
            </a:r>
            <a:r>
              <a:rPr sz="2000" spc="-10" dirty="0">
                <a:latin typeface="Calibri"/>
                <a:cs typeface="Calibri"/>
              </a:rPr>
              <a:t>occurs </a:t>
            </a:r>
            <a:r>
              <a:rPr sz="2000" dirty="0">
                <a:latin typeface="Calibri"/>
                <a:cs typeface="Calibri"/>
              </a:rPr>
              <a:t>and</a:t>
            </a:r>
            <a:r>
              <a:rPr sz="2000" spc="5" dirty="0">
                <a:latin typeface="Calibri"/>
                <a:cs typeface="Calibri"/>
              </a:rPr>
              <a:t> </a:t>
            </a:r>
            <a:r>
              <a:rPr sz="2000" spc="-5" dirty="0">
                <a:latin typeface="Calibri"/>
                <a:cs typeface="Calibri"/>
              </a:rPr>
              <a:t>so</a:t>
            </a:r>
            <a:r>
              <a:rPr sz="2000" spc="5" dirty="0">
                <a:latin typeface="Calibri"/>
                <a:cs typeface="Calibri"/>
              </a:rPr>
              <a:t> </a:t>
            </a:r>
            <a:r>
              <a:rPr sz="2000" dirty="0">
                <a:latin typeface="Calibri"/>
                <a:cs typeface="Calibri"/>
              </a:rPr>
              <a:t>a </a:t>
            </a:r>
            <a:r>
              <a:rPr sz="2000" spc="-434" dirty="0">
                <a:latin typeface="Calibri"/>
                <a:cs typeface="Calibri"/>
              </a:rPr>
              <a:t> </a:t>
            </a:r>
            <a:r>
              <a:rPr sz="2000" spc="-10" dirty="0">
                <a:latin typeface="Calibri"/>
                <a:cs typeface="Calibri"/>
              </a:rPr>
              <a:t>ramp</a:t>
            </a:r>
            <a:r>
              <a:rPr sz="2000" spc="-15" dirty="0">
                <a:latin typeface="Calibri"/>
                <a:cs typeface="Calibri"/>
              </a:rPr>
              <a:t> </a:t>
            </a:r>
            <a:r>
              <a:rPr sz="2000" spc="-10" dirty="0">
                <a:latin typeface="Calibri"/>
                <a:cs typeface="Calibri"/>
              </a:rPr>
              <a:t>voltage</a:t>
            </a:r>
            <a:r>
              <a:rPr sz="2000" dirty="0">
                <a:latin typeface="Calibri"/>
                <a:cs typeface="Calibri"/>
              </a:rPr>
              <a:t> is</a:t>
            </a:r>
            <a:r>
              <a:rPr sz="2000" spc="5" dirty="0">
                <a:latin typeface="Calibri"/>
                <a:cs typeface="Calibri"/>
              </a:rPr>
              <a:t> </a:t>
            </a:r>
            <a:r>
              <a:rPr sz="2000" spc="-5" dirty="0">
                <a:latin typeface="Calibri"/>
                <a:cs typeface="Calibri"/>
              </a:rPr>
              <a:t>produced.</a:t>
            </a:r>
            <a:endParaRPr sz="2000">
              <a:latin typeface="Calibri"/>
              <a:cs typeface="Calibri"/>
            </a:endParaRPr>
          </a:p>
          <a:p>
            <a:pPr marL="241300" indent="-228600">
              <a:lnSpc>
                <a:spcPct val="100000"/>
              </a:lnSpc>
              <a:spcBef>
                <a:spcPts val="290"/>
              </a:spcBef>
              <a:buFont typeface="Arial MT"/>
              <a:buChar char="•"/>
              <a:tabLst>
                <a:tab pos="240665" algn="l"/>
                <a:tab pos="241300" algn="l"/>
              </a:tabLst>
            </a:pPr>
            <a:r>
              <a:rPr sz="2000" spc="-5" dirty="0">
                <a:latin typeface="Calibri"/>
                <a:cs typeface="Calibri"/>
              </a:rPr>
              <a:t>The</a:t>
            </a:r>
            <a:r>
              <a:rPr sz="2000" dirty="0">
                <a:latin typeface="Calibri"/>
                <a:cs typeface="Calibri"/>
              </a:rPr>
              <a:t> </a:t>
            </a:r>
            <a:r>
              <a:rPr sz="2000" spc="-15" dirty="0">
                <a:latin typeface="Calibri"/>
                <a:cs typeface="Calibri"/>
              </a:rPr>
              <a:t>ramp</a:t>
            </a:r>
            <a:r>
              <a:rPr sz="2000" spc="-5" dirty="0">
                <a:latin typeface="Calibri"/>
                <a:cs typeface="Calibri"/>
              </a:rPr>
              <a:t> </a:t>
            </a:r>
            <a:r>
              <a:rPr sz="2000" spc="-10" dirty="0">
                <a:latin typeface="Calibri"/>
                <a:cs typeface="Calibri"/>
              </a:rPr>
              <a:t>voltage</a:t>
            </a:r>
            <a:r>
              <a:rPr sz="2000" dirty="0">
                <a:latin typeface="Calibri"/>
                <a:cs typeface="Calibri"/>
              </a:rPr>
              <a:t> </a:t>
            </a:r>
            <a:r>
              <a:rPr sz="2000" spc="-5" dirty="0">
                <a:latin typeface="Calibri"/>
                <a:cs typeface="Calibri"/>
              </a:rPr>
              <a:t>is</a:t>
            </a:r>
            <a:r>
              <a:rPr sz="2000" spc="5" dirty="0">
                <a:latin typeface="Calibri"/>
                <a:cs typeface="Calibri"/>
              </a:rPr>
              <a:t> </a:t>
            </a:r>
            <a:r>
              <a:rPr sz="2000" dirty="0">
                <a:latin typeface="Calibri"/>
                <a:cs typeface="Calibri"/>
              </a:rPr>
              <a:t>applied</a:t>
            </a:r>
            <a:r>
              <a:rPr sz="2000" spc="5" dirty="0">
                <a:latin typeface="Calibri"/>
                <a:cs typeface="Calibri"/>
              </a:rPr>
              <a:t> </a:t>
            </a:r>
            <a:r>
              <a:rPr sz="2000" spc="-10" dirty="0">
                <a:latin typeface="Calibri"/>
                <a:cs typeface="Calibri"/>
              </a:rPr>
              <a:t>to</a:t>
            </a:r>
            <a:r>
              <a:rPr sz="2000" spc="-15" dirty="0">
                <a:latin typeface="Calibri"/>
                <a:cs typeface="Calibri"/>
              </a:rPr>
              <a:t> </a:t>
            </a:r>
            <a:r>
              <a:rPr sz="2000" dirty="0">
                <a:latin typeface="Calibri"/>
                <a:cs typeface="Calibri"/>
              </a:rPr>
              <a:t>a</a:t>
            </a:r>
            <a:r>
              <a:rPr sz="2000" spc="5" dirty="0">
                <a:latin typeface="Calibri"/>
                <a:cs typeface="Calibri"/>
              </a:rPr>
              <a:t> </a:t>
            </a:r>
            <a:r>
              <a:rPr sz="2000" spc="-10" dirty="0">
                <a:latin typeface="Calibri"/>
                <a:cs typeface="Calibri"/>
              </a:rPr>
              <a:t>comparator</a:t>
            </a:r>
            <a:r>
              <a:rPr sz="2000" spc="-5" dirty="0">
                <a:latin typeface="Calibri"/>
                <a:cs typeface="Calibri"/>
              </a:rPr>
              <a:t> </a:t>
            </a:r>
            <a:r>
              <a:rPr sz="2000" spc="-10" dirty="0">
                <a:latin typeface="Calibri"/>
                <a:cs typeface="Calibri"/>
              </a:rPr>
              <a:t>where</a:t>
            </a:r>
            <a:r>
              <a:rPr sz="2000" spc="-5" dirty="0">
                <a:latin typeface="Calibri"/>
                <a:cs typeface="Calibri"/>
              </a:rPr>
              <a:t> </a:t>
            </a:r>
            <a:r>
              <a:rPr sz="2000" dirty="0">
                <a:latin typeface="Calibri"/>
                <a:cs typeface="Calibri"/>
              </a:rPr>
              <a:t>it</a:t>
            </a:r>
            <a:r>
              <a:rPr sz="2000" spc="10" dirty="0">
                <a:latin typeface="Calibri"/>
                <a:cs typeface="Calibri"/>
              </a:rPr>
              <a:t> </a:t>
            </a:r>
            <a:r>
              <a:rPr sz="2000" dirty="0">
                <a:latin typeface="Calibri"/>
                <a:cs typeface="Calibri"/>
              </a:rPr>
              <a:t>is</a:t>
            </a:r>
            <a:r>
              <a:rPr sz="2000" spc="-10" dirty="0">
                <a:latin typeface="Calibri"/>
                <a:cs typeface="Calibri"/>
              </a:rPr>
              <a:t> </a:t>
            </a:r>
            <a:r>
              <a:rPr sz="2000" spc="-5" dirty="0">
                <a:latin typeface="Calibri"/>
                <a:cs typeface="Calibri"/>
              </a:rPr>
              <a:t>compared </a:t>
            </a:r>
            <a:r>
              <a:rPr sz="2000" dirty="0">
                <a:latin typeface="Calibri"/>
                <a:cs typeface="Calibri"/>
              </a:rPr>
              <a:t>with</a:t>
            </a:r>
            <a:r>
              <a:rPr sz="2000" spc="-10" dirty="0">
                <a:latin typeface="Calibri"/>
                <a:cs typeface="Calibri"/>
              </a:rPr>
              <a:t> </a:t>
            </a:r>
            <a:r>
              <a:rPr sz="2000" dirty="0">
                <a:latin typeface="Calibri"/>
                <a:cs typeface="Calibri"/>
              </a:rPr>
              <a:t>the</a:t>
            </a:r>
            <a:r>
              <a:rPr sz="2000" spc="5" dirty="0">
                <a:latin typeface="Calibri"/>
                <a:cs typeface="Calibri"/>
              </a:rPr>
              <a:t> </a:t>
            </a:r>
            <a:r>
              <a:rPr sz="2000" dirty="0">
                <a:latin typeface="Calibri"/>
                <a:cs typeface="Calibri"/>
              </a:rPr>
              <a:t>input</a:t>
            </a:r>
            <a:r>
              <a:rPr sz="2000" spc="5" dirty="0">
                <a:latin typeface="Calibri"/>
                <a:cs typeface="Calibri"/>
              </a:rPr>
              <a:t> </a:t>
            </a:r>
            <a:r>
              <a:rPr sz="2000" spc="-5" dirty="0">
                <a:latin typeface="Calibri"/>
                <a:cs typeface="Calibri"/>
              </a:rPr>
              <a:t>analog</a:t>
            </a:r>
            <a:r>
              <a:rPr sz="2000" spc="-25" dirty="0">
                <a:latin typeface="Calibri"/>
                <a:cs typeface="Calibri"/>
              </a:rPr>
              <a:t> </a:t>
            </a:r>
            <a:r>
              <a:rPr sz="2000" spc="-10" dirty="0">
                <a:latin typeface="Calibri"/>
                <a:cs typeface="Calibri"/>
              </a:rPr>
              <a:t>voltage.</a:t>
            </a:r>
            <a:endParaRPr sz="2000">
              <a:latin typeface="Calibri"/>
              <a:cs typeface="Calibri"/>
            </a:endParaRPr>
          </a:p>
          <a:p>
            <a:pPr marL="241300" marR="5080" indent="-228600">
              <a:lnSpc>
                <a:spcPct val="70000"/>
              </a:lnSpc>
              <a:spcBef>
                <a:spcPts val="994"/>
              </a:spcBef>
              <a:buFont typeface="Arial MT"/>
              <a:buChar char="•"/>
              <a:tabLst>
                <a:tab pos="240665" algn="l"/>
                <a:tab pos="241300" algn="l"/>
              </a:tabLst>
            </a:pPr>
            <a:r>
              <a:rPr sz="2000" spc="-5" dirty="0">
                <a:latin typeface="Calibri"/>
                <a:cs typeface="Calibri"/>
              </a:rPr>
              <a:t>The</a:t>
            </a:r>
            <a:r>
              <a:rPr sz="2000" dirty="0">
                <a:latin typeface="Calibri"/>
                <a:cs typeface="Calibri"/>
              </a:rPr>
              <a:t> </a:t>
            </a:r>
            <a:r>
              <a:rPr sz="2000" spc="-5" dirty="0">
                <a:latin typeface="Calibri"/>
                <a:cs typeface="Calibri"/>
              </a:rPr>
              <a:t>time</a:t>
            </a:r>
            <a:r>
              <a:rPr sz="2000" spc="20" dirty="0">
                <a:latin typeface="Calibri"/>
                <a:cs typeface="Calibri"/>
              </a:rPr>
              <a:t> </a:t>
            </a:r>
            <a:r>
              <a:rPr sz="2000" spc="-20" dirty="0">
                <a:latin typeface="Calibri"/>
                <a:cs typeface="Calibri"/>
              </a:rPr>
              <a:t>taken</a:t>
            </a:r>
            <a:r>
              <a:rPr sz="2000" dirty="0">
                <a:latin typeface="Calibri"/>
                <a:cs typeface="Calibri"/>
              </a:rPr>
              <a:t> </a:t>
            </a:r>
            <a:r>
              <a:rPr sz="2000" spc="-15" dirty="0">
                <a:latin typeface="Calibri"/>
                <a:cs typeface="Calibri"/>
              </a:rPr>
              <a:t>for</a:t>
            </a:r>
            <a:r>
              <a:rPr sz="2000" spc="-10" dirty="0">
                <a:latin typeface="Calibri"/>
                <a:cs typeface="Calibri"/>
              </a:rPr>
              <a:t> </a:t>
            </a:r>
            <a:r>
              <a:rPr sz="2000" dirty="0">
                <a:latin typeface="Calibri"/>
                <a:cs typeface="Calibri"/>
              </a:rPr>
              <a:t>the </a:t>
            </a:r>
            <a:r>
              <a:rPr sz="2000" spc="-10" dirty="0">
                <a:latin typeface="Calibri"/>
                <a:cs typeface="Calibri"/>
              </a:rPr>
              <a:t>ramp</a:t>
            </a:r>
            <a:r>
              <a:rPr sz="2000" spc="5" dirty="0">
                <a:latin typeface="Calibri"/>
                <a:cs typeface="Calibri"/>
              </a:rPr>
              <a:t> </a:t>
            </a:r>
            <a:r>
              <a:rPr sz="2000" spc="-10" dirty="0">
                <a:latin typeface="Calibri"/>
                <a:cs typeface="Calibri"/>
              </a:rPr>
              <a:t>voltage</a:t>
            </a:r>
            <a:r>
              <a:rPr sz="2000" dirty="0">
                <a:latin typeface="Calibri"/>
                <a:cs typeface="Calibri"/>
              </a:rPr>
              <a:t> </a:t>
            </a:r>
            <a:r>
              <a:rPr sz="2000" spc="-15" dirty="0">
                <a:latin typeface="Calibri"/>
                <a:cs typeface="Calibri"/>
              </a:rPr>
              <a:t>to</a:t>
            </a:r>
            <a:r>
              <a:rPr sz="2000" dirty="0">
                <a:latin typeface="Calibri"/>
                <a:cs typeface="Calibri"/>
              </a:rPr>
              <a:t> </a:t>
            </a:r>
            <a:r>
              <a:rPr sz="2000" spc="-5" dirty="0">
                <a:latin typeface="Calibri"/>
                <a:cs typeface="Calibri"/>
              </a:rPr>
              <a:t>increase</a:t>
            </a:r>
            <a:r>
              <a:rPr sz="2000" spc="15" dirty="0">
                <a:latin typeface="Calibri"/>
                <a:cs typeface="Calibri"/>
              </a:rPr>
              <a:t> </a:t>
            </a:r>
            <a:r>
              <a:rPr sz="2000" spc="-15" dirty="0">
                <a:latin typeface="Calibri"/>
                <a:cs typeface="Calibri"/>
              </a:rPr>
              <a:t>to</a:t>
            </a:r>
            <a:r>
              <a:rPr sz="2000" dirty="0">
                <a:latin typeface="Calibri"/>
                <a:cs typeface="Calibri"/>
              </a:rPr>
              <a:t> the </a:t>
            </a:r>
            <a:r>
              <a:rPr sz="2000" spc="-5" dirty="0">
                <a:latin typeface="Calibri"/>
                <a:cs typeface="Calibri"/>
              </a:rPr>
              <a:t>value</a:t>
            </a:r>
            <a:r>
              <a:rPr sz="2000" spc="5" dirty="0">
                <a:latin typeface="Calibri"/>
                <a:cs typeface="Calibri"/>
              </a:rPr>
              <a:t> </a:t>
            </a:r>
            <a:r>
              <a:rPr sz="2000" spc="-5" dirty="0">
                <a:latin typeface="Calibri"/>
                <a:cs typeface="Calibri"/>
              </a:rPr>
              <a:t>of</a:t>
            </a:r>
            <a:r>
              <a:rPr sz="2000" dirty="0">
                <a:latin typeface="Calibri"/>
                <a:cs typeface="Calibri"/>
              </a:rPr>
              <a:t> the</a:t>
            </a:r>
            <a:r>
              <a:rPr sz="2000" spc="-5" dirty="0">
                <a:latin typeface="Calibri"/>
                <a:cs typeface="Calibri"/>
              </a:rPr>
              <a:t> </a:t>
            </a:r>
            <a:r>
              <a:rPr sz="2000" dirty="0">
                <a:latin typeface="Calibri"/>
                <a:cs typeface="Calibri"/>
              </a:rPr>
              <a:t>input analog</a:t>
            </a:r>
            <a:r>
              <a:rPr sz="2000" spc="5" dirty="0">
                <a:latin typeface="Calibri"/>
                <a:cs typeface="Calibri"/>
              </a:rPr>
              <a:t> </a:t>
            </a:r>
            <a:r>
              <a:rPr sz="2000" spc="-15" dirty="0">
                <a:latin typeface="Calibri"/>
                <a:cs typeface="Calibri"/>
              </a:rPr>
              <a:t>voltage</a:t>
            </a:r>
            <a:r>
              <a:rPr sz="2000" dirty="0">
                <a:latin typeface="Calibri"/>
                <a:cs typeface="Calibri"/>
              </a:rPr>
              <a:t> </a:t>
            </a:r>
            <a:r>
              <a:rPr sz="2000" spc="-5" dirty="0">
                <a:latin typeface="Calibri"/>
                <a:cs typeface="Calibri"/>
              </a:rPr>
              <a:t>will</a:t>
            </a:r>
            <a:r>
              <a:rPr sz="2000" spc="10" dirty="0">
                <a:latin typeface="Calibri"/>
                <a:cs typeface="Calibri"/>
              </a:rPr>
              <a:t> </a:t>
            </a:r>
            <a:r>
              <a:rPr sz="2000" spc="-5" dirty="0">
                <a:latin typeface="Calibri"/>
                <a:cs typeface="Calibri"/>
              </a:rPr>
              <a:t>depend </a:t>
            </a:r>
            <a:r>
              <a:rPr sz="2000" spc="-434" dirty="0">
                <a:latin typeface="Calibri"/>
                <a:cs typeface="Calibri"/>
              </a:rPr>
              <a:t> </a:t>
            </a:r>
            <a:r>
              <a:rPr sz="2000" spc="-5" dirty="0">
                <a:latin typeface="Calibri"/>
                <a:cs typeface="Calibri"/>
              </a:rPr>
              <a:t>on</a:t>
            </a:r>
            <a:r>
              <a:rPr sz="2000" spc="-25" dirty="0">
                <a:latin typeface="Calibri"/>
                <a:cs typeface="Calibri"/>
              </a:rPr>
              <a:t> </a:t>
            </a:r>
            <a:r>
              <a:rPr sz="2000" dirty="0">
                <a:latin typeface="Calibri"/>
                <a:cs typeface="Calibri"/>
              </a:rPr>
              <a:t>the </a:t>
            </a:r>
            <a:r>
              <a:rPr sz="2000" spc="-15" dirty="0">
                <a:latin typeface="Calibri"/>
                <a:cs typeface="Calibri"/>
              </a:rPr>
              <a:t>size</a:t>
            </a:r>
            <a:r>
              <a:rPr sz="2000" spc="10" dirty="0">
                <a:latin typeface="Calibri"/>
                <a:cs typeface="Calibri"/>
              </a:rPr>
              <a:t> </a:t>
            </a:r>
            <a:r>
              <a:rPr sz="2000" spc="-5" dirty="0">
                <a:latin typeface="Calibri"/>
                <a:cs typeface="Calibri"/>
              </a:rPr>
              <a:t>of</a:t>
            </a:r>
            <a:r>
              <a:rPr sz="2000" spc="-10" dirty="0">
                <a:latin typeface="Calibri"/>
                <a:cs typeface="Calibri"/>
              </a:rPr>
              <a:t> </a:t>
            </a:r>
            <a:r>
              <a:rPr sz="2000" dirty="0">
                <a:latin typeface="Calibri"/>
                <a:cs typeface="Calibri"/>
              </a:rPr>
              <a:t>the </a:t>
            </a:r>
            <a:r>
              <a:rPr sz="2000" spc="-5" dirty="0">
                <a:latin typeface="Calibri"/>
                <a:cs typeface="Calibri"/>
              </a:rPr>
              <a:t>sampled</a:t>
            </a:r>
            <a:r>
              <a:rPr sz="2000" dirty="0">
                <a:latin typeface="Calibri"/>
                <a:cs typeface="Calibri"/>
              </a:rPr>
              <a:t> analog </a:t>
            </a:r>
            <a:r>
              <a:rPr sz="2000" spc="-10" dirty="0">
                <a:latin typeface="Calibri"/>
                <a:cs typeface="Calibri"/>
              </a:rPr>
              <a:t>voltage.</a:t>
            </a:r>
            <a:endParaRPr sz="2000">
              <a:latin typeface="Calibri"/>
              <a:cs typeface="Calibri"/>
            </a:endParaRPr>
          </a:p>
          <a:p>
            <a:pPr marL="241300" marR="202565" indent="-228600">
              <a:lnSpc>
                <a:spcPct val="70000"/>
              </a:lnSpc>
              <a:spcBef>
                <a:spcPts val="1000"/>
              </a:spcBef>
              <a:buFont typeface="Arial MT"/>
              <a:buChar char="•"/>
              <a:tabLst>
                <a:tab pos="240665" algn="l"/>
                <a:tab pos="241300" algn="l"/>
              </a:tabLst>
            </a:pPr>
            <a:r>
              <a:rPr sz="2000" dirty="0">
                <a:latin typeface="Calibri"/>
                <a:cs typeface="Calibri"/>
              </a:rPr>
              <a:t>When</a:t>
            </a:r>
            <a:r>
              <a:rPr sz="2000" spc="-20" dirty="0">
                <a:latin typeface="Calibri"/>
                <a:cs typeface="Calibri"/>
              </a:rPr>
              <a:t> </a:t>
            </a:r>
            <a:r>
              <a:rPr sz="2000" dirty="0">
                <a:latin typeface="Calibri"/>
                <a:cs typeface="Calibri"/>
              </a:rPr>
              <a:t>the</a:t>
            </a:r>
            <a:r>
              <a:rPr sz="2000" spc="-5" dirty="0">
                <a:latin typeface="Calibri"/>
                <a:cs typeface="Calibri"/>
              </a:rPr>
              <a:t> </a:t>
            </a:r>
            <a:r>
              <a:rPr sz="2000" spc="-10" dirty="0">
                <a:latin typeface="Calibri"/>
                <a:cs typeface="Calibri"/>
              </a:rPr>
              <a:t>ramp</a:t>
            </a:r>
            <a:r>
              <a:rPr sz="2000" spc="5" dirty="0">
                <a:latin typeface="Calibri"/>
                <a:cs typeface="Calibri"/>
              </a:rPr>
              <a:t> </a:t>
            </a:r>
            <a:r>
              <a:rPr sz="2000" spc="-10" dirty="0">
                <a:latin typeface="Calibri"/>
                <a:cs typeface="Calibri"/>
              </a:rPr>
              <a:t>voltage</a:t>
            </a:r>
            <a:r>
              <a:rPr sz="2000" spc="-5" dirty="0">
                <a:latin typeface="Calibri"/>
                <a:cs typeface="Calibri"/>
              </a:rPr>
              <a:t> </a:t>
            </a:r>
            <a:r>
              <a:rPr sz="2000" spc="-10" dirty="0">
                <a:latin typeface="Calibri"/>
                <a:cs typeface="Calibri"/>
              </a:rPr>
              <a:t>starts,</a:t>
            </a:r>
            <a:r>
              <a:rPr sz="2000" spc="35" dirty="0">
                <a:latin typeface="Calibri"/>
                <a:cs typeface="Calibri"/>
              </a:rPr>
              <a:t> </a:t>
            </a:r>
            <a:r>
              <a:rPr sz="2000" dirty="0">
                <a:latin typeface="Calibri"/>
                <a:cs typeface="Calibri"/>
              </a:rPr>
              <a:t>a</a:t>
            </a:r>
            <a:r>
              <a:rPr sz="2000" spc="5" dirty="0">
                <a:latin typeface="Calibri"/>
                <a:cs typeface="Calibri"/>
              </a:rPr>
              <a:t> </a:t>
            </a:r>
            <a:r>
              <a:rPr sz="2000" spc="-20" dirty="0">
                <a:latin typeface="Calibri"/>
                <a:cs typeface="Calibri"/>
              </a:rPr>
              <a:t>gate</a:t>
            </a:r>
            <a:r>
              <a:rPr sz="2000" spc="5" dirty="0">
                <a:latin typeface="Calibri"/>
                <a:cs typeface="Calibri"/>
              </a:rPr>
              <a:t> </a:t>
            </a:r>
            <a:r>
              <a:rPr sz="2000" dirty="0">
                <a:latin typeface="Calibri"/>
                <a:cs typeface="Calibri"/>
              </a:rPr>
              <a:t>is</a:t>
            </a:r>
            <a:r>
              <a:rPr sz="2000" spc="-10" dirty="0">
                <a:latin typeface="Calibri"/>
                <a:cs typeface="Calibri"/>
              </a:rPr>
              <a:t> </a:t>
            </a:r>
            <a:r>
              <a:rPr sz="2000" dirty="0">
                <a:latin typeface="Calibri"/>
                <a:cs typeface="Calibri"/>
              </a:rPr>
              <a:t>opened</a:t>
            </a:r>
            <a:r>
              <a:rPr sz="2000" spc="-15" dirty="0">
                <a:latin typeface="Calibri"/>
                <a:cs typeface="Calibri"/>
              </a:rPr>
              <a:t> </a:t>
            </a:r>
            <a:r>
              <a:rPr sz="2000" dirty="0">
                <a:latin typeface="Calibri"/>
                <a:cs typeface="Calibri"/>
              </a:rPr>
              <a:t>which </a:t>
            </a:r>
            <a:r>
              <a:rPr sz="2000" spc="-10" dirty="0">
                <a:latin typeface="Calibri"/>
                <a:cs typeface="Calibri"/>
              </a:rPr>
              <a:t>starts</a:t>
            </a:r>
            <a:r>
              <a:rPr sz="2000" spc="25" dirty="0">
                <a:latin typeface="Calibri"/>
                <a:cs typeface="Calibri"/>
              </a:rPr>
              <a:t> </a:t>
            </a:r>
            <a:r>
              <a:rPr sz="2000" dirty="0">
                <a:latin typeface="Calibri"/>
                <a:cs typeface="Calibri"/>
              </a:rPr>
              <a:t>a</a:t>
            </a:r>
            <a:r>
              <a:rPr sz="2000" spc="5" dirty="0">
                <a:latin typeface="Calibri"/>
                <a:cs typeface="Calibri"/>
              </a:rPr>
              <a:t> </a:t>
            </a:r>
            <a:r>
              <a:rPr sz="2000" dirty="0">
                <a:latin typeface="Calibri"/>
                <a:cs typeface="Calibri"/>
              </a:rPr>
              <a:t>binary</a:t>
            </a:r>
            <a:r>
              <a:rPr sz="2000" spc="-10" dirty="0">
                <a:latin typeface="Calibri"/>
                <a:cs typeface="Calibri"/>
              </a:rPr>
              <a:t> counter</a:t>
            </a:r>
            <a:r>
              <a:rPr sz="2000" spc="-15" dirty="0">
                <a:latin typeface="Calibri"/>
                <a:cs typeface="Calibri"/>
              </a:rPr>
              <a:t> </a:t>
            </a:r>
            <a:r>
              <a:rPr sz="2000" spc="-5" dirty="0">
                <a:latin typeface="Calibri"/>
                <a:cs typeface="Calibri"/>
              </a:rPr>
              <a:t>counting</a:t>
            </a:r>
            <a:r>
              <a:rPr sz="2000" spc="-25" dirty="0">
                <a:latin typeface="Calibri"/>
                <a:cs typeface="Calibri"/>
              </a:rPr>
              <a:t> </a:t>
            </a:r>
            <a:r>
              <a:rPr sz="2000" dirty="0">
                <a:latin typeface="Calibri"/>
                <a:cs typeface="Calibri"/>
              </a:rPr>
              <a:t>the</a:t>
            </a:r>
            <a:r>
              <a:rPr sz="2000" spc="5" dirty="0">
                <a:latin typeface="Calibri"/>
                <a:cs typeface="Calibri"/>
              </a:rPr>
              <a:t> </a:t>
            </a:r>
            <a:r>
              <a:rPr sz="2000" spc="-5" dirty="0">
                <a:latin typeface="Calibri"/>
                <a:cs typeface="Calibri"/>
              </a:rPr>
              <a:t>regular </a:t>
            </a:r>
            <a:r>
              <a:rPr sz="2000" spc="-434" dirty="0">
                <a:latin typeface="Calibri"/>
                <a:cs typeface="Calibri"/>
              </a:rPr>
              <a:t> </a:t>
            </a:r>
            <a:r>
              <a:rPr sz="2000" dirty="0">
                <a:latin typeface="Calibri"/>
                <a:cs typeface="Calibri"/>
              </a:rPr>
              <a:t>pulses</a:t>
            </a:r>
            <a:r>
              <a:rPr sz="2000" spc="5" dirty="0">
                <a:latin typeface="Calibri"/>
                <a:cs typeface="Calibri"/>
              </a:rPr>
              <a:t> </a:t>
            </a:r>
            <a:r>
              <a:rPr sz="2000" spc="-15" dirty="0">
                <a:latin typeface="Calibri"/>
                <a:cs typeface="Calibri"/>
              </a:rPr>
              <a:t>from</a:t>
            </a:r>
            <a:r>
              <a:rPr sz="2000" spc="-5" dirty="0">
                <a:latin typeface="Calibri"/>
                <a:cs typeface="Calibri"/>
              </a:rPr>
              <a:t> </a:t>
            </a:r>
            <a:r>
              <a:rPr sz="2000" dirty="0">
                <a:latin typeface="Calibri"/>
                <a:cs typeface="Calibri"/>
              </a:rPr>
              <a:t>a</a:t>
            </a:r>
            <a:r>
              <a:rPr sz="2000" spc="-15" dirty="0">
                <a:latin typeface="Calibri"/>
                <a:cs typeface="Calibri"/>
              </a:rPr>
              <a:t> </a:t>
            </a:r>
            <a:r>
              <a:rPr sz="2000" dirty="0">
                <a:latin typeface="Calibri"/>
                <a:cs typeface="Calibri"/>
              </a:rPr>
              <a:t>clock.</a:t>
            </a:r>
            <a:endParaRPr sz="2000">
              <a:latin typeface="Calibri"/>
              <a:cs typeface="Calibri"/>
            </a:endParaRPr>
          </a:p>
          <a:p>
            <a:pPr marL="241300" indent="-228600">
              <a:lnSpc>
                <a:spcPts val="2039"/>
              </a:lnSpc>
              <a:spcBef>
                <a:spcPts val="285"/>
              </a:spcBef>
              <a:buFont typeface="Arial MT"/>
              <a:buChar char="•"/>
              <a:tabLst>
                <a:tab pos="240665" algn="l"/>
                <a:tab pos="241300" algn="l"/>
              </a:tabLst>
            </a:pPr>
            <a:r>
              <a:rPr sz="2000" dirty="0">
                <a:latin typeface="Calibri"/>
                <a:cs typeface="Calibri"/>
              </a:rPr>
              <a:t>When</a:t>
            </a:r>
            <a:r>
              <a:rPr sz="2000" spc="-15" dirty="0">
                <a:latin typeface="Calibri"/>
                <a:cs typeface="Calibri"/>
              </a:rPr>
              <a:t> </a:t>
            </a:r>
            <a:r>
              <a:rPr sz="2000" dirty="0">
                <a:latin typeface="Calibri"/>
                <a:cs typeface="Calibri"/>
              </a:rPr>
              <a:t>the</a:t>
            </a:r>
            <a:r>
              <a:rPr sz="2000" spc="-5" dirty="0">
                <a:latin typeface="Calibri"/>
                <a:cs typeface="Calibri"/>
              </a:rPr>
              <a:t> </a:t>
            </a:r>
            <a:r>
              <a:rPr sz="2000" spc="-10" dirty="0">
                <a:latin typeface="Calibri"/>
                <a:cs typeface="Calibri"/>
              </a:rPr>
              <a:t>two</a:t>
            </a:r>
            <a:r>
              <a:rPr sz="2000" dirty="0">
                <a:latin typeface="Calibri"/>
                <a:cs typeface="Calibri"/>
              </a:rPr>
              <a:t> </a:t>
            </a:r>
            <a:r>
              <a:rPr sz="2000" spc="-10" dirty="0">
                <a:latin typeface="Calibri"/>
                <a:cs typeface="Calibri"/>
              </a:rPr>
              <a:t>voltages</a:t>
            </a:r>
            <a:r>
              <a:rPr sz="2000" spc="-5" dirty="0">
                <a:latin typeface="Calibri"/>
                <a:cs typeface="Calibri"/>
              </a:rPr>
              <a:t> </a:t>
            </a:r>
            <a:r>
              <a:rPr sz="2000" spc="-10" dirty="0">
                <a:latin typeface="Calibri"/>
                <a:cs typeface="Calibri"/>
              </a:rPr>
              <a:t>are</a:t>
            </a:r>
            <a:r>
              <a:rPr sz="2000" spc="5" dirty="0">
                <a:latin typeface="Calibri"/>
                <a:cs typeface="Calibri"/>
              </a:rPr>
              <a:t> </a:t>
            </a:r>
            <a:r>
              <a:rPr sz="2000" dirty="0">
                <a:latin typeface="Calibri"/>
                <a:cs typeface="Calibri"/>
              </a:rPr>
              <a:t>equal,</a:t>
            </a:r>
            <a:r>
              <a:rPr sz="2000" spc="-10" dirty="0">
                <a:latin typeface="Calibri"/>
                <a:cs typeface="Calibri"/>
              </a:rPr>
              <a:t> </a:t>
            </a:r>
            <a:r>
              <a:rPr sz="2000" dirty="0">
                <a:latin typeface="Calibri"/>
                <a:cs typeface="Calibri"/>
              </a:rPr>
              <a:t>the</a:t>
            </a:r>
            <a:r>
              <a:rPr sz="2000" spc="5" dirty="0">
                <a:latin typeface="Calibri"/>
                <a:cs typeface="Calibri"/>
              </a:rPr>
              <a:t> </a:t>
            </a:r>
            <a:r>
              <a:rPr sz="2000" spc="-20" dirty="0">
                <a:latin typeface="Calibri"/>
                <a:cs typeface="Calibri"/>
              </a:rPr>
              <a:t>gate</a:t>
            </a:r>
            <a:r>
              <a:rPr sz="2000" spc="5" dirty="0">
                <a:latin typeface="Calibri"/>
                <a:cs typeface="Calibri"/>
              </a:rPr>
              <a:t> </a:t>
            </a:r>
            <a:r>
              <a:rPr sz="2000" dirty="0">
                <a:latin typeface="Calibri"/>
                <a:cs typeface="Calibri"/>
              </a:rPr>
              <a:t>closes</a:t>
            </a:r>
            <a:r>
              <a:rPr sz="2000" spc="10" dirty="0">
                <a:latin typeface="Calibri"/>
                <a:cs typeface="Calibri"/>
              </a:rPr>
              <a:t> </a:t>
            </a:r>
            <a:r>
              <a:rPr sz="2000" dirty="0">
                <a:latin typeface="Calibri"/>
                <a:cs typeface="Calibri"/>
              </a:rPr>
              <a:t>and</a:t>
            </a:r>
            <a:r>
              <a:rPr sz="2000" spc="5" dirty="0">
                <a:latin typeface="Calibri"/>
                <a:cs typeface="Calibri"/>
              </a:rPr>
              <a:t> </a:t>
            </a:r>
            <a:r>
              <a:rPr sz="2000" dirty="0">
                <a:latin typeface="Calibri"/>
                <a:cs typeface="Calibri"/>
              </a:rPr>
              <a:t>the</a:t>
            </a:r>
            <a:r>
              <a:rPr sz="2000" spc="-10" dirty="0">
                <a:latin typeface="Calibri"/>
                <a:cs typeface="Calibri"/>
              </a:rPr>
              <a:t> </a:t>
            </a:r>
            <a:r>
              <a:rPr sz="2000" spc="-15" dirty="0">
                <a:latin typeface="Calibri"/>
                <a:cs typeface="Calibri"/>
              </a:rPr>
              <a:t>word</a:t>
            </a:r>
            <a:r>
              <a:rPr sz="2000" spc="-10" dirty="0">
                <a:latin typeface="Calibri"/>
                <a:cs typeface="Calibri"/>
              </a:rPr>
              <a:t> </a:t>
            </a:r>
            <a:r>
              <a:rPr sz="2000" spc="-5" dirty="0">
                <a:latin typeface="Calibri"/>
                <a:cs typeface="Calibri"/>
              </a:rPr>
              <a:t>indicated</a:t>
            </a:r>
            <a:r>
              <a:rPr sz="2000" spc="5" dirty="0">
                <a:latin typeface="Calibri"/>
                <a:cs typeface="Calibri"/>
              </a:rPr>
              <a:t> </a:t>
            </a:r>
            <a:r>
              <a:rPr sz="2000" spc="-5" dirty="0">
                <a:latin typeface="Calibri"/>
                <a:cs typeface="Calibri"/>
              </a:rPr>
              <a:t>by</a:t>
            </a:r>
            <a:r>
              <a:rPr sz="2000" spc="-15" dirty="0">
                <a:latin typeface="Calibri"/>
                <a:cs typeface="Calibri"/>
              </a:rPr>
              <a:t> </a:t>
            </a:r>
            <a:r>
              <a:rPr sz="2000" dirty="0">
                <a:latin typeface="Calibri"/>
                <a:cs typeface="Calibri"/>
              </a:rPr>
              <a:t>the</a:t>
            </a:r>
            <a:r>
              <a:rPr sz="2000" spc="5" dirty="0">
                <a:latin typeface="Calibri"/>
                <a:cs typeface="Calibri"/>
              </a:rPr>
              <a:t> </a:t>
            </a:r>
            <a:r>
              <a:rPr sz="2000" spc="-10" dirty="0">
                <a:latin typeface="Calibri"/>
                <a:cs typeface="Calibri"/>
              </a:rPr>
              <a:t>counter</a:t>
            </a:r>
            <a:r>
              <a:rPr sz="2000" spc="-15" dirty="0">
                <a:latin typeface="Calibri"/>
                <a:cs typeface="Calibri"/>
              </a:rPr>
              <a:t> </a:t>
            </a:r>
            <a:r>
              <a:rPr sz="2000" dirty="0">
                <a:latin typeface="Calibri"/>
                <a:cs typeface="Calibri"/>
              </a:rPr>
              <a:t>is</a:t>
            </a:r>
            <a:r>
              <a:rPr sz="2000" spc="-10" dirty="0">
                <a:latin typeface="Calibri"/>
                <a:cs typeface="Calibri"/>
              </a:rPr>
              <a:t> </a:t>
            </a:r>
            <a:r>
              <a:rPr sz="2000" dirty="0">
                <a:latin typeface="Calibri"/>
                <a:cs typeface="Calibri"/>
              </a:rPr>
              <a:t>the</a:t>
            </a:r>
            <a:endParaRPr sz="2000">
              <a:latin typeface="Calibri"/>
              <a:cs typeface="Calibri"/>
            </a:endParaRPr>
          </a:p>
          <a:p>
            <a:pPr marL="241300">
              <a:lnSpc>
                <a:spcPts val="2039"/>
              </a:lnSpc>
            </a:pPr>
            <a:r>
              <a:rPr sz="2000" spc="-10" dirty="0">
                <a:latin typeface="Calibri"/>
                <a:cs typeface="Calibri"/>
              </a:rPr>
              <a:t>digital</a:t>
            </a:r>
            <a:r>
              <a:rPr sz="2000" dirty="0">
                <a:latin typeface="Calibri"/>
                <a:cs typeface="Calibri"/>
              </a:rPr>
              <a:t> </a:t>
            </a:r>
            <a:r>
              <a:rPr sz="2000" spc="-10" dirty="0">
                <a:latin typeface="Calibri"/>
                <a:cs typeface="Calibri"/>
              </a:rPr>
              <a:t>representation</a:t>
            </a:r>
            <a:r>
              <a:rPr sz="2000" spc="25" dirty="0">
                <a:latin typeface="Calibri"/>
                <a:cs typeface="Calibri"/>
              </a:rPr>
              <a:t> </a:t>
            </a:r>
            <a:r>
              <a:rPr sz="2000" spc="-5" dirty="0">
                <a:latin typeface="Calibri"/>
                <a:cs typeface="Calibri"/>
              </a:rPr>
              <a:t>of</a:t>
            </a:r>
            <a:r>
              <a:rPr sz="2000" spc="-10" dirty="0">
                <a:latin typeface="Calibri"/>
                <a:cs typeface="Calibri"/>
              </a:rPr>
              <a:t> </a:t>
            </a:r>
            <a:r>
              <a:rPr sz="2000" dirty="0">
                <a:latin typeface="Calibri"/>
                <a:cs typeface="Calibri"/>
              </a:rPr>
              <a:t>the</a:t>
            </a:r>
            <a:r>
              <a:rPr sz="2000" spc="-10" dirty="0">
                <a:latin typeface="Calibri"/>
                <a:cs typeface="Calibri"/>
              </a:rPr>
              <a:t> </a:t>
            </a:r>
            <a:r>
              <a:rPr sz="2000" spc="-5" dirty="0">
                <a:latin typeface="Calibri"/>
                <a:cs typeface="Calibri"/>
              </a:rPr>
              <a:t>sampled</a:t>
            </a:r>
            <a:r>
              <a:rPr sz="2000" spc="10" dirty="0">
                <a:latin typeface="Calibri"/>
                <a:cs typeface="Calibri"/>
              </a:rPr>
              <a:t> </a:t>
            </a:r>
            <a:r>
              <a:rPr sz="2000" dirty="0">
                <a:latin typeface="Calibri"/>
                <a:cs typeface="Calibri"/>
              </a:rPr>
              <a:t>analog</a:t>
            </a:r>
            <a:r>
              <a:rPr sz="2000" spc="-20" dirty="0">
                <a:latin typeface="Calibri"/>
                <a:cs typeface="Calibri"/>
              </a:rPr>
              <a:t> </a:t>
            </a:r>
            <a:r>
              <a:rPr sz="2000" spc="-10" dirty="0">
                <a:latin typeface="Calibri"/>
                <a:cs typeface="Calibri"/>
              </a:rPr>
              <a:t>voltage.</a:t>
            </a:r>
            <a:endParaRPr sz="2000">
              <a:latin typeface="Calibri"/>
              <a:cs typeface="Calibri"/>
            </a:endParaRPr>
          </a:p>
          <a:p>
            <a:pPr marL="241300" indent="-228600">
              <a:lnSpc>
                <a:spcPct val="100000"/>
              </a:lnSpc>
              <a:spcBef>
                <a:spcPts val="275"/>
              </a:spcBef>
              <a:buFont typeface="Arial MT"/>
              <a:buChar char="•"/>
              <a:tabLst>
                <a:tab pos="240665" algn="l"/>
                <a:tab pos="241300" algn="l"/>
              </a:tabLst>
            </a:pPr>
            <a:r>
              <a:rPr sz="2000" spc="-5" dirty="0">
                <a:latin typeface="Calibri"/>
                <a:cs typeface="Calibri"/>
              </a:rPr>
              <a:t>Figure </a:t>
            </a:r>
            <a:r>
              <a:rPr sz="2000" dirty="0">
                <a:latin typeface="Calibri"/>
                <a:cs typeface="Calibri"/>
              </a:rPr>
              <a:t>5.5</a:t>
            </a:r>
            <a:r>
              <a:rPr sz="2000" spc="-5" dirty="0">
                <a:latin typeface="Calibri"/>
                <a:cs typeface="Calibri"/>
              </a:rPr>
              <a:t> </a:t>
            </a:r>
            <a:r>
              <a:rPr sz="2000" spc="-10" dirty="0">
                <a:latin typeface="Calibri"/>
                <a:cs typeface="Calibri"/>
              </a:rPr>
              <a:t>indicates</a:t>
            </a:r>
            <a:r>
              <a:rPr sz="2000" spc="15" dirty="0">
                <a:latin typeface="Calibri"/>
                <a:cs typeface="Calibri"/>
              </a:rPr>
              <a:t> </a:t>
            </a:r>
            <a:r>
              <a:rPr sz="2000" dirty="0">
                <a:latin typeface="Calibri"/>
                <a:cs typeface="Calibri"/>
              </a:rPr>
              <a:t>the</a:t>
            </a:r>
            <a:r>
              <a:rPr sz="2000" spc="10" dirty="0">
                <a:latin typeface="Calibri"/>
                <a:cs typeface="Calibri"/>
              </a:rPr>
              <a:t> </a:t>
            </a:r>
            <a:r>
              <a:rPr sz="2000" spc="-15" dirty="0">
                <a:latin typeface="Calibri"/>
                <a:cs typeface="Calibri"/>
              </a:rPr>
              <a:t>subsystems</a:t>
            </a:r>
            <a:r>
              <a:rPr sz="2000" spc="25" dirty="0">
                <a:latin typeface="Calibri"/>
                <a:cs typeface="Calibri"/>
              </a:rPr>
              <a:t> </a:t>
            </a:r>
            <a:r>
              <a:rPr sz="2000" spc="-15" dirty="0">
                <a:latin typeface="Calibri"/>
                <a:cs typeface="Calibri"/>
              </a:rPr>
              <a:t>involved</a:t>
            </a:r>
            <a:r>
              <a:rPr sz="2000" spc="10" dirty="0">
                <a:latin typeface="Calibri"/>
                <a:cs typeface="Calibri"/>
              </a:rPr>
              <a:t> </a:t>
            </a:r>
            <a:r>
              <a:rPr sz="2000" dirty="0">
                <a:latin typeface="Calibri"/>
                <a:cs typeface="Calibri"/>
              </a:rPr>
              <a:t>in</a:t>
            </a:r>
            <a:r>
              <a:rPr sz="2000" spc="10" dirty="0">
                <a:latin typeface="Calibri"/>
                <a:cs typeface="Calibri"/>
              </a:rPr>
              <a:t> </a:t>
            </a:r>
            <a:r>
              <a:rPr sz="2000" dirty="0">
                <a:latin typeface="Calibri"/>
                <a:cs typeface="Calibri"/>
              </a:rPr>
              <a:t>the </a:t>
            </a:r>
            <a:r>
              <a:rPr sz="2000" spc="-10" dirty="0">
                <a:latin typeface="Calibri"/>
                <a:cs typeface="Calibri"/>
              </a:rPr>
              <a:t>ramp</a:t>
            </a:r>
            <a:r>
              <a:rPr sz="2000" spc="10" dirty="0">
                <a:latin typeface="Calibri"/>
                <a:cs typeface="Calibri"/>
              </a:rPr>
              <a:t> </a:t>
            </a:r>
            <a:r>
              <a:rPr sz="2000" spc="-10" dirty="0">
                <a:latin typeface="Calibri"/>
                <a:cs typeface="Calibri"/>
              </a:rPr>
              <a:t>form</a:t>
            </a:r>
            <a:r>
              <a:rPr sz="2000" spc="-15" dirty="0">
                <a:latin typeface="Calibri"/>
                <a:cs typeface="Calibri"/>
              </a:rPr>
              <a:t> </a:t>
            </a:r>
            <a:r>
              <a:rPr sz="2000" spc="-5" dirty="0">
                <a:latin typeface="Calibri"/>
                <a:cs typeface="Calibri"/>
              </a:rPr>
              <a:t>of</a:t>
            </a:r>
            <a:r>
              <a:rPr sz="2000" dirty="0">
                <a:latin typeface="Calibri"/>
                <a:cs typeface="Calibri"/>
              </a:rPr>
              <a:t> </a:t>
            </a:r>
            <a:r>
              <a:rPr sz="2000" spc="-5" dirty="0">
                <a:latin typeface="Calibri"/>
                <a:cs typeface="Calibri"/>
              </a:rPr>
              <a:t>analog-to-digital</a:t>
            </a:r>
            <a:r>
              <a:rPr sz="2000" spc="5" dirty="0">
                <a:latin typeface="Calibri"/>
                <a:cs typeface="Calibri"/>
              </a:rPr>
              <a:t> </a:t>
            </a:r>
            <a:r>
              <a:rPr sz="2000" spc="-35" dirty="0">
                <a:latin typeface="Calibri"/>
                <a:cs typeface="Calibri"/>
              </a:rPr>
              <a:t>converter.</a:t>
            </a:r>
            <a:endParaRPr sz="2000">
              <a:latin typeface="Calibri"/>
              <a:cs typeface="Calibri"/>
            </a:endParaRPr>
          </a:p>
          <a:p>
            <a:pPr marL="241300" indent="-228600">
              <a:lnSpc>
                <a:spcPct val="100000"/>
              </a:lnSpc>
              <a:spcBef>
                <a:spcPts val="280"/>
              </a:spcBef>
              <a:buFont typeface="Arial MT"/>
              <a:buChar char="•"/>
              <a:tabLst>
                <a:tab pos="240665" algn="l"/>
                <a:tab pos="241300" algn="l"/>
              </a:tabLst>
            </a:pPr>
            <a:r>
              <a:rPr sz="2000" dirty="0">
                <a:latin typeface="Calibri"/>
                <a:cs typeface="Calibri"/>
              </a:rPr>
              <a:t>Ramp</a:t>
            </a:r>
            <a:r>
              <a:rPr sz="2000" spc="-15" dirty="0">
                <a:latin typeface="Calibri"/>
                <a:cs typeface="Calibri"/>
              </a:rPr>
              <a:t> </a:t>
            </a:r>
            <a:r>
              <a:rPr sz="2000" dirty="0">
                <a:latin typeface="Calibri"/>
                <a:cs typeface="Calibri"/>
              </a:rPr>
              <a:t>ADCs</a:t>
            </a:r>
            <a:r>
              <a:rPr sz="2000" spc="-20" dirty="0">
                <a:latin typeface="Calibri"/>
                <a:cs typeface="Calibri"/>
              </a:rPr>
              <a:t> </a:t>
            </a:r>
            <a:r>
              <a:rPr sz="2000" spc="-10" dirty="0">
                <a:latin typeface="Calibri"/>
                <a:cs typeface="Calibri"/>
              </a:rPr>
              <a:t>are</a:t>
            </a:r>
            <a:r>
              <a:rPr sz="2000" spc="-5" dirty="0">
                <a:latin typeface="Calibri"/>
                <a:cs typeface="Calibri"/>
              </a:rPr>
              <a:t> </a:t>
            </a:r>
            <a:r>
              <a:rPr sz="2000" dirty="0">
                <a:latin typeface="Calibri"/>
                <a:cs typeface="Calibri"/>
              </a:rPr>
              <a:t>cheap</a:t>
            </a:r>
            <a:r>
              <a:rPr sz="2000" spc="-10" dirty="0">
                <a:latin typeface="Calibri"/>
                <a:cs typeface="Calibri"/>
              </a:rPr>
              <a:t> </a:t>
            </a:r>
            <a:r>
              <a:rPr sz="2000" dirty="0">
                <a:latin typeface="Calibri"/>
                <a:cs typeface="Calibri"/>
              </a:rPr>
              <a:t>but</a:t>
            </a:r>
            <a:r>
              <a:rPr sz="2000" spc="-15" dirty="0">
                <a:latin typeface="Calibri"/>
                <a:cs typeface="Calibri"/>
              </a:rPr>
              <a:t> </a:t>
            </a:r>
            <a:r>
              <a:rPr sz="2000" spc="-10" dirty="0">
                <a:latin typeface="Calibri"/>
                <a:cs typeface="Calibri"/>
              </a:rPr>
              <a:t>relatively</a:t>
            </a:r>
            <a:r>
              <a:rPr sz="2000" spc="25" dirty="0">
                <a:latin typeface="Calibri"/>
                <a:cs typeface="Calibri"/>
              </a:rPr>
              <a:t> </a:t>
            </a:r>
            <a:r>
              <a:rPr sz="2000" spc="-10" dirty="0">
                <a:latin typeface="Calibri"/>
                <a:cs typeface="Calibri"/>
              </a:rPr>
              <a:t>slow</a:t>
            </a:r>
            <a:endParaRPr sz="2000">
              <a:latin typeface="Calibri"/>
              <a:cs typeface="Calibri"/>
            </a:endParaRPr>
          </a:p>
        </p:txBody>
      </p:sp>
      <p:sp>
        <p:nvSpPr>
          <p:cNvPr id="3" name="object 3"/>
          <p:cNvSpPr txBox="1">
            <a:spLocks noGrp="1"/>
          </p:cNvSpPr>
          <p:nvPr>
            <p:ph type="title"/>
          </p:nvPr>
        </p:nvSpPr>
        <p:spPr>
          <a:xfrm>
            <a:off x="916939" y="351536"/>
            <a:ext cx="2148205" cy="635000"/>
          </a:xfrm>
          <a:prstGeom prst="rect">
            <a:avLst/>
          </a:prstGeom>
        </p:spPr>
        <p:txBody>
          <a:bodyPr vert="horz" wrap="square" lIns="0" tIns="12065" rIns="0" bIns="0" rtlCol="0">
            <a:spAutoFit/>
          </a:bodyPr>
          <a:lstStyle/>
          <a:p>
            <a:pPr marL="12700">
              <a:lnSpc>
                <a:spcPct val="100000"/>
              </a:lnSpc>
              <a:spcBef>
                <a:spcPts val="95"/>
              </a:spcBef>
            </a:pPr>
            <a:r>
              <a:rPr sz="4000" spc="-30" dirty="0"/>
              <a:t>Ramp</a:t>
            </a:r>
            <a:r>
              <a:rPr sz="4000" spc="-165" dirty="0"/>
              <a:t> </a:t>
            </a:r>
            <a:r>
              <a:rPr sz="4000" spc="-30" dirty="0"/>
              <a:t>ADC</a:t>
            </a:r>
            <a:endParaRPr sz="4000"/>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24</a:t>
            </a:fld>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19786"/>
            <a:ext cx="7327265" cy="696595"/>
          </a:xfrm>
          <a:prstGeom prst="rect">
            <a:avLst/>
          </a:prstGeom>
        </p:spPr>
        <p:txBody>
          <a:bodyPr vert="horz" wrap="square" lIns="0" tIns="12700" rIns="0" bIns="0" rtlCol="0">
            <a:spAutoFit/>
          </a:bodyPr>
          <a:lstStyle/>
          <a:p>
            <a:pPr marL="12700">
              <a:lnSpc>
                <a:spcPct val="100000"/>
              </a:lnSpc>
              <a:spcBef>
                <a:spcPts val="100"/>
              </a:spcBef>
            </a:pPr>
            <a:r>
              <a:rPr spc="-25" dirty="0"/>
              <a:t>Dual</a:t>
            </a:r>
            <a:r>
              <a:rPr spc="-90" dirty="0"/>
              <a:t> </a:t>
            </a:r>
            <a:r>
              <a:rPr spc="-30" dirty="0"/>
              <a:t>Ramp</a:t>
            </a:r>
            <a:r>
              <a:rPr spc="-105" dirty="0"/>
              <a:t> </a:t>
            </a:r>
            <a:r>
              <a:rPr spc="-25" dirty="0"/>
              <a:t>ADC</a:t>
            </a:r>
            <a:r>
              <a:rPr spc="-90" dirty="0"/>
              <a:t> </a:t>
            </a:r>
            <a:r>
              <a:rPr spc="-30" dirty="0"/>
              <a:t>(Dual</a:t>
            </a:r>
            <a:r>
              <a:rPr spc="-80" dirty="0"/>
              <a:t> </a:t>
            </a:r>
            <a:r>
              <a:rPr spc="-30" dirty="0"/>
              <a:t>Slope</a:t>
            </a:r>
            <a:r>
              <a:rPr spc="-95" dirty="0"/>
              <a:t> </a:t>
            </a:r>
            <a:r>
              <a:rPr spc="-30" dirty="0"/>
              <a:t>ADC)</a:t>
            </a:r>
          </a:p>
        </p:txBody>
      </p:sp>
      <p:sp>
        <p:nvSpPr>
          <p:cNvPr id="3" name="object 3"/>
          <p:cNvSpPr txBox="1"/>
          <p:nvPr/>
        </p:nvSpPr>
        <p:spPr>
          <a:xfrm>
            <a:off x="771245" y="1143380"/>
            <a:ext cx="10548620" cy="835660"/>
          </a:xfrm>
          <a:prstGeom prst="rect">
            <a:avLst/>
          </a:prstGeom>
        </p:spPr>
        <p:txBody>
          <a:bodyPr vert="horz" wrap="square" lIns="0" tIns="60960" rIns="0" bIns="0" rtlCol="0">
            <a:spAutoFit/>
          </a:bodyPr>
          <a:lstStyle/>
          <a:p>
            <a:pPr marL="240665" marR="5080" indent="-228600">
              <a:lnSpc>
                <a:spcPts val="3020"/>
              </a:lnSpc>
              <a:spcBef>
                <a:spcPts val="480"/>
              </a:spcBef>
              <a:buFont typeface="Arial MT"/>
              <a:buChar char="•"/>
              <a:tabLst>
                <a:tab pos="241300" algn="l"/>
              </a:tabLst>
            </a:pPr>
            <a:r>
              <a:rPr sz="2800" spc="-10" dirty="0">
                <a:latin typeface="Calibri"/>
                <a:cs typeface="Calibri"/>
              </a:rPr>
              <a:t>The</a:t>
            </a:r>
            <a:r>
              <a:rPr sz="2800" spc="-5" dirty="0">
                <a:latin typeface="Calibri"/>
                <a:cs typeface="Calibri"/>
              </a:rPr>
              <a:t> </a:t>
            </a:r>
            <a:r>
              <a:rPr sz="2800" spc="-10" dirty="0">
                <a:latin typeface="Calibri"/>
                <a:cs typeface="Calibri"/>
              </a:rPr>
              <a:t>accuracy</a:t>
            </a:r>
            <a:r>
              <a:rPr sz="2800" spc="5" dirty="0">
                <a:latin typeface="Calibri"/>
                <a:cs typeface="Calibri"/>
              </a:rPr>
              <a:t> </a:t>
            </a:r>
            <a:r>
              <a:rPr sz="2800" spc="-5" dirty="0">
                <a:latin typeface="Calibri"/>
                <a:cs typeface="Calibri"/>
              </a:rPr>
              <a:t>of</a:t>
            </a:r>
            <a:r>
              <a:rPr sz="2800" dirty="0">
                <a:latin typeface="Calibri"/>
                <a:cs typeface="Calibri"/>
              </a:rPr>
              <a:t> </a:t>
            </a:r>
            <a:r>
              <a:rPr sz="2800" spc="-5" dirty="0">
                <a:latin typeface="Calibri"/>
                <a:cs typeface="Calibri"/>
              </a:rPr>
              <a:t>the </a:t>
            </a:r>
            <a:r>
              <a:rPr sz="2800" spc="-10" dirty="0">
                <a:latin typeface="Calibri"/>
                <a:cs typeface="Calibri"/>
              </a:rPr>
              <a:t>single</a:t>
            </a:r>
            <a:r>
              <a:rPr sz="2800" spc="20" dirty="0">
                <a:latin typeface="Calibri"/>
                <a:cs typeface="Calibri"/>
              </a:rPr>
              <a:t> </a:t>
            </a:r>
            <a:r>
              <a:rPr sz="2800" spc="-20" dirty="0">
                <a:latin typeface="Calibri"/>
                <a:cs typeface="Calibri"/>
              </a:rPr>
              <a:t>ramp</a:t>
            </a:r>
            <a:r>
              <a:rPr sz="2800" spc="20" dirty="0">
                <a:latin typeface="Calibri"/>
                <a:cs typeface="Calibri"/>
              </a:rPr>
              <a:t> </a:t>
            </a:r>
            <a:r>
              <a:rPr sz="2800" spc="-5" dirty="0">
                <a:latin typeface="Calibri"/>
                <a:cs typeface="Calibri"/>
              </a:rPr>
              <a:t>ADC</a:t>
            </a:r>
            <a:r>
              <a:rPr sz="2800" spc="10" dirty="0">
                <a:latin typeface="Calibri"/>
                <a:cs typeface="Calibri"/>
              </a:rPr>
              <a:t> </a:t>
            </a:r>
            <a:r>
              <a:rPr sz="2800" spc="-10" dirty="0">
                <a:latin typeface="Calibri"/>
                <a:cs typeface="Calibri"/>
              </a:rPr>
              <a:t>can</a:t>
            </a:r>
            <a:r>
              <a:rPr sz="2800" spc="10" dirty="0">
                <a:latin typeface="Calibri"/>
                <a:cs typeface="Calibri"/>
              </a:rPr>
              <a:t> </a:t>
            </a:r>
            <a:r>
              <a:rPr sz="2800" spc="-5" dirty="0">
                <a:latin typeface="Calibri"/>
                <a:cs typeface="Calibri"/>
              </a:rPr>
              <a:t>be</a:t>
            </a:r>
            <a:r>
              <a:rPr sz="2800" dirty="0">
                <a:latin typeface="Calibri"/>
                <a:cs typeface="Calibri"/>
              </a:rPr>
              <a:t> </a:t>
            </a:r>
            <a:r>
              <a:rPr sz="2800" spc="-20" dirty="0">
                <a:latin typeface="Calibri"/>
                <a:cs typeface="Calibri"/>
              </a:rPr>
              <a:t>improved</a:t>
            </a:r>
            <a:r>
              <a:rPr sz="2800" spc="30" dirty="0">
                <a:latin typeface="Calibri"/>
                <a:cs typeface="Calibri"/>
              </a:rPr>
              <a:t> </a:t>
            </a:r>
            <a:r>
              <a:rPr sz="2800" spc="-15" dirty="0">
                <a:latin typeface="Calibri"/>
                <a:cs typeface="Calibri"/>
              </a:rPr>
              <a:t>by</a:t>
            </a:r>
            <a:r>
              <a:rPr sz="2800" spc="10" dirty="0">
                <a:latin typeface="Calibri"/>
                <a:cs typeface="Calibri"/>
              </a:rPr>
              <a:t> </a:t>
            </a:r>
            <a:r>
              <a:rPr sz="2800" spc="-10" dirty="0">
                <a:latin typeface="Calibri"/>
                <a:cs typeface="Calibri"/>
              </a:rPr>
              <a:t>using</a:t>
            </a:r>
            <a:r>
              <a:rPr sz="2800" spc="20" dirty="0">
                <a:latin typeface="Calibri"/>
                <a:cs typeface="Calibri"/>
              </a:rPr>
              <a:t> </a:t>
            </a:r>
            <a:r>
              <a:rPr sz="2800" spc="-5" dirty="0">
                <a:latin typeface="Calibri"/>
                <a:cs typeface="Calibri"/>
              </a:rPr>
              <a:t>the</a:t>
            </a:r>
            <a:r>
              <a:rPr sz="2800" spc="60" dirty="0">
                <a:latin typeface="Calibri"/>
                <a:cs typeface="Calibri"/>
              </a:rPr>
              <a:t> </a:t>
            </a:r>
            <a:r>
              <a:rPr sz="2800" i="1" spc="-5" dirty="0">
                <a:latin typeface="Calibri"/>
                <a:cs typeface="Calibri"/>
              </a:rPr>
              <a:t>dual </a:t>
            </a:r>
            <a:r>
              <a:rPr sz="2800" i="1" spc="-620" dirty="0">
                <a:latin typeface="Calibri"/>
                <a:cs typeface="Calibri"/>
              </a:rPr>
              <a:t> </a:t>
            </a:r>
            <a:r>
              <a:rPr sz="2800" i="1" spc="-5" dirty="0">
                <a:latin typeface="Calibri"/>
                <a:cs typeface="Calibri"/>
              </a:rPr>
              <a:t>ramp ADC</a:t>
            </a:r>
            <a:r>
              <a:rPr sz="2800" spc="-5" dirty="0">
                <a:latin typeface="Calibri"/>
                <a:cs typeface="Calibri"/>
              </a:rPr>
              <a:t>.</a:t>
            </a:r>
            <a:endParaRPr sz="2800">
              <a:latin typeface="Calibri"/>
              <a:cs typeface="Calibri"/>
            </a:endParaRPr>
          </a:p>
        </p:txBody>
      </p:sp>
      <p:pic>
        <p:nvPicPr>
          <p:cNvPr id="4" name="object 4"/>
          <p:cNvPicPr/>
          <p:nvPr/>
        </p:nvPicPr>
        <p:blipFill>
          <a:blip r:embed="rId2" cstate="print"/>
          <a:stretch>
            <a:fillRect/>
          </a:stretch>
        </p:blipFill>
        <p:spPr>
          <a:xfrm>
            <a:off x="1661012" y="2221104"/>
            <a:ext cx="7572400" cy="3896759"/>
          </a:xfrm>
          <a:prstGeom prst="rect">
            <a:avLst/>
          </a:prstGeom>
        </p:spPr>
      </p:pic>
      <p:sp>
        <p:nvSpPr>
          <p:cNvPr id="5" name="Slide Number Placeholder 4"/>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25</a:t>
            </a:fld>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54812" y="969390"/>
            <a:ext cx="10846435" cy="5749925"/>
          </a:xfrm>
          <a:prstGeom prst="rect">
            <a:avLst/>
          </a:prstGeom>
        </p:spPr>
        <p:txBody>
          <a:bodyPr vert="horz" wrap="square" lIns="0" tIns="13335" rIns="0" bIns="0" rtlCol="0">
            <a:spAutoFit/>
          </a:bodyPr>
          <a:lstStyle/>
          <a:p>
            <a:pPr marL="241300" indent="-228600">
              <a:lnSpc>
                <a:spcPts val="2650"/>
              </a:lnSpc>
              <a:spcBef>
                <a:spcPts val="105"/>
              </a:spcBef>
              <a:buFont typeface="Arial MT"/>
              <a:buChar char="•"/>
              <a:tabLst>
                <a:tab pos="241300" algn="l"/>
              </a:tabLst>
            </a:pPr>
            <a:r>
              <a:rPr sz="2600" spc="-10" dirty="0">
                <a:latin typeface="Calibri"/>
                <a:cs typeface="Calibri"/>
              </a:rPr>
              <a:t>Figure </a:t>
            </a:r>
            <a:r>
              <a:rPr sz="2600" dirty="0">
                <a:latin typeface="Calibri"/>
                <a:cs typeface="Calibri"/>
              </a:rPr>
              <a:t>5.8</a:t>
            </a:r>
            <a:r>
              <a:rPr sz="2600" spc="-5" dirty="0">
                <a:latin typeface="Calibri"/>
                <a:cs typeface="Calibri"/>
              </a:rPr>
              <a:t> </a:t>
            </a:r>
            <a:r>
              <a:rPr sz="2600" spc="-10" dirty="0">
                <a:latin typeface="Calibri"/>
                <a:cs typeface="Calibri"/>
              </a:rPr>
              <a:t>shows </a:t>
            </a:r>
            <a:r>
              <a:rPr sz="2600" dirty="0">
                <a:latin typeface="Calibri"/>
                <a:cs typeface="Calibri"/>
              </a:rPr>
              <a:t>the</a:t>
            </a:r>
            <a:r>
              <a:rPr sz="2600" spc="-5" dirty="0">
                <a:latin typeface="Calibri"/>
                <a:cs typeface="Calibri"/>
              </a:rPr>
              <a:t> </a:t>
            </a:r>
            <a:r>
              <a:rPr sz="2600" spc="-20" dirty="0">
                <a:latin typeface="Calibri"/>
                <a:cs typeface="Calibri"/>
              </a:rPr>
              <a:t>different</a:t>
            </a:r>
            <a:r>
              <a:rPr sz="2600" spc="-40" dirty="0">
                <a:latin typeface="Calibri"/>
                <a:cs typeface="Calibri"/>
              </a:rPr>
              <a:t> </a:t>
            </a:r>
            <a:r>
              <a:rPr sz="2600" spc="-10" dirty="0">
                <a:latin typeface="Calibri"/>
                <a:cs typeface="Calibri"/>
              </a:rPr>
              <a:t>components</a:t>
            </a:r>
            <a:r>
              <a:rPr sz="2600" spc="5" dirty="0">
                <a:latin typeface="Calibri"/>
                <a:cs typeface="Calibri"/>
              </a:rPr>
              <a:t> </a:t>
            </a:r>
            <a:r>
              <a:rPr sz="2600" spc="-10" dirty="0">
                <a:latin typeface="Calibri"/>
                <a:cs typeface="Calibri"/>
              </a:rPr>
              <a:t>of</a:t>
            </a:r>
            <a:r>
              <a:rPr sz="2600" dirty="0">
                <a:latin typeface="Calibri"/>
                <a:cs typeface="Calibri"/>
              </a:rPr>
              <a:t> </a:t>
            </a:r>
            <a:r>
              <a:rPr sz="2600" spc="-5" dirty="0">
                <a:latin typeface="Calibri"/>
                <a:cs typeface="Calibri"/>
              </a:rPr>
              <a:t>dual</a:t>
            </a:r>
            <a:r>
              <a:rPr sz="2600" spc="-10" dirty="0">
                <a:latin typeface="Calibri"/>
                <a:cs typeface="Calibri"/>
              </a:rPr>
              <a:t> ramp </a:t>
            </a:r>
            <a:r>
              <a:rPr sz="2600" dirty="0">
                <a:latin typeface="Calibri"/>
                <a:cs typeface="Calibri"/>
              </a:rPr>
              <a:t>ADC.</a:t>
            </a:r>
            <a:r>
              <a:rPr sz="2600" spc="-20" dirty="0">
                <a:latin typeface="Calibri"/>
                <a:cs typeface="Calibri"/>
              </a:rPr>
              <a:t> </a:t>
            </a:r>
            <a:r>
              <a:rPr sz="2600" dirty="0">
                <a:latin typeface="Calibri"/>
                <a:cs typeface="Calibri"/>
              </a:rPr>
              <a:t>It</a:t>
            </a:r>
            <a:r>
              <a:rPr sz="2600" spc="5" dirty="0">
                <a:latin typeface="Calibri"/>
                <a:cs typeface="Calibri"/>
              </a:rPr>
              <a:t> </a:t>
            </a:r>
            <a:r>
              <a:rPr sz="2600" spc="-10" dirty="0">
                <a:latin typeface="Calibri"/>
                <a:cs typeface="Calibri"/>
              </a:rPr>
              <a:t>consists</a:t>
            </a:r>
            <a:r>
              <a:rPr sz="2600" spc="-15" dirty="0">
                <a:latin typeface="Calibri"/>
                <a:cs typeface="Calibri"/>
              </a:rPr>
              <a:t> </a:t>
            </a:r>
            <a:r>
              <a:rPr sz="2600" spc="-5" dirty="0">
                <a:latin typeface="Calibri"/>
                <a:cs typeface="Calibri"/>
              </a:rPr>
              <a:t>of</a:t>
            </a:r>
            <a:r>
              <a:rPr sz="2600" dirty="0">
                <a:latin typeface="Calibri"/>
                <a:cs typeface="Calibri"/>
              </a:rPr>
              <a:t> an</a:t>
            </a:r>
            <a:endParaRPr sz="2600">
              <a:latin typeface="Calibri"/>
              <a:cs typeface="Calibri"/>
            </a:endParaRPr>
          </a:p>
          <a:p>
            <a:pPr marL="241300" marR="421640">
              <a:lnSpc>
                <a:spcPct val="70100"/>
              </a:lnSpc>
              <a:spcBef>
                <a:spcPts val="459"/>
              </a:spcBef>
            </a:pPr>
            <a:r>
              <a:rPr sz="2600" spc="-15" dirty="0">
                <a:latin typeface="Calibri"/>
                <a:cs typeface="Calibri"/>
              </a:rPr>
              <a:t>integrator </a:t>
            </a:r>
            <a:r>
              <a:rPr sz="2600" dirty="0">
                <a:latin typeface="Calibri"/>
                <a:cs typeface="Calibri"/>
              </a:rPr>
              <a:t>which</a:t>
            </a:r>
            <a:r>
              <a:rPr sz="2600" spc="-10" dirty="0">
                <a:latin typeface="Calibri"/>
                <a:cs typeface="Calibri"/>
              </a:rPr>
              <a:t> produces</a:t>
            </a:r>
            <a:r>
              <a:rPr sz="2600" spc="-35" dirty="0">
                <a:latin typeface="Calibri"/>
                <a:cs typeface="Calibri"/>
              </a:rPr>
              <a:t> </a:t>
            </a:r>
            <a:r>
              <a:rPr sz="2600" dirty="0">
                <a:latin typeface="Calibri"/>
                <a:cs typeface="Calibri"/>
              </a:rPr>
              <a:t>a</a:t>
            </a:r>
            <a:r>
              <a:rPr sz="2600" spc="5" dirty="0">
                <a:latin typeface="Calibri"/>
                <a:cs typeface="Calibri"/>
              </a:rPr>
              <a:t> </a:t>
            </a:r>
            <a:r>
              <a:rPr sz="2600" spc="-10" dirty="0">
                <a:latin typeface="Calibri"/>
                <a:cs typeface="Calibri"/>
              </a:rPr>
              <a:t>ramp</a:t>
            </a:r>
            <a:r>
              <a:rPr sz="2600" spc="-15" dirty="0">
                <a:latin typeface="Calibri"/>
                <a:cs typeface="Calibri"/>
              </a:rPr>
              <a:t> </a:t>
            </a:r>
            <a:r>
              <a:rPr sz="2600" spc="-5" dirty="0">
                <a:latin typeface="Calibri"/>
                <a:cs typeface="Calibri"/>
              </a:rPr>
              <a:t>signal </a:t>
            </a:r>
            <a:r>
              <a:rPr sz="2600" dirty="0">
                <a:latin typeface="Calibri"/>
                <a:cs typeface="Calibri"/>
              </a:rPr>
              <a:t>(</a:t>
            </a:r>
            <a:r>
              <a:rPr sz="2600" spc="20" dirty="0">
                <a:latin typeface="Calibri"/>
                <a:cs typeface="Calibri"/>
              </a:rPr>
              <a:t> </a:t>
            </a:r>
            <a:r>
              <a:rPr sz="2600" spc="-45" dirty="0">
                <a:latin typeface="Calibri"/>
                <a:cs typeface="Calibri"/>
              </a:rPr>
              <a:t>Vc)</a:t>
            </a:r>
            <a:r>
              <a:rPr sz="2600" spc="-10" dirty="0">
                <a:latin typeface="Calibri"/>
                <a:cs typeface="Calibri"/>
              </a:rPr>
              <a:t> from</a:t>
            </a:r>
            <a:r>
              <a:rPr sz="2600" spc="-15" dirty="0">
                <a:latin typeface="Calibri"/>
                <a:cs typeface="Calibri"/>
              </a:rPr>
              <a:t> constant</a:t>
            </a:r>
            <a:r>
              <a:rPr sz="2600" spc="-5" dirty="0">
                <a:latin typeface="Calibri"/>
                <a:cs typeface="Calibri"/>
              </a:rPr>
              <a:t> sampled</a:t>
            </a:r>
            <a:r>
              <a:rPr sz="2600" spc="-15" dirty="0">
                <a:latin typeface="Calibri"/>
                <a:cs typeface="Calibri"/>
              </a:rPr>
              <a:t> </a:t>
            </a:r>
            <a:r>
              <a:rPr sz="2600" dirty="0">
                <a:latin typeface="Calibri"/>
                <a:cs typeface="Calibri"/>
              </a:rPr>
              <a:t>analog </a:t>
            </a:r>
            <a:r>
              <a:rPr sz="2600" spc="-575" dirty="0">
                <a:latin typeface="Calibri"/>
                <a:cs typeface="Calibri"/>
              </a:rPr>
              <a:t> </a:t>
            </a:r>
            <a:r>
              <a:rPr sz="2600" dirty="0">
                <a:latin typeface="Calibri"/>
                <a:cs typeface="Calibri"/>
              </a:rPr>
              <a:t>input</a:t>
            </a:r>
            <a:r>
              <a:rPr sz="2600" spc="-20" dirty="0">
                <a:latin typeface="Calibri"/>
                <a:cs typeface="Calibri"/>
              </a:rPr>
              <a:t> </a:t>
            </a:r>
            <a:r>
              <a:rPr sz="2600" spc="-35" dirty="0">
                <a:latin typeface="Calibri"/>
                <a:cs typeface="Calibri"/>
              </a:rPr>
              <a:t>(Va).</a:t>
            </a:r>
            <a:endParaRPr sz="2600">
              <a:latin typeface="Calibri"/>
              <a:cs typeface="Calibri"/>
            </a:endParaRPr>
          </a:p>
          <a:p>
            <a:pPr marL="241300" marR="17145" indent="-228600">
              <a:lnSpc>
                <a:spcPct val="70000"/>
              </a:lnSpc>
              <a:spcBef>
                <a:spcPts val="1000"/>
              </a:spcBef>
              <a:buFont typeface="Arial MT"/>
              <a:buChar char="•"/>
              <a:tabLst>
                <a:tab pos="241300" algn="l"/>
              </a:tabLst>
            </a:pPr>
            <a:r>
              <a:rPr sz="2600" spc="-5" dirty="0">
                <a:latin typeface="Calibri"/>
                <a:cs typeface="Calibri"/>
              </a:rPr>
              <a:t>Then, there </a:t>
            </a:r>
            <a:r>
              <a:rPr sz="2600" dirty="0">
                <a:latin typeface="Calibri"/>
                <a:cs typeface="Calibri"/>
              </a:rPr>
              <a:t>is a </a:t>
            </a:r>
            <a:r>
              <a:rPr sz="2600" spc="-15" dirty="0">
                <a:latin typeface="Calibri"/>
                <a:cs typeface="Calibri"/>
              </a:rPr>
              <a:t>comparator to </a:t>
            </a:r>
            <a:r>
              <a:rPr sz="2600" spc="-10" dirty="0">
                <a:latin typeface="Calibri"/>
                <a:cs typeface="Calibri"/>
              </a:rPr>
              <a:t>drive </a:t>
            </a:r>
            <a:r>
              <a:rPr sz="2600" dirty="0">
                <a:latin typeface="Calibri"/>
                <a:cs typeface="Calibri"/>
              </a:rPr>
              <a:t>the AND </a:t>
            </a:r>
            <a:r>
              <a:rPr sz="2600" spc="-25" dirty="0">
                <a:latin typeface="Calibri"/>
                <a:cs typeface="Calibri"/>
              </a:rPr>
              <a:t>gate </a:t>
            </a:r>
            <a:r>
              <a:rPr sz="2600" dirty="0">
                <a:latin typeface="Calibri"/>
                <a:cs typeface="Calibri"/>
              </a:rPr>
              <a:t>whose another input is clock </a:t>
            </a:r>
            <a:r>
              <a:rPr sz="2600" spc="-575" dirty="0">
                <a:latin typeface="Calibri"/>
                <a:cs typeface="Calibri"/>
              </a:rPr>
              <a:t> </a:t>
            </a:r>
            <a:r>
              <a:rPr sz="2600" spc="-5" dirty="0">
                <a:latin typeface="Calibri"/>
                <a:cs typeface="Calibri"/>
              </a:rPr>
              <a:t>pulse</a:t>
            </a:r>
            <a:r>
              <a:rPr sz="2600" spc="-30" dirty="0">
                <a:latin typeface="Calibri"/>
                <a:cs typeface="Calibri"/>
              </a:rPr>
              <a:t> </a:t>
            </a:r>
            <a:r>
              <a:rPr sz="2600" spc="-5" dirty="0">
                <a:latin typeface="Calibri"/>
                <a:cs typeface="Calibri"/>
              </a:rPr>
              <a:t>of certain</a:t>
            </a:r>
            <a:r>
              <a:rPr sz="2600" spc="-10" dirty="0">
                <a:latin typeface="Calibri"/>
                <a:cs typeface="Calibri"/>
              </a:rPr>
              <a:t> </a:t>
            </a:r>
            <a:r>
              <a:rPr sz="2600" spc="-25" dirty="0">
                <a:latin typeface="Calibri"/>
                <a:cs typeface="Calibri"/>
              </a:rPr>
              <a:t>frequency.</a:t>
            </a:r>
            <a:endParaRPr sz="2600">
              <a:latin typeface="Calibri"/>
              <a:cs typeface="Calibri"/>
            </a:endParaRPr>
          </a:p>
          <a:p>
            <a:pPr marL="241300" marR="417830" indent="-228600">
              <a:lnSpc>
                <a:spcPct val="70100"/>
              </a:lnSpc>
              <a:spcBef>
                <a:spcPts val="990"/>
              </a:spcBef>
              <a:buFont typeface="Arial MT"/>
              <a:buChar char="•"/>
              <a:tabLst>
                <a:tab pos="241300" algn="l"/>
              </a:tabLst>
            </a:pPr>
            <a:r>
              <a:rPr sz="2600" spc="-5" dirty="0">
                <a:latin typeface="Calibri"/>
                <a:cs typeface="Calibri"/>
              </a:rPr>
              <a:t>The </a:t>
            </a:r>
            <a:r>
              <a:rPr sz="2600" spc="-25" dirty="0">
                <a:latin typeface="Calibri"/>
                <a:cs typeface="Calibri"/>
              </a:rPr>
              <a:t>gate </a:t>
            </a:r>
            <a:r>
              <a:rPr sz="2600" spc="-5" dirty="0">
                <a:latin typeface="Calibri"/>
                <a:cs typeface="Calibri"/>
              </a:rPr>
              <a:t>drives </a:t>
            </a:r>
            <a:r>
              <a:rPr sz="2600" dirty="0">
                <a:latin typeface="Calibri"/>
                <a:cs typeface="Calibri"/>
              </a:rPr>
              <a:t>an up </a:t>
            </a:r>
            <a:r>
              <a:rPr sz="2600" spc="-15" dirty="0">
                <a:latin typeface="Calibri"/>
                <a:cs typeface="Calibri"/>
              </a:rPr>
              <a:t>counter </a:t>
            </a:r>
            <a:r>
              <a:rPr sz="2600" dirty="0">
                <a:latin typeface="Calibri"/>
                <a:cs typeface="Calibri"/>
              </a:rPr>
              <a:t>which on </a:t>
            </a:r>
            <a:r>
              <a:rPr sz="2600" spc="-5" dirty="0">
                <a:latin typeface="Calibri"/>
                <a:cs typeface="Calibri"/>
              </a:rPr>
              <a:t>certain condition sends </a:t>
            </a:r>
            <a:r>
              <a:rPr sz="2600" dirty="0">
                <a:latin typeface="Calibri"/>
                <a:cs typeface="Calibri"/>
              </a:rPr>
              <a:t>the </a:t>
            </a:r>
            <a:r>
              <a:rPr sz="2600" spc="-5" dirty="0">
                <a:latin typeface="Calibri"/>
                <a:cs typeface="Calibri"/>
              </a:rPr>
              <a:t>signal </a:t>
            </a:r>
            <a:r>
              <a:rPr sz="2600" spc="-10" dirty="0">
                <a:latin typeface="Calibri"/>
                <a:cs typeface="Calibri"/>
              </a:rPr>
              <a:t>to </a:t>
            </a:r>
            <a:r>
              <a:rPr sz="2600" spc="-575" dirty="0">
                <a:latin typeface="Calibri"/>
                <a:cs typeface="Calibri"/>
              </a:rPr>
              <a:t> </a:t>
            </a:r>
            <a:r>
              <a:rPr sz="2600" spc="-15" dirty="0">
                <a:latin typeface="Calibri"/>
                <a:cs typeface="Calibri"/>
              </a:rPr>
              <a:t>control</a:t>
            </a:r>
            <a:r>
              <a:rPr sz="2600" spc="-5" dirty="0">
                <a:latin typeface="Calibri"/>
                <a:cs typeface="Calibri"/>
              </a:rPr>
              <a:t> logic</a:t>
            </a:r>
            <a:r>
              <a:rPr sz="2600" dirty="0">
                <a:latin typeface="Calibri"/>
                <a:cs typeface="Calibri"/>
              </a:rPr>
              <a:t> </a:t>
            </a:r>
            <a:r>
              <a:rPr sz="2600" spc="-10" dirty="0">
                <a:latin typeface="Calibri"/>
                <a:cs typeface="Calibri"/>
              </a:rPr>
              <a:t>to</a:t>
            </a:r>
            <a:r>
              <a:rPr sz="2600" spc="-5" dirty="0">
                <a:latin typeface="Calibri"/>
                <a:cs typeface="Calibri"/>
              </a:rPr>
              <a:t> </a:t>
            </a:r>
            <a:r>
              <a:rPr sz="2600" spc="-10" dirty="0">
                <a:latin typeface="Calibri"/>
                <a:cs typeface="Calibri"/>
              </a:rPr>
              <a:t>switch </a:t>
            </a:r>
            <a:r>
              <a:rPr sz="2600" dirty="0">
                <a:latin typeface="Calibri"/>
                <a:cs typeface="Calibri"/>
              </a:rPr>
              <a:t>the</a:t>
            </a:r>
            <a:r>
              <a:rPr sz="2600" spc="-20" dirty="0">
                <a:latin typeface="Calibri"/>
                <a:cs typeface="Calibri"/>
              </a:rPr>
              <a:t> </a:t>
            </a:r>
            <a:r>
              <a:rPr sz="2600" dirty="0">
                <a:latin typeface="Calibri"/>
                <a:cs typeface="Calibri"/>
              </a:rPr>
              <a:t>input </a:t>
            </a:r>
            <a:r>
              <a:rPr sz="2600" spc="-15" dirty="0">
                <a:latin typeface="Calibri"/>
                <a:cs typeface="Calibri"/>
              </a:rPr>
              <a:t>from</a:t>
            </a:r>
            <a:r>
              <a:rPr sz="2600" spc="-30" dirty="0">
                <a:latin typeface="Calibri"/>
                <a:cs typeface="Calibri"/>
              </a:rPr>
              <a:t> </a:t>
            </a:r>
            <a:r>
              <a:rPr sz="2600" spc="-75" dirty="0">
                <a:latin typeface="Calibri"/>
                <a:cs typeface="Calibri"/>
              </a:rPr>
              <a:t>Va</a:t>
            </a:r>
            <a:r>
              <a:rPr sz="2600" dirty="0">
                <a:latin typeface="Calibri"/>
                <a:cs typeface="Calibri"/>
              </a:rPr>
              <a:t> </a:t>
            </a:r>
            <a:r>
              <a:rPr sz="2600" spc="-15" dirty="0">
                <a:latin typeface="Calibri"/>
                <a:cs typeface="Calibri"/>
              </a:rPr>
              <a:t>to</a:t>
            </a:r>
            <a:r>
              <a:rPr sz="2600" spc="5" dirty="0">
                <a:latin typeface="Calibri"/>
                <a:cs typeface="Calibri"/>
              </a:rPr>
              <a:t> </a:t>
            </a:r>
            <a:r>
              <a:rPr sz="2600" spc="-50" dirty="0">
                <a:latin typeface="Calibri"/>
                <a:cs typeface="Calibri"/>
              </a:rPr>
              <a:t>-Vref.</a:t>
            </a:r>
            <a:endParaRPr sz="2600">
              <a:latin typeface="Calibri"/>
              <a:cs typeface="Calibri"/>
            </a:endParaRPr>
          </a:p>
          <a:p>
            <a:pPr marL="241300" marR="5080" indent="-228600">
              <a:lnSpc>
                <a:spcPct val="70000"/>
              </a:lnSpc>
              <a:spcBef>
                <a:spcPts val="1010"/>
              </a:spcBef>
              <a:buFont typeface="Arial MT"/>
              <a:buChar char="•"/>
              <a:tabLst>
                <a:tab pos="241300" algn="l"/>
              </a:tabLst>
            </a:pPr>
            <a:r>
              <a:rPr sz="2600" dirty="0">
                <a:latin typeface="Calibri"/>
                <a:cs typeface="Calibri"/>
              </a:rPr>
              <a:t>When</a:t>
            </a:r>
            <a:r>
              <a:rPr sz="2600" spc="-30" dirty="0">
                <a:latin typeface="Calibri"/>
                <a:cs typeface="Calibri"/>
              </a:rPr>
              <a:t> </a:t>
            </a:r>
            <a:r>
              <a:rPr sz="2600" spc="-75" dirty="0">
                <a:latin typeface="Calibri"/>
                <a:cs typeface="Calibri"/>
              </a:rPr>
              <a:t>Va</a:t>
            </a:r>
            <a:r>
              <a:rPr sz="2600" dirty="0">
                <a:latin typeface="Calibri"/>
                <a:cs typeface="Calibri"/>
              </a:rPr>
              <a:t> is</a:t>
            </a:r>
            <a:r>
              <a:rPr sz="2600" spc="-5" dirty="0">
                <a:latin typeface="Calibri"/>
                <a:cs typeface="Calibri"/>
              </a:rPr>
              <a:t> </a:t>
            </a:r>
            <a:r>
              <a:rPr sz="2600" dirty="0">
                <a:latin typeface="Calibri"/>
                <a:cs typeface="Calibri"/>
              </a:rPr>
              <a:t>a</a:t>
            </a:r>
            <a:r>
              <a:rPr sz="2600" spc="10" dirty="0">
                <a:latin typeface="Calibri"/>
                <a:cs typeface="Calibri"/>
              </a:rPr>
              <a:t> </a:t>
            </a:r>
            <a:r>
              <a:rPr sz="2600" dirty="0">
                <a:latin typeface="Calibri"/>
                <a:cs typeface="Calibri"/>
              </a:rPr>
              <a:t>applied</a:t>
            </a:r>
            <a:r>
              <a:rPr sz="2600" spc="-10" dirty="0">
                <a:latin typeface="Calibri"/>
                <a:cs typeface="Calibri"/>
              </a:rPr>
              <a:t> </a:t>
            </a:r>
            <a:r>
              <a:rPr sz="2600" spc="-15" dirty="0">
                <a:latin typeface="Calibri"/>
                <a:cs typeface="Calibri"/>
              </a:rPr>
              <a:t>to</a:t>
            </a:r>
            <a:r>
              <a:rPr sz="2600" spc="-5" dirty="0">
                <a:latin typeface="Calibri"/>
                <a:cs typeface="Calibri"/>
              </a:rPr>
              <a:t> </a:t>
            </a:r>
            <a:r>
              <a:rPr sz="2600" dirty="0">
                <a:latin typeface="Calibri"/>
                <a:cs typeface="Calibri"/>
              </a:rPr>
              <a:t>the</a:t>
            </a:r>
            <a:r>
              <a:rPr sz="2600" spc="5" dirty="0">
                <a:latin typeface="Calibri"/>
                <a:cs typeface="Calibri"/>
              </a:rPr>
              <a:t> </a:t>
            </a:r>
            <a:r>
              <a:rPr sz="2600" spc="-35" dirty="0">
                <a:latin typeface="Calibri"/>
                <a:cs typeface="Calibri"/>
              </a:rPr>
              <a:t>integrator,</a:t>
            </a:r>
            <a:r>
              <a:rPr sz="2600" spc="-15" dirty="0">
                <a:latin typeface="Calibri"/>
                <a:cs typeface="Calibri"/>
              </a:rPr>
              <a:t> </a:t>
            </a:r>
            <a:r>
              <a:rPr sz="2600" dirty="0">
                <a:latin typeface="Calibri"/>
                <a:cs typeface="Calibri"/>
              </a:rPr>
              <a:t>it</a:t>
            </a:r>
            <a:r>
              <a:rPr sz="2600" spc="5" dirty="0">
                <a:latin typeface="Calibri"/>
                <a:cs typeface="Calibri"/>
              </a:rPr>
              <a:t> </a:t>
            </a:r>
            <a:r>
              <a:rPr sz="2600" spc="-5" dirty="0">
                <a:latin typeface="Calibri"/>
                <a:cs typeface="Calibri"/>
              </a:rPr>
              <a:t>produces</a:t>
            </a:r>
            <a:r>
              <a:rPr sz="2600" spc="-35" dirty="0">
                <a:latin typeface="Calibri"/>
                <a:cs typeface="Calibri"/>
              </a:rPr>
              <a:t> </a:t>
            </a:r>
            <a:r>
              <a:rPr sz="2600" dirty="0">
                <a:latin typeface="Calibri"/>
                <a:cs typeface="Calibri"/>
              </a:rPr>
              <a:t>a</a:t>
            </a:r>
            <a:r>
              <a:rPr sz="2600" spc="5" dirty="0">
                <a:latin typeface="Calibri"/>
                <a:cs typeface="Calibri"/>
              </a:rPr>
              <a:t> </a:t>
            </a:r>
            <a:r>
              <a:rPr sz="2600" spc="-10" dirty="0">
                <a:latin typeface="Calibri"/>
                <a:cs typeface="Calibri"/>
              </a:rPr>
              <a:t>ramp </a:t>
            </a:r>
            <a:r>
              <a:rPr sz="2600" spc="-5" dirty="0">
                <a:latin typeface="Calibri"/>
                <a:cs typeface="Calibri"/>
              </a:rPr>
              <a:t>signal </a:t>
            </a:r>
            <a:r>
              <a:rPr sz="2600" dirty="0">
                <a:latin typeface="Calibri"/>
                <a:cs typeface="Calibri"/>
              </a:rPr>
              <a:t>whose </a:t>
            </a:r>
            <a:r>
              <a:rPr sz="2600" spc="-5" dirty="0">
                <a:latin typeface="Calibri"/>
                <a:cs typeface="Calibri"/>
              </a:rPr>
              <a:t>slope</a:t>
            </a:r>
            <a:r>
              <a:rPr sz="2600" spc="-10" dirty="0">
                <a:latin typeface="Calibri"/>
                <a:cs typeface="Calibri"/>
              </a:rPr>
              <a:t> </a:t>
            </a:r>
            <a:r>
              <a:rPr sz="2600" dirty="0">
                <a:latin typeface="Calibri"/>
                <a:cs typeface="Calibri"/>
              </a:rPr>
              <a:t>is </a:t>
            </a:r>
            <a:r>
              <a:rPr sz="2600" spc="-575" dirty="0">
                <a:latin typeface="Calibri"/>
                <a:cs typeface="Calibri"/>
              </a:rPr>
              <a:t> </a:t>
            </a:r>
            <a:r>
              <a:rPr sz="2600" dirty="0">
                <a:latin typeface="Calibri"/>
                <a:cs typeface="Calibri"/>
              </a:rPr>
              <a:t>equal</a:t>
            </a:r>
            <a:r>
              <a:rPr sz="2600" spc="-25" dirty="0">
                <a:latin typeface="Calibri"/>
                <a:cs typeface="Calibri"/>
              </a:rPr>
              <a:t> </a:t>
            </a:r>
            <a:r>
              <a:rPr sz="2600" spc="-15" dirty="0">
                <a:latin typeface="Calibri"/>
                <a:cs typeface="Calibri"/>
              </a:rPr>
              <a:t>to</a:t>
            </a:r>
            <a:r>
              <a:rPr sz="2600" spc="-5" dirty="0">
                <a:latin typeface="Calibri"/>
                <a:cs typeface="Calibri"/>
              </a:rPr>
              <a:t> </a:t>
            </a:r>
            <a:r>
              <a:rPr sz="2600" spc="-30" dirty="0">
                <a:latin typeface="Calibri"/>
                <a:cs typeface="Calibri"/>
              </a:rPr>
              <a:t>-Va/RC</a:t>
            </a:r>
            <a:r>
              <a:rPr sz="2600" spc="-10" dirty="0">
                <a:latin typeface="Calibri"/>
                <a:cs typeface="Calibri"/>
              </a:rPr>
              <a:t> </a:t>
            </a:r>
            <a:r>
              <a:rPr sz="2600" dirty="0">
                <a:latin typeface="Calibri"/>
                <a:cs typeface="Calibri"/>
              </a:rPr>
              <a:t>.</a:t>
            </a:r>
            <a:endParaRPr sz="2600">
              <a:latin typeface="Calibri"/>
              <a:cs typeface="Calibri"/>
            </a:endParaRPr>
          </a:p>
          <a:p>
            <a:pPr marL="241300" marR="77470" indent="-228600">
              <a:lnSpc>
                <a:spcPct val="70000"/>
              </a:lnSpc>
              <a:spcBef>
                <a:spcPts val="994"/>
              </a:spcBef>
              <a:buFont typeface="Arial MT"/>
              <a:buChar char="•"/>
              <a:tabLst>
                <a:tab pos="241300" algn="l"/>
              </a:tabLst>
            </a:pPr>
            <a:r>
              <a:rPr sz="2600" spc="-5" dirty="0">
                <a:latin typeface="Calibri"/>
                <a:cs typeface="Calibri"/>
              </a:rPr>
              <a:t>Then,</a:t>
            </a:r>
            <a:r>
              <a:rPr sz="2600" spc="-25" dirty="0">
                <a:latin typeface="Calibri"/>
                <a:cs typeface="Calibri"/>
              </a:rPr>
              <a:t> </a:t>
            </a:r>
            <a:r>
              <a:rPr sz="2600" dirty="0">
                <a:latin typeface="Calibri"/>
                <a:cs typeface="Calibri"/>
              </a:rPr>
              <a:t>the</a:t>
            </a:r>
            <a:r>
              <a:rPr sz="2600" spc="-15" dirty="0">
                <a:latin typeface="Calibri"/>
                <a:cs typeface="Calibri"/>
              </a:rPr>
              <a:t> </a:t>
            </a:r>
            <a:r>
              <a:rPr sz="2600" spc="-25" dirty="0">
                <a:latin typeface="Calibri"/>
                <a:cs typeface="Calibri"/>
              </a:rPr>
              <a:t>gate</a:t>
            </a:r>
            <a:r>
              <a:rPr sz="2600" spc="5" dirty="0">
                <a:latin typeface="Calibri"/>
                <a:cs typeface="Calibri"/>
              </a:rPr>
              <a:t> </a:t>
            </a:r>
            <a:r>
              <a:rPr sz="2600" spc="-5" dirty="0">
                <a:latin typeface="Calibri"/>
                <a:cs typeface="Calibri"/>
              </a:rPr>
              <a:t>opens.</a:t>
            </a:r>
            <a:r>
              <a:rPr sz="2600" spc="-25" dirty="0">
                <a:latin typeface="Calibri"/>
                <a:cs typeface="Calibri"/>
              </a:rPr>
              <a:t> </a:t>
            </a:r>
            <a:r>
              <a:rPr sz="2600" spc="-20" dirty="0">
                <a:latin typeface="Calibri"/>
                <a:cs typeface="Calibri"/>
              </a:rPr>
              <a:t>So,</a:t>
            </a:r>
            <a:r>
              <a:rPr sz="2600" spc="10" dirty="0">
                <a:latin typeface="Calibri"/>
                <a:cs typeface="Calibri"/>
              </a:rPr>
              <a:t> </a:t>
            </a:r>
            <a:r>
              <a:rPr sz="2600" dirty="0">
                <a:latin typeface="Calibri"/>
                <a:cs typeface="Calibri"/>
              </a:rPr>
              <a:t>the</a:t>
            </a:r>
            <a:r>
              <a:rPr sz="2600" spc="-5" dirty="0">
                <a:latin typeface="Calibri"/>
                <a:cs typeface="Calibri"/>
              </a:rPr>
              <a:t> up</a:t>
            </a:r>
            <a:r>
              <a:rPr sz="2600" spc="-10" dirty="0">
                <a:latin typeface="Calibri"/>
                <a:cs typeface="Calibri"/>
              </a:rPr>
              <a:t> </a:t>
            </a:r>
            <a:r>
              <a:rPr sz="2600" spc="-15" dirty="0">
                <a:latin typeface="Calibri"/>
                <a:cs typeface="Calibri"/>
              </a:rPr>
              <a:t>counter</a:t>
            </a:r>
            <a:r>
              <a:rPr sz="2600" spc="-20" dirty="0">
                <a:latin typeface="Calibri"/>
                <a:cs typeface="Calibri"/>
              </a:rPr>
              <a:t> </a:t>
            </a:r>
            <a:r>
              <a:rPr sz="2600" dirty="0">
                <a:latin typeface="Calibri"/>
                <a:cs typeface="Calibri"/>
              </a:rPr>
              <a:t>will</a:t>
            </a:r>
            <a:r>
              <a:rPr sz="2600" spc="5" dirty="0">
                <a:latin typeface="Calibri"/>
                <a:cs typeface="Calibri"/>
              </a:rPr>
              <a:t> </a:t>
            </a:r>
            <a:r>
              <a:rPr sz="2600" spc="-15" dirty="0">
                <a:latin typeface="Calibri"/>
                <a:cs typeface="Calibri"/>
              </a:rPr>
              <a:t>count</a:t>
            </a:r>
            <a:r>
              <a:rPr sz="2600" spc="25" dirty="0">
                <a:latin typeface="Calibri"/>
                <a:cs typeface="Calibri"/>
              </a:rPr>
              <a:t> </a:t>
            </a:r>
            <a:r>
              <a:rPr sz="2600" spc="-10" dirty="0">
                <a:latin typeface="Calibri"/>
                <a:cs typeface="Calibri"/>
              </a:rPr>
              <a:t>upto</a:t>
            </a:r>
            <a:r>
              <a:rPr sz="2600" spc="-20" dirty="0">
                <a:latin typeface="Calibri"/>
                <a:cs typeface="Calibri"/>
              </a:rPr>
              <a:t> </a:t>
            </a:r>
            <a:r>
              <a:rPr sz="2600" dirty="0">
                <a:latin typeface="Calibri"/>
                <a:cs typeface="Calibri"/>
              </a:rPr>
              <a:t>its</a:t>
            </a:r>
            <a:r>
              <a:rPr sz="2600" spc="5" dirty="0">
                <a:latin typeface="Calibri"/>
                <a:cs typeface="Calibri"/>
              </a:rPr>
              <a:t> </a:t>
            </a:r>
            <a:r>
              <a:rPr sz="2600" spc="-5" dirty="0">
                <a:latin typeface="Calibri"/>
                <a:cs typeface="Calibri"/>
              </a:rPr>
              <a:t>full</a:t>
            </a:r>
            <a:r>
              <a:rPr sz="2600" spc="-10" dirty="0">
                <a:latin typeface="Calibri"/>
                <a:cs typeface="Calibri"/>
              </a:rPr>
              <a:t> </a:t>
            </a:r>
            <a:r>
              <a:rPr sz="2600" spc="-5" dirty="0">
                <a:latin typeface="Calibri"/>
                <a:cs typeface="Calibri"/>
              </a:rPr>
              <a:t>scale (111</a:t>
            </a:r>
            <a:r>
              <a:rPr sz="2600" spc="-25" dirty="0">
                <a:latin typeface="Calibri"/>
                <a:cs typeface="Calibri"/>
              </a:rPr>
              <a:t> for</a:t>
            </a:r>
            <a:r>
              <a:rPr sz="2600" dirty="0">
                <a:latin typeface="Calibri"/>
                <a:cs typeface="Calibri"/>
              </a:rPr>
              <a:t> 3 </a:t>
            </a:r>
            <a:r>
              <a:rPr sz="2600" spc="-575" dirty="0">
                <a:latin typeface="Calibri"/>
                <a:cs typeface="Calibri"/>
              </a:rPr>
              <a:t> </a:t>
            </a:r>
            <a:r>
              <a:rPr sz="2600" spc="-5" dirty="0">
                <a:latin typeface="Calibri"/>
                <a:cs typeface="Calibri"/>
              </a:rPr>
              <a:t>bit)</a:t>
            </a:r>
            <a:r>
              <a:rPr sz="2600" spc="-10" dirty="0">
                <a:latin typeface="Calibri"/>
                <a:cs typeface="Calibri"/>
              </a:rPr>
              <a:t> </a:t>
            </a:r>
            <a:r>
              <a:rPr sz="2600" spc="-5" dirty="0">
                <a:latin typeface="Calibri"/>
                <a:cs typeface="Calibri"/>
              </a:rPr>
              <a:t>and</a:t>
            </a:r>
            <a:r>
              <a:rPr sz="2600" spc="-15" dirty="0">
                <a:latin typeface="Calibri"/>
                <a:cs typeface="Calibri"/>
              </a:rPr>
              <a:t> </a:t>
            </a:r>
            <a:r>
              <a:rPr sz="2600" dirty="0">
                <a:latin typeface="Calibri"/>
                <a:cs typeface="Calibri"/>
              </a:rPr>
              <a:t>then</a:t>
            </a:r>
            <a:r>
              <a:rPr sz="2600" spc="-15" dirty="0">
                <a:latin typeface="Calibri"/>
                <a:cs typeface="Calibri"/>
              </a:rPr>
              <a:t> </a:t>
            </a:r>
            <a:r>
              <a:rPr sz="2600" spc="-5" dirty="0">
                <a:latin typeface="Calibri"/>
                <a:cs typeface="Calibri"/>
              </a:rPr>
              <a:t>resets.</a:t>
            </a:r>
            <a:endParaRPr sz="2600">
              <a:latin typeface="Calibri"/>
              <a:cs typeface="Calibri"/>
            </a:endParaRPr>
          </a:p>
          <a:p>
            <a:pPr marL="241300" marR="1027430" indent="-228600">
              <a:lnSpc>
                <a:spcPct val="70000"/>
              </a:lnSpc>
              <a:spcBef>
                <a:spcPts val="1000"/>
              </a:spcBef>
              <a:buFont typeface="Arial MT"/>
              <a:buChar char="•"/>
              <a:tabLst>
                <a:tab pos="241300" algn="l"/>
              </a:tabLst>
            </a:pPr>
            <a:r>
              <a:rPr sz="2600" dirty="0">
                <a:latin typeface="Calibri"/>
                <a:cs typeface="Calibri"/>
              </a:rPr>
              <a:t>As it </a:t>
            </a:r>
            <a:r>
              <a:rPr sz="2600" spc="-5" dirty="0">
                <a:latin typeface="Calibri"/>
                <a:cs typeface="Calibri"/>
              </a:rPr>
              <a:t>resets, </a:t>
            </a:r>
            <a:r>
              <a:rPr sz="2600" dirty="0">
                <a:latin typeface="Calibri"/>
                <a:cs typeface="Calibri"/>
              </a:rPr>
              <a:t>it </a:t>
            </a:r>
            <a:r>
              <a:rPr sz="2600" spc="-5" dirty="0">
                <a:latin typeface="Calibri"/>
                <a:cs typeface="Calibri"/>
              </a:rPr>
              <a:t>sends </a:t>
            </a:r>
            <a:r>
              <a:rPr sz="2600" dirty="0">
                <a:latin typeface="Calibri"/>
                <a:cs typeface="Calibri"/>
              </a:rPr>
              <a:t>the </a:t>
            </a:r>
            <a:r>
              <a:rPr sz="2600" spc="-5" dirty="0">
                <a:latin typeface="Calibri"/>
                <a:cs typeface="Calibri"/>
              </a:rPr>
              <a:t>signal </a:t>
            </a:r>
            <a:r>
              <a:rPr sz="2600" spc="-15" dirty="0">
                <a:latin typeface="Calibri"/>
                <a:cs typeface="Calibri"/>
              </a:rPr>
              <a:t>to </a:t>
            </a:r>
            <a:r>
              <a:rPr sz="2600" dirty="0">
                <a:latin typeface="Calibri"/>
                <a:cs typeface="Calibri"/>
              </a:rPr>
              <a:t>the </a:t>
            </a:r>
            <a:r>
              <a:rPr sz="2600" spc="-15" dirty="0">
                <a:latin typeface="Calibri"/>
                <a:cs typeface="Calibri"/>
              </a:rPr>
              <a:t>control </a:t>
            </a:r>
            <a:r>
              <a:rPr sz="2600" spc="-5" dirty="0">
                <a:latin typeface="Calibri"/>
                <a:cs typeface="Calibri"/>
              </a:rPr>
              <a:t>logic </a:t>
            </a:r>
            <a:r>
              <a:rPr sz="2600" spc="-15" dirty="0">
                <a:latin typeface="Calibri"/>
                <a:cs typeface="Calibri"/>
              </a:rPr>
              <a:t>to </a:t>
            </a:r>
            <a:r>
              <a:rPr sz="2600" spc="-10" dirty="0">
                <a:latin typeface="Calibri"/>
                <a:cs typeface="Calibri"/>
              </a:rPr>
              <a:t>switch </a:t>
            </a:r>
            <a:r>
              <a:rPr sz="2600" dirty="0">
                <a:latin typeface="Calibri"/>
                <a:cs typeface="Calibri"/>
              </a:rPr>
              <a:t>the input </a:t>
            </a:r>
            <a:r>
              <a:rPr sz="2600" spc="-15" dirty="0">
                <a:latin typeface="Calibri"/>
                <a:cs typeface="Calibri"/>
              </a:rPr>
              <a:t>to </a:t>
            </a:r>
            <a:r>
              <a:rPr sz="2600" spc="-575" dirty="0">
                <a:latin typeface="Calibri"/>
                <a:cs typeface="Calibri"/>
              </a:rPr>
              <a:t> </a:t>
            </a:r>
            <a:r>
              <a:rPr sz="2600" spc="-20" dirty="0">
                <a:latin typeface="Calibri"/>
                <a:cs typeface="Calibri"/>
              </a:rPr>
              <a:t>reference</a:t>
            </a:r>
            <a:r>
              <a:rPr sz="2600" spc="-50" dirty="0">
                <a:latin typeface="Calibri"/>
                <a:cs typeface="Calibri"/>
              </a:rPr>
              <a:t> </a:t>
            </a:r>
            <a:r>
              <a:rPr sz="2600" spc="-15" dirty="0">
                <a:latin typeface="Calibri"/>
                <a:cs typeface="Calibri"/>
              </a:rPr>
              <a:t>voltage</a:t>
            </a:r>
            <a:r>
              <a:rPr sz="2600" spc="10" dirty="0">
                <a:latin typeface="Calibri"/>
                <a:cs typeface="Calibri"/>
              </a:rPr>
              <a:t> </a:t>
            </a:r>
            <a:r>
              <a:rPr sz="2600" dirty="0">
                <a:latin typeface="Calibri"/>
                <a:cs typeface="Calibri"/>
              </a:rPr>
              <a:t>( </a:t>
            </a:r>
            <a:r>
              <a:rPr sz="2600" spc="-15" dirty="0">
                <a:latin typeface="Calibri"/>
                <a:cs typeface="Calibri"/>
              </a:rPr>
              <a:t>-Vref).</a:t>
            </a:r>
            <a:endParaRPr sz="2600">
              <a:latin typeface="Calibri"/>
              <a:cs typeface="Calibri"/>
            </a:endParaRPr>
          </a:p>
          <a:p>
            <a:pPr marL="241300" indent="-228600">
              <a:lnSpc>
                <a:spcPct val="100000"/>
              </a:lnSpc>
              <a:spcBef>
                <a:spcPts val="70"/>
              </a:spcBef>
              <a:buFont typeface="Arial MT"/>
              <a:buChar char="•"/>
              <a:tabLst>
                <a:tab pos="241300" algn="l"/>
              </a:tabLst>
            </a:pPr>
            <a:r>
              <a:rPr sz="2600" spc="-65" dirty="0">
                <a:latin typeface="Calibri"/>
                <a:cs typeface="Calibri"/>
              </a:rPr>
              <a:t>Now,</a:t>
            </a:r>
            <a:r>
              <a:rPr sz="2600" spc="5" dirty="0">
                <a:latin typeface="Calibri"/>
                <a:cs typeface="Calibri"/>
              </a:rPr>
              <a:t> </a:t>
            </a:r>
            <a:r>
              <a:rPr sz="2600" dirty="0">
                <a:latin typeface="Calibri"/>
                <a:cs typeface="Calibri"/>
              </a:rPr>
              <a:t>the</a:t>
            </a:r>
            <a:r>
              <a:rPr sz="2600" spc="-10" dirty="0">
                <a:latin typeface="Calibri"/>
                <a:cs typeface="Calibri"/>
              </a:rPr>
              <a:t> </a:t>
            </a:r>
            <a:r>
              <a:rPr sz="2600" spc="-15" dirty="0">
                <a:latin typeface="Calibri"/>
                <a:cs typeface="Calibri"/>
              </a:rPr>
              <a:t>voltage</a:t>
            </a:r>
            <a:r>
              <a:rPr sz="2600" spc="5" dirty="0">
                <a:latin typeface="Calibri"/>
                <a:cs typeface="Calibri"/>
              </a:rPr>
              <a:t> </a:t>
            </a:r>
            <a:r>
              <a:rPr sz="2600" spc="-70" dirty="0">
                <a:latin typeface="Calibri"/>
                <a:cs typeface="Calibri"/>
              </a:rPr>
              <a:t>Vc</a:t>
            </a:r>
            <a:r>
              <a:rPr sz="2600" dirty="0">
                <a:latin typeface="Calibri"/>
                <a:cs typeface="Calibri"/>
              </a:rPr>
              <a:t> will </a:t>
            </a:r>
            <a:r>
              <a:rPr sz="2600" spc="-5" dirty="0">
                <a:latin typeface="Calibri"/>
                <a:cs typeface="Calibri"/>
              </a:rPr>
              <a:t>increase</a:t>
            </a:r>
            <a:r>
              <a:rPr sz="2600" spc="-25" dirty="0">
                <a:latin typeface="Calibri"/>
                <a:cs typeface="Calibri"/>
              </a:rPr>
              <a:t> </a:t>
            </a:r>
            <a:r>
              <a:rPr sz="2600" dirty="0">
                <a:latin typeface="Calibri"/>
                <a:cs typeface="Calibri"/>
              </a:rPr>
              <a:t>with</a:t>
            </a:r>
            <a:r>
              <a:rPr sz="2600" spc="-10" dirty="0">
                <a:latin typeface="Calibri"/>
                <a:cs typeface="Calibri"/>
              </a:rPr>
              <a:t> </a:t>
            </a:r>
            <a:r>
              <a:rPr sz="2600" dirty="0">
                <a:latin typeface="Calibri"/>
                <a:cs typeface="Calibri"/>
              </a:rPr>
              <a:t>the</a:t>
            </a:r>
            <a:r>
              <a:rPr sz="2600" spc="-10" dirty="0">
                <a:latin typeface="Calibri"/>
                <a:cs typeface="Calibri"/>
              </a:rPr>
              <a:t> </a:t>
            </a:r>
            <a:r>
              <a:rPr sz="2600" spc="-5" dirty="0">
                <a:latin typeface="Calibri"/>
                <a:cs typeface="Calibri"/>
              </a:rPr>
              <a:t>slope</a:t>
            </a:r>
            <a:r>
              <a:rPr sz="2600" spc="-20" dirty="0">
                <a:latin typeface="Calibri"/>
                <a:cs typeface="Calibri"/>
              </a:rPr>
              <a:t> Vref/RC.</a:t>
            </a:r>
            <a:endParaRPr sz="2600">
              <a:latin typeface="Calibri"/>
              <a:cs typeface="Calibri"/>
            </a:endParaRPr>
          </a:p>
          <a:p>
            <a:pPr marL="241300" indent="-228600">
              <a:lnSpc>
                <a:spcPts val="2655"/>
              </a:lnSpc>
              <a:spcBef>
                <a:spcPts val="60"/>
              </a:spcBef>
              <a:buFont typeface="Arial MT"/>
              <a:buChar char="•"/>
              <a:tabLst>
                <a:tab pos="241300" algn="l"/>
              </a:tabLst>
            </a:pPr>
            <a:r>
              <a:rPr sz="2600" dirty="0">
                <a:latin typeface="Calibri"/>
                <a:cs typeface="Calibri"/>
              </a:rPr>
              <a:t>When</a:t>
            </a:r>
            <a:r>
              <a:rPr sz="2600" spc="-30" dirty="0">
                <a:latin typeface="Calibri"/>
                <a:cs typeface="Calibri"/>
              </a:rPr>
              <a:t> </a:t>
            </a:r>
            <a:r>
              <a:rPr sz="2600" dirty="0">
                <a:latin typeface="Calibri"/>
                <a:cs typeface="Calibri"/>
              </a:rPr>
              <a:t>this</a:t>
            </a:r>
            <a:r>
              <a:rPr sz="2600" spc="-5" dirty="0">
                <a:latin typeface="Calibri"/>
                <a:cs typeface="Calibri"/>
              </a:rPr>
              <a:t> </a:t>
            </a:r>
            <a:r>
              <a:rPr sz="2600" spc="-15" dirty="0">
                <a:latin typeface="Calibri"/>
                <a:cs typeface="Calibri"/>
              </a:rPr>
              <a:t>negative</a:t>
            </a:r>
            <a:r>
              <a:rPr sz="2600" spc="-25" dirty="0">
                <a:latin typeface="Calibri"/>
                <a:cs typeface="Calibri"/>
              </a:rPr>
              <a:t> </a:t>
            </a:r>
            <a:r>
              <a:rPr sz="2600" spc="-15" dirty="0">
                <a:latin typeface="Calibri"/>
                <a:cs typeface="Calibri"/>
              </a:rPr>
              <a:t>voltage</a:t>
            </a:r>
            <a:r>
              <a:rPr sz="2600" spc="5" dirty="0">
                <a:latin typeface="Calibri"/>
                <a:cs typeface="Calibri"/>
              </a:rPr>
              <a:t> </a:t>
            </a:r>
            <a:r>
              <a:rPr sz="2600" spc="-5" dirty="0">
                <a:latin typeface="Calibri"/>
                <a:cs typeface="Calibri"/>
              </a:rPr>
              <a:t>reaches</a:t>
            </a:r>
            <a:r>
              <a:rPr sz="2600" spc="-30" dirty="0">
                <a:latin typeface="Calibri"/>
                <a:cs typeface="Calibri"/>
              </a:rPr>
              <a:t> zero,</a:t>
            </a:r>
            <a:r>
              <a:rPr sz="2600" spc="-10" dirty="0">
                <a:latin typeface="Calibri"/>
                <a:cs typeface="Calibri"/>
              </a:rPr>
              <a:t> </a:t>
            </a:r>
            <a:r>
              <a:rPr sz="2600" dirty="0">
                <a:latin typeface="Calibri"/>
                <a:cs typeface="Calibri"/>
              </a:rPr>
              <a:t>the</a:t>
            </a:r>
            <a:r>
              <a:rPr sz="2600" spc="-15" dirty="0">
                <a:latin typeface="Calibri"/>
                <a:cs typeface="Calibri"/>
              </a:rPr>
              <a:t> </a:t>
            </a:r>
            <a:r>
              <a:rPr sz="2600" spc="-25" dirty="0">
                <a:latin typeface="Calibri"/>
                <a:cs typeface="Calibri"/>
              </a:rPr>
              <a:t>gate</a:t>
            </a:r>
            <a:r>
              <a:rPr sz="2600" spc="-10" dirty="0">
                <a:latin typeface="Calibri"/>
                <a:cs typeface="Calibri"/>
              </a:rPr>
              <a:t> </a:t>
            </a:r>
            <a:r>
              <a:rPr sz="2600" dirty="0">
                <a:latin typeface="Calibri"/>
                <a:cs typeface="Calibri"/>
              </a:rPr>
              <a:t>will</a:t>
            </a:r>
            <a:r>
              <a:rPr sz="2600" spc="5" dirty="0">
                <a:latin typeface="Calibri"/>
                <a:cs typeface="Calibri"/>
              </a:rPr>
              <a:t> </a:t>
            </a:r>
            <a:r>
              <a:rPr sz="2600" dirty="0">
                <a:latin typeface="Calibri"/>
                <a:cs typeface="Calibri"/>
              </a:rPr>
              <a:t>be</a:t>
            </a:r>
            <a:r>
              <a:rPr sz="2600" spc="-20" dirty="0">
                <a:latin typeface="Calibri"/>
                <a:cs typeface="Calibri"/>
              </a:rPr>
              <a:t> </a:t>
            </a:r>
            <a:r>
              <a:rPr sz="2600" dirty="0">
                <a:latin typeface="Calibri"/>
                <a:cs typeface="Calibri"/>
              </a:rPr>
              <a:t>closed</a:t>
            </a:r>
            <a:r>
              <a:rPr sz="2600" spc="-25" dirty="0">
                <a:latin typeface="Calibri"/>
                <a:cs typeface="Calibri"/>
              </a:rPr>
              <a:t> </a:t>
            </a:r>
            <a:r>
              <a:rPr sz="2600" dirty="0">
                <a:latin typeface="Calibri"/>
                <a:cs typeface="Calibri"/>
              </a:rPr>
              <a:t>and</a:t>
            </a:r>
            <a:r>
              <a:rPr sz="2600" spc="-15" dirty="0">
                <a:latin typeface="Calibri"/>
                <a:cs typeface="Calibri"/>
              </a:rPr>
              <a:t> </a:t>
            </a:r>
            <a:r>
              <a:rPr sz="2600" spc="-5" dirty="0">
                <a:latin typeface="Calibri"/>
                <a:cs typeface="Calibri"/>
              </a:rPr>
              <a:t>up</a:t>
            </a:r>
            <a:endParaRPr sz="2600">
              <a:latin typeface="Calibri"/>
              <a:cs typeface="Calibri"/>
            </a:endParaRPr>
          </a:p>
          <a:p>
            <a:pPr marL="241300" marR="652780">
              <a:lnSpc>
                <a:spcPct val="70000"/>
              </a:lnSpc>
              <a:spcBef>
                <a:spcPts val="470"/>
              </a:spcBef>
            </a:pPr>
            <a:r>
              <a:rPr sz="2600" spc="-15" dirty="0">
                <a:latin typeface="Calibri"/>
                <a:cs typeface="Calibri"/>
              </a:rPr>
              <a:t>counter </a:t>
            </a:r>
            <a:r>
              <a:rPr sz="2600" spc="-5" dirty="0">
                <a:latin typeface="Calibri"/>
                <a:cs typeface="Calibri"/>
              </a:rPr>
              <a:t>pauses. The </a:t>
            </a:r>
            <a:r>
              <a:rPr sz="2600" spc="-10" dirty="0">
                <a:latin typeface="Calibri"/>
                <a:cs typeface="Calibri"/>
              </a:rPr>
              <a:t>digital code </a:t>
            </a:r>
            <a:r>
              <a:rPr sz="2600" spc="-5" dirty="0">
                <a:latin typeface="Calibri"/>
                <a:cs typeface="Calibri"/>
              </a:rPr>
              <a:t>seen </a:t>
            </a:r>
            <a:r>
              <a:rPr sz="2600" dirty="0">
                <a:latin typeface="Calibri"/>
                <a:cs typeface="Calibri"/>
              </a:rPr>
              <a:t>in the </a:t>
            </a:r>
            <a:r>
              <a:rPr sz="2600" spc="-15" dirty="0">
                <a:latin typeface="Calibri"/>
                <a:cs typeface="Calibri"/>
              </a:rPr>
              <a:t>counter </a:t>
            </a:r>
            <a:r>
              <a:rPr sz="2600" dirty="0">
                <a:latin typeface="Calibri"/>
                <a:cs typeface="Calibri"/>
              </a:rPr>
              <a:t>will </a:t>
            </a:r>
            <a:r>
              <a:rPr sz="2600" spc="-5" dirty="0">
                <a:latin typeface="Calibri"/>
                <a:cs typeface="Calibri"/>
              </a:rPr>
              <a:t>be </a:t>
            </a:r>
            <a:r>
              <a:rPr sz="2600" dirty="0">
                <a:latin typeface="Calibri"/>
                <a:cs typeface="Calibri"/>
              </a:rPr>
              <a:t>the </a:t>
            </a:r>
            <a:r>
              <a:rPr sz="2600" spc="-5" dirty="0">
                <a:latin typeface="Calibri"/>
                <a:cs typeface="Calibri"/>
              </a:rPr>
              <a:t>equivalent </a:t>
            </a:r>
            <a:r>
              <a:rPr sz="2600" spc="-575" dirty="0">
                <a:latin typeface="Calibri"/>
                <a:cs typeface="Calibri"/>
              </a:rPr>
              <a:t> </a:t>
            </a:r>
            <a:r>
              <a:rPr sz="2600" spc="-5" dirty="0">
                <a:latin typeface="Calibri"/>
                <a:cs typeface="Calibri"/>
              </a:rPr>
              <a:t>output</a:t>
            </a:r>
            <a:r>
              <a:rPr sz="2600" spc="-10" dirty="0">
                <a:latin typeface="Calibri"/>
                <a:cs typeface="Calibri"/>
              </a:rPr>
              <a:t> </a:t>
            </a:r>
            <a:r>
              <a:rPr sz="2600" spc="-15" dirty="0">
                <a:latin typeface="Calibri"/>
                <a:cs typeface="Calibri"/>
              </a:rPr>
              <a:t>to</a:t>
            </a:r>
            <a:r>
              <a:rPr sz="2600" spc="-5" dirty="0">
                <a:latin typeface="Calibri"/>
                <a:cs typeface="Calibri"/>
              </a:rPr>
              <a:t> </a:t>
            </a:r>
            <a:r>
              <a:rPr sz="2600" dirty="0">
                <a:latin typeface="Calibri"/>
                <a:cs typeface="Calibri"/>
              </a:rPr>
              <a:t>the</a:t>
            </a:r>
            <a:r>
              <a:rPr sz="2600" spc="-15" dirty="0">
                <a:latin typeface="Calibri"/>
                <a:cs typeface="Calibri"/>
              </a:rPr>
              <a:t> </a:t>
            </a:r>
            <a:r>
              <a:rPr sz="2600" dirty="0">
                <a:latin typeface="Calibri"/>
                <a:cs typeface="Calibri"/>
              </a:rPr>
              <a:t>input analog</a:t>
            </a:r>
            <a:r>
              <a:rPr sz="2600" spc="-10" dirty="0">
                <a:latin typeface="Calibri"/>
                <a:cs typeface="Calibri"/>
              </a:rPr>
              <a:t> </a:t>
            </a:r>
            <a:r>
              <a:rPr sz="2600" spc="-15" dirty="0">
                <a:latin typeface="Calibri"/>
                <a:cs typeface="Calibri"/>
              </a:rPr>
              <a:t>voltage</a:t>
            </a:r>
            <a:r>
              <a:rPr sz="2600" spc="10" dirty="0">
                <a:latin typeface="Calibri"/>
                <a:cs typeface="Calibri"/>
              </a:rPr>
              <a:t> </a:t>
            </a:r>
            <a:r>
              <a:rPr sz="2600" spc="-30" dirty="0">
                <a:latin typeface="Calibri"/>
                <a:cs typeface="Calibri"/>
              </a:rPr>
              <a:t>(Va).</a:t>
            </a:r>
            <a:endParaRPr sz="2600">
              <a:latin typeface="Calibri"/>
              <a:cs typeface="Calibri"/>
            </a:endParaRPr>
          </a:p>
        </p:txBody>
      </p:sp>
      <p:sp>
        <p:nvSpPr>
          <p:cNvPr id="3" name="object 3"/>
          <p:cNvSpPr txBox="1">
            <a:spLocks noGrp="1"/>
          </p:cNvSpPr>
          <p:nvPr>
            <p:ph type="title"/>
          </p:nvPr>
        </p:nvSpPr>
        <p:spPr>
          <a:xfrm>
            <a:off x="794105" y="267715"/>
            <a:ext cx="7327265" cy="696595"/>
          </a:xfrm>
          <a:prstGeom prst="rect">
            <a:avLst/>
          </a:prstGeom>
        </p:spPr>
        <p:txBody>
          <a:bodyPr vert="horz" wrap="square" lIns="0" tIns="12700" rIns="0" bIns="0" rtlCol="0">
            <a:spAutoFit/>
          </a:bodyPr>
          <a:lstStyle/>
          <a:p>
            <a:pPr marL="12700">
              <a:lnSpc>
                <a:spcPct val="100000"/>
              </a:lnSpc>
              <a:spcBef>
                <a:spcPts val="100"/>
              </a:spcBef>
            </a:pPr>
            <a:r>
              <a:rPr spc="-25" dirty="0"/>
              <a:t>Dual</a:t>
            </a:r>
            <a:r>
              <a:rPr spc="-90" dirty="0"/>
              <a:t> </a:t>
            </a:r>
            <a:r>
              <a:rPr spc="-30" dirty="0"/>
              <a:t>Ramp</a:t>
            </a:r>
            <a:r>
              <a:rPr spc="-105" dirty="0"/>
              <a:t> </a:t>
            </a:r>
            <a:r>
              <a:rPr spc="-25" dirty="0"/>
              <a:t>ADC</a:t>
            </a:r>
            <a:r>
              <a:rPr spc="-90" dirty="0"/>
              <a:t> </a:t>
            </a:r>
            <a:r>
              <a:rPr spc="-30" dirty="0"/>
              <a:t>(Dual</a:t>
            </a:r>
            <a:r>
              <a:rPr spc="-80" dirty="0"/>
              <a:t> </a:t>
            </a:r>
            <a:r>
              <a:rPr spc="-30" dirty="0"/>
              <a:t>Slope</a:t>
            </a:r>
            <a:r>
              <a:rPr spc="-95" dirty="0"/>
              <a:t> </a:t>
            </a:r>
            <a:r>
              <a:rPr spc="-30" dirty="0"/>
              <a:t>ADC)</a:t>
            </a:r>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26</a:t>
            </a:fld>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41019" y="1520952"/>
            <a:ext cx="4797782" cy="3694571"/>
          </a:xfrm>
          <a:prstGeom prst="rect">
            <a:avLst/>
          </a:prstGeom>
        </p:spPr>
      </p:pic>
      <p:pic>
        <p:nvPicPr>
          <p:cNvPr id="3" name="object 3"/>
          <p:cNvPicPr/>
          <p:nvPr/>
        </p:nvPicPr>
        <p:blipFill>
          <a:blip r:embed="rId3" cstate="print"/>
          <a:stretch>
            <a:fillRect/>
          </a:stretch>
        </p:blipFill>
        <p:spPr>
          <a:xfrm>
            <a:off x="6091283" y="1229119"/>
            <a:ext cx="4839548" cy="4534321"/>
          </a:xfrm>
          <a:prstGeom prst="rect">
            <a:avLst/>
          </a:prstGeom>
        </p:spPr>
      </p:pic>
      <p:sp>
        <p:nvSpPr>
          <p:cNvPr id="4" name="object 4"/>
          <p:cNvSpPr txBox="1">
            <a:spLocks noGrp="1"/>
          </p:cNvSpPr>
          <p:nvPr>
            <p:ph type="title"/>
          </p:nvPr>
        </p:nvSpPr>
        <p:spPr>
          <a:xfrm>
            <a:off x="916939" y="294894"/>
            <a:ext cx="7327265" cy="696595"/>
          </a:xfrm>
          <a:prstGeom prst="rect">
            <a:avLst/>
          </a:prstGeom>
        </p:spPr>
        <p:txBody>
          <a:bodyPr vert="horz" wrap="square" lIns="0" tIns="12700" rIns="0" bIns="0" rtlCol="0">
            <a:spAutoFit/>
          </a:bodyPr>
          <a:lstStyle/>
          <a:p>
            <a:pPr marL="12700">
              <a:lnSpc>
                <a:spcPct val="100000"/>
              </a:lnSpc>
              <a:spcBef>
                <a:spcPts val="100"/>
              </a:spcBef>
            </a:pPr>
            <a:r>
              <a:rPr spc="-25" dirty="0"/>
              <a:t>Dual</a:t>
            </a:r>
            <a:r>
              <a:rPr spc="-90" dirty="0"/>
              <a:t> </a:t>
            </a:r>
            <a:r>
              <a:rPr spc="-30" dirty="0"/>
              <a:t>Ramp</a:t>
            </a:r>
            <a:r>
              <a:rPr spc="-105" dirty="0"/>
              <a:t> </a:t>
            </a:r>
            <a:r>
              <a:rPr spc="-25" dirty="0"/>
              <a:t>ADC</a:t>
            </a:r>
            <a:r>
              <a:rPr spc="-90" dirty="0"/>
              <a:t> </a:t>
            </a:r>
            <a:r>
              <a:rPr spc="-30" dirty="0"/>
              <a:t>(Dual</a:t>
            </a:r>
            <a:r>
              <a:rPr spc="-80" dirty="0"/>
              <a:t> </a:t>
            </a:r>
            <a:r>
              <a:rPr spc="-30" dirty="0"/>
              <a:t>Slope</a:t>
            </a:r>
            <a:r>
              <a:rPr spc="-95" dirty="0"/>
              <a:t> </a:t>
            </a:r>
            <a:r>
              <a:rPr spc="-30" dirty="0"/>
              <a:t>ADC)</a:t>
            </a:r>
          </a:p>
        </p:txBody>
      </p:sp>
      <p:sp>
        <p:nvSpPr>
          <p:cNvPr id="5" name="Slide Number Placeholder 4"/>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27</a:t>
            </a:fld>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15086" y="325907"/>
            <a:ext cx="11097895" cy="4119879"/>
          </a:xfrm>
          <a:prstGeom prst="rect">
            <a:avLst/>
          </a:prstGeom>
        </p:spPr>
        <p:txBody>
          <a:bodyPr vert="horz" wrap="square" lIns="0" tIns="97790" rIns="0" bIns="0" rtlCol="0">
            <a:spAutoFit/>
          </a:bodyPr>
          <a:lstStyle/>
          <a:p>
            <a:pPr marL="266700" indent="-228600">
              <a:lnSpc>
                <a:spcPct val="100000"/>
              </a:lnSpc>
              <a:spcBef>
                <a:spcPts val="770"/>
              </a:spcBef>
              <a:buFont typeface="Arial MT"/>
              <a:buChar char="•"/>
              <a:tabLst>
                <a:tab pos="266700" algn="l"/>
              </a:tabLst>
            </a:pPr>
            <a:r>
              <a:rPr sz="2800" spc="-15" dirty="0">
                <a:latin typeface="Calibri"/>
                <a:cs typeface="Calibri"/>
              </a:rPr>
              <a:t>Figure</a:t>
            </a:r>
            <a:r>
              <a:rPr sz="2800" spc="15" dirty="0">
                <a:latin typeface="Calibri"/>
                <a:cs typeface="Calibri"/>
              </a:rPr>
              <a:t> </a:t>
            </a:r>
            <a:r>
              <a:rPr sz="2800" spc="-5" dirty="0">
                <a:latin typeface="Calibri"/>
                <a:cs typeface="Calibri"/>
              </a:rPr>
              <a:t>5.8</a:t>
            </a:r>
            <a:r>
              <a:rPr sz="2800" spc="30" dirty="0">
                <a:latin typeface="Calibri"/>
                <a:cs typeface="Calibri"/>
              </a:rPr>
              <a:t> </a:t>
            </a:r>
            <a:r>
              <a:rPr sz="2800" spc="-15" dirty="0">
                <a:latin typeface="Calibri"/>
                <a:cs typeface="Calibri"/>
              </a:rPr>
              <a:t>shows</a:t>
            </a:r>
            <a:r>
              <a:rPr sz="2800" spc="25" dirty="0">
                <a:latin typeface="Calibri"/>
                <a:cs typeface="Calibri"/>
              </a:rPr>
              <a:t> </a:t>
            </a:r>
            <a:r>
              <a:rPr sz="2800" spc="-5" dirty="0">
                <a:latin typeface="Calibri"/>
                <a:cs typeface="Calibri"/>
              </a:rPr>
              <a:t>the</a:t>
            </a:r>
            <a:r>
              <a:rPr sz="2800" dirty="0">
                <a:latin typeface="Calibri"/>
                <a:cs typeface="Calibri"/>
              </a:rPr>
              <a:t> </a:t>
            </a:r>
            <a:r>
              <a:rPr sz="2800" spc="-25" dirty="0">
                <a:latin typeface="Calibri"/>
                <a:cs typeface="Calibri"/>
              </a:rPr>
              <a:t>different</a:t>
            </a:r>
            <a:r>
              <a:rPr sz="2800" spc="15" dirty="0">
                <a:latin typeface="Calibri"/>
                <a:cs typeface="Calibri"/>
              </a:rPr>
              <a:t> </a:t>
            </a:r>
            <a:r>
              <a:rPr sz="2800" spc="-15" dirty="0">
                <a:latin typeface="Calibri"/>
                <a:cs typeface="Calibri"/>
              </a:rPr>
              <a:t>components</a:t>
            </a:r>
            <a:r>
              <a:rPr sz="2800" spc="50" dirty="0">
                <a:latin typeface="Calibri"/>
                <a:cs typeface="Calibri"/>
              </a:rPr>
              <a:t> </a:t>
            </a:r>
            <a:r>
              <a:rPr sz="2800" spc="-5" dirty="0">
                <a:latin typeface="Calibri"/>
                <a:cs typeface="Calibri"/>
              </a:rPr>
              <a:t>of</a:t>
            </a:r>
            <a:r>
              <a:rPr sz="2800" dirty="0">
                <a:latin typeface="Calibri"/>
                <a:cs typeface="Calibri"/>
              </a:rPr>
              <a:t> </a:t>
            </a:r>
            <a:r>
              <a:rPr sz="2800" spc="-10" dirty="0">
                <a:latin typeface="Calibri"/>
                <a:cs typeface="Calibri"/>
              </a:rPr>
              <a:t>dual</a:t>
            </a:r>
            <a:r>
              <a:rPr sz="2800" spc="10" dirty="0">
                <a:latin typeface="Calibri"/>
                <a:cs typeface="Calibri"/>
              </a:rPr>
              <a:t> </a:t>
            </a:r>
            <a:r>
              <a:rPr sz="2800" spc="-20" dirty="0">
                <a:latin typeface="Calibri"/>
                <a:cs typeface="Calibri"/>
              </a:rPr>
              <a:t>ramp</a:t>
            </a:r>
            <a:r>
              <a:rPr sz="2800" spc="25" dirty="0">
                <a:latin typeface="Calibri"/>
                <a:cs typeface="Calibri"/>
              </a:rPr>
              <a:t> </a:t>
            </a:r>
            <a:r>
              <a:rPr sz="2800" spc="-5" dirty="0">
                <a:latin typeface="Calibri"/>
                <a:cs typeface="Calibri"/>
              </a:rPr>
              <a:t>ADC.</a:t>
            </a:r>
            <a:endParaRPr sz="2800">
              <a:latin typeface="Calibri"/>
              <a:cs typeface="Calibri"/>
            </a:endParaRPr>
          </a:p>
          <a:p>
            <a:pPr marL="266700" marR="30480" indent="-228600">
              <a:lnSpc>
                <a:spcPts val="3020"/>
              </a:lnSpc>
              <a:spcBef>
                <a:spcPts val="1055"/>
              </a:spcBef>
              <a:buFont typeface="Arial MT"/>
              <a:buChar char="•"/>
              <a:tabLst>
                <a:tab pos="266700" algn="l"/>
              </a:tabLst>
            </a:pPr>
            <a:r>
              <a:rPr sz="2800" spc="-5" dirty="0">
                <a:latin typeface="Calibri"/>
                <a:cs typeface="Calibri"/>
              </a:rPr>
              <a:t>It</a:t>
            </a:r>
            <a:r>
              <a:rPr sz="2800" dirty="0">
                <a:latin typeface="Calibri"/>
                <a:cs typeface="Calibri"/>
              </a:rPr>
              <a:t> </a:t>
            </a:r>
            <a:r>
              <a:rPr sz="2800" spc="-15" dirty="0">
                <a:latin typeface="Calibri"/>
                <a:cs typeface="Calibri"/>
              </a:rPr>
              <a:t>consists</a:t>
            </a:r>
            <a:r>
              <a:rPr sz="2800" spc="40" dirty="0">
                <a:latin typeface="Calibri"/>
                <a:cs typeface="Calibri"/>
              </a:rPr>
              <a:t> </a:t>
            </a:r>
            <a:r>
              <a:rPr sz="2800" spc="-5" dirty="0">
                <a:latin typeface="Calibri"/>
                <a:cs typeface="Calibri"/>
              </a:rPr>
              <a:t>of</a:t>
            </a:r>
            <a:r>
              <a:rPr sz="2800" dirty="0">
                <a:latin typeface="Calibri"/>
                <a:cs typeface="Calibri"/>
              </a:rPr>
              <a:t> an</a:t>
            </a:r>
            <a:r>
              <a:rPr sz="2800" spc="10" dirty="0">
                <a:latin typeface="Calibri"/>
                <a:cs typeface="Calibri"/>
              </a:rPr>
              <a:t> </a:t>
            </a:r>
            <a:r>
              <a:rPr sz="2800" spc="-25" dirty="0">
                <a:latin typeface="Calibri"/>
                <a:cs typeface="Calibri"/>
              </a:rPr>
              <a:t>integrator</a:t>
            </a:r>
            <a:r>
              <a:rPr sz="2800" spc="-5" dirty="0">
                <a:latin typeface="Calibri"/>
                <a:cs typeface="Calibri"/>
              </a:rPr>
              <a:t> which</a:t>
            </a:r>
            <a:r>
              <a:rPr sz="2800" spc="20" dirty="0">
                <a:latin typeface="Calibri"/>
                <a:cs typeface="Calibri"/>
              </a:rPr>
              <a:t> </a:t>
            </a:r>
            <a:r>
              <a:rPr sz="2800" spc="-15" dirty="0">
                <a:latin typeface="Calibri"/>
                <a:cs typeface="Calibri"/>
              </a:rPr>
              <a:t>produces</a:t>
            </a:r>
            <a:r>
              <a:rPr sz="2800" spc="35" dirty="0">
                <a:latin typeface="Calibri"/>
                <a:cs typeface="Calibri"/>
              </a:rPr>
              <a:t> </a:t>
            </a:r>
            <a:r>
              <a:rPr sz="2800" spc="-5" dirty="0">
                <a:latin typeface="Calibri"/>
                <a:cs typeface="Calibri"/>
              </a:rPr>
              <a:t>a</a:t>
            </a:r>
            <a:r>
              <a:rPr sz="2800" spc="5" dirty="0">
                <a:latin typeface="Calibri"/>
                <a:cs typeface="Calibri"/>
              </a:rPr>
              <a:t> </a:t>
            </a:r>
            <a:r>
              <a:rPr sz="2800" spc="-20" dirty="0">
                <a:latin typeface="Calibri"/>
                <a:cs typeface="Calibri"/>
              </a:rPr>
              <a:t>ramp</a:t>
            </a:r>
            <a:r>
              <a:rPr sz="2800" spc="15" dirty="0">
                <a:latin typeface="Calibri"/>
                <a:cs typeface="Calibri"/>
              </a:rPr>
              <a:t> </a:t>
            </a:r>
            <a:r>
              <a:rPr sz="2800" spc="-10" dirty="0">
                <a:latin typeface="Calibri"/>
                <a:cs typeface="Calibri"/>
              </a:rPr>
              <a:t>signal</a:t>
            </a:r>
            <a:r>
              <a:rPr sz="2800" spc="20" dirty="0">
                <a:latin typeface="Calibri"/>
                <a:cs typeface="Calibri"/>
              </a:rPr>
              <a:t> </a:t>
            </a:r>
            <a:r>
              <a:rPr sz="2800" spc="10" dirty="0">
                <a:latin typeface="Calibri"/>
                <a:cs typeface="Calibri"/>
              </a:rPr>
              <a:t>(n</a:t>
            </a:r>
            <a:r>
              <a:rPr sz="2775" spc="15" baseline="-21021" dirty="0">
                <a:latin typeface="Calibri"/>
                <a:cs typeface="Calibri"/>
              </a:rPr>
              <a:t>c</a:t>
            </a:r>
            <a:r>
              <a:rPr sz="2800" spc="10" dirty="0">
                <a:latin typeface="Calibri"/>
                <a:cs typeface="Calibri"/>
              </a:rPr>
              <a:t>)</a:t>
            </a:r>
            <a:r>
              <a:rPr sz="2800" spc="5" dirty="0">
                <a:latin typeface="Calibri"/>
                <a:cs typeface="Calibri"/>
              </a:rPr>
              <a:t> </a:t>
            </a:r>
            <a:r>
              <a:rPr sz="2800" spc="-20" dirty="0">
                <a:latin typeface="Calibri"/>
                <a:cs typeface="Calibri"/>
              </a:rPr>
              <a:t>from</a:t>
            </a:r>
            <a:r>
              <a:rPr sz="2800" spc="15" dirty="0">
                <a:latin typeface="Calibri"/>
                <a:cs typeface="Calibri"/>
              </a:rPr>
              <a:t> </a:t>
            </a:r>
            <a:r>
              <a:rPr sz="2800" spc="-20" dirty="0">
                <a:latin typeface="Calibri"/>
                <a:cs typeface="Calibri"/>
              </a:rPr>
              <a:t>constant </a:t>
            </a:r>
            <a:r>
              <a:rPr sz="2800" spc="-620" dirty="0">
                <a:latin typeface="Calibri"/>
                <a:cs typeface="Calibri"/>
              </a:rPr>
              <a:t> </a:t>
            </a:r>
            <a:r>
              <a:rPr sz="2800" spc="-10" dirty="0">
                <a:latin typeface="Calibri"/>
                <a:cs typeface="Calibri"/>
              </a:rPr>
              <a:t>sampled</a:t>
            </a:r>
            <a:r>
              <a:rPr sz="2800" spc="15" dirty="0">
                <a:latin typeface="Calibri"/>
                <a:cs typeface="Calibri"/>
              </a:rPr>
              <a:t> </a:t>
            </a:r>
            <a:r>
              <a:rPr sz="2800" spc="-5" dirty="0">
                <a:latin typeface="Calibri"/>
                <a:cs typeface="Calibri"/>
              </a:rPr>
              <a:t>analog input</a:t>
            </a:r>
            <a:r>
              <a:rPr sz="2800" spc="35" dirty="0">
                <a:latin typeface="Calibri"/>
                <a:cs typeface="Calibri"/>
              </a:rPr>
              <a:t> </a:t>
            </a:r>
            <a:r>
              <a:rPr sz="2800" spc="-30" dirty="0">
                <a:latin typeface="Calibri"/>
                <a:cs typeface="Calibri"/>
              </a:rPr>
              <a:t>(V</a:t>
            </a:r>
            <a:r>
              <a:rPr sz="2775" spc="-44" baseline="-21021" dirty="0">
                <a:latin typeface="Calibri"/>
                <a:cs typeface="Calibri"/>
              </a:rPr>
              <a:t>A</a:t>
            </a:r>
            <a:r>
              <a:rPr sz="2800" spc="-30" dirty="0">
                <a:latin typeface="Calibri"/>
                <a:cs typeface="Calibri"/>
              </a:rPr>
              <a:t>).</a:t>
            </a:r>
            <a:endParaRPr sz="2800">
              <a:latin typeface="Calibri"/>
              <a:cs typeface="Calibri"/>
            </a:endParaRPr>
          </a:p>
          <a:p>
            <a:pPr marL="266700" marR="244475" indent="-228600">
              <a:lnSpc>
                <a:spcPts val="3020"/>
              </a:lnSpc>
              <a:spcBef>
                <a:spcPts val="1010"/>
              </a:spcBef>
              <a:buFont typeface="Arial MT"/>
              <a:buChar char="•"/>
              <a:tabLst>
                <a:tab pos="266700" algn="l"/>
              </a:tabLst>
            </a:pPr>
            <a:r>
              <a:rPr sz="2800" spc="-10" dirty="0">
                <a:latin typeface="Calibri"/>
                <a:cs typeface="Calibri"/>
              </a:rPr>
              <a:t>Then,</a:t>
            </a:r>
            <a:r>
              <a:rPr sz="2800" spc="10" dirty="0">
                <a:latin typeface="Calibri"/>
                <a:cs typeface="Calibri"/>
              </a:rPr>
              <a:t> </a:t>
            </a:r>
            <a:r>
              <a:rPr sz="2800" spc="-15" dirty="0">
                <a:latin typeface="Calibri"/>
                <a:cs typeface="Calibri"/>
              </a:rPr>
              <a:t>there</a:t>
            </a:r>
            <a:r>
              <a:rPr sz="2800" spc="20" dirty="0">
                <a:latin typeface="Calibri"/>
                <a:cs typeface="Calibri"/>
              </a:rPr>
              <a:t> </a:t>
            </a:r>
            <a:r>
              <a:rPr sz="2800" spc="-5" dirty="0">
                <a:latin typeface="Calibri"/>
                <a:cs typeface="Calibri"/>
              </a:rPr>
              <a:t>is</a:t>
            </a:r>
            <a:r>
              <a:rPr sz="2800" spc="10" dirty="0">
                <a:latin typeface="Calibri"/>
                <a:cs typeface="Calibri"/>
              </a:rPr>
              <a:t> </a:t>
            </a:r>
            <a:r>
              <a:rPr sz="2800" spc="-5" dirty="0">
                <a:latin typeface="Calibri"/>
                <a:cs typeface="Calibri"/>
              </a:rPr>
              <a:t>a</a:t>
            </a:r>
            <a:r>
              <a:rPr sz="2800" spc="10" dirty="0">
                <a:latin typeface="Calibri"/>
                <a:cs typeface="Calibri"/>
              </a:rPr>
              <a:t> </a:t>
            </a:r>
            <a:r>
              <a:rPr sz="2800" spc="-20" dirty="0">
                <a:latin typeface="Calibri"/>
                <a:cs typeface="Calibri"/>
              </a:rPr>
              <a:t>comparator</a:t>
            </a:r>
            <a:r>
              <a:rPr sz="2800" dirty="0">
                <a:latin typeface="Calibri"/>
                <a:cs typeface="Calibri"/>
              </a:rPr>
              <a:t> </a:t>
            </a:r>
            <a:r>
              <a:rPr sz="2800" spc="-15" dirty="0">
                <a:latin typeface="Calibri"/>
                <a:cs typeface="Calibri"/>
              </a:rPr>
              <a:t>to</a:t>
            </a:r>
            <a:r>
              <a:rPr sz="2800" spc="5" dirty="0">
                <a:latin typeface="Calibri"/>
                <a:cs typeface="Calibri"/>
              </a:rPr>
              <a:t> </a:t>
            </a:r>
            <a:r>
              <a:rPr sz="2800" spc="-15" dirty="0">
                <a:latin typeface="Calibri"/>
                <a:cs typeface="Calibri"/>
              </a:rPr>
              <a:t>drive</a:t>
            </a:r>
            <a:r>
              <a:rPr sz="2800" spc="20" dirty="0">
                <a:latin typeface="Calibri"/>
                <a:cs typeface="Calibri"/>
              </a:rPr>
              <a:t> </a:t>
            </a:r>
            <a:r>
              <a:rPr sz="2800" spc="-5" dirty="0">
                <a:latin typeface="Calibri"/>
                <a:cs typeface="Calibri"/>
              </a:rPr>
              <a:t>the</a:t>
            </a:r>
            <a:r>
              <a:rPr sz="2800" spc="15" dirty="0">
                <a:latin typeface="Calibri"/>
                <a:cs typeface="Calibri"/>
              </a:rPr>
              <a:t> </a:t>
            </a:r>
            <a:r>
              <a:rPr sz="2800" spc="-5" dirty="0">
                <a:latin typeface="Calibri"/>
                <a:cs typeface="Calibri"/>
              </a:rPr>
              <a:t>AND</a:t>
            </a:r>
            <a:r>
              <a:rPr sz="2800" spc="20" dirty="0">
                <a:latin typeface="Calibri"/>
                <a:cs typeface="Calibri"/>
              </a:rPr>
              <a:t> </a:t>
            </a:r>
            <a:r>
              <a:rPr sz="2800" spc="-30" dirty="0">
                <a:latin typeface="Calibri"/>
                <a:cs typeface="Calibri"/>
              </a:rPr>
              <a:t>gate</a:t>
            </a:r>
            <a:r>
              <a:rPr sz="2800" spc="-15" dirty="0">
                <a:latin typeface="Calibri"/>
                <a:cs typeface="Calibri"/>
              </a:rPr>
              <a:t> </a:t>
            </a:r>
            <a:r>
              <a:rPr sz="2800" spc="-5" dirty="0">
                <a:latin typeface="Calibri"/>
                <a:cs typeface="Calibri"/>
              </a:rPr>
              <a:t>whose</a:t>
            </a:r>
            <a:r>
              <a:rPr sz="2800" spc="20" dirty="0">
                <a:latin typeface="Calibri"/>
                <a:cs typeface="Calibri"/>
              </a:rPr>
              <a:t> </a:t>
            </a:r>
            <a:r>
              <a:rPr sz="2800" spc="-5" dirty="0">
                <a:latin typeface="Calibri"/>
                <a:cs typeface="Calibri"/>
              </a:rPr>
              <a:t>another</a:t>
            </a:r>
            <a:r>
              <a:rPr sz="2800" spc="10" dirty="0">
                <a:latin typeface="Calibri"/>
                <a:cs typeface="Calibri"/>
              </a:rPr>
              <a:t> </a:t>
            </a:r>
            <a:r>
              <a:rPr sz="2800" spc="-10" dirty="0">
                <a:latin typeface="Calibri"/>
                <a:cs typeface="Calibri"/>
              </a:rPr>
              <a:t>input</a:t>
            </a:r>
            <a:r>
              <a:rPr sz="2800" spc="35" dirty="0">
                <a:latin typeface="Calibri"/>
                <a:cs typeface="Calibri"/>
              </a:rPr>
              <a:t> </a:t>
            </a:r>
            <a:r>
              <a:rPr sz="2800" spc="-5" dirty="0">
                <a:latin typeface="Calibri"/>
                <a:cs typeface="Calibri"/>
              </a:rPr>
              <a:t>is </a:t>
            </a:r>
            <a:r>
              <a:rPr sz="2800" spc="-620" dirty="0">
                <a:latin typeface="Calibri"/>
                <a:cs typeface="Calibri"/>
              </a:rPr>
              <a:t> </a:t>
            </a:r>
            <a:r>
              <a:rPr sz="2800" spc="-5" dirty="0">
                <a:latin typeface="Calibri"/>
                <a:cs typeface="Calibri"/>
              </a:rPr>
              <a:t>clock</a:t>
            </a:r>
            <a:r>
              <a:rPr sz="2800" dirty="0">
                <a:latin typeface="Calibri"/>
                <a:cs typeface="Calibri"/>
              </a:rPr>
              <a:t> </a:t>
            </a:r>
            <a:r>
              <a:rPr sz="2800" spc="-10" dirty="0">
                <a:latin typeface="Calibri"/>
                <a:cs typeface="Calibri"/>
              </a:rPr>
              <a:t>pulse</a:t>
            </a:r>
            <a:r>
              <a:rPr sz="2800" spc="30" dirty="0">
                <a:latin typeface="Calibri"/>
                <a:cs typeface="Calibri"/>
              </a:rPr>
              <a:t> </a:t>
            </a:r>
            <a:r>
              <a:rPr sz="2800" spc="-5" dirty="0">
                <a:latin typeface="Calibri"/>
                <a:cs typeface="Calibri"/>
              </a:rPr>
              <a:t>of </a:t>
            </a:r>
            <a:r>
              <a:rPr sz="2800" spc="-10" dirty="0">
                <a:latin typeface="Calibri"/>
                <a:cs typeface="Calibri"/>
              </a:rPr>
              <a:t>certain</a:t>
            </a:r>
            <a:r>
              <a:rPr sz="2800" spc="-5" dirty="0">
                <a:latin typeface="Calibri"/>
                <a:cs typeface="Calibri"/>
              </a:rPr>
              <a:t> </a:t>
            </a:r>
            <a:r>
              <a:rPr sz="2800" spc="-30" dirty="0">
                <a:latin typeface="Calibri"/>
                <a:cs typeface="Calibri"/>
              </a:rPr>
              <a:t>frequency.</a:t>
            </a:r>
            <a:endParaRPr sz="2800">
              <a:latin typeface="Calibri"/>
              <a:cs typeface="Calibri"/>
            </a:endParaRPr>
          </a:p>
          <a:p>
            <a:pPr marL="266700" marR="140335" indent="-228600" algn="just">
              <a:lnSpc>
                <a:spcPct val="90000"/>
              </a:lnSpc>
              <a:spcBef>
                <a:spcPts val="955"/>
              </a:spcBef>
              <a:buFont typeface="Arial MT"/>
              <a:buChar char="•"/>
              <a:tabLst>
                <a:tab pos="266700" algn="l"/>
              </a:tabLst>
            </a:pPr>
            <a:r>
              <a:rPr sz="2800" spc="-10" dirty="0">
                <a:latin typeface="Calibri"/>
                <a:cs typeface="Calibri"/>
              </a:rPr>
              <a:t>The </a:t>
            </a:r>
            <a:r>
              <a:rPr sz="2800" spc="-25" dirty="0">
                <a:latin typeface="Calibri"/>
                <a:cs typeface="Calibri"/>
              </a:rPr>
              <a:t>gate </a:t>
            </a:r>
            <a:r>
              <a:rPr sz="2800" spc="-15" dirty="0">
                <a:latin typeface="Calibri"/>
                <a:cs typeface="Calibri"/>
              </a:rPr>
              <a:t>drives </a:t>
            </a:r>
            <a:r>
              <a:rPr sz="2800" spc="-5" dirty="0">
                <a:latin typeface="Calibri"/>
                <a:cs typeface="Calibri"/>
              </a:rPr>
              <a:t>an up </a:t>
            </a:r>
            <a:r>
              <a:rPr sz="2800" spc="-15" dirty="0">
                <a:latin typeface="Calibri"/>
                <a:cs typeface="Calibri"/>
              </a:rPr>
              <a:t>counter </a:t>
            </a:r>
            <a:r>
              <a:rPr sz="2800" spc="-5" dirty="0">
                <a:latin typeface="Calibri"/>
                <a:cs typeface="Calibri"/>
              </a:rPr>
              <a:t>which on </a:t>
            </a:r>
            <a:r>
              <a:rPr sz="2800" spc="-10" dirty="0">
                <a:latin typeface="Calibri"/>
                <a:cs typeface="Calibri"/>
              </a:rPr>
              <a:t>certain condition sends </a:t>
            </a:r>
            <a:r>
              <a:rPr sz="2800" spc="-5" dirty="0">
                <a:latin typeface="Calibri"/>
                <a:cs typeface="Calibri"/>
              </a:rPr>
              <a:t>the </a:t>
            </a:r>
            <a:r>
              <a:rPr sz="2800" spc="-10" dirty="0">
                <a:latin typeface="Calibri"/>
                <a:cs typeface="Calibri"/>
              </a:rPr>
              <a:t>signal </a:t>
            </a:r>
            <a:r>
              <a:rPr sz="2800" spc="-5" dirty="0">
                <a:latin typeface="Calibri"/>
                <a:cs typeface="Calibri"/>
              </a:rPr>
              <a:t> </a:t>
            </a:r>
            <a:r>
              <a:rPr sz="2800" spc="-20" dirty="0">
                <a:latin typeface="Calibri"/>
                <a:cs typeface="Calibri"/>
              </a:rPr>
              <a:t>to control </a:t>
            </a:r>
            <a:r>
              <a:rPr sz="2800" spc="-5" dirty="0">
                <a:latin typeface="Calibri"/>
                <a:cs typeface="Calibri"/>
              </a:rPr>
              <a:t>logic </a:t>
            </a:r>
            <a:r>
              <a:rPr sz="2800" spc="-15" dirty="0">
                <a:latin typeface="Calibri"/>
                <a:cs typeface="Calibri"/>
              </a:rPr>
              <a:t>to </a:t>
            </a:r>
            <a:r>
              <a:rPr sz="2800" spc="-10" dirty="0">
                <a:latin typeface="Calibri"/>
                <a:cs typeface="Calibri"/>
              </a:rPr>
              <a:t>switch </a:t>
            </a:r>
            <a:r>
              <a:rPr sz="2800" spc="-5" dirty="0">
                <a:latin typeface="Calibri"/>
                <a:cs typeface="Calibri"/>
              </a:rPr>
              <a:t>the </a:t>
            </a:r>
            <a:r>
              <a:rPr sz="2800" spc="-10" dirty="0">
                <a:latin typeface="Calibri"/>
                <a:cs typeface="Calibri"/>
              </a:rPr>
              <a:t>input </a:t>
            </a:r>
            <a:r>
              <a:rPr sz="2800" spc="-20" dirty="0">
                <a:latin typeface="Calibri"/>
                <a:cs typeface="Calibri"/>
              </a:rPr>
              <a:t>from </a:t>
            </a:r>
            <a:r>
              <a:rPr sz="2800" spc="-55" dirty="0">
                <a:latin typeface="Calibri"/>
                <a:cs typeface="Calibri"/>
              </a:rPr>
              <a:t>V</a:t>
            </a:r>
            <a:r>
              <a:rPr sz="2775" spc="-82" baseline="-21021" dirty="0">
                <a:latin typeface="Calibri"/>
                <a:cs typeface="Calibri"/>
              </a:rPr>
              <a:t>A </a:t>
            </a:r>
            <a:r>
              <a:rPr sz="2800" spc="-20" dirty="0">
                <a:latin typeface="Calibri"/>
                <a:cs typeface="Calibri"/>
              </a:rPr>
              <a:t>to </a:t>
            </a:r>
            <a:r>
              <a:rPr sz="2800" spc="-40" dirty="0">
                <a:latin typeface="Calibri"/>
                <a:cs typeface="Calibri"/>
              </a:rPr>
              <a:t>-V</a:t>
            </a:r>
            <a:r>
              <a:rPr sz="2775" spc="-60" baseline="-21021" dirty="0">
                <a:latin typeface="Calibri"/>
                <a:cs typeface="Calibri"/>
              </a:rPr>
              <a:t>ref</a:t>
            </a:r>
            <a:r>
              <a:rPr sz="2800" spc="-40" dirty="0">
                <a:latin typeface="Calibri"/>
                <a:cs typeface="Calibri"/>
              </a:rPr>
              <a:t>. </a:t>
            </a:r>
            <a:r>
              <a:rPr sz="2800" spc="-5" dirty="0">
                <a:latin typeface="Calibri"/>
                <a:cs typeface="Calibri"/>
              </a:rPr>
              <a:t>When </a:t>
            </a:r>
            <a:r>
              <a:rPr sz="2800" spc="-65" dirty="0">
                <a:latin typeface="Calibri"/>
                <a:cs typeface="Calibri"/>
              </a:rPr>
              <a:t>V</a:t>
            </a:r>
            <a:r>
              <a:rPr sz="2775" spc="-97" baseline="-21021" dirty="0">
                <a:latin typeface="Calibri"/>
                <a:cs typeface="Calibri"/>
              </a:rPr>
              <a:t>A </a:t>
            </a:r>
            <a:r>
              <a:rPr sz="2800" spc="-5" dirty="0">
                <a:latin typeface="Calibri"/>
                <a:cs typeface="Calibri"/>
              </a:rPr>
              <a:t>is a applied </a:t>
            </a:r>
            <a:r>
              <a:rPr sz="2800" spc="-20" dirty="0">
                <a:latin typeface="Calibri"/>
                <a:cs typeface="Calibri"/>
              </a:rPr>
              <a:t>to </a:t>
            </a:r>
            <a:r>
              <a:rPr sz="2800" spc="-15" dirty="0">
                <a:latin typeface="Calibri"/>
                <a:cs typeface="Calibri"/>
              </a:rPr>
              <a:t> </a:t>
            </a:r>
            <a:r>
              <a:rPr sz="2800" spc="-5" dirty="0">
                <a:latin typeface="Calibri"/>
                <a:cs typeface="Calibri"/>
              </a:rPr>
              <a:t>the</a:t>
            </a:r>
            <a:r>
              <a:rPr sz="2800" spc="5" dirty="0">
                <a:latin typeface="Calibri"/>
                <a:cs typeface="Calibri"/>
              </a:rPr>
              <a:t> </a:t>
            </a:r>
            <a:r>
              <a:rPr sz="2800" spc="-45" dirty="0">
                <a:latin typeface="Calibri"/>
                <a:cs typeface="Calibri"/>
              </a:rPr>
              <a:t>integrator,</a:t>
            </a:r>
            <a:r>
              <a:rPr sz="2800" spc="-5" dirty="0">
                <a:latin typeface="Calibri"/>
                <a:cs typeface="Calibri"/>
              </a:rPr>
              <a:t> it</a:t>
            </a:r>
            <a:r>
              <a:rPr sz="2800" dirty="0">
                <a:latin typeface="Calibri"/>
                <a:cs typeface="Calibri"/>
              </a:rPr>
              <a:t> </a:t>
            </a:r>
            <a:r>
              <a:rPr sz="2800" spc="-15" dirty="0">
                <a:latin typeface="Calibri"/>
                <a:cs typeface="Calibri"/>
              </a:rPr>
              <a:t>produces</a:t>
            </a:r>
            <a:r>
              <a:rPr sz="2800" spc="35" dirty="0">
                <a:latin typeface="Calibri"/>
                <a:cs typeface="Calibri"/>
              </a:rPr>
              <a:t> </a:t>
            </a:r>
            <a:r>
              <a:rPr sz="2800" spc="-5" dirty="0">
                <a:latin typeface="Calibri"/>
                <a:cs typeface="Calibri"/>
              </a:rPr>
              <a:t>a</a:t>
            </a:r>
            <a:r>
              <a:rPr sz="2800" dirty="0">
                <a:latin typeface="Calibri"/>
                <a:cs typeface="Calibri"/>
              </a:rPr>
              <a:t> </a:t>
            </a:r>
            <a:r>
              <a:rPr sz="2800" spc="-20" dirty="0">
                <a:latin typeface="Calibri"/>
                <a:cs typeface="Calibri"/>
              </a:rPr>
              <a:t>ramp</a:t>
            </a:r>
            <a:r>
              <a:rPr sz="2800" spc="15" dirty="0">
                <a:latin typeface="Calibri"/>
                <a:cs typeface="Calibri"/>
              </a:rPr>
              <a:t> </a:t>
            </a:r>
            <a:r>
              <a:rPr sz="2800" spc="-10" dirty="0">
                <a:latin typeface="Calibri"/>
                <a:cs typeface="Calibri"/>
              </a:rPr>
              <a:t>signal</a:t>
            </a:r>
            <a:r>
              <a:rPr sz="2800" spc="15" dirty="0">
                <a:latin typeface="Calibri"/>
                <a:cs typeface="Calibri"/>
              </a:rPr>
              <a:t> </a:t>
            </a:r>
            <a:r>
              <a:rPr sz="2800" spc="-5" dirty="0">
                <a:latin typeface="Calibri"/>
                <a:cs typeface="Calibri"/>
              </a:rPr>
              <a:t>whose</a:t>
            </a:r>
            <a:r>
              <a:rPr sz="2800" spc="10" dirty="0">
                <a:latin typeface="Calibri"/>
                <a:cs typeface="Calibri"/>
              </a:rPr>
              <a:t> </a:t>
            </a:r>
            <a:r>
              <a:rPr sz="2800" spc="-10" dirty="0">
                <a:latin typeface="Calibri"/>
                <a:cs typeface="Calibri"/>
              </a:rPr>
              <a:t>slope</a:t>
            </a:r>
            <a:r>
              <a:rPr sz="2800" spc="20" dirty="0">
                <a:latin typeface="Calibri"/>
                <a:cs typeface="Calibri"/>
              </a:rPr>
              <a:t> </a:t>
            </a:r>
            <a:r>
              <a:rPr sz="2800" spc="-5" dirty="0">
                <a:latin typeface="Calibri"/>
                <a:cs typeface="Calibri"/>
              </a:rPr>
              <a:t>is</a:t>
            </a:r>
            <a:r>
              <a:rPr sz="2800" dirty="0">
                <a:latin typeface="Calibri"/>
                <a:cs typeface="Calibri"/>
              </a:rPr>
              <a:t> </a:t>
            </a:r>
            <a:r>
              <a:rPr sz="2800" spc="-5" dirty="0">
                <a:latin typeface="Calibri"/>
                <a:cs typeface="Calibri"/>
              </a:rPr>
              <a:t>equal</a:t>
            </a:r>
            <a:r>
              <a:rPr sz="2800" spc="25" dirty="0">
                <a:latin typeface="Calibri"/>
                <a:cs typeface="Calibri"/>
              </a:rPr>
              <a:t> </a:t>
            </a:r>
            <a:r>
              <a:rPr sz="2800" spc="-20" dirty="0">
                <a:latin typeface="Calibri"/>
                <a:cs typeface="Calibri"/>
              </a:rPr>
              <a:t>to</a:t>
            </a:r>
            <a:endParaRPr sz="2800">
              <a:latin typeface="Calibri"/>
              <a:cs typeface="Calibri"/>
            </a:endParaRPr>
          </a:p>
          <a:p>
            <a:pPr marL="266700" indent="-228600" algn="just">
              <a:lnSpc>
                <a:spcPct val="100000"/>
              </a:lnSpc>
              <a:spcBef>
                <a:spcPts val="670"/>
              </a:spcBef>
              <a:buFont typeface="Arial MT"/>
              <a:buChar char="•"/>
              <a:tabLst>
                <a:tab pos="266700" algn="l"/>
              </a:tabLst>
            </a:pPr>
            <a:r>
              <a:rPr sz="2800" spc="-10" dirty="0">
                <a:latin typeface="Calibri"/>
                <a:cs typeface="Calibri"/>
              </a:rPr>
              <a:t>Then,</a:t>
            </a:r>
            <a:r>
              <a:rPr sz="2800" spc="-5" dirty="0">
                <a:latin typeface="Calibri"/>
                <a:cs typeface="Calibri"/>
              </a:rPr>
              <a:t> the</a:t>
            </a:r>
            <a:r>
              <a:rPr sz="2800" dirty="0">
                <a:latin typeface="Calibri"/>
                <a:cs typeface="Calibri"/>
              </a:rPr>
              <a:t> </a:t>
            </a:r>
            <a:r>
              <a:rPr sz="2800" spc="-30" dirty="0">
                <a:latin typeface="Calibri"/>
                <a:cs typeface="Calibri"/>
              </a:rPr>
              <a:t>gate </a:t>
            </a:r>
            <a:r>
              <a:rPr sz="2800" spc="-10" dirty="0">
                <a:latin typeface="Calibri"/>
                <a:cs typeface="Calibri"/>
              </a:rPr>
              <a:t>opens.</a:t>
            </a:r>
            <a:endParaRPr sz="2800">
              <a:latin typeface="Calibri"/>
              <a:cs typeface="Calibri"/>
            </a:endParaRPr>
          </a:p>
        </p:txBody>
      </p:sp>
      <p:pic>
        <p:nvPicPr>
          <p:cNvPr id="3" name="object 3"/>
          <p:cNvPicPr/>
          <p:nvPr/>
        </p:nvPicPr>
        <p:blipFill>
          <a:blip r:embed="rId2" cstate="print"/>
          <a:stretch>
            <a:fillRect/>
          </a:stretch>
        </p:blipFill>
        <p:spPr>
          <a:xfrm>
            <a:off x="10339578" y="3619500"/>
            <a:ext cx="553720" cy="608763"/>
          </a:xfrm>
          <a:prstGeom prst="rect">
            <a:avLst/>
          </a:prstGeom>
        </p:spPr>
      </p:pic>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28</a:t>
            </a:fld>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53592" y="0"/>
            <a:ext cx="8532495" cy="452120"/>
          </a:xfrm>
          <a:prstGeom prst="rect">
            <a:avLst/>
          </a:prstGeom>
        </p:spPr>
        <p:txBody>
          <a:bodyPr vert="horz" wrap="square" lIns="0" tIns="12065" rIns="0" bIns="0" rtlCol="0">
            <a:spAutoFit/>
          </a:bodyPr>
          <a:lstStyle/>
          <a:p>
            <a:pPr marL="241300" indent="-228600">
              <a:lnSpc>
                <a:spcPct val="100000"/>
              </a:lnSpc>
              <a:spcBef>
                <a:spcPts val="95"/>
              </a:spcBef>
              <a:buFont typeface="Arial MT"/>
              <a:buChar char="•"/>
              <a:tabLst>
                <a:tab pos="241300" algn="l"/>
              </a:tabLst>
            </a:pPr>
            <a:r>
              <a:rPr sz="2800" spc="-10" dirty="0">
                <a:latin typeface="Calibri"/>
                <a:cs typeface="Calibri"/>
              </a:rPr>
              <a:t>Considering</a:t>
            </a:r>
            <a:r>
              <a:rPr sz="2800" spc="30" dirty="0">
                <a:latin typeface="Calibri"/>
                <a:cs typeface="Calibri"/>
              </a:rPr>
              <a:t> </a:t>
            </a:r>
            <a:r>
              <a:rPr sz="2800" spc="-15" dirty="0">
                <a:latin typeface="Calibri"/>
                <a:cs typeface="Calibri"/>
              </a:rPr>
              <a:t>Figure</a:t>
            </a:r>
            <a:r>
              <a:rPr sz="2800" spc="15" dirty="0">
                <a:latin typeface="Calibri"/>
                <a:cs typeface="Calibri"/>
              </a:rPr>
              <a:t> </a:t>
            </a:r>
            <a:r>
              <a:rPr sz="2800" spc="-5" dirty="0">
                <a:latin typeface="Calibri"/>
                <a:cs typeface="Calibri"/>
              </a:rPr>
              <a:t>5.9</a:t>
            </a:r>
            <a:r>
              <a:rPr sz="2800" spc="25" dirty="0">
                <a:latin typeface="Calibri"/>
                <a:cs typeface="Calibri"/>
              </a:rPr>
              <a:t> </a:t>
            </a:r>
            <a:r>
              <a:rPr sz="2800" spc="-10" dirty="0">
                <a:latin typeface="Calibri"/>
                <a:cs typeface="Calibri"/>
              </a:rPr>
              <a:t>(b),</a:t>
            </a:r>
            <a:r>
              <a:rPr sz="2800" spc="15" dirty="0">
                <a:latin typeface="Calibri"/>
                <a:cs typeface="Calibri"/>
              </a:rPr>
              <a:t> </a:t>
            </a:r>
            <a:r>
              <a:rPr sz="2800" spc="-5" dirty="0">
                <a:latin typeface="Calibri"/>
                <a:cs typeface="Calibri"/>
              </a:rPr>
              <a:t>the </a:t>
            </a:r>
            <a:r>
              <a:rPr sz="2800" spc="-10" dirty="0">
                <a:latin typeface="Calibri"/>
                <a:cs typeface="Calibri"/>
              </a:rPr>
              <a:t>slope</a:t>
            </a:r>
            <a:r>
              <a:rPr sz="2800" spc="15" dirty="0">
                <a:latin typeface="Calibri"/>
                <a:cs typeface="Calibri"/>
              </a:rPr>
              <a:t> </a:t>
            </a:r>
            <a:r>
              <a:rPr sz="2800" spc="-5" dirty="0">
                <a:latin typeface="Calibri"/>
                <a:cs typeface="Calibri"/>
              </a:rPr>
              <a:t>of</a:t>
            </a:r>
            <a:r>
              <a:rPr sz="2800" dirty="0">
                <a:latin typeface="Calibri"/>
                <a:cs typeface="Calibri"/>
              </a:rPr>
              <a:t> </a:t>
            </a:r>
            <a:r>
              <a:rPr sz="2800" spc="-5" dirty="0">
                <a:latin typeface="Calibri"/>
                <a:cs typeface="Calibri"/>
              </a:rPr>
              <a:t>line</a:t>
            </a:r>
            <a:r>
              <a:rPr sz="2800" spc="15" dirty="0">
                <a:latin typeface="Calibri"/>
                <a:cs typeface="Calibri"/>
              </a:rPr>
              <a:t> </a:t>
            </a:r>
            <a:r>
              <a:rPr sz="2800" spc="-25" dirty="0">
                <a:latin typeface="Calibri"/>
                <a:cs typeface="Calibri"/>
              </a:rPr>
              <a:t>OA</a:t>
            </a:r>
            <a:r>
              <a:rPr sz="2800" spc="15" dirty="0">
                <a:latin typeface="Calibri"/>
                <a:cs typeface="Calibri"/>
              </a:rPr>
              <a:t> </a:t>
            </a:r>
            <a:r>
              <a:rPr sz="2800" spc="-5" dirty="0">
                <a:latin typeface="Calibri"/>
                <a:cs typeface="Calibri"/>
              </a:rPr>
              <a:t>is</a:t>
            </a:r>
            <a:r>
              <a:rPr sz="2800" dirty="0">
                <a:latin typeface="Calibri"/>
                <a:cs typeface="Calibri"/>
              </a:rPr>
              <a:t> </a:t>
            </a:r>
            <a:r>
              <a:rPr sz="2800" spc="-10" dirty="0">
                <a:latin typeface="Calibri"/>
                <a:cs typeface="Calibri"/>
              </a:rPr>
              <a:t>given</a:t>
            </a:r>
            <a:r>
              <a:rPr sz="2800" spc="5" dirty="0">
                <a:latin typeface="Calibri"/>
                <a:cs typeface="Calibri"/>
              </a:rPr>
              <a:t> </a:t>
            </a:r>
            <a:r>
              <a:rPr sz="2800" spc="-15" dirty="0">
                <a:latin typeface="Calibri"/>
                <a:cs typeface="Calibri"/>
              </a:rPr>
              <a:t>by</a:t>
            </a:r>
            <a:endParaRPr sz="2800">
              <a:latin typeface="Calibri"/>
              <a:cs typeface="Calibri"/>
            </a:endParaRPr>
          </a:p>
        </p:txBody>
      </p:sp>
      <p:pic>
        <p:nvPicPr>
          <p:cNvPr id="3" name="object 3"/>
          <p:cNvPicPr/>
          <p:nvPr/>
        </p:nvPicPr>
        <p:blipFill>
          <a:blip r:embed="rId2" cstate="print"/>
          <a:stretch>
            <a:fillRect/>
          </a:stretch>
        </p:blipFill>
        <p:spPr>
          <a:xfrm>
            <a:off x="783642" y="1197301"/>
            <a:ext cx="5049798" cy="5293414"/>
          </a:xfrm>
          <a:prstGeom prst="rect">
            <a:avLst/>
          </a:prstGeom>
        </p:spPr>
      </p:pic>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29</a:t>
            </a:fld>
            <a:endParaRPr 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09676"/>
            <a:ext cx="5427345" cy="697230"/>
          </a:xfrm>
          <a:prstGeom prst="rect">
            <a:avLst/>
          </a:prstGeom>
        </p:spPr>
        <p:txBody>
          <a:bodyPr vert="horz" wrap="square" lIns="0" tIns="13335" rIns="0" bIns="0" rtlCol="0">
            <a:spAutoFit/>
          </a:bodyPr>
          <a:lstStyle/>
          <a:p>
            <a:pPr marL="12700">
              <a:lnSpc>
                <a:spcPct val="100000"/>
              </a:lnSpc>
              <a:spcBef>
                <a:spcPts val="105"/>
              </a:spcBef>
            </a:pPr>
            <a:r>
              <a:rPr dirty="0"/>
              <a:t>Flash</a:t>
            </a:r>
            <a:r>
              <a:rPr spc="-20" dirty="0"/>
              <a:t> </a:t>
            </a:r>
            <a:r>
              <a:rPr dirty="0"/>
              <a:t>ADC</a:t>
            </a:r>
            <a:r>
              <a:rPr spc="-25" dirty="0"/>
              <a:t> </a:t>
            </a:r>
            <a:r>
              <a:rPr spc="-20" dirty="0"/>
              <a:t>(Parallel</a:t>
            </a:r>
            <a:r>
              <a:rPr spc="-15" dirty="0"/>
              <a:t> </a:t>
            </a:r>
            <a:r>
              <a:rPr spc="-5" dirty="0"/>
              <a:t>ADC)</a:t>
            </a:r>
          </a:p>
        </p:txBody>
      </p:sp>
      <p:sp>
        <p:nvSpPr>
          <p:cNvPr id="4" name="object 4"/>
          <p:cNvSpPr txBox="1"/>
          <p:nvPr/>
        </p:nvSpPr>
        <p:spPr>
          <a:xfrm>
            <a:off x="11094211" y="6426809"/>
            <a:ext cx="18097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888888"/>
                </a:solidFill>
                <a:latin typeface="Calibri"/>
                <a:cs typeface="Calibri"/>
              </a:rPr>
              <a:t>27</a:t>
            </a:r>
            <a:endParaRPr sz="1200">
              <a:latin typeface="Calibri"/>
              <a:cs typeface="Calibri"/>
            </a:endParaRPr>
          </a:p>
        </p:txBody>
      </p:sp>
      <p:pic>
        <p:nvPicPr>
          <p:cNvPr id="5" name="object 5"/>
          <p:cNvPicPr/>
          <p:nvPr/>
        </p:nvPicPr>
        <p:blipFill>
          <a:blip r:embed="rId2" cstate="print"/>
          <a:stretch>
            <a:fillRect/>
          </a:stretch>
        </p:blipFill>
        <p:spPr>
          <a:xfrm>
            <a:off x="1524001" y="2133600"/>
            <a:ext cx="10494262" cy="4223002"/>
          </a:xfrm>
          <a:prstGeom prst="rect">
            <a:avLst/>
          </a:prstGeom>
        </p:spPr>
      </p:pic>
      <p:sp>
        <p:nvSpPr>
          <p:cNvPr id="6" name="Slide Number Placeholder 5"/>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30</a:t>
            </a:fld>
            <a:endParaRPr 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904610" y="1634998"/>
            <a:ext cx="582295" cy="330835"/>
          </a:xfrm>
          <a:prstGeom prst="rect">
            <a:avLst/>
          </a:prstGeom>
        </p:spPr>
        <p:txBody>
          <a:bodyPr vert="horz" wrap="square" lIns="0" tIns="0" rIns="0" bIns="0" rtlCol="0">
            <a:spAutoFit/>
          </a:bodyPr>
          <a:lstStyle/>
          <a:p>
            <a:pPr>
              <a:lnSpc>
                <a:spcPts val="2475"/>
              </a:lnSpc>
            </a:pPr>
            <a:r>
              <a:rPr sz="2600" dirty="0">
                <a:latin typeface="Calibri"/>
                <a:cs typeface="Calibri"/>
              </a:rPr>
              <a:t>2n</a:t>
            </a:r>
            <a:r>
              <a:rPr sz="2600" spc="-105" dirty="0">
                <a:latin typeface="Calibri"/>
                <a:cs typeface="Calibri"/>
              </a:rPr>
              <a:t> </a:t>
            </a:r>
            <a:r>
              <a:rPr sz="2600" dirty="0">
                <a:latin typeface="Calibri"/>
                <a:cs typeface="Calibri"/>
              </a:rPr>
              <a:t>1</a:t>
            </a:r>
            <a:endParaRPr sz="2600">
              <a:latin typeface="Calibri"/>
              <a:cs typeface="Calibri"/>
            </a:endParaRPr>
          </a:p>
        </p:txBody>
      </p:sp>
      <p:sp>
        <p:nvSpPr>
          <p:cNvPr id="3" name="object 3"/>
          <p:cNvSpPr txBox="1"/>
          <p:nvPr/>
        </p:nvSpPr>
        <p:spPr>
          <a:xfrm>
            <a:off x="614273" y="1222628"/>
            <a:ext cx="10985500" cy="5052060"/>
          </a:xfrm>
          <a:prstGeom prst="rect">
            <a:avLst/>
          </a:prstGeom>
        </p:spPr>
        <p:txBody>
          <a:bodyPr vert="horz" wrap="square" lIns="0" tIns="89535" rIns="0" bIns="0" rtlCol="0">
            <a:spAutoFit/>
          </a:bodyPr>
          <a:lstStyle/>
          <a:p>
            <a:pPr marL="241300" marR="5080" indent="-229235">
              <a:lnSpc>
                <a:spcPts val="2500"/>
              </a:lnSpc>
              <a:spcBef>
                <a:spcPts val="705"/>
              </a:spcBef>
              <a:buFont typeface="Arial MT"/>
              <a:buChar char="•"/>
              <a:tabLst>
                <a:tab pos="241935" algn="l"/>
                <a:tab pos="4020185" algn="l"/>
              </a:tabLst>
            </a:pPr>
            <a:r>
              <a:rPr sz="2600" spc="-5" dirty="0">
                <a:latin typeface="Calibri"/>
                <a:cs typeface="Calibri"/>
              </a:rPr>
              <a:t>The</a:t>
            </a:r>
            <a:r>
              <a:rPr sz="2600" spc="-25" dirty="0">
                <a:latin typeface="Calibri"/>
                <a:cs typeface="Calibri"/>
              </a:rPr>
              <a:t> </a:t>
            </a:r>
            <a:r>
              <a:rPr sz="2600" spc="-5" dirty="0">
                <a:latin typeface="Calibri"/>
                <a:cs typeface="Calibri"/>
              </a:rPr>
              <a:t>flash</a:t>
            </a:r>
            <a:r>
              <a:rPr sz="2600" spc="-15" dirty="0">
                <a:latin typeface="Calibri"/>
                <a:cs typeface="Calibri"/>
              </a:rPr>
              <a:t> </a:t>
            </a:r>
            <a:r>
              <a:rPr sz="2600" spc="-5" dirty="0">
                <a:latin typeface="Calibri"/>
                <a:cs typeface="Calibri"/>
              </a:rPr>
              <a:t>analog-to-digital</a:t>
            </a:r>
            <a:r>
              <a:rPr sz="2600" spc="25" dirty="0">
                <a:latin typeface="Calibri"/>
                <a:cs typeface="Calibri"/>
              </a:rPr>
              <a:t> </a:t>
            </a:r>
            <a:r>
              <a:rPr sz="2600" spc="-15" dirty="0">
                <a:latin typeface="Calibri"/>
                <a:cs typeface="Calibri"/>
              </a:rPr>
              <a:t>converter</a:t>
            </a:r>
            <a:r>
              <a:rPr sz="2600" spc="-20" dirty="0">
                <a:latin typeface="Calibri"/>
                <a:cs typeface="Calibri"/>
              </a:rPr>
              <a:t> </a:t>
            </a:r>
            <a:r>
              <a:rPr sz="2600" dirty="0">
                <a:latin typeface="Calibri"/>
                <a:cs typeface="Calibri"/>
              </a:rPr>
              <a:t>is</a:t>
            </a:r>
            <a:r>
              <a:rPr sz="2600" spc="5" dirty="0">
                <a:latin typeface="Calibri"/>
                <a:cs typeface="Calibri"/>
              </a:rPr>
              <a:t> </a:t>
            </a:r>
            <a:r>
              <a:rPr sz="2600" dirty="0">
                <a:latin typeface="Calibri"/>
                <a:cs typeface="Calibri"/>
              </a:rPr>
              <a:t>a </a:t>
            </a:r>
            <a:r>
              <a:rPr sz="2600" spc="-5" dirty="0">
                <a:latin typeface="Calibri"/>
                <a:cs typeface="Calibri"/>
              </a:rPr>
              <a:t>very</a:t>
            </a:r>
            <a:r>
              <a:rPr sz="2600" spc="-10" dirty="0">
                <a:latin typeface="Calibri"/>
                <a:cs typeface="Calibri"/>
              </a:rPr>
              <a:t> </a:t>
            </a:r>
            <a:r>
              <a:rPr sz="2600" spc="-15" dirty="0">
                <a:latin typeface="Calibri"/>
                <a:cs typeface="Calibri"/>
              </a:rPr>
              <a:t>fast,</a:t>
            </a:r>
            <a:r>
              <a:rPr sz="2600" spc="-25" dirty="0">
                <a:latin typeface="Calibri"/>
                <a:cs typeface="Calibri"/>
              </a:rPr>
              <a:t> </a:t>
            </a:r>
            <a:r>
              <a:rPr sz="2600" spc="-5" dirty="0">
                <a:latin typeface="Calibri"/>
                <a:cs typeface="Calibri"/>
              </a:rPr>
              <a:t>but </a:t>
            </a:r>
            <a:r>
              <a:rPr sz="2600" spc="-15" dirty="0">
                <a:latin typeface="Calibri"/>
                <a:cs typeface="Calibri"/>
              </a:rPr>
              <a:t>more</a:t>
            </a:r>
            <a:r>
              <a:rPr sz="2600" spc="5" dirty="0">
                <a:latin typeface="Calibri"/>
                <a:cs typeface="Calibri"/>
              </a:rPr>
              <a:t> </a:t>
            </a:r>
            <a:r>
              <a:rPr sz="2600" spc="-10" dirty="0">
                <a:latin typeface="Calibri"/>
                <a:cs typeface="Calibri"/>
              </a:rPr>
              <a:t>costly</a:t>
            </a:r>
            <a:r>
              <a:rPr sz="2600" dirty="0">
                <a:latin typeface="Calibri"/>
                <a:cs typeface="Calibri"/>
              </a:rPr>
              <a:t> </a:t>
            </a:r>
            <a:r>
              <a:rPr sz="2600" spc="-20" dirty="0">
                <a:latin typeface="Calibri"/>
                <a:cs typeface="Calibri"/>
              </a:rPr>
              <a:t>form</a:t>
            </a:r>
            <a:r>
              <a:rPr sz="2600" dirty="0">
                <a:latin typeface="Calibri"/>
                <a:cs typeface="Calibri"/>
              </a:rPr>
              <a:t> </a:t>
            </a:r>
            <a:r>
              <a:rPr sz="2600" spc="-10" dirty="0">
                <a:latin typeface="Calibri"/>
                <a:cs typeface="Calibri"/>
              </a:rPr>
              <a:t>of</a:t>
            </a:r>
            <a:r>
              <a:rPr sz="2600" spc="-5" dirty="0">
                <a:latin typeface="Calibri"/>
                <a:cs typeface="Calibri"/>
              </a:rPr>
              <a:t> </a:t>
            </a:r>
            <a:r>
              <a:rPr sz="2600" dirty="0">
                <a:latin typeface="Calibri"/>
                <a:cs typeface="Calibri"/>
              </a:rPr>
              <a:t>ADC. </a:t>
            </a:r>
            <a:r>
              <a:rPr sz="2600" spc="5" dirty="0">
                <a:latin typeface="Calibri"/>
                <a:cs typeface="Calibri"/>
              </a:rPr>
              <a:t> </a:t>
            </a:r>
            <a:r>
              <a:rPr sz="2600" spc="-15" dirty="0">
                <a:latin typeface="Calibri"/>
                <a:cs typeface="Calibri"/>
              </a:rPr>
              <a:t>For</a:t>
            </a:r>
            <a:r>
              <a:rPr sz="2600" spc="10" dirty="0">
                <a:latin typeface="Calibri"/>
                <a:cs typeface="Calibri"/>
              </a:rPr>
              <a:t> </a:t>
            </a:r>
            <a:r>
              <a:rPr sz="2600" dirty="0">
                <a:latin typeface="Calibri"/>
                <a:cs typeface="Calibri"/>
              </a:rPr>
              <a:t>an</a:t>
            </a:r>
            <a:r>
              <a:rPr sz="2600" spc="-5" dirty="0">
                <a:latin typeface="Calibri"/>
                <a:cs typeface="Calibri"/>
              </a:rPr>
              <a:t> n-bit</a:t>
            </a:r>
            <a:r>
              <a:rPr sz="2600" dirty="0">
                <a:latin typeface="Calibri"/>
                <a:cs typeface="Calibri"/>
              </a:rPr>
              <a:t> </a:t>
            </a:r>
            <a:r>
              <a:rPr sz="2600" spc="-35" dirty="0">
                <a:latin typeface="Calibri"/>
                <a:cs typeface="Calibri"/>
              </a:rPr>
              <a:t>converter,	</a:t>
            </a:r>
            <a:r>
              <a:rPr sz="2600" spc="-15" dirty="0">
                <a:latin typeface="Calibri"/>
                <a:cs typeface="Calibri"/>
              </a:rPr>
              <a:t>separate voltage </a:t>
            </a:r>
            <a:r>
              <a:rPr sz="2600" spc="-20" dirty="0">
                <a:latin typeface="Calibri"/>
                <a:cs typeface="Calibri"/>
              </a:rPr>
              <a:t>comparators </a:t>
            </a:r>
            <a:r>
              <a:rPr sz="2600" spc="-10" dirty="0">
                <a:latin typeface="Calibri"/>
                <a:cs typeface="Calibri"/>
              </a:rPr>
              <a:t>are </a:t>
            </a:r>
            <a:r>
              <a:rPr sz="2600" spc="-5" dirty="0">
                <a:latin typeface="Calibri"/>
                <a:cs typeface="Calibri"/>
              </a:rPr>
              <a:t>used </a:t>
            </a:r>
            <a:r>
              <a:rPr sz="2600" dirty="0">
                <a:latin typeface="Calibri"/>
                <a:cs typeface="Calibri"/>
              </a:rPr>
              <a:t>in </a:t>
            </a:r>
            <a:r>
              <a:rPr sz="2600" spc="-10" dirty="0">
                <a:latin typeface="Calibri"/>
                <a:cs typeface="Calibri"/>
              </a:rPr>
              <a:t>parallel </a:t>
            </a:r>
            <a:r>
              <a:rPr sz="2600" dirty="0">
                <a:latin typeface="Calibri"/>
                <a:cs typeface="Calibri"/>
              </a:rPr>
              <a:t>as </a:t>
            </a:r>
            <a:r>
              <a:rPr sz="2600" spc="-570" dirty="0">
                <a:latin typeface="Calibri"/>
                <a:cs typeface="Calibri"/>
              </a:rPr>
              <a:t> </a:t>
            </a:r>
            <a:r>
              <a:rPr sz="2600" spc="-5" dirty="0">
                <a:latin typeface="Calibri"/>
                <a:cs typeface="Calibri"/>
              </a:rPr>
              <a:t>shown</a:t>
            </a:r>
            <a:r>
              <a:rPr sz="2600" spc="-25" dirty="0">
                <a:latin typeface="Calibri"/>
                <a:cs typeface="Calibri"/>
              </a:rPr>
              <a:t> </a:t>
            </a:r>
            <a:r>
              <a:rPr sz="2600" dirty="0">
                <a:latin typeface="Calibri"/>
                <a:cs typeface="Calibri"/>
              </a:rPr>
              <a:t>in </a:t>
            </a:r>
            <a:r>
              <a:rPr sz="2600" spc="-10" dirty="0">
                <a:latin typeface="Calibri"/>
                <a:cs typeface="Calibri"/>
              </a:rPr>
              <a:t>Figure</a:t>
            </a:r>
            <a:r>
              <a:rPr sz="2600" spc="-15" dirty="0">
                <a:latin typeface="Calibri"/>
                <a:cs typeface="Calibri"/>
              </a:rPr>
              <a:t> </a:t>
            </a:r>
            <a:r>
              <a:rPr sz="2600" dirty="0">
                <a:latin typeface="Calibri"/>
                <a:cs typeface="Calibri"/>
              </a:rPr>
              <a:t>5.10.</a:t>
            </a:r>
            <a:endParaRPr sz="2600">
              <a:latin typeface="Calibri"/>
              <a:cs typeface="Calibri"/>
            </a:endParaRPr>
          </a:p>
          <a:p>
            <a:pPr marL="241300" indent="-229235">
              <a:lnSpc>
                <a:spcPct val="100000"/>
              </a:lnSpc>
              <a:spcBef>
                <a:spcPts val="385"/>
              </a:spcBef>
              <a:buFont typeface="Arial MT"/>
              <a:buChar char="•"/>
              <a:tabLst>
                <a:tab pos="241935" algn="l"/>
              </a:tabLst>
            </a:pPr>
            <a:r>
              <a:rPr sz="2600" spc="-15" dirty="0">
                <a:latin typeface="Calibri"/>
                <a:cs typeface="Calibri"/>
              </a:rPr>
              <a:t>Each</a:t>
            </a:r>
            <a:r>
              <a:rPr sz="2600" dirty="0">
                <a:latin typeface="Calibri"/>
                <a:cs typeface="Calibri"/>
              </a:rPr>
              <a:t> </a:t>
            </a:r>
            <a:r>
              <a:rPr sz="2600" spc="-15" dirty="0">
                <a:latin typeface="Calibri"/>
                <a:cs typeface="Calibri"/>
              </a:rPr>
              <a:t>comparator</a:t>
            </a:r>
            <a:r>
              <a:rPr sz="2600" dirty="0">
                <a:latin typeface="Calibri"/>
                <a:cs typeface="Calibri"/>
              </a:rPr>
              <a:t> </a:t>
            </a:r>
            <a:r>
              <a:rPr sz="2600" spc="-5" dirty="0">
                <a:latin typeface="Calibri"/>
                <a:cs typeface="Calibri"/>
              </a:rPr>
              <a:t>has</a:t>
            </a:r>
            <a:r>
              <a:rPr sz="2600" spc="-10" dirty="0">
                <a:latin typeface="Calibri"/>
                <a:cs typeface="Calibri"/>
              </a:rPr>
              <a:t> </a:t>
            </a:r>
            <a:r>
              <a:rPr sz="2600" spc="-5" dirty="0">
                <a:latin typeface="Calibri"/>
                <a:cs typeface="Calibri"/>
              </a:rPr>
              <a:t>sampled</a:t>
            </a:r>
            <a:r>
              <a:rPr sz="2600" spc="-25" dirty="0">
                <a:latin typeface="Calibri"/>
                <a:cs typeface="Calibri"/>
              </a:rPr>
              <a:t> </a:t>
            </a:r>
            <a:r>
              <a:rPr sz="2600" dirty="0">
                <a:latin typeface="Calibri"/>
                <a:cs typeface="Calibri"/>
              </a:rPr>
              <a:t>analog</a:t>
            </a:r>
            <a:r>
              <a:rPr sz="2600" spc="10" dirty="0">
                <a:latin typeface="Calibri"/>
                <a:cs typeface="Calibri"/>
              </a:rPr>
              <a:t> </a:t>
            </a:r>
            <a:r>
              <a:rPr sz="2600" spc="-15" dirty="0">
                <a:latin typeface="Calibri"/>
                <a:cs typeface="Calibri"/>
              </a:rPr>
              <a:t>voltage</a:t>
            </a:r>
            <a:r>
              <a:rPr sz="2600" spc="5" dirty="0">
                <a:latin typeface="Calibri"/>
                <a:cs typeface="Calibri"/>
              </a:rPr>
              <a:t> </a:t>
            </a:r>
            <a:r>
              <a:rPr sz="2600" spc="-35" dirty="0">
                <a:latin typeface="Calibri"/>
                <a:cs typeface="Calibri"/>
              </a:rPr>
              <a:t>(VA)</a:t>
            </a:r>
            <a:r>
              <a:rPr sz="2600" spc="-20" dirty="0">
                <a:latin typeface="Calibri"/>
                <a:cs typeface="Calibri"/>
              </a:rPr>
              <a:t> </a:t>
            </a:r>
            <a:r>
              <a:rPr sz="2600" dirty="0">
                <a:latin typeface="Calibri"/>
                <a:cs typeface="Calibri"/>
              </a:rPr>
              <a:t>as</a:t>
            </a:r>
            <a:r>
              <a:rPr sz="2600" spc="5" dirty="0">
                <a:latin typeface="Calibri"/>
                <a:cs typeface="Calibri"/>
              </a:rPr>
              <a:t> </a:t>
            </a:r>
            <a:r>
              <a:rPr sz="2600" spc="-5" dirty="0">
                <a:latin typeface="Calibri"/>
                <a:cs typeface="Calibri"/>
              </a:rPr>
              <a:t>one</a:t>
            </a:r>
            <a:r>
              <a:rPr sz="2600" spc="-15" dirty="0">
                <a:latin typeface="Calibri"/>
                <a:cs typeface="Calibri"/>
              </a:rPr>
              <a:t> </a:t>
            </a:r>
            <a:r>
              <a:rPr sz="2600" spc="-5" dirty="0">
                <a:latin typeface="Calibri"/>
                <a:cs typeface="Calibri"/>
              </a:rPr>
              <a:t>of</a:t>
            </a:r>
            <a:r>
              <a:rPr sz="2600" dirty="0">
                <a:latin typeface="Calibri"/>
                <a:cs typeface="Calibri"/>
              </a:rPr>
              <a:t> its</a:t>
            </a:r>
            <a:r>
              <a:rPr sz="2600" spc="-10" dirty="0">
                <a:latin typeface="Calibri"/>
                <a:cs typeface="Calibri"/>
              </a:rPr>
              <a:t> </a:t>
            </a:r>
            <a:r>
              <a:rPr sz="2600" dirty="0">
                <a:latin typeface="Calibri"/>
                <a:cs typeface="Calibri"/>
              </a:rPr>
              <a:t>inputs.</a:t>
            </a:r>
            <a:endParaRPr sz="2600">
              <a:latin typeface="Calibri"/>
              <a:cs typeface="Calibri"/>
            </a:endParaRPr>
          </a:p>
          <a:p>
            <a:pPr marL="241300" marR="284480" indent="-229235">
              <a:lnSpc>
                <a:spcPct val="80000"/>
              </a:lnSpc>
              <a:spcBef>
                <a:spcPts val="1010"/>
              </a:spcBef>
              <a:buFont typeface="Arial MT"/>
              <a:buChar char="•"/>
              <a:tabLst>
                <a:tab pos="241935" algn="l"/>
              </a:tabLst>
            </a:pPr>
            <a:r>
              <a:rPr sz="2600" dirty="0">
                <a:latin typeface="Calibri"/>
                <a:cs typeface="Calibri"/>
              </a:rPr>
              <a:t>A </a:t>
            </a:r>
            <a:r>
              <a:rPr sz="2600" spc="-20" dirty="0">
                <a:latin typeface="Calibri"/>
                <a:cs typeface="Calibri"/>
              </a:rPr>
              <a:t>reference </a:t>
            </a:r>
            <a:r>
              <a:rPr sz="2600" spc="-15" dirty="0">
                <a:latin typeface="Calibri"/>
                <a:cs typeface="Calibri"/>
              </a:rPr>
              <a:t>voltage </a:t>
            </a:r>
            <a:r>
              <a:rPr sz="2600" dirty="0">
                <a:latin typeface="Calibri"/>
                <a:cs typeface="Calibri"/>
              </a:rPr>
              <a:t>is applied </a:t>
            </a:r>
            <a:r>
              <a:rPr sz="2600" spc="-15" dirty="0">
                <a:latin typeface="Calibri"/>
                <a:cs typeface="Calibri"/>
              </a:rPr>
              <a:t>to </a:t>
            </a:r>
            <a:r>
              <a:rPr sz="2600" dirty="0">
                <a:latin typeface="Calibri"/>
                <a:cs typeface="Calibri"/>
              </a:rPr>
              <a:t>a ladder </a:t>
            </a:r>
            <a:r>
              <a:rPr sz="2600" spc="-5" dirty="0">
                <a:latin typeface="Calibri"/>
                <a:cs typeface="Calibri"/>
              </a:rPr>
              <a:t>of </a:t>
            </a:r>
            <a:r>
              <a:rPr sz="2600" spc="-15" dirty="0">
                <a:latin typeface="Calibri"/>
                <a:cs typeface="Calibri"/>
              </a:rPr>
              <a:t>resistors </a:t>
            </a:r>
            <a:r>
              <a:rPr sz="2600" spc="-5" dirty="0">
                <a:latin typeface="Calibri"/>
                <a:cs typeface="Calibri"/>
              </a:rPr>
              <a:t>so that </a:t>
            </a:r>
            <a:r>
              <a:rPr sz="2600" dirty="0">
                <a:latin typeface="Calibri"/>
                <a:cs typeface="Calibri"/>
              </a:rPr>
              <a:t>the </a:t>
            </a:r>
            <a:r>
              <a:rPr sz="2600" spc="-20" dirty="0">
                <a:latin typeface="Calibri"/>
                <a:cs typeface="Calibri"/>
              </a:rPr>
              <a:t>reference </a:t>
            </a:r>
            <a:r>
              <a:rPr sz="2600" spc="-15" dirty="0">
                <a:latin typeface="Calibri"/>
                <a:cs typeface="Calibri"/>
              </a:rPr>
              <a:t> voltage </a:t>
            </a:r>
            <a:r>
              <a:rPr sz="2600" dirty="0">
                <a:latin typeface="Calibri"/>
                <a:cs typeface="Calibri"/>
              </a:rPr>
              <a:t>applied </a:t>
            </a:r>
            <a:r>
              <a:rPr sz="2600" spc="-15" dirty="0">
                <a:latin typeface="Calibri"/>
                <a:cs typeface="Calibri"/>
              </a:rPr>
              <a:t>to </a:t>
            </a:r>
            <a:r>
              <a:rPr sz="2600" dirty="0">
                <a:latin typeface="Calibri"/>
                <a:cs typeface="Calibri"/>
              </a:rPr>
              <a:t>each </a:t>
            </a:r>
            <a:r>
              <a:rPr sz="2600" spc="-15" dirty="0">
                <a:latin typeface="Calibri"/>
                <a:cs typeface="Calibri"/>
              </a:rPr>
              <a:t>comparator </a:t>
            </a:r>
            <a:r>
              <a:rPr sz="2600" dirty="0">
                <a:latin typeface="Calibri"/>
                <a:cs typeface="Calibri"/>
              </a:rPr>
              <a:t>is </a:t>
            </a:r>
            <a:r>
              <a:rPr sz="2600" spc="-5" dirty="0">
                <a:latin typeface="Calibri"/>
                <a:cs typeface="Calibri"/>
              </a:rPr>
              <a:t>one bit higher </a:t>
            </a:r>
            <a:r>
              <a:rPr sz="2600" dirty="0">
                <a:latin typeface="Calibri"/>
                <a:cs typeface="Calibri"/>
              </a:rPr>
              <a:t>in </a:t>
            </a:r>
            <a:r>
              <a:rPr sz="2600" spc="-15" dirty="0">
                <a:latin typeface="Calibri"/>
                <a:cs typeface="Calibri"/>
              </a:rPr>
              <a:t>size </a:t>
            </a:r>
            <a:r>
              <a:rPr sz="2600" dirty="0">
                <a:latin typeface="Calibri"/>
                <a:cs typeface="Calibri"/>
              </a:rPr>
              <a:t>than the </a:t>
            </a:r>
            <a:r>
              <a:rPr sz="2600" spc="-20" dirty="0">
                <a:latin typeface="Calibri"/>
                <a:cs typeface="Calibri"/>
              </a:rPr>
              <a:t>reference </a:t>
            </a:r>
            <a:r>
              <a:rPr sz="2600" spc="-575" dirty="0">
                <a:latin typeface="Calibri"/>
                <a:cs typeface="Calibri"/>
              </a:rPr>
              <a:t> </a:t>
            </a:r>
            <a:r>
              <a:rPr sz="2600" spc="-15" dirty="0">
                <a:latin typeface="Calibri"/>
                <a:cs typeface="Calibri"/>
              </a:rPr>
              <a:t>voltage</a:t>
            </a:r>
            <a:r>
              <a:rPr sz="2600" dirty="0">
                <a:latin typeface="Calibri"/>
                <a:cs typeface="Calibri"/>
              </a:rPr>
              <a:t> applied</a:t>
            </a:r>
            <a:r>
              <a:rPr sz="2600" spc="-20" dirty="0">
                <a:latin typeface="Calibri"/>
                <a:cs typeface="Calibri"/>
              </a:rPr>
              <a:t> </a:t>
            </a:r>
            <a:r>
              <a:rPr sz="2600" spc="-10" dirty="0">
                <a:latin typeface="Calibri"/>
                <a:cs typeface="Calibri"/>
              </a:rPr>
              <a:t>to</a:t>
            </a:r>
            <a:r>
              <a:rPr sz="2600" spc="-5" dirty="0">
                <a:latin typeface="Calibri"/>
                <a:cs typeface="Calibri"/>
              </a:rPr>
              <a:t> </a:t>
            </a:r>
            <a:r>
              <a:rPr sz="2600" dirty="0">
                <a:latin typeface="Calibri"/>
                <a:cs typeface="Calibri"/>
              </a:rPr>
              <a:t>the</a:t>
            </a:r>
            <a:r>
              <a:rPr sz="2600" spc="-20" dirty="0">
                <a:latin typeface="Calibri"/>
                <a:cs typeface="Calibri"/>
              </a:rPr>
              <a:t> </a:t>
            </a:r>
            <a:r>
              <a:rPr sz="2600" spc="-10" dirty="0">
                <a:latin typeface="Calibri"/>
                <a:cs typeface="Calibri"/>
              </a:rPr>
              <a:t>lower</a:t>
            </a:r>
            <a:r>
              <a:rPr sz="2600" dirty="0">
                <a:latin typeface="Calibri"/>
                <a:cs typeface="Calibri"/>
              </a:rPr>
              <a:t> </a:t>
            </a:r>
            <a:r>
              <a:rPr sz="2600" spc="-5" dirty="0">
                <a:latin typeface="Calibri"/>
                <a:cs typeface="Calibri"/>
              </a:rPr>
              <a:t>previous</a:t>
            </a:r>
            <a:r>
              <a:rPr sz="2600" spc="-30" dirty="0">
                <a:latin typeface="Calibri"/>
                <a:cs typeface="Calibri"/>
              </a:rPr>
              <a:t> </a:t>
            </a:r>
            <a:r>
              <a:rPr sz="2600" spc="-40" dirty="0">
                <a:latin typeface="Calibri"/>
                <a:cs typeface="Calibri"/>
              </a:rPr>
              <a:t>comparator.</a:t>
            </a:r>
            <a:endParaRPr sz="2600">
              <a:latin typeface="Calibri"/>
              <a:cs typeface="Calibri"/>
            </a:endParaRPr>
          </a:p>
          <a:p>
            <a:pPr marL="241300" marR="43815" indent="-229235">
              <a:lnSpc>
                <a:spcPct val="80000"/>
              </a:lnSpc>
              <a:spcBef>
                <a:spcPts val="994"/>
              </a:spcBef>
              <a:buFont typeface="Arial MT"/>
              <a:buChar char="•"/>
              <a:tabLst>
                <a:tab pos="241935" algn="l"/>
              </a:tabLst>
            </a:pPr>
            <a:r>
              <a:rPr sz="2600" dirty="0">
                <a:latin typeface="Calibri"/>
                <a:cs typeface="Calibri"/>
              </a:rPr>
              <a:t>When the </a:t>
            </a:r>
            <a:r>
              <a:rPr sz="2600" spc="-5" dirty="0">
                <a:latin typeface="Calibri"/>
                <a:cs typeface="Calibri"/>
              </a:rPr>
              <a:t>sampled </a:t>
            </a:r>
            <a:r>
              <a:rPr sz="2600" dirty="0">
                <a:latin typeface="Calibri"/>
                <a:cs typeface="Calibri"/>
              </a:rPr>
              <a:t>analog input </a:t>
            </a:r>
            <a:r>
              <a:rPr sz="2600" spc="-15" dirty="0">
                <a:latin typeface="Calibri"/>
                <a:cs typeface="Calibri"/>
              </a:rPr>
              <a:t>voltage </a:t>
            </a:r>
            <a:r>
              <a:rPr sz="2600" dirty="0">
                <a:latin typeface="Calibri"/>
                <a:cs typeface="Calibri"/>
              </a:rPr>
              <a:t>is applied, all those </a:t>
            </a:r>
            <a:r>
              <a:rPr sz="2600" spc="-20" dirty="0">
                <a:latin typeface="Calibri"/>
                <a:cs typeface="Calibri"/>
              </a:rPr>
              <a:t>comparators </a:t>
            </a:r>
            <a:r>
              <a:rPr sz="2600" spc="-25" dirty="0">
                <a:latin typeface="Calibri"/>
                <a:cs typeface="Calibri"/>
              </a:rPr>
              <a:t>for </a:t>
            </a:r>
            <a:r>
              <a:rPr sz="2600" spc="-20" dirty="0">
                <a:latin typeface="Calibri"/>
                <a:cs typeface="Calibri"/>
              </a:rPr>
              <a:t> </a:t>
            </a:r>
            <a:r>
              <a:rPr sz="2600" dirty="0">
                <a:latin typeface="Calibri"/>
                <a:cs typeface="Calibri"/>
              </a:rPr>
              <a:t>which</a:t>
            </a:r>
            <a:r>
              <a:rPr sz="2600" spc="-5" dirty="0">
                <a:latin typeface="Calibri"/>
                <a:cs typeface="Calibri"/>
              </a:rPr>
              <a:t> </a:t>
            </a:r>
            <a:r>
              <a:rPr sz="2600" dirty="0">
                <a:latin typeface="Calibri"/>
                <a:cs typeface="Calibri"/>
              </a:rPr>
              <a:t>analog</a:t>
            </a:r>
            <a:r>
              <a:rPr sz="2600" spc="5" dirty="0">
                <a:latin typeface="Calibri"/>
                <a:cs typeface="Calibri"/>
              </a:rPr>
              <a:t> </a:t>
            </a:r>
            <a:r>
              <a:rPr sz="2600" spc="-15" dirty="0">
                <a:latin typeface="Calibri"/>
                <a:cs typeface="Calibri"/>
              </a:rPr>
              <a:t>voltage</a:t>
            </a:r>
            <a:r>
              <a:rPr sz="2600" spc="15" dirty="0">
                <a:latin typeface="Calibri"/>
                <a:cs typeface="Calibri"/>
              </a:rPr>
              <a:t> </a:t>
            </a:r>
            <a:r>
              <a:rPr sz="2600" dirty="0">
                <a:latin typeface="Calibri"/>
                <a:cs typeface="Calibri"/>
              </a:rPr>
              <a:t>is</a:t>
            </a:r>
            <a:r>
              <a:rPr sz="2600" spc="-5" dirty="0">
                <a:latin typeface="Calibri"/>
                <a:cs typeface="Calibri"/>
              </a:rPr>
              <a:t> </a:t>
            </a:r>
            <a:r>
              <a:rPr sz="2600" spc="-15" dirty="0">
                <a:latin typeface="Calibri"/>
                <a:cs typeface="Calibri"/>
              </a:rPr>
              <a:t>greater</a:t>
            </a:r>
            <a:r>
              <a:rPr sz="2600" dirty="0">
                <a:latin typeface="Calibri"/>
                <a:cs typeface="Calibri"/>
              </a:rPr>
              <a:t> than</a:t>
            </a:r>
            <a:r>
              <a:rPr sz="2600" spc="5" dirty="0">
                <a:latin typeface="Calibri"/>
                <a:cs typeface="Calibri"/>
              </a:rPr>
              <a:t> </a:t>
            </a:r>
            <a:r>
              <a:rPr sz="2600" spc="-20" dirty="0">
                <a:latin typeface="Calibri"/>
                <a:cs typeface="Calibri"/>
              </a:rPr>
              <a:t>reference</a:t>
            </a:r>
            <a:r>
              <a:rPr sz="2600" spc="-40" dirty="0">
                <a:latin typeface="Calibri"/>
                <a:cs typeface="Calibri"/>
              </a:rPr>
              <a:t> </a:t>
            </a:r>
            <a:r>
              <a:rPr sz="2600" spc="-15" dirty="0">
                <a:latin typeface="Calibri"/>
                <a:cs typeface="Calibri"/>
              </a:rPr>
              <a:t>voltage,</a:t>
            </a:r>
            <a:r>
              <a:rPr sz="2600" spc="5" dirty="0">
                <a:latin typeface="Calibri"/>
                <a:cs typeface="Calibri"/>
              </a:rPr>
              <a:t> </a:t>
            </a:r>
            <a:r>
              <a:rPr sz="2600" spc="-5" dirty="0">
                <a:latin typeface="Calibri"/>
                <a:cs typeface="Calibri"/>
              </a:rPr>
              <a:t>element</a:t>
            </a:r>
            <a:r>
              <a:rPr sz="2600" spc="-30" dirty="0">
                <a:latin typeface="Calibri"/>
                <a:cs typeface="Calibri"/>
              </a:rPr>
              <a:t> </a:t>
            </a:r>
            <a:r>
              <a:rPr sz="2600" dirty="0">
                <a:latin typeface="Calibri"/>
                <a:cs typeface="Calibri"/>
              </a:rPr>
              <a:t>will</a:t>
            </a:r>
            <a:r>
              <a:rPr sz="2600" spc="10" dirty="0">
                <a:latin typeface="Calibri"/>
                <a:cs typeface="Calibri"/>
              </a:rPr>
              <a:t> </a:t>
            </a:r>
            <a:r>
              <a:rPr sz="2600" spc="-10" dirty="0">
                <a:latin typeface="Calibri"/>
                <a:cs typeface="Calibri"/>
              </a:rPr>
              <a:t>go</a:t>
            </a:r>
            <a:r>
              <a:rPr sz="2600" dirty="0">
                <a:latin typeface="Calibri"/>
                <a:cs typeface="Calibri"/>
              </a:rPr>
              <a:t> </a:t>
            </a:r>
            <a:r>
              <a:rPr sz="2600" spc="-5" dirty="0">
                <a:latin typeface="Calibri"/>
                <a:cs typeface="Calibri"/>
              </a:rPr>
              <a:t>high</a:t>
            </a:r>
            <a:r>
              <a:rPr sz="2600" spc="-15" dirty="0">
                <a:latin typeface="Calibri"/>
                <a:cs typeface="Calibri"/>
              </a:rPr>
              <a:t> </a:t>
            </a:r>
            <a:r>
              <a:rPr sz="2600" dirty="0">
                <a:latin typeface="Calibri"/>
                <a:cs typeface="Calibri"/>
              </a:rPr>
              <a:t>and </a:t>
            </a:r>
            <a:r>
              <a:rPr sz="2600" spc="-570" dirty="0">
                <a:latin typeface="Calibri"/>
                <a:cs typeface="Calibri"/>
              </a:rPr>
              <a:t> </a:t>
            </a:r>
            <a:r>
              <a:rPr sz="2600" dirty="0">
                <a:latin typeface="Calibri"/>
                <a:cs typeface="Calibri"/>
              </a:rPr>
              <a:t>those</a:t>
            </a:r>
            <a:r>
              <a:rPr sz="2600" spc="-5" dirty="0">
                <a:latin typeface="Calibri"/>
                <a:cs typeface="Calibri"/>
              </a:rPr>
              <a:t> </a:t>
            </a:r>
            <a:r>
              <a:rPr sz="2600" spc="-25" dirty="0">
                <a:latin typeface="Calibri"/>
                <a:cs typeface="Calibri"/>
              </a:rPr>
              <a:t>for</a:t>
            </a:r>
            <a:r>
              <a:rPr sz="2600" spc="5" dirty="0">
                <a:latin typeface="Calibri"/>
                <a:cs typeface="Calibri"/>
              </a:rPr>
              <a:t> </a:t>
            </a:r>
            <a:r>
              <a:rPr sz="2600" dirty="0">
                <a:latin typeface="Calibri"/>
                <a:cs typeface="Calibri"/>
              </a:rPr>
              <a:t>which analog</a:t>
            </a:r>
            <a:r>
              <a:rPr sz="2600" spc="10" dirty="0">
                <a:latin typeface="Calibri"/>
                <a:cs typeface="Calibri"/>
              </a:rPr>
              <a:t> </a:t>
            </a:r>
            <a:r>
              <a:rPr sz="2600" spc="-15" dirty="0">
                <a:latin typeface="Calibri"/>
                <a:cs typeface="Calibri"/>
              </a:rPr>
              <a:t>voltage</a:t>
            </a:r>
            <a:r>
              <a:rPr sz="2600" spc="10" dirty="0">
                <a:latin typeface="Calibri"/>
                <a:cs typeface="Calibri"/>
              </a:rPr>
              <a:t> </a:t>
            </a:r>
            <a:r>
              <a:rPr sz="2600" dirty="0">
                <a:latin typeface="Calibri"/>
                <a:cs typeface="Calibri"/>
              </a:rPr>
              <a:t>is</a:t>
            </a:r>
            <a:r>
              <a:rPr sz="2600" spc="10" dirty="0">
                <a:latin typeface="Calibri"/>
                <a:cs typeface="Calibri"/>
              </a:rPr>
              <a:t> </a:t>
            </a:r>
            <a:r>
              <a:rPr sz="2600" dirty="0">
                <a:latin typeface="Calibri"/>
                <a:cs typeface="Calibri"/>
              </a:rPr>
              <a:t>less</a:t>
            </a:r>
            <a:r>
              <a:rPr sz="2600" spc="-10" dirty="0">
                <a:latin typeface="Calibri"/>
                <a:cs typeface="Calibri"/>
              </a:rPr>
              <a:t> </a:t>
            </a:r>
            <a:r>
              <a:rPr sz="2600" dirty="0">
                <a:latin typeface="Calibri"/>
                <a:cs typeface="Calibri"/>
              </a:rPr>
              <a:t>than</a:t>
            </a:r>
            <a:r>
              <a:rPr sz="2600" spc="10" dirty="0">
                <a:latin typeface="Calibri"/>
                <a:cs typeface="Calibri"/>
              </a:rPr>
              <a:t> </a:t>
            </a:r>
            <a:r>
              <a:rPr sz="2600" dirty="0">
                <a:latin typeface="Calibri"/>
                <a:cs typeface="Calibri"/>
              </a:rPr>
              <a:t>the</a:t>
            </a:r>
            <a:r>
              <a:rPr sz="2600" spc="-20" dirty="0">
                <a:latin typeface="Calibri"/>
                <a:cs typeface="Calibri"/>
              </a:rPr>
              <a:t> reference</a:t>
            </a:r>
            <a:r>
              <a:rPr sz="2600" spc="-40" dirty="0">
                <a:latin typeface="Calibri"/>
                <a:cs typeface="Calibri"/>
              </a:rPr>
              <a:t> </a:t>
            </a:r>
            <a:r>
              <a:rPr sz="2600" spc="-15" dirty="0">
                <a:latin typeface="Calibri"/>
                <a:cs typeface="Calibri"/>
              </a:rPr>
              <a:t>voltage,</a:t>
            </a:r>
            <a:r>
              <a:rPr sz="2600" spc="10" dirty="0">
                <a:latin typeface="Calibri"/>
                <a:cs typeface="Calibri"/>
              </a:rPr>
              <a:t> </a:t>
            </a:r>
            <a:r>
              <a:rPr sz="2600" spc="-5" dirty="0">
                <a:latin typeface="Calibri"/>
                <a:cs typeface="Calibri"/>
              </a:rPr>
              <a:t>element</a:t>
            </a:r>
            <a:r>
              <a:rPr sz="2600" spc="-25" dirty="0">
                <a:latin typeface="Calibri"/>
                <a:cs typeface="Calibri"/>
              </a:rPr>
              <a:t> </a:t>
            </a:r>
            <a:r>
              <a:rPr sz="2600" dirty="0">
                <a:latin typeface="Calibri"/>
                <a:cs typeface="Calibri"/>
              </a:rPr>
              <a:t>will </a:t>
            </a:r>
            <a:r>
              <a:rPr sz="2600" spc="5" dirty="0">
                <a:latin typeface="Calibri"/>
                <a:cs typeface="Calibri"/>
              </a:rPr>
              <a:t> </a:t>
            </a:r>
            <a:r>
              <a:rPr sz="2600" spc="-5" dirty="0">
                <a:latin typeface="Calibri"/>
                <a:cs typeface="Calibri"/>
              </a:rPr>
              <a:t>go</a:t>
            </a:r>
            <a:r>
              <a:rPr sz="2600" dirty="0">
                <a:latin typeface="Calibri"/>
                <a:cs typeface="Calibri"/>
              </a:rPr>
              <a:t> </a:t>
            </a:r>
            <a:r>
              <a:rPr sz="2600" spc="-50" dirty="0">
                <a:latin typeface="Calibri"/>
                <a:cs typeface="Calibri"/>
              </a:rPr>
              <a:t>low.</a:t>
            </a:r>
            <a:r>
              <a:rPr sz="2600" spc="10" dirty="0">
                <a:latin typeface="Calibri"/>
                <a:cs typeface="Calibri"/>
              </a:rPr>
              <a:t> </a:t>
            </a:r>
            <a:r>
              <a:rPr sz="2600" spc="-5" dirty="0">
                <a:latin typeface="Calibri"/>
                <a:cs typeface="Calibri"/>
              </a:rPr>
              <a:t>The</a:t>
            </a:r>
            <a:r>
              <a:rPr sz="2600" spc="-20" dirty="0">
                <a:latin typeface="Calibri"/>
                <a:cs typeface="Calibri"/>
              </a:rPr>
              <a:t> </a:t>
            </a:r>
            <a:r>
              <a:rPr sz="2600" spc="-5" dirty="0">
                <a:latin typeface="Calibri"/>
                <a:cs typeface="Calibri"/>
              </a:rPr>
              <a:t>resulting</a:t>
            </a:r>
            <a:r>
              <a:rPr sz="2600" spc="-20" dirty="0">
                <a:latin typeface="Calibri"/>
                <a:cs typeface="Calibri"/>
              </a:rPr>
              <a:t> </a:t>
            </a:r>
            <a:r>
              <a:rPr sz="2600" spc="-5" dirty="0">
                <a:latin typeface="Calibri"/>
                <a:cs typeface="Calibri"/>
              </a:rPr>
              <a:t>outputs</a:t>
            </a:r>
            <a:r>
              <a:rPr sz="2600" spc="-10" dirty="0">
                <a:latin typeface="Calibri"/>
                <a:cs typeface="Calibri"/>
              </a:rPr>
              <a:t> </a:t>
            </a:r>
            <a:r>
              <a:rPr sz="2600" dirty="0">
                <a:latin typeface="Calibri"/>
                <a:cs typeface="Calibri"/>
              </a:rPr>
              <a:t>of the</a:t>
            </a:r>
            <a:r>
              <a:rPr sz="2600" spc="-10" dirty="0">
                <a:latin typeface="Calibri"/>
                <a:cs typeface="Calibri"/>
              </a:rPr>
              <a:t> </a:t>
            </a:r>
            <a:r>
              <a:rPr sz="2600" spc="-20" dirty="0">
                <a:latin typeface="Calibri"/>
                <a:cs typeface="Calibri"/>
              </a:rPr>
              <a:t>comparators</a:t>
            </a:r>
            <a:r>
              <a:rPr sz="2600" spc="-10" dirty="0">
                <a:latin typeface="Calibri"/>
                <a:cs typeface="Calibri"/>
              </a:rPr>
              <a:t> are</a:t>
            </a:r>
            <a:r>
              <a:rPr sz="2600" spc="5" dirty="0">
                <a:latin typeface="Calibri"/>
                <a:cs typeface="Calibri"/>
              </a:rPr>
              <a:t> </a:t>
            </a:r>
            <a:r>
              <a:rPr sz="2600" dirty="0">
                <a:latin typeface="Calibri"/>
                <a:cs typeface="Calibri"/>
              </a:rPr>
              <a:t>applied</a:t>
            </a:r>
            <a:r>
              <a:rPr sz="2600" spc="-25" dirty="0">
                <a:latin typeface="Calibri"/>
                <a:cs typeface="Calibri"/>
              </a:rPr>
              <a:t> </a:t>
            </a:r>
            <a:r>
              <a:rPr sz="2600" dirty="0">
                <a:latin typeface="Calibri"/>
                <a:cs typeface="Calibri"/>
              </a:rPr>
              <a:t>in</a:t>
            </a:r>
            <a:r>
              <a:rPr sz="2600" spc="5" dirty="0">
                <a:latin typeface="Calibri"/>
                <a:cs typeface="Calibri"/>
              </a:rPr>
              <a:t> </a:t>
            </a:r>
            <a:r>
              <a:rPr sz="2600" spc="-10" dirty="0">
                <a:latin typeface="Calibri"/>
                <a:cs typeface="Calibri"/>
              </a:rPr>
              <a:t>parallel</a:t>
            </a:r>
            <a:r>
              <a:rPr sz="2600" spc="-15" dirty="0">
                <a:latin typeface="Calibri"/>
                <a:cs typeface="Calibri"/>
              </a:rPr>
              <a:t> </a:t>
            </a:r>
            <a:r>
              <a:rPr sz="2600" spc="-10" dirty="0">
                <a:latin typeface="Calibri"/>
                <a:cs typeface="Calibri"/>
              </a:rPr>
              <a:t>to</a:t>
            </a:r>
            <a:r>
              <a:rPr sz="2600" dirty="0">
                <a:latin typeface="Calibri"/>
                <a:cs typeface="Calibri"/>
              </a:rPr>
              <a:t> the </a:t>
            </a:r>
            <a:r>
              <a:rPr sz="2600" spc="5" dirty="0">
                <a:latin typeface="Calibri"/>
                <a:cs typeface="Calibri"/>
              </a:rPr>
              <a:t> </a:t>
            </a:r>
            <a:r>
              <a:rPr sz="2600" spc="-5" dirty="0">
                <a:latin typeface="Calibri"/>
                <a:cs typeface="Calibri"/>
              </a:rPr>
              <a:t>encoder</a:t>
            </a:r>
            <a:r>
              <a:rPr sz="2600" spc="-30" dirty="0">
                <a:latin typeface="Calibri"/>
                <a:cs typeface="Calibri"/>
              </a:rPr>
              <a:t> </a:t>
            </a:r>
            <a:r>
              <a:rPr sz="2600" dirty="0">
                <a:latin typeface="Calibri"/>
                <a:cs typeface="Calibri"/>
              </a:rPr>
              <a:t>which</a:t>
            </a:r>
            <a:r>
              <a:rPr sz="2600" spc="-10" dirty="0">
                <a:latin typeface="Calibri"/>
                <a:cs typeface="Calibri"/>
              </a:rPr>
              <a:t> translates</a:t>
            </a:r>
            <a:r>
              <a:rPr sz="2600" spc="-35" dirty="0">
                <a:latin typeface="Calibri"/>
                <a:cs typeface="Calibri"/>
              </a:rPr>
              <a:t> </a:t>
            </a:r>
            <a:r>
              <a:rPr sz="2600" dirty="0">
                <a:latin typeface="Calibri"/>
                <a:cs typeface="Calibri"/>
              </a:rPr>
              <a:t>them</a:t>
            </a:r>
            <a:r>
              <a:rPr sz="2600" spc="-15" dirty="0">
                <a:latin typeface="Calibri"/>
                <a:cs typeface="Calibri"/>
              </a:rPr>
              <a:t> </a:t>
            </a:r>
            <a:r>
              <a:rPr sz="2600" spc="-10" dirty="0">
                <a:latin typeface="Calibri"/>
                <a:cs typeface="Calibri"/>
              </a:rPr>
              <a:t>into</a:t>
            </a:r>
            <a:r>
              <a:rPr sz="2600" spc="-5" dirty="0">
                <a:latin typeface="Calibri"/>
                <a:cs typeface="Calibri"/>
              </a:rPr>
              <a:t> </a:t>
            </a:r>
            <a:r>
              <a:rPr sz="2600" dirty="0">
                <a:latin typeface="Calibri"/>
                <a:cs typeface="Calibri"/>
              </a:rPr>
              <a:t>the</a:t>
            </a:r>
            <a:r>
              <a:rPr sz="2600" spc="-30" dirty="0">
                <a:latin typeface="Calibri"/>
                <a:cs typeface="Calibri"/>
              </a:rPr>
              <a:t> </a:t>
            </a:r>
            <a:r>
              <a:rPr sz="2600" spc="-10" dirty="0">
                <a:latin typeface="Calibri"/>
                <a:cs typeface="Calibri"/>
              </a:rPr>
              <a:t>digital</a:t>
            </a:r>
            <a:r>
              <a:rPr sz="2600" dirty="0">
                <a:latin typeface="Calibri"/>
                <a:cs typeface="Calibri"/>
              </a:rPr>
              <a:t> </a:t>
            </a:r>
            <a:r>
              <a:rPr sz="2600" spc="-5" dirty="0">
                <a:latin typeface="Calibri"/>
                <a:cs typeface="Calibri"/>
              </a:rPr>
              <a:t>output.</a:t>
            </a:r>
            <a:endParaRPr sz="2600">
              <a:latin typeface="Calibri"/>
              <a:cs typeface="Calibri"/>
            </a:endParaRPr>
          </a:p>
          <a:p>
            <a:pPr marL="241300" marR="431800" indent="-229235">
              <a:lnSpc>
                <a:spcPts val="2500"/>
              </a:lnSpc>
              <a:spcBef>
                <a:spcPts val="975"/>
              </a:spcBef>
              <a:buFont typeface="Arial MT"/>
              <a:buChar char="•"/>
              <a:tabLst>
                <a:tab pos="241935" algn="l"/>
              </a:tabLst>
            </a:pPr>
            <a:r>
              <a:rPr sz="2600" spc="-5" dirty="0">
                <a:latin typeface="Calibri"/>
                <a:cs typeface="Calibri"/>
              </a:rPr>
              <a:t>Since</a:t>
            </a:r>
            <a:r>
              <a:rPr sz="2600" spc="-20" dirty="0">
                <a:latin typeface="Calibri"/>
                <a:cs typeface="Calibri"/>
              </a:rPr>
              <a:t> </a:t>
            </a:r>
            <a:r>
              <a:rPr sz="2600" dirty="0">
                <a:latin typeface="Calibri"/>
                <a:cs typeface="Calibri"/>
              </a:rPr>
              <a:t>all</a:t>
            </a:r>
            <a:r>
              <a:rPr sz="2600" spc="15" dirty="0">
                <a:latin typeface="Calibri"/>
                <a:cs typeface="Calibri"/>
              </a:rPr>
              <a:t> </a:t>
            </a:r>
            <a:r>
              <a:rPr sz="2600" dirty="0">
                <a:latin typeface="Calibri"/>
                <a:cs typeface="Calibri"/>
              </a:rPr>
              <a:t>the</a:t>
            </a:r>
            <a:r>
              <a:rPr sz="2600" spc="-10" dirty="0">
                <a:latin typeface="Calibri"/>
                <a:cs typeface="Calibri"/>
              </a:rPr>
              <a:t> </a:t>
            </a:r>
            <a:r>
              <a:rPr sz="2600" spc="-5" dirty="0">
                <a:latin typeface="Calibri"/>
                <a:cs typeface="Calibri"/>
              </a:rPr>
              <a:t>bits</a:t>
            </a:r>
            <a:r>
              <a:rPr sz="2600" dirty="0">
                <a:latin typeface="Calibri"/>
                <a:cs typeface="Calibri"/>
              </a:rPr>
              <a:t> </a:t>
            </a:r>
            <a:r>
              <a:rPr sz="2600" spc="-10" dirty="0">
                <a:latin typeface="Calibri"/>
                <a:cs typeface="Calibri"/>
              </a:rPr>
              <a:t>of</a:t>
            </a:r>
            <a:r>
              <a:rPr sz="2600" dirty="0">
                <a:latin typeface="Calibri"/>
                <a:cs typeface="Calibri"/>
              </a:rPr>
              <a:t> the </a:t>
            </a:r>
            <a:r>
              <a:rPr sz="2600" spc="-5" dirty="0">
                <a:latin typeface="Calibri"/>
                <a:cs typeface="Calibri"/>
              </a:rPr>
              <a:t>output</a:t>
            </a:r>
            <a:r>
              <a:rPr sz="2600" dirty="0">
                <a:latin typeface="Calibri"/>
                <a:cs typeface="Calibri"/>
              </a:rPr>
              <a:t> </a:t>
            </a:r>
            <a:r>
              <a:rPr sz="2600" spc="-10" dirty="0">
                <a:latin typeface="Calibri"/>
                <a:cs typeface="Calibri"/>
              </a:rPr>
              <a:t>digital</a:t>
            </a:r>
            <a:r>
              <a:rPr sz="2600" spc="10" dirty="0">
                <a:latin typeface="Calibri"/>
                <a:cs typeface="Calibri"/>
              </a:rPr>
              <a:t> </a:t>
            </a:r>
            <a:r>
              <a:rPr sz="2600" spc="-20" dirty="0">
                <a:latin typeface="Calibri"/>
                <a:cs typeface="Calibri"/>
              </a:rPr>
              <a:t>word</a:t>
            </a:r>
            <a:r>
              <a:rPr sz="2600" dirty="0">
                <a:latin typeface="Calibri"/>
                <a:cs typeface="Calibri"/>
              </a:rPr>
              <a:t> </a:t>
            </a:r>
            <a:r>
              <a:rPr sz="2600" spc="-10" dirty="0">
                <a:latin typeface="Calibri"/>
                <a:cs typeface="Calibri"/>
              </a:rPr>
              <a:t>are</a:t>
            </a:r>
            <a:r>
              <a:rPr sz="2600" spc="5" dirty="0">
                <a:latin typeface="Calibri"/>
                <a:cs typeface="Calibri"/>
              </a:rPr>
              <a:t> </a:t>
            </a:r>
            <a:r>
              <a:rPr sz="2600" spc="-5" dirty="0">
                <a:latin typeface="Calibri"/>
                <a:cs typeface="Calibri"/>
              </a:rPr>
              <a:t>simultaneously</a:t>
            </a:r>
            <a:r>
              <a:rPr sz="2600" spc="-30" dirty="0">
                <a:latin typeface="Calibri"/>
                <a:cs typeface="Calibri"/>
              </a:rPr>
              <a:t> </a:t>
            </a:r>
            <a:r>
              <a:rPr sz="2600" spc="-10" dirty="0">
                <a:latin typeface="Calibri"/>
                <a:cs typeface="Calibri"/>
              </a:rPr>
              <a:t>produced,</a:t>
            </a:r>
            <a:r>
              <a:rPr sz="2600" spc="-25" dirty="0">
                <a:latin typeface="Calibri"/>
                <a:cs typeface="Calibri"/>
              </a:rPr>
              <a:t> </a:t>
            </a:r>
            <a:r>
              <a:rPr sz="2600" dirty="0">
                <a:latin typeface="Calibri"/>
                <a:cs typeface="Calibri"/>
              </a:rPr>
              <a:t>this </a:t>
            </a:r>
            <a:r>
              <a:rPr sz="2600" spc="-575" dirty="0">
                <a:latin typeface="Calibri"/>
                <a:cs typeface="Calibri"/>
              </a:rPr>
              <a:t> </a:t>
            </a:r>
            <a:r>
              <a:rPr sz="2600" spc="-15" dirty="0">
                <a:latin typeface="Calibri"/>
                <a:cs typeface="Calibri"/>
              </a:rPr>
              <a:t>converter</a:t>
            </a:r>
            <a:r>
              <a:rPr sz="2600" spc="-25" dirty="0">
                <a:latin typeface="Calibri"/>
                <a:cs typeface="Calibri"/>
              </a:rPr>
              <a:t> </a:t>
            </a:r>
            <a:r>
              <a:rPr sz="2600" dirty="0">
                <a:latin typeface="Calibri"/>
                <a:cs typeface="Calibri"/>
              </a:rPr>
              <a:t>is </a:t>
            </a:r>
            <a:r>
              <a:rPr sz="2600" spc="-5" dirty="0">
                <a:latin typeface="Calibri"/>
                <a:cs typeface="Calibri"/>
              </a:rPr>
              <a:t>very</a:t>
            </a:r>
            <a:r>
              <a:rPr sz="2600" spc="-15" dirty="0">
                <a:latin typeface="Calibri"/>
                <a:cs typeface="Calibri"/>
              </a:rPr>
              <a:t> fast.</a:t>
            </a:r>
            <a:endParaRPr sz="2600">
              <a:latin typeface="Calibri"/>
              <a:cs typeface="Calibri"/>
            </a:endParaRPr>
          </a:p>
        </p:txBody>
      </p:sp>
      <p:pic>
        <p:nvPicPr>
          <p:cNvPr id="4" name="object 4"/>
          <p:cNvPicPr/>
          <p:nvPr/>
        </p:nvPicPr>
        <p:blipFill>
          <a:blip r:embed="rId2" cstate="print"/>
          <a:stretch>
            <a:fillRect/>
          </a:stretch>
        </p:blipFill>
        <p:spPr>
          <a:xfrm>
            <a:off x="3869435" y="1597152"/>
            <a:ext cx="751332" cy="463296"/>
          </a:xfrm>
          <a:prstGeom prst="rect">
            <a:avLst/>
          </a:prstGeom>
        </p:spPr>
      </p:pic>
      <p:sp>
        <p:nvSpPr>
          <p:cNvPr id="5" name="object 5"/>
          <p:cNvSpPr txBox="1">
            <a:spLocks noGrp="1"/>
          </p:cNvSpPr>
          <p:nvPr>
            <p:ph type="title"/>
          </p:nvPr>
        </p:nvSpPr>
        <p:spPr>
          <a:xfrm>
            <a:off x="941019" y="358851"/>
            <a:ext cx="5426075" cy="697230"/>
          </a:xfrm>
          <a:prstGeom prst="rect">
            <a:avLst/>
          </a:prstGeom>
        </p:spPr>
        <p:txBody>
          <a:bodyPr vert="horz" wrap="square" lIns="0" tIns="13335" rIns="0" bIns="0" rtlCol="0">
            <a:spAutoFit/>
          </a:bodyPr>
          <a:lstStyle/>
          <a:p>
            <a:pPr marL="12700">
              <a:lnSpc>
                <a:spcPct val="100000"/>
              </a:lnSpc>
              <a:spcBef>
                <a:spcPts val="105"/>
              </a:spcBef>
            </a:pPr>
            <a:r>
              <a:rPr dirty="0"/>
              <a:t>Flash</a:t>
            </a:r>
            <a:r>
              <a:rPr spc="-20" dirty="0"/>
              <a:t> </a:t>
            </a:r>
            <a:r>
              <a:rPr dirty="0"/>
              <a:t>ADC</a:t>
            </a:r>
            <a:r>
              <a:rPr spc="-40" dirty="0"/>
              <a:t> </a:t>
            </a:r>
            <a:r>
              <a:rPr spc="-20" dirty="0"/>
              <a:t>(Parallel</a:t>
            </a:r>
            <a:r>
              <a:rPr spc="-15" dirty="0"/>
              <a:t> </a:t>
            </a:r>
            <a:r>
              <a:rPr spc="-5" dirty="0"/>
              <a:t>ADC)</a:t>
            </a:r>
          </a:p>
        </p:txBody>
      </p:sp>
      <p:sp>
        <p:nvSpPr>
          <p:cNvPr id="6" name="Slide Number Placeholder 5"/>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31</a:t>
            </a:fld>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41502" y="1674622"/>
            <a:ext cx="10554970" cy="1732280"/>
          </a:xfrm>
          <a:prstGeom prst="rect">
            <a:avLst/>
          </a:prstGeom>
        </p:spPr>
        <p:txBody>
          <a:bodyPr vert="horz" wrap="square" lIns="0" tIns="60960" rIns="0" bIns="0" rtlCol="0">
            <a:spAutoFit/>
          </a:bodyPr>
          <a:lstStyle/>
          <a:p>
            <a:pPr marL="254000" marR="17780" indent="-228600">
              <a:lnSpc>
                <a:spcPts val="3020"/>
              </a:lnSpc>
              <a:spcBef>
                <a:spcPts val="480"/>
              </a:spcBef>
              <a:buFont typeface="Arial MT"/>
              <a:buChar char="•"/>
              <a:tabLst>
                <a:tab pos="254000" algn="l"/>
              </a:tabLst>
            </a:pPr>
            <a:r>
              <a:rPr sz="2800" spc="-10" dirty="0">
                <a:latin typeface="Calibri"/>
                <a:cs typeface="Calibri"/>
              </a:rPr>
              <a:t>The</a:t>
            </a:r>
            <a:r>
              <a:rPr sz="2800" spc="5" dirty="0">
                <a:latin typeface="Calibri"/>
                <a:cs typeface="Calibri"/>
              </a:rPr>
              <a:t> </a:t>
            </a:r>
            <a:r>
              <a:rPr sz="2800" spc="-10" dirty="0">
                <a:latin typeface="Calibri"/>
                <a:cs typeface="Calibri"/>
              </a:rPr>
              <a:t>flash</a:t>
            </a:r>
            <a:r>
              <a:rPr sz="2800" spc="15" dirty="0">
                <a:latin typeface="Calibri"/>
                <a:cs typeface="Calibri"/>
              </a:rPr>
              <a:t> </a:t>
            </a:r>
            <a:r>
              <a:rPr sz="2800" spc="-10" dirty="0">
                <a:latin typeface="Calibri"/>
                <a:cs typeface="Calibri"/>
              </a:rPr>
              <a:t>analog-to-digital</a:t>
            </a:r>
            <a:r>
              <a:rPr sz="2800" spc="30" dirty="0">
                <a:latin typeface="Calibri"/>
                <a:cs typeface="Calibri"/>
              </a:rPr>
              <a:t> </a:t>
            </a:r>
            <a:r>
              <a:rPr sz="2800" spc="-20" dirty="0">
                <a:latin typeface="Calibri"/>
                <a:cs typeface="Calibri"/>
              </a:rPr>
              <a:t>converter</a:t>
            </a:r>
            <a:r>
              <a:rPr sz="2800" spc="10" dirty="0">
                <a:latin typeface="Calibri"/>
                <a:cs typeface="Calibri"/>
              </a:rPr>
              <a:t> </a:t>
            </a:r>
            <a:r>
              <a:rPr sz="2800" spc="-5" dirty="0">
                <a:latin typeface="Calibri"/>
                <a:cs typeface="Calibri"/>
              </a:rPr>
              <a:t>is</a:t>
            </a:r>
            <a:r>
              <a:rPr sz="2800" spc="15" dirty="0">
                <a:latin typeface="Calibri"/>
                <a:cs typeface="Calibri"/>
              </a:rPr>
              <a:t> </a:t>
            </a:r>
            <a:r>
              <a:rPr sz="2800" spc="-5" dirty="0">
                <a:latin typeface="Calibri"/>
                <a:cs typeface="Calibri"/>
              </a:rPr>
              <a:t>a</a:t>
            </a:r>
            <a:r>
              <a:rPr sz="2800" spc="10" dirty="0">
                <a:latin typeface="Calibri"/>
                <a:cs typeface="Calibri"/>
              </a:rPr>
              <a:t> </a:t>
            </a:r>
            <a:r>
              <a:rPr sz="2800" spc="-10" dirty="0">
                <a:latin typeface="Calibri"/>
                <a:cs typeface="Calibri"/>
              </a:rPr>
              <a:t>very</a:t>
            </a:r>
            <a:r>
              <a:rPr sz="2800" spc="10" dirty="0">
                <a:latin typeface="Calibri"/>
                <a:cs typeface="Calibri"/>
              </a:rPr>
              <a:t> </a:t>
            </a:r>
            <a:r>
              <a:rPr sz="2800" spc="-25" dirty="0">
                <a:latin typeface="Calibri"/>
                <a:cs typeface="Calibri"/>
              </a:rPr>
              <a:t>fast,</a:t>
            </a:r>
            <a:r>
              <a:rPr sz="2800" spc="15" dirty="0">
                <a:latin typeface="Calibri"/>
                <a:cs typeface="Calibri"/>
              </a:rPr>
              <a:t> </a:t>
            </a:r>
            <a:r>
              <a:rPr sz="2800" spc="-10" dirty="0">
                <a:latin typeface="Calibri"/>
                <a:cs typeface="Calibri"/>
              </a:rPr>
              <a:t>but</a:t>
            </a:r>
            <a:r>
              <a:rPr sz="2800" spc="20" dirty="0">
                <a:latin typeface="Calibri"/>
                <a:cs typeface="Calibri"/>
              </a:rPr>
              <a:t> </a:t>
            </a:r>
            <a:r>
              <a:rPr sz="2800" spc="-15" dirty="0">
                <a:latin typeface="Calibri"/>
                <a:cs typeface="Calibri"/>
              </a:rPr>
              <a:t>more</a:t>
            </a:r>
            <a:r>
              <a:rPr sz="2800" spc="25" dirty="0">
                <a:latin typeface="Calibri"/>
                <a:cs typeface="Calibri"/>
              </a:rPr>
              <a:t> </a:t>
            </a:r>
            <a:r>
              <a:rPr sz="2800" spc="-15" dirty="0">
                <a:latin typeface="Calibri"/>
                <a:cs typeface="Calibri"/>
              </a:rPr>
              <a:t>costly</a:t>
            </a:r>
            <a:r>
              <a:rPr sz="2800" spc="5" dirty="0">
                <a:latin typeface="Calibri"/>
                <a:cs typeface="Calibri"/>
              </a:rPr>
              <a:t> </a:t>
            </a:r>
            <a:r>
              <a:rPr sz="2800" spc="-25" dirty="0">
                <a:latin typeface="Calibri"/>
                <a:cs typeface="Calibri"/>
              </a:rPr>
              <a:t>form </a:t>
            </a:r>
            <a:r>
              <a:rPr sz="2800" spc="-620" dirty="0">
                <a:latin typeface="Calibri"/>
                <a:cs typeface="Calibri"/>
              </a:rPr>
              <a:t> </a:t>
            </a:r>
            <a:r>
              <a:rPr sz="2800" spc="-5" dirty="0">
                <a:latin typeface="Calibri"/>
                <a:cs typeface="Calibri"/>
              </a:rPr>
              <a:t>of</a:t>
            </a:r>
            <a:r>
              <a:rPr sz="2800" spc="-10" dirty="0">
                <a:latin typeface="Calibri"/>
                <a:cs typeface="Calibri"/>
              </a:rPr>
              <a:t> </a:t>
            </a:r>
            <a:r>
              <a:rPr sz="2800" spc="-5" dirty="0">
                <a:latin typeface="Calibri"/>
                <a:cs typeface="Calibri"/>
              </a:rPr>
              <a:t>ADC.</a:t>
            </a:r>
            <a:endParaRPr sz="2800">
              <a:latin typeface="Calibri"/>
              <a:cs typeface="Calibri"/>
            </a:endParaRPr>
          </a:p>
          <a:p>
            <a:pPr marL="254000" marR="309880" indent="-228600">
              <a:lnSpc>
                <a:spcPts val="3020"/>
              </a:lnSpc>
              <a:spcBef>
                <a:spcPts val="1015"/>
              </a:spcBef>
              <a:buFont typeface="Arial MT"/>
              <a:buChar char="•"/>
              <a:tabLst>
                <a:tab pos="254000" algn="l"/>
              </a:tabLst>
            </a:pPr>
            <a:r>
              <a:rPr sz="2800" spc="-20" dirty="0">
                <a:latin typeface="Calibri"/>
                <a:cs typeface="Calibri"/>
              </a:rPr>
              <a:t>For</a:t>
            </a:r>
            <a:r>
              <a:rPr sz="2800" dirty="0">
                <a:latin typeface="Calibri"/>
                <a:cs typeface="Calibri"/>
              </a:rPr>
              <a:t> </a:t>
            </a:r>
            <a:r>
              <a:rPr sz="2800" spc="-5" dirty="0">
                <a:latin typeface="Calibri"/>
                <a:cs typeface="Calibri"/>
              </a:rPr>
              <a:t>an</a:t>
            </a:r>
            <a:r>
              <a:rPr sz="2800" spc="20" dirty="0">
                <a:latin typeface="Calibri"/>
                <a:cs typeface="Calibri"/>
              </a:rPr>
              <a:t> </a:t>
            </a:r>
            <a:r>
              <a:rPr sz="2800" spc="-10" dirty="0">
                <a:latin typeface="Calibri"/>
                <a:cs typeface="Calibri"/>
              </a:rPr>
              <a:t>n-bit</a:t>
            </a:r>
            <a:r>
              <a:rPr sz="2800" spc="40" dirty="0">
                <a:latin typeface="Calibri"/>
                <a:cs typeface="Calibri"/>
              </a:rPr>
              <a:t> </a:t>
            </a:r>
            <a:r>
              <a:rPr sz="2800" spc="-45" dirty="0">
                <a:latin typeface="Calibri"/>
                <a:cs typeface="Calibri"/>
              </a:rPr>
              <a:t>converter,</a:t>
            </a:r>
            <a:r>
              <a:rPr sz="2800" spc="20" dirty="0">
                <a:latin typeface="Calibri"/>
                <a:cs typeface="Calibri"/>
              </a:rPr>
              <a:t> </a:t>
            </a:r>
            <a:r>
              <a:rPr sz="2800" spc="5" dirty="0">
                <a:latin typeface="Calibri"/>
                <a:cs typeface="Calibri"/>
              </a:rPr>
              <a:t>2</a:t>
            </a:r>
            <a:r>
              <a:rPr sz="2775" spc="7" baseline="25525" dirty="0">
                <a:latin typeface="Calibri"/>
                <a:cs typeface="Calibri"/>
              </a:rPr>
              <a:t>n</a:t>
            </a:r>
            <a:r>
              <a:rPr sz="2775" spc="322" baseline="25525" dirty="0">
                <a:latin typeface="Calibri"/>
                <a:cs typeface="Calibri"/>
              </a:rPr>
              <a:t> </a:t>
            </a:r>
            <a:r>
              <a:rPr sz="2800" spc="-5" dirty="0">
                <a:latin typeface="Calibri"/>
                <a:cs typeface="Calibri"/>
              </a:rPr>
              <a:t>-1</a:t>
            </a:r>
            <a:r>
              <a:rPr sz="2800" spc="30" dirty="0">
                <a:latin typeface="Calibri"/>
                <a:cs typeface="Calibri"/>
              </a:rPr>
              <a:t> </a:t>
            </a:r>
            <a:r>
              <a:rPr sz="2800" spc="-20" dirty="0">
                <a:latin typeface="Calibri"/>
                <a:cs typeface="Calibri"/>
              </a:rPr>
              <a:t>separate</a:t>
            </a:r>
            <a:r>
              <a:rPr sz="2800" spc="5" dirty="0">
                <a:latin typeface="Calibri"/>
                <a:cs typeface="Calibri"/>
              </a:rPr>
              <a:t> </a:t>
            </a:r>
            <a:r>
              <a:rPr sz="2800" spc="-20" dirty="0">
                <a:latin typeface="Calibri"/>
                <a:cs typeface="Calibri"/>
              </a:rPr>
              <a:t>voltage</a:t>
            </a:r>
            <a:r>
              <a:rPr sz="2800" spc="5" dirty="0">
                <a:latin typeface="Calibri"/>
                <a:cs typeface="Calibri"/>
              </a:rPr>
              <a:t> </a:t>
            </a:r>
            <a:r>
              <a:rPr sz="2800" spc="-25" dirty="0">
                <a:latin typeface="Calibri"/>
                <a:cs typeface="Calibri"/>
              </a:rPr>
              <a:t>comparators</a:t>
            </a:r>
            <a:r>
              <a:rPr sz="2800" spc="25" dirty="0">
                <a:latin typeface="Calibri"/>
                <a:cs typeface="Calibri"/>
              </a:rPr>
              <a:t> </a:t>
            </a:r>
            <a:r>
              <a:rPr sz="2800" spc="-20" dirty="0">
                <a:latin typeface="Calibri"/>
                <a:cs typeface="Calibri"/>
              </a:rPr>
              <a:t>are</a:t>
            </a:r>
            <a:r>
              <a:rPr sz="2800" spc="10" dirty="0">
                <a:latin typeface="Calibri"/>
                <a:cs typeface="Calibri"/>
              </a:rPr>
              <a:t> </a:t>
            </a:r>
            <a:r>
              <a:rPr sz="2800" spc="-10" dirty="0">
                <a:latin typeface="Calibri"/>
                <a:cs typeface="Calibri"/>
              </a:rPr>
              <a:t>used</a:t>
            </a:r>
            <a:r>
              <a:rPr sz="2800" spc="20" dirty="0">
                <a:latin typeface="Calibri"/>
                <a:cs typeface="Calibri"/>
              </a:rPr>
              <a:t> </a:t>
            </a:r>
            <a:r>
              <a:rPr sz="2800" spc="-5" dirty="0">
                <a:latin typeface="Calibri"/>
                <a:cs typeface="Calibri"/>
              </a:rPr>
              <a:t>in </a:t>
            </a:r>
            <a:r>
              <a:rPr sz="2800" spc="-620" dirty="0">
                <a:latin typeface="Calibri"/>
                <a:cs typeface="Calibri"/>
              </a:rPr>
              <a:t> </a:t>
            </a:r>
            <a:r>
              <a:rPr sz="2800" spc="-15" dirty="0">
                <a:latin typeface="Calibri"/>
                <a:cs typeface="Calibri"/>
              </a:rPr>
              <a:t>parallel</a:t>
            </a:r>
            <a:r>
              <a:rPr sz="2800" spc="-5" dirty="0">
                <a:latin typeface="Calibri"/>
                <a:cs typeface="Calibri"/>
              </a:rPr>
              <a:t> as</a:t>
            </a:r>
            <a:r>
              <a:rPr sz="2800" spc="10" dirty="0">
                <a:latin typeface="Calibri"/>
                <a:cs typeface="Calibri"/>
              </a:rPr>
              <a:t> </a:t>
            </a:r>
            <a:r>
              <a:rPr sz="2800" spc="-10" dirty="0">
                <a:latin typeface="Calibri"/>
                <a:cs typeface="Calibri"/>
              </a:rPr>
              <a:t>shown</a:t>
            </a:r>
            <a:r>
              <a:rPr sz="2800" spc="20" dirty="0">
                <a:latin typeface="Calibri"/>
                <a:cs typeface="Calibri"/>
              </a:rPr>
              <a:t> </a:t>
            </a:r>
            <a:r>
              <a:rPr sz="2800" spc="-5" dirty="0">
                <a:latin typeface="Calibri"/>
                <a:cs typeface="Calibri"/>
              </a:rPr>
              <a:t>in</a:t>
            </a:r>
            <a:r>
              <a:rPr sz="2800" dirty="0">
                <a:latin typeface="Calibri"/>
                <a:cs typeface="Calibri"/>
              </a:rPr>
              <a:t> </a:t>
            </a:r>
            <a:r>
              <a:rPr sz="2800" spc="-15" dirty="0">
                <a:latin typeface="Calibri"/>
                <a:cs typeface="Calibri"/>
              </a:rPr>
              <a:t>Figure</a:t>
            </a:r>
            <a:r>
              <a:rPr sz="2800" spc="30" dirty="0">
                <a:latin typeface="Calibri"/>
                <a:cs typeface="Calibri"/>
              </a:rPr>
              <a:t> </a:t>
            </a:r>
            <a:r>
              <a:rPr sz="2800" spc="-5" dirty="0">
                <a:latin typeface="Calibri"/>
                <a:cs typeface="Calibri"/>
              </a:rPr>
              <a:t>5.10.</a:t>
            </a:r>
            <a:endParaRPr sz="2800">
              <a:latin typeface="Calibri"/>
              <a:cs typeface="Calibri"/>
            </a:endParaRPr>
          </a:p>
        </p:txBody>
      </p:sp>
      <p:sp>
        <p:nvSpPr>
          <p:cNvPr id="3" name="object 3"/>
          <p:cNvSpPr txBox="1">
            <a:spLocks noGrp="1"/>
          </p:cNvSpPr>
          <p:nvPr>
            <p:ph type="title"/>
          </p:nvPr>
        </p:nvSpPr>
        <p:spPr>
          <a:xfrm>
            <a:off x="916939" y="609676"/>
            <a:ext cx="5427345" cy="697230"/>
          </a:xfrm>
          <a:prstGeom prst="rect">
            <a:avLst/>
          </a:prstGeom>
        </p:spPr>
        <p:txBody>
          <a:bodyPr vert="horz" wrap="square" lIns="0" tIns="13335" rIns="0" bIns="0" rtlCol="0">
            <a:spAutoFit/>
          </a:bodyPr>
          <a:lstStyle/>
          <a:p>
            <a:pPr marL="12700">
              <a:lnSpc>
                <a:spcPct val="100000"/>
              </a:lnSpc>
              <a:spcBef>
                <a:spcPts val="105"/>
              </a:spcBef>
            </a:pPr>
            <a:r>
              <a:rPr dirty="0"/>
              <a:t>Flash</a:t>
            </a:r>
            <a:r>
              <a:rPr spc="-20" dirty="0"/>
              <a:t> </a:t>
            </a:r>
            <a:r>
              <a:rPr dirty="0"/>
              <a:t>ADC</a:t>
            </a:r>
            <a:r>
              <a:rPr spc="-25" dirty="0"/>
              <a:t> </a:t>
            </a:r>
            <a:r>
              <a:rPr spc="-20" dirty="0"/>
              <a:t>(Parallel</a:t>
            </a:r>
            <a:r>
              <a:rPr spc="-15" dirty="0"/>
              <a:t> </a:t>
            </a:r>
            <a:r>
              <a:rPr spc="-5" dirty="0"/>
              <a:t>ADC)</a:t>
            </a:r>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32</a:t>
            </a:fld>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8600" y="152400"/>
            <a:ext cx="11734800" cy="2585323"/>
          </a:xfrm>
        </p:spPr>
        <p:txBody>
          <a:bodyPr/>
          <a:lstStyle/>
          <a:p>
            <a:pPr algn="l"/>
            <a:r>
              <a:rPr lang="en-US" b="1" u="sng" dirty="0" smtClean="0">
                <a:latin typeface="Times New Roman" pitchFamily="18" charset="0"/>
                <a:cs typeface="Times New Roman" pitchFamily="18" charset="0"/>
              </a:rPr>
              <a:t>Flash Type ADC</a:t>
            </a:r>
          </a:p>
          <a:p>
            <a:pPr algn="l">
              <a:buFont typeface="Arial" pitchFamily="34" charset="0"/>
              <a:buChar char="•"/>
            </a:pPr>
            <a:r>
              <a:rPr lang="en-US" dirty="0" smtClean="0">
                <a:latin typeface="Times New Roman" pitchFamily="18" charset="0"/>
                <a:cs typeface="Times New Roman" pitchFamily="18" charset="0"/>
              </a:rPr>
              <a:t>Flash Type ADC is based on the principle of comparing analog input voltage with a set of reference voltages.</a:t>
            </a:r>
          </a:p>
          <a:p>
            <a:pPr algn="l">
              <a:buFont typeface="Arial" pitchFamily="34" charset="0"/>
              <a:buChar char="•"/>
            </a:pPr>
            <a:r>
              <a:rPr lang="en-US" dirty="0" smtClean="0">
                <a:latin typeface="Times New Roman" pitchFamily="18" charset="0"/>
                <a:cs typeface="Times New Roman" pitchFamily="18" charset="0"/>
              </a:rPr>
              <a:t>To convert the analog input voltage into a digital signal of n-bit output, (2</a:t>
            </a:r>
            <a:r>
              <a:rPr lang="en-US" baseline="30000" dirty="0" smtClean="0">
                <a:latin typeface="Times New Roman" pitchFamily="18" charset="0"/>
                <a:cs typeface="Times New Roman" pitchFamily="18" charset="0"/>
              </a:rPr>
              <a:t>n</a:t>
            </a:r>
            <a:r>
              <a:rPr lang="en-US" dirty="0" smtClean="0">
                <a:latin typeface="Times New Roman" pitchFamily="18" charset="0"/>
                <a:cs typeface="Times New Roman" pitchFamily="18" charset="0"/>
              </a:rPr>
              <a:t> – 1) comparators are required.</a:t>
            </a:r>
          </a:p>
          <a:p>
            <a:pPr algn="l">
              <a:buFont typeface="Arial" pitchFamily="34" charset="0"/>
              <a:buChar char="•"/>
            </a:pPr>
            <a:r>
              <a:rPr lang="en-US" dirty="0" smtClean="0">
                <a:latin typeface="Times New Roman" pitchFamily="18" charset="0"/>
                <a:cs typeface="Times New Roman" pitchFamily="18" charset="0"/>
              </a:rPr>
              <a:t>The following figure shows 2- bit flash type ADC</a:t>
            </a:r>
          </a:p>
          <a:p>
            <a:pPr algn="l"/>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33</a:t>
            </a:fld>
            <a:endParaRPr lang="en-US" dirty="0"/>
          </a:p>
        </p:txBody>
      </p:sp>
      <p:pic>
        <p:nvPicPr>
          <p:cNvPr id="70658" name="Picture 2" descr="https://www.electronics-tutorial.net/wp-content/uploads/2015/09/DAC17.png"/>
          <p:cNvPicPr>
            <a:picLocks noChangeAspect="1" noChangeArrowheads="1"/>
          </p:cNvPicPr>
          <p:nvPr/>
        </p:nvPicPr>
        <p:blipFill>
          <a:blip r:embed="rId2"/>
          <a:srcRect/>
          <a:stretch>
            <a:fillRect/>
          </a:stretch>
        </p:blipFill>
        <p:spPr bwMode="auto">
          <a:xfrm>
            <a:off x="304800" y="2495549"/>
            <a:ext cx="10591800" cy="4362451"/>
          </a:xfrm>
          <a:prstGeom prst="rect">
            <a:avLst/>
          </a:prstGeom>
          <a:noFill/>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8600" y="228600"/>
            <a:ext cx="11811000" cy="3323987"/>
          </a:xfrm>
        </p:spPr>
        <p:txBody>
          <a:bodyPr/>
          <a:lstStyle/>
          <a:p>
            <a:pPr algn="l">
              <a:buFont typeface="Arial" pitchFamily="34" charset="0"/>
              <a:buChar char="•"/>
            </a:pPr>
            <a:r>
              <a:rPr lang="en-US" dirty="0" smtClean="0">
                <a:latin typeface="Times New Roman" pitchFamily="18" charset="0"/>
                <a:cs typeface="Times New Roman" pitchFamily="18" charset="0"/>
              </a:rPr>
              <a:t>The three op-amps are used as comparators. The non-inverting inputs of all the three comparators are connected to the analog input voltage. The inverting terminals are connected to a set of reference voltages (V/4), (2V/4) and (3V/4) respectively which are obtained using a resistive divider network and power supply +V.</a:t>
            </a:r>
          </a:p>
          <a:p>
            <a:pPr algn="l">
              <a:buFont typeface="Arial" pitchFamily="34" charset="0"/>
              <a:buChar char="•"/>
            </a:pPr>
            <a:r>
              <a:rPr lang="en-US" dirty="0" smtClean="0">
                <a:latin typeface="Times New Roman" pitchFamily="18" charset="0"/>
                <a:cs typeface="Times New Roman" pitchFamily="18" charset="0"/>
              </a:rPr>
              <a:t>The output of the comparator is in positive saturation(i.e. logic 1), when voltage at non-inverting terminal is greater than voltage at inverting terminal and is in negative saturation otherwise.</a:t>
            </a:r>
          </a:p>
          <a:p>
            <a:pPr algn="l">
              <a:buFont typeface="Arial" pitchFamily="34" charset="0"/>
              <a:buChar char="•"/>
            </a:pPr>
            <a:r>
              <a:rPr lang="en-US" dirty="0" smtClean="0">
                <a:latin typeface="Times New Roman" pitchFamily="18" charset="0"/>
                <a:cs typeface="Times New Roman" pitchFamily="18" charset="0"/>
              </a:rPr>
              <a:t>The following table shows the comparator outputs for different ranges of analog input voltages and their corresponding digital outputs.</a:t>
            </a:r>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34</a:t>
            </a:fld>
            <a:endParaRPr lang="en-US" dirty="0"/>
          </a:p>
        </p:txBody>
      </p:sp>
      <p:pic>
        <p:nvPicPr>
          <p:cNvPr id="74754" name="Picture 2" descr="https://www.electronics-tutorial.net/wp-content/uploads/2015/09/DAC18.png"/>
          <p:cNvPicPr>
            <a:picLocks noChangeAspect="1" noChangeArrowheads="1"/>
          </p:cNvPicPr>
          <p:nvPr/>
        </p:nvPicPr>
        <p:blipFill>
          <a:blip r:embed="rId2"/>
          <a:srcRect/>
          <a:stretch>
            <a:fillRect/>
          </a:stretch>
        </p:blipFill>
        <p:spPr bwMode="auto">
          <a:xfrm>
            <a:off x="2438400" y="3810000"/>
            <a:ext cx="6638925" cy="3048000"/>
          </a:xfrm>
          <a:prstGeom prst="rect">
            <a:avLst/>
          </a:prstGeom>
          <a:noFill/>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8600" y="228600"/>
            <a:ext cx="11811000" cy="6155531"/>
          </a:xfrm>
        </p:spPr>
        <p:txBody>
          <a:bodyPr/>
          <a:lstStyle/>
          <a:p>
            <a:pPr algn="l">
              <a:buFont typeface="Arial" pitchFamily="34" charset="0"/>
              <a:buChar char="•"/>
            </a:pPr>
            <a:r>
              <a:rPr lang="en-US" sz="2500" dirty="0" smtClean="0">
                <a:latin typeface="Times New Roman" pitchFamily="18" charset="0"/>
                <a:cs typeface="Times New Roman" pitchFamily="18" charset="0"/>
              </a:rPr>
              <a:t>Consider first condition, where analog input voltage VA is less than (V/4). In this case, the voltage at the non-inverting terminals of all the three comparators is less than the respective voltages at inverting terminals and hence the comparator outputs are C1C2C3 = 000.</a:t>
            </a:r>
          </a:p>
          <a:p>
            <a:pPr algn="l">
              <a:buFont typeface="Arial" pitchFamily="34" charset="0"/>
              <a:buChar char="•"/>
            </a:pPr>
            <a:r>
              <a:rPr lang="en-US" sz="2500" dirty="0" smtClean="0">
                <a:latin typeface="Times New Roman" pitchFamily="18" charset="0"/>
                <a:cs typeface="Times New Roman" pitchFamily="18" charset="0"/>
              </a:rPr>
              <a:t>This comparator outputs are applied to the further coding circuit to get the digital outputs as B1B0 = 00</a:t>
            </a:r>
          </a:p>
          <a:p>
            <a:pPr algn="l">
              <a:buFont typeface="Arial" pitchFamily="34" charset="0"/>
              <a:buChar char="•"/>
            </a:pPr>
            <a:r>
              <a:rPr lang="en-US" sz="2500" dirty="0" smtClean="0">
                <a:latin typeface="Times New Roman" pitchFamily="18" charset="0"/>
                <a:cs typeface="Times New Roman" pitchFamily="18" charset="0"/>
              </a:rPr>
              <a:t>Similarly the digital outputs are calculated for other three conditions also.</a:t>
            </a:r>
          </a:p>
          <a:p>
            <a:pPr algn="l"/>
            <a:r>
              <a:rPr lang="en-US" sz="2500" b="1" u="sng" dirty="0" smtClean="0">
                <a:latin typeface="Times New Roman" pitchFamily="18" charset="0"/>
                <a:cs typeface="Times New Roman" pitchFamily="18" charset="0"/>
              </a:rPr>
              <a:t>Advantages:</a:t>
            </a:r>
            <a:r>
              <a:rPr lang="en-US" sz="2500" dirty="0" smtClean="0">
                <a:latin typeface="Times New Roman" pitchFamily="18" charset="0"/>
                <a:cs typeface="Times New Roman" pitchFamily="18" charset="0"/>
              </a:rPr>
              <a:t/>
            </a:r>
            <a:br>
              <a:rPr lang="en-US" sz="2500" dirty="0" smtClean="0">
                <a:latin typeface="Times New Roman" pitchFamily="18" charset="0"/>
                <a:cs typeface="Times New Roman" pitchFamily="18" charset="0"/>
              </a:rPr>
            </a:br>
            <a:r>
              <a:rPr lang="en-US" sz="2500" dirty="0" smtClean="0">
                <a:latin typeface="Times New Roman" pitchFamily="18" charset="0"/>
                <a:cs typeface="Times New Roman" pitchFamily="18" charset="0"/>
              </a:rPr>
              <a:t>1)It is the fastest type of ADC because the conversion is performed simultaneously through a set of comparators, hence referred as flash type ADC. Typical conversion time is 100ns or less.</a:t>
            </a:r>
            <a:br>
              <a:rPr lang="en-US" sz="2500" dirty="0" smtClean="0">
                <a:latin typeface="Times New Roman" pitchFamily="18" charset="0"/>
                <a:cs typeface="Times New Roman" pitchFamily="18" charset="0"/>
              </a:rPr>
            </a:br>
            <a:r>
              <a:rPr lang="en-US" sz="2500" dirty="0" smtClean="0">
                <a:latin typeface="Times New Roman" pitchFamily="18" charset="0"/>
                <a:cs typeface="Times New Roman" pitchFamily="18" charset="0"/>
              </a:rPr>
              <a:t>2)The construction is simple and easier to design.</a:t>
            </a:r>
          </a:p>
          <a:p>
            <a:pPr algn="l"/>
            <a:r>
              <a:rPr lang="en-US" sz="2500" b="1" u="sng" dirty="0" smtClean="0">
                <a:latin typeface="Times New Roman" pitchFamily="18" charset="0"/>
                <a:cs typeface="Times New Roman" pitchFamily="18" charset="0"/>
              </a:rPr>
              <a:t>Disadvantages:</a:t>
            </a:r>
            <a:r>
              <a:rPr lang="en-US" sz="2500" dirty="0" smtClean="0">
                <a:latin typeface="Times New Roman" pitchFamily="18" charset="0"/>
                <a:cs typeface="Times New Roman" pitchFamily="18" charset="0"/>
              </a:rPr>
              <a:t/>
            </a:r>
            <a:br>
              <a:rPr lang="en-US" sz="2500" dirty="0" smtClean="0">
                <a:latin typeface="Times New Roman" pitchFamily="18" charset="0"/>
                <a:cs typeface="Times New Roman" pitchFamily="18" charset="0"/>
              </a:rPr>
            </a:br>
            <a:r>
              <a:rPr lang="en-US" sz="2500" dirty="0" smtClean="0">
                <a:latin typeface="Times New Roman" pitchFamily="18" charset="0"/>
                <a:cs typeface="Times New Roman" pitchFamily="18" charset="0"/>
              </a:rPr>
              <a:t>1)It is not suitable for higher number of bits.</a:t>
            </a:r>
            <a:br>
              <a:rPr lang="en-US" sz="2500" dirty="0" smtClean="0">
                <a:latin typeface="Times New Roman" pitchFamily="18" charset="0"/>
                <a:cs typeface="Times New Roman" pitchFamily="18" charset="0"/>
              </a:rPr>
            </a:br>
            <a:r>
              <a:rPr lang="en-US" sz="2500" dirty="0" smtClean="0">
                <a:latin typeface="Times New Roman" pitchFamily="18" charset="0"/>
                <a:cs typeface="Times New Roman" pitchFamily="18" charset="0"/>
              </a:rPr>
              <a:t>2)To convert the analog input voltage into a digital signal of n-bit output, (2</a:t>
            </a:r>
            <a:r>
              <a:rPr lang="en-US" sz="2500" baseline="30000" dirty="0" smtClean="0">
                <a:latin typeface="Times New Roman" pitchFamily="18" charset="0"/>
                <a:cs typeface="Times New Roman" pitchFamily="18" charset="0"/>
              </a:rPr>
              <a:t>n</a:t>
            </a:r>
            <a:r>
              <a:rPr lang="en-US" sz="2500" dirty="0" smtClean="0">
                <a:latin typeface="Times New Roman" pitchFamily="18" charset="0"/>
                <a:cs typeface="Times New Roman" pitchFamily="18" charset="0"/>
              </a:rPr>
              <a:t> – 1) comparators are required. The number of comparators required doubles for each added bit.</a:t>
            </a:r>
          </a:p>
          <a:p>
            <a:pPr algn="l"/>
            <a:endParaRPr lang="en-US" sz="2500" dirty="0">
              <a:latin typeface="Times New Roman" pitchFamily="18" charset="0"/>
              <a:cs typeface="Times New Roman" pitchFamily="18" charset="0"/>
            </a:endParaRPr>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35</a:t>
            </a:fld>
            <a:endParaRPr 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8600" y="228600"/>
            <a:ext cx="11734800" cy="1846659"/>
          </a:xfrm>
        </p:spPr>
        <p:txBody>
          <a:bodyPr/>
          <a:lstStyle/>
          <a:p>
            <a:pPr algn="just"/>
            <a:r>
              <a:rPr lang="en-US" b="1" u="sng" dirty="0" smtClean="0">
                <a:latin typeface="Times New Roman" pitchFamily="18" charset="0"/>
                <a:cs typeface="Times New Roman" pitchFamily="18" charset="0"/>
              </a:rPr>
              <a:t>Counter type ADC</a:t>
            </a:r>
          </a:p>
          <a:p>
            <a:pPr algn="just">
              <a:buFont typeface="Arial" pitchFamily="34" charset="0"/>
              <a:buChar char="•"/>
            </a:pPr>
            <a:r>
              <a:rPr lang="en-US" dirty="0" smtClean="0">
                <a:latin typeface="Times New Roman" pitchFamily="18" charset="0"/>
                <a:cs typeface="Times New Roman" pitchFamily="18" charset="0"/>
              </a:rPr>
              <a:t>The counter type ADC is constructed using a binary counter, DAC and a comparator. </a:t>
            </a:r>
          </a:p>
          <a:p>
            <a:pPr algn="just">
              <a:buFont typeface="Arial" pitchFamily="34" charset="0"/>
              <a:buChar char="•"/>
            </a:pPr>
            <a:r>
              <a:rPr lang="en-US" dirty="0" smtClean="0">
                <a:latin typeface="Times New Roman" pitchFamily="18" charset="0"/>
                <a:cs typeface="Times New Roman" pitchFamily="18" charset="0"/>
              </a:rPr>
              <a:t>The output voltage of a DAC is VD which is equivalent to corresponding digital input to DAC.</a:t>
            </a:r>
          </a:p>
          <a:p>
            <a:pPr algn="just">
              <a:buFont typeface="Arial" pitchFamily="34" charset="0"/>
              <a:buChar char="•"/>
            </a:pPr>
            <a:r>
              <a:rPr lang="en-US" dirty="0" smtClean="0">
                <a:latin typeface="Times New Roman" pitchFamily="18" charset="0"/>
                <a:cs typeface="Times New Roman" pitchFamily="18" charset="0"/>
              </a:rPr>
              <a:t>The following figure shows the n-bit counter type ADC.</a:t>
            </a:r>
          </a:p>
          <a:p>
            <a:pPr algn="just"/>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36</a:t>
            </a:fld>
            <a:endParaRPr lang="en-US" dirty="0"/>
          </a:p>
        </p:txBody>
      </p:sp>
      <p:pic>
        <p:nvPicPr>
          <p:cNvPr id="5" name="Picture 4" descr="a.GIF"/>
          <p:cNvPicPr>
            <a:picLocks noChangeAspect="1"/>
          </p:cNvPicPr>
          <p:nvPr/>
        </p:nvPicPr>
        <p:blipFill>
          <a:blip r:embed="rId2"/>
          <a:stretch>
            <a:fillRect/>
          </a:stretch>
        </p:blipFill>
        <p:spPr>
          <a:xfrm>
            <a:off x="838200" y="2133600"/>
            <a:ext cx="10820400" cy="4267200"/>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37</a:t>
            </a:fld>
            <a:endParaRPr lang="en-US" dirty="0"/>
          </a:p>
        </p:txBody>
      </p:sp>
      <p:pic>
        <p:nvPicPr>
          <p:cNvPr id="2050" name="Picture 2" descr="https://www.electronics-tutorial.net/wp-content/uploads/2015/09/DAC20.png"/>
          <p:cNvPicPr>
            <a:picLocks noChangeAspect="1" noChangeArrowheads="1"/>
          </p:cNvPicPr>
          <p:nvPr/>
        </p:nvPicPr>
        <p:blipFill>
          <a:blip r:embed="rId2"/>
          <a:srcRect/>
          <a:stretch>
            <a:fillRect/>
          </a:stretch>
        </p:blipFill>
        <p:spPr bwMode="auto">
          <a:xfrm>
            <a:off x="304800" y="381000"/>
            <a:ext cx="10591800" cy="6172200"/>
          </a:xfrm>
          <a:prstGeom prst="rect">
            <a:avLst/>
          </a:prstGeom>
          <a:noFill/>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2400" y="152400"/>
            <a:ext cx="11887200" cy="5539978"/>
          </a:xfrm>
        </p:spPr>
        <p:txBody>
          <a:bodyPr/>
          <a:lstStyle/>
          <a:p>
            <a:pPr algn="l">
              <a:buFont typeface="Arial" pitchFamily="34" charset="0"/>
              <a:buChar char="•"/>
            </a:pPr>
            <a:r>
              <a:rPr lang="en-US" b="1" u="sng" dirty="0" smtClean="0">
                <a:latin typeface="Times New Roman" pitchFamily="18" charset="0"/>
                <a:cs typeface="Times New Roman" pitchFamily="18" charset="0"/>
              </a:rPr>
              <a:t>Operation:</a:t>
            </a:r>
          </a:p>
          <a:p>
            <a:pPr algn="l">
              <a:buFont typeface="Arial" pitchFamily="34" charset="0"/>
              <a:buChar char="•"/>
            </a:pPr>
            <a:r>
              <a:rPr lang="en-US" dirty="0" smtClean="0">
                <a:latin typeface="Times New Roman" pitchFamily="18" charset="0"/>
                <a:cs typeface="Times New Roman" pitchFamily="18" charset="0"/>
              </a:rPr>
              <a:t>The n-bit binary counter is initially set to 0 by using reset command. Therefore the digital output is zero and the equivalent voltage VD is also 0V.</a:t>
            </a:r>
          </a:p>
          <a:p>
            <a:pPr algn="l">
              <a:buFont typeface="Arial" pitchFamily="34" charset="0"/>
              <a:buChar char="•"/>
            </a:pPr>
            <a:r>
              <a:rPr lang="en-US" dirty="0" smtClean="0">
                <a:latin typeface="Times New Roman" pitchFamily="18" charset="0"/>
                <a:cs typeface="Times New Roman" pitchFamily="18" charset="0"/>
              </a:rPr>
              <a:t>When the reset command is removed, the clock pulses are allowed to go through AND gate and are counted by the binary counter.</a:t>
            </a:r>
          </a:p>
          <a:p>
            <a:pPr algn="l">
              <a:buFont typeface="Arial" pitchFamily="34" charset="0"/>
              <a:buChar char="•"/>
            </a:pPr>
            <a:r>
              <a:rPr lang="en-US" dirty="0" smtClean="0">
                <a:latin typeface="Times New Roman" pitchFamily="18" charset="0"/>
                <a:cs typeface="Times New Roman" pitchFamily="18" charset="0"/>
              </a:rPr>
              <a:t>The D to A converter (DAC) converts the digital output to an analog voltage and applied as the inverting input to the comparator.</a:t>
            </a:r>
          </a:p>
          <a:p>
            <a:pPr algn="l">
              <a:buFont typeface="Arial" pitchFamily="34" charset="0"/>
              <a:buChar char="•"/>
            </a:pPr>
            <a:r>
              <a:rPr lang="en-US" dirty="0" smtClean="0">
                <a:latin typeface="Times New Roman" pitchFamily="18" charset="0"/>
                <a:cs typeface="Times New Roman" pitchFamily="18" charset="0"/>
              </a:rPr>
              <a:t> The output of the comparator enables the AND gate to pass the clock.</a:t>
            </a:r>
          </a:p>
          <a:p>
            <a:pPr algn="l">
              <a:buFont typeface="Arial" pitchFamily="34" charset="0"/>
              <a:buChar char="•"/>
            </a:pPr>
            <a:r>
              <a:rPr lang="en-US" dirty="0" smtClean="0">
                <a:latin typeface="Times New Roman" pitchFamily="18" charset="0"/>
                <a:cs typeface="Times New Roman" pitchFamily="18" charset="0"/>
              </a:rPr>
              <a:t>The number of clock pulses increases with time and the analog input voltage VD is a rising staircase waveform as shown in figure below.</a:t>
            </a:r>
          </a:p>
          <a:p>
            <a:pPr algn="l">
              <a:buFont typeface="Arial" pitchFamily="34" charset="0"/>
              <a:buChar char="•"/>
            </a:pPr>
            <a:r>
              <a:rPr lang="en-US" dirty="0" smtClean="0">
                <a:latin typeface="Times New Roman" pitchFamily="18" charset="0"/>
                <a:cs typeface="Times New Roman" pitchFamily="18" charset="0"/>
              </a:rPr>
              <a:t>The counting will continue until the DAC output VD, equals and just rises more than unknown analog input voltage VA. Then the comparator output becomes low and this disables the AND gate from passing the clock.</a:t>
            </a:r>
          </a:p>
          <a:p>
            <a:pPr algn="l">
              <a:buFont typeface="Arial" pitchFamily="34" charset="0"/>
              <a:buChar char="•"/>
            </a:pPr>
            <a:r>
              <a:rPr lang="en-US" dirty="0" smtClean="0">
                <a:latin typeface="Times New Roman" pitchFamily="18" charset="0"/>
                <a:cs typeface="Times New Roman" pitchFamily="18" charset="0"/>
              </a:rPr>
              <a:t>The counting stops at the instance VA&lt; VD, and at that instant the counter stops its progress and the conversion is said to be complete.</a:t>
            </a:r>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38</a:t>
            </a:fld>
            <a:endParaRPr 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533400"/>
            <a:ext cx="10744200" cy="3016210"/>
          </a:xfrm>
        </p:spPr>
        <p:txBody>
          <a:bodyPr/>
          <a:lstStyle/>
          <a:p>
            <a:pPr>
              <a:buFont typeface="Arial" pitchFamily="34" charset="0"/>
              <a:buChar char="•"/>
            </a:pPr>
            <a:r>
              <a:rPr lang="en-US" sz="2800" dirty="0" smtClean="0">
                <a:latin typeface="Times New Roman" pitchFamily="18" charset="0"/>
                <a:cs typeface="Times New Roman" pitchFamily="18" charset="0"/>
              </a:rPr>
              <a:t>The numbers stored in the n-bit counter is the equivalent n-bit digital data for the given analog input voltage.</a:t>
            </a:r>
            <a:br>
              <a:rPr lang="en-US" sz="2800" dirty="0" smtClean="0">
                <a:latin typeface="Times New Roman" pitchFamily="18" charset="0"/>
                <a:cs typeface="Times New Roman" pitchFamily="18" charset="0"/>
              </a:rPr>
            </a:br>
            <a:r>
              <a:rPr lang="en-US" sz="2800" dirty="0" smtClean="0">
                <a:latin typeface="Times New Roman" pitchFamily="18" charset="0"/>
                <a:cs typeface="Times New Roman" pitchFamily="18" charset="0"/>
              </a:rPr>
              <a:t>Advantages:</a:t>
            </a:r>
            <a:br>
              <a:rPr lang="en-US" sz="2800" dirty="0" smtClean="0">
                <a:latin typeface="Times New Roman" pitchFamily="18" charset="0"/>
                <a:cs typeface="Times New Roman" pitchFamily="18" charset="0"/>
              </a:rPr>
            </a:br>
            <a:r>
              <a:rPr lang="en-US" sz="2800" dirty="0" smtClean="0">
                <a:latin typeface="Times New Roman" pitchFamily="18" charset="0"/>
                <a:cs typeface="Times New Roman" pitchFamily="18" charset="0"/>
              </a:rPr>
              <a:t>1 Simple construction.</a:t>
            </a:r>
            <a:br>
              <a:rPr lang="en-US" sz="2800" dirty="0" smtClean="0">
                <a:latin typeface="Times New Roman" pitchFamily="18" charset="0"/>
                <a:cs typeface="Times New Roman" pitchFamily="18" charset="0"/>
              </a:rPr>
            </a:br>
            <a:r>
              <a:rPr lang="en-US" sz="2800" dirty="0" smtClean="0">
                <a:latin typeface="Times New Roman" pitchFamily="18" charset="0"/>
                <a:cs typeface="Times New Roman" pitchFamily="18" charset="0"/>
              </a:rPr>
              <a:t>2 Easy to design and less expensive.</a:t>
            </a:r>
            <a:br>
              <a:rPr lang="en-US" sz="2800" dirty="0" smtClean="0">
                <a:latin typeface="Times New Roman" pitchFamily="18" charset="0"/>
                <a:cs typeface="Times New Roman" pitchFamily="18" charset="0"/>
              </a:rPr>
            </a:br>
            <a:r>
              <a:rPr lang="en-US" sz="2800" dirty="0" smtClean="0">
                <a:latin typeface="Times New Roman" pitchFamily="18" charset="0"/>
                <a:cs typeface="Times New Roman" pitchFamily="18" charset="0"/>
              </a:rPr>
              <a:t>3 Speed can be adjusted by adjusting the clock frequency.</a:t>
            </a:r>
            <a:br>
              <a:rPr lang="en-US" sz="2800" dirty="0" smtClean="0">
                <a:latin typeface="Times New Roman" pitchFamily="18" charset="0"/>
                <a:cs typeface="Times New Roman" pitchFamily="18" charset="0"/>
              </a:rPr>
            </a:br>
            <a:r>
              <a:rPr lang="en-US" sz="2800" dirty="0" smtClean="0">
                <a:latin typeface="Times New Roman" pitchFamily="18" charset="0"/>
                <a:cs typeface="Times New Roman" pitchFamily="18" charset="0"/>
              </a:rPr>
              <a:t>4 Faster than dual slope type ADC.</a:t>
            </a:r>
            <a:endParaRPr lang="en-US" sz="2800" dirty="0">
              <a:latin typeface="Times New Roman" pitchFamily="18" charset="0"/>
              <a:cs typeface="Times New Roman" pitchFamily="18" charset="0"/>
            </a:endParaRPr>
          </a:p>
        </p:txBody>
      </p:sp>
      <p:sp>
        <p:nvSpPr>
          <p:cNvPr id="4" name="Slide Number Placeholder 3"/>
          <p:cNvSpPr>
            <a:spLocks noGrp="1"/>
          </p:cNvSpPr>
          <p:nvPr>
            <p:ph type="sldNum" sz="quarter" idx="7"/>
          </p:nvPr>
        </p:nvSpPr>
        <p:spPr>
          <a:xfrm>
            <a:off x="11068811" y="6464909"/>
            <a:ext cx="231775" cy="162801"/>
          </a:xfrm>
        </p:spPr>
        <p:txBody>
          <a:bodyPr/>
          <a:lstStyle/>
          <a:p>
            <a:pPr marL="38100">
              <a:lnSpc>
                <a:spcPts val="1240"/>
              </a:lnSpc>
            </a:pPr>
            <a:fld id="{81D60167-4931-47E6-BA6A-407CBD079E47}" type="slidenum">
              <a:rPr lang="en-US" sz="1400" smtClean="0">
                <a:latin typeface="Times New Roman" pitchFamily="18" charset="0"/>
                <a:cs typeface="Times New Roman" pitchFamily="18" charset="0"/>
              </a:rPr>
              <a:pPr marL="38100">
                <a:lnSpc>
                  <a:spcPts val="1240"/>
                </a:lnSpc>
              </a:pPr>
              <a:t>39</a:t>
            </a:fld>
            <a:endParaRPr lang="en-US" sz="1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8600" y="228600"/>
            <a:ext cx="11811000" cy="2215991"/>
          </a:xfrm>
        </p:spPr>
        <p:txBody>
          <a:bodyPr/>
          <a:lstStyle/>
          <a:p>
            <a:r>
              <a:rPr lang="en-US" b="1" u="sng" dirty="0" smtClean="0">
                <a:latin typeface="Times New Roman" pitchFamily="18" charset="0"/>
                <a:cs typeface="Times New Roman" pitchFamily="18" charset="0"/>
              </a:rPr>
              <a:t>Dual Slope type ADC</a:t>
            </a:r>
          </a:p>
          <a:p>
            <a:pPr>
              <a:buFont typeface="Arial" pitchFamily="34" charset="0"/>
              <a:buChar char="•"/>
            </a:pPr>
            <a:r>
              <a:rPr lang="en-US" dirty="0" smtClean="0">
                <a:latin typeface="Times New Roman" pitchFamily="18" charset="0"/>
                <a:cs typeface="Times New Roman" pitchFamily="18" charset="0"/>
              </a:rPr>
              <a:t>In dual slope type ADC, the integrator generates two different ramps, one with the known analog input voltage VA and another with a known reference voltage –</a:t>
            </a:r>
            <a:r>
              <a:rPr lang="en-US" dirty="0" err="1" smtClean="0">
                <a:latin typeface="Times New Roman" pitchFamily="18" charset="0"/>
                <a:cs typeface="Times New Roman" pitchFamily="18" charset="0"/>
              </a:rPr>
              <a:t>Vref</a:t>
            </a:r>
            <a:r>
              <a:rPr lang="en-US" dirty="0" smtClean="0">
                <a:latin typeface="Times New Roman" pitchFamily="18" charset="0"/>
                <a:cs typeface="Times New Roman" pitchFamily="18" charset="0"/>
              </a:rPr>
              <a:t>. </a:t>
            </a:r>
          </a:p>
          <a:p>
            <a:pPr>
              <a:buFont typeface="Arial" pitchFamily="34" charset="0"/>
              <a:buChar char="•"/>
            </a:pPr>
            <a:r>
              <a:rPr lang="en-US" dirty="0" smtClean="0">
                <a:latin typeface="Times New Roman" pitchFamily="18" charset="0"/>
                <a:cs typeface="Times New Roman" pitchFamily="18" charset="0"/>
              </a:rPr>
              <a:t>Hence it is called a s dual slope A to D converter. </a:t>
            </a:r>
          </a:p>
          <a:p>
            <a:pPr>
              <a:buFont typeface="Arial" pitchFamily="34" charset="0"/>
              <a:buChar char="•"/>
            </a:pPr>
            <a:r>
              <a:rPr lang="en-US" dirty="0" smtClean="0">
                <a:latin typeface="Times New Roman" pitchFamily="18" charset="0"/>
                <a:cs typeface="Times New Roman" pitchFamily="18" charset="0"/>
              </a:rPr>
              <a:t>The logic diagram for the same is shown below.</a:t>
            </a:r>
          </a:p>
          <a:p>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40</a:t>
            </a:fld>
            <a:endParaRPr lang="en-US" dirty="0"/>
          </a:p>
        </p:txBody>
      </p:sp>
      <p:pic>
        <p:nvPicPr>
          <p:cNvPr id="6" name="Picture 5" descr="CamScanner 07-27-2023 13.23.jpg"/>
          <p:cNvPicPr>
            <a:picLocks noChangeAspect="1"/>
          </p:cNvPicPr>
          <p:nvPr/>
        </p:nvPicPr>
        <p:blipFill>
          <a:blip r:embed="rId2"/>
          <a:stretch>
            <a:fillRect/>
          </a:stretch>
        </p:blipFill>
        <p:spPr>
          <a:xfrm rot="16200000">
            <a:off x="3743693" y="-1000494"/>
            <a:ext cx="4095015" cy="10972801"/>
          </a:xfrm>
          <a:prstGeom prst="rect">
            <a:avLst/>
          </a:prstGeo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8600" y="228600"/>
            <a:ext cx="11811000" cy="4062651"/>
          </a:xfrm>
        </p:spPr>
        <p:txBody>
          <a:bodyPr/>
          <a:lstStyle/>
          <a:p>
            <a:r>
              <a:rPr lang="en-US" b="1" dirty="0" smtClean="0">
                <a:latin typeface="Times New Roman" pitchFamily="18" charset="0"/>
                <a:cs typeface="Times New Roman" pitchFamily="18" charset="0"/>
              </a:rPr>
              <a:t>Operation:</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The binary counter is initially reset to 0000; the output of integrator reset to 0V and the input to the ramp generator or integrator is switched to the unknown analog input voltage VA.</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The analog input voltage VA is integrated by the inverting integrator and generates a negative ramp output. The output of comparator is positive and the clock is passed through the AND gate. This results in counting up of the binary counter.</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The negative ramp continues for a fixed time period t1, which is determined by a count detector for the time period t1. At the end of the fixed time period t1, the ramp output of integrator is given by</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∴VS=-VA/RC×t1</a:t>
            </a:r>
          </a:p>
          <a:p>
            <a:r>
              <a:rPr lang="en-US" dirty="0" smtClean="0"/>
              <a:t>The dual ramp output waveform is shown below.</a:t>
            </a:r>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41</a:t>
            </a:fld>
            <a:endParaRPr lang="en-US" dirty="0"/>
          </a:p>
        </p:txBody>
      </p:sp>
      <p:pic>
        <p:nvPicPr>
          <p:cNvPr id="79874" name="Picture 2" descr="https://www.electronics-tutorial.net/wp-content/uploads/2015/09/DAC23.png"/>
          <p:cNvPicPr>
            <a:picLocks noChangeAspect="1" noChangeArrowheads="1"/>
          </p:cNvPicPr>
          <p:nvPr/>
        </p:nvPicPr>
        <p:blipFill>
          <a:blip r:embed="rId2"/>
          <a:srcRect/>
          <a:stretch>
            <a:fillRect/>
          </a:stretch>
        </p:blipFill>
        <p:spPr bwMode="auto">
          <a:xfrm>
            <a:off x="3962400" y="4419600"/>
            <a:ext cx="7315200" cy="2438400"/>
          </a:xfrm>
          <a:prstGeom prst="rect">
            <a:avLst/>
          </a:prstGeom>
          <a:noFill/>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8600" y="228600"/>
            <a:ext cx="11811000" cy="7017306"/>
          </a:xfrm>
        </p:spPr>
        <p:txBody>
          <a:bodyPr/>
          <a:lstStyle/>
          <a:p>
            <a:pPr>
              <a:buFont typeface="Arial" pitchFamily="34" charset="0"/>
              <a:buChar char="•"/>
            </a:pPr>
            <a:r>
              <a:rPr lang="en-US" dirty="0" smtClean="0">
                <a:latin typeface="Times New Roman" pitchFamily="18" charset="0"/>
                <a:cs typeface="Times New Roman" pitchFamily="18" charset="0"/>
              </a:rPr>
              <a:t>When the counter reaches the fixed count at time period t1, the binary counter resets to 0000 and switches the integrator input to a negative reference voltage –</a:t>
            </a:r>
            <a:r>
              <a:rPr lang="en-US" dirty="0" err="1" smtClean="0">
                <a:latin typeface="Times New Roman" pitchFamily="18" charset="0"/>
                <a:cs typeface="Times New Roman" pitchFamily="18" charset="0"/>
              </a:rPr>
              <a:t>Vref</a:t>
            </a:r>
            <a:r>
              <a:rPr lang="en-US" dirty="0" smtClean="0">
                <a:latin typeface="Times New Roman" pitchFamily="18" charset="0"/>
                <a:cs typeface="Times New Roman" pitchFamily="18" charset="0"/>
              </a:rPr>
              <a:t>.</a:t>
            </a:r>
          </a:p>
          <a:p>
            <a:pPr>
              <a:buFont typeface="Arial" pitchFamily="34" charset="0"/>
              <a:buChar char="•"/>
            </a:pPr>
            <a:r>
              <a:rPr lang="en-US" dirty="0" smtClean="0">
                <a:latin typeface="Times New Roman" pitchFamily="18" charset="0"/>
                <a:cs typeface="Times New Roman" pitchFamily="18" charset="0"/>
              </a:rPr>
              <a:t>Now the ramp generator starts with the initial value –Vs and increases in positive direction until it reaches 0V and the counter gets advanced. </a:t>
            </a:r>
          </a:p>
          <a:p>
            <a:pPr>
              <a:buFont typeface="Arial" pitchFamily="34" charset="0"/>
              <a:buChar char="•"/>
            </a:pPr>
            <a:r>
              <a:rPr lang="en-US" dirty="0" smtClean="0">
                <a:latin typeface="Times New Roman" pitchFamily="18" charset="0"/>
                <a:cs typeface="Times New Roman" pitchFamily="18" charset="0"/>
              </a:rPr>
              <a:t>When Vs reaches 0V, comparator output becomes negative (i.e. logic 0) and the AND gate is deactivated. </a:t>
            </a:r>
          </a:p>
          <a:p>
            <a:pPr>
              <a:buFont typeface="Arial" pitchFamily="34" charset="0"/>
              <a:buChar char="•"/>
            </a:pPr>
            <a:r>
              <a:rPr lang="en-US" dirty="0" smtClean="0">
                <a:latin typeface="Times New Roman" pitchFamily="18" charset="0"/>
                <a:cs typeface="Times New Roman" pitchFamily="18" charset="0"/>
              </a:rPr>
              <a:t>Hence no further clock is applied through AND gate. </a:t>
            </a:r>
          </a:p>
          <a:p>
            <a:pPr>
              <a:buFont typeface="Arial" pitchFamily="34" charset="0"/>
              <a:buChar char="•"/>
            </a:pPr>
            <a:r>
              <a:rPr lang="en-US" dirty="0" smtClean="0">
                <a:latin typeface="Times New Roman" pitchFamily="18" charset="0"/>
                <a:cs typeface="Times New Roman" pitchFamily="18" charset="0"/>
              </a:rPr>
              <a:t>Now, the conversion cycle is said to be completed and the positive ramp voltage is given by</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∴VS=</a:t>
            </a:r>
            <a:r>
              <a:rPr lang="en-US" dirty="0" err="1" smtClean="0">
                <a:latin typeface="Times New Roman" pitchFamily="18" charset="0"/>
                <a:cs typeface="Times New Roman" pitchFamily="18" charset="0"/>
              </a:rPr>
              <a:t>Vref</a:t>
            </a:r>
            <a:r>
              <a:rPr lang="en-US" dirty="0" smtClean="0">
                <a:latin typeface="Times New Roman" pitchFamily="18" charset="0"/>
                <a:cs typeface="Times New Roman" pitchFamily="18" charset="0"/>
              </a:rPr>
              <a:t>/RC×t2</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Where </a:t>
            </a:r>
            <a:r>
              <a:rPr lang="en-US" dirty="0" err="1" smtClean="0">
                <a:latin typeface="Times New Roman" pitchFamily="18" charset="0"/>
                <a:cs typeface="Times New Roman" pitchFamily="18" charset="0"/>
              </a:rPr>
              <a:t>Vref</a:t>
            </a:r>
            <a:r>
              <a:rPr lang="en-US" dirty="0" smtClean="0">
                <a:latin typeface="Times New Roman" pitchFamily="18" charset="0"/>
                <a:cs typeface="Times New Roman" pitchFamily="18" charset="0"/>
              </a:rPr>
              <a:t> &amp; RC are constants and time period t2 is variable.</a:t>
            </a:r>
          </a:p>
          <a:p>
            <a:pPr>
              <a:buFont typeface="Arial" pitchFamily="34" charset="0"/>
              <a:buChar char="•"/>
            </a:pPr>
            <a:r>
              <a:rPr lang="en-US" dirty="0" smtClean="0">
                <a:latin typeface="Times New Roman" pitchFamily="18" charset="0"/>
                <a:cs typeface="Times New Roman" pitchFamily="18" charset="0"/>
              </a:rPr>
              <a:t>Since ramp generator voltage starts at 0V, decreasing down to –Vs and then increasing up to 0V, the amplitude of negative and positive ramp voltages can be equated as follows.</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Vref</a:t>
            </a:r>
            <a:r>
              <a:rPr lang="en-US" dirty="0" smtClean="0">
                <a:latin typeface="Times New Roman" pitchFamily="18" charset="0"/>
                <a:cs typeface="Times New Roman" pitchFamily="18" charset="0"/>
              </a:rPr>
              <a:t>/RC×t2=-VA/RC×t1</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∴t2=-t1×VA/</a:t>
            </a:r>
            <a:r>
              <a:rPr lang="en-US" dirty="0" err="1" smtClean="0">
                <a:latin typeface="Times New Roman" pitchFamily="18" charset="0"/>
                <a:cs typeface="Times New Roman" pitchFamily="18" charset="0"/>
              </a:rPr>
              <a:t>Vref</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∴VA=-Vref×t1/t2</a:t>
            </a:r>
          </a:p>
          <a:p>
            <a:pPr>
              <a:buFont typeface="Arial" pitchFamily="34" charset="0"/>
              <a:buChar char="•"/>
            </a:pPr>
            <a:r>
              <a:rPr lang="en-US" dirty="0" smtClean="0">
                <a:latin typeface="Times New Roman" pitchFamily="18" charset="0"/>
                <a:cs typeface="Times New Roman" pitchFamily="18" charset="0"/>
              </a:rPr>
              <a:t>Thus the unknown analog input voltage VA is proportional to the time period t2, because </a:t>
            </a:r>
            <a:r>
              <a:rPr lang="en-US" dirty="0" err="1" smtClean="0">
                <a:latin typeface="Times New Roman" pitchFamily="18" charset="0"/>
                <a:cs typeface="Times New Roman" pitchFamily="18" charset="0"/>
              </a:rPr>
              <a:t>Vref</a:t>
            </a:r>
            <a:r>
              <a:rPr lang="en-US" dirty="0" smtClean="0">
                <a:latin typeface="Times New Roman" pitchFamily="18" charset="0"/>
                <a:cs typeface="Times New Roman" pitchFamily="18" charset="0"/>
              </a:rPr>
              <a:t> is a known reference voltage and t1 is the predetermined time period.</a:t>
            </a:r>
          </a:p>
          <a:p>
            <a:pPr>
              <a:buFont typeface="Arial" pitchFamily="34" charset="0"/>
              <a:buChar char="•"/>
            </a:pPr>
            <a:endParaRPr lang="en-US" dirty="0" smtClean="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42</a:t>
            </a:fld>
            <a:endParaRPr lang="en-US"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8600" y="315754"/>
            <a:ext cx="11811000" cy="5909310"/>
          </a:xfrm>
        </p:spPr>
        <p:txBody>
          <a:bodyPr/>
          <a:lstStyle/>
          <a:p>
            <a:pPr>
              <a:buFont typeface="Arial" pitchFamily="34" charset="0"/>
              <a:buChar char="•"/>
            </a:pPr>
            <a:r>
              <a:rPr lang="en-US" dirty="0" smtClean="0">
                <a:latin typeface="Times New Roman" pitchFamily="18" charset="0"/>
                <a:cs typeface="Times New Roman" pitchFamily="18" charset="0"/>
              </a:rPr>
              <a:t>The actual conversion of analog voltage VA into a digital count occurs during time t2. </a:t>
            </a:r>
          </a:p>
          <a:p>
            <a:pPr>
              <a:buFont typeface="Arial" pitchFamily="34" charset="0"/>
              <a:buChar char="•"/>
            </a:pPr>
            <a:r>
              <a:rPr lang="en-US" dirty="0" smtClean="0">
                <a:latin typeface="Times New Roman" pitchFamily="18" charset="0"/>
                <a:cs typeface="Times New Roman" pitchFamily="18" charset="0"/>
              </a:rPr>
              <a:t>The binary counter gives corresponding digital value for time period t2. </a:t>
            </a:r>
          </a:p>
          <a:p>
            <a:pPr>
              <a:buFont typeface="Arial" pitchFamily="34" charset="0"/>
              <a:buChar char="•"/>
            </a:pPr>
            <a:r>
              <a:rPr lang="en-US" dirty="0" smtClean="0">
                <a:latin typeface="Times New Roman" pitchFamily="18" charset="0"/>
                <a:cs typeface="Times New Roman" pitchFamily="18" charset="0"/>
              </a:rPr>
              <a:t>The clock is connected to the counter at the beginning of t2 and is disconnected at the end of t2. </a:t>
            </a:r>
          </a:p>
          <a:p>
            <a:pPr>
              <a:buFont typeface="Arial" pitchFamily="34" charset="0"/>
              <a:buChar char="•"/>
            </a:pPr>
            <a:r>
              <a:rPr lang="en-US" dirty="0" smtClean="0">
                <a:latin typeface="Times New Roman" pitchFamily="18" charset="0"/>
                <a:cs typeface="Times New Roman" pitchFamily="18" charset="0"/>
              </a:rPr>
              <a:t>Thus the counter counts digital output as</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Digital output=(counts/sec) t2</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∴Digital output=(counts/sec)[t1×VA/</a:t>
            </a:r>
            <a:r>
              <a:rPr lang="en-US" dirty="0" err="1" smtClean="0">
                <a:latin typeface="Times New Roman" pitchFamily="18" charset="0"/>
                <a:cs typeface="Times New Roman" pitchFamily="18" charset="0"/>
              </a:rPr>
              <a:t>Vref</a:t>
            </a:r>
            <a:r>
              <a:rPr lang="en-US" dirty="0" smtClean="0">
                <a:latin typeface="Times New Roman" pitchFamily="18" charset="0"/>
                <a:cs typeface="Times New Roman" pitchFamily="18" charset="0"/>
              </a:rPr>
              <a:t> ]</a:t>
            </a:r>
          </a:p>
          <a:p>
            <a:pPr>
              <a:buFont typeface="Arial" pitchFamily="34" charset="0"/>
              <a:buChar char="•"/>
            </a:pPr>
            <a:endParaRPr lang="en-US" dirty="0" smtClean="0">
              <a:latin typeface="Times New Roman" pitchFamily="18" charset="0"/>
              <a:cs typeface="Times New Roman" pitchFamily="18" charset="0"/>
            </a:endParaRPr>
          </a:p>
          <a:p>
            <a:pPr>
              <a:buFont typeface="Arial" pitchFamily="34" charset="0"/>
              <a:buChar char="•"/>
            </a:pPr>
            <a:r>
              <a:rPr lang="en-US" i="1" dirty="0" smtClean="0"/>
              <a:t>For example, consider the clock frequency is 1 MHz, the reference voltage is -1V, the fixed time period t1 is 1ms and the RC time constant is also 1 </a:t>
            </a:r>
            <a:r>
              <a:rPr lang="en-US" i="1" dirty="0" err="1" smtClean="0"/>
              <a:t>ms.</a:t>
            </a:r>
            <a:r>
              <a:rPr lang="en-US" i="1" dirty="0" smtClean="0"/>
              <a:t> Assuming the unknown analog input voltage amplitude as VA = 5V, during the fixed time period t1 , the integrator output Vs is</a:t>
            </a:r>
            <a:br>
              <a:rPr lang="en-US" i="1" dirty="0" smtClean="0"/>
            </a:br>
            <a:r>
              <a:rPr lang="en-US" i="1" dirty="0" smtClean="0"/>
              <a:t>∴VS=-VA/RC×t1=(-5)/1ms×1ms=-5V</a:t>
            </a:r>
            <a:br>
              <a:rPr lang="en-US" i="1" dirty="0" smtClean="0"/>
            </a:br>
            <a:r>
              <a:rPr lang="en-US" i="1" dirty="0" smtClean="0"/>
              <a:t>During the time period t2, ramp generator will integrate all the way back to 0V.</a:t>
            </a:r>
            <a:br>
              <a:rPr lang="en-US" i="1" dirty="0" smtClean="0"/>
            </a:br>
            <a:r>
              <a:rPr lang="en-US" i="1" dirty="0" smtClean="0"/>
              <a:t>∴t2=VS/</a:t>
            </a:r>
            <a:r>
              <a:rPr lang="en-US" i="1" dirty="0" err="1" smtClean="0"/>
              <a:t>Vref</a:t>
            </a:r>
            <a:r>
              <a:rPr lang="en-US" i="1" dirty="0" smtClean="0"/>
              <a:t> ×RC=(-5)/(-1)×1ms=5ms=5000μs</a:t>
            </a:r>
            <a:br>
              <a:rPr lang="en-US" i="1" dirty="0" smtClean="0"/>
            </a:br>
            <a:r>
              <a:rPr lang="en-US" i="1" dirty="0" smtClean="0"/>
              <a:t>Hence the 4-bit counter value is 5000, and by activating the decimal point of MSD seven segment displays, the display can directly read as 5V.</a:t>
            </a:r>
            <a:endParaRPr lang="en-US" i="1" dirty="0" smtClean="0">
              <a:latin typeface="Times New Roman" pitchFamily="18" charset="0"/>
              <a:cs typeface="Times New Roman" pitchFamily="18" charset="0"/>
            </a:endParaRPr>
          </a:p>
          <a:p>
            <a:endParaRPr lang="en-US" i="1" dirty="0">
              <a:latin typeface="Times New Roman" pitchFamily="18" charset="0"/>
              <a:cs typeface="Times New Roman" pitchFamily="18" charset="0"/>
            </a:endParaRPr>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43</a:t>
            </a:fld>
            <a:endParaRPr lang="en-US"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8600" y="228600"/>
            <a:ext cx="11811000" cy="5539978"/>
          </a:xfrm>
        </p:spPr>
        <p:txBody>
          <a:bodyPr/>
          <a:lstStyle/>
          <a:p>
            <a:r>
              <a:rPr lang="en-US" b="1" dirty="0" smtClean="0"/>
              <a:t>Delta-Sigma ADC</a:t>
            </a:r>
            <a:endParaRPr lang="en-US" dirty="0" smtClean="0"/>
          </a:p>
          <a:p>
            <a:r>
              <a:rPr lang="en-US" dirty="0" smtClean="0"/>
              <a:t>One of the more advanced ADC technologies is the so-called delta-sigma, or ΔΣ (using the proper Greek letter notation). In mathematics and physics, the capital Greek letter delta (Δ) represents </a:t>
            </a:r>
            <a:r>
              <a:rPr lang="en-US" i="1" dirty="0" smtClean="0"/>
              <a:t>difference</a:t>
            </a:r>
            <a:r>
              <a:rPr lang="en-US" dirty="0" smtClean="0"/>
              <a:t> or </a:t>
            </a:r>
            <a:r>
              <a:rPr lang="en-US" i="1" dirty="0" smtClean="0"/>
              <a:t>change</a:t>
            </a:r>
            <a:r>
              <a:rPr lang="en-US" dirty="0" smtClean="0"/>
              <a:t>, while the capital letter sigma (Σ) represents </a:t>
            </a:r>
            <a:r>
              <a:rPr lang="en-US" i="1" dirty="0" smtClean="0"/>
              <a:t>summation</a:t>
            </a:r>
            <a:r>
              <a:rPr lang="en-US" dirty="0" smtClean="0"/>
              <a:t>: the adding of multiple terms together. Sometimes this converter is referred to by the same Greek letters in reverse order: sigma-delta, or ΣΔ.</a:t>
            </a:r>
          </a:p>
          <a:p>
            <a:r>
              <a:rPr lang="en-US" dirty="0" smtClean="0"/>
              <a:t>In a ΔΣ converter, the analog input voltage signal is connected to the input of an </a:t>
            </a:r>
            <a:r>
              <a:rPr lang="en-US" dirty="0" smtClean="0">
                <a:hlinkClick r:id="rId2"/>
              </a:rPr>
              <a:t>integrator</a:t>
            </a:r>
            <a:r>
              <a:rPr lang="en-US" dirty="0" smtClean="0"/>
              <a:t>, producing a voltage rate-of-change, or slope, at the output corresponding to input magnitude. This ramping voltage is then compared against ground potential (0 volts) by a comparator.</a:t>
            </a:r>
          </a:p>
          <a:p>
            <a:r>
              <a:rPr lang="en-US" dirty="0" smtClean="0"/>
              <a:t>The </a:t>
            </a:r>
            <a:r>
              <a:rPr lang="en-US" dirty="0" smtClean="0">
                <a:hlinkClick r:id="rId3"/>
              </a:rPr>
              <a:t>comparator</a:t>
            </a:r>
            <a:r>
              <a:rPr lang="en-US" dirty="0" smtClean="0"/>
              <a:t> acts as a sort of 1-bit ADC, producing 1 bit of output (“high” or “low”) depending on whether the integrator output is positive or negative. The comparator’s output is then latched through a D-type flip-flop clocked at a high frequency, and </a:t>
            </a:r>
            <a:r>
              <a:rPr lang="en-US" i="1" dirty="0" smtClean="0"/>
              <a:t>fed back</a:t>
            </a:r>
            <a:r>
              <a:rPr lang="en-US" dirty="0" smtClean="0"/>
              <a:t> to another input channel on the integrator, to drive the integrator in the direction of a 0 volt output. The basic circuit looks like this:</a:t>
            </a:r>
          </a:p>
          <a:p>
            <a:endParaRPr lang="en-US" dirty="0"/>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44</a:t>
            </a:fld>
            <a:endParaRPr 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8600" y="228600"/>
            <a:ext cx="11811000" cy="3693319"/>
          </a:xfrm>
        </p:spPr>
        <p:txBody>
          <a:bodyPr/>
          <a:lstStyle/>
          <a:p>
            <a:r>
              <a:rPr lang="en-US" b="1" dirty="0" smtClean="0"/>
              <a:t>Schematic Diagram</a:t>
            </a:r>
            <a:endParaRPr lang="en-US" dirty="0" smtClean="0"/>
          </a:p>
          <a:p>
            <a:r>
              <a:rPr lang="en-US" dirty="0" smtClean="0"/>
              <a:t>The leftmost op-amp is the (summing) integrator. The next op-amp the integrator feeds into is the comparator, or 1-bit ADC. Next comes the D-type flip-flop, which latches the comparator’s output at every clock pulse, sending either a “high” or “low” signal to the next comparator at the top of the circuit.</a:t>
            </a:r>
          </a:p>
          <a:p>
            <a:r>
              <a:rPr lang="en-US" dirty="0" smtClean="0"/>
              <a:t>This final comparator is necessary to convert the single-polarity 0V / 5V logic level output voltage of the flip-flop into a +V / -V voltage signal to be fed back to the integrator. If the integrator output is positive, the first comparator will output a “high” signal to the D input of the </a:t>
            </a:r>
            <a:r>
              <a:rPr lang="en-US" dirty="0" smtClean="0">
                <a:hlinkClick r:id="rId2"/>
              </a:rPr>
              <a:t>flip-flop</a:t>
            </a:r>
            <a:r>
              <a:rPr lang="en-US" dirty="0" smtClean="0"/>
              <a:t>.</a:t>
            </a:r>
          </a:p>
          <a:p>
            <a:endParaRPr lang="en-US" dirty="0"/>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45</a:t>
            </a:fld>
            <a:endParaRPr lang="en-US" dirty="0"/>
          </a:p>
        </p:txBody>
      </p:sp>
      <p:pic>
        <p:nvPicPr>
          <p:cNvPr id="5" name="Picture 4" descr="https://www.allaboutcircuits.com/uploads/articles/delta-sigma-ADC-schematic-diagram.jpg"/>
          <p:cNvPicPr/>
          <p:nvPr/>
        </p:nvPicPr>
        <p:blipFill>
          <a:blip r:embed="rId3"/>
          <a:srcRect/>
          <a:stretch>
            <a:fillRect/>
          </a:stretch>
        </p:blipFill>
        <p:spPr bwMode="auto">
          <a:xfrm>
            <a:off x="1905000" y="3352800"/>
            <a:ext cx="8915400" cy="3505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8600" y="228600"/>
            <a:ext cx="11811000" cy="6647974"/>
          </a:xfrm>
        </p:spPr>
        <p:txBody>
          <a:bodyPr/>
          <a:lstStyle/>
          <a:p>
            <a:r>
              <a:rPr lang="en-US" dirty="0" smtClean="0"/>
              <a:t>At the next clock pulse, this “high” signal will be output from the Q line into the </a:t>
            </a:r>
            <a:r>
              <a:rPr lang="en-US" dirty="0" err="1" smtClean="0"/>
              <a:t>noninverting</a:t>
            </a:r>
            <a:r>
              <a:rPr lang="en-US" dirty="0" smtClean="0"/>
              <a:t> input of the last comparator. This last comparator, seeing an input voltage greater than the threshold voltage of 1/2 +V, saturates in a positive direction, sending a full +V signal to the other input of the integrator.</a:t>
            </a:r>
          </a:p>
          <a:p>
            <a:r>
              <a:rPr lang="en-US" dirty="0" smtClean="0"/>
              <a:t>This +V feedback signal tends to drive the integrator output in a negative direction. If that output voltage ever becomes negative, the feedback loop will send a corrective signal (-V) back around to the top input of the integrator to drive it in a positive direction.</a:t>
            </a:r>
          </a:p>
          <a:p>
            <a:r>
              <a:rPr lang="en-US" dirty="0" smtClean="0"/>
              <a:t>This is the delta-sigma concept in action: the first comparator senses a </a:t>
            </a:r>
            <a:r>
              <a:rPr lang="en-US" i="1" dirty="0" smtClean="0"/>
              <a:t>difference</a:t>
            </a:r>
            <a:r>
              <a:rPr lang="en-US" dirty="0" smtClean="0"/>
              <a:t> (Δ) between the integrator output and zero volts. The integrator </a:t>
            </a:r>
            <a:r>
              <a:rPr lang="en-US" i="1" dirty="0" smtClean="0"/>
              <a:t>sums</a:t>
            </a:r>
            <a:r>
              <a:rPr lang="en-US" dirty="0" smtClean="0"/>
              <a:t> (Σ) the comparator’s output with the analog input signal.</a:t>
            </a:r>
          </a:p>
          <a:p>
            <a:r>
              <a:rPr lang="en-US" dirty="0" smtClean="0"/>
              <a:t> </a:t>
            </a:r>
          </a:p>
          <a:p>
            <a:r>
              <a:rPr lang="en-US" dirty="0" smtClean="0"/>
              <a:t>Functionally, this results in a serial stream of bits output by the flip-flop. If the analog input is zero volts, the integrator will have no tendency to ramp either positive or negative, except in response to the feedback voltage.</a:t>
            </a:r>
          </a:p>
          <a:p>
            <a:r>
              <a:rPr lang="en-US" dirty="0" smtClean="0"/>
              <a:t>In this scenario, the flip-flop output will continually oscillate between “high” and “low,” as the feedback system “hunts” back and forth, trying to maintain the integrator output at zero volts:</a:t>
            </a:r>
          </a:p>
          <a:p>
            <a:r>
              <a:rPr lang="en-US" b="1" dirty="0" smtClean="0"/>
              <a:t> </a:t>
            </a:r>
            <a:endParaRPr lang="en-US" dirty="0" smtClean="0"/>
          </a:p>
          <a:p>
            <a:endParaRPr lang="en-US" dirty="0"/>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46</a:t>
            </a:fld>
            <a:endParaRPr lang="en-US"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8600" y="228600"/>
            <a:ext cx="11811000" cy="1107996"/>
          </a:xfrm>
        </p:spPr>
        <p:txBody>
          <a:bodyPr/>
          <a:lstStyle/>
          <a:p>
            <a:r>
              <a:rPr lang="en-US" b="1" dirty="0" smtClean="0"/>
              <a:t>Output Waveforms</a:t>
            </a:r>
            <a:endParaRPr lang="en-US" dirty="0" smtClean="0"/>
          </a:p>
          <a:p>
            <a:r>
              <a:rPr lang="en-US" dirty="0" smtClean="0"/>
              <a:t> </a:t>
            </a:r>
          </a:p>
          <a:p>
            <a:endParaRPr lang="en-US" dirty="0"/>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47</a:t>
            </a:fld>
            <a:endParaRPr lang="en-US" dirty="0"/>
          </a:p>
        </p:txBody>
      </p:sp>
      <p:pic>
        <p:nvPicPr>
          <p:cNvPr id="5" name="Picture 4" descr="https://www.allaboutcircuits.com/uploads/articles/converter-operation-with-zero-volt-analog-input.jpg"/>
          <p:cNvPicPr/>
          <p:nvPr/>
        </p:nvPicPr>
        <p:blipFill>
          <a:blip r:embed="rId2"/>
          <a:srcRect/>
          <a:stretch>
            <a:fillRect/>
          </a:stretch>
        </p:blipFill>
        <p:spPr bwMode="auto">
          <a:xfrm>
            <a:off x="3476625" y="2014537"/>
            <a:ext cx="5238750" cy="28289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48</a:t>
            </a:fld>
            <a:endParaRPr dirty="0"/>
          </a:p>
        </p:txBody>
      </p:sp>
      <p:sp>
        <p:nvSpPr>
          <p:cNvPr id="2" name="object 2"/>
          <p:cNvSpPr txBox="1">
            <a:spLocks noGrp="1"/>
          </p:cNvSpPr>
          <p:nvPr>
            <p:ph type="title"/>
          </p:nvPr>
        </p:nvSpPr>
        <p:spPr>
          <a:xfrm>
            <a:off x="916939" y="609676"/>
            <a:ext cx="8151495" cy="697230"/>
          </a:xfrm>
          <a:prstGeom prst="rect">
            <a:avLst/>
          </a:prstGeom>
        </p:spPr>
        <p:txBody>
          <a:bodyPr vert="horz" wrap="square" lIns="0" tIns="13335" rIns="0" bIns="0" rtlCol="0">
            <a:spAutoFit/>
          </a:bodyPr>
          <a:lstStyle/>
          <a:p>
            <a:pPr marL="12700">
              <a:lnSpc>
                <a:spcPct val="100000"/>
              </a:lnSpc>
              <a:spcBef>
                <a:spcPts val="105"/>
              </a:spcBef>
            </a:pPr>
            <a:r>
              <a:rPr spc="-70" dirty="0"/>
              <a:t>Parameters</a:t>
            </a:r>
            <a:r>
              <a:rPr spc="-80" dirty="0"/>
              <a:t> </a:t>
            </a:r>
            <a:r>
              <a:rPr spc="-50" dirty="0"/>
              <a:t>for</a:t>
            </a:r>
            <a:r>
              <a:rPr spc="-90" dirty="0"/>
              <a:t> </a:t>
            </a:r>
            <a:r>
              <a:rPr spc="-30" dirty="0"/>
              <a:t>selection</a:t>
            </a:r>
            <a:r>
              <a:rPr spc="-100" dirty="0"/>
              <a:t> </a:t>
            </a:r>
            <a:r>
              <a:rPr spc="-15" dirty="0"/>
              <a:t>of</a:t>
            </a:r>
            <a:r>
              <a:rPr spc="-65" dirty="0"/>
              <a:t> </a:t>
            </a:r>
            <a:r>
              <a:rPr spc="-45" dirty="0"/>
              <a:t>ADC/DAC</a:t>
            </a:r>
          </a:p>
        </p:txBody>
      </p:sp>
      <p:sp>
        <p:nvSpPr>
          <p:cNvPr id="3" name="object 3"/>
          <p:cNvSpPr txBox="1"/>
          <p:nvPr/>
        </p:nvSpPr>
        <p:spPr>
          <a:xfrm>
            <a:off x="904239" y="1399158"/>
            <a:ext cx="8214359" cy="4800600"/>
          </a:xfrm>
          <a:prstGeom prst="rect">
            <a:avLst/>
          </a:prstGeom>
        </p:spPr>
        <p:txBody>
          <a:bodyPr vert="horz" wrap="square" lIns="0" tIns="13335" rIns="0" bIns="0" rtlCol="0">
            <a:spAutoFit/>
          </a:bodyPr>
          <a:lstStyle/>
          <a:p>
            <a:pPr marL="254000" indent="-229235">
              <a:lnSpc>
                <a:spcPts val="2345"/>
              </a:lnSpc>
              <a:spcBef>
                <a:spcPts val="105"/>
              </a:spcBef>
              <a:buFont typeface="Arial MT"/>
              <a:buChar char="•"/>
              <a:tabLst>
                <a:tab pos="254000" algn="l"/>
                <a:tab pos="254635" algn="l"/>
              </a:tabLst>
            </a:pPr>
            <a:r>
              <a:rPr sz="2000" b="1" spc="-5" dirty="0">
                <a:latin typeface="Calibri"/>
                <a:cs typeface="Calibri"/>
              </a:rPr>
              <a:t>Resolution</a:t>
            </a:r>
            <a:endParaRPr sz="2000">
              <a:latin typeface="Calibri"/>
              <a:cs typeface="Calibri"/>
            </a:endParaRPr>
          </a:p>
          <a:p>
            <a:pPr marL="711200" lvl="1" indent="-229235">
              <a:lnSpc>
                <a:spcPts val="1680"/>
              </a:lnSpc>
              <a:buFont typeface="Arial MT"/>
              <a:buChar char="•"/>
              <a:tabLst>
                <a:tab pos="711200" algn="l"/>
                <a:tab pos="711835" algn="l"/>
              </a:tabLst>
            </a:pPr>
            <a:r>
              <a:rPr sz="1700" spc="-5" dirty="0">
                <a:latin typeface="Calibri"/>
                <a:cs typeface="Calibri"/>
              </a:rPr>
              <a:t>Resolution</a:t>
            </a:r>
            <a:r>
              <a:rPr sz="1700" spc="-35" dirty="0">
                <a:latin typeface="Calibri"/>
                <a:cs typeface="Calibri"/>
              </a:rPr>
              <a:t> </a:t>
            </a:r>
            <a:r>
              <a:rPr sz="1700" spc="-5" dirty="0">
                <a:latin typeface="Calibri"/>
                <a:cs typeface="Calibri"/>
              </a:rPr>
              <a:t>of</a:t>
            </a:r>
            <a:r>
              <a:rPr sz="1700" spc="10" dirty="0">
                <a:latin typeface="Calibri"/>
                <a:cs typeface="Calibri"/>
              </a:rPr>
              <a:t> </a:t>
            </a:r>
            <a:r>
              <a:rPr sz="1700" dirty="0">
                <a:latin typeface="Calibri"/>
                <a:cs typeface="Calibri"/>
              </a:rPr>
              <a:t>an</a:t>
            </a:r>
            <a:r>
              <a:rPr sz="1700" spc="-5" dirty="0">
                <a:latin typeface="Calibri"/>
                <a:cs typeface="Calibri"/>
              </a:rPr>
              <a:t> ADC</a:t>
            </a:r>
            <a:r>
              <a:rPr sz="1700" spc="15" dirty="0">
                <a:latin typeface="Calibri"/>
                <a:cs typeface="Calibri"/>
              </a:rPr>
              <a:t> </a:t>
            </a:r>
            <a:r>
              <a:rPr sz="1700" dirty="0">
                <a:latin typeface="Calibri"/>
                <a:cs typeface="Calibri"/>
              </a:rPr>
              <a:t>is </a:t>
            </a:r>
            <a:r>
              <a:rPr sz="1700" spc="-5" dirty="0">
                <a:latin typeface="Calibri"/>
                <a:cs typeface="Calibri"/>
              </a:rPr>
              <a:t>smallest</a:t>
            </a:r>
            <a:r>
              <a:rPr sz="1700" spc="-20" dirty="0">
                <a:latin typeface="Calibri"/>
                <a:cs typeface="Calibri"/>
              </a:rPr>
              <a:t> </a:t>
            </a:r>
            <a:r>
              <a:rPr sz="1700" dirty="0">
                <a:latin typeface="Calibri"/>
                <a:cs typeface="Calibri"/>
              </a:rPr>
              <a:t>change</a:t>
            </a:r>
            <a:r>
              <a:rPr sz="1700" spc="-15" dirty="0">
                <a:latin typeface="Calibri"/>
                <a:cs typeface="Calibri"/>
              </a:rPr>
              <a:t> </a:t>
            </a:r>
            <a:r>
              <a:rPr sz="1700" spc="-5" dirty="0">
                <a:latin typeface="Calibri"/>
                <a:cs typeface="Calibri"/>
              </a:rPr>
              <a:t>that</a:t>
            </a:r>
            <a:r>
              <a:rPr sz="1700" spc="-20" dirty="0">
                <a:latin typeface="Calibri"/>
                <a:cs typeface="Calibri"/>
              </a:rPr>
              <a:t> </a:t>
            </a:r>
            <a:r>
              <a:rPr sz="1700" spc="-5" dirty="0">
                <a:latin typeface="Calibri"/>
                <a:cs typeface="Calibri"/>
              </a:rPr>
              <a:t>can </a:t>
            </a:r>
            <a:r>
              <a:rPr sz="1700" dirty="0">
                <a:latin typeface="Calibri"/>
                <a:cs typeface="Calibri"/>
              </a:rPr>
              <a:t>be</a:t>
            </a:r>
            <a:r>
              <a:rPr sz="1700" spc="-5" dirty="0">
                <a:latin typeface="Calibri"/>
                <a:cs typeface="Calibri"/>
              </a:rPr>
              <a:t> distinguished </a:t>
            </a:r>
            <a:r>
              <a:rPr sz="1700" dirty="0">
                <a:latin typeface="Calibri"/>
                <a:cs typeface="Calibri"/>
              </a:rPr>
              <a:t>in</a:t>
            </a:r>
            <a:r>
              <a:rPr sz="1700" spc="-35" dirty="0">
                <a:latin typeface="Calibri"/>
                <a:cs typeface="Calibri"/>
              </a:rPr>
              <a:t> </a:t>
            </a:r>
            <a:r>
              <a:rPr sz="1700" dirty="0">
                <a:latin typeface="Calibri"/>
                <a:cs typeface="Calibri"/>
              </a:rPr>
              <a:t>the</a:t>
            </a:r>
            <a:r>
              <a:rPr sz="1700" spc="-5" dirty="0">
                <a:latin typeface="Calibri"/>
                <a:cs typeface="Calibri"/>
              </a:rPr>
              <a:t> </a:t>
            </a:r>
            <a:r>
              <a:rPr sz="1700" dirty="0">
                <a:latin typeface="Calibri"/>
                <a:cs typeface="Calibri"/>
              </a:rPr>
              <a:t>analog</a:t>
            </a:r>
            <a:r>
              <a:rPr sz="1700" spc="-20" dirty="0">
                <a:latin typeface="Calibri"/>
                <a:cs typeface="Calibri"/>
              </a:rPr>
              <a:t> </a:t>
            </a:r>
            <a:r>
              <a:rPr sz="1700" dirty="0">
                <a:latin typeface="Calibri"/>
                <a:cs typeface="Calibri"/>
              </a:rPr>
              <a:t>input.</a:t>
            </a:r>
            <a:endParaRPr sz="1700">
              <a:latin typeface="Calibri"/>
              <a:cs typeface="Calibri"/>
            </a:endParaRPr>
          </a:p>
          <a:p>
            <a:pPr marL="1449070">
              <a:lnSpc>
                <a:spcPts val="1735"/>
              </a:lnSpc>
            </a:pPr>
            <a:r>
              <a:rPr sz="1700" spc="-5" dirty="0">
                <a:latin typeface="Calibri"/>
                <a:cs typeface="Calibri"/>
              </a:rPr>
              <a:t>Resolution</a:t>
            </a:r>
            <a:r>
              <a:rPr sz="1700" spc="-15" dirty="0">
                <a:latin typeface="Calibri"/>
                <a:cs typeface="Calibri"/>
              </a:rPr>
              <a:t> </a:t>
            </a:r>
            <a:r>
              <a:rPr sz="1700" dirty="0">
                <a:latin typeface="Calibri"/>
                <a:cs typeface="Calibri"/>
              </a:rPr>
              <a:t>=</a:t>
            </a:r>
            <a:r>
              <a:rPr sz="1700" spc="-25" dirty="0">
                <a:latin typeface="Calibri"/>
                <a:cs typeface="Calibri"/>
              </a:rPr>
              <a:t> </a:t>
            </a:r>
            <a:r>
              <a:rPr sz="1700" spc="-10" dirty="0">
                <a:latin typeface="Calibri"/>
                <a:cs typeface="Calibri"/>
              </a:rPr>
              <a:t>FSR</a:t>
            </a:r>
            <a:r>
              <a:rPr sz="1700" spc="-20" dirty="0">
                <a:latin typeface="Calibri"/>
                <a:cs typeface="Calibri"/>
              </a:rPr>
              <a:t> </a:t>
            </a:r>
            <a:r>
              <a:rPr sz="1700" spc="-5" dirty="0">
                <a:latin typeface="Calibri"/>
                <a:cs typeface="Calibri"/>
              </a:rPr>
              <a:t>(Full</a:t>
            </a:r>
            <a:r>
              <a:rPr sz="1700" spc="-20" dirty="0">
                <a:latin typeface="Calibri"/>
                <a:cs typeface="Calibri"/>
              </a:rPr>
              <a:t> </a:t>
            </a:r>
            <a:r>
              <a:rPr sz="1700" spc="-5" dirty="0">
                <a:latin typeface="Calibri"/>
                <a:cs typeface="Calibri"/>
              </a:rPr>
              <a:t>Scale</a:t>
            </a:r>
            <a:r>
              <a:rPr sz="1700" spc="-20" dirty="0">
                <a:latin typeface="Calibri"/>
                <a:cs typeface="Calibri"/>
              </a:rPr>
              <a:t> </a:t>
            </a:r>
            <a:r>
              <a:rPr sz="1700" dirty="0">
                <a:latin typeface="Calibri"/>
                <a:cs typeface="Calibri"/>
              </a:rPr>
              <a:t>Range)</a:t>
            </a:r>
            <a:r>
              <a:rPr sz="1700" spc="-10" dirty="0">
                <a:latin typeface="Calibri"/>
                <a:cs typeface="Calibri"/>
              </a:rPr>
              <a:t> </a:t>
            </a:r>
            <a:r>
              <a:rPr sz="1700" dirty="0">
                <a:latin typeface="Calibri"/>
                <a:cs typeface="Calibri"/>
              </a:rPr>
              <a:t>/ </a:t>
            </a:r>
            <a:r>
              <a:rPr sz="1700" spc="5" dirty="0">
                <a:latin typeface="Calibri"/>
                <a:cs typeface="Calibri"/>
              </a:rPr>
              <a:t>2</a:t>
            </a:r>
            <a:r>
              <a:rPr sz="1650" spc="7" baseline="25252" dirty="0">
                <a:latin typeface="Calibri"/>
                <a:cs typeface="Calibri"/>
              </a:rPr>
              <a:t>n</a:t>
            </a:r>
            <a:endParaRPr sz="1650" baseline="25252">
              <a:latin typeface="Calibri"/>
              <a:cs typeface="Calibri"/>
            </a:endParaRPr>
          </a:p>
          <a:p>
            <a:pPr marL="254000" indent="-229235">
              <a:lnSpc>
                <a:spcPts val="2345"/>
              </a:lnSpc>
              <a:spcBef>
                <a:spcPts val="275"/>
              </a:spcBef>
              <a:buFont typeface="Arial MT"/>
              <a:buChar char="•"/>
              <a:tabLst>
                <a:tab pos="254000" algn="l"/>
                <a:tab pos="254635" algn="l"/>
              </a:tabLst>
            </a:pPr>
            <a:r>
              <a:rPr sz="2000" b="1" spc="-10" dirty="0">
                <a:latin typeface="Calibri"/>
                <a:cs typeface="Calibri"/>
              </a:rPr>
              <a:t>Conversion</a:t>
            </a:r>
            <a:r>
              <a:rPr sz="2000" b="1" spc="-30" dirty="0">
                <a:latin typeface="Calibri"/>
                <a:cs typeface="Calibri"/>
              </a:rPr>
              <a:t> </a:t>
            </a:r>
            <a:r>
              <a:rPr sz="2000" b="1" spc="-5" dirty="0">
                <a:latin typeface="Calibri"/>
                <a:cs typeface="Calibri"/>
              </a:rPr>
              <a:t>Time</a:t>
            </a:r>
            <a:endParaRPr sz="2000">
              <a:latin typeface="Calibri"/>
              <a:cs typeface="Calibri"/>
            </a:endParaRPr>
          </a:p>
          <a:p>
            <a:pPr marL="711200" lvl="1" indent="-229235">
              <a:lnSpc>
                <a:spcPts val="1985"/>
              </a:lnSpc>
              <a:buFont typeface="Arial MT"/>
              <a:buChar char="•"/>
              <a:tabLst>
                <a:tab pos="711200" algn="l"/>
                <a:tab pos="711835" algn="l"/>
              </a:tabLst>
            </a:pPr>
            <a:r>
              <a:rPr sz="1700" spc="-5" dirty="0">
                <a:latin typeface="Calibri"/>
                <a:cs typeface="Calibri"/>
              </a:rPr>
              <a:t>The</a:t>
            </a:r>
            <a:r>
              <a:rPr sz="1700" dirty="0">
                <a:latin typeface="Calibri"/>
                <a:cs typeface="Calibri"/>
              </a:rPr>
              <a:t> </a:t>
            </a:r>
            <a:r>
              <a:rPr sz="1700" spc="-10" dirty="0">
                <a:latin typeface="Calibri"/>
                <a:cs typeface="Calibri"/>
              </a:rPr>
              <a:t>total</a:t>
            </a:r>
            <a:r>
              <a:rPr sz="1700" spc="5" dirty="0">
                <a:latin typeface="Calibri"/>
                <a:cs typeface="Calibri"/>
              </a:rPr>
              <a:t> </a:t>
            </a:r>
            <a:r>
              <a:rPr sz="1700" dirty="0">
                <a:latin typeface="Calibri"/>
                <a:cs typeface="Calibri"/>
              </a:rPr>
              <a:t>time</a:t>
            </a:r>
            <a:r>
              <a:rPr sz="1700" spc="10" dirty="0">
                <a:latin typeface="Calibri"/>
                <a:cs typeface="Calibri"/>
              </a:rPr>
              <a:t> </a:t>
            </a:r>
            <a:r>
              <a:rPr sz="1700" spc="-10" dirty="0">
                <a:latin typeface="Calibri"/>
                <a:cs typeface="Calibri"/>
              </a:rPr>
              <a:t>required</a:t>
            </a:r>
            <a:r>
              <a:rPr sz="1700" spc="-30" dirty="0">
                <a:latin typeface="Calibri"/>
                <a:cs typeface="Calibri"/>
              </a:rPr>
              <a:t> </a:t>
            </a:r>
            <a:r>
              <a:rPr sz="1700" spc="-10" dirty="0">
                <a:latin typeface="Calibri"/>
                <a:cs typeface="Calibri"/>
              </a:rPr>
              <a:t>converting</a:t>
            </a:r>
            <a:r>
              <a:rPr sz="1700" spc="-25" dirty="0">
                <a:latin typeface="Calibri"/>
                <a:cs typeface="Calibri"/>
              </a:rPr>
              <a:t> </a:t>
            </a:r>
            <a:r>
              <a:rPr sz="1700" dirty="0">
                <a:latin typeface="Calibri"/>
                <a:cs typeface="Calibri"/>
              </a:rPr>
              <a:t>an analog</a:t>
            </a:r>
            <a:r>
              <a:rPr sz="1700" spc="-15" dirty="0">
                <a:latin typeface="Calibri"/>
                <a:cs typeface="Calibri"/>
              </a:rPr>
              <a:t> </a:t>
            </a:r>
            <a:r>
              <a:rPr sz="1700" spc="-5" dirty="0">
                <a:latin typeface="Calibri"/>
                <a:cs typeface="Calibri"/>
              </a:rPr>
              <a:t>signal</a:t>
            </a:r>
            <a:r>
              <a:rPr sz="1700" spc="-20" dirty="0">
                <a:latin typeface="Calibri"/>
                <a:cs typeface="Calibri"/>
              </a:rPr>
              <a:t> </a:t>
            </a:r>
            <a:r>
              <a:rPr sz="1700" spc="-5" dirty="0">
                <a:latin typeface="Calibri"/>
                <a:cs typeface="Calibri"/>
              </a:rPr>
              <a:t>into</a:t>
            </a:r>
            <a:r>
              <a:rPr sz="1700" spc="-15" dirty="0">
                <a:latin typeface="Calibri"/>
                <a:cs typeface="Calibri"/>
              </a:rPr>
              <a:t> </a:t>
            </a:r>
            <a:r>
              <a:rPr sz="1700" dirty="0">
                <a:latin typeface="Calibri"/>
                <a:cs typeface="Calibri"/>
              </a:rPr>
              <a:t>its</a:t>
            </a:r>
            <a:r>
              <a:rPr sz="1700" spc="-15" dirty="0">
                <a:latin typeface="Calibri"/>
                <a:cs typeface="Calibri"/>
              </a:rPr>
              <a:t> </a:t>
            </a:r>
            <a:r>
              <a:rPr sz="1700" spc="-5" dirty="0">
                <a:latin typeface="Calibri"/>
                <a:cs typeface="Calibri"/>
              </a:rPr>
              <a:t>digital</a:t>
            </a:r>
            <a:r>
              <a:rPr sz="1700" dirty="0">
                <a:latin typeface="Calibri"/>
                <a:cs typeface="Calibri"/>
              </a:rPr>
              <a:t> output.</a:t>
            </a:r>
            <a:endParaRPr sz="1700">
              <a:latin typeface="Calibri"/>
              <a:cs typeface="Calibri"/>
            </a:endParaRPr>
          </a:p>
          <a:p>
            <a:pPr marL="254000" indent="-229235">
              <a:lnSpc>
                <a:spcPts val="2345"/>
              </a:lnSpc>
              <a:spcBef>
                <a:spcPts val="275"/>
              </a:spcBef>
              <a:buFont typeface="Arial MT"/>
              <a:buChar char="•"/>
              <a:tabLst>
                <a:tab pos="254000" algn="l"/>
                <a:tab pos="254635" algn="l"/>
              </a:tabLst>
            </a:pPr>
            <a:r>
              <a:rPr sz="2000" b="1" spc="-5" dirty="0">
                <a:latin typeface="Calibri"/>
                <a:cs typeface="Calibri"/>
              </a:rPr>
              <a:t>Accuracy</a:t>
            </a:r>
            <a:endParaRPr sz="2000">
              <a:latin typeface="Calibri"/>
              <a:cs typeface="Calibri"/>
            </a:endParaRPr>
          </a:p>
          <a:p>
            <a:pPr marL="711200" lvl="1" indent="-229235">
              <a:lnSpc>
                <a:spcPts val="1985"/>
              </a:lnSpc>
              <a:buFont typeface="Arial MT"/>
              <a:buChar char="•"/>
              <a:tabLst>
                <a:tab pos="711200" algn="l"/>
                <a:tab pos="711835" algn="l"/>
              </a:tabLst>
            </a:pPr>
            <a:r>
              <a:rPr sz="1700" dirty="0">
                <a:latin typeface="Calibri"/>
                <a:cs typeface="Calibri"/>
              </a:rPr>
              <a:t>It</a:t>
            </a:r>
            <a:r>
              <a:rPr sz="1700" spc="5" dirty="0">
                <a:latin typeface="Calibri"/>
                <a:cs typeface="Calibri"/>
              </a:rPr>
              <a:t> </a:t>
            </a:r>
            <a:r>
              <a:rPr sz="1700" dirty="0">
                <a:latin typeface="Calibri"/>
                <a:cs typeface="Calibri"/>
              </a:rPr>
              <a:t>is</a:t>
            </a:r>
            <a:r>
              <a:rPr sz="1700" spc="-15" dirty="0">
                <a:latin typeface="Calibri"/>
                <a:cs typeface="Calibri"/>
              </a:rPr>
              <a:t> </a:t>
            </a:r>
            <a:r>
              <a:rPr sz="1700" dirty="0">
                <a:latin typeface="Calibri"/>
                <a:cs typeface="Calibri"/>
              </a:rPr>
              <a:t>the</a:t>
            </a:r>
            <a:r>
              <a:rPr sz="1700" spc="-10" dirty="0">
                <a:latin typeface="Calibri"/>
                <a:cs typeface="Calibri"/>
              </a:rPr>
              <a:t> </a:t>
            </a:r>
            <a:r>
              <a:rPr sz="1700" spc="-5" dirty="0">
                <a:latin typeface="Calibri"/>
                <a:cs typeface="Calibri"/>
              </a:rPr>
              <a:t>comparison of</a:t>
            </a:r>
            <a:r>
              <a:rPr sz="1700" spc="-15" dirty="0">
                <a:latin typeface="Calibri"/>
                <a:cs typeface="Calibri"/>
              </a:rPr>
              <a:t> </a:t>
            </a:r>
            <a:r>
              <a:rPr sz="1700" dirty="0">
                <a:latin typeface="Calibri"/>
                <a:cs typeface="Calibri"/>
              </a:rPr>
              <a:t>the</a:t>
            </a:r>
            <a:r>
              <a:rPr sz="1700" spc="-10" dirty="0">
                <a:latin typeface="Calibri"/>
                <a:cs typeface="Calibri"/>
              </a:rPr>
              <a:t> </a:t>
            </a:r>
            <a:r>
              <a:rPr sz="1700" dirty="0">
                <a:latin typeface="Calibri"/>
                <a:cs typeface="Calibri"/>
              </a:rPr>
              <a:t>actual</a:t>
            </a:r>
            <a:r>
              <a:rPr sz="1700" spc="-15" dirty="0">
                <a:latin typeface="Calibri"/>
                <a:cs typeface="Calibri"/>
              </a:rPr>
              <a:t> </a:t>
            </a:r>
            <a:r>
              <a:rPr sz="1700" dirty="0">
                <a:latin typeface="Calibri"/>
                <a:cs typeface="Calibri"/>
              </a:rPr>
              <a:t>output</a:t>
            </a:r>
            <a:r>
              <a:rPr sz="1700" spc="-35" dirty="0">
                <a:latin typeface="Calibri"/>
                <a:cs typeface="Calibri"/>
              </a:rPr>
              <a:t> </a:t>
            </a:r>
            <a:r>
              <a:rPr sz="1700" dirty="0">
                <a:latin typeface="Calibri"/>
                <a:cs typeface="Calibri"/>
              </a:rPr>
              <a:t>and</a:t>
            </a:r>
            <a:r>
              <a:rPr sz="1700" spc="-20" dirty="0">
                <a:latin typeface="Calibri"/>
                <a:cs typeface="Calibri"/>
              </a:rPr>
              <a:t> </a:t>
            </a:r>
            <a:r>
              <a:rPr sz="1700" dirty="0">
                <a:latin typeface="Calibri"/>
                <a:cs typeface="Calibri"/>
              </a:rPr>
              <a:t>the</a:t>
            </a:r>
            <a:r>
              <a:rPr sz="1700" spc="-10" dirty="0">
                <a:latin typeface="Calibri"/>
                <a:cs typeface="Calibri"/>
              </a:rPr>
              <a:t> </a:t>
            </a:r>
            <a:r>
              <a:rPr sz="1700" spc="-5" dirty="0">
                <a:latin typeface="Calibri"/>
                <a:cs typeface="Calibri"/>
              </a:rPr>
              <a:t>expected</a:t>
            </a:r>
            <a:r>
              <a:rPr sz="1700" spc="30" dirty="0">
                <a:latin typeface="Calibri"/>
                <a:cs typeface="Calibri"/>
              </a:rPr>
              <a:t> </a:t>
            </a:r>
            <a:r>
              <a:rPr sz="1700" spc="-5" dirty="0">
                <a:latin typeface="Calibri"/>
                <a:cs typeface="Calibri"/>
              </a:rPr>
              <a:t>output.</a:t>
            </a:r>
            <a:endParaRPr sz="1700">
              <a:latin typeface="Calibri"/>
              <a:cs typeface="Calibri"/>
            </a:endParaRPr>
          </a:p>
          <a:p>
            <a:pPr marL="254000" indent="-229235">
              <a:lnSpc>
                <a:spcPts val="2345"/>
              </a:lnSpc>
              <a:spcBef>
                <a:spcPts val="280"/>
              </a:spcBef>
              <a:buFont typeface="Arial MT"/>
              <a:buChar char="•"/>
              <a:tabLst>
                <a:tab pos="254000" algn="l"/>
                <a:tab pos="254635" algn="l"/>
              </a:tabLst>
            </a:pPr>
            <a:r>
              <a:rPr sz="2000" b="1" dirty="0">
                <a:latin typeface="Calibri"/>
                <a:cs typeface="Calibri"/>
              </a:rPr>
              <a:t>Linearity</a:t>
            </a:r>
            <a:endParaRPr sz="2000">
              <a:latin typeface="Calibri"/>
              <a:cs typeface="Calibri"/>
            </a:endParaRPr>
          </a:p>
          <a:p>
            <a:pPr marL="711200" lvl="1" indent="-229235">
              <a:lnSpc>
                <a:spcPts val="1985"/>
              </a:lnSpc>
              <a:buFont typeface="Arial MT"/>
              <a:buChar char="•"/>
              <a:tabLst>
                <a:tab pos="711200" algn="l"/>
                <a:tab pos="711835" algn="l"/>
              </a:tabLst>
            </a:pPr>
            <a:r>
              <a:rPr sz="1700" spc="-5" dirty="0">
                <a:latin typeface="Calibri"/>
                <a:cs typeface="Calibri"/>
              </a:rPr>
              <a:t>The</a:t>
            </a:r>
            <a:r>
              <a:rPr sz="1700" spc="-10" dirty="0">
                <a:latin typeface="Calibri"/>
                <a:cs typeface="Calibri"/>
              </a:rPr>
              <a:t> </a:t>
            </a:r>
            <a:r>
              <a:rPr sz="1700" dirty="0">
                <a:latin typeface="Calibri"/>
                <a:cs typeface="Calibri"/>
              </a:rPr>
              <a:t>output</a:t>
            </a:r>
            <a:r>
              <a:rPr sz="1700" spc="-35" dirty="0">
                <a:latin typeface="Calibri"/>
                <a:cs typeface="Calibri"/>
              </a:rPr>
              <a:t> </a:t>
            </a:r>
            <a:r>
              <a:rPr sz="1700" spc="-5" dirty="0">
                <a:latin typeface="Calibri"/>
                <a:cs typeface="Calibri"/>
              </a:rPr>
              <a:t>should</a:t>
            </a:r>
            <a:r>
              <a:rPr sz="1700" spc="-15" dirty="0">
                <a:latin typeface="Calibri"/>
                <a:cs typeface="Calibri"/>
              </a:rPr>
              <a:t> </a:t>
            </a:r>
            <a:r>
              <a:rPr sz="1700" spc="-5" dirty="0">
                <a:latin typeface="Calibri"/>
                <a:cs typeface="Calibri"/>
              </a:rPr>
              <a:t>be</a:t>
            </a:r>
            <a:r>
              <a:rPr sz="1700" spc="-20" dirty="0">
                <a:latin typeface="Calibri"/>
                <a:cs typeface="Calibri"/>
              </a:rPr>
              <a:t> </a:t>
            </a:r>
            <a:r>
              <a:rPr sz="1700" dirty="0">
                <a:latin typeface="Calibri"/>
                <a:cs typeface="Calibri"/>
              </a:rPr>
              <a:t>the</a:t>
            </a:r>
            <a:r>
              <a:rPr sz="1700" spc="-10" dirty="0">
                <a:latin typeface="Calibri"/>
                <a:cs typeface="Calibri"/>
              </a:rPr>
              <a:t> </a:t>
            </a:r>
            <a:r>
              <a:rPr sz="1700" dirty="0">
                <a:latin typeface="Calibri"/>
                <a:cs typeface="Calibri"/>
              </a:rPr>
              <a:t>linear</a:t>
            </a:r>
            <a:r>
              <a:rPr sz="1700" spc="-45" dirty="0">
                <a:latin typeface="Calibri"/>
                <a:cs typeface="Calibri"/>
              </a:rPr>
              <a:t> </a:t>
            </a:r>
            <a:r>
              <a:rPr sz="1700" dirty="0">
                <a:latin typeface="Calibri"/>
                <a:cs typeface="Calibri"/>
              </a:rPr>
              <a:t>function</a:t>
            </a:r>
            <a:r>
              <a:rPr sz="1700" spc="-35" dirty="0">
                <a:latin typeface="Calibri"/>
                <a:cs typeface="Calibri"/>
              </a:rPr>
              <a:t> </a:t>
            </a:r>
            <a:r>
              <a:rPr sz="1700" spc="-5" dirty="0">
                <a:latin typeface="Calibri"/>
                <a:cs typeface="Calibri"/>
              </a:rPr>
              <a:t>of</a:t>
            </a:r>
            <a:r>
              <a:rPr sz="1700" spc="50" dirty="0">
                <a:latin typeface="Calibri"/>
                <a:cs typeface="Calibri"/>
              </a:rPr>
              <a:t> </a:t>
            </a:r>
            <a:r>
              <a:rPr sz="1700" dirty="0">
                <a:latin typeface="Calibri"/>
                <a:cs typeface="Calibri"/>
              </a:rPr>
              <a:t>input.</a:t>
            </a:r>
            <a:endParaRPr sz="1700">
              <a:latin typeface="Calibri"/>
              <a:cs typeface="Calibri"/>
            </a:endParaRPr>
          </a:p>
          <a:p>
            <a:pPr marL="254000" indent="-229235">
              <a:lnSpc>
                <a:spcPts val="2345"/>
              </a:lnSpc>
              <a:spcBef>
                <a:spcPts val="275"/>
              </a:spcBef>
              <a:buFont typeface="Arial MT"/>
              <a:buChar char="•"/>
              <a:tabLst>
                <a:tab pos="254000" algn="l"/>
                <a:tab pos="254635" algn="l"/>
              </a:tabLst>
            </a:pPr>
            <a:r>
              <a:rPr sz="2000" b="1" dirty="0">
                <a:latin typeface="Calibri"/>
                <a:cs typeface="Calibri"/>
              </a:rPr>
              <a:t>Full</a:t>
            </a:r>
            <a:r>
              <a:rPr sz="2000" b="1" spc="-45" dirty="0">
                <a:latin typeface="Calibri"/>
                <a:cs typeface="Calibri"/>
              </a:rPr>
              <a:t> </a:t>
            </a:r>
            <a:r>
              <a:rPr sz="2000" b="1" spc="-5" dirty="0">
                <a:latin typeface="Calibri"/>
                <a:cs typeface="Calibri"/>
              </a:rPr>
              <a:t>scale </a:t>
            </a:r>
            <a:r>
              <a:rPr sz="2000" b="1" dirty="0">
                <a:latin typeface="Calibri"/>
                <a:cs typeface="Calibri"/>
              </a:rPr>
              <a:t>output</a:t>
            </a:r>
            <a:r>
              <a:rPr sz="2000" b="1" spc="-50" dirty="0">
                <a:latin typeface="Calibri"/>
                <a:cs typeface="Calibri"/>
              </a:rPr>
              <a:t> </a:t>
            </a:r>
            <a:r>
              <a:rPr sz="2000" b="1" spc="-10" dirty="0">
                <a:latin typeface="Calibri"/>
                <a:cs typeface="Calibri"/>
              </a:rPr>
              <a:t>value</a:t>
            </a:r>
            <a:endParaRPr sz="2000">
              <a:latin typeface="Calibri"/>
              <a:cs typeface="Calibri"/>
            </a:endParaRPr>
          </a:p>
          <a:p>
            <a:pPr marL="711200" lvl="1" indent="-229235">
              <a:lnSpc>
                <a:spcPts val="1985"/>
              </a:lnSpc>
              <a:buFont typeface="Arial MT"/>
              <a:buChar char="•"/>
              <a:tabLst>
                <a:tab pos="711200" algn="l"/>
                <a:tab pos="711835" algn="l"/>
              </a:tabLst>
            </a:pPr>
            <a:r>
              <a:rPr sz="1700" spc="-5" dirty="0">
                <a:latin typeface="Calibri"/>
                <a:cs typeface="Calibri"/>
              </a:rPr>
              <a:t>The maximum</a:t>
            </a:r>
            <a:r>
              <a:rPr sz="1700" spc="-10" dirty="0">
                <a:latin typeface="Calibri"/>
                <a:cs typeface="Calibri"/>
              </a:rPr>
              <a:t> </a:t>
            </a:r>
            <a:r>
              <a:rPr sz="1700" dirty="0">
                <a:latin typeface="Calibri"/>
                <a:cs typeface="Calibri"/>
              </a:rPr>
              <a:t>bit</a:t>
            </a:r>
            <a:r>
              <a:rPr sz="1700" spc="-15" dirty="0">
                <a:latin typeface="Calibri"/>
                <a:cs typeface="Calibri"/>
              </a:rPr>
              <a:t> </a:t>
            </a:r>
            <a:r>
              <a:rPr sz="1700" dirty="0">
                <a:latin typeface="Calibri"/>
                <a:cs typeface="Calibri"/>
              </a:rPr>
              <a:t>output</a:t>
            </a:r>
            <a:r>
              <a:rPr sz="1700" spc="-30" dirty="0">
                <a:latin typeface="Calibri"/>
                <a:cs typeface="Calibri"/>
              </a:rPr>
              <a:t> </a:t>
            </a:r>
            <a:r>
              <a:rPr sz="1700" spc="-5" dirty="0">
                <a:latin typeface="Calibri"/>
                <a:cs typeface="Calibri"/>
              </a:rPr>
              <a:t>achieved</a:t>
            </a:r>
            <a:r>
              <a:rPr sz="1700" spc="-25" dirty="0">
                <a:latin typeface="Calibri"/>
                <a:cs typeface="Calibri"/>
              </a:rPr>
              <a:t> </a:t>
            </a:r>
            <a:r>
              <a:rPr sz="1700" spc="-10" dirty="0">
                <a:latin typeface="Calibri"/>
                <a:cs typeface="Calibri"/>
              </a:rPr>
              <a:t>from</a:t>
            </a:r>
            <a:r>
              <a:rPr sz="1700" dirty="0">
                <a:latin typeface="Calibri"/>
                <a:cs typeface="Calibri"/>
              </a:rPr>
              <a:t> the</a:t>
            </a:r>
            <a:r>
              <a:rPr sz="1700" spc="-5" dirty="0">
                <a:latin typeface="Calibri"/>
                <a:cs typeface="Calibri"/>
              </a:rPr>
              <a:t> respective</a:t>
            </a:r>
            <a:r>
              <a:rPr sz="1700" spc="-30" dirty="0">
                <a:latin typeface="Calibri"/>
                <a:cs typeface="Calibri"/>
              </a:rPr>
              <a:t> </a:t>
            </a:r>
            <a:r>
              <a:rPr sz="1700" dirty="0">
                <a:latin typeface="Calibri"/>
                <a:cs typeface="Calibri"/>
              </a:rPr>
              <a:t>input.</a:t>
            </a:r>
            <a:endParaRPr sz="1700">
              <a:latin typeface="Calibri"/>
              <a:cs typeface="Calibri"/>
            </a:endParaRPr>
          </a:p>
          <a:p>
            <a:pPr marL="254000" indent="-229235">
              <a:lnSpc>
                <a:spcPct val="100000"/>
              </a:lnSpc>
              <a:spcBef>
                <a:spcPts val="275"/>
              </a:spcBef>
              <a:buFont typeface="Arial MT"/>
              <a:buChar char="•"/>
              <a:tabLst>
                <a:tab pos="254000" algn="l"/>
                <a:tab pos="254635" algn="l"/>
              </a:tabLst>
            </a:pPr>
            <a:r>
              <a:rPr sz="2000" spc="-10" dirty="0">
                <a:latin typeface="Calibri"/>
                <a:cs typeface="Calibri"/>
              </a:rPr>
              <a:t>Error</a:t>
            </a:r>
            <a:r>
              <a:rPr sz="2000" spc="-30" dirty="0">
                <a:latin typeface="Calibri"/>
                <a:cs typeface="Calibri"/>
              </a:rPr>
              <a:t> </a:t>
            </a:r>
            <a:r>
              <a:rPr sz="2000" spc="-5" dirty="0">
                <a:latin typeface="Calibri"/>
                <a:cs typeface="Calibri"/>
              </a:rPr>
              <a:t>Specification</a:t>
            </a:r>
            <a:endParaRPr sz="2000">
              <a:latin typeface="Calibri"/>
              <a:cs typeface="Calibri"/>
            </a:endParaRPr>
          </a:p>
          <a:p>
            <a:pPr marL="254000" indent="-229235">
              <a:lnSpc>
                <a:spcPct val="100000"/>
              </a:lnSpc>
              <a:spcBef>
                <a:spcPts val="275"/>
              </a:spcBef>
              <a:buFont typeface="Arial MT"/>
              <a:buChar char="•"/>
              <a:tabLst>
                <a:tab pos="254000" algn="l"/>
                <a:tab pos="254635" algn="l"/>
              </a:tabLst>
            </a:pPr>
            <a:r>
              <a:rPr sz="2000" spc="-15" dirty="0">
                <a:latin typeface="Calibri"/>
                <a:cs typeface="Calibri"/>
              </a:rPr>
              <a:t>Power</a:t>
            </a:r>
            <a:r>
              <a:rPr sz="2000" spc="-40" dirty="0">
                <a:latin typeface="Calibri"/>
                <a:cs typeface="Calibri"/>
              </a:rPr>
              <a:t> </a:t>
            </a:r>
            <a:r>
              <a:rPr sz="2000" spc="-5" dirty="0">
                <a:latin typeface="Calibri"/>
                <a:cs typeface="Calibri"/>
              </a:rPr>
              <a:t>Consumption</a:t>
            </a:r>
            <a:endParaRPr sz="2000">
              <a:latin typeface="Calibri"/>
              <a:cs typeface="Calibri"/>
            </a:endParaRPr>
          </a:p>
          <a:p>
            <a:pPr marL="254000" indent="-229235">
              <a:lnSpc>
                <a:spcPct val="100000"/>
              </a:lnSpc>
              <a:spcBef>
                <a:spcPts val="290"/>
              </a:spcBef>
              <a:buFont typeface="Arial MT"/>
              <a:buChar char="•"/>
              <a:tabLst>
                <a:tab pos="254000" algn="l"/>
                <a:tab pos="254635" algn="l"/>
              </a:tabLst>
            </a:pPr>
            <a:r>
              <a:rPr sz="2000" spc="-15" dirty="0">
                <a:latin typeface="Calibri"/>
                <a:cs typeface="Calibri"/>
              </a:rPr>
              <a:t>Size</a:t>
            </a:r>
            <a:endParaRPr sz="2000">
              <a:latin typeface="Calibri"/>
              <a:cs typeface="Calibri"/>
            </a:endParaRPr>
          </a:p>
          <a:p>
            <a:pPr marL="254000" indent="-229235">
              <a:lnSpc>
                <a:spcPct val="100000"/>
              </a:lnSpc>
              <a:spcBef>
                <a:spcPts val="275"/>
              </a:spcBef>
              <a:buFont typeface="Arial MT"/>
              <a:buChar char="•"/>
              <a:tabLst>
                <a:tab pos="254000" algn="l"/>
                <a:tab pos="254635" algn="l"/>
              </a:tabLst>
            </a:pPr>
            <a:r>
              <a:rPr sz="2000" spc="-10" dirty="0">
                <a:latin typeface="Calibri"/>
                <a:cs typeface="Calibri"/>
              </a:rPr>
              <a:t>Cost</a:t>
            </a:r>
            <a:endParaRPr sz="2000">
              <a:latin typeface="Calibri"/>
              <a:cs typeface="Calibri"/>
            </a:endParaRPr>
          </a:p>
          <a:p>
            <a:pPr marL="254000" indent="-229235">
              <a:lnSpc>
                <a:spcPct val="100000"/>
              </a:lnSpc>
              <a:spcBef>
                <a:spcPts val="280"/>
              </a:spcBef>
              <a:buFont typeface="Arial MT"/>
              <a:buChar char="•"/>
              <a:tabLst>
                <a:tab pos="254000" algn="l"/>
                <a:tab pos="254635" algn="l"/>
              </a:tabLst>
            </a:pPr>
            <a:r>
              <a:rPr sz="2000" spc="-10" dirty="0">
                <a:latin typeface="Calibri"/>
                <a:cs typeface="Calibri"/>
              </a:rPr>
              <a:t>Interface</a:t>
            </a:r>
            <a:r>
              <a:rPr sz="2000" spc="-20" dirty="0">
                <a:latin typeface="Calibri"/>
                <a:cs typeface="Calibri"/>
              </a:rPr>
              <a:t> </a:t>
            </a:r>
            <a:r>
              <a:rPr sz="2000" spc="-10" dirty="0">
                <a:latin typeface="Calibri"/>
                <a:cs typeface="Calibri"/>
              </a:rPr>
              <a:t>Requirement</a:t>
            </a:r>
            <a:endParaRPr sz="2000">
              <a:latin typeface="Calibri"/>
              <a:cs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396231" y="590381"/>
            <a:ext cx="5526363" cy="5753437"/>
          </a:xfrm>
          <a:prstGeom prst="rect">
            <a:avLst/>
          </a:prstGeom>
        </p:spPr>
      </p:pic>
      <p:sp>
        <p:nvSpPr>
          <p:cNvPr id="3" name="Slide Number Placeholder 2"/>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49</a:t>
            </a:fld>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766320" y="290679"/>
            <a:ext cx="5127439" cy="2396269"/>
          </a:xfrm>
          <a:prstGeom prst="rect">
            <a:avLst/>
          </a:prstGeom>
        </p:spPr>
      </p:pic>
      <p:pic>
        <p:nvPicPr>
          <p:cNvPr id="3" name="object 3"/>
          <p:cNvPicPr/>
          <p:nvPr/>
        </p:nvPicPr>
        <p:blipFill>
          <a:blip r:embed="rId3" cstate="print"/>
          <a:stretch>
            <a:fillRect/>
          </a:stretch>
        </p:blipFill>
        <p:spPr>
          <a:xfrm>
            <a:off x="3012674" y="2831105"/>
            <a:ext cx="4401992" cy="3909831"/>
          </a:xfrm>
          <a:prstGeom prst="rect">
            <a:avLst/>
          </a:prstGeom>
        </p:spPr>
      </p:pic>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50</a:t>
            </a:fld>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001040" y="241779"/>
            <a:ext cx="4955697" cy="4309594"/>
          </a:xfrm>
          <a:prstGeom prst="rect">
            <a:avLst/>
          </a:prstGeom>
        </p:spPr>
      </p:pic>
      <p:sp>
        <p:nvSpPr>
          <p:cNvPr id="3" name="Slide Number Placeholder 2"/>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51</a:t>
            </a:fld>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705840" y="519189"/>
            <a:ext cx="5682577" cy="6215857"/>
          </a:xfrm>
          <a:prstGeom prst="rect">
            <a:avLst/>
          </a:prstGeom>
        </p:spPr>
      </p:pic>
      <p:sp>
        <p:nvSpPr>
          <p:cNvPr id="3" name="Slide Number Placeholder 2"/>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52</a:t>
            </a:fld>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182428" y="99996"/>
            <a:ext cx="5189220" cy="6758305"/>
            <a:chOff x="2182428" y="99996"/>
            <a:chExt cx="5189220" cy="6758305"/>
          </a:xfrm>
        </p:grpSpPr>
        <p:pic>
          <p:nvPicPr>
            <p:cNvPr id="3" name="object 3"/>
            <p:cNvPicPr/>
            <p:nvPr/>
          </p:nvPicPr>
          <p:blipFill>
            <a:blip r:embed="rId2" cstate="print"/>
            <a:stretch>
              <a:fillRect/>
            </a:stretch>
          </p:blipFill>
          <p:spPr>
            <a:xfrm>
              <a:off x="2182428" y="99996"/>
              <a:ext cx="5188696" cy="2587403"/>
            </a:xfrm>
            <a:prstGeom prst="rect">
              <a:avLst/>
            </a:prstGeom>
          </p:spPr>
        </p:pic>
        <p:pic>
          <p:nvPicPr>
            <p:cNvPr id="4" name="object 4"/>
            <p:cNvPicPr/>
            <p:nvPr/>
          </p:nvPicPr>
          <p:blipFill>
            <a:blip r:embed="rId3" cstate="print"/>
            <a:stretch>
              <a:fillRect/>
            </a:stretch>
          </p:blipFill>
          <p:spPr>
            <a:xfrm>
              <a:off x="2667000" y="2666999"/>
              <a:ext cx="4149852" cy="4190998"/>
            </a:xfrm>
            <a:prstGeom prst="rect">
              <a:avLst/>
            </a:prstGeom>
          </p:spPr>
        </p:pic>
      </p:grpSp>
      <p:sp>
        <p:nvSpPr>
          <p:cNvPr id="5" name="Slide Number Placeholder 4"/>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53</a:t>
            </a:fld>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539498" y="240873"/>
            <a:ext cx="5231871" cy="3640043"/>
          </a:xfrm>
          <a:prstGeom prst="rect">
            <a:avLst/>
          </a:prstGeom>
        </p:spPr>
      </p:pic>
      <p:sp>
        <p:nvSpPr>
          <p:cNvPr id="3" name="Slide Number Placeholder 2"/>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54</a:t>
            </a:fld>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639041" y="61783"/>
            <a:ext cx="4645635" cy="6722074"/>
          </a:xfrm>
          <a:prstGeom prst="rect">
            <a:avLst/>
          </a:prstGeom>
        </p:spPr>
      </p:pic>
      <p:sp>
        <p:nvSpPr>
          <p:cNvPr id="3" name="Slide Number Placeholder 2"/>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55</a:t>
            </a:fld>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016726" y="1444710"/>
            <a:ext cx="7780141" cy="2217522"/>
          </a:xfrm>
          <a:prstGeom prst="rect">
            <a:avLst/>
          </a:prstGeom>
        </p:spPr>
      </p:pic>
      <p:sp>
        <p:nvSpPr>
          <p:cNvPr id="3" name="Slide Number Placeholder 2"/>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56</a:t>
            </a:fld>
            <a:endParaRPr lang="en-US"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240790" y="11658"/>
            <a:ext cx="4022360" cy="6353787"/>
          </a:xfrm>
          <a:prstGeom prst="rect">
            <a:avLst/>
          </a:prstGeom>
        </p:spPr>
      </p:pic>
      <p:sp>
        <p:nvSpPr>
          <p:cNvPr id="3" name="Slide Number Placeholder 2"/>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57</a:t>
            </a:fld>
            <a:endParaRPr lang="en-US"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077751" y="96565"/>
            <a:ext cx="5737903" cy="1531247"/>
          </a:xfrm>
          <a:prstGeom prst="rect">
            <a:avLst/>
          </a:prstGeom>
        </p:spPr>
      </p:pic>
      <p:pic>
        <p:nvPicPr>
          <p:cNvPr id="3" name="object 3"/>
          <p:cNvPicPr/>
          <p:nvPr/>
        </p:nvPicPr>
        <p:blipFill>
          <a:blip r:embed="rId3" cstate="print"/>
          <a:stretch>
            <a:fillRect/>
          </a:stretch>
        </p:blipFill>
        <p:spPr>
          <a:xfrm>
            <a:off x="2511373" y="2242116"/>
            <a:ext cx="5397354" cy="3838784"/>
          </a:xfrm>
          <a:prstGeom prst="rect">
            <a:avLst/>
          </a:prstGeom>
        </p:spPr>
      </p:pic>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58</a:t>
            </a:fld>
            <a:endParaRPr lang="en-US"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428062" y="118387"/>
            <a:ext cx="4901143" cy="4297477"/>
          </a:xfrm>
          <a:prstGeom prst="rect">
            <a:avLst/>
          </a:prstGeom>
        </p:spPr>
      </p:pic>
      <p:sp>
        <p:nvSpPr>
          <p:cNvPr id="3" name="Slide Number Placeholder 2"/>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59</a:t>
            </a:fld>
            <a:endParaRPr lang="en-US"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037060" y="344990"/>
            <a:ext cx="5318910" cy="4837327"/>
          </a:xfrm>
          <a:prstGeom prst="rect">
            <a:avLst/>
          </a:prstGeom>
        </p:spPr>
      </p:pic>
      <p:sp>
        <p:nvSpPr>
          <p:cNvPr id="3" name="Slide Number Placeholder 2"/>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60</a:t>
            </a:fld>
            <a:endParaRPr lang="en-US" dirty="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784281" y="91225"/>
            <a:ext cx="5407970" cy="4222436"/>
          </a:xfrm>
          <a:prstGeom prst="rect">
            <a:avLst/>
          </a:prstGeom>
        </p:spPr>
      </p:pic>
      <p:pic>
        <p:nvPicPr>
          <p:cNvPr id="3" name="object 3"/>
          <p:cNvPicPr/>
          <p:nvPr/>
        </p:nvPicPr>
        <p:blipFill>
          <a:blip r:embed="rId3" cstate="print"/>
          <a:stretch>
            <a:fillRect/>
          </a:stretch>
        </p:blipFill>
        <p:spPr>
          <a:xfrm>
            <a:off x="3074548" y="4724399"/>
            <a:ext cx="5079389" cy="1968416"/>
          </a:xfrm>
          <a:prstGeom prst="rect">
            <a:avLst/>
          </a:prstGeom>
        </p:spPr>
      </p:pic>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61</a:t>
            </a:fld>
            <a:endParaRPr lang="en-US" dirty="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04800" y="304800"/>
            <a:ext cx="11430000" cy="6304290"/>
          </a:xfrm>
          <a:prstGeom prst="rect">
            <a:avLst/>
          </a:prstGeom>
        </p:spPr>
        <p:txBody>
          <a:bodyPr vert="horz" wrap="square" lIns="0" tIns="12700" rIns="0" bIns="0" rtlCol="0">
            <a:spAutoFit/>
          </a:bodyPr>
          <a:lstStyle/>
          <a:p>
            <a:pPr algn="just" fontAlgn="base"/>
            <a:r>
              <a:rPr lang="en-US" sz="2400" b="1" u="sng" dirty="0" smtClean="0">
                <a:latin typeface="Times New Roman" pitchFamily="18" charset="0"/>
                <a:cs typeface="Times New Roman" pitchFamily="18" charset="0"/>
              </a:rPr>
              <a:t>Counter-Type ADC</a:t>
            </a:r>
          </a:p>
          <a:p>
            <a:pPr algn="just" fontAlgn="base">
              <a:buFont typeface="Arial" pitchFamily="34" charset="0"/>
              <a:buChar char="•"/>
            </a:pPr>
            <a:r>
              <a:rPr lang="en-US" sz="2400" dirty="0" smtClean="0">
                <a:latin typeface="Times New Roman" pitchFamily="18" charset="0"/>
                <a:cs typeface="Times New Roman" pitchFamily="18" charset="0"/>
              </a:rPr>
              <a:t>The counter-type </a:t>
            </a:r>
            <a:r>
              <a:rPr lang="en-US" sz="2400" u="sng" dirty="0" smtClean="0">
                <a:latin typeface="Times New Roman" pitchFamily="18" charset="0"/>
                <a:cs typeface="Times New Roman" pitchFamily="18" charset="0"/>
                <a:hlinkClick r:id="rId2"/>
              </a:rPr>
              <a:t>Analog-to-Digital Converter</a:t>
            </a:r>
            <a:r>
              <a:rPr lang="en-US" sz="2400" dirty="0" smtClean="0">
                <a:latin typeface="Times New Roman" pitchFamily="18" charset="0"/>
                <a:cs typeface="Times New Roman" pitchFamily="18" charset="0"/>
              </a:rPr>
              <a:t> (ADC) is also known as the digital ramp ADC. It is because the output of the counter is fed to a </a:t>
            </a:r>
            <a:r>
              <a:rPr lang="en-US" sz="2400" u="sng" dirty="0" smtClean="0">
                <a:latin typeface="Times New Roman" pitchFamily="18" charset="0"/>
                <a:cs typeface="Times New Roman" pitchFamily="18" charset="0"/>
                <a:hlinkClick r:id="rId3"/>
              </a:rPr>
              <a:t>Digital-to-Analog Converter</a:t>
            </a:r>
            <a:r>
              <a:rPr lang="en-US" sz="2400" dirty="0" smtClean="0">
                <a:latin typeface="Times New Roman" pitchFamily="18" charset="0"/>
                <a:cs typeface="Times New Roman" pitchFamily="18" charset="0"/>
              </a:rPr>
              <a:t> (DAC), and while the counter increments its count, the output of the DAC increases in ramp fashion or staircase fashion. </a:t>
            </a:r>
          </a:p>
          <a:p>
            <a:pPr algn="just" fontAlgn="base">
              <a:buFont typeface="Arial" pitchFamily="34" charset="0"/>
              <a:buChar char="•"/>
            </a:pPr>
            <a:r>
              <a:rPr lang="en-US" sz="2400" dirty="0" smtClean="0">
                <a:latin typeface="Times New Roman" pitchFamily="18" charset="0"/>
                <a:cs typeface="Times New Roman" pitchFamily="18" charset="0"/>
              </a:rPr>
              <a:t>The counter-type ADC uses a counter for conversion from analog to digital. </a:t>
            </a:r>
          </a:p>
          <a:p>
            <a:pPr algn="just" fontAlgn="base">
              <a:buFont typeface="Arial" pitchFamily="34" charset="0"/>
              <a:buChar char="•"/>
            </a:pPr>
            <a:endParaRPr lang="en-US" sz="2400" dirty="0" smtClean="0">
              <a:latin typeface="Times New Roman" pitchFamily="18" charset="0"/>
              <a:cs typeface="Times New Roman" pitchFamily="18" charset="0"/>
            </a:endParaRPr>
          </a:p>
          <a:p>
            <a:pPr algn="just" fontAlgn="base"/>
            <a:r>
              <a:rPr lang="en-US" sz="2400" b="1" u="sng" dirty="0" smtClean="0">
                <a:latin typeface="Times New Roman" pitchFamily="18" charset="0"/>
                <a:cs typeface="Times New Roman" pitchFamily="18" charset="0"/>
              </a:rPr>
              <a:t>Counter-Type ADC Operation</a:t>
            </a:r>
          </a:p>
          <a:p>
            <a:pPr algn="just" fontAlgn="base">
              <a:buFont typeface="Arial" pitchFamily="34" charset="0"/>
              <a:buChar char="•"/>
            </a:pPr>
            <a:r>
              <a:rPr lang="en-US" sz="2400" dirty="0" smtClean="0">
                <a:latin typeface="Times New Roman" pitchFamily="18" charset="0"/>
                <a:cs typeface="Times New Roman" pitchFamily="18" charset="0"/>
              </a:rPr>
              <a:t>During the start of the conversion, the output of DAC is zero. </a:t>
            </a:r>
          </a:p>
          <a:p>
            <a:pPr algn="just" fontAlgn="base">
              <a:buFont typeface="Arial" pitchFamily="34" charset="0"/>
              <a:buChar char="•"/>
            </a:pPr>
            <a:r>
              <a:rPr lang="en-US" sz="2400" dirty="0" smtClean="0">
                <a:latin typeface="Times New Roman" pitchFamily="18" charset="0"/>
                <a:cs typeface="Times New Roman" pitchFamily="18" charset="0"/>
              </a:rPr>
              <a:t>So, whatever input voltage V</a:t>
            </a:r>
            <a:r>
              <a:rPr lang="en-US" sz="2400" baseline="-25000" dirty="0" smtClean="0">
                <a:latin typeface="Times New Roman" pitchFamily="18" charset="0"/>
                <a:cs typeface="Times New Roman" pitchFamily="18" charset="0"/>
              </a:rPr>
              <a:t>in</a:t>
            </a:r>
            <a:r>
              <a:rPr lang="en-US" sz="2400" dirty="0" smtClean="0">
                <a:latin typeface="Times New Roman" pitchFamily="18" charset="0"/>
                <a:cs typeface="Times New Roman" pitchFamily="18" charset="0"/>
              </a:rPr>
              <a:t> is applied at the positive terminal of the comparator, the output of the comparator is high. </a:t>
            </a:r>
          </a:p>
          <a:p>
            <a:pPr algn="just" fontAlgn="base">
              <a:buFont typeface="Arial" pitchFamily="34" charset="0"/>
              <a:buChar char="•"/>
            </a:pPr>
            <a:r>
              <a:rPr lang="en-US" sz="2400" dirty="0" smtClean="0">
                <a:latin typeface="Times New Roman" pitchFamily="18" charset="0"/>
                <a:cs typeface="Times New Roman" pitchFamily="18" charset="0"/>
              </a:rPr>
              <a:t>Since it is high, the AND gate is enabled and it allows the clock pulse to pass. </a:t>
            </a:r>
          </a:p>
          <a:p>
            <a:pPr algn="just" fontAlgn="base">
              <a:buFont typeface="Arial" pitchFamily="34" charset="0"/>
              <a:buChar char="•"/>
            </a:pPr>
            <a:r>
              <a:rPr lang="en-US" sz="2400" dirty="0" smtClean="0">
                <a:latin typeface="Times New Roman" pitchFamily="18" charset="0"/>
                <a:cs typeface="Times New Roman" pitchFamily="18" charset="0"/>
              </a:rPr>
              <a:t>The counter then starts counting the clock pulses. The output of the counter is fed to the DAC, which computes the decimal equivalent of its binary input. </a:t>
            </a:r>
          </a:p>
          <a:p>
            <a:pPr algn="just" fontAlgn="base">
              <a:buFont typeface="Arial" pitchFamily="34" charset="0"/>
              <a:buChar char="•"/>
            </a:pPr>
            <a:r>
              <a:rPr lang="en-US" sz="2400" dirty="0" smtClean="0">
                <a:latin typeface="Times New Roman" pitchFamily="18" charset="0"/>
                <a:cs typeface="Times New Roman" pitchFamily="18" charset="0"/>
              </a:rPr>
              <a:t>Now, the output of the DAC V</a:t>
            </a:r>
            <a:r>
              <a:rPr lang="en-US" sz="2400" baseline="-25000" dirty="0" smtClean="0">
                <a:latin typeface="Times New Roman" pitchFamily="18" charset="0"/>
                <a:cs typeface="Times New Roman" pitchFamily="18" charset="0"/>
              </a:rPr>
              <a:t>DAC</a:t>
            </a:r>
            <a:r>
              <a:rPr lang="en-US" sz="2400" dirty="0" smtClean="0">
                <a:latin typeface="Times New Roman" pitchFamily="18" charset="0"/>
                <a:cs typeface="Times New Roman" pitchFamily="18" charset="0"/>
              </a:rPr>
              <a:t> increases in a staircase fashion and it is continuously compared with the input V</a:t>
            </a:r>
            <a:r>
              <a:rPr lang="en-US" sz="2400" baseline="-25000" dirty="0" smtClean="0">
                <a:latin typeface="Times New Roman" pitchFamily="18" charset="0"/>
                <a:cs typeface="Times New Roman" pitchFamily="18" charset="0"/>
              </a:rPr>
              <a:t>in</a:t>
            </a:r>
            <a:r>
              <a:rPr lang="en-US" sz="2400" dirty="0" smtClean="0">
                <a:latin typeface="Times New Roman" pitchFamily="18" charset="0"/>
                <a:cs typeface="Times New Roman" pitchFamily="18" charset="0"/>
              </a:rPr>
              <a:t>. As long as </a:t>
            </a:r>
            <a:r>
              <a:rPr lang="en-US" sz="2400" b="1" dirty="0" smtClean="0">
                <a:latin typeface="Times New Roman" pitchFamily="18" charset="0"/>
                <a:cs typeface="Times New Roman" pitchFamily="18" charset="0"/>
              </a:rPr>
              <a:t>V</a:t>
            </a:r>
            <a:r>
              <a:rPr lang="en-US" sz="2400" b="1" baseline="-25000" dirty="0" smtClean="0">
                <a:latin typeface="Times New Roman" pitchFamily="18" charset="0"/>
                <a:cs typeface="Times New Roman" pitchFamily="18" charset="0"/>
              </a:rPr>
              <a:t>in</a:t>
            </a:r>
            <a:r>
              <a:rPr lang="en-US" sz="2400" b="1" dirty="0" smtClean="0">
                <a:latin typeface="Times New Roman" pitchFamily="18" charset="0"/>
                <a:cs typeface="Times New Roman" pitchFamily="18" charset="0"/>
              </a:rPr>
              <a:t> &gt; V</a:t>
            </a:r>
            <a:r>
              <a:rPr lang="en-US" sz="2400" b="1" baseline="-25000" dirty="0" smtClean="0">
                <a:latin typeface="Times New Roman" pitchFamily="18" charset="0"/>
                <a:cs typeface="Times New Roman" pitchFamily="18" charset="0"/>
              </a:rPr>
              <a:t>DAC</a:t>
            </a:r>
            <a:r>
              <a:rPr lang="en-US" sz="2400" b="1" dirty="0" smtClean="0">
                <a:latin typeface="Times New Roman" pitchFamily="18" charset="0"/>
                <a:cs typeface="Times New Roman" pitchFamily="18" charset="0"/>
              </a:rPr>
              <a:t>, the counter keeps counting</a:t>
            </a:r>
            <a:r>
              <a:rPr lang="en-US" sz="2400" dirty="0" smtClean="0">
                <a:latin typeface="Times New Roman" pitchFamily="18" charset="0"/>
                <a:cs typeface="Times New Roman" pitchFamily="18" charset="0"/>
              </a:rPr>
              <a:t>. </a:t>
            </a:r>
          </a:p>
          <a:p>
            <a:pPr marL="12700" algn="just">
              <a:lnSpc>
                <a:spcPct val="100000"/>
              </a:lnSpc>
              <a:spcBef>
                <a:spcPts val="100"/>
              </a:spcBef>
            </a:pPr>
            <a:endParaRPr sz="2400">
              <a:latin typeface="Times New Roman" pitchFamily="18" charset="0"/>
              <a:cs typeface="Times New Roman" pitchFamily="18" charset="0"/>
            </a:endParaRPr>
          </a:p>
        </p:txBody>
      </p:sp>
      <p:sp>
        <p:nvSpPr>
          <p:cNvPr id="3" name="Slide Number Placeholder 2"/>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62</a:t>
            </a:fld>
            <a:endParaRPr lang="en-US" dirty="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63</a:t>
            </a:fld>
            <a:endParaRPr lang="en-US" dirty="0"/>
          </a:p>
        </p:txBody>
      </p:sp>
      <p:pic>
        <p:nvPicPr>
          <p:cNvPr id="1026" name="Picture 2" descr="Lightbox"/>
          <p:cNvPicPr>
            <a:picLocks noChangeAspect="1" noChangeArrowheads="1"/>
          </p:cNvPicPr>
          <p:nvPr/>
        </p:nvPicPr>
        <p:blipFill>
          <a:blip r:embed="rId2"/>
          <a:srcRect/>
          <a:stretch>
            <a:fillRect/>
          </a:stretch>
        </p:blipFill>
        <p:spPr bwMode="auto">
          <a:xfrm>
            <a:off x="304800" y="609600"/>
            <a:ext cx="11430000" cy="5181600"/>
          </a:xfrm>
          <a:prstGeom prst="rect">
            <a:avLst/>
          </a:prstGeom>
          <a:noFill/>
        </p:spPr>
      </p:pic>
      <p:sp>
        <p:nvSpPr>
          <p:cNvPr id="4" name="TextBox 3"/>
          <p:cNvSpPr txBox="1"/>
          <p:nvPr/>
        </p:nvSpPr>
        <p:spPr>
          <a:xfrm>
            <a:off x="3429000" y="5867400"/>
            <a:ext cx="3276600" cy="369332"/>
          </a:xfrm>
          <a:prstGeom prst="rect">
            <a:avLst/>
          </a:prstGeom>
          <a:noFill/>
        </p:spPr>
        <p:txBody>
          <a:bodyPr wrap="square" rtlCol="0">
            <a:spAutoFit/>
          </a:bodyPr>
          <a:lstStyle/>
          <a:p>
            <a:r>
              <a:rPr lang="en-US" i="1" dirty="0" smtClean="0"/>
              <a:t>Counter-type ADC</a:t>
            </a:r>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64</a:t>
            </a:fld>
            <a:endParaRPr lang="en-US" dirty="0"/>
          </a:p>
        </p:txBody>
      </p:sp>
      <p:sp>
        <p:nvSpPr>
          <p:cNvPr id="3" name="TextBox 2"/>
          <p:cNvSpPr txBox="1"/>
          <p:nvPr/>
        </p:nvSpPr>
        <p:spPr>
          <a:xfrm>
            <a:off x="381000" y="0"/>
            <a:ext cx="11277600" cy="6832640"/>
          </a:xfrm>
          <a:prstGeom prst="rect">
            <a:avLst/>
          </a:prstGeom>
          <a:noFill/>
        </p:spPr>
        <p:txBody>
          <a:bodyPr wrap="square" rtlCol="0">
            <a:spAutoFit/>
          </a:bodyPr>
          <a:lstStyle/>
          <a:p>
            <a:pPr fontAlgn="base">
              <a:buFont typeface="Arial" pitchFamily="34" charset="0"/>
              <a:buChar char="•"/>
            </a:pPr>
            <a:r>
              <a:rPr lang="en-US" sz="2300" dirty="0" smtClean="0">
                <a:latin typeface="Times New Roman" pitchFamily="18" charset="0"/>
                <a:cs typeface="Times New Roman" pitchFamily="18" charset="0"/>
              </a:rPr>
              <a:t>The moment V</a:t>
            </a:r>
            <a:r>
              <a:rPr lang="en-US" sz="2300" baseline="-25000" dirty="0" smtClean="0">
                <a:latin typeface="Times New Roman" pitchFamily="18" charset="0"/>
                <a:cs typeface="Times New Roman" pitchFamily="18" charset="0"/>
              </a:rPr>
              <a:t>in</a:t>
            </a:r>
            <a:r>
              <a:rPr lang="en-US" sz="2300" dirty="0" smtClean="0">
                <a:latin typeface="Times New Roman" pitchFamily="18" charset="0"/>
                <a:cs typeface="Times New Roman" pitchFamily="18" charset="0"/>
              </a:rPr>
              <a:t> &lt; V</a:t>
            </a:r>
            <a:r>
              <a:rPr lang="en-US" sz="2300" baseline="-25000" dirty="0" smtClean="0">
                <a:latin typeface="Times New Roman" pitchFamily="18" charset="0"/>
                <a:cs typeface="Times New Roman" pitchFamily="18" charset="0"/>
              </a:rPr>
              <a:t>DAC</a:t>
            </a:r>
            <a:r>
              <a:rPr lang="en-US" sz="2300" dirty="0" smtClean="0">
                <a:latin typeface="Times New Roman" pitchFamily="18" charset="0"/>
                <a:cs typeface="Times New Roman" pitchFamily="18" charset="0"/>
              </a:rPr>
              <a:t>, the comparator output is low, and </a:t>
            </a:r>
            <a:r>
              <a:rPr lang="en-US" sz="2300" dirty="0" err="1" smtClean="0">
                <a:latin typeface="Times New Roman" pitchFamily="18" charset="0"/>
                <a:cs typeface="Times New Roman" pitchFamily="18" charset="0"/>
              </a:rPr>
              <a:t>AND</a:t>
            </a:r>
            <a:r>
              <a:rPr lang="en-US" sz="2300" dirty="0" smtClean="0">
                <a:latin typeface="Times New Roman" pitchFamily="18" charset="0"/>
                <a:cs typeface="Times New Roman" pitchFamily="18" charset="0"/>
              </a:rPr>
              <a:t> gate is disabled, therefore blocking the clock pulses. </a:t>
            </a:r>
          </a:p>
          <a:p>
            <a:pPr fontAlgn="base">
              <a:buFont typeface="Arial" pitchFamily="34" charset="0"/>
              <a:buChar char="•"/>
            </a:pPr>
            <a:r>
              <a:rPr lang="en-US" sz="2300" dirty="0" smtClean="0">
                <a:latin typeface="Times New Roman" pitchFamily="18" charset="0"/>
                <a:cs typeface="Times New Roman" pitchFamily="18" charset="0"/>
              </a:rPr>
              <a:t>Also, the control block notices this transition and puts a low signal in the clear pin of the counter, thereby resetting it. </a:t>
            </a:r>
          </a:p>
          <a:p>
            <a:pPr fontAlgn="base">
              <a:buFont typeface="Arial" pitchFamily="34" charset="0"/>
              <a:buChar char="•"/>
            </a:pPr>
            <a:r>
              <a:rPr lang="en-US" sz="2300" dirty="0" smtClean="0">
                <a:latin typeface="Times New Roman" pitchFamily="18" charset="0"/>
                <a:cs typeface="Times New Roman" pitchFamily="18" charset="0"/>
              </a:rPr>
              <a:t>Simultaneously, the last output of the counter is latched and this is the digital binary output of the given input voltage. </a:t>
            </a:r>
          </a:p>
          <a:p>
            <a:pPr fontAlgn="base">
              <a:buFont typeface="Arial" pitchFamily="34" charset="0"/>
              <a:buChar char="•"/>
            </a:pPr>
            <a:r>
              <a:rPr lang="en-US" sz="2300" dirty="0" smtClean="0">
                <a:latin typeface="Times New Roman" pitchFamily="18" charset="0"/>
                <a:cs typeface="Times New Roman" pitchFamily="18" charset="0"/>
              </a:rPr>
              <a:t>So, the basic principle of operation of the counter-type ADC is to keep counting the number of clock pulses till the input is greater than the DAC output and the moment DAC output is greater than the input, the counter is reset and the last count is latched and given as output. </a:t>
            </a:r>
          </a:p>
          <a:p>
            <a:pPr fontAlgn="base"/>
            <a:r>
              <a:rPr lang="en-US" sz="2300" b="1" u="sng" dirty="0" smtClean="0">
                <a:latin typeface="Times New Roman" pitchFamily="18" charset="0"/>
                <a:cs typeface="Times New Roman" pitchFamily="18" charset="0"/>
              </a:rPr>
              <a:t>Advantages</a:t>
            </a:r>
          </a:p>
          <a:p>
            <a:pPr fontAlgn="base">
              <a:buFont typeface="Arial" pitchFamily="34" charset="0"/>
              <a:buChar char="•"/>
            </a:pPr>
            <a:r>
              <a:rPr lang="en-US" sz="2300" dirty="0" smtClean="0">
                <a:latin typeface="Times New Roman" pitchFamily="18" charset="0"/>
                <a:cs typeface="Times New Roman" pitchFamily="18" charset="0"/>
              </a:rPr>
              <a:t>The counter-type ADC is simple and easy to use.</a:t>
            </a:r>
          </a:p>
          <a:p>
            <a:pPr fontAlgn="base">
              <a:buFont typeface="Arial" pitchFamily="34" charset="0"/>
              <a:buChar char="•"/>
            </a:pPr>
            <a:r>
              <a:rPr lang="en-US" sz="2300" dirty="0" smtClean="0">
                <a:latin typeface="Times New Roman" pitchFamily="18" charset="0"/>
                <a:cs typeface="Times New Roman" pitchFamily="18" charset="0"/>
              </a:rPr>
              <a:t> It is very accurate and the precision can be increased by increasing the number of bits. </a:t>
            </a:r>
          </a:p>
          <a:p>
            <a:pPr fontAlgn="base">
              <a:buFont typeface="Arial" pitchFamily="34" charset="0"/>
              <a:buChar char="•"/>
            </a:pPr>
            <a:r>
              <a:rPr lang="en-US" sz="2300" dirty="0" smtClean="0">
                <a:latin typeface="Times New Roman" pitchFamily="18" charset="0"/>
                <a:cs typeface="Times New Roman" pitchFamily="18" charset="0"/>
              </a:rPr>
              <a:t>While there are many complicated ADCs in the market, counter-type ADC has a fair balance of accurate output and cheap hardware costs.</a:t>
            </a:r>
          </a:p>
          <a:p>
            <a:pPr fontAlgn="base"/>
            <a:r>
              <a:rPr lang="en-US" sz="2300" b="1" u="sng" dirty="0" smtClean="0">
                <a:latin typeface="Times New Roman" pitchFamily="18" charset="0"/>
                <a:cs typeface="Times New Roman" pitchFamily="18" charset="0"/>
              </a:rPr>
              <a:t>Disadvantages</a:t>
            </a:r>
          </a:p>
          <a:p>
            <a:pPr fontAlgn="base">
              <a:buFont typeface="Arial" pitchFamily="34" charset="0"/>
              <a:buChar char="•"/>
            </a:pPr>
            <a:r>
              <a:rPr lang="en-US" sz="2300" dirty="0" smtClean="0">
                <a:latin typeface="Times New Roman" pitchFamily="18" charset="0"/>
                <a:cs typeface="Times New Roman" pitchFamily="18" charset="0"/>
              </a:rPr>
              <a:t>The major drawback of this ADC is that every time a new conversion starts, the counter is reset and it has to start counting right from all zeroes. Hence, the conversion time is significant.</a:t>
            </a:r>
          </a:p>
          <a:p>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65</a:t>
            </a:fld>
            <a:endParaRPr lang="en-US" dirty="0"/>
          </a:p>
        </p:txBody>
      </p:sp>
      <p:sp>
        <p:nvSpPr>
          <p:cNvPr id="3" name="TextBox 2"/>
          <p:cNvSpPr txBox="1"/>
          <p:nvPr/>
        </p:nvSpPr>
        <p:spPr>
          <a:xfrm>
            <a:off x="457200" y="381000"/>
            <a:ext cx="11506200" cy="5970865"/>
          </a:xfrm>
          <a:prstGeom prst="rect">
            <a:avLst/>
          </a:prstGeom>
          <a:noFill/>
        </p:spPr>
        <p:txBody>
          <a:bodyPr wrap="square" rtlCol="0">
            <a:spAutoFit/>
          </a:bodyPr>
          <a:lstStyle/>
          <a:p>
            <a:pPr algn="just"/>
            <a:r>
              <a:rPr lang="en-US" sz="2800" b="1" u="sng" dirty="0" smtClean="0">
                <a:latin typeface="Times New Roman" pitchFamily="18" charset="0"/>
                <a:cs typeface="Times New Roman" pitchFamily="18" charset="0"/>
              </a:rPr>
              <a:t>High-voltage </a:t>
            </a:r>
            <a:r>
              <a:rPr lang="en-US" sz="2800" b="1" u="sng" dirty="0" smtClean="0">
                <a:latin typeface="Times New Roman" pitchFamily="18" charset="0"/>
                <a:cs typeface="Times New Roman" pitchFamily="18" charset="0"/>
              </a:rPr>
              <a:t>probes</a:t>
            </a:r>
          </a:p>
          <a:p>
            <a:pPr algn="just">
              <a:buFont typeface="Arial" pitchFamily="34" charset="0"/>
              <a:buChar char="•"/>
            </a:pPr>
            <a:r>
              <a:rPr lang="en-US" sz="2400" dirty="0" smtClean="0">
                <a:latin typeface="Times New Roman" pitchFamily="18" charset="0"/>
                <a:cs typeface="Times New Roman" pitchFamily="18" charset="0"/>
              </a:rPr>
              <a:t>A </a:t>
            </a:r>
            <a:r>
              <a:rPr lang="en-US" sz="2400" b="1" dirty="0" smtClean="0">
                <a:latin typeface="Times New Roman" pitchFamily="18" charset="0"/>
                <a:cs typeface="Times New Roman" pitchFamily="18" charset="0"/>
              </a:rPr>
              <a:t>high voltage probe</a:t>
            </a:r>
            <a:r>
              <a:rPr lang="en-US" sz="2400" dirty="0" smtClean="0">
                <a:latin typeface="Times New Roman" pitchFamily="18" charset="0"/>
                <a:cs typeface="Times New Roman" pitchFamily="18" charset="0"/>
              </a:rPr>
              <a:t> allows an ordinary voltmeter to measure voltages that would otherwise be too high to measure or even destructive. It does this by reducing the input voltage to a safe, measurable level with a precision </a:t>
            </a:r>
            <a:r>
              <a:rPr lang="en-US" sz="2400" dirty="0" smtClean="0">
                <a:latin typeface="Times New Roman" pitchFamily="18" charset="0"/>
                <a:cs typeface="Times New Roman" pitchFamily="18" charset="0"/>
                <a:hlinkClick r:id="rId2" tooltip="Voltage divider"/>
              </a:rPr>
              <a:t>voltage divider</a:t>
            </a:r>
            <a:r>
              <a:rPr lang="en-US" sz="2400" dirty="0" smtClean="0">
                <a:latin typeface="Times New Roman" pitchFamily="18" charset="0"/>
                <a:cs typeface="Times New Roman" pitchFamily="18" charset="0"/>
              </a:rPr>
              <a:t> circuit within the probe body</a:t>
            </a:r>
            <a:r>
              <a:rPr lang="en-US" sz="2400" dirty="0" smtClean="0">
                <a:latin typeface="Times New Roman" pitchFamily="18" charset="0"/>
                <a:cs typeface="Times New Roman" pitchFamily="18" charset="0"/>
              </a:rPr>
              <a:t>.</a:t>
            </a:r>
          </a:p>
          <a:p>
            <a:pPr algn="just">
              <a:buFont typeface="Arial" pitchFamily="34" charset="0"/>
              <a:buChar char="•"/>
            </a:pPr>
            <a:r>
              <a:rPr lang="en-US" sz="2400" dirty="0" smtClean="0">
                <a:latin typeface="Times New Roman" pitchFamily="18" charset="0"/>
                <a:cs typeface="Times New Roman" pitchFamily="18" charset="0"/>
              </a:rPr>
              <a:t>Probes intended for up to 100 kV typically employ a </a:t>
            </a:r>
            <a:r>
              <a:rPr lang="en-US" sz="2400" dirty="0" smtClean="0">
                <a:latin typeface="Times New Roman" pitchFamily="18" charset="0"/>
                <a:cs typeface="Times New Roman" pitchFamily="18" charset="0"/>
                <a:hlinkClick r:id="rId3" tooltip="Resistor"/>
              </a:rPr>
              <a:t>resistor</a:t>
            </a:r>
            <a:r>
              <a:rPr lang="en-US" sz="2400" dirty="0" smtClean="0">
                <a:latin typeface="Times New Roman" pitchFamily="18" charset="0"/>
                <a:cs typeface="Times New Roman" pitchFamily="18" charset="0"/>
              </a:rPr>
              <a:t> voltage divider, with an input resistance of hundreds or thousands of </a:t>
            </a:r>
            <a:r>
              <a:rPr lang="en-US" sz="2400" dirty="0" err="1" smtClean="0">
                <a:latin typeface="Times New Roman" pitchFamily="18" charset="0"/>
                <a:cs typeface="Times New Roman" pitchFamily="18" charset="0"/>
                <a:hlinkClick r:id="rId4" tooltip="Megohm"/>
              </a:rPr>
              <a:t>megohms</a:t>
            </a:r>
            <a:r>
              <a:rPr lang="en-US" sz="2400" dirty="0" smtClean="0">
                <a:latin typeface="Times New Roman" pitchFamily="18" charset="0"/>
                <a:cs typeface="Times New Roman" pitchFamily="18" charset="0"/>
              </a:rPr>
              <a:t> to minimize circuit loading. </a:t>
            </a:r>
            <a:endParaRPr lang="en-US" sz="2400" dirty="0" smtClean="0">
              <a:latin typeface="Times New Roman" pitchFamily="18" charset="0"/>
              <a:cs typeface="Times New Roman" pitchFamily="18" charset="0"/>
            </a:endParaRPr>
          </a:p>
          <a:p>
            <a:pPr algn="just">
              <a:buFont typeface="Arial" pitchFamily="34" charset="0"/>
              <a:buChar char="•"/>
            </a:pPr>
            <a:r>
              <a:rPr lang="en-US" sz="2400" dirty="0" smtClean="0">
                <a:latin typeface="Times New Roman" pitchFamily="18" charset="0"/>
                <a:cs typeface="Times New Roman" pitchFamily="18" charset="0"/>
              </a:rPr>
              <a:t>High </a:t>
            </a:r>
            <a:r>
              <a:rPr lang="en-US" sz="2400" dirty="0" smtClean="0">
                <a:latin typeface="Times New Roman" pitchFamily="18" charset="0"/>
                <a:cs typeface="Times New Roman" pitchFamily="18" charset="0"/>
              </a:rPr>
              <a:t>linearity and accuracy is achieved by using resistors with extremely low voltage coefficients, in matched sets that maintain a consistent, precise divider ratio across the probe's operating temperature. </a:t>
            </a:r>
            <a:endParaRPr lang="en-US" sz="2400" dirty="0" smtClean="0">
              <a:latin typeface="Times New Roman" pitchFamily="18" charset="0"/>
              <a:cs typeface="Times New Roman" pitchFamily="18" charset="0"/>
            </a:endParaRPr>
          </a:p>
          <a:p>
            <a:pPr algn="just">
              <a:buFont typeface="Arial" pitchFamily="34" charset="0"/>
              <a:buChar char="•"/>
            </a:pPr>
            <a:r>
              <a:rPr lang="en-US" sz="2400" dirty="0" smtClean="0">
                <a:latin typeface="Times New Roman" pitchFamily="18" charset="0"/>
                <a:cs typeface="Times New Roman" pitchFamily="18" charset="0"/>
              </a:rPr>
              <a:t>Voltmeters </a:t>
            </a:r>
            <a:r>
              <a:rPr lang="en-US" sz="2400" dirty="0" smtClean="0">
                <a:latin typeface="Times New Roman" pitchFamily="18" charset="0"/>
                <a:cs typeface="Times New Roman" pitchFamily="18" charset="0"/>
              </a:rPr>
              <a:t>have input resistance that effectively alters the probe's divider ratio, and </a:t>
            </a:r>
            <a:r>
              <a:rPr lang="en-US" sz="2400" dirty="0" smtClean="0">
                <a:latin typeface="Times New Roman" pitchFamily="18" charset="0"/>
                <a:cs typeface="Times New Roman" pitchFamily="18" charset="0"/>
                <a:hlinkClick r:id="rId5" tooltip="Parasitic capacitance"/>
              </a:rPr>
              <a:t>parasitic capacitance</a:t>
            </a:r>
            <a:r>
              <a:rPr lang="en-US" sz="2400" dirty="0" smtClean="0">
                <a:latin typeface="Times New Roman" pitchFamily="18" charset="0"/>
                <a:cs typeface="Times New Roman" pitchFamily="18" charset="0"/>
              </a:rPr>
              <a:t> that combines with the probe's resistance to form an </a:t>
            </a:r>
            <a:r>
              <a:rPr lang="en-US" sz="2400" dirty="0" smtClean="0">
                <a:latin typeface="Times New Roman" pitchFamily="18" charset="0"/>
                <a:cs typeface="Times New Roman" pitchFamily="18" charset="0"/>
                <a:hlinkClick r:id="rId6" tooltip="RC circuit"/>
              </a:rPr>
              <a:t>RC circuit</a:t>
            </a:r>
            <a:r>
              <a:rPr lang="en-US" sz="2400" dirty="0" smtClean="0">
                <a:latin typeface="Times New Roman" pitchFamily="18" charset="0"/>
                <a:cs typeface="Times New Roman" pitchFamily="18" charset="0"/>
              </a:rPr>
              <a:t>; these can easily reduce DC and AC accuracy, respectively, if left uncompensated. </a:t>
            </a:r>
            <a:endParaRPr lang="en-US" sz="2400" dirty="0" smtClean="0">
              <a:latin typeface="Times New Roman" pitchFamily="18" charset="0"/>
              <a:cs typeface="Times New Roman" pitchFamily="18" charset="0"/>
            </a:endParaRPr>
          </a:p>
          <a:p>
            <a:pPr algn="just">
              <a:buFont typeface="Arial" pitchFamily="34" charset="0"/>
              <a:buChar char="•"/>
            </a:pPr>
            <a:r>
              <a:rPr lang="en-US" sz="2400" dirty="0" smtClean="0">
                <a:latin typeface="Times New Roman" pitchFamily="18" charset="0"/>
                <a:cs typeface="Times New Roman" pitchFamily="18" charset="0"/>
              </a:rPr>
              <a:t>To </a:t>
            </a:r>
            <a:r>
              <a:rPr lang="en-US" sz="2400" dirty="0" smtClean="0">
                <a:latin typeface="Times New Roman" pitchFamily="18" charset="0"/>
                <a:cs typeface="Times New Roman" pitchFamily="18" charset="0"/>
              </a:rPr>
              <a:t>mitigate these effects, voltage divider probes usually include additional components that improve frequency response and allow them to be calibrated for different meter loads.</a:t>
            </a:r>
            <a:endParaRPr lang="en-US" sz="2400" dirty="0" smtClean="0">
              <a:latin typeface="Times New Roman" pitchFamily="18" charset="0"/>
              <a:cs typeface="Times New Roman" pitchFamily="18" charset="0"/>
            </a:endParaRPr>
          </a:p>
          <a:p>
            <a:pPr algn="just"/>
            <a:endParaRPr lang="en-US" dirty="0">
              <a:latin typeface="Times New Roman" pitchFamily="18" charset="0"/>
              <a:cs typeface="Times New Roman" pitchFamily="18"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66</a:t>
            </a:fld>
            <a:endParaRPr lang="en-US" dirty="0"/>
          </a:p>
        </p:txBody>
      </p:sp>
      <p:pic>
        <p:nvPicPr>
          <p:cNvPr id="3" name="Picture 2" descr="1.GIF"/>
          <p:cNvPicPr>
            <a:picLocks noChangeAspect="1"/>
          </p:cNvPicPr>
          <p:nvPr/>
        </p:nvPicPr>
        <p:blipFill>
          <a:blip r:embed="rId2"/>
          <a:stretch>
            <a:fillRect/>
          </a:stretch>
        </p:blipFill>
        <p:spPr>
          <a:xfrm>
            <a:off x="2133600" y="1219200"/>
            <a:ext cx="5486400" cy="3581399"/>
          </a:xfrm>
          <a:prstGeom prst="rect">
            <a:avLst/>
          </a:prstGeom>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67</a:t>
            </a:fld>
            <a:endParaRPr lang="en-US" dirty="0"/>
          </a:p>
        </p:txBody>
      </p:sp>
      <p:sp>
        <p:nvSpPr>
          <p:cNvPr id="4" name="TextBox 3"/>
          <p:cNvSpPr txBox="1"/>
          <p:nvPr/>
        </p:nvSpPr>
        <p:spPr>
          <a:xfrm>
            <a:off x="304800" y="228600"/>
            <a:ext cx="11506200" cy="3170099"/>
          </a:xfrm>
          <a:prstGeom prst="rect">
            <a:avLst/>
          </a:prstGeom>
          <a:noFill/>
        </p:spPr>
        <p:txBody>
          <a:bodyPr wrap="square" rtlCol="0">
            <a:spAutoFit/>
          </a:bodyPr>
          <a:lstStyle/>
          <a:p>
            <a:pPr algn="just"/>
            <a:r>
              <a:rPr lang="en-US" sz="2000" b="1" u="sng" dirty="0" smtClean="0">
                <a:latin typeface="Times New Roman" pitchFamily="18" charset="0"/>
                <a:cs typeface="Times New Roman" pitchFamily="18" charset="0"/>
              </a:rPr>
              <a:t>Probes and Connector</a:t>
            </a:r>
          </a:p>
          <a:p>
            <a:pPr algn="just"/>
            <a:r>
              <a:rPr lang="en-US" sz="2000" b="1" u="sng" dirty="0" smtClean="0">
                <a:latin typeface="Times New Roman" pitchFamily="18" charset="0"/>
                <a:cs typeface="Times New Roman" pitchFamily="18" charset="0"/>
              </a:rPr>
              <a:t>Current Probes</a:t>
            </a:r>
          </a:p>
          <a:p>
            <a:pPr algn="just" fontAlgn="base"/>
            <a:r>
              <a:rPr lang="en-US" sz="2000" dirty="0" smtClean="0">
                <a:latin typeface="Times New Roman" pitchFamily="18" charset="0"/>
                <a:cs typeface="Times New Roman" pitchFamily="18" charset="0"/>
              </a:rPr>
              <a:t>Many people use digital </a:t>
            </a:r>
            <a:r>
              <a:rPr lang="en-US" sz="2000" dirty="0" err="1" smtClean="0">
                <a:latin typeface="Times New Roman" pitchFamily="18" charset="0"/>
                <a:cs typeface="Times New Roman" pitchFamily="18" charset="0"/>
              </a:rPr>
              <a:t>multimeters</a:t>
            </a:r>
            <a:r>
              <a:rPr lang="en-US" sz="2000" dirty="0" smtClean="0">
                <a:latin typeface="Times New Roman" pitchFamily="18" charset="0"/>
                <a:cs typeface="Times New Roman" pitchFamily="18" charset="0"/>
              </a:rPr>
              <a:t> to measure properties such as current, voltage, and resistance. However, those instruments have a distinct disadvantage: to measure current with a digital </a:t>
            </a:r>
            <a:r>
              <a:rPr lang="en-US" sz="2000" dirty="0" err="1" smtClean="0">
                <a:latin typeface="Times New Roman" pitchFamily="18" charset="0"/>
                <a:cs typeface="Times New Roman" pitchFamily="18" charset="0"/>
              </a:rPr>
              <a:t>multimeter</a:t>
            </a:r>
            <a:r>
              <a:rPr lang="en-US" sz="2000" dirty="0" smtClean="0">
                <a:latin typeface="Times New Roman" pitchFamily="18" charset="0"/>
                <a:cs typeface="Times New Roman" pitchFamily="18" charset="0"/>
              </a:rPr>
              <a:t>, you have to shut off the electrical circuit so that the device can be connected in series.</a:t>
            </a:r>
          </a:p>
          <a:p>
            <a:pPr algn="just" fontAlgn="base"/>
            <a:r>
              <a:rPr lang="en-US" sz="2000" dirty="0" smtClean="0">
                <a:latin typeface="Times New Roman" pitchFamily="18" charset="0"/>
                <a:cs typeface="Times New Roman" pitchFamily="18" charset="0"/>
              </a:rPr>
              <a:t>This is where current probes come in handy. Since they don’t require an electrical connection to the circuit being measured, current probes provide an easy and convenient option for maintenance and troubleshooting work. This page provides a detailed introduction to current probes.</a:t>
            </a:r>
          </a:p>
          <a:p>
            <a:pPr algn="just"/>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endParaRPr lang="en-US" sz="2000" dirty="0">
              <a:latin typeface="Times New Roman" pitchFamily="18" charset="0"/>
              <a:cs typeface="Times New Roman" pitchFamily="18" charset="0"/>
            </a:endParaRPr>
          </a:p>
        </p:txBody>
      </p:sp>
      <p:pic>
        <p:nvPicPr>
          <p:cNvPr id="5122" name="Picture 2" descr="https://www.hioki.com/themes/hioki/images/global/learning/test-tools/current-probes-img-01.jpg"/>
          <p:cNvPicPr>
            <a:picLocks noChangeAspect="1" noChangeArrowheads="1"/>
          </p:cNvPicPr>
          <p:nvPr/>
        </p:nvPicPr>
        <p:blipFill>
          <a:blip r:embed="rId2"/>
          <a:srcRect/>
          <a:stretch>
            <a:fillRect/>
          </a:stretch>
        </p:blipFill>
        <p:spPr bwMode="auto">
          <a:xfrm>
            <a:off x="685800" y="2743200"/>
            <a:ext cx="9677400" cy="4114800"/>
          </a:xfrm>
          <a:prstGeom prst="rect">
            <a:avLst/>
          </a:prstGeom>
          <a:noFill/>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68</a:t>
            </a:fld>
            <a:endParaRPr lang="en-US" dirty="0"/>
          </a:p>
        </p:txBody>
      </p:sp>
      <p:sp>
        <p:nvSpPr>
          <p:cNvPr id="3" name="TextBox 2"/>
          <p:cNvSpPr txBox="1"/>
          <p:nvPr/>
        </p:nvSpPr>
        <p:spPr>
          <a:xfrm>
            <a:off x="228600" y="228600"/>
            <a:ext cx="11658600" cy="4247317"/>
          </a:xfrm>
          <a:prstGeom prst="rect">
            <a:avLst/>
          </a:prstGeom>
          <a:noFill/>
        </p:spPr>
        <p:txBody>
          <a:bodyPr wrap="square" rtlCol="0">
            <a:spAutoFit/>
          </a:bodyPr>
          <a:lstStyle/>
          <a:p>
            <a:pPr algn="just" fontAlgn="base"/>
            <a:r>
              <a:rPr lang="en-US" dirty="0" smtClean="0">
                <a:latin typeface="Times New Roman" pitchFamily="18" charset="0"/>
                <a:cs typeface="Times New Roman" pitchFamily="18" charset="0"/>
              </a:rPr>
              <a:t>Instead of measuring current on their own like a digital </a:t>
            </a:r>
            <a:r>
              <a:rPr lang="en-US" dirty="0" err="1" smtClean="0">
                <a:latin typeface="Times New Roman" pitchFamily="18" charset="0"/>
                <a:cs typeface="Times New Roman" pitchFamily="18" charset="0"/>
              </a:rPr>
              <a:t>multimeter</a:t>
            </a:r>
            <a:r>
              <a:rPr lang="en-US" dirty="0" smtClean="0">
                <a:latin typeface="Times New Roman" pitchFamily="18" charset="0"/>
                <a:cs typeface="Times New Roman" pitchFamily="18" charset="0"/>
              </a:rPr>
              <a:t>, current probes are used in conjunction with an oscilloscope. They’re optional parts, but some can cost as much as the oscilloscope itself. The most noteworthy characteristic of current probes is their ability to measure AC and DC current in a non-contact manner, without requiring the electrical circuit to be shut off.</a:t>
            </a:r>
          </a:p>
          <a:p>
            <a:pPr algn="just" fontAlgn="base"/>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 Digital </a:t>
            </a:r>
            <a:r>
              <a:rPr lang="en-US" dirty="0" err="1" smtClean="0">
                <a:latin typeface="Times New Roman" pitchFamily="18" charset="0"/>
                <a:cs typeface="Times New Roman" pitchFamily="18" charset="0"/>
              </a:rPr>
              <a:t>multimeters</a:t>
            </a:r>
            <a:r>
              <a:rPr lang="en-US" dirty="0" smtClean="0">
                <a:latin typeface="Times New Roman" pitchFamily="18" charset="0"/>
                <a:cs typeface="Times New Roman" pitchFamily="18" charset="0"/>
              </a:rPr>
              <a:t>, a common tool for measuring current, have to be connected in series with the circuit being measured, which means that the circuit has to be shut off while it’s measured. Current probes come in handy when you don’t want to do that.</a:t>
            </a:r>
          </a:p>
          <a:p>
            <a:pPr algn="just" fontAlgn="base"/>
            <a:r>
              <a:rPr lang="en-US" dirty="0" smtClean="0">
                <a:latin typeface="Times New Roman" pitchFamily="18" charset="0"/>
                <a:cs typeface="Times New Roman" pitchFamily="18" charset="0"/>
              </a:rPr>
              <a:t>Digital </a:t>
            </a:r>
            <a:r>
              <a:rPr lang="en-US" dirty="0" err="1" smtClean="0">
                <a:latin typeface="Times New Roman" pitchFamily="18" charset="0"/>
                <a:cs typeface="Times New Roman" pitchFamily="18" charset="0"/>
              </a:rPr>
              <a:t>multimeters</a:t>
            </a:r>
            <a:r>
              <a:rPr lang="en-US" dirty="0" smtClean="0">
                <a:latin typeface="Times New Roman" pitchFamily="18" charset="0"/>
                <a:cs typeface="Times New Roman" pitchFamily="18" charset="0"/>
              </a:rPr>
              <a:t> are convenient when you want to measure current and the electrical circuit is exposed, for example during the manufacturing process of an electronic device. However, there are many cases where it’s not possible to shut off a circuit so that it can be measured, for example when performing maintenance inspections of electronic equipment that is already operating or trying to pinpoint the location of a malfunction or failure.</a:t>
            </a:r>
          </a:p>
          <a:p>
            <a:pPr algn="just" fontAlgn="base"/>
            <a:r>
              <a:rPr lang="en-US" dirty="0" smtClean="0">
                <a:latin typeface="Times New Roman" pitchFamily="18" charset="0"/>
                <a:cs typeface="Times New Roman" pitchFamily="18" charset="0"/>
              </a:rPr>
              <a:t>In such situations, an instrument like a current probe that lets you measure current simply by clamping it around a wire can be extremely useful.</a:t>
            </a:r>
          </a:p>
          <a:p>
            <a:pPr algn="just"/>
            <a:endParaRPr lang="en-US" dirty="0">
              <a:latin typeface="Times New Roman" pitchFamily="18" charset="0"/>
              <a:cs typeface="Times New Roman" pitchFamily="18" charset="0"/>
            </a:endParaRPr>
          </a:p>
        </p:txBody>
      </p:sp>
      <p:pic>
        <p:nvPicPr>
          <p:cNvPr id="4098" name="Picture 2" descr="https://www.hioki.com/themes/hioki/images/global/learning/test-tools/current-probes-img-04.jpg"/>
          <p:cNvPicPr>
            <a:picLocks noChangeAspect="1" noChangeArrowheads="1"/>
          </p:cNvPicPr>
          <p:nvPr/>
        </p:nvPicPr>
        <p:blipFill>
          <a:blip r:embed="rId2"/>
          <a:srcRect/>
          <a:stretch>
            <a:fillRect/>
          </a:stretch>
        </p:blipFill>
        <p:spPr bwMode="auto">
          <a:xfrm>
            <a:off x="3048000" y="3886200"/>
            <a:ext cx="4800600" cy="2562225"/>
          </a:xfrm>
          <a:prstGeom prst="rect">
            <a:avLst/>
          </a:prstGeom>
          <a:noFill/>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69</a:t>
            </a:fld>
            <a:endParaRPr lang="en-US" dirty="0"/>
          </a:p>
        </p:txBody>
      </p:sp>
      <p:pic>
        <p:nvPicPr>
          <p:cNvPr id="82946" name="Picture 2" descr="Low-capacitance probes"/>
          <p:cNvPicPr>
            <a:picLocks noChangeAspect="1" noChangeArrowheads="1"/>
          </p:cNvPicPr>
          <p:nvPr/>
        </p:nvPicPr>
        <p:blipFill>
          <a:blip r:embed="rId2"/>
          <a:srcRect/>
          <a:stretch>
            <a:fillRect/>
          </a:stretch>
        </p:blipFill>
        <p:spPr bwMode="auto">
          <a:xfrm>
            <a:off x="1752600" y="1371600"/>
            <a:ext cx="7391400" cy="3886200"/>
          </a:xfrm>
          <a:prstGeom prst="rect">
            <a:avLst/>
          </a:prstGeom>
          <a:noFill/>
        </p:spPr>
      </p:pic>
      <p:sp>
        <p:nvSpPr>
          <p:cNvPr id="4" name="TextBox 3"/>
          <p:cNvSpPr txBox="1"/>
          <p:nvPr/>
        </p:nvSpPr>
        <p:spPr>
          <a:xfrm>
            <a:off x="2438400" y="533400"/>
            <a:ext cx="7086600" cy="523220"/>
          </a:xfrm>
          <a:prstGeom prst="rect">
            <a:avLst/>
          </a:prstGeom>
          <a:noFill/>
        </p:spPr>
        <p:txBody>
          <a:bodyPr wrap="square" rtlCol="0">
            <a:spAutoFit/>
          </a:bodyPr>
          <a:lstStyle/>
          <a:p>
            <a:r>
              <a:rPr lang="en-US" sz="2800" b="1" u="sng" dirty="0" smtClean="0">
                <a:latin typeface="Times New Roman" pitchFamily="18" charset="0"/>
                <a:cs typeface="Times New Roman" pitchFamily="18" charset="0"/>
              </a:rPr>
              <a:t>Low Capacitive Probes</a:t>
            </a:r>
            <a:endParaRPr lang="en-US" sz="2800" b="1" u="sng" dirty="0">
              <a:latin typeface="Times New Roman" pitchFamily="18" charset="0"/>
              <a:cs typeface="Times New Roman" pitchFamily="18" charset="0"/>
            </a:endParaRPr>
          </a:p>
        </p:txBody>
      </p:sp>
      <p:sp>
        <p:nvSpPr>
          <p:cNvPr id="5" name="TextBox 4"/>
          <p:cNvSpPr txBox="1"/>
          <p:nvPr/>
        </p:nvSpPr>
        <p:spPr>
          <a:xfrm>
            <a:off x="1752600" y="5638800"/>
            <a:ext cx="7543800" cy="461665"/>
          </a:xfrm>
          <a:prstGeom prst="rect">
            <a:avLst/>
          </a:prstGeom>
          <a:noFill/>
        </p:spPr>
        <p:txBody>
          <a:bodyPr wrap="square" rtlCol="0">
            <a:spAutoFit/>
          </a:bodyPr>
          <a:lstStyle/>
          <a:p>
            <a:r>
              <a:rPr lang="en-US" sz="2400" dirty="0" smtClean="0">
                <a:latin typeface="Times New Roman" pitchFamily="18" charset="0"/>
                <a:cs typeface="Times New Roman" pitchFamily="18" charset="0"/>
              </a:rPr>
              <a:t>Fig. 501. A 10-to-1 low-capacitance signal-tracing probe.</a:t>
            </a:r>
            <a:endParaRPr lang="en-US" sz="2400" dirty="0">
              <a:latin typeface="Times New Roman" pitchFamily="18" charset="0"/>
              <a:cs typeface="Times New Roman" pitchFamily="18"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70</a:t>
            </a:fld>
            <a:endParaRPr lang="en-US" dirty="0"/>
          </a:p>
        </p:txBody>
      </p:sp>
      <p:sp>
        <p:nvSpPr>
          <p:cNvPr id="3" name="TextBox 2"/>
          <p:cNvSpPr txBox="1"/>
          <p:nvPr/>
        </p:nvSpPr>
        <p:spPr>
          <a:xfrm>
            <a:off x="228600" y="381000"/>
            <a:ext cx="11734800" cy="5940088"/>
          </a:xfrm>
          <a:prstGeom prst="rect">
            <a:avLst/>
          </a:prstGeom>
          <a:noFill/>
        </p:spPr>
        <p:txBody>
          <a:bodyPr wrap="square" rtlCol="0">
            <a:spAutoFit/>
          </a:bodyPr>
          <a:lstStyle/>
          <a:p>
            <a:pPr algn="just">
              <a:buFont typeface="Arial" pitchFamily="34" charset="0"/>
              <a:buChar char="•"/>
            </a:pPr>
            <a:r>
              <a:rPr lang="en-US" sz="2000" dirty="0" smtClean="0">
                <a:latin typeface="Times New Roman" pitchFamily="18" charset="0"/>
                <a:cs typeface="Times New Roman" pitchFamily="18" charset="0"/>
              </a:rPr>
              <a:t>A Probe with very low input capacitance usually used in handling with high frequency signals as it doesn't present significant capacitive loading</a:t>
            </a:r>
            <a:r>
              <a:rPr lang="en-US" sz="2000" dirty="0" smtClean="0">
                <a:latin typeface="Times New Roman" pitchFamily="18" charset="0"/>
                <a:cs typeface="Times New Roman" pitchFamily="18" charset="0"/>
              </a:rPr>
              <a:t>.</a:t>
            </a:r>
          </a:p>
          <a:p>
            <a:pPr algn="just">
              <a:buFont typeface="Arial" pitchFamily="34" charset="0"/>
              <a:buChar char="•"/>
            </a:pPr>
            <a:r>
              <a:rPr lang="en-US" sz="2000" dirty="0" smtClean="0">
                <a:latin typeface="Times New Roman" pitchFamily="18" charset="0"/>
                <a:cs typeface="Times New Roman" pitchFamily="18" charset="0"/>
              </a:rPr>
              <a:t>Low-capacitance probes are extremely useful for tracing wave forms in high-impedance, high-frequency and wide-band circuits (such as are found in TV receivers) without distortion from overloading or frequency discrimination.</a:t>
            </a:r>
          </a:p>
          <a:p>
            <a:pPr algn="just">
              <a:buFont typeface="Arial" pitchFamily="34" charset="0"/>
              <a:buChar char="•"/>
            </a:pPr>
            <a:r>
              <a:rPr lang="en-US" sz="2000" dirty="0" smtClean="0">
                <a:latin typeface="Times New Roman" pitchFamily="18" charset="0"/>
                <a:cs typeface="Times New Roman" pitchFamily="18" charset="0"/>
              </a:rPr>
              <a:t>It is important to note that scopes vary in input impedance. This statement applies, not only to scopes made by different manufacturers, but also to those of one manufacturer and even units of one model. The service technician, therefore, must ad just his probe to his particular scope. A variable resistor in the probe is used to obtain the desired attenuation of the input signal and a variable capacitor in the probe provides adjustable frequency compensation. This type of probe when used with a scope is particularly valuable for TV sync signal tracing and general tests in video, sync and sweep circuits.</a:t>
            </a:r>
          </a:p>
          <a:p>
            <a:pPr algn="just">
              <a:buFont typeface="Arial" pitchFamily="34" charset="0"/>
              <a:buChar char="•"/>
            </a:pPr>
            <a:r>
              <a:rPr lang="en-US" sz="2000" dirty="0" smtClean="0">
                <a:latin typeface="Times New Roman" pitchFamily="18" charset="0"/>
                <a:cs typeface="Times New Roman" pitchFamily="18" charset="0"/>
              </a:rPr>
              <a:t>A low-capacitance probe comprises a shielded resistor-capacitor network which increases the effective input impedance at the probe tip by a factor of 10 or more and, in so doing, attenuates the input signal to the probe by a similar amount. In certain TV servicing operations this necessary attenuation of the signal is a useful feature of the probe. In other applications, the attenuation is not required and is recovered by advancing the vertical gain control of the scope</a:t>
            </a:r>
            <a:r>
              <a:rPr lang="en-US" sz="2000" dirty="0" smtClean="0">
                <a:latin typeface="Times New Roman" pitchFamily="18" charset="0"/>
                <a:cs typeface="Times New Roman" pitchFamily="18" charset="0"/>
              </a:rPr>
              <a:t>.</a:t>
            </a:r>
          </a:p>
          <a:p>
            <a:pPr algn="just">
              <a:buFont typeface="Arial" pitchFamily="34" charset="0"/>
              <a:buChar char="•"/>
            </a:pPr>
            <a:r>
              <a:rPr lang="en-US" sz="2000" dirty="0" smtClean="0">
                <a:latin typeface="Times New Roman" pitchFamily="18" charset="0"/>
                <a:cs typeface="Times New Roman" pitchFamily="18" charset="0"/>
              </a:rPr>
              <a:t>A low-capacitance probe must be constructed not only to have minimum stray capacitance to the probe shield, but must also be designed to attenuate voltages to protect suitably the scope input circuit whenever you test waveforms having high-amplitude peaks.</a:t>
            </a:r>
            <a:endParaRPr lang="en-US"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71</a:t>
            </a:fld>
            <a:endParaRPr lang="en-US" dirty="0"/>
          </a:p>
        </p:txBody>
      </p:sp>
      <p:sp>
        <p:nvSpPr>
          <p:cNvPr id="3" name="TextBox 2"/>
          <p:cNvSpPr txBox="1"/>
          <p:nvPr/>
        </p:nvSpPr>
        <p:spPr>
          <a:xfrm>
            <a:off x="228600" y="304800"/>
            <a:ext cx="11734800" cy="3508653"/>
          </a:xfrm>
          <a:prstGeom prst="rect">
            <a:avLst/>
          </a:prstGeom>
          <a:noFill/>
        </p:spPr>
        <p:txBody>
          <a:bodyPr wrap="square" rtlCol="0">
            <a:spAutoFit/>
          </a:bodyPr>
          <a:lstStyle/>
          <a:p>
            <a:pPr algn="just"/>
            <a:r>
              <a:rPr lang="en-US" sz="2400" b="1" u="sng" dirty="0" smtClean="0">
                <a:latin typeface="Times New Roman" pitchFamily="18" charset="0"/>
                <a:cs typeface="Times New Roman" pitchFamily="18" charset="0"/>
              </a:rPr>
              <a:t>Network Cables</a:t>
            </a:r>
            <a:r>
              <a:rPr lang="en-US" sz="2400" b="1" u="sng" dirty="0" smtClean="0">
                <a:latin typeface="Times New Roman" pitchFamily="18" charset="0"/>
                <a:cs typeface="Times New Roman" pitchFamily="18" charset="0"/>
              </a:rPr>
              <a:t>: </a:t>
            </a:r>
            <a:endParaRPr lang="en-US" sz="2400" b="1" u="sng"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The </a:t>
            </a:r>
            <a:r>
              <a:rPr lang="en-US" dirty="0" smtClean="0">
                <a:latin typeface="Times New Roman" pitchFamily="18" charset="0"/>
                <a:cs typeface="Times New Roman" pitchFamily="18" charset="0"/>
              </a:rPr>
              <a:t>network cables are an essential part of signal connectivity solutions and they play a key role in ensuring connectivity in any office set up. When it comes to choosing patch network cables you have several choices based on their construction and designs. These cables are usually categorized into two classes – shielded cables and unshielded cables based on their construction. </a:t>
            </a:r>
          </a:p>
          <a:p>
            <a:pPr algn="just"/>
            <a:r>
              <a:rPr lang="en-US" b="1" dirty="0" smtClean="0">
                <a:latin typeface="Times New Roman" pitchFamily="18" charset="0"/>
                <a:cs typeface="Times New Roman" pitchFamily="18" charset="0"/>
              </a:rPr>
              <a:t>Shielded Cables: </a:t>
            </a:r>
            <a:r>
              <a:rPr lang="en-US" dirty="0" smtClean="0">
                <a:latin typeface="Times New Roman" pitchFamily="18" charset="0"/>
                <a:cs typeface="Times New Roman" pitchFamily="18" charset="0"/>
              </a:rPr>
              <a:t>This cable is also known as shielded twisted pair (STP) cable. It features individual wire pairs wrapped in a foil. These pairs are wrapped one more time to provide double protection. The shielding helps prevent EMI and other technical issues which may compromise the integrity of signals.</a:t>
            </a:r>
          </a:p>
          <a:p>
            <a:pPr algn="just"/>
            <a:r>
              <a:rPr lang="en-US" b="1" dirty="0" smtClean="0">
                <a:latin typeface="Times New Roman" pitchFamily="18" charset="0"/>
                <a:cs typeface="Times New Roman" pitchFamily="18" charset="0"/>
              </a:rPr>
              <a:t>Unshielded Cables:</a:t>
            </a:r>
            <a:r>
              <a:rPr lang="en-US" dirty="0" smtClean="0">
                <a:latin typeface="Times New Roman" pitchFamily="18" charset="0"/>
                <a:cs typeface="Times New Roman" pitchFamily="18" charset="0"/>
              </a:rPr>
              <a:t> This cable is usually referred to as unshielded twisted pair cable (UTP) where individual wire pairs are simply wrapped in a foil, without any additional layer of protection. Unshielded cables are ideal for office environments, which experience less traffic.</a:t>
            </a:r>
          </a:p>
          <a:p>
            <a:pPr algn="just"/>
            <a:endParaRPr lang="en-US" dirty="0">
              <a:latin typeface="Times New Roman" pitchFamily="18" charset="0"/>
              <a:cs typeface="Times New Roman" pitchFamily="18" charset="0"/>
            </a:endParaRPr>
          </a:p>
        </p:txBody>
      </p:sp>
      <p:pic>
        <p:nvPicPr>
          <p:cNvPr id="79874" name="Picture 2" descr="Cat 6 &amp; Cat 5 Ethernet Cables"/>
          <p:cNvPicPr>
            <a:picLocks noChangeAspect="1" noChangeArrowheads="1"/>
          </p:cNvPicPr>
          <p:nvPr/>
        </p:nvPicPr>
        <p:blipFill>
          <a:blip r:embed="rId2"/>
          <a:srcRect/>
          <a:stretch>
            <a:fillRect/>
          </a:stretch>
        </p:blipFill>
        <p:spPr bwMode="auto">
          <a:xfrm>
            <a:off x="0" y="3581400"/>
            <a:ext cx="7315200" cy="3276600"/>
          </a:xfrm>
          <a:prstGeom prst="rect">
            <a:avLst/>
          </a:prstGeom>
          <a:noFill/>
        </p:spPr>
      </p:pic>
      <p:pic>
        <p:nvPicPr>
          <p:cNvPr id="7170" name="Picture 2" descr="https://s3-us-west-1.amazonaws.com/foscoshopify/graphics/uploads/2011/01/UTP-Cable-Picture.jpg"/>
          <p:cNvPicPr>
            <a:picLocks noChangeAspect="1" noChangeArrowheads="1"/>
          </p:cNvPicPr>
          <p:nvPr/>
        </p:nvPicPr>
        <p:blipFill>
          <a:blip r:embed="rId3"/>
          <a:srcRect/>
          <a:stretch>
            <a:fillRect/>
          </a:stretch>
        </p:blipFill>
        <p:spPr bwMode="auto">
          <a:xfrm>
            <a:off x="7620000" y="3429000"/>
            <a:ext cx="3924300" cy="3429000"/>
          </a:xfrm>
          <a:prstGeom prst="rect">
            <a:avLst/>
          </a:prstGeom>
          <a:noFill/>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72</a:t>
            </a:fld>
            <a:endParaRPr lang="en-US" dirty="0"/>
          </a:p>
        </p:txBody>
      </p:sp>
      <p:sp>
        <p:nvSpPr>
          <p:cNvPr id="3" name="TextBox 2"/>
          <p:cNvSpPr txBox="1"/>
          <p:nvPr/>
        </p:nvSpPr>
        <p:spPr>
          <a:xfrm>
            <a:off x="0" y="0"/>
            <a:ext cx="11963400" cy="6817251"/>
          </a:xfrm>
          <a:prstGeom prst="rect">
            <a:avLst/>
          </a:prstGeom>
          <a:noFill/>
        </p:spPr>
        <p:txBody>
          <a:bodyPr wrap="square" rtlCol="0">
            <a:spAutoFit/>
          </a:bodyPr>
          <a:lstStyle/>
          <a:p>
            <a:pPr algn="just"/>
            <a:r>
              <a:rPr lang="en-US" sz="1900" b="1" u="sng" dirty="0" smtClean="0">
                <a:latin typeface="Times New Roman" pitchFamily="18" charset="0"/>
                <a:cs typeface="Times New Roman" pitchFamily="18" charset="0"/>
              </a:rPr>
              <a:t>Shielded Cables</a:t>
            </a:r>
            <a:r>
              <a:rPr lang="en-US" sz="1900" u="sng" dirty="0" smtClean="0">
                <a:latin typeface="Times New Roman" pitchFamily="18" charset="0"/>
                <a:cs typeface="Times New Roman" pitchFamily="18" charset="0"/>
              </a:rPr>
              <a:t>: </a:t>
            </a:r>
            <a:endParaRPr lang="en-US" sz="1900" u="sng" dirty="0" smtClean="0">
              <a:latin typeface="Times New Roman" pitchFamily="18" charset="0"/>
              <a:cs typeface="Times New Roman" pitchFamily="18" charset="0"/>
            </a:endParaRPr>
          </a:p>
          <a:p>
            <a:pPr algn="just">
              <a:buFont typeface="Arial" pitchFamily="34" charset="0"/>
              <a:buChar char="•"/>
            </a:pPr>
            <a:r>
              <a:rPr lang="en-US" sz="1900" dirty="0" smtClean="0">
                <a:latin typeface="Times New Roman" pitchFamily="18" charset="0"/>
                <a:cs typeface="Times New Roman" pitchFamily="18" charset="0"/>
              </a:rPr>
              <a:t>Electromagnetic </a:t>
            </a:r>
            <a:r>
              <a:rPr lang="en-US" sz="1900" dirty="0" smtClean="0">
                <a:latin typeface="Times New Roman" pitchFamily="18" charset="0"/>
                <a:cs typeface="Times New Roman" pitchFamily="18" charset="0"/>
              </a:rPr>
              <a:t>interference or EMI is one of the most common phenomena on the factory floor. EMI is a term used to define electrical noise that is usually conducted or radiated. This noise will not only affect the functioning of devices or equipment but also humans. Cable shielding helps prevent the effect of EMI on equipment and people. This means you will hear less crosstalk between cables. Also, additional insulation protects the cable from environmental elements and abuses that it may otherwise not withstand in an industrial environment. This means, if you are using shielded cables, there are fewer chances of it suffering from abrasion, scraps, spills, or moisture.</a:t>
            </a:r>
          </a:p>
          <a:p>
            <a:pPr algn="just"/>
            <a:r>
              <a:rPr lang="en-US" sz="1900" b="1" u="sng" dirty="0" smtClean="0">
                <a:latin typeface="Times New Roman" pitchFamily="18" charset="0"/>
                <a:cs typeface="Times New Roman" pitchFamily="18" charset="0"/>
              </a:rPr>
              <a:t>Unshielded Cables</a:t>
            </a:r>
            <a:r>
              <a:rPr lang="en-US" sz="1900" dirty="0" smtClean="0">
                <a:latin typeface="Times New Roman" pitchFamily="18" charset="0"/>
                <a:cs typeface="Times New Roman" pitchFamily="18" charset="0"/>
              </a:rPr>
              <a:t>: </a:t>
            </a:r>
            <a:endParaRPr lang="en-US" sz="1900" dirty="0" smtClean="0">
              <a:latin typeface="Times New Roman" pitchFamily="18" charset="0"/>
              <a:cs typeface="Times New Roman" pitchFamily="18" charset="0"/>
            </a:endParaRPr>
          </a:p>
          <a:p>
            <a:pPr algn="just">
              <a:buFont typeface="Arial" pitchFamily="34" charset="0"/>
              <a:buChar char="•"/>
            </a:pPr>
            <a:r>
              <a:rPr lang="en-US" sz="1900" dirty="0" smtClean="0">
                <a:latin typeface="Times New Roman" pitchFamily="18" charset="0"/>
                <a:cs typeface="Times New Roman" pitchFamily="18" charset="0"/>
              </a:rPr>
              <a:t>One </a:t>
            </a:r>
            <a:r>
              <a:rPr lang="en-US" sz="1900" dirty="0" smtClean="0">
                <a:latin typeface="Times New Roman" pitchFamily="18" charset="0"/>
                <a:cs typeface="Times New Roman" pitchFamily="18" charset="0"/>
              </a:rPr>
              <a:t>of the main advantages of using an unshielded cable is that they do not need grounding. This helps save on installation time and costs.</a:t>
            </a:r>
          </a:p>
          <a:p>
            <a:pPr algn="just"/>
            <a:r>
              <a:rPr lang="en-US" sz="1900" b="1" u="sng" dirty="0" smtClean="0">
                <a:latin typeface="Times New Roman" pitchFamily="18" charset="0"/>
                <a:cs typeface="Times New Roman" pitchFamily="18" charset="0"/>
              </a:rPr>
              <a:t>Know About the Applications of Shielded Cables</a:t>
            </a:r>
          </a:p>
          <a:p>
            <a:pPr algn="just">
              <a:buFont typeface="Arial" pitchFamily="34" charset="0"/>
              <a:buChar char="•"/>
            </a:pPr>
            <a:r>
              <a:rPr lang="en-US" sz="1900" dirty="0" smtClean="0">
                <a:latin typeface="Times New Roman" pitchFamily="18" charset="0"/>
                <a:cs typeface="Times New Roman" pitchFamily="18" charset="0"/>
              </a:rPr>
              <a:t>Shielded cables are ideal for use in noisy environments where the chances and risks of EMI are high. Airports and radio stations are perfect examples of this type of environment. The following are a few more applications of these cables:</a:t>
            </a:r>
          </a:p>
          <a:p>
            <a:pPr algn="just">
              <a:buFont typeface="Arial" pitchFamily="34" charset="0"/>
              <a:buChar char="•"/>
            </a:pPr>
            <a:r>
              <a:rPr lang="en-US" sz="1900" dirty="0" smtClean="0">
                <a:latin typeface="Times New Roman" pitchFamily="18" charset="0"/>
                <a:cs typeface="Times New Roman" pitchFamily="18" charset="0"/>
              </a:rPr>
              <a:t>They are used in security systems to avoid radio frequency and power frequency interference. This helps reduce the number of false alarms, which may be otherwise disturbing.</a:t>
            </a:r>
          </a:p>
          <a:p>
            <a:pPr algn="just">
              <a:buFont typeface="Arial" pitchFamily="34" charset="0"/>
              <a:buChar char="•"/>
            </a:pPr>
            <a:r>
              <a:rPr lang="en-US" sz="1900" dirty="0" smtClean="0">
                <a:latin typeface="Times New Roman" pitchFamily="18" charset="0"/>
                <a:cs typeface="Times New Roman" pitchFamily="18" charset="0"/>
              </a:rPr>
              <a:t>Shielded twisted pair cables are also used in recording studios or public address systems. The twisted-pair cables help assure a balanced audio configuration.</a:t>
            </a:r>
          </a:p>
          <a:p>
            <a:pPr algn="just">
              <a:buFont typeface="Arial" pitchFamily="34" charset="0"/>
              <a:buChar char="•"/>
            </a:pPr>
            <a:r>
              <a:rPr lang="en-US" sz="1900" dirty="0" smtClean="0">
                <a:latin typeface="Times New Roman" pitchFamily="18" charset="0"/>
                <a:cs typeface="Times New Roman" pitchFamily="18" charset="0"/>
              </a:rPr>
              <a:t>The shielded cables are also used in box build applications, where different components are working close to each other.</a:t>
            </a:r>
          </a:p>
          <a:p>
            <a:pPr algn="just"/>
            <a:r>
              <a:rPr lang="en-US" sz="1900" b="1" u="sng" dirty="0" smtClean="0">
                <a:latin typeface="Times New Roman" pitchFamily="18" charset="0"/>
                <a:cs typeface="Times New Roman" pitchFamily="18" charset="0"/>
              </a:rPr>
              <a:t>Applications of Unshielded Cables</a:t>
            </a:r>
          </a:p>
          <a:p>
            <a:pPr algn="just">
              <a:buFont typeface="Arial" pitchFamily="34" charset="0"/>
              <a:buChar char="•"/>
            </a:pPr>
            <a:r>
              <a:rPr lang="en-US" sz="1900" dirty="0" smtClean="0">
                <a:latin typeface="Times New Roman" pitchFamily="18" charset="0"/>
                <a:cs typeface="Times New Roman" pitchFamily="18" charset="0"/>
              </a:rPr>
              <a:t>Shielded cables help minimize EMI. But, does that mean they are mandatory for every application? No, they are not mandatory for every application. Perhaps, you can also use unshielded cables for less noise applications such as home or office LANs. These cables are inexpensive, lightweight, as well as flexible.</a:t>
            </a:r>
          </a:p>
          <a:p>
            <a:pPr algn="just"/>
            <a:endParaRPr lang="en-US" sz="1900" b="1" dirty="0">
              <a:latin typeface="Times New Roman" pitchFamily="18" charset="0"/>
              <a:cs typeface="Times New Roman" pitchFamily="18"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73</a:t>
            </a:fld>
            <a:endParaRPr lang="en-US" dirty="0"/>
          </a:p>
        </p:txBody>
      </p:sp>
      <p:sp>
        <p:nvSpPr>
          <p:cNvPr id="3" name="TextBox 2"/>
          <p:cNvSpPr txBox="1"/>
          <p:nvPr/>
        </p:nvSpPr>
        <p:spPr>
          <a:xfrm>
            <a:off x="304800" y="228600"/>
            <a:ext cx="11658600" cy="2400657"/>
          </a:xfrm>
          <a:prstGeom prst="rect">
            <a:avLst/>
          </a:prstGeom>
          <a:noFill/>
        </p:spPr>
        <p:txBody>
          <a:bodyPr wrap="square" rtlCol="0">
            <a:spAutoFit/>
          </a:bodyPr>
          <a:lstStyle/>
          <a:p>
            <a:pPr algn="just"/>
            <a:r>
              <a:rPr lang="en-US" sz="2400" b="1" u="sng" dirty="0" smtClean="0">
                <a:latin typeface="Times New Roman" pitchFamily="18" charset="0"/>
                <a:cs typeface="Times New Roman" pitchFamily="18" charset="0"/>
              </a:rPr>
              <a:t>Shielded Cable</a:t>
            </a:r>
          </a:p>
          <a:p>
            <a:pPr algn="just">
              <a:buFont typeface="Arial" pitchFamily="34" charset="0"/>
              <a:buChar char="•"/>
            </a:pPr>
            <a:r>
              <a:rPr lang="en-US" dirty="0" smtClean="0">
                <a:latin typeface="Times New Roman" pitchFamily="18" charset="0"/>
                <a:cs typeface="Times New Roman" pitchFamily="18" charset="0"/>
              </a:rPr>
              <a:t>Shielded cable is an electrical cable in which the conductor and its surrounding insulating layer have been encased in one or more conductive shields. These are usually made from metallic foil or braided wire. A protective jacket typically forms an outer layer. This works to minimize the electromagnetic interference (EMI) emitted and received by the cable. Power cables can be a major source of EMI in an environment. These can act as antennae in transmitting interference, or as receivers in acquiring and conducting interference to other devices. The level of EMI is a result of the power requirements of any electrical equipment in operation. A factory floor would typically have an ambient EMI level higher than that of an office or a residence. The degree of shielding necessary to mitigate interference will vary accordingly.</a:t>
            </a:r>
            <a:endParaRPr lang="en-US" dirty="0">
              <a:latin typeface="Times New Roman" pitchFamily="18" charset="0"/>
              <a:cs typeface="Times New Roman" pitchFamily="18" charset="0"/>
            </a:endParaRPr>
          </a:p>
        </p:txBody>
      </p:sp>
      <p:pic>
        <p:nvPicPr>
          <p:cNvPr id="3074" name="Picture 2" descr="Coaxial cable is a common type of shielded cable."/>
          <p:cNvPicPr>
            <a:picLocks noChangeAspect="1" noChangeArrowheads="1"/>
          </p:cNvPicPr>
          <p:nvPr/>
        </p:nvPicPr>
        <p:blipFill>
          <a:blip r:embed="rId2"/>
          <a:srcRect/>
          <a:stretch>
            <a:fillRect/>
          </a:stretch>
        </p:blipFill>
        <p:spPr bwMode="auto">
          <a:xfrm>
            <a:off x="1219201" y="3352800"/>
            <a:ext cx="4648200" cy="3505200"/>
          </a:xfrm>
          <a:prstGeom prst="rect">
            <a:avLst/>
          </a:prstGeom>
          <a:noFill/>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74</a:t>
            </a:fld>
            <a:endParaRPr lang="en-US" dirty="0"/>
          </a:p>
        </p:txBody>
      </p:sp>
      <p:sp>
        <p:nvSpPr>
          <p:cNvPr id="3" name="TextBox 2"/>
          <p:cNvSpPr txBox="1"/>
          <p:nvPr/>
        </p:nvSpPr>
        <p:spPr>
          <a:xfrm>
            <a:off x="381000" y="457200"/>
            <a:ext cx="11506200" cy="2585323"/>
          </a:xfrm>
          <a:prstGeom prst="rect">
            <a:avLst/>
          </a:prstGeom>
          <a:noFill/>
        </p:spPr>
        <p:txBody>
          <a:bodyPr wrap="square" rtlCol="0">
            <a:spAutoFit/>
          </a:bodyPr>
          <a:lstStyle/>
          <a:p>
            <a:pPr algn="just" fontAlgn="base">
              <a:buFont typeface="Arial" pitchFamily="34" charset="0"/>
              <a:buChar char="•"/>
            </a:pPr>
            <a:r>
              <a:rPr lang="en-US" dirty="0" smtClean="0">
                <a:latin typeface="Times New Roman" pitchFamily="18" charset="0"/>
                <a:cs typeface="Times New Roman" pitchFamily="18" charset="0"/>
              </a:rPr>
              <a:t>The two types of shielding most often used are metallic foil and braided wire. Foil shielding uses a thin layer of </a:t>
            </a:r>
            <a:r>
              <a:rPr lang="en-US" b="1" dirty="0" smtClean="0">
                <a:latin typeface="Times New Roman" pitchFamily="18" charset="0"/>
                <a:cs typeface="Times New Roman" pitchFamily="18" charset="0"/>
                <a:hlinkClick r:id="rId2"/>
              </a:rPr>
              <a:t>aluminum</a:t>
            </a:r>
            <a:r>
              <a:rPr lang="en-US" dirty="0" smtClean="0">
                <a:latin typeface="Times New Roman" pitchFamily="18" charset="0"/>
                <a:cs typeface="Times New Roman" pitchFamily="18" charset="0"/>
              </a:rPr>
              <a:t> or </a:t>
            </a:r>
            <a:r>
              <a:rPr lang="en-US" b="1" dirty="0" smtClean="0">
                <a:latin typeface="Times New Roman" pitchFamily="18" charset="0"/>
                <a:cs typeface="Times New Roman" pitchFamily="18" charset="0"/>
                <a:hlinkClick r:id="rId3"/>
              </a:rPr>
              <a:t>copper</a:t>
            </a:r>
            <a:r>
              <a:rPr lang="en-US" dirty="0" smtClean="0">
                <a:latin typeface="Times New Roman" pitchFamily="18" charset="0"/>
                <a:cs typeface="Times New Roman" pitchFamily="18" charset="0"/>
              </a:rPr>
              <a:t> backed by a polyester liner for strength. This technique supplies excellent coverage for the conductors, though foil is rather fragile. Attaching a connector and grounding can prove difficult. A drain wire, which is an </a:t>
            </a:r>
            <a:r>
              <a:rPr lang="en-US" dirty="0" err="1" smtClean="0">
                <a:latin typeface="Times New Roman" pitchFamily="18" charset="0"/>
                <a:cs typeface="Times New Roman" pitchFamily="18" charset="0"/>
              </a:rPr>
              <a:t>uninsulated</a:t>
            </a:r>
            <a:r>
              <a:rPr lang="en-US" dirty="0" smtClean="0">
                <a:latin typeface="Times New Roman" pitchFamily="18" charset="0"/>
                <a:cs typeface="Times New Roman" pitchFamily="18" charset="0"/>
              </a:rPr>
              <a:t> wire, is sometimes used to terminate and ground a foil shield.</a:t>
            </a:r>
          </a:p>
          <a:p>
            <a:pPr algn="just" fontAlgn="base">
              <a:buFont typeface="Arial" pitchFamily="34" charset="0"/>
              <a:buChar char="•"/>
            </a:pPr>
            <a:r>
              <a:rPr lang="en-US" dirty="0" smtClean="0">
                <a:latin typeface="Times New Roman" pitchFamily="18" charset="0"/>
                <a:cs typeface="Times New Roman" pitchFamily="18" charset="0"/>
              </a:rPr>
              <a:t>A braided shield is a mesh woven from copper wire. This does not provide as effective coverage as foil. Copper's conductivity and the greater bulk of the </a:t>
            </a:r>
            <a:r>
              <a:rPr lang="en-US" b="1" dirty="0" smtClean="0">
                <a:latin typeface="Times New Roman" pitchFamily="18" charset="0"/>
                <a:cs typeface="Times New Roman" pitchFamily="18" charset="0"/>
                <a:hlinkClick r:id="rId4"/>
              </a:rPr>
              <a:t>wire mesh</a:t>
            </a:r>
            <a:r>
              <a:rPr lang="en-US" dirty="0" smtClean="0">
                <a:latin typeface="Times New Roman" pitchFamily="18" charset="0"/>
                <a:cs typeface="Times New Roman" pitchFamily="18" charset="0"/>
              </a:rPr>
              <a:t> work together to make the braid an effective choice. It is also much easier to attach a connector and terminate to ground. This type of cable is more expensive than foil and increases the likelihood of size, weight, and flexibility issues.</a:t>
            </a:r>
          </a:p>
          <a:p>
            <a:pPr algn="just"/>
            <a:endParaRPr lang="en-US" dirty="0">
              <a:latin typeface="Times New Roman" pitchFamily="18" charset="0"/>
              <a:cs typeface="Times New Roman" pitchFamily="18" charset="0"/>
            </a:endParaRPr>
          </a:p>
        </p:txBody>
      </p:sp>
      <p:pic>
        <p:nvPicPr>
          <p:cNvPr id="2050" name="Picture 2" descr="Cables use the concept of electromagnetic shielding to separate the wires from outside environments."/>
          <p:cNvPicPr>
            <a:picLocks noChangeAspect="1" noChangeArrowheads="1"/>
          </p:cNvPicPr>
          <p:nvPr/>
        </p:nvPicPr>
        <p:blipFill>
          <a:blip r:embed="rId5"/>
          <a:srcRect/>
          <a:stretch>
            <a:fillRect/>
          </a:stretch>
        </p:blipFill>
        <p:spPr bwMode="auto">
          <a:xfrm>
            <a:off x="1676400" y="3124200"/>
            <a:ext cx="6934200" cy="3024187"/>
          </a:xfrm>
          <a:prstGeom prst="rect">
            <a:avLst/>
          </a:prstGeom>
          <a:noFill/>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75</a:t>
            </a:fld>
            <a:endParaRPr lang="en-US" dirty="0"/>
          </a:p>
        </p:txBody>
      </p:sp>
      <p:pic>
        <p:nvPicPr>
          <p:cNvPr id="1026" name="Picture 2" descr="Fluke TL175 Reduce Tip Exposure"/>
          <p:cNvPicPr>
            <a:picLocks noChangeAspect="1" noChangeArrowheads="1"/>
          </p:cNvPicPr>
          <p:nvPr/>
        </p:nvPicPr>
        <p:blipFill>
          <a:blip r:embed="rId2"/>
          <a:srcRect/>
          <a:stretch>
            <a:fillRect/>
          </a:stretch>
        </p:blipFill>
        <p:spPr bwMode="auto">
          <a:xfrm>
            <a:off x="533400" y="914400"/>
            <a:ext cx="3000375" cy="2000251"/>
          </a:xfrm>
          <a:prstGeom prst="rect">
            <a:avLst/>
          </a:prstGeom>
          <a:noFill/>
        </p:spPr>
      </p:pic>
      <p:pic>
        <p:nvPicPr>
          <p:cNvPr id="1028" name="Picture 4" descr="TL75 Hard Point Test Lead Set"/>
          <p:cNvPicPr>
            <a:picLocks noChangeAspect="1" noChangeArrowheads="1"/>
          </p:cNvPicPr>
          <p:nvPr/>
        </p:nvPicPr>
        <p:blipFill>
          <a:blip r:embed="rId3"/>
          <a:srcRect/>
          <a:stretch>
            <a:fillRect/>
          </a:stretch>
        </p:blipFill>
        <p:spPr bwMode="auto">
          <a:xfrm>
            <a:off x="5410200" y="685800"/>
            <a:ext cx="3000375" cy="2000251"/>
          </a:xfrm>
          <a:prstGeom prst="rect">
            <a:avLst/>
          </a:prstGeom>
          <a:noFill/>
        </p:spPr>
      </p:pic>
      <p:pic>
        <p:nvPicPr>
          <p:cNvPr id="1030" name="Picture 6" descr="Fluke TL220 SureGrip™ Industrial Test Lead Set"/>
          <p:cNvPicPr>
            <a:picLocks noChangeAspect="1" noChangeArrowheads="1"/>
          </p:cNvPicPr>
          <p:nvPr/>
        </p:nvPicPr>
        <p:blipFill>
          <a:blip r:embed="rId4"/>
          <a:srcRect/>
          <a:stretch>
            <a:fillRect/>
          </a:stretch>
        </p:blipFill>
        <p:spPr bwMode="auto">
          <a:xfrm>
            <a:off x="914400" y="3124200"/>
            <a:ext cx="3000375" cy="2000251"/>
          </a:xfrm>
          <a:prstGeom prst="rect">
            <a:avLst/>
          </a:prstGeom>
          <a:noFill/>
        </p:spPr>
      </p:pic>
      <p:sp>
        <p:nvSpPr>
          <p:cNvPr id="6" name="TextBox 5"/>
          <p:cNvSpPr txBox="1"/>
          <p:nvPr/>
        </p:nvSpPr>
        <p:spPr>
          <a:xfrm>
            <a:off x="5943600" y="4343400"/>
            <a:ext cx="2895600" cy="523220"/>
          </a:xfrm>
          <a:prstGeom prst="rect">
            <a:avLst/>
          </a:prstGeom>
          <a:noFill/>
        </p:spPr>
        <p:txBody>
          <a:bodyPr wrap="square" rtlCol="0">
            <a:spAutoFit/>
          </a:bodyPr>
          <a:lstStyle/>
          <a:p>
            <a:r>
              <a:rPr lang="en-US" sz="2800" dirty="0" smtClean="0"/>
              <a:t>Fig. Test Leads</a:t>
            </a:r>
            <a:endParaRPr lang="en-US" sz="28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76</a:t>
            </a:fld>
            <a:endParaRPr lang="en-US" dirty="0"/>
          </a:p>
        </p:txBody>
      </p:sp>
      <p:sp>
        <p:nvSpPr>
          <p:cNvPr id="3" name="TextBox 2"/>
          <p:cNvSpPr txBox="1"/>
          <p:nvPr/>
        </p:nvSpPr>
        <p:spPr>
          <a:xfrm>
            <a:off x="0" y="0"/>
            <a:ext cx="11811000" cy="2862322"/>
          </a:xfrm>
          <a:prstGeom prst="rect">
            <a:avLst/>
          </a:prstGeom>
          <a:noFill/>
        </p:spPr>
        <p:txBody>
          <a:bodyPr wrap="square" rtlCol="0">
            <a:spAutoFit/>
          </a:bodyPr>
          <a:lstStyle/>
          <a:p>
            <a:pPr algn="just"/>
            <a:r>
              <a:rPr lang="en-US" b="1" u="sng" dirty="0" smtClean="0">
                <a:latin typeface="Times New Roman" pitchFamily="18" charset="0"/>
                <a:cs typeface="Times New Roman" pitchFamily="18" charset="0"/>
              </a:rPr>
              <a:t>Electrical Connectors and Wire Connectors</a:t>
            </a:r>
          </a:p>
          <a:p>
            <a:pPr algn="just" fontAlgn="base"/>
            <a:r>
              <a:rPr lang="en-US" b="1" dirty="0" smtClean="0">
                <a:latin typeface="Times New Roman" pitchFamily="18" charset="0"/>
                <a:cs typeface="Times New Roman" pitchFamily="18" charset="0"/>
              </a:rPr>
              <a:t>A connector is a coupling device that joins electrical terminations to create an electrical circuit.</a:t>
            </a:r>
            <a:r>
              <a:rPr lang="en-US" dirty="0" smtClean="0">
                <a:latin typeface="Times New Roman" pitchFamily="18" charset="0"/>
                <a:cs typeface="Times New Roman" pitchFamily="18" charset="0"/>
              </a:rPr>
              <a:t> We design and manufacture an </a:t>
            </a:r>
            <a:r>
              <a:rPr lang="en-US" dirty="0" smtClean="0">
                <a:latin typeface="Times New Roman" pitchFamily="18" charset="0"/>
                <a:cs typeface="Times New Roman" pitchFamily="18" charset="0"/>
              </a:rPr>
              <a:t>electrical </a:t>
            </a:r>
            <a:r>
              <a:rPr lang="en-US" dirty="0" smtClean="0">
                <a:latin typeface="Times New Roman" pitchFamily="18" charset="0"/>
                <a:cs typeface="Times New Roman" pitchFamily="18" charset="0"/>
              </a:rPr>
              <a:t>connector types that are engineered to reliably transmit data, power, and signal in the harshest environments, under the most extreme use.</a:t>
            </a:r>
          </a:p>
          <a:p>
            <a:pPr algn="just" fontAlgn="base"/>
            <a:r>
              <a:rPr lang="en-US" dirty="0" smtClean="0">
                <a:latin typeface="Times New Roman" pitchFamily="18" charset="0"/>
                <a:cs typeface="Times New Roman" pitchFamily="18" charset="0"/>
              </a:rPr>
              <a:t> </a:t>
            </a:r>
          </a:p>
          <a:p>
            <a:pPr algn="just" fontAlgn="base"/>
            <a:r>
              <a:rPr lang="en-US" b="1" dirty="0" smtClean="0">
                <a:latin typeface="Times New Roman" pitchFamily="18" charset="0"/>
                <a:cs typeface="Times New Roman" pitchFamily="18" charset="0"/>
              </a:rPr>
              <a:t>What are connectors?</a:t>
            </a:r>
            <a:endParaRPr lang="en-US" dirty="0" smtClean="0">
              <a:latin typeface="Times New Roman" pitchFamily="18" charset="0"/>
              <a:cs typeface="Times New Roman" pitchFamily="18" charset="0"/>
            </a:endParaRPr>
          </a:p>
          <a:p>
            <a:pPr algn="just" fontAlgn="base"/>
            <a:r>
              <a:rPr lang="en-US" dirty="0" smtClean="0">
                <a:latin typeface="Times New Roman" pitchFamily="18" charset="0"/>
                <a:cs typeface="Times New Roman" pitchFamily="18" charset="0"/>
              </a:rPr>
              <a:t>Connectors enable contact between wires, cables, printed circuit boards, and electronic components. Our different types of connectors including PCB connectors and wire connectors are manufactured to reduce application size and power usage while enabling increased performance.</a:t>
            </a:r>
          </a:p>
          <a:p>
            <a:pPr algn="just"/>
            <a:endParaRPr lang="en-US" dirty="0">
              <a:latin typeface="Times New Roman" pitchFamily="18" charset="0"/>
              <a:cs typeface="Times New Roman" pitchFamily="18" charset="0"/>
            </a:endParaRPr>
          </a:p>
        </p:txBody>
      </p:sp>
      <p:pic>
        <p:nvPicPr>
          <p:cNvPr id="4" name="Picture 3" descr="2.GIF"/>
          <p:cNvPicPr>
            <a:picLocks noChangeAspect="1"/>
          </p:cNvPicPr>
          <p:nvPr/>
        </p:nvPicPr>
        <p:blipFill>
          <a:blip r:embed="rId2"/>
          <a:stretch>
            <a:fillRect/>
          </a:stretch>
        </p:blipFill>
        <p:spPr>
          <a:xfrm>
            <a:off x="1143000" y="2590800"/>
            <a:ext cx="9401175" cy="4267200"/>
          </a:xfrm>
          <a:prstGeom prst="rect">
            <a:avLst/>
          </a:prstGeom>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09469" y="2247722"/>
            <a:ext cx="6454140" cy="697230"/>
          </a:xfrm>
          <a:prstGeom prst="rect">
            <a:avLst/>
          </a:prstGeom>
        </p:spPr>
        <p:txBody>
          <a:bodyPr vert="horz" wrap="square" lIns="0" tIns="13335" rIns="0" bIns="0" rtlCol="0">
            <a:spAutoFit/>
          </a:bodyPr>
          <a:lstStyle/>
          <a:p>
            <a:pPr marL="12700">
              <a:lnSpc>
                <a:spcPct val="100000"/>
              </a:lnSpc>
              <a:spcBef>
                <a:spcPts val="105"/>
              </a:spcBef>
            </a:pPr>
            <a:r>
              <a:rPr spc="-5" dirty="0"/>
              <a:t>Thank</a:t>
            </a:r>
            <a:r>
              <a:rPr spc="-35" dirty="0"/>
              <a:t> </a:t>
            </a:r>
            <a:r>
              <a:rPr spc="-105" dirty="0"/>
              <a:t>You</a:t>
            </a:r>
            <a:r>
              <a:rPr spc="-15" dirty="0"/>
              <a:t> </a:t>
            </a:r>
            <a:r>
              <a:rPr spc="-35" dirty="0"/>
              <a:t>for</a:t>
            </a:r>
            <a:r>
              <a:rPr spc="-15" dirty="0"/>
              <a:t> your </a:t>
            </a:r>
            <a:r>
              <a:rPr spc="-30" dirty="0"/>
              <a:t>Attention</a:t>
            </a:r>
          </a:p>
        </p:txBody>
      </p:sp>
      <p:sp>
        <p:nvSpPr>
          <p:cNvPr id="4" name="object 4"/>
          <p:cNvSpPr txBox="1"/>
          <p:nvPr/>
        </p:nvSpPr>
        <p:spPr>
          <a:xfrm>
            <a:off x="11094211" y="6426809"/>
            <a:ext cx="18097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888888"/>
                </a:solidFill>
                <a:latin typeface="Calibri"/>
                <a:cs typeface="Calibri"/>
              </a:rPr>
              <a:t>72</a:t>
            </a:r>
            <a:endParaRPr sz="1200">
              <a:latin typeface="Calibri"/>
              <a:cs typeface="Calibri"/>
            </a:endParaRPr>
          </a:p>
        </p:txBody>
      </p:sp>
      <p:sp>
        <p:nvSpPr>
          <p:cNvPr id="5" name="Slide Number Placeholder 4"/>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77</a:t>
            </a:fld>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363</TotalTime>
  <Words>4216</Words>
  <Application>Microsoft Office PowerPoint</Application>
  <PresentationFormat>Custom</PresentationFormat>
  <Paragraphs>337</Paragraphs>
  <Slides>77</Slides>
  <Notes>0</Notes>
  <HiddenSlides>0</HiddenSlides>
  <MMClips>0</MMClips>
  <ScaleCrop>false</ScaleCrop>
  <HeadingPairs>
    <vt:vector size="4" baseType="variant">
      <vt:variant>
        <vt:lpstr>Theme</vt:lpstr>
      </vt:variant>
      <vt:variant>
        <vt:i4>1</vt:i4>
      </vt:variant>
      <vt:variant>
        <vt:lpstr>Slide Titles</vt:lpstr>
      </vt:variant>
      <vt:variant>
        <vt:i4>77</vt:i4>
      </vt:variant>
    </vt:vector>
  </HeadingPairs>
  <TitlesOfParts>
    <vt:vector size="78" baseType="lpstr">
      <vt:lpstr>Office Theme</vt:lpstr>
      <vt:lpstr>Slide 1</vt:lpstr>
      <vt:lpstr>Analog to Digital and Digital to Analog Conversion</vt:lpstr>
      <vt:lpstr>General Considerations of Analog to Digital and  Digital to Analog Conversion</vt:lpstr>
      <vt:lpstr>Slide 4</vt:lpstr>
      <vt:lpstr>Digital to Analog Converter (DAC)</vt:lpstr>
      <vt:lpstr>Weighted Resistor Network DAC</vt:lpstr>
      <vt:lpstr>Slide 7</vt:lpstr>
      <vt:lpstr>Slide 8</vt:lpstr>
      <vt:lpstr>Drawbacks of the WRN network DAC:</vt:lpstr>
      <vt:lpstr>R:2R Ladder Network DAC</vt:lpstr>
      <vt:lpstr>Slide 11</vt:lpstr>
      <vt:lpstr>Slide 12</vt:lpstr>
      <vt:lpstr>Slide 13</vt:lpstr>
      <vt:lpstr>Slide 14</vt:lpstr>
      <vt:lpstr>Slide 15</vt:lpstr>
      <vt:lpstr>Slide 16</vt:lpstr>
      <vt:lpstr>Analog to Digital Converter (ADC)</vt:lpstr>
      <vt:lpstr>Successive Approximation (SA) Type ADC:</vt:lpstr>
      <vt:lpstr>Slide 19</vt:lpstr>
      <vt:lpstr>Slide 20</vt:lpstr>
      <vt:lpstr>Slide 21</vt:lpstr>
      <vt:lpstr>Ramp ADC</vt:lpstr>
      <vt:lpstr>Ramp ADC</vt:lpstr>
      <vt:lpstr>Ramp ADC</vt:lpstr>
      <vt:lpstr>Dual Ramp ADC (Dual Slope ADC)</vt:lpstr>
      <vt:lpstr>Dual Ramp ADC (Dual Slope ADC)</vt:lpstr>
      <vt:lpstr>Dual Ramp ADC (Dual Slope ADC)</vt:lpstr>
      <vt:lpstr>Slide 28</vt:lpstr>
      <vt:lpstr>Slide 29</vt:lpstr>
      <vt:lpstr>Flash ADC (Parallel ADC)</vt:lpstr>
      <vt:lpstr>Flash ADC (Parallel ADC)</vt:lpstr>
      <vt:lpstr>Flash ADC (Parallel ADC)</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Parameters for selection of ADC/DAC</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Thank You for your Attention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 Microprocessor Based System</dc:title>
  <dc:creator>Suroj Burlakoti</dc:creator>
  <cp:lastModifiedBy>Basuki Sir</cp:lastModifiedBy>
  <cp:revision>40</cp:revision>
  <dcterms:created xsi:type="dcterms:W3CDTF">2023-07-20T01:49:38Z</dcterms:created>
  <dcterms:modified xsi:type="dcterms:W3CDTF">2023-07-29T08:38:51Z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2023-06-07T00:00:00Z</vt:filetime>
  </property>
  <property fmtid="{D5CDD505-2E9C-101B-9397-08002B2CF9AE}" pid="3" name="Creator">
    <vt:lpwstr>Microsoft® PowerPoint® 2016</vt:lpwstr>
  </property>
  <property fmtid="{D5CDD505-2E9C-101B-9397-08002B2CF9AE}" pid="4" name="LastSaved">
    <vt:filetime>2023-07-20T00:00:00Z</vt:filetime>
  </property>
</Properties>
</file>