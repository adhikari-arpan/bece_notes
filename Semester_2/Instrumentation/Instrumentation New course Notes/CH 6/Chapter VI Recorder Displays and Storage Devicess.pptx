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256" r:id="rId2"/>
    <p:sldId id="336" r:id="rId3"/>
    <p:sldId id="257" r:id="rId4"/>
    <p:sldId id="258"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83" r:id="rId19"/>
    <p:sldId id="273" r:id="rId20"/>
    <p:sldId id="274" r:id="rId21"/>
    <p:sldId id="275" r:id="rId22"/>
    <p:sldId id="276" r:id="rId23"/>
    <p:sldId id="277" r:id="rId24"/>
    <p:sldId id="278" r:id="rId25"/>
    <p:sldId id="279" r:id="rId26"/>
    <p:sldId id="280" r:id="rId27"/>
    <p:sldId id="281" r:id="rId28"/>
    <p:sldId id="282" r:id="rId29"/>
    <p:sldId id="284" r:id="rId30"/>
    <p:sldId id="285" r:id="rId31"/>
    <p:sldId id="286" r:id="rId32"/>
    <p:sldId id="287" r:id="rId33"/>
    <p:sldId id="288" r:id="rId34"/>
    <p:sldId id="289" r:id="rId35"/>
    <p:sldId id="290" r:id="rId36"/>
    <p:sldId id="313" r:id="rId37"/>
    <p:sldId id="314" r:id="rId38"/>
    <p:sldId id="315" r:id="rId39"/>
    <p:sldId id="316" r:id="rId40"/>
    <p:sldId id="317" r:id="rId41"/>
    <p:sldId id="338" r:id="rId42"/>
    <p:sldId id="339" r:id="rId43"/>
    <p:sldId id="340" r:id="rId44"/>
    <p:sldId id="318" r:id="rId45"/>
    <p:sldId id="319" r:id="rId46"/>
    <p:sldId id="320" r:id="rId47"/>
    <p:sldId id="321" r:id="rId48"/>
    <p:sldId id="322" r:id="rId49"/>
    <p:sldId id="341" r:id="rId50"/>
    <p:sldId id="342" r:id="rId51"/>
    <p:sldId id="343" r:id="rId52"/>
    <p:sldId id="323" r:id="rId53"/>
    <p:sldId id="324" r:id="rId54"/>
    <p:sldId id="325" r:id="rId55"/>
    <p:sldId id="326" r:id="rId56"/>
    <p:sldId id="327" r:id="rId57"/>
    <p:sldId id="328" r:id="rId58"/>
    <p:sldId id="329" r:id="rId59"/>
    <p:sldId id="334" r:id="rId60"/>
    <p:sldId id="335" r:id="rId61"/>
    <p:sldId id="330" r:id="rId62"/>
    <p:sldId id="331" r:id="rId63"/>
    <p:sldId id="332" r:id="rId64"/>
    <p:sldId id="333" r:id="rId65"/>
    <p:sldId id="293" r:id="rId66"/>
    <p:sldId id="294" r:id="rId67"/>
    <p:sldId id="295" r:id="rId68"/>
    <p:sldId id="296" r:id="rId69"/>
    <p:sldId id="297" r:id="rId70"/>
    <p:sldId id="298" r:id="rId71"/>
    <p:sldId id="299" r:id="rId72"/>
    <p:sldId id="300" r:id="rId73"/>
    <p:sldId id="301" r:id="rId74"/>
    <p:sldId id="302" r:id="rId75"/>
    <p:sldId id="337" r:id="rId76"/>
    <p:sldId id="303" r:id="rId77"/>
    <p:sldId id="304" r:id="rId78"/>
    <p:sldId id="305" r:id="rId79"/>
    <p:sldId id="306" r:id="rId80"/>
    <p:sldId id="307" r:id="rId81"/>
    <p:sldId id="308" r:id="rId82"/>
    <p:sldId id="309" r:id="rId83"/>
    <p:sldId id="310" r:id="rId8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398"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96BB08-0DCE-4BF1-84DF-AEBCA6351CB4}" type="datetimeFigureOut">
              <a:rPr lang="en-US" smtClean="0"/>
              <a:pPr/>
              <a:t>31-Jul-23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5C3325-D14C-441D-9A0E-21FE5BF144D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A5C3325-D14C-441D-9A0E-21FE5BF144D5}" type="slidenum">
              <a:rPr lang="en-US" smtClean="0"/>
              <a:pPr/>
              <a:t>78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852FDD6-31DF-436E-882D-CB29009D4819}" type="datetime1">
              <a:rPr lang="en-US" smtClean="0"/>
              <a:pPr/>
              <a:t>31-Jul-23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6E4A06-66C8-406B-8392-08ED69AB9C36}" type="datetime1">
              <a:rPr lang="en-US" smtClean="0"/>
              <a:pPr/>
              <a:t>31-Jul-23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15A5E-D375-4F32-97FD-8A93355BEEF1}" type="datetime1">
              <a:rPr lang="en-US" smtClean="0"/>
              <a:pPr/>
              <a:t>31-Jul-23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BA0AB21-A4DF-4EED-8403-19E49C80FB4A}" type="datetime1">
              <a:rPr lang="en-US" smtClean="0"/>
              <a:pPr/>
              <a:t>31-Jul-23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BDB7F74-983B-482D-A104-89985049D105}" type="datetime1">
              <a:rPr lang="en-US" smtClean="0"/>
              <a:pPr/>
              <a:t>31-Jul-23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210895D-491F-40B6-B75C-F1FA6EF6A8B5}" type="datetime1">
              <a:rPr lang="en-US" smtClean="0"/>
              <a:pPr/>
              <a:t>31-Jul-23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17F49F-E1D5-4878-AC97-4DF1C5AA366A}" type="datetime1">
              <a:rPr lang="en-US" smtClean="0"/>
              <a:pPr/>
              <a:t>31-Jul-23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09B9F9C-3395-4BF7-91B4-5273304BA427}" type="datetime1">
              <a:rPr lang="en-US" smtClean="0"/>
              <a:pPr/>
              <a:t>31-Jul-23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CAA840-6CA4-4B98-B0B2-ADDF7FDE826A}" type="datetime1">
              <a:rPr lang="en-US" smtClean="0"/>
              <a:pPr/>
              <a:t>31-Jul-23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415D4A-968A-4CA1-8165-8CB985642DAF}" type="datetime1">
              <a:rPr lang="en-US" smtClean="0"/>
              <a:pPr/>
              <a:t>31-Jul-23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DAF43B-CE45-481A-8F87-659F49DF0288}" type="datetime1">
              <a:rPr lang="en-US" smtClean="0"/>
              <a:pPr/>
              <a:t>31-Jul-23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465489-7BAE-43C6-87C5-06691A611DB0}" type="datetime1">
              <a:rPr lang="en-US" smtClean="0"/>
              <a:pPr/>
              <a:t>31-Jul-23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encyclopedia.com/science-and-technology/computers-and-electrical-engineering/computers-and-computing/computer-3"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www.easytechjunkie.com/what-is-a-compact-disc.htm"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www.easytechjunkie.com/what-are-the-different-types-of-dvd.htm"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www.eeeonline.org/" TargetMode="External"/><Relationship Id="rId2" Type="http://schemas.openxmlformats.org/officeDocument/2006/relationships/hyperlink" Target="https://www.eeeguide.com/basic-low-voltage-regulator/"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www.eeeguide.com/?s=motor" TargetMode="External"/><Relationship Id="rId2" Type="http://schemas.openxmlformats.org/officeDocument/2006/relationships/hyperlink" Target="https://www.eeeonline.org/" TargetMode="External"/><Relationship Id="rId1" Type="http://schemas.openxmlformats.org/officeDocument/2006/relationships/slideLayout" Target="../slideLayouts/slideLayout2.xml"/><Relationship Id="rId4" Type="http://schemas.openxmlformats.org/officeDocument/2006/relationships/hyperlink" Target="http://www.circuitstoday.com/" TargetMode="External"/></Relationships>
</file>

<file path=ppt/slides/_rels/slide73.xml.rels><?xml version="1.0" encoding="UTF-8" standalone="yes"?>
<Relationships xmlns="http://schemas.openxmlformats.org/package/2006/relationships"><Relationship Id="rId2" Type="http://schemas.openxmlformats.org/officeDocument/2006/relationships/hyperlink" Target="https://www.omega.com/en-us/shop/wireless-data-logger"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hyperlink" Target="https://en.wikipedia.org/wiki/Dot_matrix_printing" TargetMode="External"/><Relationship Id="rId2" Type="http://schemas.openxmlformats.org/officeDocument/2006/relationships/hyperlink" Target="https://en.wikipedia.org/wiki/Printer_(computing)"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www.techtarget.com/whatis/definition/inkjet-printer" TargetMode="External"/><Relationship Id="rId2" Type="http://schemas.openxmlformats.org/officeDocument/2006/relationships/hyperlink" Target="https://www.techtarget.com/whatis/definition/printer" TargetMode="External"/><Relationship Id="rId1" Type="http://schemas.openxmlformats.org/officeDocument/2006/relationships/slideLayout" Target="../slideLayouts/slideLayout2.xml"/><Relationship Id="rId5" Type="http://schemas.openxmlformats.org/officeDocument/2006/relationships/hyperlink" Target="https://www.techtarget.com/whatis/definition/multifunction-peripheral-MFP" TargetMode="External"/><Relationship Id="rId4" Type="http://schemas.openxmlformats.org/officeDocument/2006/relationships/hyperlink" Target="https://www.techtarget.com/searchnetworking/definition/local-area-network-LAN"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77500" lnSpcReduction="20000"/>
          </a:bodyPr>
          <a:lstStyle/>
          <a:p>
            <a:r>
              <a:rPr lang="en-US" b="1" u="sng" dirty="0" smtClean="0">
                <a:solidFill>
                  <a:schemeClr val="tx1"/>
                </a:solidFill>
                <a:latin typeface="Times New Roman" pitchFamily="18" charset="0"/>
                <a:cs typeface="Times New Roman" pitchFamily="18" charset="0"/>
              </a:rPr>
              <a:t>Unit VI: Recorders, Displays and Storage Devices (5hrs)</a:t>
            </a:r>
          </a:p>
          <a:p>
            <a:endParaRPr lang="en-US" b="1" u="sng" dirty="0" smtClean="0">
              <a:solidFill>
                <a:schemeClr val="tx1"/>
              </a:solidFill>
              <a:latin typeface="Times New Roman" pitchFamily="18" charset="0"/>
              <a:cs typeface="Times New Roman" pitchFamily="18" charset="0"/>
            </a:endParaRPr>
          </a:p>
          <a:p>
            <a:pPr algn="l"/>
            <a:r>
              <a:rPr lang="en-US" dirty="0" smtClean="0">
                <a:solidFill>
                  <a:schemeClr val="tx1"/>
                </a:solidFill>
                <a:latin typeface="Times New Roman" pitchFamily="18" charset="0"/>
                <a:cs typeface="Times New Roman" pitchFamily="18" charset="0"/>
              </a:rPr>
              <a:t>6.1 Oscilloscopes:</a:t>
            </a:r>
          </a:p>
          <a:p>
            <a:pPr algn="l"/>
            <a:r>
              <a:rPr lang="en-US" dirty="0" smtClean="0">
                <a:solidFill>
                  <a:schemeClr val="tx1"/>
                </a:solidFill>
                <a:latin typeface="Times New Roman" pitchFamily="18" charset="0"/>
                <a:cs typeface="Times New Roman" pitchFamily="18" charset="0"/>
              </a:rPr>
              <a:t>6.1.1 Cathode Ray Tube, Vertical and Horizontal Deflection 	Systems, Delay lines, Probes and Transducers,</a:t>
            </a:r>
          </a:p>
          <a:p>
            <a:pPr algn="l"/>
            <a:r>
              <a:rPr lang="en-US" dirty="0" smtClean="0">
                <a:solidFill>
                  <a:schemeClr val="tx1"/>
                </a:solidFill>
                <a:latin typeface="Times New Roman" pitchFamily="18" charset="0"/>
                <a:cs typeface="Times New Roman" pitchFamily="18" charset="0"/>
              </a:rPr>
              <a:t>6.1.2 Specification of an Oscilloscope</a:t>
            </a:r>
          </a:p>
          <a:p>
            <a:pPr algn="l"/>
            <a:r>
              <a:rPr lang="en-US" dirty="0" smtClean="0">
                <a:solidFill>
                  <a:schemeClr val="tx1"/>
                </a:solidFill>
                <a:latin typeface="Times New Roman" pitchFamily="18" charset="0"/>
                <a:cs typeface="Times New Roman" pitchFamily="18" charset="0"/>
              </a:rPr>
              <a:t>6.1.3 Oscilloscope measurement Techniques</a:t>
            </a:r>
          </a:p>
          <a:p>
            <a:pPr algn="l"/>
            <a:r>
              <a:rPr lang="en-US" dirty="0" smtClean="0">
                <a:solidFill>
                  <a:schemeClr val="tx1"/>
                </a:solidFill>
                <a:latin typeface="Times New Roman" pitchFamily="18" charset="0"/>
                <a:cs typeface="Times New Roman" pitchFamily="18" charset="0"/>
              </a:rPr>
              <a:t>6.2 Special Oscilloscopes – Storage Oscilloscope, Sampling 	Oscilloscope</a:t>
            </a:r>
          </a:p>
          <a:p>
            <a:pPr algn="l"/>
            <a:r>
              <a:rPr lang="en-US" dirty="0" smtClean="0">
                <a:solidFill>
                  <a:schemeClr val="tx1"/>
                </a:solidFill>
                <a:latin typeface="Times New Roman" pitchFamily="18" charset="0"/>
                <a:cs typeface="Times New Roman" pitchFamily="18" charset="0"/>
              </a:rPr>
              <a:t>6.3 Recorders Basic recording systems. Strip chart recorders. 	Galvanometer and Potentiometer type recorders (direct and 	null type)</a:t>
            </a:r>
          </a:p>
          <a:p>
            <a:pPr algn="l"/>
            <a:r>
              <a:rPr lang="en-US" dirty="0" smtClean="0">
                <a:solidFill>
                  <a:schemeClr val="tx1"/>
                </a:solidFill>
                <a:latin typeface="Times New Roman" pitchFamily="18" charset="0"/>
                <a:cs typeface="Times New Roman" pitchFamily="18" charset="0"/>
              </a:rPr>
              <a:t>6.4 Indicators and display Devices - Nixie, LED, LCD and seven 	segment and dot matrix displays.</a:t>
            </a:r>
          </a:p>
          <a:p>
            <a:pPr algn="l"/>
            <a:r>
              <a:rPr lang="en-US" dirty="0" smtClean="0">
                <a:solidFill>
                  <a:schemeClr val="tx1"/>
                </a:solidFill>
                <a:latin typeface="Times New Roman" pitchFamily="18" charset="0"/>
                <a:cs typeface="Times New Roman" pitchFamily="18" charset="0"/>
              </a:rPr>
              <a:t>6.5 Magnetic tape and disc recorders</a:t>
            </a:r>
          </a:p>
          <a:p>
            <a:pPr algn="l"/>
            <a:r>
              <a:rPr lang="en-US" dirty="0" smtClean="0">
                <a:solidFill>
                  <a:schemeClr val="tx1"/>
                </a:solidFill>
                <a:latin typeface="Times New Roman" pitchFamily="18" charset="0"/>
                <a:cs typeface="Times New Roman" pitchFamily="18" charset="0"/>
              </a:rPr>
              <a:t>6.6 Data loggers, Dot matrix and laser printers</a:t>
            </a:r>
          </a:p>
          <a:p>
            <a:pPr algn="l"/>
            <a:r>
              <a:rPr lang="en-US" dirty="0" smtClean="0">
                <a:solidFill>
                  <a:schemeClr val="tx1"/>
                </a:solidFill>
                <a:latin typeface="Times New Roman" pitchFamily="18" charset="0"/>
                <a:cs typeface="Times New Roman" pitchFamily="18" charset="0"/>
              </a:rPr>
              <a:t>6.7 Compact disc/Optical disc recorders</a:t>
            </a:r>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1.GIF"/>
          <p:cNvPicPr>
            <a:picLocks noGrp="1" noChangeAspect="1"/>
          </p:cNvPicPr>
          <p:nvPr>
            <p:ph idx="1"/>
          </p:nvPr>
        </p:nvPicPr>
        <p:blipFill>
          <a:blip r:embed="rId2"/>
          <a:stretch>
            <a:fillRect/>
          </a:stretch>
        </p:blipFill>
        <p:spPr>
          <a:xfrm>
            <a:off x="457200" y="1447800"/>
            <a:ext cx="8229600" cy="4724400"/>
          </a:xfrm>
        </p:spPr>
      </p:pic>
      <p:sp>
        <p:nvSpPr>
          <p:cNvPr id="5" name="TextBox 4"/>
          <p:cNvSpPr txBox="1"/>
          <p:nvPr/>
        </p:nvSpPr>
        <p:spPr>
          <a:xfrm>
            <a:off x="2514600" y="685800"/>
            <a:ext cx="2514600" cy="523220"/>
          </a:xfrm>
          <a:prstGeom prst="rect">
            <a:avLst/>
          </a:prstGeom>
          <a:noFill/>
        </p:spPr>
        <p:txBody>
          <a:bodyPr wrap="square" rtlCol="0">
            <a:spAutoFit/>
          </a:bodyPr>
          <a:lstStyle/>
          <a:p>
            <a:r>
              <a:rPr lang="en-US" sz="2800" b="1" u="sng" dirty="0" smtClean="0">
                <a:latin typeface="Times New Roman" pitchFamily="18" charset="0"/>
                <a:cs typeface="Times New Roman" pitchFamily="18" charset="0"/>
              </a:rPr>
              <a:t>Oscilloscopes</a:t>
            </a:r>
            <a:endParaRPr lang="en-US" sz="2800" b="1" u="sng"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40000" lnSpcReduction="20000"/>
          </a:bodyPr>
          <a:lstStyle/>
          <a:p>
            <a:pPr algn="just"/>
            <a:r>
              <a:rPr lang="en-US" sz="6000" b="1" u="sng" dirty="0" smtClean="0">
                <a:solidFill>
                  <a:schemeClr val="tx1"/>
                </a:solidFill>
                <a:latin typeface="Times New Roman" pitchFamily="18" charset="0"/>
                <a:cs typeface="Times New Roman" pitchFamily="18" charset="0"/>
              </a:rPr>
              <a:t>Oscilloscopes</a:t>
            </a:r>
          </a:p>
          <a:p>
            <a:pPr algn="just">
              <a:buFont typeface="Arial" pitchFamily="34" charset="0"/>
              <a:buChar char="•"/>
            </a:pPr>
            <a:r>
              <a:rPr lang="en-US" sz="5000" dirty="0" smtClean="0">
                <a:solidFill>
                  <a:schemeClr val="tx1"/>
                </a:solidFill>
                <a:latin typeface="Times New Roman" pitchFamily="18" charset="0"/>
                <a:cs typeface="Times New Roman" pitchFamily="18" charset="0"/>
              </a:rPr>
              <a:t>The cathode ray oscilloscope is probably the most versatile tool for the development</a:t>
            </a:r>
          </a:p>
          <a:p>
            <a:pPr algn="just"/>
            <a:r>
              <a:rPr lang="en-US" sz="5000" dirty="0" smtClean="0">
                <a:solidFill>
                  <a:schemeClr val="tx1"/>
                </a:solidFill>
                <a:latin typeface="Times New Roman" pitchFamily="18" charset="0"/>
                <a:cs typeface="Times New Roman" pitchFamily="18" charset="0"/>
              </a:rPr>
              <a:t>of electronic circuits and systems, and has been one of the more important tools in the development of modern electronics.</a:t>
            </a:r>
          </a:p>
          <a:p>
            <a:pPr algn="just">
              <a:buFont typeface="Arial" pitchFamily="34" charset="0"/>
              <a:buChar char="•"/>
            </a:pPr>
            <a:r>
              <a:rPr lang="en-US" sz="5000" dirty="0" smtClean="0">
                <a:solidFill>
                  <a:schemeClr val="tx1"/>
                </a:solidFill>
                <a:latin typeface="Times New Roman" pitchFamily="18" charset="0"/>
                <a:cs typeface="Times New Roman" pitchFamily="18" charset="0"/>
              </a:rPr>
              <a:t>The cathode ray oscilloscope is a device that allows the amplitude of electrical signals, whether they be voltage, current, power, etc., to be displayed primarily as a function of time. </a:t>
            </a:r>
          </a:p>
          <a:p>
            <a:pPr algn="just">
              <a:buFont typeface="Arial" pitchFamily="34" charset="0"/>
              <a:buChar char="•"/>
            </a:pPr>
            <a:r>
              <a:rPr lang="en-US" sz="5000" dirty="0" smtClean="0">
                <a:solidFill>
                  <a:schemeClr val="tx1"/>
                </a:solidFill>
                <a:latin typeface="Times New Roman" pitchFamily="18" charset="0"/>
                <a:cs typeface="Times New Roman" pitchFamily="18" charset="0"/>
              </a:rPr>
              <a:t>The oscilloscope depends on the movement of an electron beam, which is then made visible by allowing the beam to impinge on a phosphor surface, which produces a visible spot. </a:t>
            </a:r>
          </a:p>
          <a:p>
            <a:pPr algn="just">
              <a:buFont typeface="Arial" pitchFamily="34" charset="0"/>
              <a:buChar char="•"/>
            </a:pPr>
            <a:r>
              <a:rPr lang="en-US" sz="5000" dirty="0" smtClean="0">
                <a:solidFill>
                  <a:schemeClr val="tx1"/>
                </a:solidFill>
                <a:latin typeface="Times New Roman" pitchFamily="18" charset="0"/>
                <a:cs typeface="Times New Roman" pitchFamily="18" charset="0"/>
              </a:rPr>
              <a:t>If the electron beam is deflected in either of two orthogonal axes, such as the familiar X and Y axes used in conventional graph construction, the luminous spot can be used to create two-dimensional displays. </a:t>
            </a:r>
          </a:p>
          <a:p>
            <a:pPr algn="just">
              <a:buFont typeface="Arial" pitchFamily="34" charset="0"/>
              <a:buChar char="•"/>
            </a:pPr>
            <a:r>
              <a:rPr lang="en-US" sz="5000" dirty="0" smtClean="0">
                <a:solidFill>
                  <a:schemeClr val="tx1"/>
                </a:solidFill>
                <a:latin typeface="Times New Roman" pitchFamily="18" charset="0"/>
                <a:cs typeface="Times New Roman" pitchFamily="18" charset="0"/>
              </a:rPr>
              <a:t>Typically, the X axis of the oscilloscope is deflected at a constant rate, relative to time, and the vertical or Y axis is deflected in response to an input stimulus such as a voltage. </a:t>
            </a:r>
          </a:p>
          <a:p>
            <a:pPr algn="just">
              <a:buFont typeface="Arial" pitchFamily="34" charset="0"/>
              <a:buChar char="•"/>
            </a:pPr>
            <a:r>
              <a:rPr lang="en-US" sz="5000" dirty="0" smtClean="0">
                <a:solidFill>
                  <a:schemeClr val="tx1"/>
                </a:solidFill>
                <a:latin typeface="Times New Roman" pitchFamily="18" charset="0"/>
                <a:cs typeface="Times New Roman" pitchFamily="18" charset="0"/>
              </a:rPr>
              <a:t>This produces the time-dependent variation of the input voltage, which is very important to the design and development of electronic circuits. </a:t>
            </a:r>
          </a:p>
          <a:p>
            <a:pPr algn="just">
              <a:buFont typeface="Arial" pitchFamily="34" charset="0"/>
              <a:buChar char="•"/>
            </a:pPr>
            <a:r>
              <a:rPr lang="en-US" sz="5000" dirty="0" smtClean="0">
                <a:solidFill>
                  <a:schemeClr val="tx1"/>
                </a:solidFill>
                <a:latin typeface="Times New Roman" pitchFamily="18" charset="0"/>
                <a:cs typeface="Times New Roman" pitchFamily="18" charset="0"/>
              </a:rPr>
              <a:t>Time recording devices, such as pen and strip chart recorders, have existed for a long time; however, the oscilloscope is capable of much faster operation. </a:t>
            </a:r>
          </a:p>
          <a:p>
            <a:pPr algn="just">
              <a:buFont typeface="Arial" pitchFamily="34" charset="0"/>
              <a:buChar char="•"/>
            </a:pPr>
            <a:r>
              <a:rPr lang="en-US" sz="5000" dirty="0" smtClean="0">
                <a:solidFill>
                  <a:schemeClr val="tx1"/>
                </a:solidFill>
                <a:latin typeface="Times New Roman" pitchFamily="18" charset="0"/>
                <a:cs typeface="Times New Roman" pitchFamily="18" charset="0"/>
              </a:rPr>
              <a:t>Rather than the recording of events over a period of a few seconds, which is typical of the mechanical-type recorder, the oscilloscope is capable of displaying events that take place over periods of microseconds and nanoseconds.</a:t>
            </a:r>
            <a:endParaRPr lang="en-US" sz="5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a:bodyPr>
          <a:lstStyle/>
          <a:p>
            <a:pPr algn="l"/>
            <a:r>
              <a:rPr lang="en-US" sz="2800" u="sng" dirty="0" smtClean="0">
                <a:solidFill>
                  <a:schemeClr val="tx1"/>
                </a:solidFill>
                <a:latin typeface="Times New Roman" pitchFamily="18" charset="0"/>
                <a:cs typeface="Times New Roman" pitchFamily="18" charset="0"/>
              </a:rPr>
              <a:t>OSCILLOSCOPE BLOCK DIAGRAM</a:t>
            </a:r>
            <a:endParaRPr lang="en-US" sz="2800" u="sng" dirty="0">
              <a:solidFill>
                <a:schemeClr val="tx1"/>
              </a:solidFill>
              <a:latin typeface="Times New Roman" pitchFamily="18" charset="0"/>
              <a:cs typeface="Times New Roman" pitchFamily="18" charset="0"/>
            </a:endParaRPr>
          </a:p>
        </p:txBody>
      </p:sp>
      <p:pic>
        <p:nvPicPr>
          <p:cNvPr id="4" name="Picture 3" descr="1.GIF"/>
          <p:cNvPicPr>
            <a:picLocks noChangeAspect="1"/>
          </p:cNvPicPr>
          <p:nvPr/>
        </p:nvPicPr>
        <p:blipFill>
          <a:blip r:embed="rId2"/>
          <a:stretch>
            <a:fillRect/>
          </a:stretch>
        </p:blipFill>
        <p:spPr>
          <a:xfrm>
            <a:off x="381000" y="914400"/>
            <a:ext cx="8458199" cy="5715000"/>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77500" lnSpcReduction="20000"/>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The heart of the oscilloscope is the cathode ray tube, which generates the electron beam, accelerates the beam to a high velocity, deflects the beam to create the image, and contains the phosphor screen where the electron beam eventually becomes visible. </a:t>
            </a:r>
          </a:p>
          <a:p>
            <a:pPr algn="just">
              <a:buFont typeface="Arial" pitchFamily="34" charset="0"/>
              <a:buChar char="•"/>
            </a:pPr>
            <a:r>
              <a:rPr lang="en-US" dirty="0" smtClean="0">
                <a:solidFill>
                  <a:schemeClr val="tx1"/>
                </a:solidFill>
                <a:latin typeface="Times New Roman" pitchFamily="18" charset="0"/>
                <a:cs typeface="Times New Roman" pitchFamily="18" charset="0"/>
              </a:rPr>
              <a:t>To accomplish these tasks, various electrical signals and voltages are required, and these requirements dictate the remainder of the blocks of the oscilloscope outline as shown in Fig. 7-1.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power supply block provides the voltages required by the cathode ray tube to generate and accelerate the electron beam, as well as to supply the required operating voltages for the other circuits of the oscilloscope. </a:t>
            </a:r>
          </a:p>
          <a:p>
            <a:pPr algn="just">
              <a:buFont typeface="Arial" pitchFamily="34" charset="0"/>
              <a:buChar char="•"/>
            </a:pPr>
            <a:r>
              <a:rPr lang="en-US" dirty="0" smtClean="0">
                <a:solidFill>
                  <a:schemeClr val="tx1"/>
                </a:solidFill>
                <a:latin typeface="Times New Roman" pitchFamily="18" charset="0"/>
                <a:cs typeface="Times New Roman" pitchFamily="18" charset="0"/>
              </a:rPr>
              <a:t>Relatively high voltages are required by cathode ray tubes, on the order of a few thousand volts, for acceleration, as well as a low voltage for the heater of the electron gun, which emits the electrons. </a:t>
            </a:r>
          </a:p>
          <a:p>
            <a:pPr algn="just">
              <a:buFont typeface="Arial" pitchFamily="34" charset="0"/>
              <a:buChar char="•"/>
            </a:pPr>
            <a:r>
              <a:rPr lang="en-US" dirty="0" smtClean="0">
                <a:solidFill>
                  <a:schemeClr val="tx1"/>
                </a:solidFill>
                <a:latin typeface="Times New Roman" pitchFamily="18" charset="0"/>
                <a:cs typeface="Times New Roman" pitchFamily="18" charset="0"/>
              </a:rPr>
              <a:t>Supply voltages for the other circuits are various values, usually not more than a few hundred volts.</a:t>
            </a:r>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92500" lnSpcReduction="10000"/>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The laboratory oscilloscope has a time base which generates the correct voltage to supply the cathode ray tube to deflect the spot at a constant time dependent rate.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signal to be viewed is fed to a vertical amplifier, which  increases the potential of the input signal to a level that will provide a usable deflection of the electron beam. </a:t>
            </a:r>
          </a:p>
          <a:p>
            <a:pPr algn="just">
              <a:buFont typeface="Arial" pitchFamily="34" charset="0"/>
              <a:buChar char="•"/>
            </a:pPr>
            <a:r>
              <a:rPr lang="en-US" dirty="0" smtClean="0">
                <a:solidFill>
                  <a:schemeClr val="tx1"/>
                </a:solidFill>
                <a:latin typeface="Times New Roman" pitchFamily="18" charset="0"/>
                <a:cs typeface="Times New Roman" pitchFamily="18" charset="0"/>
              </a:rPr>
              <a:t>To synchronize the horizontal deflection with the vertical input, such that the horizontal deflection starts at the same point of the input vertical signal each time it sweeps, a synchronizing or triggering circuit is used. </a:t>
            </a:r>
          </a:p>
          <a:p>
            <a:pPr algn="just">
              <a:buFont typeface="Arial" pitchFamily="34" charset="0"/>
              <a:buChar char="•"/>
            </a:pPr>
            <a:r>
              <a:rPr lang="en-US" dirty="0" smtClean="0">
                <a:solidFill>
                  <a:schemeClr val="tx1"/>
                </a:solidFill>
                <a:latin typeface="Times New Roman" pitchFamily="18" charset="0"/>
                <a:cs typeface="Times New Roman" pitchFamily="18" charset="0"/>
              </a:rPr>
              <a:t>This circuit is the link between the vertical input and the horizontal time base.</a:t>
            </a:r>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77500" lnSpcReduction="20000"/>
          </a:bodyPr>
          <a:lstStyle/>
          <a:p>
            <a:pPr algn="just"/>
            <a:r>
              <a:rPr lang="en-US" b="1" dirty="0" smtClean="0">
                <a:solidFill>
                  <a:schemeClr val="tx1"/>
                </a:solidFill>
                <a:latin typeface="Times New Roman" pitchFamily="18" charset="0"/>
                <a:cs typeface="Times New Roman" pitchFamily="18" charset="0"/>
              </a:rPr>
              <a:t>CATHODE RAY TUBE (CRT) </a:t>
            </a:r>
          </a:p>
          <a:p>
            <a:pPr algn="just">
              <a:buFont typeface="Arial" pitchFamily="34" charset="0"/>
              <a:buChar char="•"/>
            </a:pPr>
            <a:r>
              <a:rPr lang="en-US" dirty="0" smtClean="0">
                <a:solidFill>
                  <a:schemeClr val="tx1"/>
                </a:solidFill>
                <a:latin typeface="Times New Roman" pitchFamily="18" charset="0"/>
                <a:cs typeface="Times New Roman" pitchFamily="18" charset="0"/>
              </a:rPr>
              <a:t>A cathode ray oscilloscope consists of a cathode ray tube (CRT), which is the heart of the tube, and some additional-circuitry to operate the "CRT.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main parts of a CRT are : </a:t>
            </a:r>
          </a:p>
          <a:p>
            <a:pPr algn="just"/>
            <a:r>
              <a:rPr lang="en-US" dirty="0" smtClean="0">
                <a:solidFill>
                  <a:schemeClr val="tx1"/>
                </a:solidFill>
                <a:latin typeface="Times New Roman" pitchFamily="18" charset="0"/>
                <a:cs typeface="Times New Roman" pitchFamily="18" charset="0"/>
              </a:rPr>
              <a:t>(</a:t>
            </a:r>
            <a:r>
              <a:rPr lang="en-US" dirty="0" err="1" smtClean="0">
                <a:solidFill>
                  <a:schemeClr val="tx1"/>
                </a:solidFill>
                <a:latin typeface="Times New Roman" pitchFamily="18" charset="0"/>
                <a:cs typeface="Times New Roman" pitchFamily="18" charset="0"/>
              </a:rPr>
              <a:t>i</a:t>
            </a:r>
            <a:r>
              <a:rPr lang="en-US" dirty="0" smtClean="0">
                <a:solidFill>
                  <a:schemeClr val="tx1"/>
                </a:solidFill>
                <a:latin typeface="Times New Roman" pitchFamily="18" charset="0"/>
                <a:cs typeface="Times New Roman" pitchFamily="18" charset="0"/>
              </a:rPr>
              <a:t>) Electron gun assembly, </a:t>
            </a:r>
          </a:p>
          <a:p>
            <a:pPr algn="just"/>
            <a:r>
              <a:rPr lang="en-US" dirty="0" smtClean="0">
                <a:solidFill>
                  <a:schemeClr val="tx1"/>
                </a:solidFill>
                <a:latin typeface="Times New Roman" pitchFamily="18" charset="0"/>
                <a:cs typeface="Times New Roman" pitchFamily="18" charset="0"/>
              </a:rPr>
              <a:t>(ii) Deflection plate assembly, </a:t>
            </a:r>
          </a:p>
          <a:p>
            <a:pPr algn="just"/>
            <a:r>
              <a:rPr lang="en-US" dirty="0" smtClean="0">
                <a:solidFill>
                  <a:schemeClr val="tx1"/>
                </a:solidFill>
                <a:latin typeface="Times New Roman" pitchFamily="18" charset="0"/>
                <a:cs typeface="Times New Roman" pitchFamily="18" charset="0"/>
              </a:rPr>
              <a:t>(iii) Fluorescent screen, </a:t>
            </a:r>
          </a:p>
          <a:p>
            <a:pPr algn="just"/>
            <a:r>
              <a:rPr lang="en-US" i="1" dirty="0" smtClean="0">
                <a:solidFill>
                  <a:schemeClr val="tx1"/>
                </a:solidFill>
                <a:latin typeface="Times New Roman" pitchFamily="18" charset="0"/>
                <a:cs typeface="Times New Roman" pitchFamily="18" charset="0"/>
              </a:rPr>
              <a:t>(iv) Glass envelope, </a:t>
            </a:r>
          </a:p>
          <a:p>
            <a:pPr algn="just"/>
            <a:r>
              <a:rPr lang="en-US" dirty="0" smtClean="0">
                <a:solidFill>
                  <a:schemeClr val="tx1"/>
                </a:solidFill>
                <a:latin typeface="Times New Roman" pitchFamily="18" charset="0"/>
                <a:cs typeface="Times New Roman" pitchFamily="18" charset="0"/>
              </a:rPr>
              <a:t>(v) Base, through which connections are made to various parts. </a:t>
            </a:r>
          </a:p>
          <a:p>
            <a:pPr algn="just">
              <a:buFont typeface="Arial" pitchFamily="34" charset="0"/>
              <a:buChar char="•"/>
            </a:pPr>
            <a:endParaRPr lang="en-US" dirty="0" smtClean="0">
              <a:solidFill>
                <a:schemeClr val="tx1"/>
              </a:solidFill>
              <a:latin typeface="Times New Roman" pitchFamily="18" charset="0"/>
              <a:cs typeface="Times New Roman" pitchFamily="18" charset="0"/>
            </a:endParaRPr>
          </a:p>
          <a:p>
            <a:pPr algn="just">
              <a:buFont typeface="Arial" pitchFamily="34" charset="0"/>
              <a:buChar char="•"/>
            </a:pPr>
            <a:r>
              <a:rPr lang="en-US" dirty="0" smtClean="0">
                <a:solidFill>
                  <a:schemeClr val="tx1"/>
                </a:solidFill>
                <a:latin typeface="Times New Roman" pitchFamily="18" charset="0"/>
                <a:cs typeface="Times New Roman" pitchFamily="18" charset="0"/>
              </a:rPr>
              <a:t>The main parts of a CRT are shown in Fig. 21.1. Before going into details of working of various parts of a CRT, a summary of functions of the different parts is given below :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“Electron  gun assembly" produces a sharply focused beam of electrons which are accelerated to high velocity. </a:t>
            </a:r>
          </a:p>
          <a:p>
            <a:pPr algn="just">
              <a:buFont typeface="Arial" pitchFamily="34" charset="0"/>
              <a:buChar char="•"/>
            </a:pPr>
            <a:r>
              <a:rPr lang="en-US" dirty="0" smtClean="0">
                <a:solidFill>
                  <a:schemeClr val="tx1"/>
                </a:solidFill>
                <a:latin typeface="Times New Roman" pitchFamily="18" charset="0"/>
                <a:cs typeface="Times New Roman" pitchFamily="18" charset="0"/>
              </a:rPr>
              <a:t>This focused beam of electrons strikes the fluorescent screen with sufficient energy to cause a luminous spot on the screen.</a:t>
            </a:r>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lstStyle/>
          <a:p>
            <a:pPr algn="l"/>
            <a:endParaRPr lang="en-US" dirty="0"/>
          </a:p>
        </p:txBody>
      </p:sp>
      <p:pic>
        <p:nvPicPr>
          <p:cNvPr id="4" name="Picture 3" descr="1.GIF"/>
          <p:cNvPicPr>
            <a:picLocks noChangeAspect="1"/>
          </p:cNvPicPr>
          <p:nvPr/>
        </p:nvPicPr>
        <p:blipFill>
          <a:blip r:embed="rId2"/>
          <a:stretch>
            <a:fillRect/>
          </a:stretch>
        </p:blipFill>
        <p:spPr>
          <a:xfrm>
            <a:off x="0" y="152400"/>
            <a:ext cx="8991600" cy="6705600"/>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92500" lnSpcReduction="20000"/>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After leaving the electron gun, the electron beam passes through two pairs of "Electrostatic deflection plates". </a:t>
            </a:r>
          </a:p>
          <a:p>
            <a:pPr algn="just">
              <a:buFont typeface="Arial" pitchFamily="34" charset="0"/>
              <a:buChar char="•"/>
            </a:pPr>
            <a:r>
              <a:rPr lang="en-US" dirty="0" smtClean="0">
                <a:solidFill>
                  <a:schemeClr val="tx1"/>
                </a:solidFill>
                <a:latin typeface="Times New Roman" pitchFamily="18" charset="0"/>
                <a:cs typeface="Times New Roman" pitchFamily="18" charset="0"/>
              </a:rPr>
              <a:t>Voltages applied to these plates deflect the beam. Voltages applied to one pair of plates move the beam vertically up and down and the voltages applied to the other pair of plates move the beam horizontally form one side to another. </a:t>
            </a:r>
          </a:p>
          <a:p>
            <a:pPr algn="just">
              <a:buFont typeface="Arial" pitchFamily="34" charset="0"/>
              <a:buChar char="•"/>
            </a:pPr>
            <a:r>
              <a:rPr lang="en-US" dirty="0" smtClean="0">
                <a:solidFill>
                  <a:schemeClr val="tx1"/>
                </a:solidFill>
                <a:latin typeface="Times New Roman" pitchFamily="18" charset="0"/>
                <a:cs typeface="Times New Roman" pitchFamily="18" charset="0"/>
              </a:rPr>
              <a:t>These two movements </a:t>
            </a:r>
            <a:r>
              <a:rPr lang="en-US" i="1" dirty="0" smtClean="0">
                <a:solidFill>
                  <a:schemeClr val="tx1"/>
                </a:solidFill>
                <a:latin typeface="Times New Roman" pitchFamily="18" charset="0"/>
                <a:cs typeface="Times New Roman" pitchFamily="18" charset="0"/>
              </a:rPr>
              <a:t>i.e., horizontal and vertical are independent of each other and thus the beam may be positioned anywhere on the screen.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working parts of a CRT are enclosed in an evacuated glass envelope so that the emitted electrons are able to move about freely from one end of the tube to the other.</a:t>
            </a:r>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85000" lnSpcReduction="20000"/>
          </a:bodyPr>
          <a:lstStyle/>
          <a:p>
            <a:pPr algn="just"/>
            <a:r>
              <a:rPr lang="en-US" b="1" u="sng" dirty="0" smtClean="0">
                <a:solidFill>
                  <a:schemeClr val="tx1"/>
                </a:solidFill>
                <a:latin typeface="Times New Roman" pitchFamily="18" charset="0"/>
                <a:cs typeface="Times New Roman" pitchFamily="18" charset="0"/>
              </a:rPr>
              <a:t>Vertical (Y) deflection system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signals to be examined are usually applied to the vertical or Y deflection plates through an input attenuator and a number of amplifier stages. </a:t>
            </a:r>
          </a:p>
          <a:p>
            <a:pPr algn="just">
              <a:buFont typeface="Arial" pitchFamily="34" charset="0"/>
              <a:buChar char="•"/>
            </a:pPr>
            <a:r>
              <a:rPr lang="en-US" dirty="0" smtClean="0">
                <a:solidFill>
                  <a:schemeClr val="tx1"/>
                </a:solidFill>
                <a:latin typeface="Times New Roman" pitchFamily="18" charset="0"/>
                <a:cs typeface="Times New Roman" pitchFamily="18" charset="0"/>
              </a:rPr>
              <a:t>Vertical amplifier is required because the signals are not strong enough to produce measurable deflection on the CRT screen.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amplifier response must be wide enough to pass faithfully the entire band of frequencies to be measured. </a:t>
            </a:r>
          </a:p>
          <a:p>
            <a:pPr algn="just">
              <a:buFont typeface="Arial" pitchFamily="34" charset="0"/>
              <a:buChar char="•"/>
            </a:pPr>
            <a:r>
              <a:rPr lang="en-US" dirty="0" smtClean="0">
                <a:solidFill>
                  <a:schemeClr val="tx1"/>
                </a:solidFill>
                <a:latin typeface="Times New Roman" pitchFamily="18" charset="0"/>
                <a:cs typeface="Times New Roman" pitchFamily="18" charset="0"/>
              </a:rPr>
              <a:t>When high voltage signals are to be examined, they must be attenuated to bring them within the range of vertical amplifiers.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vertical amplifier output is also applied to the synchronizing amplifier through the synchronizer selector switch in the internal position. </a:t>
            </a:r>
          </a:p>
          <a:p>
            <a:pPr algn="just">
              <a:buFont typeface="Arial" pitchFamily="34" charset="0"/>
              <a:buChar char="•"/>
            </a:pPr>
            <a:r>
              <a:rPr lang="en-US" dirty="0" smtClean="0">
                <a:solidFill>
                  <a:schemeClr val="tx1"/>
                </a:solidFill>
                <a:latin typeface="Times New Roman" pitchFamily="18" charset="0"/>
                <a:cs typeface="Times New Roman" pitchFamily="18" charset="0"/>
              </a:rPr>
              <a:t>This permits the horizontal sweep circuit to be triggered by the signal being investigated.</a:t>
            </a:r>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lstStyle/>
          <a:p>
            <a:pPr algn="l"/>
            <a:endParaRPr lang="en-US" dirty="0"/>
          </a:p>
        </p:txBody>
      </p:sp>
      <p:pic>
        <p:nvPicPr>
          <p:cNvPr id="4" name="Picture 3" descr="1.GIF"/>
          <p:cNvPicPr>
            <a:picLocks noChangeAspect="1"/>
          </p:cNvPicPr>
          <p:nvPr/>
        </p:nvPicPr>
        <p:blipFill>
          <a:blip r:embed="rId2"/>
          <a:stretch>
            <a:fillRect/>
          </a:stretch>
        </p:blipFill>
        <p:spPr>
          <a:xfrm>
            <a:off x="304800" y="685800"/>
            <a:ext cx="8382000" cy="5029200"/>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92500" lnSpcReduction="10000"/>
          </a:bodyPr>
          <a:lstStyle/>
          <a:p>
            <a:pPr algn="just"/>
            <a:r>
              <a:rPr lang="en-US" b="1" u="sng" dirty="0" smtClean="0">
                <a:solidFill>
                  <a:schemeClr val="tx1"/>
                </a:solidFill>
                <a:latin typeface="Times New Roman" pitchFamily="18" charset="0"/>
                <a:cs typeface="Times New Roman" pitchFamily="18" charset="0"/>
              </a:rPr>
              <a:t>Horizontal (X) deflection system.</a:t>
            </a:r>
            <a:r>
              <a:rPr lang="en-US" b="1" dirty="0" smtClean="0">
                <a:solidFill>
                  <a:schemeClr val="tx1"/>
                </a:solidFill>
                <a:latin typeface="Times New Roman" pitchFamily="18" charset="0"/>
                <a:cs typeface="Times New Roman" pitchFamily="18" charset="0"/>
              </a:rPr>
              <a:t>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horizontal (X) deflection plates are fed by a sweep voltage that provides a time base.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horizontal plates are supplied through an amplifier, but they can be fed directly when voltages are of sufficient magnitude. </a:t>
            </a:r>
          </a:p>
          <a:p>
            <a:pPr algn="just">
              <a:buFont typeface="Arial" pitchFamily="34" charset="0"/>
              <a:buChar char="•"/>
            </a:pPr>
            <a:r>
              <a:rPr lang="en-US" dirty="0" smtClean="0">
                <a:solidFill>
                  <a:schemeClr val="tx1"/>
                </a:solidFill>
                <a:latin typeface="Times New Roman" pitchFamily="18" charset="0"/>
                <a:cs typeface="Times New Roman" pitchFamily="18" charset="0"/>
              </a:rPr>
              <a:t>When external signals are to be applied to the horizontal deflection system, they can also be fed through the horizontal amplifier, via the sweep selector switch in the external position. </a:t>
            </a:r>
          </a:p>
          <a:p>
            <a:pPr algn="just">
              <a:buFont typeface="Arial" pitchFamily="34" charset="0"/>
              <a:buChar char="•"/>
            </a:pPr>
            <a:r>
              <a:rPr lang="en-US" dirty="0" smtClean="0">
                <a:solidFill>
                  <a:schemeClr val="tx1"/>
                </a:solidFill>
                <a:latin typeface="Times New Roman" pitchFamily="18" charset="0"/>
                <a:cs typeface="Times New Roman" pitchFamily="18" charset="0"/>
              </a:rPr>
              <a:t>When the sweep selector switch is in the internal position, the horizontal amplifier receives an input from the saw tooth sweep generator which is triggered by the synchronizing amplifier. </a:t>
            </a:r>
          </a:p>
          <a:p>
            <a:pPr algn="just"/>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62500" lnSpcReduction="20000"/>
          </a:bodyPr>
          <a:lstStyle/>
          <a:p>
            <a:pPr algn="just"/>
            <a:r>
              <a:rPr lang="en-US" sz="3800" b="1" u="sng" dirty="0" smtClean="0">
                <a:solidFill>
                  <a:schemeClr val="tx1"/>
                </a:solidFill>
                <a:latin typeface="Times New Roman" pitchFamily="18" charset="0"/>
                <a:cs typeface="Times New Roman" pitchFamily="18" charset="0"/>
              </a:rPr>
              <a:t>DELAY LINE</a:t>
            </a:r>
          </a:p>
          <a:p>
            <a:pPr algn="just"/>
            <a:r>
              <a:rPr lang="en-US" b="1" u="sng" dirty="0" smtClean="0">
                <a:solidFill>
                  <a:schemeClr val="tx1"/>
                </a:solidFill>
                <a:latin typeface="Times New Roman" pitchFamily="18" charset="0"/>
                <a:cs typeface="Times New Roman" pitchFamily="18" charset="0"/>
              </a:rPr>
              <a:t>Function of the Delay Line</a:t>
            </a:r>
          </a:p>
          <a:p>
            <a:pPr algn="just">
              <a:buFont typeface="Arial" pitchFamily="34" charset="0"/>
              <a:buChar char="•"/>
            </a:pPr>
            <a:r>
              <a:rPr lang="en-US" dirty="0" smtClean="0">
                <a:solidFill>
                  <a:schemeClr val="tx1"/>
                </a:solidFill>
                <a:latin typeface="Times New Roman" pitchFamily="18" charset="0"/>
                <a:cs typeface="Times New Roman" pitchFamily="18" charset="0"/>
              </a:rPr>
              <a:t>All electronic circuitry in the oscilloscope (attenuators, amplifiers, pulse shapers, generators, and indeed the circuit wiring itself) causes a certain amount of time delay in the transmission of signal voltages to the deflection plates.</a:t>
            </a:r>
          </a:p>
          <a:p>
            <a:pPr algn="just">
              <a:buFont typeface="Arial" pitchFamily="34" charset="0"/>
              <a:buChar char="•"/>
            </a:pPr>
            <a:r>
              <a:rPr lang="en-US" dirty="0" smtClean="0">
                <a:solidFill>
                  <a:schemeClr val="tx1"/>
                </a:solidFill>
                <a:latin typeface="Times New Roman" pitchFamily="18" charset="0"/>
                <a:cs typeface="Times New Roman" pitchFamily="18" charset="0"/>
              </a:rPr>
              <a:t>Almost all of this delay is created in circuits that switch, shape, or generate.</a:t>
            </a:r>
          </a:p>
          <a:p>
            <a:pPr algn="just">
              <a:buFont typeface="Arial" pitchFamily="34" charset="0"/>
              <a:buChar char="•"/>
            </a:pPr>
            <a:r>
              <a:rPr lang="en-US" dirty="0" smtClean="0">
                <a:solidFill>
                  <a:schemeClr val="tx1"/>
                </a:solidFill>
                <a:latin typeface="Times New Roman" pitchFamily="18" charset="0"/>
                <a:cs typeface="Times New Roman" pitchFamily="18" charset="0"/>
              </a:rPr>
              <a:t>Comparing the vertical and horizontal deflection circuits in the oscilloscope block diagram of Fig. 7-22, we observe that the horizontal signal (time base, or sweep voltage) is initiated, or triggered, by a portion of the output signal applied to the vertical CRT plates. </a:t>
            </a:r>
          </a:p>
          <a:p>
            <a:pPr algn="just">
              <a:buFont typeface="Arial" pitchFamily="34" charset="0"/>
              <a:buChar char="•"/>
            </a:pPr>
            <a:r>
              <a:rPr lang="en-US" dirty="0" smtClean="0">
                <a:solidFill>
                  <a:schemeClr val="tx1"/>
                </a:solidFill>
                <a:latin typeface="Times New Roman" pitchFamily="18" charset="0"/>
                <a:cs typeface="Times New Roman" pitchFamily="18" charset="0"/>
              </a:rPr>
              <a:t>Signal processing in the horizontal channel consists of generating and shaping a trigger pulse (trigger pickoff) that starts the sweep generator, whose output is fed to the horizontal amplifier and then to the horizontal deflection plates. </a:t>
            </a:r>
          </a:p>
          <a:p>
            <a:pPr algn="just">
              <a:buFont typeface="Arial" pitchFamily="34" charset="0"/>
              <a:buChar char="•"/>
            </a:pPr>
            <a:r>
              <a:rPr lang="en-US" dirty="0" smtClean="0">
                <a:solidFill>
                  <a:schemeClr val="tx1"/>
                </a:solidFill>
                <a:latin typeface="Times New Roman" pitchFamily="18" charset="0"/>
                <a:cs typeface="Times New Roman" pitchFamily="18" charset="0"/>
              </a:rPr>
              <a:t>This whole process takes time: on the order of 80 ns or so. To allow the operator to observe the leading edge of the signal waveform, the signal drive for the vertical CRT plates must therefore be delayed by at least the same amount of time. </a:t>
            </a:r>
          </a:p>
          <a:p>
            <a:pPr algn="just">
              <a:buFont typeface="Arial" pitchFamily="34" charset="0"/>
              <a:buChar char="•"/>
            </a:pPr>
            <a:r>
              <a:rPr lang="en-US" dirty="0" smtClean="0">
                <a:solidFill>
                  <a:schemeClr val="tx1"/>
                </a:solidFill>
                <a:latin typeface="Times New Roman" pitchFamily="18" charset="0"/>
                <a:cs typeface="Times New Roman" pitchFamily="18" charset="0"/>
              </a:rPr>
              <a:t>This is the function of the vertical delay line. We observe that in Fig. 7-22 a 200-ns delay line has been added to the vertical channel, so that the signal voltage to the CRT plates is delayed by 200 ns, and the horizontal sweep is started prior to the vertical deflection. Although the</a:t>
            </a:r>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lstStyle/>
          <a:p>
            <a:pPr algn="l"/>
            <a:endParaRPr lang="en-US" dirty="0"/>
          </a:p>
        </p:txBody>
      </p:sp>
      <p:pic>
        <p:nvPicPr>
          <p:cNvPr id="4" name="Picture 3" descr="1.GIF"/>
          <p:cNvPicPr>
            <a:picLocks noChangeAspect="1"/>
          </p:cNvPicPr>
          <p:nvPr/>
        </p:nvPicPr>
        <p:blipFill>
          <a:blip r:embed="rId2"/>
          <a:stretch>
            <a:fillRect/>
          </a:stretch>
        </p:blipFill>
        <p:spPr>
          <a:xfrm>
            <a:off x="0" y="152400"/>
            <a:ext cx="9144000" cy="6705600"/>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77500" lnSpcReduction="20000"/>
          </a:bodyPr>
          <a:lstStyle/>
          <a:p>
            <a:pPr algn="just"/>
            <a:r>
              <a:rPr lang="en-US" b="1" u="sng" dirty="0" smtClean="0">
                <a:solidFill>
                  <a:schemeClr val="tx1"/>
                </a:solidFill>
                <a:latin typeface="Times New Roman" pitchFamily="18" charset="0"/>
                <a:cs typeface="Times New Roman" pitchFamily="18" charset="0"/>
              </a:rPr>
              <a:t>OSCILLOSCOPE PROBES AND TRANSDUCERS</a:t>
            </a:r>
          </a:p>
          <a:p>
            <a:pPr algn="just">
              <a:buFont typeface="Arial" pitchFamily="34" charset="0"/>
              <a:buChar char="•"/>
            </a:pPr>
            <a:r>
              <a:rPr lang="en-US" dirty="0" smtClean="0">
                <a:solidFill>
                  <a:schemeClr val="tx1"/>
                </a:solidFill>
                <a:latin typeface="Times New Roman" pitchFamily="18" charset="0"/>
                <a:cs typeface="Times New Roman" pitchFamily="18" charset="0"/>
              </a:rPr>
              <a:t>The primary function of the oscilloscope is to display voltage as a function of time, and the description of the attenuator probe was covered in Sec. 7-5. </a:t>
            </a:r>
          </a:p>
          <a:p>
            <a:pPr algn="just">
              <a:buFont typeface="Arial" pitchFamily="34" charset="0"/>
              <a:buChar char="•"/>
            </a:pPr>
            <a:r>
              <a:rPr lang="en-US" dirty="0" smtClean="0">
                <a:solidFill>
                  <a:schemeClr val="tx1"/>
                </a:solidFill>
                <a:latin typeface="Times New Roman" pitchFamily="18" charset="0"/>
                <a:cs typeface="Times New Roman" pitchFamily="18" charset="0"/>
              </a:rPr>
              <a:t>There are other probes and transducers that can make the oscilloscope more versatile.</a:t>
            </a:r>
          </a:p>
          <a:p>
            <a:pPr algn="just">
              <a:buFont typeface="Arial" pitchFamily="34" charset="0"/>
              <a:buChar char="•"/>
            </a:pPr>
            <a:r>
              <a:rPr lang="en-US" dirty="0" smtClean="0">
                <a:solidFill>
                  <a:schemeClr val="tx1"/>
                </a:solidFill>
                <a:latin typeface="Times New Roman" pitchFamily="18" charset="0"/>
                <a:cs typeface="Times New Roman" pitchFamily="18" charset="0"/>
              </a:rPr>
              <a:t>Other than the 10-to-l probe, there are also other attenuation ratios such as a 1 to 1, which is nothing more than a cable with a probe tip and no other components. </a:t>
            </a:r>
          </a:p>
          <a:p>
            <a:pPr algn="just">
              <a:buFont typeface="Arial" pitchFamily="34" charset="0"/>
              <a:buChar char="•"/>
            </a:pPr>
            <a:r>
              <a:rPr lang="en-US" dirty="0" smtClean="0">
                <a:solidFill>
                  <a:schemeClr val="tx1"/>
                </a:solidFill>
                <a:latin typeface="Times New Roman" pitchFamily="18" charset="0"/>
                <a:cs typeface="Times New Roman" pitchFamily="18" charset="0"/>
              </a:rPr>
              <a:t>One useful probe is the active probe, which achieves a lower capacitance without the attenuation associated with the 10-to-l probe.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final special transducer, since it is more than just a probe, is the current probe, which allows the oscilloscope to measure current without breaking the circuit under test.</a:t>
            </a:r>
          </a:p>
          <a:p>
            <a:pPr algn="just">
              <a:buFont typeface="Arial" pitchFamily="34" charset="0"/>
              <a:buChar char="•"/>
            </a:pPr>
            <a:r>
              <a:rPr lang="en-US" dirty="0" smtClean="0">
                <a:solidFill>
                  <a:schemeClr val="tx1"/>
                </a:solidFill>
                <a:latin typeface="Times New Roman" pitchFamily="18" charset="0"/>
                <a:cs typeface="Times New Roman" pitchFamily="18" charset="0"/>
              </a:rPr>
              <a:t>A schematic of the active probe is shown in Fig. 7-33. In this example a field effect transistor is used as the active element to amplify the input signal.</a:t>
            </a:r>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lstStyle/>
          <a:p>
            <a:pPr algn="l"/>
            <a:endParaRPr lang="en-US" dirty="0"/>
          </a:p>
        </p:txBody>
      </p:sp>
      <p:pic>
        <p:nvPicPr>
          <p:cNvPr id="4" name="Picture 3" descr="1.GIF"/>
          <p:cNvPicPr>
            <a:picLocks noChangeAspect="1"/>
          </p:cNvPicPr>
          <p:nvPr/>
        </p:nvPicPr>
        <p:blipFill>
          <a:blip r:embed="rId2"/>
          <a:stretch>
            <a:fillRect/>
          </a:stretch>
        </p:blipFill>
        <p:spPr>
          <a:xfrm>
            <a:off x="228600" y="228600"/>
            <a:ext cx="8762999" cy="6400800"/>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62500" lnSpcReduction="20000"/>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One very valuable probe is the current probe. </a:t>
            </a:r>
          </a:p>
          <a:p>
            <a:pPr algn="just">
              <a:buFont typeface="Arial" pitchFamily="34" charset="0"/>
              <a:buChar char="•"/>
            </a:pPr>
            <a:r>
              <a:rPr lang="en-US" dirty="0" smtClean="0">
                <a:solidFill>
                  <a:schemeClr val="tx1"/>
                </a:solidFill>
                <a:latin typeface="Times New Roman" pitchFamily="18" charset="0"/>
                <a:cs typeface="Times New Roman" pitchFamily="18" charset="0"/>
              </a:rPr>
              <a:t>This device can be clamped around a wire carrying an electrical current without any physical contact to the probe, allowing the oscilloscope to be used to measure the magnitude of the current with a frequency response from dc to 50 </a:t>
            </a:r>
            <a:r>
              <a:rPr lang="en-US" dirty="0" err="1" smtClean="0">
                <a:solidFill>
                  <a:schemeClr val="tx1"/>
                </a:solidFill>
                <a:latin typeface="Times New Roman" pitchFamily="18" charset="0"/>
                <a:cs typeface="Times New Roman" pitchFamily="18" charset="0"/>
              </a:rPr>
              <a:t>MHz.</a:t>
            </a:r>
            <a:r>
              <a:rPr lang="en-US" dirty="0" smtClean="0">
                <a:solidFill>
                  <a:schemeClr val="tx1"/>
                </a:solidFill>
                <a:latin typeface="Times New Roman" pitchFamily="18" charset="0"/>
                <a:cs typeface="Times New Roman" pitchFamily="18" charset="0"/>
              </a:rPr>
              <a:t>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current sensor consists of two parts, a conventional transformer for transforming alternating current to voltage, and a Hall effect device for converting direct current to a</a:t>
            </a:r>
          </a:p>
          <a:p>
            <a:pPr algn="just"/>
            <a:r>
              <a:rPr lang="en-US" dirty="0" smtClean="0">
                <a:solidFill>
                  <a:schemeClr val="tx1"/>
                </a:solidFill>
                <a:latin typeface="Times New Roman" pitchFamily="18" charset="0"/>
                <a:cs typeface="Times New Roman" pitchFamily="18" charset="0"/>
              </a:rPr>
              <a:t>voltage, as shown in Fig. 7-34.</a:t>
            </a:r>
          </a:p>
          <a:p>
            <a:pPr algn="just">
              <a:buFont typeface="Arial" pitchFamily="34" charset="0"/>
              <a:buChar char="•"/>
            </a:pPr>
            <a:r>
              <a:rPr lang="en-US" dirty="0" smtClean="0">
                <a:solidFill>
                  <a:schemeClr val="tx1"/>
                </a:solidFill>
                <a:latin typeface="Times New Roman" pitchFamily="18" charset="0"/>
                <a:cs typeface="Times New Roman" pitchFamily="18" charset="0"/>
              </a:rPr>
              <a:t>A magnetic core with a removable piece is used as the coupling element for the current probe.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wire carrying the current to be measured is inserted in the center of the magnetic core and is similar to a primary of a transformer.</a:t>
            </a:r>
          </a:p>
          <a:p>
            <a:pPr algn="just">
              <a:buFont typeface="Arial" pitchFamily="34" charset="0"/>
              <a:buChar char="•"/>
            </a:pPr>
            <a:r>
              <a:rPr lang="en-US" dirty="0" smtClean="0">
                <a:solidFill>
                  <a:schemeClr val="tx1"/>
                </a:solidFill>
                <a:latin typeface="Times New Roman" pitchFamily="18" charset="0"/>
                <a:cs typeface="Times New Roman" pitchFamily="18" charset="0"/>
              </a:rPr>
              <a:t>Alternating current in the wire will induce voltage in the secondary winding by conventional transformer action. </a:t>
            </a:r>
          </a:p>
          <a:p>
            <a:pPr algn="just">
              <a:buFont typeface="Arial" pitchFamily="34" charset="0"/>
              <a:buChar char="•"/>
            </a:pPr>
            <a:r>
              <a:rPr lang="en-US" dirty="0" smtClean="0">
                <a:solidFill>
                  <a:schemeClr val="tx1"/>
                </a:solidFill>
                <a:latin typeface="Times New Roman" pitchFamily="18" charset="0"/>
                <a:cs typeface="Times New Roman" pitchFamily="18" charset="0"/>
              </a:rPr>
              <a:t>Only alternating current will introduce a voltage in the secondary. </a:t>
            </a:r>
          </a:p>
          <a:p>
            <a:pPr algn="just">
              <a:buFont typeface="Arial" pitchFamily="34" charset="0"/>
              <a:buChar char="•"/>
            </a:pPr>
            <a:r>
              <a:rPr lang="en-US" dirty="0" smtClean="0">
                <a:solidFill>
                  <a:schemeClr val="tx1"/>
                </a:solidFill>
                <a:latin typeface="Times New Roman" pitchFamily="18" charset="0"/>
                <a:cs typeface="Times New Roman" pitchFamily="18" charset="0"/>
              </a:rPr>
              <a:t>Any direct currents will not appear at the current transformer secondary. </a:t>
            </a:r>
          </a:p>
          <a:p>
            <a:pPr algn="just">
              <a:buFont typeface="Arial" pitchFamily="34" charset="0"/>
              <a:buChar char="•"/>
            </a:pPr>
            <a:r>
              <a:rPr lang="en-US" dirty="0" smtClean="0">
                <a:solidFill>
                  <a:schemeClr val="tx1"/>
                </a:solidFill>
                <a:latin typeface="Times New Roman" pitchFamily="18" charset="0"/>
                <a:cs typeface="Times New Roman" pitchFamily="18" charset="0"/>
              </a:rPr>
              <a:t>In addition, the direct current passing through the wire will cause the magnetic flux in the core to increase and will affect the permeability of the material used for the core. </a:t>
            </a:r>
          </a:p>
          <a:p>
            <a:pPr algn="just">
              <a:buFont typeface="Arial" pitchFamily="34" charset="0"/>
              <a:buChar char="•"/>
            </a:pPr>
            <a:r>
              <a:rPr lang="en-US" dirty="0" smtClean="0">
                <a:solidFill>
                  <a:schemeClr val="tx1"/>
                </a:solidFill>
                <a:latin typeface="Times New Roman" pitchFamily="18" charset="0"/>
                <a:cs typeface="Times New Roman" pitchFamily="18" charset="0"/>
              </a:rPr>
              <a:t>This is undesirable, especially if the current in the wire should cause the core material to become saturated. </a:t>
            </a:r>
          </a:p>
          <a:p>
            <a:pPr algn="just">
              <a:buFont typeface="Arial" pitchFamily="34" charset="0"/>
              <a:buChar char="•"/>
            </a:pPr>
            <a:r>
              <a:rPr lang="en-US" dirty="0" smtClean="0">
                <a:solidFill>
                  <a:schemeClr val="tx1"/>
                </a:solidFill>
                <a:latin typeface="Times New Roman" pitchFamily="18" charset="0"/>
                <a:cs typeface="Times New Roman" pitchFamily="18" charset="0"/>
              </a:rPr>
              <a:t>If this should happen, the transformer action of the current transformer will become severely affected and provide inaccurate measurements.</a:t>
            </a:r>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55000" lnSpcReduction="20000"/>
          </a:bodyPr>
          <a:lstStyle/>
          <a:p>
            <a:pPr algn="just">
              <a:buFont typeface="Arial" pitchFamily="34" charset="0"/>
              <a:buChar char="•"/>
            </a:pPr>
            <a:r>
              <a:rPr lang="en-US" dirty="0" smtClean="0">
                <a:solidFill>
                  <a:schemeClr val="tx1"/>
                </a:solidFill>
                <a:latin typeface="Times New Roman" pitchFamily="18" charset="0"/>
                <a:cs typeface="Times New Roman" pitchFamily="18" charset="0"/>
              </a:rPr>
              <a:t>To provide a frequency response to zero or dc, a Hall effect sensor is also included in the current probe.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Hall effect occurs in many semiconductors as shown in Fig. 7-35. Current flow through the semiconductor shown is by the drift of electrons through the bulk material.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drift current occurs when an electric field is applied to the semiconductor material that causes the electrons to enter at the negative terminal and drift to the positive terminal. Generally, the motion is along a straight line, and if the potential were measured between points A and B, the potential difference would be zero. </a:t>
            </a:r>
          </a:p>
          <a:p>
            <a:pPr algn="just">
              <a:buFont typeface="Arial" pitchFamily="34" charset="0"/>
              <a:buChar char="•"/>
            </a:pPr>
            <a:r>
              <a:rPr lang="en-US" dirty="0" smtClean="0">
                <a:solidFill>
                  <a:schemeClr val="tx1"/>
                </a:solidFill>
                <a:latin typeface="Times New Roman" pitchFamily="18" charset="0"/>
                <a:cs typeface="Times New Roman" pitchFamily="18" charset="0"/>
              </a:rPr>
              <a:t>If the semiconductor material were subjected to a magnetic field, the direction of which is perpendicular to the motion of the drift electrons, the moving electrons would experience a force that would cause the paths of the electrons in the semiconductor material to move to one side, as shown in Fig. 7-36. </a:t>
            </a:r>
          </a:p>
          <a:p>
            <a:pPr algn="just">
              <a:buFont typeface="Arial" pitchFamily="34" charset="0"/>
              <a:buChar char="•"/>
            </a:pPr>
            <a:r>
              <a:rPr lang="en-US" dirty="0" smtClean="0">
                <a:solidFill>
                  <a:schemeClr val="tx1"/>
                </a:solidFill>
                <a:latin typeface="Times New Roman" pitchFamily="18" charset="0"/>
                <a:cs typeface="Times New Roman" pitchFamily="18" charset="0"/>
              </a:rPr>
              <a:t>Because the distribution of electrons is greater on one side than the other, there would exist a potential between the two sides, A and B. The Hall effect sensor is included in the magnetic core structure of the current probe.</a:t>
            </a:r>
          </a:p>
          <a:p>
            <a:pPr algn="just">
              <a:buFont typeface="Arial" pitchFamily="34" charset="0"/>
              <a:buChar char="•"/>
            </a:pPr>
            <a:r>
              <a:rPr lang="en-US" dirty="0" smtClean="0">
                <a:solidFill>
                  <a:schemeClr val="tx1"/>
                </a:solidFill>
                <a:latin typeface="Times New Roman" pitchFamily="18" charset="0"/>
                <a:cs typeface="Times New Roman" pitchFamily="18" charset="0"/>
              </a:rPr>
              <a:t> A feedback system is arranged with an amplifier such that any magnetic field present in the Hall sensor will cause current to be induced into the secondary windings of the current transformer to counteract the magnetic field introduced by the wire being measured.</a:t>
            </a:r>
          </a:p>
          <a:p>
            <a:pPr algn="just">
              <a:buFont typeface="Arial" pitchFamily="34" charset="0"/>
              <a:buChar char="•"/>
            </a:pPr>
            <a:r>
              <a:rPr lang="en-US" dirty="0" smtClean="0">
                <a:solidFill>
                  <a:schemeClr val="tx1"/>
                </a:solidFill>
                <a:latin typeface="Times New Roman" pitchFamily="18" charset="0"/>
                <a:cs typeface="Times New Roman" pitchFamily="18" charset="0"/>
              </a:rPr>
              <a:t> Thus the Hall effect sensor assures that the static magnetic flux in the core is exactly zero. The amount of current required to counteract the magnetic field induced by the wire being measured is directly proportional to the magnitude and direction of the current passing through the wire being measured. </a:t>
            </a:r>
          </a:p>
          <a:p>
            <a:pPr algn="just">
              <a:buFont typeface="Arial" pitchFamily="34" charset="0"/>
              <a:buChar char="•"/>
            </a:pPr>
            <a:r>
              <a:rPr lang="en-US" dirty="0" smtClean="0">
                <a:solidFill>
                  <a:schemeClr val="tx1"/>
                </a:solidFill>
                <a:latin typeface="Times New Roman" pitchFamily="18" charset="0"/>
                <a:cs typeface="Times New Roman" pitchFamily="18" charset="0"/>
              </a:rPr>
              <a:t>Because the current required to counteract the static magnetic flux in the core also passes through the terminating resistor for the secondary of the current transformer, this applied counteracting current appears as a dc voltage at the oscilloscope and represents the magnitude of the current in the wire.</a:t>
            </a:r>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77500" lnSpcReduction="20000"/>
          </a:bodyPr>
          <a:lstStyle/>
          <a:p>
            <a:pPr algn="just"/>
            <a:r>
              <a:rPr lang="en-US" b="1" u="sng" dirty="0" smtClean="0">
                <a:solidFill>
                  <a:schemeClr val="tx1"/>
                </a:solidFill>
                <a:latin typeface="Times New Roman" pitchFamily="18" charset="0"/>
                <a:cs typeface="Times New Roman" pitchFamily="18" charset="0"/>
              </a:rPr>
              <a:t>Probes</a:t>
            </a:r>
          </a:p>
          <a:p>
            <a:pPr algn="just">
              <a:buFont typeface="Arial" pitchFamily="34" charset="0"/>
              <a:buChar char="•"/>
            </a:pPr>
            <a:r>
              <a:rPr lang="en-US" dirty="0" smtClean="0">
                <a:solidFill>
                  <a:schemeClr val="tx1"/>
                </a:solidFill>
                <a:latin typeface="Times New Roman" pitchFamily="18" charset="0"/>
                <a:cs typeface="Times New Roman" pitchFamily="18" charset="0"/>
              </a:rPr>
              <a:t>The probe performs the very important function of connecting the test circuit to the oscilloscope without altering, loading, or otherwise disturbing the test circuit.</a:t>
            </a:r>
          </a:p>
          <a:p>
            <a:pPr algn="just"/>
            <a:r>
              <a:rPr lang="en-US" dirty="0" smtClean="0">
                <a:solidFill>
                  <a:schemeClr val="tx1"/>
                </a:solidFill>
                <a:latin typeface="Times New Roman" pitchFamily="18" charset="0"/>
                <a:cs typeface="Times New Roman" pitchFamily="18" charset="0"/>
              </a:rPr>
              <a:t>The probes are of </a:t>
            </a:r>
            <a:r>
              <a:rPr lang="en-US" i="1" dirty="0" smtClean="0">
                <a:solidFill>
                  <a:schemeClr val="tx1"/>
                </a:solidFill>
                <a:latin typeface="Times New Roman" pitchFamily="18" charset="0"/>
                <a:cs typeface="Times New Roman" pitchFamily="18" charset="0"/>
              </a:rPr>
              <a:t>three different types :</a:t>
            </a:r>
          </a:p>
          <a:p>
            <a:pPr algn="just"/>
            <a:r>
              <a:rPr lang="en-US" dirty="0" smtClean="0">
                <a:solidFill>
                  <a:schemeClr val="tx1"/>
                </a:solidFill>
                <a:latin typeface="Times New Roman" pitchFamily="18" charset="0"/>
                <a:cs typeface="Times New Roman" pitchFamily="18" charset="0"/>
              </a:rPr>
              <a:t>(</a:t>
            </a:r>
            <a:r>
              <a:rPr lang="en-US" dirty="0" err="1" smtClean="0">
                <a:solidFill>
                  <a:schemeClr val="tx1"/>
                </a:solidFill>
                <a:latin typeface="Times New Roman" pitchFamily="18" charset="0"/>
                <a:cs typeface="Times New Roman" pitchFamily="18" charset="0"/>
              </a:rPr>
              <a:t>i</a:t>
            </a:r>
            <a:r>
              <a:rPr lang="en-US" dirty="0" smtClean="0">
                <a:solidFill>
                  <a:schemeClr val="tx1"/>
                </a:solidFill>
                <a:latin typeface="Times New Roman" pitchFamily="18" charset="0"/>
                <a:cs typeface="Times New Roman" pitchFamily="18" charset="0"/>
              </a:rPr>
              <a:t>) direct reading probe,</a:t>
            </a:r>
          </a:p>
          <a:p>
            <a:pPr algn="just"/>
            <a:r>
              <a:rPr lang="en-US" dirty="0" smtClean="0">
                <a:solidFill>
                  <a:schemeClr val="tx1"/>
                </a:solidFill>
                <a:latin typeface="Times New Roman" pitchFamily="18" charset="0"/>
                <a:cs typeface="Times New Roman" pitchFamily="18" charset="0"/>
              </a:rPr>
              <a:t>(ii) circuit isolation probe, and</a:t>
            </a:r>
          </a:p>
          <a:p>
            <a:pPr algn="just"/>
            <a:r>
              <a:rPr lang="en-US" dirty="0" smtClean="0">
                <a:solidFill>
                  <a:schemeClr val="tx1"/>
                </a:solidFill>
                <a:latin typeface="Times New Roman" pitchFamily="18" charset="0"/>
                <a:cs typeface="Times New Roman" pitchFamily="18" charset="0"/>
              </a:rPr>
              <a:t>(iii) detector probe.</a:t>
            </a:r>
          </a:p>
          <a:p>
            <a:pPr algn="just"/>
            <a:r>
              <a:rPr lang="en-US" b="1" i="1" u="sng" dirty="0" smtClean="0">
                <a:solidFill>
                  <a:schemeClr val="tx1"/>
                </a:solidFill>
                <a:latin typeface="Times New Roman" pitchFamily="18" charset="0"/>
                <a:cs typeface="Times New Roman" pitchFamily="18" charset="0"/>
              </a:rPr>
              <a:t>Direct reading probe. </a:t>
            </a:r>
          </a:p>
          <a:p>
            <a:pPr algn="just">
              <a:buFont typeface="Arial" pitchFamily="34" charset="0"/>
              <a:buChar char="•"/>
            </a:pPr>
            <a:r>
              <a:rPr lang="en-US" dirty="0" smtClean="0">
                <a:solidFill>
                  <a:schemeClr val="tx1"/>
                </a:solidFill>
                <a:latin typeface="Times New Roman" pitchFamily="18" charset="0"/>
                <a:cs typeface="Times New Roman" pitchFamily="18" charset="0"/>
              </a:rPr>
              <a:t>This probe is simplest of all the probes and uses a shielded co-axial cable. </a:t>
            </a:r>
          </a:p>
          <a:p>
            <a:pPr algn="just">
              <a:buFont typeface="Arial" pitchFamily="34" charset="0"/>
              <a:buChar char="•"/>
            </a:pPr>
            <a:r>
              <a:rPr lang="en-US" dirty="0" smtClean="0">
                <a:solidFill>
                  <a:schemeClr val="tx1"/>
                </a:solidFill>
                <a:latin typeface="Times New Roman" pitchFamily="18" charset="0"/>
                <a:cs typeface="Times New Roman" pitchFamily="18" charset="0"/>
              </a:rPr>
              <a:t>It avoids stray pick-ups which may create problems when low level signals are being measured. </a:t>
            </a:r>
          </a:p>
          <a:p>
            <a:pPr algn="just">
              <a:buFont typeface="Arial" pitchFamily="34" charset="0"/>
              <a:buChar char="•"/>
            </a:pPr>
            <a:r>
              <a:rPr lang="en-US" dirty="0" smtClean="0">
                <a:solidFill>
                  <a:schemeClr val="tx1"/>
                </a:solidFill>
                <a:latin typeface="Times New Roman" pitchFamily="18" charset="0"/>
                <a:cs typeface="Times New Roman" pitchFamily="18" charset="0"/>
              </a:rPr>
              <a:t>It is usually used for low frequency or low impedance circuits. However, in using the shielded probe, the shunt capacitance of the probe and cable is added to the input impedance and capacity of the scope and acts to lower the response of the oscilloscope to high impedance and high frequency circuits.</a:t>
            </a:r>
          </a:p>
          <a:p>
            <a:pPr algn="just"/>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70000" lnSpcReduction="20000"/>
          </a:bodyPr>
          <a:lstStyle/>
          <a:p>
            <a:pPr algn="just"/>
            <a:r>
              <a:rPr lang="en-US" b="1" u="sng" dirty="0" smtClean="0">
                <a:solidFill>
                  <a:schemeClr val="tx1"/>
                </a:solidFill>
                <a:latin typeface="Times New Roman" pitchFamily="18" charset="0"/>
                <a:cs typeface="Times New Roman" pitchFamily="18" charset="0"/>
              </a:rPr>
              <a:t>Isolation probe. </a:t>
            </a:r>
          </a:p>
          <a:p>
            <a:pPr algn="just">
              <a:buFont typeface="Arial" pitchFamily="34" charset="0"/>
              <a:buChar char="•"/>
            </a:pPr>
            <a:r>
              <a:rPr lang="en-US" dirty="0" smtClean="0">
                <a:solidFill>
                  <a:schemeClr val="tx1"/>
                </a:solidFill>
                <a:latin typeface="Times New Roman" pitchFamily="18" charset="0"/>
                <a:cs typeface="Times New Roman" pitchFamily="18" charset="0"/>
              </a:rPr>
              <a:t>Isolation probe is used in order to avoid the undesirable circuit loading effects of the shielded probe.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isolation of the probe, which is used along with a capacitive voltage divider, decreases the input capacitance and increases the input resistance of the oscilloscope. </a:t>
            </a:r>
          </a:p>
          <a:p>
            <a:pPr algn="just">
              <a:buFont typeface="Arial" pitchFamily="34" charset="0"/>
              <a:buChar char="•"/>
            </a:pPr>
            <a:r>
              <a:rPr lang="en-US" dirty="0" smtClean="0">
                <a:solidFill>
                  <a:schemeClr val="tx1"/>
                </a:solidFill>
                <a:latin typeface="Times New Roman" pitchFamily="18" charset="0"/>
                <a:cs typeface="Times New Roman" pitchFamily="18" charset="0"/>
              </a:rPr>
              <a:t>This way the loading effects are drastically reduced. </a:t>
            </a:r>
          </a:p>
          <a:p>
            <a:pPr algn="just"/>
            <a:r>
              <a:rPr lang="en-US" b="1" u="sng" dirty="0" smtClean="0">
                <a:solidFill>
                  <a:schemeClr val="tx1"/>
                </a:solidFill>
                <a:latin typeface="Times New Roman" pitchFamily="18" charset="0"/>
                <a:cs typeface="Times New Roman" pitchFamily="18" charset="0"/>
              </a:rPr>
              <a:t>Detector probe. </a:t>
            </a:r>
          </a:p>
          <a:p>
            <a:pPr algn="just">
              <a:buFont typeface="Arial" pitchFamily="34" charset="0"/>
              <a:buChar char="•"/>
            </a:pPr>
            <a:r>
              <a:rPr lang="en-US" dirty="0" smtClean="0">
                <a:solidFill>
                  <a:schemeClr val="tx1"/>
                </a:solidFill>
                <a:latin typeface="Times New Roman" pitchFamily="18" charset="0"/>
                <a:cs typeface="Times New Roman" pitchFamily="18" charset="0"/>
              </a:rPr>
              <a:t>When analyzing the response to modulated signals used in communication equipment like AM, FM and TV receivers, the detector probe functions to separate the low frequency modulation component from the high frequency carrier. </a:t>
            </a:r>
          </a:p>
          <a:p>
            <a:pPr algn="just">
              <a:buFont typeface="Arial" pitchFamily="34" charset="0"/>
              <a:buChar char="•"/>
            </a:pPr>
            <a:r>
              <a:rPr lang="en-US" dirty="0" smtClean="0">
                <a:solidFill>
                  <a:schemeClr val="tx1"/>
                </a:solidFill>
                <a:latin typeface="Times New Roman" pitchFamily="18" charset="0"/>
                <a:cs typeface="Times New Roman" pitchFamily="18" charset="0"/>
              </a:rPr>
              <a:t>The amplitude of the modulator carrier (which is proportional to the response of the receiver to the much high frequency carrier signal) is displayed on the oscilloscope by rectifying and bypassing action. </a:t>
            </a:r>
          </a:p>
          <a:p>
            <a:pPr algn="just">
              <a:buFont typeface="Arial" pitchFamily="34" charset="0"/>
              <a:buChar char="•"/>
            </a:pPr>
            <a:r>
              <a:rPr lang="en-US" dirty="0" smtClean="0">
                <a:solidFill>
                  <a:schemeClr val="tx1"/>
                </a:solidFill>
                <a:latin typeface="Times New Roman" pitchFamily="18" charset="0"/>
                <a:cs typeface="Times New Roman" pitchFamily="18" charset="0"/>
              </a:rPr>
              <a:t>This permits an oscilloscope capable of audio-frequency response to perform signal tracing tests on communication signals in the range of hundreds of MHz, a range, which is beyond the capabilities of all oscilloscopes except the highly specialized ones. </a:t>
            </a:r>
          </a:p>
          <a:p>
            <a:pPr algn="just"/>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55000" lnSpcReduction="20000"/>
          </a:bodyPr>
          <a:lstStyle/>
          <a:p>
            <a:pPr algn="just"/>
            <a:r>
              <a:rPr lang="en-US" b="1" u="sng" dirty="0" smtClean="0">
                <a:solidFill>
                  <a:schemeClr val="tx1"/>
                </a:solidFill>
                <a:latin typeface="Times New Roman" pitchFamily="18" charset="0"/>
                <a:cs typeface="Times New Roman" pitchFamily="18" charset="0"/>
              </a:rPr>
              <a:t>Specification of an Oscilloscope</a:t>
            </a:r>
          </a:p>
          <a:p>
            <a:pPr algn="just" fontAlgn="base"/>
            <a:r>
              <a:rPr lang="en-US" b="1" dirty="0" smtClean="0">
                <a:solidFill>
                  <a:schemeClr val="tx1"/>
                </a:solidFill>
                <a:latin typeface="Times New Roman" pitchFamily="18" charset="0"/>
                <a:cs typeface="Times New Roman" pitchFamily="18" charset="0"/>
              </a:rPr>
              <a:t>1.  Oscilloscope bandwidth specification</a:t>
            </a:r>
          </a:p>
          <a:p>
            <a:pPr algn="just" fontAlgn="base">
              <a:buFont typeface="Arial" pitchFamily="34" charset="0"/>
              <a:buChar char="•"/>
            </a:pPr>
            <a:r>
              <a:rPr lang="en-US" dirty="0" smtClean="0">
                <a:solidFill>
                  <a:schemeClr val="tx1"/>
                </a:solidFill>
                <a:latin typeface="Times New Roman" pitchFamily="18" charset="0"/>
                <a:cs typeface="Times New Roman" pitchFamily="18" charset="0"/>
              </a:rPr>
              <a:t>One important oscilloscope specification is related to the frequency or speed of the waveforms that can be measured. This is determined by the bandwidth of the oscilloscope and it is found that the capability of the oscilloscope to accurately display the waveform falls off with increasing frequency.</a:t>
            </a:r>
          </a:p>
          <a:p>
            <a:pPr algn="just" fontAlgn="base"/>
            <a:r>
              <a:rPr lang="en-US" b="1" dirty="0" smtClean="0">
                <a:solidFill>
                  <a:schemeClr val="tx1"/>
                </a:solidFill>
                <a:latin typeface="Times New Roman" pitchFamily="18" charset="0"/>
                <a:cs typeface="Times New Roman" pitchFamily="18" charset="0"/>
              </a:rPr>
              <a:t>2.  Number of channels</a:t>
            </a:r>
          </a:p>
          <a:p>
            <a:pPr algn="just" fontAlgn="base">
              <a:buFont typeface="Arial" pitchFamily="34" charset="0"/>
              <a:buChar char="•"/>
            </a:pPr>
            <a:r>
              <a:rPr lang="en-US" dirty="0" smtClean="0">
                <a:solidFill>
                  <a:schemeClr val="tx1"/>
                </a:solidFill>
                <a:latin typeface="Times New Roman" pitchFamily="18" charset="0"/>
                <a:cs typeface="Times New Roman" pitchFamily="18" charset="0"/>
              </a:rPr>
              <a:t>Oscilloscopes come with a variety of numbers of channels. Very basic ones may only have a single channel, but this will still enable it to perform many tasks as a single channel is what is used for the majority of measurements and investigations.</a:t>
            </a:r>
          </a:p>
          <a:p>
            <a:pPr algn="just" fontAlgn="base"/>
            <a:r>
              <a:rPr lang="en-US" dirty="0" smtClean="0">
                <a:solidFill>
                  <a:schemeClr val="tx1"/>
                </a:solidFill>
                <a:latin typeface="Times New Roman" pitchFamily="18" charset="0"/>
                <a:cs typeface="Times New Roman" pitchFamily="18" charset="0"/>
              </a:rPr>
              <a:t>However, many scopes will have two or four channels. A very few may have a higher number, but this is not very common and adds considerably to the cost and it may detract from some performance areas.</a:t>
            </a:r>
          </a:p>
          <a:p>
            <a:pPr algn="just" fontAlgn="base"/>
            <a:r>
              <a:rPr lang="en-US" b="1" dirty="0" smtClean="0">
                <a:solidFill>
                  <a:schemeClr val="tx1"/>
                </a:solidFill>
                <a:latin typeface="Times New Roman" pitchFamily="18" charset="0"/>
                <a:cs typeface="Times New Roman" pitchFamily="18" charset="0"/>
              </a:rPr>
              <a:t>3.  Screen size</a:t>
            </a:r>
          </a:p>
          <a:p>
            <a:pPr algn="just" fontAlgn="base">
              <a:buFont typeface="Arial" pitchFamily="34" charset="0"/>
              <a:buChar char="•"/>
            </a:pPr>
            <a:r>
              <a:rPr lang="en-US" dirty="0" smtClean="0">
                <a:solidFill>
                  <a:schemeClr val="tx1"/>
                </a:solidFill>
                <a:latin typeface="Times New Roman" pitchFamily="18" charset="0"/>
                <a:cs typeface="Times New Roman" pitchFamily="18" charset="0"/>
              </a:rPr>
              <a:t>Oscilloscope display screens have improved immeasurably over the last few years. Screen sizes have increased significantly and the definition is very much better.</a:t>
            </a:r>
          </a:p>
          <a:p>
            <a:pPr algn="just" fontAlgn="base"/>
            <a:r>
              <a:rPr lang="en-US" b="1" dirty="0" smtClean="0">
                <a:solidFill>
                  <a:schemeClr val="tx1"/>
                </a:solidFill>
                <a:latin typeface="Times New Roman" pitchFamily="18" charset="0"/>
                <a:cs typeface="Times New Roman" pitchFamily="18" charset="0"/>
              </a:rPr>
              <a:t>4.  Vertical DC gain accuracy</a:t>
            </a:r>
          </a:p>
          <a:p>
            <a:pPr algn="just" fontAlgn="base">
              <a:buFont typeface="Arial" pitchFamily="34" charset="0"/>
              <a:buChar char="•"/>
            </a:pPr>
            <a:r>
              <a:rPr lang="en-US" dirty="0" smtClean="0">
                <a:solidFill>
                  <a:schemeClr val="tx1"/>
                </a:solidFill>
                <a:latin typeface="Times New Roman" pitchFamily="18" charset="0"/>
                <a:cs typeface="Times New Roman" pitchFamily="18" charset="0"/>
              </a:rPr>
              <a:t>It is important when measuring the amplitude of signals, to know the accuracy of the measurement that is being made.</a:t>
            </a:r>
          </a:p>
          <a:p>
            <a:pPr algn="just" fontAlgn="base"/>
            <a:r>
              <a:rPr lang="en-US" b="1" dirty="0" smtClean="0">
                <a:solidFill>
                  <a:schemeClr val="tx1"/>
                </a:solidFill>
                <a:latin typeface="Times New Roman" pitchFamily="18" charset="0"/>
                <a:cs typeface="Times New Roman" pitchFamily="18" charset="0"/>
              </a:rPr>
              <a:t>5.  Vertical channel resolution</a:t>
            </a:r>
          </a:p>
          <a:p>
            <a:pPr algn="just" fontAlgn="base">
              <a:buFont typeface="Arial" pitchFamily="34" charset="0"/>
              <a:buChar char="•"/>
            </a:pPr>
            <a:r>
              <a:rPr lang="en-US" dirty="0" smtClean="0">
                <a:solidFill>
                  <a:schemeClr val="tx1"/>
                </a:solidFill>
                <a:latin typeface="Times New Roman" pitchFamily="18" charset="0"/>
                <a:cs typeface="Times New Roman" pitchFamily="18" charset="0"/>
              </a:rPr>
              <a:t>Digital oscilloscopes need to convert the incoming analogue signal into a digital signal. The vertical channel resolution determines the "granularity" of the signal.</a:t>
            </a:r>
          </a:p>
          <a:p>
            <a:pPr algn="just" fontAlgn="base"/>
            <a:r>
              <a:rPr lang="en-US" dirty="0" smtClean="0">
                <a:solidFill>
                  <a:schemeClr val="tx1"/>
                </a:solidFill>
                <a:latin typeface="Times New Roman" pitchFamily="18" charset="0"/>
                <a:cs typeface="Times New Roman" pitchFamily="18" charset="0"/>
              </a:rPr>
              <a:t>The vertical channel resolution is dependent upon the digital to analogue converter in the scope. For example, eight bits provides 256 digitizing levels (2 to the 8th power), and with a 10bit resolution this gives 1024 different levels.</a:t>
            </a:r>
          </a:p>
          <a:p>
            <a:pPr algn="just" fontAlgn="base"/>
            <a:endParaRPr lang="en-US" dirty="0" smtClean="0">
              <a:solidFill>
                <a:schemeClr val="tx1"/>
              </a:solidFill>
              <a:latin typeface="Times New Roman" pitchFamily="18" charset="0"/>
              <a:cs typeface="Times New Roman" pitchFamily="18" charset="0"/>
            </a:endParaRPr>
          </a:p>
          <a:p>
            <a:pPr algn="just" fontAlgn="base"/>
            <a:endParaRPr lang="en-US" dirty="0" smtClean="0">
              <a:solidFill>
                <a:schemeClr val="tx1"/>
              </a:solidFill>
              <a:latin typeface="Times New Roman" pitchFamily="18" charset="0"/>
              <a:cs typeface="Times New Roman" pitchFamily="18" charset="0"/>
            </a:endParaRPr>
          </a:p>
          <a:p>
            <a:pPr algn="just" fontAlgn="base"/>
            <a:endParaRPr lang="en-US" dirty="0" smtClean="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70000" lnSpcReduction="20000"/>
          </a:bodyPr>
          <a:lstStyle/>
          <a:p>
            <a:pPr algn="just" fontAlgn="base"/>
            <a:r>
              <a:rPr lang="en-US" b="1" dirty="0" smtClean="0">
                <a:solidFill>
                  <a:schemeClr val="tx1"/>
                </a:solidFill>
                <a:latin typeface="Times New Roman" pitchFamily="18" charset="0"/>
                <a:cs typeface="Times New Roman" pitchFamily="18" charset="0"/>
              </a:rPr>
              <a:t>6.  Rise time specification</a:t>
            </a:r>
          </a:p>
          <a:p>
            <a:pPr algn="just" fontAlgn="base"/>
            <a:r>
              <a:rPr lang="en-US" dirty="0" smtClean="0">
                <a:solidFill>
                  <a:schemeClr val="tx1"/>
                </a:solidFill>
                <a:latin typeface="Times New Roman" pitchFamily="18" charset="0"/>
                <a:cs typeface="Times New Roman" pitchFamily="18" charset="0"/>
              </a:rPr>
              <a:t>Another important oscilloscope specification which needs to be accommodated is the rise time of the oscilloscope. This is a particularly important specification for any digital circuits where the edges on square waves and pulses are often of great importance. The oscilloscope must have a sufficiently fast rise time to capture the rapid transitions accurately, otherwise important information may not be displayed and the results could be misleading.</a:t>
            </a:r>
          </a:p>
          <a:p>
            <a:pPr algn="just" fontAlgn="base"/>
            <a:r>
              <a:rPr lang="en-US" dirty="0" smtClean="0">
                <a:solidFill>
                  <a:schemeClr val="tx1"/>
                </a:solidFill>
                <a:latin typeface="Times New Roman" pitchFamily="18" charset="0"/>
                <a:cs typeface="Times New Roman" pitchFamily="18" charset="0"/>
              </a:rPr>
              <a:t>The rise time of the oscilloscope is defined as the time it takes for the image to rise from 10% to 90% of the final value.</a:t>
            </a:r>
          </a:p>
          <a:p>
            <a:pPr algn="just"/>
            <a:endParaRPr lang="en-US" dirty="0" smtClean="0">
              <a:solidFill>
                <a:schemeClr val="tx1"/>
              </a:solidFill>
              <a:latin typeface="Times New Roman" pitchFamily="18" charset="0"/>
              <a:cs typeface="Times New Roman" pitchFamily="18" charset="0"/>
            </a:endParaRPr>
          </a:p>
          <a:p>
            <a:pPr algn="just" fontAlgn="base"/>
            <a:r>
              <a:rPr lang="en-US" b="1" dirty="0" smtClean="0">
                <a:solidFill>
                  <a:schemeClr val="tx1"/>
                </a:solidFill>
                <a:latin typeface="Times New Roman" pitchFamily="18" charset="0"/>
                <a:cs typeface="Times New Roman" pitchFamily="18" charset="0"/>
              </a:rPr>
              <a:t>7.  Oscilloscope sample rate</a:t>
            </a:r>
          </a:p>
          <a:p>
            <a:pPr algn="just" fontAlgn="base"/>
            <a:r>
              <a:rPr lang="en-US" dirty="0" smtClean="0">
                <a:solidFill>
                  <a:schemeClr val="tx1"/>
                </a:solidFill>
                <a:latin typeface="Times New Roman" pitchFamily="18" charset="0"/>
                <a:cs typeface="Times New Roman" pitchFamily="18" charset="0"/>
              </a:rPr>
              <a:t>With the proportion of digital oscilloscopes rising, the sample rate oscilloscope specification is becoming a more widespread and important specification. The sample rate is specified in samples per second (S/s).</a:t>
            </a:r>
          </a:p>
          <a:p>
            <a:pPr algn="just" fontAlgn="base"/>
            <a:r>
              <a:rPr lang="en-US" dirty="0" smtClean="0">
                <a:solidFill>
                  <a:schemeClr val="tx1"/>
                </a:solidFill>
                <a:latin typeface="Times New Roman" pitchFamily="18" charset="0"/>
                <a:cs typeface="Times New Roman" pitchFamily="18" charset="0"/>
              </a:rPr>
              <a:t>The faster the oscilloscope samples the waveform, the greater the resolution of the detail on the waveform and with greater sample rates the less the likelihood that any critical information will be lost.</a:t>
            </a:r>
          </a:p>
          <a:p>
            <a:pPr algn="just" fontAlgn="base"/>
            <a:r>
              <a:rPr lang="en-US" b="1" dirty="0" smtClean="0">
                <a:solidFill>
                  <a:schemeClr val="tx1"/>
                </a:solidFill>
                <a:latin typeface="Times New Roman" pitchFamily="18" charset="0"/>
                <a:cs typeface="Times New Roman" pitchFamily="18" charset="0"/>
              </a:rPr>
              <a:t>8.  Memory depth</a:t>
            </a:r>
          </a:p>
          <a:p>
            <a:pPr algn="just" fontAlgn="base"/>
            <a:r>
              <a:rPr lang="en-US" dirty="0" smtClean="0">
                <a:solidFill>
                  <a:schemeClr val="tx1"/>
                </a:solidFill>
                <a:latin typeface="Times New Roman" pitchFamily="18" charset="0"/>
                <a:cs typeface="Times New Roman" pitchFamily="18" charset="0"/>
              </a:rPr>
              <a:t>This is the memory for storing signals. The greater the memory depth the more signal it is possible to capture at the highest sample rate.</a:t>
            </a:r>
          </a:p>
          <a:p>
            <a:pPr algn="just" fontAlgn="base"/>
            <a:endParaRPr lang="en-US" dirty="0" smtClean="0">
              <a:solidFill>
                <a:schemeClr val="tx1"/>
              </a:solidFill>
              <a:latin typeface="Times New Roman" pitchFamily="18" charset="0"/>
              <a:cs typeface="Times New Roman" pitchFamily="18" charset="0"/>
            </a:endParaRPr>
          </a:p>
          <a:p>
            <a:pPr algn="just"/>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rmAutofit fontScale="70000" lnSpcReduction="20000"/>
          </a:bodyPr>
          <a:lstStyle/>
          <a:p>
            <a:pPr algn="just" fontAlgn="base"/>
            <a:r>
              <a:rPr lang="en-US" b="1" dirty="0" smtClean="0">
                <a:solidFill>
                  <a:schemeClr val="tx1"/>
                </a:solidFill>
                <a:latin typeface="Times New Roman" pitchFamily="18" charset="0"/>
                <a:cs typeface="Times New Roman" pitchFamily="18" charset="0"/>
              </a:rPr>
              <a:t>Physical scope specifications</a:t>
            </a:r>
          </a:p>
          <a:p>
            <a:pPr algn="just" fontAlgn="base"/>
            <a:r>
              <a:rPr lang="en-US" dirty="0" smtClean="0">
                <a:solidFill>
                  <a:schemeClr val="tx1"/>
                </a:solidFill>
                <a:latin typeface="Times New Roman" pitchFamily="18" charset="0"/>
                <a:cs typeface="Times New Roman" pitchFamily="18" charset="0"/>
              </a:rPr>
              <a:t>Apart from purely electrical specifications, some of the physical ones are also important as they can affect the usability as much.</a:t>
            </a:r>
          </a:p>
          <a:p>
            <a:pPr algn="just" fontAlgn="base"/>
            <a:r>
              <a:rPr lang="en-US" dirty="0" smtClean="0">
                <a:solidFill>
                  <a:schemeClr val="tx1"/>
                </a:solidFill>
                <a:latin typeface="Times New Roman" pitchFamily="18" charset="0"/>
                <a:cs typeface="Times New Roman" pitchFamily="18" charset="0"/>
              </a:rPr>
              <a:t>There will be several scope mechanical-type specifications that will be included </a:t>
            </a:r>
            <a:r>
              <a:rPr lang="en-US" dirty="0" err="1" smtClean="0">
                <a:solidFill>
                  <a:schemeClr val="tx1"/>
                </a:solidFill>
                <a:latin typeface="Times New Roman" pitchFamily="18" charset="0"/>
                <a:cs typeface="Times New Roman" pitchFamily="18" charset="0"/>
              </a:rPr>
              <a:t>int</a:t>
            </a:r>
            <a:r>
              <a:rPr lang="en-US" dirty="0" smtClean="0">
                <a:solidFill>
                  <a:schemeClr val="tx1"/>
                </a:solidFill>
                <a:latin typeface="Times New Roman" pitchFamily="18" charset="0"/>
                <a:cs typeface="Times New Roman" pitchFamily="18" charset="0"/>
              </a:rPr>
              <a:t> he data-sheet.</a:t>
            </a:r>
          </a:p>
          <a:p>
            <a:pPr algn="just" fontAlgn="base"/>
            <a:r>
              <a:rPr lang="en-US" b="1" i="1" dirty="0" smtClean="0">
                <a:solidFill>
                  <a:schemeClr val="tx1"/>
                </a:solidFill>
                <a:latin typeface="Times New Roman" pitchFamily="18" charset="0"/>
                <a:cs typeface="Times New Roman" pitchFamily="18" charset="0"/>
              </a:rPr>
              <a:t>9.  Size:</a:t>
            </a:r>
            <a:r>
              <a:rPr lang="en-US" dirty="0" smtClean="0">
                <a:solidFill>
                  <a:schemeClr val="tx1"/>
                </a:solidFill>
                <a:latin typeface="Times New Roman" pitchFamily="18" charset="0"/>
                <a:cs typeface="Times New Roman" pitchFamily="18" charset="0"/>
              </a:rPr>
              <a:t>   The physical size that the scope occupies will have a major bearing on how it can be used. Fortunately today the size of oscilloscopes is very much less than it was before the turn of the century. Gone are the thermionic cathode ray tubes that were used. These needed to be very long, and many scopes were up to a half or three quarters of a </a:t>
            </a:r>
            <a:r>
              <a:rPr lang="en-US" dirty="0" err="1" smtClean="0">
                <a:solidFill>
                  <a:schemeClr val="tx1"/>
                </a:solidFill>
                <a:latin typeface="Times New Roman" pitchFamily="18" charset="0"/>
                <a:cs typeface="Times New Roman" pitchFamily="18" charset="0"/>
              </a:rPr>
              <a:t>metre</a:t>
            </a:r>
            <a:r>
              <a:rPr lang="en-US" dirty="0" smtClean="0">
                <a:solidFill>
                  <a:schemeClr val="tx1"/>
                </a:solidFill>
                <a:latin typeface="Times New Roman" pitchFamily="18" charset="0"/>
                <a:cs typeface="Times New Roman" pitchFamily="18" charset="0"/>
              </a:rPr>
              <a:t> in depth and as a result they occupied a lot of bench space. Today's scopes are much smaller as they use more up to date technology for the displays.</a:t>
            </a:r>
          </a:p>
          <a:p>
            <a:pPr algn="just" fontAlgn="base"/>
            <a:r>
              <a:rPr lang="en-US" b="1" i="1" dirty="0" smtClean="0">
                <a:solidFill>
                  <a:schemeClr val="tx1"/>
                </a:solidFill>
                <a:latin typeface="Times New Roman" pitchFamily="18" charset="0"/>
                <a:cs typeface="Times New Roman" pitchFamily="18" charset="0"/>
              </a:rPr>
              <a:t>10.  Noise :</a:t>
            </a:r>
            <a:r>
              <a:rPr lang="en-US" dirty="0" smtClean="0">
                <a:solidFill>
                  <a:schemeClr val="tx1"/>
                </a:solidFill>
                <a:latin typeface="Times New Roman" pitchFamily="18" charset="0"/>
                <a:cs typeface="Times New Roman" pitchFamily="18" charset="0"/>
              </a:rPr>
              <a:t>   It was surprising when someone mentioned that noise could be a significant issue for an oscilloscope. However some larger scopes may have fans that are activated to keep them cool. The fan noise can be loud on some occasions and it may be distracting to work next to. It is worth considering the specification for the noise level, when buying an oscilloscope or selecting one in case it could be an issue.</a:t>
            </a:r>
          </a:p>
          <a:p>
            <a:pPr algn="just"/>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lstStyle/>
          <a:p>
            <a:pPr algn="just"/>
            <a:r>
              <a:rPr lang="en-US" b="1" u="sng" dirty="0" smtClean="0">
                <a:solidFill>
                  <a:schemeClr val="tx1"/>
                </a:solidFill>
                <a:latin typeface="Times New Roman" pitchFamily="18" charset="0"/>
                <a:cs typeface="Times New Roman" pitchFamily="18" charset="0"/>
              </a:rPr>
              <a:t>Oscilloscope measurement Techniques</a:t>
            </a:r>
          </a:p>
          <a:p>
            <a:pPr algn="just">
              <a:buFont typeface="Arial" pitchFamily="34" charset="0"/>
              <a:buChar char="•"/>
            </a:pPr>
            <a:r>
              <a:rPr lang="en-US" dirty="0" smtClean="0">
                <a:solidFill>
                  <a:schemeClr val="tx1"/>
                </a:solidFill>
                <a:latin typeface="Times New Roman" pitchFamily="18" charset="0"/>
                <a:cs typeface="Times New Roman" pitchFamily="18" charset="0"/>
              </a:rPr>
              <a:t>The oscilloscope is a very versatile instrument whose use is limited only by the skill of the operator. </a:t>
            </a:r>
          </a:p>
          <a:p>
            <a:pPr algn="just">
              <a:buFont typeface="Arial" pitchFamily="34" charset="0"/>
              <a:buChar char="•"/>
            </a:pPr>
            <a:r>
              <a:rPr lang="en-US" dirty="0" smtClean="0">
                <a:solidFill>
                  <a:schemeClr val="tx1"/>
                </a:solidFill>
                <a:latin typeface="Times New Roman" pitchFamily="18" charset="0"/>
                <a:cs typeface="Times New Roman" pitchFamily="18" charset="0"/>
              </a:rPr>
              <a:t>Although there are more sophisticated instruments, most </a:t>
            </a:r>
            <a:r>
              <a:rPr lang="en-US" dirty="0" err="1" smtClean="0">
                <a:solidFill>
                  <a:schemeClr val="tx1"/>
                </a:solidFill>
                <a:latin typeface="Times New Roman" pitchFamily="18" charset="0"/>
                <a:cs typeface="Times New Roman" pitchFamily="18" charset="0"/>
              </a:rPr>
              <a:t>oscillographic</a:t>
            </a:r>
            <a:r>
              <a:rPr lang="en-US" dirty="0" smtClean="0">
                <a:solidFill>
                  <a:schemeClr val="tx1"/>
                </a:solidFill>
                <a:latin typeface="Times New Roman" pitchFamily="18" charset="0"/>
                <a:cs typeface="Times New Roman" pitchFamily="18" charset="0"/>
              </a:rPr>
              <a:t> measurements are made with a dual-trace oscilloscope with delay sweep capabilities. </a:t>
            </a:r>
          </a:p>
          <a:p>
            <a:pPr algn="just">
              <a:buFont typeface="Arial" pitchFamily="34" charset="0"/>
              <a:buChar char="•"/>
            </a:pPr>
            <a:r>
              <a:rPr lang="en-US" dirty="0" smtClean="0">
                <a:solidFill>
                  <a:schemeClr val="tx1"/>
                </a:solidFill>
                <a:latin typeface="Times New Roman" pitchFamily="18" charset="0"/>
                <a:cs typeface="Times New Roman" pitchFamily="18" charset="0"/>
              </a:rPr>
              <a:t>Therefore, the discussion of oscilloscope techniques will assume the use of this class of instrument.</a:t>
            </a:r>
            <a:endParaRPr lang="en-US"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lstStyle/>
          <a:p>
            <a:pPr algn="l"/>
            <a:endParaRPr lang="en-US" dirty="0"/>
          </a:p>
        </p:txBody>
      </p:sp>
      <p:pic>
        <p:nvPicPr>
          <p:cNvPr id="4" name="Picture 3" descr="2.GIF"/>
          <p:cNvPicPr>
            <a:picLocks noChangeAspect="1"/>
          </p:cNvPicPr>
          <p:nvPr/>
        </p:nvPicPr>
        <p:blipFill>
          <a:blip r:embed="rId2"/>
          <a:stretch>
            <a:fillRect/>
          </a:stretch>
        </p:blipFill>
        <p:spPr>
          <a:xfrm>
            <a:off x="0" y="0"/>
            <a:ext cx="9143999" cy="6857999"/>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629400"/>
          </a:xfrm>
        </p:spPr>
        <p:txBody>
          <a:bodyPr>
            <a:normAutofit fontScale="77500" lnSpcReduction="20000"/>
          </a:bodyPr>
          <a:lstStyle/>
          <a:p>
            <a:pPr algn="just"/>
            <a:r>
              <a:rPr lang="en-US" b="1" u="sng" dirty="0" smtClean="0">
                <a:solidFill>
                  <a:schemeClr val="tx1"/>
                </a:solidFill>
                <a:latin typeface="Times New Roman" pitchFamily="18" charset="0"/>
                <a:cs typeface="Times New Roman" pitchFamily="18" charset="0"/>
              </a:rPr>
              <a:t>1.  Determining Frequency</a:t>
            </a:r>
          </a:p>
          <a:p>
            <a:pPr algn="just">
              <a:buFont typeface="Arial" pitchFamily="34" charset="0"/>
              <a:buChar char="•"/>
            </a:pPr>
            <a:r>
              <a:rPr lang="en-US" dirty="0" smtClean="0">
                <a:solidFill>
                  <a:schemeClr val="tx1"/>
                </a:solidFill>
                <a:latin typeface="Times New Roman" pitchFamily="18" charset="0"/>
                <a:cs typeface="Times New Roman" pitchFamily="18" charset="0"/>
              </a:rPr>
              <a:t>Determining the frequency of a waveform using the oscilloscope requires that the period be measured. To measure a frequency, the waveform viewed by the oscilloscope must be periodic, which sounds simple but can actually be somewhat difficult and lead to measurement errors. Consider as an example the simple sine function shown in Fig. 7-36. It is quite clear that the period of the sine function is between any alternate zero crossing. The period can also be measured between any two positive peaks or any two negative peaks. A more complex example is shown in Fig. 7-37. In this example the period cannot be determined from peak to peak or from every other zero crossing, because for every four cycles of the sine function the phase is changed by 180°. The complete waveform of this example is eight complete sine cycles, four of one phase and four additional of the opposite phase. When determining the period, be sure that the cycle is complete and that the next cycle is exactly the same. To the frequency, take the reciprocal of the period measurement: 	</a:t>
            </a:r>
          </a:p>
          <a:p>
            <a:pPr algn="just"/>
            <a:r>
              <a:rPr lang="en-US" dirty="0" smtClean="0">
                <a:solidFill>
                  <a:schemeClr val="tx1"/>
                </a:solidFill>
                <a:latin typeface="Times New Roman" pitchFamily="18" charset="0"/>
                <a:cs typeface="Times New Roman" pitchFamily="18" charset="0"/>
              </a:rPr>
              <a:t>	frequency = 1/Time period</a:t>
            </a:r>
            <a:endParaRPr lang="en-US" dirty="0">
              <a:solidFill>
                <a:schemeClr val="tx1"/>
              </a:solidFill>
              <a:latin typeface="Times New Roman" pitchFamily="18" charset="0"/>
              <a:cs typeface="Times New Roman" pitchFamily="18" charset="0"/>
            </a:endParaRPr>
          </a:p>
        </p:txBody>
      </p:sp>
      <p:pic>
        <p:nvPicPr>
          <p:cNvPr id="4" name="Picture 3" descr="3.GIF"/>
          <p:cNvPicPr>
            <a:picLocks noChangeAspect="1"/>
          </p:cNvPicPr>
          <p:nvPr/>
        </p:nvPicPr>
        <p:blipFill>
          <a:blip r:embed="rId2"/>
          <a:stretch>
            <a:fillRect/>
          </a:stretch>
        </p:blipFill>
        <p:spPr>
          <a:xfrm>
            <a:off x="5105400" y="5791200"/>
            <a:ext cx="4038600" cy="1066800"/>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lstStyle/>
          <a:p>
            <a:pPr algn="l"/>
            <a:endParaRPr lang="en-US" dirty="0"/>
          </a:p>
        </p:txBody>
      </p:sp>
      <p:pic>
        <p:nvPicPr>
          <p:cNvPr id="4" name="Picture 3" descr="4.GIF"/>
          <p:cNvPicPr>
            <a:picLocks noChangeAspect="1"/>
          </p:cNvPicPr>
          <p:nvPr/>
        </p:nvPicPr>
        <p:blipFill>
          <a:blip r:embed="rId2"/>
          <a:stretch>
            <a:fillRect/>
          </a:stretch>
        </p:blipFill>
        <p:spPr>
          <a:xfrm>
            <a:off x="0" y="0"/>
            <a:ext cx="9144000" cy="6858000"/>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28600"/>
            <a:ext cx="8839200" cy="6477000"/>
          </a:xfrm>
        </p:spPr>
        <p:txBody>
          <a:bodyPr>
            <a:noAutofit/>
          </a:bodyPr>
          <a:lstStyle/>
          <a:p>
            <a:pPr algn="just"/>
            <a:r>
              <a:rPr lang="en-US" sz="2000" b="1" u="sng" dirty="0" smtClean="0">
                <a:solidFill>
                  <a:schemeClr val="tx1"/>
                </a:solidFill>
                <a:latin typeface="Times New Roman" pitchFamily="18" charset="0"/>
                <a:cs typeface="Times New Roman" pitchFamily="18" charset="0"/>
              </a:rPr>
              <a:t>7- 1 0.2 Phase Angle and Time Delay Measurement</a:t>
            </a:r>
          </a:p>
          <a:p>
            <a:pPr algn="just">
              <a:buFont typeface="Arial" pitchFamily="34" charset="0"/>
              <a:buChar char="•"/>
            </a:pPr>
            <a:r>
              <a:rPr lang="en-US" sz="2000" dirty="0" smtClean="0">
                <a:solidFill>
                  <a:schemeClr val="tx1"/>
                </a:solidFill>
                <a:latin typeface="Times New Roman" pitchFamily="18" charset="0"/>
                <a:cs typeface="Times New Roman" pitchFamily="18" charset="0"/>
              </a:rPr>
              <a:t>The oscilloscope is well-suited and indispensable for time and phase measurements. As an example, assume the phase angle between two sine functions is to be measured as shown in Fig. 7-38. A very simple and effective method is to display the two sine functions as two separate traces on a dual-trace oscilloscope and measure the time delay between the two sine functions. When using this technique, it is imperative that the oscilloscope be triggered only from one of the two waveforms. This can be accomplished by setting the triggering source switch to either channel 1 or 2 or externally triggering the oscilloscope. Mixed, composite, or both modes of triggering allow the oscilloscope to be triggered by both of the two input signals and will not provide a suitable time reference.</a:t>
            </a:r>
            <a:endParaRPr lang="en-US" sz="2000" dirty="0">
              <a:solidFill>
                <a:schemeClr val="tx1"/>
              </a:solidFill>
              <a:latin typeface="Times New Roman" pitchFamily="18" charset="0"/>
              <a:cs typeface="Times New Roman" pitchFamily="18" charset="0"/>
            </a:endParaRPr>
          </a:p>
        </p:txBody>
      </p:sp>
      <p:pic>
        <p:nvPicPr>
          <p:cNvPr id="4" name="Picture 3" descr="5.GIF"/>
          <p:cNvPicPr>
            <a:picLocks noChangeAspect="1"/>
          </p:cNvPicPr>
          <p:nvPr/>
        </p:nvPicPr>
        <p:blipFill>
          <a:blip r:embed="rId2"/>
          <a:stretch>
            <a:fillRect/>
          </a:stretch>
        </p:blipFill>
        <p:spPr>
          <a:xfrm>
            <a:off x="457200" y="3962400"/>
            <a:ext cx="8686800" cy="2895600"/>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70000" lnSpcReduction="20000"/>
          </a:bodyPr>
          <a:lstStyle/>
          <a:p>
            <a:pPr algn="just">
              <a:buNone/>
            </a:pPr>
            <a:r>
              <a:rPr lang="en-US" b="1" u="sng" dirty="0" smtClean="0">
                <a:latin typeface="Times New Roman" pitchFamily="18" charset="0"/>
                <a:cs typeface="Times New Roman" pitchFamily="18" charset="0"/>
              </a:rPr>
              <a:t>7-10.3 Determining Signal Origins</a:t>
            </a:r>
          </a:p>
          <a:p>
            <a:pPr algn="just"/>
            <a:r>
              <a:rPr lang="en-US" dirty="0" smtClean="0">
                <a:latin typeface="Times New Roman" pitchFamily="18" charset="0"/>
                <a:cs typeface="Times New Roman" pitchFamily="18" charset="0"/>
              </a:rPr>
              <a:t>In many electronic systems, failures will involve signals appearing where they do not belong. A simple example of such a situation is a power supply where ripple voltages appear on the supply voltages. </a:t>
            </a:r>
          </a:p>
          <a:p>
            <a:pPr algn="just"/>
            <a:r>
              <a:rPr lang="en-US" dirty="0" smtClean="0">
                <a:latin typeface="Times New Roman" pitchFamily="18" charset="0"/>
                <a:cs typeface="Times New Roman" pitchFamily="18" charset="0"/>
              </a:rPr>
              <a:t>A source of this ripple voltage could be from the 60-Hz supply, or it could also be injected from a malfunctioning circuit. One method of determining the source of such extraneous signals is to trigger the oscilloscope from a suspected source and view the extraneous signal with the oscilloscope. </a:t>
            </a:r>
          </a:p>
          <a:p>
            <a:pPr algn="just"/>
            <a:r>
              <a:rPr lang="en-US" dirty="0" smtClean="0">
                <a:latin typeface="Times New Roman" pitchFamily="18" charset="0"/>
                <a:cs typeface="Times New Roman" pitchFamily="18" charset="0"/>
              </a:rPr>
              <a:t>If the triggering signal of the oscilloscope is the source of the offending signal, the viewed waveform will be stationary, but if the source is elsewhere, the viewed waveform will move in time. </a:t>
            </a:r>
          </a:p>
          <a:p>
            <a:pPr algn="just"/>
            <a:r>
              <a:rPr lang="en-US" dirty="0" smtClean="0">
                <a:latin typeface="Times New Roman" pitchFamily="18" charset="0"/>
                <a:cs typeface="Times New Roman" pitchFamily="18" charset="0"/>
              </a:rPr>
              <a:t>Returning to the power supply example, if the oscilloscope were triggered from the 60-Hz line, and many oscilloscopes have a switch for this purpose, the offending ripple, if it were due to the 60-Hz line, would be stationary; if it were developed elsewhere, it would move in time. </a:t>
            </a:r>
          </a:p>
          <a:p>
            <a:pPr algn="just"/>
            <a:r>
              <a:rPr lang="en-US" dirty="0" smtClean="0">
                <a:latin typeface="Times New Roman" pitchFamily="18" charset="0"/>
                <a:cs typeface="Times New Roman" pitchFamily="18" charset="0"/>
              </a:rPr>
              <a:t>Sixty-hertz pickup by electronics circuits is very common, and this technique allows quick verification of the source of the undesired signal.</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a:bodyPr>
          <a:lstStyle/>
          <a:p>
            <a:pPr algn="just">
              <a:buNone/>
            </a:pPr>
            <a:r>
              <a:rPr lang="en-US" b="1" u="sng" dirty="0" smtClean="0">
                <a:latin typeface="Times New Roman" pitchFamily="18" charset="0"/>
                <a:cs typeface="Times New Roman" pitchFamily="18" charset="0"/>
              </a:rPr>
              <a:t>7-10.4 Determining Modulation Characteristics</a:t>
            </a:r>
          </a:p>
          <a:p>
            <a:pPr algn="just"/>
            <a:r>
              <a:rPr lang="en-US" dirty="0" smtClean="0">
                <a:latin typeface="Times New Roman" pitchFamily="18" charset="0"/>
                <a:cs typeface="Times New Roman" pitchFamily="18" charset="0"/>
              </a:rPr>
              <a:t>The oscilloscope can be used to measure the amount of amplitude modulation applied to a carrier for adjusting and troubleshooting amplitude-modulated transmitters, both full carrier and single sideband. </a:t>
            </a:r>
          </a:p>
          <a:p>
            <a:pPr algn="just"/>
            <a:r>
              <a:rPr lang="en-US" dirty="0" smtClean="0">
                <a:latin typeface="Times New Roman" pitchFamily="18" charset="0"/>
                <a:cs typeface="Times New Roman" pitchFamily="18" charset="0"/>
              </a:rPr>
              <a:t>To display the carrier, the oscilloscope must be capable of covering the carrier frequency of the transmitter. he horizontal sweep, on the other hand, only has to cover the modulation frequencies, which in most cases is the voice-frequency band from 300 Hz to 3 kHz.</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70000" lnSpcReduction="20000"/>
          </a:bodyPr>
          <a:lstStyle/>
          <a:p>
            <a:pPr algn="just"/>
            <a:r>
              <a:rPr lang="en-US" b="1" u="sng" dirty="0" smtClean="0">
                <a:latin typeface="Times New Roman" pitchFamily="18" charset="0"/>
                <a:cs typeface="Times New Roman" pitchFamily="18" charset="0"/>
              </a:rPr>
              <a:t>7-11 SPECIAL OSCILLOSCOPES</a:t>
            </a:r>
          </a:p>
          <a:p>
            <a:pPr algn="just">
              <a:buNone/>
            </a:pPr>
            <a:r>
              <a:rPr lang="en-US" b="1" u="sng" dirty="0" smtClean="0">
                <a:latin typeface="Times New Roman" pitchFamily="18" charset="0"/>
                <a:cs typeface="Times New Roman" pitchFamily="18" charset="0"/>
              </a:rPr>
              <a:t>7-11.1 Storage Oscilloscope</a:t>
            </a:r>
          </a:p>
          <a:p>
            <a:pPr algn="just"/>
            <a:r>
              <a:rPr lang="en-US" dirty="0" smtClean="0">
                <a:latin typeface="Times New Roman" pitchFamily="18" charset="0"/>
                <a:cs typeface="Times New Roman" pitchFamily="18" charset="0"/>
              </a:rPr>
              <a:t>In the conventional CRT the persistence of the phosphor ranges from a few milliseconds to several seconds, so that an event that occurs only once will disappear from the screen after a relatively short period of time.</a:t>
            </a:r>
          </a:p>
          <a:p>
            <a:pPr algn="just"/>
            <a:r>
              <a:rPr lang="en-US" dirty="0" smtClean="0">
                <a:latin typeface="Times New Roman" pitchFamily="18" charset="0"/>
                <a:cs typeface="Times New Roman" pitchFamily="18" charset="0"/>
              </a:rPr>
              <a:t>A storage CRT can retain the display much longer, up to several hours after the image was first written on the phosphor. </a:t>
            </a:r>
          </a:p>
          <a:p>
            <a:pPr algn="just"/>
            <a:r>
              <a:rPr lang="en-US" dirty="0" smtClean="0">
                <a:latin typeface="Times New Roman" pitchFamily="18" charset="0"/>
                <a:cs typeface="Times New Roman" pitchFamily="18" charset="0"/>
              </a:rPr>
              <a:t>This retention feature can also be useful when displaying the waveform of a very low-frequency signal. </a:t>
            </a:r>
          </a:p>
          <a:p>
            <a:pPr algn="just"/>
            <a:r>
              <a:rPr lang="en-US" dirty="0" smtClean="0">
                <a:latin typeface="Times New Roman" pitchFamily="18" charset="0"/>
                <a:cs typeface="Times New Roman" pitchFamily="18" charset="0"/>
              </a:rPr>
              <a:t>In the conventional (non-storage) oscilloscope, the start of such a display would fade before the end is written.</a:t>
            </a:r>
          </a:p>
          <a:p>
            <a:pPr algn="just"/>
            <a:r>
              <a:rPr lang="en-US" dirty="0" smtClean="0">
                <a:latin typeface="Times New Roman" pitchFamily="18" charset="0"/>
                <a:cs typeface="Times New Roman" pitchFamily="18" charset="0"/>
              </a:rPr>
              <a:t>Storage CRTs can be classified as </a:t>
            </a:r>
            <a:r>
              <a:rPr lang="en-US" dirty="0" err="1" smtClean="0">
                <a:latin typeface="Times New Roman" pitchFamily="18" charset="0"/>
                <a:cs typeface="Times New Roman" pitchFamily="18" charset="0"/>
              </a:rPr>
              <a:t>bistable</a:t>
            </a:r>
            <a:r>
              <a:rPr lang="en-US" dirty="0" smtClean="0">
                <a:latin typeface="Times New Roman" pitchFamily="18" charset="0"/>
                <a:cs typeface="Times New Roman" pitchFamily="18" charset="0"/>
              </a:rPr>
              <a:t> tubes and halftone tubes. The </a:t>
            </a:r>
            <a:r>
              <a:rPr lang="en-US" dirty="0" err="1" smtClean="0">
                <a:latin typeface="Times New Roman" pitchFamily="18" charset="0"/>
                <a:cs typeface="Times New Roman" pitchFamily="18" charset="0"/>
              </a:rPr>
              <a:t>bistable</a:t>
            </a:r>
            <a:r>
              <a:rPr lang="en-US" dirty="0" smtClean="0">
                <a:latin typeface="Times New Roman" pitchFamily="18" charset="0"/>
                <a:cs typeface="Times New Roman" pitchFamily="18" charset="0"/>
              </a:rPr>
              <a:t> tube will either store or not store an event and produces only one level of image brightness. </a:t>
            </a:r>
          </a:p>
          <a:p>
            <a:pPr algn="just"/>
            <a:r>
              <a:rPr lang="en-US" dirty="0" smtClean="0">
                <a:latin typeface="Times New Roman" pitchFamily="18" charset="0"/>
                <a:cs typeface="Times New Roman" pitchFamily="18" charset="0"/>
              </a:rPr>
              <a:t>The halftone tube can retain an image for varying lengths of time (variable persistence) and at different levels of image brightness.</a:t>
            </a:r>
          </a:p>
          <a:p>
            <a:pPr algn="just"/>
            <a:r>
              <a:rPr lang="en-US" dirty="0" smtClean="0">
                <a:latin typeface="Times New Roman" pitchFamily="18" charset="0"/>
                <a:cs typeface="Times New Roman" pitchFamily="18" charset="0"/>
              </a:rPr>
              <a:t>Both the </a:t>
            </a:r>
            <a:r>
              <a:rPr lang="en-US" dirty="0" err="1" smtClean="0">
                <a:latin typeface="Times New Roman" pitchFamily="18" charset="0"/>
                <a:cs typeface="Times New Roman" pitchFamily="18" charset="0"/>
              </a:rPr>
              <a:t>bistable</a:t>
            </a:r>
            <a:r>
              <a:rPr lang="en-US" dirty="0" smtClean="0">
                <a:latin typeface="Times New Roman" pitchFamily="18" charset="0"/>
                <a:cs typeface="Times New Roman" pitchFamily="18" charset="0"/>
              </a:rPr>
              <a:t> and halftone tubes use the phenomenon of secondary electron emission to build up and store electrostatic charges on the surface of an insulated target. </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lnSpcReduction="10000"/>
          </a:bodyPr>
          <a:lstStyle/>
          <a:p>
            <a:pPr algn="just">
              <a:buNone/>
            </a:pPr>
            <a:r>
              <a:rPr lang="en-US" b="1" u="sng" dirty="0" smtClean="0">
                <a:latin typeface="Times New Roman" pitchFamily="18" charset="0"/>
                <a:cs typeface="Times New Roman" pitchFamily="18" charset="0"/>
              </a:rPr>
              <a:t>Storage oscilloscope</a:t>
            </a:r>
            <a:r>
              <a:rPr lang="en-US" dirty="0" smtClean="0">
                <a:latin typeface="Times New Roman" pitchFamily="18" charset="0"/>
                <a:cs typeface="Times New Roman" pitchFamily="18" charset="0"/>
              </a:rPr>
              <a:t> </a:t>
            </a:r>
          </a:p>
          <a:p>
            <a:pPr algn="just"/>
            <a:r>
              <a:rPr lang="en-US" dirty="0" smtClean="0">
                <a:latin typeface="Times New Roman" pitchFamily="18" charset="0"/>
                <a:cs typeface="Times New Roman" pitchFamily="18" charset="0"/>
              </a:rPr>
              <a:t>An instrument that is used to measure fast </a:t>
            </a:r>
            <a:r>
              <a:rPr lang="en-US" dirty="0" err="1" smtClean="0">
                <a:latin typeface="Times New Roman" pitchFamily="18" charset="0"/>
                <a:cs typeface="Times New Roman" pitchFamily="18" charset="0"/>
              </a:rPr>
              <a:t>nonrepetitive</a:t>
            </a:r>
            <a:r>
              <a:rPr lang="en-US" dirty="0" smtClean="0">
                <a:latin typeface="Times New Roman" pitchFamily="18" charset="0"/>
                <a:cs typeface="Times New Roman" pitchFamily="18" charset="0"/>
              </a:rPr>
              <a:t> signals. It does this by capturing the signal on demand and continuing to display it until reset. </a:t>
            </a:r>
          </a:p>
          <a:p>
            <a:pPr algn="just"/>
            <a:r>
              <a:rPr lang="en-US" dirty="0" smtClean="0">
                <a:latin typeface="Times New Roman" pitchFamily="18" charset="0"/>
                <a:cs typeface="Times New Roman" pitchFamily="18" charset="0"/>
              </a:rPr>
              <a:t>This can be achieved in two ways: a digital storage oscilloscope samples the incoming signal, stores these samples, and displays them; other storage oscilloscopes use a special storage </a:t>
            </a:r>
            <a:r>
              <a:rPr lang="en-US" dirty="0" smtClean="0">
                <a:latin typeface="Times New Roman" pitchFamily="18" charset="0"/>
                <a:cs typeface="Times New Roman" pitchFamily="18" charset="0"/>
                <a:hlinkClick r:id="rId2"/>
              </a:rPr>
              <a:t>cathode-ray tube</a:t>
            </a:r>
            <a:r>
              <a:rPr lang="en-US" dirty="0" smtClean="0">
                <a:latin typeface="Times New Roman" pitchFamily="18" charset="0"/>
                <a:cs typeface="Times New Roman" pitchFamily="18" charset="0"/>
              </a:rPr>
              <a:t> that retains the image by mapping it as a charge pattern on an electrode behind the screen; the pattern then modulates the electron beam to give a picture of the captured signal.</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70000" lnSpcReduction="20000"/>
          </a:bodyPr>
          <a:lstStyle/>
          <a:p>
            <a:pPr algn="just">
              <a:buNone/>
            </a:pPr>
            <a:r>
              <a:rPr lang="en-US" b="1" u="sng" dirty="0" smtClean="0">
                <a:latin typeface="Times New Roman" pitchFamily="18" charset="0"/>
                <a:cs typeface="Times New Roman" pitchFamily="18" charset="0"/>
              </a:rPr>
              <a:t>7-11.2 Sampling Oscilloscope</a:t>
            </a:r>
          </a:p>
          <a:p>
            <a:pPr algn="just"/>
            <a:r>
              <a:rPr lang="en-US" dirty="0" smtClean="0">
                <a:latin typeface="Times New Roman" pitchFamily="18" charset="0"/>
                <a:cs typeface="Times New Roman" pitchFamily="18" charset="0"/>
              </a:rPr>
              <a:t>When the frequency of the vertical deflection signal increases, the writing speed of the electron beam increases. </a:t>
            </a:r>
          </a:p>
          <a:p>
            <a:pPr algn="just"/>
            <a:r>
              <a:rPr lang="en-US" dirty="0" smtClean="0">
                <a:latin typeface="Times New Roman" pitchFamily="18" charset="0"/>
                <a:cs typeface="Times New Roman" pitchFamily="18" charset="0"/>
              </a:rPr>
              <a:t>The immediate result of higher writing speed is a reduction in image intensity on the CRT screen. </a:t>
            </a:r>
          </a:p>
          <a:p>
            <a:pPr algn="just"/>
            <a:r>
              <a:rPr lang="en-US" dirty="0" smtClean="0">
                <a:latin typeface="Times New Roman" pitchFamily="18" charset="0"/>
                <a:cs typeface="Times New Roman" pitchFamily="18" charset="0"/>
              </a:rPr>
              <a:t>In order to obtain sufficient image brilliance, the electron beam must be accelerated to a higher velocity so that more kinetic energy is available for transfer to the screen and normal image brightness is maintained. </a:t>
            </a:r>
          </a:p>
          <a:p>
            <a:pPr algn="just"/>
            <a:r>
              <a:rPr lang="en-US" dirty="0" smtClean="0">
                <a:latin typeface="Times New Roman" pitchFamily="18" charset="0"/>
                <a:cs typeface="Times New Roman" pitchFamily="18" charset="0"/>
              </a:rPr>
              <a:t>An increase in electron beam velocity is easily achieved by raising the voltage on the accelerating anodes. </a:t>
            </a:r>
          </a:p>
          <a:p>
            <a:pPr algn="just"/>
            <a:r>
              <a:rPr lang="en-US" dirty="0" smtClean="0">
                <a:latin typeface="Times New Roman" pitchFamily="18" charset="0"/>
                <a:cs typeface="Times New Roman" pitchFamily="18" charset="0"/>
              </a:rPr>
              <a:t>A beam with higher velocity also needs a greater deflection potential to maintain the deflection sensitivity. </a:t>
            </a:r>
          </a:p>
          <a:p>
            <a:pPr algn="just"/>
            <a:r>
              <a:rPr lang="en-US" dirty="0" smtClean="0">
                <a:latin typeface="Times New Roman" pitchFamily="18" charset="0"/>
                <a:cs typeface="Times New Roman" pitchFamily="18" charset="0"/>
              </a:rPr>
              <a:t>This immediately places higher demands on the vertical amplifier. </a:t>
            </a:r>
          </a:p>
          <a:p>
            <a:pPr algn="just"/>
            <a:r>
              <a:rPr lang="en-US" dirty="0" smtClean="0">
                <a:latin typeface="Times New Roman" pitchFamily="18" charset="0"/>
                <a:cs typeface="Times New Roman" pitchFamily="18" charset="0"/>
              </a:rPr>
              <a:t>The sampling oscilloscope uses a different approach to improve </a:t>
            </a:r>
            <a:r>
              <a:rPr lang="en-US" dirty="0" err="1" smtClean="0">
                <a:latin typeface="Times New Roman" pitchFamily="18" charset="0"/>
                <a:cs typeface="Times New Roman" pitchFamily="18" charset="0"/>
              </a:rPr>
              <a:t>highfrequency</a:t>
            </a:r>
            <a:r>
              <a:rPr lang="en-US" dirty="0" smtClean="0">
                <a:latin typeface="Times New Roman" pitchFamily="18" charset="0"/>
                <a:cs typeface="Times New Roman" pitchFamily="18" charset="0"/>
              </a:rPr>
              <a:t> performance. </a:t>
            </a:r>
          </a:p>
          <a:p>
            <a:pPr algn="just"/>
            <a:r>
              <a:rPr lang="en-US" dirty="0" smtClean="0">
                <a:latin typeface="Times New Roman" pitchFamily="18" charset="0"/>
                <a:cs typeface="Times New Roman" pitchFamily="18" charset="0"/>
              </a:rPr>
              <a:t>In the sampling oscilloscope the input waveform is reconstructed from many samples taken during recurrent cycles of the input waveform and so circumvents the bandwidth limitations of conventional </a:t>
            </a:r>
            <a:r>
              <a:rPr lang="en-US" dirty="0" err="1" smtClean="0">
                <a:latin typeface="Times New Roman" pitchFamily="18" charset="0"/>
                <a:cs typeface="Times New Roman" pitchFamily="18" charset="0"/>
              </a:rPr>
              <a:t>CRTsand</a:t>
            </a:r>
            <a:r>
              <a:rPr lang="en-US" dirty="0" smtClean="0">
                <a:latin typeface="Times New Roman" pitchFamily="18" charset="0"/>
                <a:cs typeface="Times New Roman" pitchFamily="18" charset="0"/>
              </a:rPr>
              <a:t> amplifiers.</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6.GIF"/>
          <p:cNvPicPr>
            <a:picLocks noGrp="1" noChangeAspect="1"/>
          </p:cNvPicPr>
          <p:nvPr>
            <p:ph idx="1"/>
          </p:nvPr>
        </p:nvPicPr>
        <p:blipFill>
          <a:blip r:embed="rId2"/>
          <a:stretch>
            <a:fillRect/>
          </a:stretch>
        </p:blipFill>
        <p:spPr>
          <a:xfrm>
            <a:off x="0" y="228600"/>
            <a:ext cx="9144000" cy="6476999"/>
          </a:xfrm>
        </p:spPr>
      </p:pic>
      <p:sp>
        <p:nvSpPr>
          <p:cNvPr id="5" name="Slide Number Placeholder 4"/>
          <p:cNvSpPr>
            <a:spLocks noGrp="1"/>
          </p:cNvSpPr>
          <p:nvPr>
            <p:ph type="sldNum" sz="quarter" idx="12"/>
          </p:nvPr>
        </p:nvSpPr>
        <p:spPr/>
        <p:txBody>
          <a:bodyPr/>
          <a:lstStyle/>
          <a:p>
            <a:fld id="{B6F15528-21DE-4FAA-801E-634DDDAF4B2B}" type="slidenum">
              <a:rPr lang="en-US" smtClean="0"/>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70000" lnSpcReduction="20000"/>
          </a:bodyPr>
          <a:lstStyle/>
          <a:p>
            <a:pPr algn="just"/>
            <a:r>
              <a:rPr lang="en-US" dirty="0" smtClean="0">
                <a:latin typeface="Times New Roman" pitchFamily="18" charset="0"/>
                <a:cs typeface="Times New Roman" pitchFamily="18" charset="0"/>
              </a:rPr>
              <a:t>A simplified block diagram of the sampling circuitry is given in Fig. 7-50.</a:t>
            </a:r>
          </a:p>
          <a:p>
            <a:pPr algn="just"/>
            <a:r>
              <a:rPr lang="en-US" dirty="0" smtClean="0">
                <a:latin typeface="Times New Roman" pitchFamily="18" charset="0"/>
                <a:cs typeface="Times New Roman" pitchFamily="18" charset="0"/>
              </a:rPr>
              <a:t>The input waveform, which must be repetitive, is applied to the sampling gate. </a:t>
            </a:r>
          </a:p>
          <a:p>
            <a:pPr algn="just"/>
            <a:r>
              <a:rPr lang="en-US" dirty="0" smtClean="0">
                <a:latin typeface="Times New Roman" pitchFamily="18" charset="0"/>
                <a:cs typeface="Times New Roman" pitchFamily="18" charset="0"/>
              </a:rPr>
              <a:t>Sampling pulses momentarily bias the diodes of the balanced sampling gate in the forward direction, thereby briefly connecting the gate input capacitance to the test point. </a:t>
            </a:r>
          </a:p>
          <a:p>
            <a:pPr algn="just"/>
            <a:r>
              <a:rPr lang="en-US" dirty="0" smtClean="0">
                <a:latin typeface="Times New Roman" pitchFamily="18" charset="0"/>
                <a:cs typeface="Times New Roman" pitchFamily="18" charset="0"/>
              </a:rPr>
              <a:t>These capacitances are slightly charged toward the voltage level of the input circuit. </a:t>
            </a:r>
          </a:p>
          <a:p>
            <a:pPr algn="just"/>
            <a:r>
              <a:rPr lang="en-US" dirty="0" smtClean="0">
                <a:latin typeface="Times New Roman" pitchFamily="18" charset="0"/>
                <a:cs typeface="Times New Roman" pitchFamily="18" charset="0"/>
              </a:rPr>
              <a:t>The capacitor voltage is amplified by the vertical amplifier and applied to the vertical deflection plates. </a:t>
            </a:r>
          </a:p>
          <a:p>
            <a:pPr algn="just"/>
            <a:r>
              <a:rPr lang="en-US" dirty="0" smtClean="0">
                <a:latin typeface="Times New Roman" pitchFamily="18" charset="0"/>
                <a:cs typeface="Times New Roman" pitchFamily="18" charset="0"/>
              </a:rPr>
              <a:t>Since the sampling must be synchronized with the input signal frequency, the signal is delayed in the vertical amplifier, allowing the sweep triggering to be done by the input signal. </a:t>
            </a:r>
          </a:p>
          <a:p>
            <a:pPr algn="just"/>
            <a:r>
              <a:rPr lang="en-US" dirty="0" smtClean="0">
                <a:latin typeface="Times New Roman" pitchFamily="18" charset="0"/>
                <a:cs typeface="Times New Roman" pitchFamily="18" charset="0"/>
              </a:rPr>
              <a:t>When a trigger pulse is received, the avalanche blocking oscillator (so called because it uses avalanche transistors) starts an exactly linear ramp voltage, which is applied to a voltage comparator. </a:t>
            </a:r>
          </a:p>
          <a:p>
            <a:pPr algn="just"/>
            <a:r>
              <a:rPr lang="en-US" dirty="0" smtClean="0">
                <a:latin typeface="Times New Roman" pitchFamily="18" charset="0"/>
                <a:cs typeface="Times New Roman" pitchFamily="18" charset="0"/>
              </a:rPr>
              <a:t>The voltage comparator compares the ramp voltage to the output voltage of a staircase generator. When the two voltages are equal in amplitude, the staircase generator is allowed to advance one step and simultaneously a sampling pulse is applied to the sampling gate. </a:t>
            </a:r>
          </a:p>
          <a:p>
            <a:pPr algn="just"/>
            <a:r>
              <a:rPr lang="en-US" dirty="0" smtClean="0">
                <a:latin typeface="Times New Roman" pitchFamily="18" charset="0"/>
                <a:cs typeface="Times New Roman" pitchFamily="18" charset="0"/>
              </a:rPr>
              <a:t>At this moment, a sample of the input voltage is taken, amplified, and applied to the vertical deflection plates.</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Recorder</a:t>
            </a:r>
            <a:endParaRPr lang="en-US" dirty="0"/>
          </a:p>
        </p:txBody>
      </p:sp>
      <p:sp>
        <p:nvSpPr>
          <p:cNvPr id="3" name="Content Placeholder 2"/>
          <p:cNvSpPr>
            <a:spLocks noGrp="1"/>
          </p:cNvSpPr>
          <p:nvPr>
            <p:ph idx="1"/>
          </p:nvPr>
        </p:nvSpPr>
        <p:spPr/>
        <p:txBody>
          <a:bodyPr>
            <a:normAutofit lnSpcReduction="10000"/>
          </a:bodyPr>
          <a:lstStyle/>
          <a:p>
            <a:r>
              <a:rPr lang="en-US" dirty="0"/>
              <a:t>A recorder is a measuring instrument that displays a time-varying signal in </a:t>
            </a:r>
            <a:r>
              <a:rPr lang="en-US" dirty="0" smtClean="0"/>
              <a:t>a form </a:t>
            </a:r>
            <a:r>
              <a:rPr lang="en-US" dirty="0"/>
              <a:t>easy to </a:t>
            </a:r>
            <a:r>
              <a:rPr lang="en-US" dirty="0" smtClean="0"/>
              <a:t>examine and re-examine, </a:t>
            </a:r>
            <a:r>
              <a:rPr lang="en-US" dirty="0"/>
              <a:t>even after the original signal has ceased to exist</a:t>
            </a:r>
            <a:r>
              <a:rPr lang="en-US" dirty="0" smtClean="0"/>
              <a:t>.</a:t>
            </a:r>
          </a:p>
          <a:p>
            <a:r>
              <a:rPr lang="en-US" dirty="0" smtClean="0"/>
              <a:t>Recording preserves the experimental data in a manageable and usable form.</a:t>
            </a:r>
          </a:p>
          <a:p>
            <a:r>
              <a:rPr lang="en-US" dirty="0" smtClean="0"/>
              <a:t>Two types:</a:t>
            </a:r>
          </a:p>
          <a:p>
            <a:pPr lvl="1"/>
            <a:r>
              <a:rPr lang="en-US" dirty="0" smtClean="0"/>
              <a:t>Analog Recorder </a:t>
            </a:r>
          </a:p>
          <a:p>
            <a:pPr lvl="1"/>
            <a:r>
              <a:rPr lang="en-US" dirty="0" smtClean="0"/>
              <a:t>Digital Recorder</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 xmlns:p14="http://schemas.microsoft.com/office/powerpoint/2010/main" val="365196044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Recorder</a:t>
            </a:r>
            <a:endParaRPr lang="en-US" dirty="0"/>
          </a:p>
        </p:txBody>
      </p:sp>
      <p:sp>
        <p:nvSpPr>
          <p:cNvPr id="3" name="Content Placeholder 2"/>
          <p:cNvSpPr>
            <a:spLocks noGrp="1"/>
          </p:cNvSpPr>
          <p:nvPr>
            <p:ph idx="1"/>
          </p:nvPr>
        </p:nvSpPr>
        <p:spPr>
          <a:xfrm>
            <a:off x="0" y="1143000"/>
            <a:ext cx="9144000" cy="5638800"/>
          </a:xfrm>
        </p:spPr>
        <p:txBody>
          <a:bodyPr/>
          <a:lstStyle/>
          <a:p>
            <a:pPr marL="0" indent="0" algn="ctr">
              <a:buNone/>
            </a:pPr>
            <a:r>
              <a:rPr lang="en-US" b="1" dirty="0" smtClean="0"/>
              <a:t>Analog Recorder</a:t>
            </a:r>
          </a:p>
          <a:p>
            <a:pPr marL="0" indent="0" algn="ctr">
              <a:buNone/>
            </a:pPr>
            <a:endParaRPr lang="en-US" dirty="0"/>
          </a:p>
          <a:p>
            <a:pPr marL="0" indent="0" algn="ctr">
              <a:buNone/>
            </a:pPr>
            <a:endParaRPr lang="en-US" dirty="0" smtClean="0"/>
          </a:p>
          <a:p>
            <a:pPr marL="0" indent="0">
              <a:buNone/>
            </a:pPr>
            <a:endParaRPr lang="en-US" dirty="0" smtClean="0"/>
          </a:p>
          <a:p>
            <a:pPr marL="0" indent="0">
              <a:buNone/>
            </a:pPr>
            <a:r>
              <a:rPr lang="en-US" sz="2400" dirty="0" smtClean="0"/>
              <a:t>      </a:t>
            </a:r>
            <a:r>
              <a:rPr lang="en-US" sz="2400" b="1" dirty="0" smtClean="0"/>
              <a:t>Graphic Recorder</a:t>
            </a:r>
            <a:r>
              <a:rPr lang="en-US" sz="2400" dirty="0" smtClean="0"/>
              <a:t> </a:t>
            </a:r>
            <a:r>
              <a:rPr lang="en-US" sz="2000" dirty="0" smtClean="0"/>
              <a:t>       </a:t>
            </a:r>
            <a:r>
              <a:rPr lang="en-US" sz="2400" b="1" dirty="0" err="1" smtClean="0"/>
              <a:t>Oscillographic</a:t>
            </a:r>
            <a:r>
              <a:rPr lang="en-US" sz="2400" b="1" dirty="0" smtClean="0"/>
              <a:t> Recorder</a:t>
            </a:r>
            <a:r>
              <a:rPr lang="en-US" sz="2000" dirty="0" smtClean="0"/>
              <a:t>	    </a:t>
            </a:r>
            <a:r>
              <a:rPr lang="en-US" sz="2400" b="1" dirty="0" smtClean="0"/>
              <a:t>Magnetic Tape 							    Recorder</a:t>
            </a:r>
          </a:p>
          <a:p>
            <a:pPr marL="0" indent="0">
              <a:buNone/>
            </a:pPr>
            <a:endParaRPr lang="en-US" sz="2400" b="1" dirty="0"/>
          </a:p>
          <a:p>
            <a:pPr marL="0" indent="0">
              <a:buNone/>
            </a:pPr>
            <a:endParaRPr lang="en-US" sz="2400" b="1" dirty="0" smtClean="0"/>
          </a:p>
          <a:p>
            <a:pPr marL="0" indent="0">
              <a:buNone/>
            </a:pPr>
            <a:r>
              <a:rPr lang="en-US" sz="2400" b="1" dirty="0" smtClean="0"/>
              <a:t>Strip Chart Recorder	      X-Y Recorder	  Circular Chart Recorder</a:t>
            </a:r>
            <a:endParaRPr lang="en-US" sz="2400" b="1" dirty="0"/>
          </a:p>
        </p:txBody>
      </p:sp>
      <p:cxnSp>
        <p:nvCxnSpPr>
          <p:cNvPr id="11" name="Straight Connector 10"/>
          <p:cNvCxnSpPr/>
          <p:nvPr/>
        </p:nvCxnSpPr>
        <p:spPr>
          <a:xfrm>
            <a:off x="1295400" y="2667000"/>
            <a:ext cx="6705600" cy="0"/>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p:cNvCxnSpPr/>
          <p:nvPr/>
        </p:nvCxnSpPr>
        <p:spPr>
          <a:xfrm>
            <a:off x="4419600" y="1600200"/>
            <a:ext cx="0" cy="1066800"/>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Arrow Connector 15"/>
          <p:cNvCxnSpPr/>
          <p:nvPr/>
        </p:nvCxnSpPr>
        <p:spPr>
          <a:xfrm>
            <a:off x="1295400" y="2670464"/>
            <a:ext cx="0" cy="834736"/>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0" name="Straight Arrow Connector 19"/>
          <p:cNvCxnSpPr/>
          <p:nvPr/>
        </p:nvCxnSpPr>
        <p:spPr>
          <a:xfrm>
            <a:off x="4419600" y="2667000"/>
            <a:ext cx="0" cy="8382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2" name="Straight Arrow Connector 21"/>
          <p:cNvCxnSpPr/>
          <p:nvPr/>
        </p:nvCxnSpPr>
        <p:spPr>
          <a:xfrm>
            <a:off x="7980218" y="2705100"/>
            <a:ext cx="0" cy="8001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7" name="Straight Connector 26"/>
          <p:cNvCxnSpPr/>
          <p:nvPr/>
        </p:nvCxnSpPr>
        <p:spPr>
          <a:xfrm>
            <a:off x="1295400" y="4038600"/>
            <a:ext cx="0" cy="609600"/>
          </a:xfrm>
          <a:prstGeom prst="line">
            <a:avLst/>
          </a:prstGeom>
        </p:spPr>
        <p:style>
          <a:lnRef idx="3">
            <a:schemeClr val="dk1"/>
          </a:lnRef>
          <a:fillRef idx="0">
            <a:schemeClr val="dk1"/>
          </a:fillRef>
          <a:effectRef idx="2">
            <a:schemeClr val="dk1"/>
          </a:effectRef>
          <a:fontRef idx="minor">
            <a:schemeClr val="tx1"/>
          </a:fontRef>
        </p:style>
      </p:cxnSp>
      <p:cxnSp>
        <p:nvCxnSpPr>
          <p:cNvPr id="29" name="Straight Connector 28"/>
          <p:cNvCxnSpPr/>
          <p:nvPr/>
        </p:nvCxnSpPr>
        <p:spPr>
          <a:xfrm>
            <a:off x="762000" y="4648200"/>
            <a:ext cx="6477000" cy="0"/>
          </a:xfrm>
          <a:prstGeom prst="line">
            <a:avLst/>
          </a:prstGeom>
        </p:spPr>
        <p:style>
          <a:lnRef idx="3">
            <a:schemeClr val="dk1"/>
          </a:lnRef>
          <a:fillRef idx="0">
            <a:schemeClr val="dk1"/>
          </a:fillRef>
          <a:effectRef idx="2">
            <a:schemeClr val="dk1"/>
          </a:effectRef>
          <a:fontRef idx="minor">
            <a:schemeClr val="tx1"/>
          </a:fontRef>
        </p:style>
      </p:cxnSp>
      <p:cxnSp>
        <p:nvCxnSpPr>
          <p:cNvPr id="31" name="Straight Arrow Connector 30"/>
          <p:cNvCxnSpPr/>
          <p:nvPr/>
        </p:nvCxnSpPr>
        <p:spPr>
          <a:xfrm>
            <a:off x="762000" y="4648200"/>
            <a:ext cx="0" cy="609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3" name="Straight Arrow Connector 32"/>
          <p:cNvCxnSpPr/>
          <p:nvPr/>
        </p:nvCxnSpPr>
        <p:spPr>
          <a:xfrm>
            <a:off x="4000500" y="4648200"/>
            <a:ext cx="0" cy="609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5" name="Straight Arrow Connector 34"/>
          <p:cNvCxnSpPr/>
          <p:nvPr/>
        </p:nvCxnSpPr>
        <p:spPr>
          <a:xfrm>
            <a:off x="7239000" y="4648200"/>
            <a:ext cx="0" cy="609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4" name="Slide Number Placeholder 13"/>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 xmlns:p14="http://schemas.microsoft.com/office/powerpoint/2010/main" val="385655893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Strip Chart Recorder</a:t>
            </a:r>
            <a:endParaRPr lang="en-US" dirty="0"/>
          </a:p>
        </p:txBody>
      </p:sp>
      <p:sp>
        <p:nvSpPr>
          <p:cNvPr id="3" name="Content Placeholder 2"/>
          <p:cNvSpPr>
            <a:spLocks noGrp="1"/>
          </p:cNvSpPr>
          <p:nvPr>
            <p:ph idx="1"/>
          </p:nvPr>
        </p:nvSpPr>
        <p:spPr/>
        <p:txBody>
          <a:bodyPr>
            <a:normAutofit lnSpcReduction="10000"/>
          </a:bodyPr>
          <a:lstStyle/>
          <a:p>
            <a:r>
              <a:rPr lang="en-US" dirty="0" smtClean="0"/>
              <a:t>It records one or more  variables with respect to time. It is a X-t recorder.</a:t>
            </a:r>
          </a:p>
          <a:p>
            <a:r>
              <a:rPr lang="en-US" dirty="0" smtClean="0"/>
              <a:t>A strip chart recorder consists of</a:t>
            </a:r>
            <a:r>
              <a:rPr lang="en-US" dirty="0"/>
              <a:t>: </a:t>
            </a:r>
            <a:endParaRPr lang="en-US" dirty="0" smtClean="0"/>
          </a:p>
          <a:p>
            <a:pPr lvl="1"/>
            <a:r>
              <a:rPr lang="en-US" dirty="0" smtClean="0"/>
              <a:t>A long roll of graph paper moving vertically.</a:t>
            </a:r>
          </a:p>
          <a:p>
            <a:pPr lvl="1"/>
            <a:r>
              <a:rPr lang="en-US" dirty="0" smtClean="0"/>
              <a:t>A system for driving the paper at some selected speed.</a:t>
            </a:r>
          </a:p>
          <a:p>
            <a:pPr lvl="1"/>
            <a:r>
              <a:rPr lang="en-US" dirty="0" smtClean="0"/>
              <a:t>A stylus for making marks on the graph paper.</a:t>
            </a:r>
          </a:p>
          <a:p>
            <a:pPr lvl="1"/>
            <a:r>
              <a:rPr lang="en-US" dirty="0" smtClean="0"/>
              <a:t>A stylus driving system which moves the stylus  in exact replica of quantity being measured.</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 xmlns:p14="http://schemas.microsoft.com/office/powerpoint/2010/main" val="2845173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Strip Chart Recorder</a:t>
            </a:r>
            <a:endParaRPr lang="en-US" dirty="0"/>
          </a:p>
        </p:txBody>
      </p:sp>
      <p:sp>
        <p:nvSpPr>
          <p:cNvPr id="3" name="Content Placeholder 2"/>
          <p:cNvSpPr>
            <a:spLocks noGrp="1"/>
          </p:cNvSpPr>
          <p:nvPr>
            <p:ph idx="1"/>
          </p:nvPr>
        </p:nvSpPr>
        <p:spPr>
          <a:xfrm>
            <a:off x="457200" y="1143000"/>
            <a:ext cx="8229600" cy="5638800"/>
          </a:xfrm>
        </p:spPr>
        <p:txBody>
          <a:bodyPr/>
          <a:lstStyle/>
          <a:p>
            <a:pPr lvl="1"/>
            <a:r>
              <a:rPr lang="en-US" dirty="0" smtClean="0"/>
              <a:t>A range selector to fit the input within the acceptable level.</a:t>
            </a:r>
          </a:p>
          <a:p>
            <a:r>
              <a:rPr lang="en-US" dirty="0" smtClean="0"/>
              <a:t>The strip chart recorder is as:</a:t>
            </a:r>
          </a:p>
        </p:txBody>
      </p:sp>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990600" y="2590800"/>
            <a:ext cx="6934200" cy="407224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 xmlns:p14="http://schemas.microsoft.com/office/powerpoint/2010/main" val="40443848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Strip Chart Recorder</a:t>
            </a:r>
          </a:p>
        </p:txBody>
      </p:sp>
      <p:sp>
        <p:nvSpPr>
          <p:cNvPr id="3" name="Content Placeholder 2"/>
          <p:cNvSpPr>
            <a:spLocks noGrp="1"/>
          </p:cNvSpPr>
          <p:nvPr>
            <p:ph idx="1"/>
          </p:nvPr>
        </p:nvSpPr>
        <p:spPr/>
        <p:txBody>
          <a:bodyPr/>
          <a:lstStyle/>
          <a:p>
            <a:pPr marL="0" indent="0">
              <a:buNone/>
            </a:pPr>
            <a:r>
              <a:rPr lang="en-US" dirty="0" smtClean="0"/>
              <a:t>3. Marking Mechanism:</a:t>
            </a:r>
          </a:p>
          <a:p>
            <a:pPr lvl="1"/>
            <a:r>
              <a:rPr lang="en-US" dirty="0" smtClean="0"/>
              <a:t>Marking with ink filled stylus</a:t>
            </a:r>
          </a:p>
          <a:p>
            <a:pPr lvl="1"/>
            <a:r>
              <a:rPr lang="en-US" dirty="0" smtClean="0"/>
              <a:t>Marking with heated stylus</a:t>
            </a:r>
          </a:p>
          <a:p>
            <a:pPr lvl="1"/>
            <a:r>
              <a:rPr lang="en-US" dirty="0" smtClean="0"/>
              <a:t>Chopped bar (impart printing)</a:t>
            </a:r>
          </a:p>
          <a:p>
            <a:pPr lvl="1"/>
            <a:r>
              <a:rPr lang="en-US" dirty="0" smtClean="0"/>
              <a:t>Electric stylus marking</a:t>
            </a:r>
          </a:p>
          <a:p>
            <a:pPr lvl="1"/>
            <a:r>
              <a:rPr lang="en-US" dirty="0" smtClean="0"/>
              <a:t>Optical marking</a:t>
            </a:r>
          </a:p>
          <a:p>
            <a:pPr lvl="1"/>
            <a:r>
              <a:rPr lang="en-US" dirty="0" smtClean="0"/>
              <a:t>Electrostatic stylus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 xmlns:p14="http://schemas.microsoft.com/office/powerpoint/2010/main" val="12271177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GIF"/>
          <p:cNvPicPr>
            <a:picLocks noGrp="1" noChangeAspect="1"/>
          </p:cNvPicPr>
          <p:nvPr>
            <p:ph idx="1"/>
          </p:nvPr>
        </p:nvPicPr>
        <p:blipFill>
          <a:blip r:embed="rId2"/>
          <a:stretch>
            <a:fillRect/>
          </a:stretch>
        </p:blipFill>
        <p:spPr>
          <a:xfrm>
            <a:off x="533400" y="228600"/>
            <a:ext cx="8610600" cy="6629400"/>
          </a:xfrm>
        </p:spPr>
      </p:pic>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b.GIF"/>
          <p:cNvPicPr>
            <a:picLocks noGrp="1" noChangeAspect="1"/>
          </p:cNvPicPr>
          <p:nvPr>
            <p:ph idx="1"/>
          </p:nvPr>
        </p:nvPicPr>
        <p:blipFill>
          <a:blip r:embed="rId2"/>
          <a:stretch>
            <a:fillRect/>
          </a:stretch>
        </p:blipFill>
        <p:spPr>
          <a:xfrm>
            <a:off x="381001" y="228600"/>
            <a:ext cx="8534400" cy="5791199"/>
          </a:xfrm>
        </p:spPr>
      </p:pic>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GIF"/>
          <p:cNvPicPr>
            <a:picLocks noGrp="1" noChangeAspect="1"/>
          </p:cNvPicPr>
          <p:nvPr>
            <p:ph idx="1"/>
          </p:nvPr>
        </p:nvPicPr>
        <p:blipFill>
          <a:blip r:embed="rId2"/>
          <a:stretch>
            <a:fillRect/>
          </a:stretch>
        </p:blipFill>
        <p:spPr>
          <a:xfrm>
            <a:off x="457200" y="0"/>
            <a:ext cx="8153400" cy="6126163"/>
          </a:xfrm>
        </p:spPr>
      </p:pic>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X-Y Recorder</a:t>
            </a:r>
            <a:endParaRPr lang="en-US" dirty="0"/>
          </a:p>
        </p:txBody>
      </p:sp>
      <p:sp>
        <p:nvSpPr>
          <p:cNvPr id="3" name="Content Placeholder 2"/>
          <p:cNvSpPr>
            <a:spLocks noGrp="1"/>
          </p:cNvSpPr>
          <p:nvPr>
            <p:ph idx="1"/>
          </p:nvPr>
        </p:nvSpPr>
        <p:spPr/>
        <p:txBody>
          <a:bodyPr>
            <a:normAutofit lnSpcReduction="10000"/>
          </a:bodyPr>
          <a:lstStyle/>
          <a:p>
            <a:r>
              <a:rPr lang="en-US" i="1" dirty="0"/>
              <a:t>X-Y </a:t>
            </a:r>
            <a:r>
              <a:rPr lang="en-US" dirty="0"/>
              <a:t>recorders or X-Y plotters accept two inputs and create a chart or graph of one input versus the other. </a:t>
            </a:r>
            <a:endParaRPr lang="en-US" dirty="0" smtClean="0"/>
          </a:p>
          <a:p>
            <a:r>
              <a:rPr lang="en-US" dirty="0" smtClean="0"/>
              <a:t>They </a:t>
            </a:r>
            <a:r>
              <a:rPr lang="en-US" dirty="0"/>
              <a:t>are commonly used to determine the relationship between the two inputs</a:t>
            </a:r>
            <a:r>
              <a:rPr lang="en-US" dirty="0" smtClean="0"/>
              <a:t>.</a:t>
            </a:r>
          </a:p>
          <a:p>
            <a:r>
              <a:rPr lang="en-US" dirty="0"/>
              <a:t>With the help of these </a:t>
            </a:r>
            <a:r>
              <a:rPr lang="en-US" dirty="0" smtClean="0"/>
              <a:t>recorders</a:t>
            </a:r>
            <a:r>
              <a:rPr lang="en-US" dirty="0"/>
              <a:t> and appropriate transducers, a physical quantity may be plotted against another physical quantity.</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 xmlns:p14="http://schemas.microsoft.com/office/powerpoint/2010/main" val="229487688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X-Y Recorder</a:t>
            </a:r>
          </a:p>
        </p:txBody>
      </p:sp>
      <p:pic>
        <p:nvPicPr>
          <p:cNvPr id="1026" name="Picture 2"/>
          <p:cNvPicPr>
            <a:picLocks noGrp="1" noChangeAspect="1" noChangeArrowheads="1"/>
          </p:cNvPicPr>
          <p:nvPr>
            <p:ph idx="1"/>
          </p:nvPr>
        </p:nvPicPr>
        <p:blipFill>
          <a:blip r:embed="rId2">
            <a:extLst>
              <a:ext uri="{28A0092B-C50C-407E-A947-70E740481C1C}">
                <a14:useLocalDpi xmlns="" xmlns:a14="http://schemas.microsoft.com/office/drawing/2010/main" val="0"/>
              </a:ext>
            </a:extLst>
          </a:blip>
          <a:srcRect/>
          <a:stretch>
            <a:fillRect/>
          </a:stretch>
        </p:blipFill>
        <p:spPr bwMode="auto">
          <a:xfrm>
            <a:off x="990600" y="1295400"/>
            <a:ext cx="7315200" cy="52303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 xmlns:p14="http://schemas.microsoft.com/office/powerpoint/2010/main" val="63372613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of X-Y </a:t>
            </a:r>
            <a:r>
              <a:rPr lang="en-US" dirty="0"/>
              <a:t>Recorder</a:t>
            </a:r>
          </a:p>
        </p:txBody>
      </p:sp>
      <p:sp>
        <p:nvSpPr>
          <p:cNvPr id="3" name="Content Placeholder 2"/>
          <p:cNvSpPr>
            <a:spLocks noGrp="1"/>
          </p:cNvSpPr>
          <p:nvPr>
            <p:ph idx="1"/>
          </p:nvPr>
        </p:nvSpPr>
        <p:spPr/>
        <p:txBody>
          <a:bodyPr>
            <a:normAutofit fontScale="85000" lnSpcReduction="10000"/>
          </a:bodyPr>
          <a:lstStyle/>
          <a:p>
            <a:pPr fontAlgn="base"/>
            <a:r>
              <a:rPr lang="en-US" dirty="0"/>
              <a:t>A signal enters in each of the two channels.</a:t>
            </a:r>
          </a:p>
          <a:p>
            <a:pPr fontAlgn="base"/>
            <a:r>
              <a:rPr lang="en-US" dirty="0"/>
              <a:t>Attenuators are used to bring the input signals to the levels (full scale range: 0.5 mV) acceptable by the recorder.</a:t>
            </a:r>
          </a:p>
          <a:p>
            <a:pPr fontAlgn="base"/>
            <a:r>
              <a:rPr lang="en-US" dirty="0"/>
              <a:t>As shown in figure, error signals (the difference between the input signals and reference voltage) are fed to a chopper which convert dc signals to ac signals.</a:t>
            </a:r>
          </a:p>
          <a:p>
            <a:pPr fontAlgn="base"/>
            <a:r>
              <a:rPr lang="en-US" dirty="0"/>
              <a:t>The signals are then amplified in order to actuate servomotors which are used to balance the system and hold it in balance as the value of the quantity being recorded changes.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 xmlns:p14="http://schemas.microsoft.com/office/powerpoint/2010/main" val="247695652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of X-Y Recorder</a:t>
            </a:r>
          </a:p>
        </p:txBody>
      </p:sp>
      <p:sp>
        <p:nvSpPr>
          <p:cNvPr id="3" name="Content Placeholder 2"/>
          <p:cNvSpPr>
            <a:spLocks noGrp="1"/>
          </p:cNvSpPr>
          <p:nvPr>
            <p:ph idx="1"/>
          </p:nvPr>
        </p:nvSpPr>
        <p:spPr/>
        <p:txBody>
          <a:bodyPr>
            <a:normAutofit/>
          </a:bodyPr>
          <a:lstStyle/>
          <a:p>
            <a:pPr fontAlgn="base"/>
            <a:r>
              <a:rPr lang="en-US" dirty="0"/>
              <a:t>The action described above takes place in both the axes simultaneously. Thus, we get a record of one variable w.r.t. another.</a:t>
            </a:r>
          </a:p>
          <a:p>
            <a:pPr fontAlgn="base"/>
            <a:r>
              <a:rPr lang="en-US" dirty="0" smtClean="0"/>
              <a:t>An </a:t>
            </a:r>
            <a:r>
              <a:rPr lang="en-US" dirty="0"/>
              <a:t>X-Y recorder may have a sensitivity of 10 µV/mm, a </a:t>
            </a:r>
            <a:r>
              <a:rPr lang="en-US" dirty="0" smtClean="0"/>
              <a:t>speed </a:t>
            </a:r>
            <a:r>
              <a:rPr lang="en-US" dirty="0"/>
              <a:t>of 1.5 m/s, a frequency response about 6 Hz for both axes, chart size of 250 x 180 mm, and accuracy of about ± 0.3%.</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 xmlns:p14="http://schemas.microsoft.com/office/powerpoint/2010/main" val="246909406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Applications </a:t>
            </a:r>
            <a:r>
              <a:rPr lang="en-US" dirty="0"/>
              <a:t>Of X-Y Recorder</a:t>
            </a:r>
            <a:br>
              <a:rPr lang="en-US" dirty="0"/>
            </a:br>
            <a:endParaRPr lang="en-US" dirty="0"/>
          </a:p>
        </p:txBody>
      </p:sp>
      <p:sp>
        <p:nvSpPr>
          <p:cNvPr id="3" name="Content Placeholder 2"/>
          <p:cNvSpPr>
            <a:spLocks noGrp="1"/>
          </p:cNvSpPr>
          <p:nvPr>
            <p:ph idx="1"/>
          </p:nvPr>
        </p:nvSpPr>
        <p:spPr>
          <a:xfrm>
            <a:off x="304800" y="1219200"/>
            <a:ext cx="8610600" cy="5410200"/>
          </a:xfrm>
        </p:spPr>
        <p:txBody>
          <a:bodyPr>
            <a:normAutofit fontScale="92500" lnSpcReduction="20000"/>
          </a:bodyPr>
          <a:lstStyle/>
          <a:p>
            <a:pPr fontAlgn="base"/>
            <a:r>
              <a:rPr lang="en-US" dirty="0"/>
              <a:t>Speed-torque characteristics of motors</a:t>
            </a:r>
          </a:p>
          <a:p>
            <a:pPr fontAlgn="base"/>
            <a:r>
              <a:rPr lang="en-US" dirty="0"/>
              <a:t>Plotting of characteristics of vacuum tubes, </a:t>
            </a:r>
            <a:r>
              <a:rPr lang="en-US" dirty="0" err="1"/>
              <a:t>Zener</a:t>
            </a:r>
            <a:r>
              <a:rPr lang="en-US" dirty="0"/>
              <a:t> diodes, rectifiers, transistors etc.</a:t>
            </a:r>
          </a:p>
          <a:p>
            <a:pPr fontAlgn="base"/>
            <a:r>
              <a:rPr lang="en-US" dirty="0"/>
              <a:t>Pressure-volume diagrams for LC engines</a:t>
            </a:r>
          </a:p>
          <a:p>
            <a:pPr fontAlgn="base"/>
            <a:r>
              <a:rPr lang="en-US" dirty="0"/>
              <a:t>Pressure-flow studies for lungs</a:t>
            </a:r>
          </a:p>
          <a:p>
            <a:pPr fontAlgn="base"/>
            <a:r>
              <a:rPr lang="en-US" dirty="0"/>
              <a:t>Lift drag wind tunnel tests</a:t>
            </a:r>
          </a:p>
          <a:p>
            <a:pPr fontAlgn="base"/>
            <a:r>
              <a:rPr lang="en-US" dirty="0"/>
              <a:t>Regulation curve (output versus input voltage) of power supplies</a:t>
            </a:r>
          </a:p>
          <a:p>
            <a:pPr fontAlgn="base"/>
            <a:r>
              <a:rPr lang="en-US" dirty="0"/>
              <a:t>Electrical characteristics of materials such as resistance versus temperature</a:t>
            </a:r>
          </a:p>
          <a:p>
            <a:pPr fontAlgn="base"/>
            <a:r>
              <a:rPr lang="en-US" dirty="0"/>
              <a:t>Plotting stress versus strain curves, hysteresis curves etc.</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 xmlns:p14="http://schemas.microsoft.com/office/powerpoint/2010/main" val="349400793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GIF"/>
          <p:cNvPicPr>
            <a:picLocks noGrp="1" noChangeAspect="1"/>
          </p:cNvPicPr>
          <p:nvPr>
            <p:ph idx="1"/>
          </p:nvPr>
        </p:nvPicPr>
        <p:blipFill>
          <a:blip r:embed="rId2"/>
          <a:stretch>
            <a:fillRect/>
          </a:stretch>
        </p:blipFill>
        <p:spPr>
          <a:xfrm>
            <a:off x="457200" y="990600"/>
            <a:ext cx="8305800" cy="4952999"/>
          </a:xfrm>
        </p:spPr>
      </p:pic>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e.GIF"/>
          <p:cNvPicPr>
            <a:picLocks noGrp="1" noChangeAspect="1"/>
          </p:cNvPicPr>
          <p:nvPr>
            <p:ph idx="1"/>
          </p:nvPr>
        </p:nvPicPr>
        <p:blipFill>
          <a:blip r:embed="rId2"/>
          <a:stretch>
            <a:fillRect/>
          </a:stretch>
        </p:blipFill>
        <p:spPr>
          <a:xfrm>
            <a:off x="533401" y="228600"/>
            <a:ext cx="8001000" cy="5897563"/>
          </a:xfrm>
        </p:spPr>
      </p:pic>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f.GIF"/>
          <p:cNvPicPr>
            <a:picLocks noGrp="1" noChangeAspect="1"/>
          </p:cNvPicPr>
          <p:nvPr>
            <p:ph idx="1"/>
          </p:nvPr>
        </p:nvPicPr>
        <p:blipFill>
          <a:blip r:embed="rId2"/>
          <a:stretch>
            <a:fillRect/>
          </a:stretch>
        </p:blipFill>
        <p:spPr>
          <a:xfrm>
            <a:off x="609600" y="304800"/>
            <a:ext cx="8001000" cy="6553200"/>
          </a:xfrm>
        </p:spPr>
      </p:pic>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Magnetic Tape Recorder</a:t>
            </a:r>
            <a:endParaRPr lang="en-US" dirty="0"/>
          </a:p>
        </p:txBody>
      </p:sp>
      <p:sp>
        <p:nvSpPr>
          <p:cNvPr id="3" name="Content Placeholder 2"/>
          <p:cNvSpPr>
            <a:spLocks noGrp="1"/>
          </p:cNvSpPr>
          <p:nvPr>
            <p:ph idx="1"/>
          </p:nvPr>
        </p:nvSpPr>
        <p:spPr>
          <a:xfrm>
            <a:off x="152400" y="1371600"/>
            <a:ext cx="8839200" cy="5334000"/>
          </a:xfrm>
        </p:spPr>
        <p:txBody>
          <a:bodyPr>
            <a:normAutofit lnSpcReduction="10000"/>
          </a:bodyPr>
          <a:lstStyle/>
          <a:p>
            <a:r>
              <a:rPr lang="en-US" dirty="0"/>
              <a:t>The major advantage of using a magnetic tape recorder is that once the data </a:t>
            </a:r>
            <a:r>
              <a:rPr lang="en-US" dirty="0" smtClean="0"/>
              <a:t>is recorded</a:t>
            </a:r>
            <a:r>
              <a:rPr lang="en-US" dirty="0"/>
              <a:t>, it can be replayed an almost </a:t>
            </a:r>
            <a:r>
              <a:rPr lang="en-US" dirty="0" smtClean="0"/>
              <a:t>indefinite </a:t>
            </a:r>
            <a:r>
              <a:rPr lang="en-US" dirty="0"/>
              <a:t>number of times.</a:t>
            </a:r>
          </a:p>
          <a:p>
            <a:r>
              <a:rPr lang="en-US" dirty="0"/>
              <a:t>The recording period may vary from a few </a:t>
            </a:r>
            <a:r>
              <a:rPr lang="en-US" dirty="0" smtClean="0"/>
              <a:t> minutes </a:t>
            </a:r>
            <a:r>
              <a:rPr lang="en-US" dirty="0"/>
              <a:t>to several days. </a:t>
            </a:r>
            <a:r>
              <a:rPr lang="en-US" dirty="0" smtClean="0"/>
              <a:t>Speed translation </a:t>
            </a:r>
            <a:r>
              <a:rPr lang="en-US" dirty="0"/>
              <a:t>of the data captured can be provided, i.e. fast data can be </a:t>
            </a:r>
            <a:r>
              <a:rPr lang="en-US" dirty="0" smtClean="0"/>
              <a:t>slowed down </a:t>
            </a:r>
            <a:r>
              <a:rPr lang="en-US" dirty="0"/>
              <a:t>and slow data speeded up by using different record and reproduce speeds.</a:t>
            </a:r>
          </a:p>
          <a:p>
            <a:r>
              <a:rPr lang="en-US" dirty="0" smtClean="0"/>
              <a:t>Magnetic tape recorder have </a:t>
            </a:r>
            <a:r>
              <a:rPr lang="en-US" dirty="0"/>
              <a:t>a good response to high frequency, i.e. </a:t>
            </a:r>
            <a:r>
              <a:rPr lang="en-US" dirty="0" smtClean="0"/>
              <a:t>they can </a:t>
            </a:r>
            <a:r>
              <a:rPr lang="en-US" dirty="0"/>
              <a:t>be used to record high frequency signals.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 xmlns:p14="http://schemas.microsoft.com/office/powerpoint/2010/main" val="128665577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Magnetic Tape Recorder</a:t>
            </a:r>
            <a:endParaRPr lang="en-US" dirty="0"/>
          </a:p>
        </p:txBody>
      </p:sp>
      <p:sp>
        <p:nvSpPr>
          <p:cNvPr id="3" name="Content Placeholder 2"/>
          <p:cNvSpPr>
            <a:spLocks noGrp="1"/>
          </p:cNvSpPr>
          <p:nvPr>
            <p:ph idx="1"/>
          </p:nvPr>
        </p:nvSpPr>
        <p:spPr/>
        <p:txBody>
          <a:bodyPr/>
          <a:lstStyle/>
          <a:p>
            <a:r>
              <a:rPr lang="en-US" sz="3600" b="1" dirty="0"/>
              <a:t>B</a:t>
            </a:r>
            <a:r>
              <a:rPr lang="en-US" sz="3600" b="1" dirty="0" smtClean="0"/>
              <a:t>asic components:</a:t>
            </a:r>
            <a:endParaRPr lang="en-US" sz="3600" b="1" dirty="0"/>
          </a:p>
          <a:p>
            <a:pPr marL="0" indent="0">
              <a:buNone/>
            </a:pPr>
            <a:r>
              <a:rPr lang="en-US" dirty="0" smtClean="0"/>
              <a:t>	1</a:t>
            </a:r>
            <a:r>
              <a:rPr lang="en-US" dirty="0"/>
              <a:t>. </a:t>
            </a:r>
            <a:r>
              <a:rPr lang="en-US" dirty="0" smtClean="0"/>
              <a:t>Magnetic Tape</a:t>
            </a:r>
            <a:endParaRPr lang="en-US" dirty="0"/>
          </a:p>
          <a:p>
            <a:pPr marL="0" indent="0">
              <a:buNone/>
            </a:pPr>
            <a:r>
              <a:rPr lang="en-US" dirty="0" smtClean="0"/>
              <a:t>	2</a:t>
            </a:r>
            <a:r>
              <a:rPr lang="en-US" dirty="0"/>
              <a:t>. </a:t>
            </a:r>
            <a:r>
              <a:rPr lang="en-US" dirty="0" smtClean="0"/>
              <a:t>Recording Head</a:t>
            </a:r>
            <a:endParaRPr lang="en-US" dirty="0"/>
          </a:p>
          <a:p>
            <a:pPr marL="0" indent="0">
              <a:buNone/>
            </a:pPr>
            <a:r>
              <a:rPr lang="en-US" dirty="0" smtClean="0"/>
              <a:t>	3</a:t>
            </a:r>
            <a:r>
              <a:rPr lang="en-US" dirty="0"/>
              <a:t>. Reproducing Head</a:t>
            </a:r>
          </a:p>
          <a:p>
            <a:pPr marL="0" indent="0">
              <a:buNone/>
            </a:pPr>
            <a:r>
              <a:rPr lang="en-US" dirty="0" smtClean="0"/>
              <a:t>	4</a:t>
            </a:r>
            <a:r>
              <a:rPr lang="en-US" dirty="0"/>
              <a:t>. Tape transport mechanism</a:t>
            </a:r>
          </a:p>
          <a:p>
            <a:pPr marL="0" indent="0">
              <a:buNone/>
            </a:pPr>
            <a:r>
              <a:rPr lang="en-US" dirty="0" smtClean="0"/>
              <a:t>	5</a:t>
            </a:r>
            <a:r>
              <a:rPr lang="en-US" dirty="0"/>
              <a:t>. Conditioning devices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 xmlns:p14="http://schemas.microsoft.com/office/powerpoint/2010/main" val="169376162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Magnetic Tape Recorder</a:t>
            </a:r>
            <a:endParaRPr lang="en-US" dirty="0"/>
          </a:p>
        </p:txBody>
      </p:sp>
      <p:pic>
        <p:nvPicPr>
          <p:cNvPr id="6" name="Content Placeholder 5"/>
          <p:cNvPicPr>
            <a:picLocks noGrp="1"/>
          </p:cNvPicPr>
          <p:nvPr>
            <p:ph idx="1"/>
          </p:nvPr>
        </p:nvPicPr>
        <p:blipFill rotWithShape="1">
          <a:blip r:embed="rId2"/>
          <a:srcRect l="27404" t="18244" r="31250" b="36146"/>
          <a:stretch/>
        </p:blipFill>
        <p:spPr bwMode="auto">
          <a:xfrm>
            <a:off x="609600" y="1447800"/>
            <a:ext cx="8001000" cy="5029200"/>
          </a:xfrm>
          <a:prstGeom prst="rect">
            <a:avLst/>
          </a:prstGeom>
          <a:ln>
            <a:noFill/>
          </a:ln>
          <a:extLst>
            <a:ext uri="{53640926-AAD7-44D8-BBD7-CCE9431645EC}">
              <a14:shadowObscured xmlns="" xmlns:a14="http://schemas.microsoft.com/office/drawing/2010/main"/>
            </a:ext>
          </a:extLst>
        </p:spPr>
      </p:pic>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 xmlns:p14="http://schemas.microsoft.com/office/powerpoint/2010/main" val="62175986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marL="571500" indent="-571500" algn="l">
              <a:buFont typeface="Arial" pitchFamily="34" charset="0"/>
              <a:buChar char="•"/>
            </a:pPr>
            <a:r>
              <a:rPr lang="en-US" sz="3600" dirty="0" smtClean="0"/>
              <a:t>Magnetic Tape:</a:t>
            </a:r>
            <a:endParaRPr lang="en-US" sz="3600" dirty="0"/>
          </a:p>
        </p:txBody>
      </p:sp>
      <p:sp>
        <p:nvSpPr>
          <p:cNvPr id="3" name="Content Placeholder 2"/>
          <p:cNvSpPr>
            <a:spLocks noGrp="1"/>
          </p:cNvSpPr>
          <p:nvPr>
            <p:ph idx="1"/>
          </p:nvPr>
        </p:nvSpPr>
        <p:spPr>
          <a:xfrm>
            <a:off x="228600" y="1066799"/>
            <a:ext cx="8915400" cy="5562601"/>
          </a:xfrm>
        </p:spPr>
        <p:txBody>
          <a:bodyPr>
            <a:normAutofit lnSpcReduction="10000"/>
          </a:bodyPr>
          <a:lstStyle/>
          <a:p>
            <a:pPr lvl="1"/>
            <a:r>
              <a:rPr lang="en-US" dirty="0" smtClean="0"/>
              <a:t>It is </a:t>
            </a:r>
            <a:r>
              <a:rPr lang="en-US" dirty="0"/>
              <a:t>made of a thin sheet of tough, dimensionally </a:t>
            </a:r>
            <a:r>
              <a:rPr lang="en-US" dirty="0" smtClean="0"/>
              <a:t>stable plastic</a:t>
            </a:r>
            <a:r>
              <a:rPr lang="en-US" dirty="0"/>
              <a:t>, one side of which is coated with a magnetic </a:t>
            </a:r>
            <a:r>
              <a:rPr lang="en-US" dirty="0" smtClean="0"/>
              <a:t>material</a:t>
            </a:r>
            <a:r>
              <a:rPr lang="en-US" dirty="0"/>
              <a:t> </a:t>
            </a:r>
            <a:r>
              <a:rPr lang="en-US" dirty="0" smtClean="0"/>
              <a:t>(iron oxide).</a:t>
            </a:r>
            <a:endParaRPr lang="en-US" dirty="0"/>
          </a:p>
          <a:p>
            <a:r>
              <a:rPr lang="en-US" sz="3600" dirty="0" smtClean="0"/>
              <a:t>Recording Head:</a:t>
            </a:r>
          </a:p>
          <a:p>
            <a:pPr lvl="1"/>
            <a:r>
              <a:rPr lang="en-US" dirty="0" smtClean="0"/>
              <a:t>It is s device that impresses residual pattern upon magnetic tape in response to an amplified i/p signal.</a:t>
            </a:r>
          </a:p>
          <a:p>
            <a:pPr lvl="1"/>
            <a:r>
              <a:rPr lang="en-US" dirty="0" smtClean="0"/>
              <a:t>It consists of core of high permeability  material with a coil and fine air gap (10µm).</a:t>
            </a:r>
          </a:p>
          <a:p>
            <a:pPr lvl="1"/>
            <a:r>
              <a:rPr lang="en-US" dirty="0" smtClean="0"/>
              <a:t>The air gap is shunted by passing the magnetic tape and coil current creates flux to bridge the air gap.</a:t>
            </a:r>
          </a:p>
          <a:p>
            <a:pPr lvl="1"/>
            <a:r>
              <a:rPr lang="en-US" dirty="0" smtClean="0"/>
              <a:t>The flux in air gap passes thru the tape and magnetizes iron oxide of the tape.</a:t>
            </a:r>
          </a:p>
          <a:p>
            <a:pPr lvl="1"/>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 xmlns:p14="http://schemas.microsoft.com/office/powerpoint/2010/main" val="189358982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pPr marL="571500" indent="-571500" algn="l">
              <a:buFont typeface="Arial" pitchFamily="34" charset="0"/>
              <a:buChar char="•"/>
            </a:pPr>
            <a:r>
              <a:rPr lang="en-US" sz="3600" dirty="0" smtClean="0"/>
              <a:t>Reproduce Head:</a:t>
            </a:r>
            <a:endParaRPr lang="en-US" sz="3600" dirty="0"/>
          </a:p>
        </p:txBody>
      </p:sp>
      <p:sp>
        <p:nvSpPr>
          <p:cNvPr id="3" name="Content Placeholder 2"/>
          <p:cNvSpPr>
            <a:spLocks noGrp="1"/>
          </p:cNvSpPr>
          <p:nvPr>
            <p:ph idx="1"/>
          </p:nvPr>
        </p:nvSpPr>
        <p:spPr>
          <a:xfrm>
            <a:off x="304800" y="914400"/>
            <a:ext cx="8534400" cy="5562600"/>
          </a:xfrm>
        </p:spPr>
        <p:txBody>
          <a:bodyPr>
            <a:normAutofit/>
          </a:bodyPr>
          <a:lstStyle/>
          <a:p>
            <a:pPr lvl="1"/>
            <a:r>
              <a:rPr lang="en-US" dirty="0" smtClean="0"/>
              <a:t>Similar to record head.</a:t>
            </a:r>
          </a:p>
          <a:p>
            <a:pPr lvl="1"/>
            <a:r>
              <a:rPr lang="en-US" dirty="0" smtClean="0"/>
              <a:t>Magnetic tape is passed over a reproduce head thereby resulting  an o/p voltage proportional to the magnetic flux in the tape across the coil of the reproduce head.</a:t>
            </a:r>
          </a:p>
          <a:p>
            <a:r>
              <a:rPr lang="en-US" sz="3600" dirty="0" smtClean="0"/>
              <a:t>Tape Transport Mechanism</a:t>
            </a:r>
            <a:r>
              <a:rPr lang="en-US" dirty="0" smtClean="0"/>
              <a:t>:</a:t>
            </a:r>
          </a:p>
          <a:p>
            <a:pPr lvl="1"/>
            <a:r>
              <a:rPr lang="en-US" dirty="0" smtClean="0"/>
              <a:t>It moves the tape along the record head or reproduce head at constant speed without any strain, distortion and tear.</a:t>
            </a:r>
          </a:p>
          <a:p>
            <a:pPr lvl="1"/>
            <a:r>
              <a:rPr lang="en-US" dirty="0" smtClean="0"/>
              <a:t>T</a:t>
            </a:r>
            <a:r>
              <a:rPr lang="en-US" dirty="0"/>
              <a:t>a</a:t>
            </a:r>
            <a:r>
              <a:rPr lang="en-US" dirty="0" smtClean="0"/>
              <a:t>pe should be in contact with head.</a:t>
            </a:r>
          </a:p>
          <a:p>
            <a:pPr lvl="1"/>
            <a:r>
              <a:rPr lang="en-US" dirty="0" smtClean="0"/>
              <a:t>Fast winding and rewinding are provided.</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 xmlns:p14="http://schemas.microsoft.com/office/powerpoint/2010/main" val="94608110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Record and Reproduce Head</a:t>
            </a:r>
            <a:endParaRPr lang="en-US" dirty="0"/>
          </a:p>
        </p:txBody>
      </p:sp>
      <p:pic>
        <p:nvPicPr>
          <p:cNvPr id="4" name="Content Placeholder 3"/>
          <p:cNvPicPr>
            <a:picLocks noGrp="1"/>
          </p:cNvPicPr>
          <p:nvPr>
            <p:ph idx="1"/>
          </p:nvPr>
        </p:nvPicPr>
        <p:blipFill rotWithShape="1">
          <a:blip r:embed="rId2"/>
          <a:srcRect l="16667" t="26226" r="21634" b="23888"/>
          <a:stretch/>
        </p:blipFill>
        <p:spPr bwMode="auto">
          <a:xfrm>
            <a:off x="558125" y="2038551"/>
            <a:ext cx="8027749" cy="3649261"/>
          </a:xfrm>
          <a:prstGeom prst="rect">
            <a:avLst/>
          </a:prstGeom>
          <a:ln>
            <a:noFill/>
          </a:ln>
          <a:extLst>
            <a:ext uri="{53640926-AAD7-44D8-BBD7-CCE9431645EC}">
              <a14:shadowObscured xmlns="" xmlns:a14="http://schemas.microsoft.com/office/drawing/2010/main"/>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 xmlns:p14="http://schemas.microsoft.com/office/powerpoint/2010/main" val="414458569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magnetic tape recorder</a:t>
            </a:r>
            <a:endParaRPr lang="en-US" dirty="0"/>
          </a:p>
        </p:txBody>
      </p:sp>
      <p:sp>
        <p:nvSpPr>
          <p:cNvPr id="3" name="Content Placeholder 2"/>
          <p:cNvSpPr>
            <a:spLocks noGrp="1"/>
          </p:cNvSpPr>
          <p:nvPr>
            <p:ph idx="1"/>
          </p:nvPr>
        </p:nvSpPr>
        <p:spPr>
          <a:xfrm>
            <a:off x="228600" y="1371600"/>
            <a:ext cx="8610600" cy="5105400"/>
          </a:xfrm>
        </p:spPr>
        <p:txBody>
          <a:bodyPr>
            <a:normAutofit fontScale="92500" lnSpcReduction="10000"/>
          </a:bodyPr>
          <a:lstStyle/>
          <a:p>
            <a:r>
              <a:rPr lang="en-US" dirty="0" smtClean="0"/>
              <a:t>They have wide frequency range DC to several </a:t>
            </a:r>
            <a:r>
              <a:rPr lang="en-US" dirty="0" err="1" smtClean="0"/>
              <a:t>MHz.</a:t>
            </a:r>
            <a:endParaRPr lang="en-US" dirty="0" smtClean="0"/>
          </a:p>
          <a:p>
            <a:r>
              <a:rPr lang="en-US" dirty="0" smtClean="0"/>
              <a:t>They have low distortion.</a:t>
            </a:r>
          </a:p>
          <a:p>
            <a:r>
              <a:rPr lang="en-US" dirty="0" smtClean="0"/>
              <a:t>The signal can be reproduced whenever required as magnitude of electrical signal is stored in magnetic memory.</a:t>
            </a:r>
          </a:p>
          <a:p>
            <a:r>
              <a:rPr lang="en-US" dirty="0" smtClean="0"/>
              <a:t>The recorded signal is immediately available. The recorded signal can be played back or reproduced as many times as required without the loss of signal.</a:t>
            </a:r>
          </a:p>
          <a:p>
            <a:r>
              <a:rPr lang="en-US" dirty="0" smtClean="0"/>
              <a:t>The tape can be erased and reused to record a new set of data.</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 xmlns:p14="http://schemas.microsoft.com/office/powerpoint/2010/main" val="47591848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normAutofit fontScale="70000" lnSpcReduction="20000"/>
          </a:bodyPr>
          <a:lstStyle/>
          <a:p>
            <a:pPr algn="just" fontAlgn="base">
              <a:buNone/>
            </a:pPr>
            <a:r>
              <a:rPr lang="en-US" sz="4000" b="1" u="sng" dirty="0" smtClean="0">
                <a:latin typeface="Times New Roman" pitchFamily="18" charset="0"/>
                <a:cs typeface="Times New Roman" pitchFamily="18" charset="0"/>
              </a:rPr>
              <a:t>Disc recorders</a:t>
            </a:r>
          </a:p>
          <a:p>
            <a:pPr algn="just" fontAlgn="base"/>
            <a:r>
              <a:rPr lang="en-US" dirty="0" smtClean="0">
                <a:latin typeface="Times New Roman" pitchFamily="18" charset="0"/>
                <a:cs typeface="Times New Roman" pitchFamily="18" charset="0"/>
              </a:rPr>
              <a:t>A </a:t>
            </a:r>
            <a:r>
              <a:rPr lang="en-US" b="1" dirty="0" smtClean="0">
                <a:latin typeface="Times New Roman" pitchFamily="18" charset="0"/>
                <a:cs typeface="Times New Roman" pitchFamily="18" charset="0"/>
                <a:hlinkClick r:id="rId2"/>
              </a:rPr>
              <a:t>compact disc</a:t>
            </a:r>
            <a:r>
              <a:rPr lang="en-US" dirty="0" smtClean="0">
                <a:latin typeface="Times New Roman" pitchFamily="18" charset="0"/>
                <a:cs typeface="Times New Roman" pitchFamily="18" charset="0"/>
              </a:rPr>
              <a:t> recorder is a device that can be used to put information on a recordable compact disc. </a:t>
            </a:r>
          </a:p>
          <a:p>
            <a:pPr algn="just" fontAlgn="base"/>
            <a:r>
              <a:rPr lang="en-US" dirty="0" smtClean="0">
                <a:latin typeface="Times New Roman" pitchFamily="18" charset="0"/>
                <a:cs typeface="Times New Roman" pitchFamily="18" charset="0"/>
              </a:rPr>
              <a:t>This may include data in the form of computer files, or video or audio clips. </a:t>
            </a:r>
          </a:p>
          <a:p>
            <a:pPr algn="just" fontAlgn="base"/>
            <a:r>
              <a:rPr lang="en-US" dirty="0" smtClean="0">
                <a:latin typeface="Times New Roman" pitchFamily="18" charset="0"/>
                <a:cs typeface="Times New Roman" pitchFamily="18" charset="0"/>
              </a:rPr>
              <a:t>The most common place to find a compact disc recorder is as part of a computer package, but there are standalone models as well that can be connected to a video or audio source.</a:t>
            </a:r>
          </a:p>
          <a:p>
            <a:pPr algn="just" fontAlgn="base"/>
            <a:r>
              <a:rPr lang="en-US" dirty="0" smtClean="0">
                <a:latin typeface="Times New Roman" pitchFamily="18" charset="0"/>
                <a:cs typeface="Times New Roman" pitchFamily="18" charset="0"/>
              </a:rPr>
              <a:t>Depending on the file format, the recording from a compact disc recorder may be readable by a number of different devices. </a:t>
            </a:r>
          </a:p>
          <a:p>
            <a:pPr algn="just" fontAlgn="base"/>
            <a:r>
              <a:rPr lang="en-US" dirty="0" smtClean="0">
                <a:latin typeface="Times New Roman" pitchFamily="18" charset="0"/>
                <a:cs typeface="Times New Roman" pitchFamily="18" charset="0"/>
              </a:rPr>
              <a:t>Common uses include CD readers, such as those on computers, or CD players, normally used in sound systems. </a:t>
            </a:r>
          </a:p>
          <a:p>
            <a:pPr algn="just" fontAlgn="base"/>
            <a:r>
              <a:rPr lang="en-US" dirty="0" smtClean="0">
                <a:latin typeface="Times New Roman" pitchFamily="18" charset="0"/>
                <a:cs typeface="Times New Roman" pitchFamily="18" charset="0"/>
              </a:rPr>
              <a:t>These are found in a variety of settings and are mainly meant for the playing of audio information. </a:t>
            </a:r>
          </a:p>
          <a:p>
            <a:pPr algn="just" fontAlgn="base"/>
            <a:r>
              <a:rPr lang="en-US" dirty="0" smtClean="0">
                <a:latin typeface="Times New Roman" pitchFamily="18" charset="0"/>
                <a:cs typeface="Times New Roman" pitchFamily="18" charset="0"/>
              </a:rPr>
              <a:t>In some cases, some CD players may not be able to read recordings from certain types of recorders. </a:t>
            </a:r>
          </a:p>
          <a:p>
            <a:pPr algn="just" fontAlgn="base"/>
            <a:r>
              <a:rPr lang="en-US" dirty="0" smtClean="0">
                <a:latin typeface="Times New Roman" pitchFamily="18" charset="0"/>
                <a:cs typeface="Times New Roman" pitchFamily="18" charset="0"/>
              </a:rPr>
              <a:t>Therefore, it is important that a compact disc recorder write information in a format compatible with the intended player.</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lgn="just" fontAlgn="base"/>
            <a:r>
              <a:rPr lang="en-US" dirty="0" smtClean="0">
                <a:latin typeface="Times New Roman" pitchFamily="18" charset="0"/>
                <a:cs typeface="Times New Roman" pitchFamily="18" charset="0"/>
              </a:rPr>
              <a:t>In addition to being able to write information on a compact disc recorder, the device is also usually capable of reading the information as well. Thus, it is a dual use tool. </a:t>
            </a:r>
          </a:p>
          <a:p>
            <a:pPr algn="just" fontAlgn="base"/>
            <a:r>
              <a:rPr lang="en-US" dirty="0" smtClean="0">
                <a:latin typeface="Times New Roman" pitchFamily="18" charset="0"/>
                <a:cs typeface="Times New Roman" pitchFamily="18" charset="0"/>
              </a:rPr>
              <a:t>However, the speed it reads and the speed it records may be quite different. In addition to being able to read CDs, some compact disc recorders may also be able to read DVDs.</a:t>
            </a:r>
          </a:p>
          <a:p>
            <a:pPr algn="just" fontAlgn="base"/>
            <a:r>
              <a:rPr lang="en-US" dirty="0" smtClean="0">
                <a:latin typeface="Times New Roman" pitchFamily="18" charset="0"/>
                <a:cs typeface="Times New Roman" pitchFamily="18" charset="0"/>
              </a:rPr>
              <a:t>In fact, as technology continues to evolve, most compact disc recorders now also function as </a:t>
            </a:r>
            <a:r>
              <a:rPr lang="en-US" b="1" dirty="0" smtClean="0">
                <a:latin typeface="Times New Roman" pitchFamily="18" charset="0"/>
                <a:cs typeface="Times New Roman" pitchFamily="18" charset="0"/>
                <a:hlinkClick r:id="rId2"/>
              </a:rPr>
              <a:t>DVD</a:t>
            </a:r>
            <a:r>
              <a:rPr lang="en-US" dirty="0" smtClean="0">
                <a:latin typeface="Times New Roman" pitchFamily="18" charset="0"/>
                <a:cs typeface="Times New Roman" pitchFamily="18" charset="0"/>
              </a:rPr>
              <a:t> players and recorders. </a:t>
            </a:r>
          </a:p>
          <a:p>
            <a:pPr algn="just" fontAlgn="base"/>
            <a:r>
              <a:rPr lang="en-US" dirty="0" smtClean="0">
                <a:latin typeface="Times New Roman" pitchFamily="18" charset="0"/>
                <a:cs typeface="Times New Roman" pitchFamily="18" charset="0"/>
              </a:rPr>
              <a:t>In some cases, this may be a more expensive option, but it often comes standard. The computer is able to detect whether the disc is a recordable CD or DVD, and automatically change its format to fit the media type.</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Direct Recording</a:t>
            </a:r>
            <a:endParaRPr lang="en-US" dirty="0"/>
          </a:p>
        </p:txBody>
      </p:sp>
      <p:sp>
        <p:nvSpPr>
          <p:cNvPr id="6" name="Content Placeholder 5"/>
          <p:cNvSpPr>
            <a:spLocks noGrp="1"/>
          </p:cNvSpPr>
          <p:nvPr>
            <p:ph idx="1"/>
          </p:nvPr>
        </p:nvSpPr>
        <p:spPr/>
        <p:txBody>
          <a:bodyPr>
            <a:normAutofit fontScale="92500" lnSpcReduction="20000"/>
          </a:bodyPr>
          <a:lstStyle/>
          <a:p>
            <a:r>
              <a:rPr lang="en-US" dirty="0"/>
              <a:t>T</a:t>
            </a:r>
            <a:r>
              <a:rPr lang="en-US" dirty="0" smtClean="0"/>
              <a:t>he </a:t>
            </a:r>
            <a:r>
              <a:rPr lang="en-US" dirty="0"/>
              <a:t>linearity between </a:t>
            </a:r>
            <a:r>
              <a:rPr lang="en-US" dirty="0" smtClean="0"/>
              <a:t>residual flux </a:t>
            </a:r>
            <a:r>
              <a:rPr lang="en-US" dirty="0"/>
              <a:t>and recording current is very poor.</a:t>
            </a:r>
          </a:p>
          <a:p>
            <a:r>
              <a:rPr lang="en-US" dirty="0" smtClean="0"/>
              <a:t>Hence, to </a:t>
            </a:r>
            <a:r>
              <a:rPr lang="en-US" dirty="0"/>
              <a:t>obtain linearity in direct </a:t>
            </a:r>
            <a:r>
              <a:rPr lang="en-US" dirty="0" smtClean="0"/>
              <a:t>recording, FM </a:t>
            </a:r>
            <a:r>
              <a:rPr lang="en-US" dirty="0"/>
              <a:t>is </a:t>
            </a:r>
            <a:r>
              <a:rPr lang="en-US" dirty="0" smtClean="0"/>
              <a:t>used (i.e. a high frequency ac is added). </a:t>
            </a:r>
          </a:p>
          <a:p>
            <a:r>
              <a:rPr lang="en-US" dirty="0" smtClean="0"/>
              <a:t>In </a:t>
            </a:r>
            <a:r>
              <a:rPr lang="en-US" dirty="0"/>
              <a:t>all systems, the signal </a:t>
            </a:r>
            <a:r>
              <a:rPr lang="en-US" dirty="0" smtClean="0"/>
              <a:t>is reproduced </a:t>
            </a:r>
            <a:r>
              <a:rPr lang="en-US" dirty="0"/>
              <a:t>by passing the </a:t>
            </a:r>
            <a:r>
              <a:rPr lang="en-US" dirty="0" err="1"/>
              <a:t>magnetised</a:t>
            </a:r>
            <a:r>
              <a:rPr lang="en-US" dirty="0"/>
              <a:t> </a:t>
            </a:r>
            <a:r>
              <a:rPr lang="en-US" dirty="0" smtClean="0"/>
              <a:t>tape over </a:t>
            </a:r>
            <a:r>
              <a:rPr lang="en-US" dirty="0"/>
              <a:t>a magnetic head similar to the </a:t>
            </a:r>
            <a:r>
              <a:rPr lang="en-US" dirty="0" smtClean="0"/>
              <a:t>recording head</a:t>
            </a:r>
            <a:r>
              <a:rPr lang="en-US" dirty="0"/>
              <a:t>. </a:t>
            </a:r>
            <a:endParaRPr lang="en-US" dirty="0" smtClean="0"/>
          </a:p>
          <a:p>
            <a:r>
              <a:rPr lang="en-US" dirty="0" smtClean="0"/>
              <a:t>The </a:t>
            </a:r>
            <a:r>
              <a:rPr lang="en-US" dirty="0" err="1"/>
              <a:t>magnetisation</a:t>
            </a:r>
            <a:r>
              <a:rPr lang="en-US" dirty="0"/>
              <a:t> of the particles </a:t>
            </a:r>
            <a:r>
              <a:rPr lang="en-US" dirty="0" smtClean="0"/>
              <a:t>on the </a:t>
            </a:r>
            <a:r>
              <a:rPr lang="en-US" dirty="0"/>
              <a:t>tape induces a varying </a:t>
            </a:r>
            <a:r>
              <a:rPr lang="en-US" dirty="0" smtClean="0"/>
              <a:t>flux </a:t>
            </a:r>
            <a:r>
              <a:rPr lang="en-US" dirty="0"/>
              <a:t>in the reproducing head and a voltage is </a:t>
            </a:r>
            <a:r>
              <a:rPr lang="en-US" dirty="0" smtClean="0"/>
              <a:t>induced in </a:t>
            </a:r>
            <a:r>
              <a:rPr lang="en-US" dirty="0"/>
              <a:t>the coil, proportional to the rate of change of </a:t>
            </a:r>
            <a:r>
              <a:rPr lang="en-US" dirty="0" smtClean="0"/>
              <a:t>flux</a:t>
            </a:r>
            <a:r>
              <a:rPr lang="en-US" dirty="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 xmlns:p14="http://schemas.microsoft.com/office/powerpoint/2010/main" val="49096677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During reproduction:</a:t>
            </a:r>
            <a:endParaRPr lang="en-US" dirty="0"/>
          </a:p>
        </p:txBody>
      </p:sp>
      <p:sp>
        <p:nvSpPr>
          <p:cNvPr id="3" name="Content Placeholder 2"/>
          <p:cNvSpPr>
            <a:spLocks noGrp="1"/>
          </p:cNvSpPr>
          <p:nvPr>
            <p:ph idx="1"/>
          </p:nvPr>
        </p:nvSpPr>
        <p:spPr>
          <a:xfrm>
            <a:off x="0" y="1219200"/>
            <a:ext cx="9144000" cy="5638800"/>
          </a:xfrm>
        </p:spPr>
        <p:txBody>
          <a:bodyPr>
            <a:normAutofit fontScale="92500" lnSpcReduction="10000"/>
          </a:bodyPr>
          <a:lstStyle/>
          <a:p>
            <a:r>
              <a:rPr lang="en-US" dirty="0" smtClean="0"/>
              <a:t>The tape is passed over a reproducing head resulting in an o/p voltage proportional to the magnetic flux in the tape, across the coil of reproducing head.</a:t>
            </a:r>
          </a:p>
          <a:p>
            <a:r>
              <a:rPr lang="en-US" dirty="0" smtClean="0"/>
              <a:t>Since the o/p voltage depends on the rate of change of flux . If dc at i/p had produced constant tape magnetization, the reproducing head would have given zero o/p voltage. So, the direct recording process can be used with varying i/p signal with about 50Hz.</a:t>
            </a:r>
          </a:p>
          <a:p>
            <a:r>
              <a:rPr lang="en-US" dirty="0" smtClean="0"/>
              <a:t>Since the reproduce head has differentiating characteristics, the reproducing amplifier must have an integrating characteristics so that the system o/p is proportional to i/p.</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 xmlns:p14="http://schemas.microsoft.com/office/powerpoint/2010/main" val="100103554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Merits of Direct Recording</a:t>
            </a:r>
            <a:endParaRPr lang="en-US" dirty="0"/>
          </a:p>
        </p:txBody>
      </p:sp>
      <p:sp>
        <p:nvSpPr>
          <p:cNvPr id="3" name="Content Placeholder 2"/>
          <p:cNvSpPr>
            <a:spLocks noGrp="1"/>
          </p:cNvSpPr>
          <p:nvPr>
            <p:ph idx="1"/>
          </p:nvPr>
        </p:nvSpPr>
        <p:spPr/>
        <p:txBody>
          <a:bodyPr>
            <a:normAutofit fontScale="85000" lnSpcReduction="10000"/>
          </a:bodyPr>
          <a:lstStyle/>
          <a:p>
            <a:r>
              <a:rPr lang="en-US" dirty="0"/>
              <a:t>This recording process has a wide frequency response, ranging </a:t>
            </a:r>
            <a:r>
              <a:rPr lang="en-US" dirty="0" smtClean="0"/>
              <a:t>from 50 </a:t>
            </a:r>
            <a:r>
              <a:rPr lang="en-US" dirty="0"/>
              <a:t>Hz – 2 MHz for a tape speed of 3.05 m/s. It provides </a:t>
            </a:r>
            <a:r>
              <a:rPr lang="en-US"/>
              <a:t>the </a:t>
            </a:r>
            <a:r>
              <a:rPr lang="en-US" smtClean="0"/>
              <a:t>greatest bandwidth </a:t>
            </a:r>
            <a:r>
              <a:rPr lang="en-US" dirty="0"/>
              <a:t>obtainable for a given recorder.</a:t>
            </a:r>
          </a:p>
          <a:p>
            <a:r>
              <a:rPr lang="en-US" dirty="0" smtClean="0"/>
              <a:t>It </a:t>
            </a:r>
            <a:r>
              <a:rPr lang="en-US" dirty="0"/>
              <a:t>requires simple electronic circuits.</a:t>
            </a:r>
          </a:p>
          <a:p>
            <a:r>
              <a:rPr lang="en-US" dirty="0" smtClean="0"/>
              <a:t>It </a:t>
            </a:r>
            <a:r>
              <a:rPr lang="en-US" dirty="0"/>
              <a:t>has a good dynamic response and takes overloads without increase </a:t>
            </a:r>
            <a:r>
              <a:rPr lang="en-US" dirty="0" smtClean="0"/>
              <a:t>in distortion</a:t>
            </a:r>
            <a:r>
              <a:rPr lang="en-US" dirty="0"/>
              <a:t>. </a:t>
            </a:r>
            <a:endParaRPr lang="en-US" dirty="0" smtClean="0"/>
          </a:p>
          <a:p>
            <a:r>
              <a:rPr lang="en-US" dirty="0" smtClean="0"/>
              <a:t> </a:t>
            </a:r>
            <a:r>
              <a:rPr lang="en-US" dirty="0"/>
              <a:t>It is used to record signals where information is contained in the </a:t>
            </a:r>
            <a:r>
              <a:rPr lang="en-US" dirty="0" smtClean="0"/>
              <a:t>relation between </a:t>
            </a:r>
            <a:r>
              <a:rPr lang="en-US" dirty="0"/>
              <a:t>frequency and amplitude, such as the spectrum analysis </a:t>
            </a:r>
            <a:r>
              <a:rPr lang="en-US" dirty="0" smtClean="0"/>
              <a:t>of noise</a:t>
            </a:r>
            <a:r>
              <a:rPr lang="en-US" dirty="0"/>
              <a:t>.</a:t>
            </a:r>
          </a:p>
          <a:p>
            <a:r>
              <a:rPr lang="en-US" dirty="0" smtClean="0"/>
              <a:t>It </a:t>
            </a:r>
            <a:r>
              <a:rPr lang="en-US" dirty="0"/>
              <a:t>can be used for recording voice signals.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 xmlns:p14="http://schemas.microsoft.com/office/powerpoint/2010/main" val="79947524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Demerits of Direct Recording</a:t>
            </a:r>
            <a:endParaRPr lang="en-US" dirty="0"/>
          </a:p>
        </p:txBody>
      </p:sp>
      <p:sp>
        <p:nvSpPr>
          <p:cNvPr id="3" name="Content Placeholder 2"/>
          <p:cNvSpPr>
            <a:spLocks noGrp="1"/>
          </p:cNvSpPr>
          <p:nvPr>
            <p:ph idx="1"/>
          </p:nvPr>
        </p:nvSpPr>
        <p:spPr/>
        <p:txBody>
          <a:bodyPr/>
          <a:lstStyle/>
          <a:p>
            <a:r>
              <a:rPr lang="en-US" dirty="0"/>
              <a:t>The direct recording process is </a:t>
            </a:r>
            <a:r>
              <a:rPr lang="en-US" dirty="0" err="1"/>
              <a:t>characterised</a:t>
            </a:r>
            <a:r>
              <a:rPr lang="en-US" dirty="0"/>
              <a:t> by some </a:t>
            </a:r>
            <a:r>
              <a:rPr lang="en-US" dirty="0" smtClean="0"/>
              <a:t>amplitude instability </a:t>
            </a:r>
            <a:r>
              <a:rPr lang="en-US" dirty="0"/>
              <a:t>caused by random surface </a:t>
            </a:r>
            <a:r>
              <a:rPr lang="en-US" dirty="0" err="1" smtClean="0"/>
              <a:t>inhomogeneities</a:t>
            </a:r>
            <a:r>
              <a:rPr lang="en-US" dirty="0" smtClean="0"/>
              <a:t> </a:t>
            </a:r>
            <a:r>
              <a:rPr lang="en-US" dirty="0"/>
              <a:t>coating. Some portion may not be perfectly recorded owing to dirt </a:t>
            </a:r>
            <a:r>
              <a:rPr lang="en-US" dirty="0" smtClean="0"/>
              <a:t>or poor </a:t>
            </a:r>
            <a:r>
              <a:rPr lang="en-US" dirty="0"/>
              <a:t>manufacture.</a:t>
            </a:r>
          </a:p>
          <a:p>
            <a:r>
              <a:rPr lang="en-US" dirty="0" smtClean="0"/>
              <a:t>This </a:t>
            </a:r>
            <a:r>
              <a:rPr lang="en-US" dirty="0"/>
              <a:t>recorder is only used when maximum bandwidth is </a:t>
            </a:r>
            <a:r>
              <a:rPr lang="en-US" dirty="0" smtClean="0"/>
              <a:t>required.</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 xmlns:p14="http://schemas.microsoft.com/office/powerpoint/2010/main" val="250522867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85000" lnSpcReduction="10000"/>
          </a:bodyPr>
          <a:lstStyle/>
          <a:p>
            <a:pPr algn="just" fontAlgn="base">
              <a:buNone/>
            </a:pPr>
            <a:r>
              <a:rPr lang="en-US" b="1" u="sng" dirty="0" smtClean="0">
                <a:latin typeface="Times New Roman" pitchFamily="18" charset="0"/>
                <a:cs typeface="Times New Roman" pitchFamily="18" charset="0"/>
              </a:rPr>
              <a:t>Null Type Recorder:</a:t>
            </a:r>
          </a:p>
          <a:p>
            <a:pPr algn="just" fontAlgn="base"/>
            <a:r>
              <a:rPr lang="en-US" dirty="0" smtClean="0">
                <a:latin typeface="Times New Roman" pitchFamily="18" charset="0"/>
                <a:cs typeface="Times New Roman" pitchFamily="18" charset="0"/>
              </a:rPr>
              <a:t>These Null Type Recorder Working Principle of self-balancing or null conditions. When an input is given to the measuring circuit of the recorder from a sensor or transducer, it upsets the balance of the measuring circuit, producing an error voltage which operates some other device, which in turn restores the balance or brings the system to null conditions.</a:t>
            </a:r>
          </a:p>
          <a:p>
            <a:pPr algn="just" fontAlgn="base"/>
            <a:r>
              <a:rPr lang="en-US" dirty="0" smtClean="0">
                <a:latin typeface="Times New Roman" pitchFamily="18" charset="0"/>
                <a:cs typeface="Times New Roman" pitchFamily="18" charset="0"/>
              </a:rPr>
              <a:t>The magnitude of the error signal indicates the amount of movement of this balance restoring device and the direction of the movement indicates the direction of the quantity being measured.</a:t>
            </a:r>
          </a:p>
          <a:p>
            <a:pPr algn="just" fontAlgn="base"/>
            <a:r>
              <a:rPr lang="en-US" dirty="0" smtClean="0">
                <a:latin typeface="Times New Roman" pitchFamily="18" charset="0"/>
                <a:cs typeface="Times New Roman" pitchFamily="18" charset="0"/>
              </a:rPr>
              <a:t>The different types of Null Type Recorder are as follows:</a:t>
            </a:r>
          </a:p>
          <a:p>
            <a:pPr algn="just" fontAlgn="base">
              <a:buNone/>
            </a:pPr>
            <a:r>
              <a:rPr lang="en-US" dirty="0" smtClean="0">
                <a:latin typeface="Times New Roman" pitchFamily="18" charset="0"/>
                <a:cs typeface="Times New Roman" pitchFamily="18" charset="0"/>
              </a:rPr>
              <a:t>1.  </a:t>
            </a:r>
            <a:r>
              <a:rPr lang="en-US" dirty="0" err="1" smtClean="0">
                <a:latin typeface="Times New Roman" pitchFamily="18" charset="0"/>
                <a:cs typeface="Times New Roman" pitchFamily="18" charset="0"/>
              </a:rPr>
              <a:t>Potentiometric</a:t>
            </a:r>
            <a:r>
              <a:rPr lang="en-US" dirty="0" smtClean="0">
                <a:latin typeface="Times New Roman" pitchFamily="18" charset="0"/>
                <a:cs typeface="Times New Roman" pitchFamily="18" charset="0"/>
              </a:rPr>
              <a:t> recorders</a:t>
            </a:r>
          </a:p>
          <a:p>
            <a:pPr algn="just" fontAlgn="base">
              <a:buNone/>
            </a:pPr>
            <a:r>
              <a:rPr lang="en-US" dirty="0" smtClean="0">
                <a:latin typeface="Times New Roman" pitchFamily="18" charset="0"/>
                <a:cs typeface="Times New Roman" pitchFamily="18" charset="0"/>
              </a:rPr>
              <a:t>2.  Bridge recorders</a:t>
            </a:r>
          </a:p>
          <a:p>
            <a:pPr algn="just" fontAlgn="base">
              <a:buNone/>
            </a:pPr>
            <a:r>
              <a:rPr lang="en-US" dirty="0" smtClean="0">
                <a:latin typeface="Times New Roman" pitchFamily="18" charset="0"/>
                <a:cs typeface="Times New Roman" pitchFamily="18" charset="0"/>
              </a:rPr>
              <a:t>3.  LVDT recorders (Linear Variable Differential Transformer)</a:t>
            </a:r>
          </a:p>
          <a:p>
            <a:pPr algn="just">
              <a:buNone/>
            </a:pP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65</a:t>
            </a:fld>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85000" lnSpcReduction="10000"/>
          </a:bodyPr>
          <a:lstStyle/>
          <a:p>
            <a:pPr algn="just" fontAlgn="base">
              <a:buNone/>
            </a:pPr>
            <a:r>
              <a:rPr lang="en-US" b="1" dirty="0" smtClean="0">
                <a:latin typeface="Times New Roman" pitchFamily="18" charset="0"/>
                <a:cs typeface="Times New Roman" pitchFamily="18" charset="0"/>
              </a:rPr>
              <a:t>1</a:t>
            </a:r>
            <a:r>
              <a:rPr lang="en-US" b="1" u="sng" dirty="0" smtClean="0">
                <a:latin typeface="Times New Roman" pitchFamily="18" charset="0"/>
                <a:cs typeface="Times New Roman" pitchFamily="18" charset="0"/>
              </a:rPr>
              <a:t>. </a:t>
            </a:r>
            <a:r>
              <a:rPr lang="en-US" b="1" u="sng" dirty="0" err="1" smtClean="0">
                <a:latin typeface="Times New Roman" pitchFamily="18" charset="0"/>
                <a:cs typeface="Times New Roman" pitchFamily="18" charset="0"/>
              </a:rPr>
              <a:t>Potentiometric</a:t>
            </a:r>
            <a:r>
              <a:rPr lang="en-US" b="1" u="sng" dirty="0" smtClean="0">
                <a:latin typeface="Times New Roman" pitchFamily="18" charset="0"/>
                <a:cs typeface="Times New Roman" pitchFamily="18" charset="0"/>
              </a:rPr>
              <a:t> Recorders:</a:t>
            </a:r>
          </a:p>
          <a:p>
            <a:pPr algn="just" fontAlgn="base"/>
            <a:r>
              <a:rPr lang="en-US" dirty="0" smtClean="0">
                <a:latin typeface="Times New Roman" pitchFamily="18" charset="0"/>
                <a:cs typeface="Times New Roman" pitchFamily="18" charset="0"/>
              </a:rPr>
              <a:t>The basic disadvantage of a galvanometer type recorder is that is has a low input impedance and a limited sensitivity. This disadvantage can be overcome by using an amplifier between the input terminals and the display or indicating instruments. </a:t>
            </a:r>
          </a:p>
          <a:p>
            <a:pPr algn="just" fontAlgn="base"/>
            <a:r>
              <a:rPr lang="en-US" dirty="0" smtClean="0">
                <a:latin typeface="Times New Roman" pitchFamily="18" charset="0"/>
                <a:cs typeface="Times New Roman" pitchFamily="18" charset="0"/>
              </a:rPr>
              <a:t>This amplifier provides a high input impedance and improved sensitivity at the cost of low accuracy. To improve the accuracy of the instrument, the input signal is compared with a reference voltage using a potentiometer circuit.</a:t>
            </a:r>
          </a:p>
          <a:p>
            <a:pPr algn="just" fontAlgn="base"/>
            <a:r>
              <a:rPr lang="en-US" dirty="0" smtClean="0">
                <a:latin typeface="Times New Roman" pitchFamily="18" charset="0"/>
                <a:cs typeface="Times New Roman" pitchFamily="18" charset="0"/>
              </a:rPr>
              <a:t>The self-balancing feature is obtained with a servo motor, a motor whose speed and direction of rotation follows the output of an amplifier. In a dc system, this is simply a reversible motor, such as the type that uses a permanent magnet for its field. In the ac system, it takes the form of a two-phase motor.</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66</a:t>
            </a:fld>
            <a:endParaRPr 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lstStyle/>
          <a:p>
            <a:r>
              <a:rPr lang="en-US" dirty="0" smtClean="0"/>
              <a:t>Figure 12.3 is a basic circuit of a </a:t>
            </a:r>
            <a:r>
              <a:rPr lang="en-US" dirty="0" err="1" smtClean="0"/>
              <a:t>potentiometric</a:t>
            </a:r>
            <a:r>
              <a:rPr lang="en-US" dirty="0" smtClean="0"/>
              <a:t> or self-balancing recorder.</a:t>
            </a:r>
            <a:endParaRPr lang="en-US" dirty="0"/>
          </a:p>
        </p:txBody>
      </p:sp>
      <p:pic>
        <p:nvPicPr>
          <p:cNvPr id="39938" name="Picture 2" descr="https://www.eeeguide.com/wp-content/uploads/2017/07/Basic-Circuit-of-a-Self-Balancing-or-Potentiometric-Recorder-001.jpg"/>
          <p:cNvPicPr>
            <a:picLocks noChangeAspect="1" noChangeArrowheads="1"/>
          </p:cNvPicPr>
          <p:nvPr/>
        </p:nvPicPr>
        <p:blipFill>
          <a:blip r:embed="rId2"/>
          <a:srcRect/>
          <a:stretch>
            <a:fillRect/>
          </a:stretch>
        </p:blipFill>
        <p:spPr bwMode="auto">
          <a:xfrm>
            <a:off x="609600" y="1600200"/>
            <a:ext cx="7924800" cy="4267200"/>
          </a:xfrm>
          <a:prstGeom prst="rect">
            <a:avLst/>
          </a:prstGeom>
          <a:noFill/>
        </p:spPr>
      </p:pic>
      <p:sp>
        <p:nvSpPr>
          <p:cNvPr id="4" name="Slide Number Placeholder 3"/>
          <p:cNvSpPr>
            <a:spLocks noGrp="1"/>
          </p:cNvSpPr>
          <p:nvPr>
            <p:ph type="sldNum" sz="quarter" idx="12"/>
          </p:nvPr>
        </p:nvSpPr>
        <p:spPr/>
        <p:txBody>
          <a:bodyPr/>
          <a:lstStyle/>
          <a:p>
            <a:fld id="{B6F15528-21DE-4FAA-801E-634DDDAF4B2B}" type="slidenum">
              <a:rPr lang="en-US" smtClean="0"/>
              <a:pPr/>
              <a:t>67</a:t>
            </a:fld>
            <a:endParaRPr lang="en-US"/>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70000" lnSpcReduction="20000"/>
          </a:bodyPr>
          <a:lstStyle/>
          <a:p>
            <a:pPr algn="just" fontAlgn="base"/>
            <a:r>
              <a:rPr lang="en-US" dirty="0" smtClean="0">
                <a:latin typeface="Times New Roman" pitchFamily="18" charset="0"/>
                <a:cs typeface="Times New Roman" pitchFamily="18" charset="0"/>
              </a:rPr>
              <a:t>The difference between the input signal and the potentiometer voltage is the error signal. This error signal is amplified and is used to energize the field coil of a dc motor. </a:t>
            </a:r>
          </a:p>
          <a:p>
            <a:pPr algn="just" fontAlgn="base"/>
            <a:r>
              <a:rPr lang="en-US" dirty="0" smtClean="0">
                <a:latin typeface="Times New Roman" pitchFamily="18" charset="0"/>
                <a:cs typeface="Times New Roman" pitchFamily="18" charset="0"/>
              </a:rPr>
              <a:t>In this circuit, instead of obtaining a balance between two opposing voltages by rotating the arm of the </a:t>
            </a:r>
            <a:r>
              <a:rPr lang="en-US" dirty="0" smtClean="0">
                <a:latin typeface="Times New Roman" pitchFamily="18" charset="0"/>
                <a:cs typeface="Times New Roman" pitchFamily="18" charset="0"/>
                <a:hlinkClick r:id="rId2"/>
              </a:rPr>
              <a:t>voltage divider</a:t>
            </a:r>
            <a:r>
              <a:rPr lang="en-US" dirty="0" smtClean="0">
                <a:latin typeface="Times New Roman" pitchFamily="18" charset="0"/>
                <a:cs typeface="Times New Roman" pitchFamily="18" charset="0"/>
              </a:rPr>
              <a:t>, an error current is allowed to flow, either clockwise or counter clockwise, depending on which voltage is higher. </a:t>
            </a:r>
          </a:p>
          <a:p>
            <a:pPr algn="just" fontAlgn="base"/>
            <a:r>
              <a:rPr lang="en-US" dirty="0" smtClean="0">
                <a:latin typeface="Times New Roman" pitchFamily="18" charset="0"/>
                <a:cs typeface="Times New Roman" pitchFamily="18" charset="0"/>
              </a:rPr>
              <a:t>This error serves as the input to the electronic detector, and the amplified error is then fed to the balancing motor. This motor is so connected that it turns in a direction that rotates the voltage divider arm (geared) to it in the direction that reduces the error. As the error becomes smaller, the motor slows down and finally stops at the point where the error is zero, thus producing the null balance.</a:t>
            </a:r>
          </a:p>
          <a:p>
            <a:pPr algn="just" fontAlgn="base"/>
            <a:r>
              <a:rPr lang="en-US" dirty="0" smtClean="0">
                <a:latin typeface="Times New Roman" pitchFamily="18" charset="0"/>
                <a:cs typeface="Times New Roman" pitchFamily="18" charset="0"/>
              </a:rPr>
              <a:t>This is achieved by mechanically connecting the wiper/variable arm to the armature of the dc motor. The pen is also mechanically connected to the wiper. </a:t>
            </a:r>
          </a:p>
          <a:p>
            <a:pPr algn="just" fontAlgn="base"/>
            <a:r>
              <a:rPr lang="en-US" dirty="0" smtClean="0">
                <a:latin typeface="Times New Roman" pitchFamily="18" charset="0"/>
                <a:cs typeface="Times New Roman" pitchFamily="18" charset="0"/>
              </a:rPr>
              <a:t>Hence as the wiper moves in a particular direction, the pen also moves in synchronism in the same direction, thereby recording the input waveform. The wiper comes to rest when the unknown signal voltage is balanced against the voltage of the potentiometer. This technique results in graphical recorders having a very high input </a:t>
            </a:r>
            <a:r>
              <a:rPr lang="en-US" dirty="0" smtClean="0">
                <a:latin typeface="Times New Roman" pitchFamily="18" charset="0"/>
                <a:cs typeface="Times New Roman" pitchFamily="18" charset="0"/>
                <a:hlinkClick r:id="rId3"/>
              </a:rPr>
              <a:t>impedance</a:t>
            </a:r>
            <a:r>
              <a:rPr lang="en-US" dirty="0" smtClean="0">
                <a:latin typeface="Times New Roman" pitchFamily="18" charset="0"/>
                <a:cs typeface="Times New Roman" pitchFamily="18" charset="0"/>
              </a:rPr>
              <a:t>.</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68</a:t>
            </a:fld>
            <a:endParaRPr 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7.GIF"/>
          <p:cNvPicPr>
            <a:picLocks noGrp="1" noChangeAspect="1"/>
          </p:cNvPicPr>
          <p:nvPr>
            <p:ph idx="1"/>
          </p:nvPr>
        </p:nvPicPr>
        <p:blipFill>
          <a:blip r:embed="rId2"/>
          <a:stretch>
            <a:fillRect/>
          </a:stretch>
        </p:blipFill>
        <p:spPr>
          <a:xfrm>
            <a:off x="0" y="0"/>
            <a:ext cx="9144000" cy="6858000"/>
          </a:xfrm>
        </p:spPr>
      </p:pic>
      <p:sp>
        <p:nvSpPr>
          <p:cNvPr id="5" name="Slide Number Placeholder 4"/>
          <p:cNvSpPr>
            <a:spLocks noGrp="1"/>
          </p:cNvSpPr>
          <p:nvPr>
            <p:ph type="sldNum" sz="quarter" idx="12"/>
          </p:nvPr>
        </p:nvSpPr>
        <p:spPr/>
        <p:txBody>
          <a:bodyPr/>
          <a:lstStyle/>
          <a:p>
            <a:fld id="{B6F15528-21DE-4FAA-801E-634DDDAF4B2B}" type="slidenum">
              <a:rPr lang="en-US" smtClean="0"/>
              <a:pPr/>
              <a:t>69</a:t>
            </a:fld>
            <a:endParaRPr lang="en-US"/>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8.GIF"/>
          <p:cNvPicPr>
            <a:picLocks noGrp="1" noChangeAspect="1"/>
          </p:cNvPicPr>
          <p:nvPr>
            <p:ph idx="1"/>
          </p:nvPr>
        </p:nvPicPr>
        <p:blipFill>
          <a:blip r:embed="rId2"/>
          <a:stretch>
            <a:fillRect/>
          </a:stretch>
        </p:blipFill>
        <p:spPr>
          <a:xfrm>
            <a:off x="0" y="0"/>
            <a:ext cx="9144000" cy="6857999"/>
          </a:xfrm>
        </p:spPr>
      </p:pic>
      <p:sp>
        <p:nvSpPr>
          <p:cNvPr id="5" name="Slide Number Placeholder 4"/>
          <p:cNvSpPr>
            <a:spLocks noGrp="1"/>
          </p:cNvSpPr>
          <p:nvPr>
            <p:ph type="sldNum" sz="quarter" idx="12"/>
          </p:nvPr>
        </p:nvSpPr>
        <p:spPr/>
        <p:txBody>
          <a:bodyPr/>
          <a:lstStyle/>
          <a:p>
            <a:fld id="{B6F15528-21DE-4FAA-801E-634DDDAF4B2B}" type="slidenum">
              <a:rPr lang="en-US" smtClean="0"/>
              <a:pPr/>
              <a:t>70</a:t>
            </a:fld>
            <a:endParaRPr lang="en-U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9.GIF"/>
          <p:cNvPicPr>
            <a:picLocks noGrp="1" noChangeAspect="1"/>
          </p:cNvPicPr>
          <p:nvPr>
            <p:ph idx="1"/>
          </p:nvPr>
        </p:nvPicPr>
        <p:blipFill>
          <a:blip r:embed="rId2"/>
          <a:stretch>
            <a:fillRect/>
          </a:stretch>
        </p:blipFill>
        <p:spPr>
          <a:xfrm>
            <a:off x="304800" y="0"/>
            <a:ext cx="8534400" cy="6857999"/>
          </a:xfrm>
        </p:spPr>
      </p:pic>
      <p:sp>
        <p:nvSpPr>
          <p:cNvPr id="5" name="Slide Number Placeholder 4"/>
          <p:cNvSpPr>
            <a:spLocks noGrp="1"/>
          </p:cNvSpPr>
          <p:nvPr>
            <p:ph type="sldNum" sz="quarter" idx="12"/>
          </p:nvPr>
        </p:nvSpPr>
        <p:spPr/>
        <p:txBody>
          <a:bodyPr/>
          <a:lstStyle/>
          <a:p>
            <a:fld id="{B6F15528-21DE-4FAA-801E-634DDDAF4B2B}" type="slidenum">
              <a:rPr lang="en-US" smtClean="0"/>
              <a:pPr/>
              <a:t>71</a:t>
            </a:fld>
            <a:endParaRPr lang="en-US"/>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77500" lnSpcReduction="20000"/>
          </a:bodyPr>
          <a:lstStyle/>
          <a:p>
            <a:pPr algn="just" fontAlgn="base"/>
            <a:r>
              <a:rPr lang="en-US" dirty="0" smtClean="0">
                <a:latin typeface="Times New Roman" pitchFamily="18" charset="0"/>
                <a:cs typeface="Times New Roman" pitchFamily="18" charset="0"/>
              </a:rPr>
              <a:t>In a galvanometer type recorder, the pointer of the </a:t>
            </a:r>
            <a:r>
              <a:rPr lang="en-US" dirty="0" err="1" smtClean="0">
                <a:latin typeface="Times New Roman" pitchFamily="18" charset="0"/>
                <a:cs typeface="Times New Roman" pitchFamily="18" charset="0"/>
              </a:rPr>
              <a:t>D’Arsonval</a:t>
            </a:r>
            <a:r>
              <a:rPr lang="en-US" dirty="0" smtClean="0">
                <a:latin typeface="Times New Roman" pitchFamily="18" charset="0"/>
                <a:cs typeface="Times New Roman" pitchFamily="18" charset="0"/>
              </a:rPr>
              <a:t> movement is fitted with a pen-ink (stylus) mechanism.</a:t>
            </a:r>
          </a:p>
          <a:p>
            <a:pPr algn="just" fontAlgn="base"/>
            <a:r>
              <a:rPr lang="en-US" dirty="0" smtClean="0">
                <a:latin typeface="Times New Roman" pitchFamily="18" charset="0"/>
                <a:cs typeface="Times New Roman" pitchFamily="18" charset="0"/>
              </a:rPr>
              <a:t>The pointer deflects when current flows through the moving coil. The deflection of the pointer is directly proportional to the magnitude of the </a:t>
            </a:r>
            <a:r>
              <a:rPr lang="en-US" dirty="0" smtClean="0">
                <a:latin typeface="Times New Roman" pitchFamily="18" charset="0"/>
                <a:cs typeface="Times New Roman" pitchFamily="18" charset="0"/>
                <a:hlinkClick r:id="rId2"/>
              </a:rPr>
              <a:t>current</a:t>
            </a:r>
            <a:r>
              <a:rPr lang="en-US" dirty="0" smtClean="0">
                <a:latin typeface="Times New Roman" pitchFamily="18" charset="0"/>
                <a:cs typeface="Times New Roman" pitchFamily="18" charset="0"/>
              </a:rPr>
              <a:t> flowing through the coil.</a:t>
            </a:r>
          </a:p>
          <a:p>
            <a:pPr algn="just" fontAlgn="base"/>
            <a:r>
              <a:rPr lang="en-US" dirty="0" smtClean="0">
                <a:latin typeface="Times New Roman" pitchFamily="18" charset="0"/>
                <a:cs typeface="Times New Roman" pitchFamily="18" charset="0"/>
              </a:rPr>
              <a:t>As the signal current flows through the coil, the magnetic field of the coil varies in intensity in accordance with the signal. The reaction of this field with the field of the permanent magnet causes the coil to change its angular position. As the position of the coil follows the variation of the signal current being recorded, the pen is accordingly deflected across the paper chart.</a:t>
            </a:r>
          </a:p>
          <a:p>
            <a:pPr algn="just" fontAlgn="base"/>
            <a:r>
              <a:rPr lang="en-US" dirty="0" smtClean="0">
                <a:latin typeface="Times New Roman" pitchFamily="18" charset="0"/>
                <a:cs typeface="Times New Roman" pitchFamily="18" charset="0"/>
              </a:rPr>
              <a:t>The paper is pulled from a supply roll by a </a:t>
            </a:r>
            <a:r>
              <a:rPr lang="en-US" dirty="0" smtClean="0">
                <a:latin typeface="Times New Roman" pitchFamily="18" charset="0"/>
                <a:cs typeface="Times New Roman" pitchFamily="18" charset="0"/>
                <a:hlinkClick r:id="rId3"/>
              </a:rPr>
              <a:t>motor</a:t>
            </a:r>
            <a:r>
              <a:rPr lang="en-US" dirty="0" smtClean="0">
                <a:latin typeface="Times New Roman" pitchFamily="18" charset="0"/>
                <a:cs typeface="Times New Roman" pitchFamily="18" charset="0"/>
              </a:rPr>
              <a:t> driven transport mechanism. Thus, as the paper moves past the pen and as the pen is deflected, the signal waveform is traced on the paper.</a:t>
            </a:r>
          </a:p>
          <a:p>
            <a:pPr algn="just" fontAlgn="base"/>
            <a:r>
              <a:rPr lang="en-US" dirty="0" smtClean="0">
                <a:latin typeface="Times New Roman" pitchFamily="18" charset="0"/>
                <a:cs typeface="Times New Roman" pitchFamily="18" charset="0"/>
              </a:rPr>
              <a:t>The recording pen is connected to an ink reservoir through a narrow bore tube. </a:t>
            </a:r>
            <a:r>
              <a:rPr lang="en-US" dirty="0" smtClean="0">
                <a:latin typeface="Times New Roman" pitchFamily="18" charset="0"/>
                <a:cs typeface="Times New Roman" pitchFamily="18" charset="0"/>
                <a:hlinkClick r:id="rId4"/>
              </a:rPr>
              <a:t>Gravity</a:t>
            </a:r>
            <a:r>
              <a:rPr lang="en-US" dirty="0" smtClean="0">
                <a:latin typeface="Times New Roman" pitchFamily="18" charset="0"/>
                <a:cs typeface="Times New Roman" pitchFamily="18" charset="0"/>
              </a:rPr>
              <a:t> and capillary action establish a flow of ink from the reservoir through the tubing and into the hollow of the pen.</a:t>
            </a:r>
          </a:p>
          <a:p>
            <a:pPr algn="just">
              <a:buNone/>
            </a:pP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72</a:t>
            </a:fld>
            <a:endParaRPr lang="en-US"/>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70000" lnSpcReduction="20000"/>
          </a:bodyPr>
          <a:lstStyle/>
          <a:p>
            <a:pPr algn="just">
              <a:buNone/>
            </a:pPr>
            <a:r>
              <a:rPr lang="en-US" b="1" u="sng" dirty="0" smtClean="0">
                <a:latin typeface="Times New Roman" pitchFamily="18" charset="0"/>
                <a:cs typeface="Times New Roman" pitchFamily="18" charset="0"/>
              </a:rPr>
              <a:t>Data Loggers</a:t>
            </a:r>
          </a:p>
          <a:p>
            <a:pPr algn="just">
              <a:buNone/>
            </a:pPr>
            <a:r>
              <a:rPr lang="en-US" b="1" dirty="0" smtClean="0">
                <a:latin typeface="Times New Roman" pitchFamily="18" charset="0"/>
                <a:cs typeface="Times New Roman" pitchFamily="18" charset="0"/>
              </a:rPr>
              <a:t>What is a Data Logger and How Does it Work?</a:t>
            </a:r>
          </a:p>
          <a:p>
            <a:pPr algn="just"/>
            <a:r>
              <a:rPr lang="en-US" dirty="0" smtClean="0">
                <a:latin typeface="Times New Roman" pitchFamily="18" charset="0"/>
                <a:cs typeface="Times New Roman" pitchFamily="18" charset="0"/>
              </a:rPr>
              <a:t>A data logger is an instrument that monitors and records changes in conditions over time. They can be single, stand-alone units or consist of multiple channels. Most stand-alone units are battery-powered, allowing them to record while in transit and for extended periods of time.</a:t>
            </a:r>
          </a:p>
          <a:p>
            <a:pPr algn="just">
              <a:buNone/>
            </a:pPr>
            <a:r>
              <a:rPr lang="en-US" b="1" dirty="0" smtClean="0">
                <a:latin typeface="Times New Roman" pitchFamily="18" charset="0"/>
                <a:cs typeface="Times New Roman" pitchFamily="18" charset="0"/>
              </a:rPr>
              <a:t>How does a data logger work?</a:t>
            </a:r>
          </a:p>
          <a:p>
            <a:pPr algn="just"/>
            <a:r>
              <a:rPr lang="en-US" dirty="0" smtClean="0">
                <a:latin typeface="Times New Roman" pitchFamily="18" charset="0"/>
                <a:cs typeface="Times New Roman" pitchFamily="18" charset="0"/>
              </a:rPr>
              <a:t>Data loggers use a microprocessor, an internal memory for data storage, and a sensor to collect data. They are generally small and battery powered devices. Data loggers can either interface with a computer and use software to view and analyze the collected data or be used as a stand-alone device with a local interface. There are also </a:t>
            </a:r>
            <a:r>
              <a:rPr lang="en-US" dirty="0" smtClean="0">
                <a:latin typeface="Times New Roman" pitchFamily="18" charset="0"/>
                <a:cs typeface="Times New Roman" pitchFamily="18" charset="0"/>
                <a:hlinkClick r:id="rId2"/>
              </a:rPr>
              <a:t>wireless data loggers</a:t>
            </a:r>
            <a:r>
              <a:rPr lang="en-US" dirty="0" smtClean="0">
                <a:latin typeface="Times New Roman" pitchFamily="18" charset="0"/>
                <a:cs typeface="Times New Roman" pitchFamily="18" charset="0"/>
              </a:rPr>
              <a:t> available.</a:t>
            </a:r>
            <a:br>
              <a:rPr lang="en-US" dirty="0" smtClean="0">
                <a:latin typeface="Times New Roman" pitchFamily="18" charset="0"/>
                <a:cs typeface="Times New Roman" pitchFamily="18" charset="0"/>
              </a:rPr>
            </a:b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advantage of data loggers is that they can operate independently of a computer, unlike many other types of data acquisition devices. Data loggers are available in various shapes and sizes. The range includes simple economical single channel fixed function loggers to more powerful programmable devices capable of handling hundreds of inputs.</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73</a:t>
            </a:fld>
            <a:endParaRPr lang="en-US"/>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62500" lnSpcReduction="20000"/>
          </a:bodyPr>
          <a:lstStyle/>
          <a:p>
            <a:pPr algn="just">
              <a:buNone/>
            </a:pPr>
            <a:r>
              <a:rPr lang="en-US" b="1" u="sng" dirty="0" smtClean="0">
                <a:latin typeface="Times New Roman" pitchFamily="18" charset="0"/>
                <a:cs typeface="Times New Roman" pitchFamily="18" charset="0"/>
              </a:rPr>
              <a:t>Data logger applications</a:t>
            </a:r>
          </a:p>
          <a:p>
            <a:pPr algn="just">
              <a:buNone/>
            </a:pPr>
            <a:r>
              <a:rPr lang="en-US" dirty="0" smtClean="0">
                <a:latin typeface="Times New Roman" pitchFamily="18" charset="0"/>
                <a:cs typeface="Times New Roman" pitchFamily="18" charset="0"/>
              </a:rPr>
              <a:t>Data loggers can monitor temperature, humidity, carbon dioxide, pH, pressure, voltage, current, and pulse – making them useful for a number of applications, including to:</a:t>
            </a:r>
          </a:p>
          <a:p>
            <a:pPr algn="just"/>
            <a:r>
              <a:rPr lang="en-US" dirty="0" smtClean="0">
                <a:latin typeface="Times New Roman" pitchFamily="18" charset="0"/>
                <a:cs typeface="Times New Roman" pitchFamily="18" charset="0"/>
              </a:rPr>
              <a:t>Verify temperature and humidity levels of storage and transportation facilities.</a:t>
            </a:r>
          </a:p>
          <a:p>
            <a:pPr algn="just"/>
            <a:r>
              <a:rPr lang="en-US" dirty="0" smtClean="0">
                <a:latin typeface="Times New Roman" pitchFamily="18" charset="0"/>
                <a:cs typeface="Times New Roman" pitchFamily="18" charset="0"/>
              </a:rPr>
              <a:t>Provide building maintenance information on heating, ventilation, and air conditioning operations to assist with energy </a:t>
            </a:r>
            <a:r>
              <a:rPr lang="en-US" dirty="0" err="1" smtClean="0">
                <a:latin typeface="Times New Roman" pitchFamily="18" charset="0"/>
                <a:cs typeface="Times New Roman" pitchFamily="18" charset="0"/>
              </a:rPr>
              <a:t>conversavtion</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Monitor growing conditions in the agricultural industry.</a:t>
            </a:r>
          </a:p>
          <a:p>
            <a:pPr algn="just"/>
            <a:r>
              <a:rPr lang="en-US" dirty="0" smtClean="0">
                <a:latin typeface="Times New Roman" pitchFamily="18" charset="0"/>
                <a:cs typeface="Times New Roman" pitchFamily="18" charset="0"/>
              </a:rPr>
              <a:t>Monitor vaccine storage in a medical facility.</a:t>
            </a:r>
          </a:p>
          <a:p>
            <a:pPr algn="just"/>
            <a:r>
              <a:rPr lang="en-US" dirty="0" smtClean="0">
                <a:latin typeface="Times New Roman" pitchFamily="18" charset="0"/>
                <a:cs typeface="Times New Roman" pitchFamily="18" charset="0"/>
              </a:rPr>
              <a:t>Monitor the temperature of food.</a:t>
            </a:r>
          </a:p>
          <a:p>
            <a:pPr algn="just">
              <a:buNone/>
            </a:pPr>
            <a:r>
              <a:rPr lang="en-US" b="1" dirty="0" smtClean="0">
                <a:latin typeface="Times New Roman" pitchFamily="18" charset="0"/>
                <a:cs typeface="Times New Roman" pitchFamily="18" charset="0"/>
              </a:rPr>
              <a:t>How long can data loggers record?</a:t>
            </a:r>
          </a:p>
          <a:p>
            <a:pPr algn="just"/>
            <a:r>
              <a:rPr lang="en-US" dirty="0" smtClean="0">
                <a:latin typeface="Times New Roman" pitchFamily="18" charset="0"/>
                <a:cs typeface="Times New Roman" pitchFamily="18" charset="0"/>
              </a:rPr>
              <a:t>The recording duration depends on the memory capacity of the data logger and the desired sample rate. To determine the duration, divide the memory capacity (number of samples the device can record) by the sample rate. As an example, assume that a given data logger can store 10,000 samples. If you want to record two samples every minute, the data logger can run for 10,000/2 or 5,000 minutes (about 3.5 days).</a:t>
            </a:r>
          </a:p>
          <a:p>
            <a:pPr algn="just">
              <a:buNone/>
            </a:pPr>
            <a:r>
              <a:rPr lang="en-US" b="1" dirty="0" smtClean="0">
                <a:latin typeface="Times New Roman" pitchFamily="18" charset="0"/>
                <a:cs typeface="Times New Roman" pitchFamily="18" charset="0"/>
              </a:rPr>
              <a:t>How to retrieve data off your data logger ?</a:t>
            </a:r>
          </a:p>
          <a:p>
            <a:pPr algn="just"/>
            <a:r>
              <a:rPr lang="en-US" dirty="0" smtClean="0">
                <a:latin typeface="Times New Roman" pitchFamily="18" charset="0"/>
                <a:cs typeface="Times New Roman" pitchFamily="18" charset="0"/>
              </a:rPr>
              <a:t>Depending on the type of data logger, you can either access the data directly within the data logger and even print it out, connect the data logger to a computer to extract the data, or data can be wirelessly transmitted in real-time to any connected device.</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74</a:t>
            </a:fld>
            <a:endParaRPr lang="en-US"/>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3.GIF"/>
          <p:cNvPicPr>
            <a:picLocks noGrp="1" noChangeAspect="1"/>
          </p:cNvPicPr>
          <p:nvPr>
            <p:ph idx="1"/>
          </p:nvPr>
        </p:nvPicPr>
        <p:blipFill>
          <a:blip r:embed="rId2"/>
          <a:stretch>
            <a:fillRect/>
          </a:stretch>
        </p:blipFill>
        <p:spPr>
          <a:xfrm>
            <a:off x="0" y="0"/>
            <a:ext cx="9144000" cy="6248400"/>
          </a:xfrm>
        </p:spPr>
      </p:pic>
      <p:sp>
        <p:nvSpPr>
          <p:cNvPr id="4" name="Slide Number Placeholder 3"/>
          <p:cNvSpPr>
            <a:spLocks noGrp="1"/>
          </p:cNvSpPr>
          <p:nvPr>
            <p:ph type="sldNum" sz="quarter" idx="12"/>
          </p:nvPr>
        </p:nvSpPr>
        <p:spPr/>
        <p:txBody>
          <a:bodyPr/>
          <a:lstStyle/>
          <a:p>
            <a:fld id="{B6F15528-21DE-4FAA-801E-634DDDAF4B2B}" type="slidenum">
              <a:rPr lang="en-US" smtClean="0"/>
              <a:pPr/>
              <a:t>75</a:t>
            </a:fld>
            <a:endParaRPr lang="en-US"/>
          </a:p>
        </p:txBody>
      </p:sp>
      <p:sp>
        <p:nvSpPr>
          <p:cNvPr id="7" name="TextBox 6"/>
          <p:cNvSpPr txBox="1"/>
          <p:nvPr/>
        </p:nvSpPr>
        <p:spPr>
          <a:xfrm>
            <a:off x="1828800" y="6027003"/>
            <a:ext cx="3962400" cy="830997"/>
          </a:xfrm>
          <a:prstGeom prst="rect">
            <a:avLst/>
          </a:prstGeom>
          <a:noFill/>
        </p:spPr>
        <p:txBody>
          <a:bodyPr wrap="square" rtlCol="0">
            <a:spAutoFit/>
          </a:bodyPr>
          <a:lstStyle/>
          <a:p>
            <a:r>
              <a:rPr lang="en-US" sz="2400" dirty="0" smtClean="0">
                <a:latin typeface="Times New Roman" pitchFamily="18" charset="0"/>
                <a:cs typeface="Times New Roman" pitchFamily="18" charset="0"/>
              </a:rPr>
              <a:t>Dot matrix printer</a:t>
            </a:r>
          </a:p>
          <a:p>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85000" lnSpcReduction="20000"/>
          </a:bodyPr>
          <a:lstStyle/>
          <a:p>
            <a:pPr algn="just">
              <a:buNone/>
            </a:pPr>
            <a:r>
              <a:rPr lang="en-US" b="1" u="sng" dirty="0" smtClean="0">
                <a:latin typeface="Times New Roman" pitchFamily="18" charset="0"/>
                <a:cs typeface="Times New Roman" pitchFamily="18" charset="0"/>
              </a:rPr>
              <a:t>Dot matrix printer</a:t>
            </a:r>
          </a:p>
          <a:p>
            <a:pPr algn="just"/>
            <a:r>
              <a:rPr lang="en-US" dirty="0" smtClean="0">
                <a:latin typeface="Times New Roman" pitchFamily="18" charset="0"/>
                <a:cs typeface="Times New Roman" pitchFamily="18" charset="0"/>
              </a:rPr>
              <a:t>A </a:t>
            </a:r>
            <a:r>
              <a:rPr lang="en-US" b="1" dirty="0" smtClean="0">
                <a:latin typeface="Times New Roman" pitchFamily="18" charset="0"/>
                <a:cs typeface="Times New Roman" pitchFamily="18" charset="0"/>
              </a:rPr>
              <a:t>dot matrix printer</a:t>
            </a:r>
            <a:r>
              <a:rPr lang="en-US" dirty="0" smtClean="0">
                <a:latin typeface="Times New Roman" pitchFamily="18" charset="0"/>
                <a:cs typeface="Times New Roman" pitchFamily="18" charset="0"/>
              </a:rPr>
              <a:t> is an </a:t>
            </a:r>
            <a:r>
              <a:rPr lang="en-US" dirty="0" smtClean="0">
                <a:latin typeface="Times New Roman" pitchFamily="18" charset="0"/>
                <a:cs typeface="Times New Roman" pitchFamily="18" charset="0"/>
                <a:hlinkClick r:id="rId2" tooltip="Printer (computing)"/>
              </a:rPr>
              <a:t>impact printer</a:t>
            </a:r>
            <a:r>
              <a:rPr lang="en-US" dirty="0" smtClean="0">
                <a:latin typeface="Times New Roman" pitchFamily="18" charset="0"/>
                <a:cs typeface="Times New Roman" pitchFamily="18" charset="0"/>
              </a:rPr>
              <a:t> that prints using a fixed number of pins or wires.</a:t>
            </a:r>
            <a:endParaRPr lang="en-US" baseline="30000"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Typically the pins or wires are arranged in one or several vertical columns. </a:t>
            </a:r>
          </a:p>
          <a:p>
            <a:pPr algn="just"/>
            <a:r>
              <a:rPr lang="en-US" dirty="0" smtClean="0">
                <a:latin typeface="Times New Roman" pitchFamily="18" charset="0"/>
                <a:cs typeface="Times New Roman" pitchFamily="18" charset="0"/>
              </a:rPr>
              <a:t>The pins strike an ink-coated ribbon and force contact between the ribbon and the paper, so that each pin makes a small dot on the paper. </a:t>
            </a:r>
          </a:p>
          <a:p>
            <a:pPr algn="just"/>
            <a:r>
              <a:rPr lang="en-US" dirty="0" smtClean="0">
                <a:latin typeface="Times New Roman" pitchFamily="18" charset="0"/>
                <a:cs typeface="Times New Roman" pitchFamily="18" charset="0"/>
              </a:rPr>
              <a:t>The combination of these dots forms a </a:t>
            </a:r>
            <a:r>
              <a:rPr lang="en-US" dirty="0" smtClean="0">
                <a:latin typeface="Times New Roman" pitchFamily="18" charset="0"/>
                <a:cs typeface="Times New Roman" pitchFamily="18" charset="0"/>
                <a:hlinkClick r:id="rId3" tooltip="Dot matrix printing"/>
              </a:rPr>
              <a:t>dot matrix image</a:t>
            </a:r>
            <a:r>
              <a:rPr lang="en-US" dirty="0" smtClean="0">
                <a:latin typeface="Times New Roman" pitchFamily="18" charset="0"/>
                <a:cs typeface="Times New Roman" pitchFamily="18" charset="0"/>
              </a:rPr>
              <a:t>. They were also known as </a:t>
            </a:r>
            <a:r>
              <a:rPr lang="en-US" b="1" dirty="0" smtClean="0">
                <a:latin typeface="Times New Roman" pitchFamily="18" charset="0"/>
                <a:cs typeface="Times New Roman" pitchFamily="18" charset="0"/>
              </a:rPr>
              <a:t>serial dot matrix printers</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A </a:t>
            </a:r>
            <a:r>
              <a:rPr lang="en-US" b="1" dirty="0" smtClean="0">
                <a:latin typeface="Times New Roman" pitchFamily="18" charset="0"/>
                <a:cs typeface="Times New Roman" pitchFamily="18" charset="0"/>
              </a:rPr>
              <a:t>Dot Matrix Printer</a:t>
            </a:r>
            <a:r>
              <a:rPr lang="en-US" dirty="0" smtClean="0">
                <a:latin typeface="Times New Roman" pitchFamily="18" charset="0"/>
                <a:cs typeface="Times New Roman" pitchFamily="18" charset="0"/>
              </a:rPr>
              <a:t> or </a:t>
            </a:r>
            <a:r>
              <a:rPr lang="en-US" i="1" dirty="0" smtClean="0">
                <a:latin typeface="Times New Roman" pitchFamily="18" charset="0"/>
                <a:cs typeface="Times New Roman" pitchFamily="18" charset="0"/>
              </a:rPr>
              <a:t>Impact Matrix Printer</a:t>
            </a:r>
            <a:r>
              <a:rPr lang="en-US" dirty="0" smtClean="0">
                <a:latin typeface="Times New Roman" pitchFamily="18" charset="0"/>
                <a:cs typeface="Times New Roman" pitchFamily="18" charset="0"/>
              </a:rPr>
              <a:t> refers to a type of computer printer with a print head that runs back and forth on the page and prints by impact, striking an ink-soaked cloth ribbon against the paper, much like a typewriter. </a:t>
            </a:r>
          </a:p>
          <a:p>
            <a:pPr algn="just"/>
            <a:r>
              <a:rPr lang="en-US" dirty="0" smtClean="0">
                <a:latin typeface="Times New Roman" pitchFamily="18" charset="0"/>
                <a:cs typeface="Times New Roman" pitchFamily="18" charset="0"/>
              </a:rPr>
              <a:t>Unlike a typewriter or daisy wheel printer, letters are drawn out of a dot matrix, and thus, varied fonts and arbitrary graphics can be produced.</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76</a:t>
            </a:fld>
            <a:endParaRPr lang="en-US"/>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77500" lnSpcReduction="20000"/>
          </a:bodyPr>
          <a:lstStyle/>
          <a:p>
            <a:pPr algn="just"/>
            <a:r>
              <a:rPr lang="en-US" dirty="0" smtClean="0">
                <a:latin typeface="Times New Roman" pitchFamily="18" charset="0"/>
                <a:cs typeface="Times New Roman" pitchFamily="18" charset="0"/>
              </a:rPr>
              <a:t>Because the printing involves mechanical pressure, these printers can create carbon copies and carbon less copies. </a:t>
            </a:r>
          </a:p>
          <a:p>
            <a:pPr algn="just"/>
            <a:r>
              <a:rPr lang="en-US" dirty="0" smtClean="0">
                <a:latin typeface="Times New Roman" pitchFamily="18" charset="0"/>
                <a:cs typeface="Times New Roman" pitchFamily="18" charset="0"/>
              </a:rPr>
              <a:t>Each dot is produced by a tiny metal rod, also called a “wire” or “pin”, which is driven forward by the power of a tiny electromagnet or solenoid, either directly or through small levers (pawls). </a:t>
            </a:r>
          </a:p>
          <a:p>
            <a:pPr algn="just"/>
            <a:r>
              <a:rPr lang="en-US" dirty="0" smtClean="0">
                <a:latin typeface="Times New Roman" pitchFamily="18" charset="0"/>
                <a:cs typeface="Times New Roman" pitchFamily="18" charset="0"/>
              </a:rPr>
              <a:t>Facing the ribbon and the paper is a small guide plate pierced with holes to serve as guides for the pins. </a:t>
            </a:r>
          </a:p>
          <a:p>
            <a:pPr algn="just"/>
            <a:r>
              <a:rPr lang="en-US" dirty="0" smtClean="0">
                <a:latin typeface="Times New Roman" pitchFamily="18" charset="0"/>
                <a:cs typeface="Times New Roman" pitchFamily="18" charset="0"/>
              </a:rPr>
              <a:t>The moving portion of the printer is called the print head, and when running the printer as a generic text device it generally prints one line of text at a time.</a:t>
            </a:r>
          </a:p>
          <a:p>
            <a:pPr algn="just"/>
            <a:r>
              <a:rPr lang="en-US" dirty="0" smtClean="0">
                <a:latin typeface="Times New Roman" pitchFamily="18" charset="0"/>
                <a:cs typeface="Times New Roman" pitchFamily="18" charset="0"/>
              </a:rPr>
              <a:t>Most dot matrix printers have a single vertical line of dot making equipment on their print heads; others have a few interleaved rows in order to improve dot density. </a:t>
            </a:r>
          </a:p>
          <a:p>
            <a:pPr algn="just"/>
            <a:r>
              <a:rPr lang="en-US" dirty="0" smtClean="0">
                <a:latin typeface="Times New Roman" pitchFamily="18" charset="0"/>
                <a:cs typeface="Times New Roman" pitchFamily="18" charset="0"/>
              </a:rPr>
              <a:t>These machines can be highly durable, but eventually wear out. Ink invades the guide plate of the print head, causing grit to adhere to it; this grit slowly causes the channels in the guide plate to wear from circles into ovals or slots, providing less and less accurate guidance to the printing wires.</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77</a:t>
            </a:fld>
            <a:endParaRPr lang="en-US"/>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lstStyle/>
          <a:p>
            <a:pPr>
              <a:buNone/>
            </a:pPr>
            <a:r>
              <a:rPr lang="en-US" b="1" u="sng" dirty="0" smtClean="0">
                <a:latin typeface="Times New Roman" pitchFamily="18" charset="0"/>
                <a:cs typeface="Times New Roman" pitchFamily="18" charset="0"/>
              </a:rPr>
              <a:t>Laser Printer</a:t>
            </a:r>
            <a:endParaRPr lang="en-US" b="1" u="sng"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78</a:t>
            </a:fld>
            <a:endParaRPr lang="en-US"/>
          </a:p>
        </p:txBody>
      </p:sp>
      <p:pic>
        <p:nvPicPr>
          <p:cNvPr id="5" name="Picture 4" descr="4.GIF"/>
          <p:cNvPicPr>
            <a:picLocks noChangeAspect="1"/>
          </p:cNvPicPr>
          <p:nvPr/>
        </p:nvPicPr>
        <p:blipFill>
          <a:blip r:embed="rId3"/>
          <a:stretch>
            <a:fillRect/>
          </a:stretch>
        </p:blipFill>
        <p:spPr>
          <a:xfrm>
            <a:off x="0" y="990600"/>
            <a:ext cx="9144000" cy="5867399"/>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70000" lnSpcReduction="20000"/>
          </a:bodyPr>
          <a:lstStyle/>
          <a:p>
            <a:pPr algn="just">
              <a:buNone/>
            </a:pPr>
            <a:r>
              <a:rPr lang="en-US" sz="3400" b="1" dirty="0" smtClean="0">
                <a:latin typeface="Times New Roman" pitchFamily="18" charset="0"/>
                <a:cs typeface="Times New Roman" pitchFamily="18" charset="0"/>
              </a:rPr>
              <a:t>What is a laser printer?</a:t>
            </a:r>
          </a:p>
          <a:p>
            <a:pPr algn="just"/>
            <a:r>
              <a:rPr lang="en-US" dirty="0" smtClean="0">
                <a:latin typeface="Times New Roman" pitchFamily="18" charset="0"/>
                <a:cs typeface="Times New Roman" pitchFamily="18" charset="0"/>
              </a:rPr>
              <a:t>A laser printer is a popular type of computer </a:t>
            </a:r>
            <a:r>
              <a:rPr lang="en-US" u="sng" dirty="0" smtClean="0">
                <a:latin typeface="Times New Roman" pitchFamily="18" charset="0"/>
                <a:cs typeface="Times New Roman" pitchFamily="18" charset="0"/>
                <a:hlinkClick r:id="rId2"/>
              </a:rPr>
              <a:t>printer</a:t>
            </a:r>
            <a:r>
              <a:rPr lang="en-US" dirty="0" smtClean="0">
                <a:latin typeface="Times New Roman" pitchFamily="18" charset="0"/>
                <a:cs typeface="Times New Roman" pitchFamily="18" charset="0"/>
              </a:rPr>
              <a:t> that uses a non-impact photocopier technology where there are no keys striking the paper.</a:t>
            </a:r>
          </a:p>
          <a:p>
            <a:pPr algn="just"/>
            <a:r>
              <a:rPr lang="en-US" dirty="0" smtClean="0">
                <a:latin typeface="Times New Roman" pitchFamily="18" charset="0"/>
                <a:cs typeface="Times New Roman" pitchFamily="18" charset="0"/>
              </a:rPr>
              <a:t>When a document is sent to the printer, a laser beam "draws" the document on a selenium-coated drum using electrical charges. </a:t>
            </a:r>
          </a:p>
          <a:p>
            <a:pPr algn="just"/>
            <a:r>
              <a:rPr lang="en-US" dirty="0" smtClean="0">
                <a:latin typeface="Times New Roman" pitchFamily="18" charset="0"/>
                <a:cs typeface="Times New Roman" pitchFamily="18" charset="0"/>
              </a:rPr>
              <a:t>The drum is then rolled in toner, a dry powder type of ink that adheres to the charged image on the drum. </a:t>
            </a:r>
          </a:p>
          <a:p>
            <a:pPr algn="just"/>
            <a:r>
              <a:rPr lang="en-US" dirty="0" smtClean="0">
                <a:latin typeface="Times New Roman" pitchFamily="18" charset="0"/>
                <a:cs typeface="Times New Roman" pitchFamily="18" charset="0"/>
              </a:rPr>
              <a:t>The toner is transferred onto a piece of paper and fused to the paper with heat and pressure.</a:t>
            </a:r>
          </a:p>
          <a:p>
            <a:pPr algn="just"/>
            <a:r>
              <a:rPr lang="en-US" dirty="0" smtClean="0">
                <a:latin typeface="Times New Roman" pitchFamily="18" charset="0"/>
                <a:cs typeface="Times New Roman" pitchFamily="18" charset="0"/>
              </a:rPr>
              <a:t>The laser printer was popularized in the mid-1980s as a standalone printer for use with personal computers. </a:t>
            </a:r>
          </a:p>
          <a:p>
            <a:pPr algn="just"/>
            <a:r>
              <a:rPr lang="en-US" dirty="0" smtClean="0">
                <a:latin typeface="Times New Roman" pitchFamily="18" charset="0"/>
                <a:cs typeface="Times New Roman" pitchFamily="18" charset="0"/>
              </a:rPr>
              <a:t>It typically replaced an impact dot matrix printer or a non-impact </a:t>
            </a:r>
            <a:r>
              <a:rPr lang="en-US" u="sng" dirty="0" smtClean="0">
                <a:latin typeface="Times New Roman" pitchFamily="18" charset="0"/>
                <a:cs typeface="Times New Roman" pitchFamily="18" charset="0"/>
                <a:hlinkClick r:id="rId3"/>
              </a:rPr>
              <a:t>inkjet printer</a:t>
            </a:r>
            <a:r>
              <a:rPr lang="en-US" dirty="0" smtClean="0">
                <a:latin typeface="Times New Roman" pitchFamily="18" charset="0"/>
                <a:cs typeface="Times New Roman" pitchFamily="18" charset="0"/>
              </a:rPr>
              <a:t>. </a:t>
            </a:r>
          </a:p>
          <a:p>
            <a:pPr algn="just"/>
            <a:r>
              <a:rPr lang="en-US" dirty="0" smtClean="0">
                <a:latin typeface="Times New Roman" pitchFamily="18" charset="0"/>
                <a:cs typeface="Times New Roman" pitchFamily="18" charset="0"/>
              </a:rPr>
              <a:t>Laser printers are still often connected directly to a single PC, but today many are linked to local area networks (</a:t>
            </a:r>
            <a:r>
              <a:rPr lang="en-US" u="sng" dirty="0" smtClean="0">
                <a:latin typeface="Times New Roman" pitchFamily="18" charset="0"/>
                <a:cs typeface="Times New Roman" pitchFamily="18" charset="0"/>
                <a:hlinkClick r:id="rId4"/>
              </a:rPr>
              <a:t>LAN</a:t>
            </a:r>
            <a:r>
              <a:rPr lang="en-US" dirty="0" smtClean="0">
                <a:latin typeface="Times New Roman" pitchFamily="18" charset="0"/>
                <a:cs typeface="Times New Roman" pitchFamily="18" charset="0"/>
              </a:rPr>
              <a:t>), supporting workgroups or entire departments.</a:t>
            </a:r>
          </a:p>
          <a:p>
            <a:pPr algn="just"/>
            <a:r>
              <a:rPr lang="en-US" dirty="0" smtClean="0">
                <a:latin typeface="Times New Roman" pitchFamily="18" charset="0"/>
                <a:cs typeface="Times New Roman" pitchFamily="18" charset="0"/>
              </a:rPr>
              <a:t>In some cases, a laser printer is used as a </a:t>
            </a:r>
            <a:r>
              <a:rPr lang="en-US" u="sng" dirty="0" smtClean="0">
                <a:latin typeface="Times New Roman" pitchFamily="18" charset="0"/>
                <a:cs typeface="Times New Roman" pitchFamily="18" charset="0"/>
                <a:hlinkClick r:id="rId5"/>
              </a:rPr>
              <a:t>multifunction peripheral</a:t>
            </a:r>
            <a:r>
              <a:rPr lang="en-US" dirty="0" smtClean="0">
                <a:latin typeface="Times New Roman" pitchFamily="18" charset="0"/>
                <a:cs typeface="Times New Roman" pitchFamily="18" charset="0"/>
              </a:rPr>
              <a:t> with printing, scanning, photocopying and fax capabilities. </a:t>
            </a:r>
          </a:p>
          <a:p>
            <a:pPr algn="just"/>
            <a:r>
              <a:rPr lang="en-US" dirty="0" smtClean="0">
                <a:latin typeface="Times New Roman" pitchFamily="18" charset="0"/>
                <a:cs typeface="Times New Roman" pitchFamily="18" charset="0"/>
              </a:rPr>
              <a:t>These devices are known as multifunction printers (MFP). </a:t>
            </a:r>
          </a:p>
          <a:p>
            <a:pPr algn="just"/>
            <a:r>
              <a:rPr lang="en-US" dirty="0" smtClean="0">
                <a:latin typeface="Times New Roman" pitchFamily="18" charset="0"/>
                <a:cs typeface="Times New Roman" pitchFamily="18" charset="0"/>
              </a:rPr>
              <a:t>They usually have MFP or MFC for multifunction center as part of their model numbers.</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79</a:t>
            </a:fld>
            <a:endParaRPr lang="en-US"/>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92500" lnSpcReduction="20000"/>
          </a:bodyPr>
          <a:lstStyle/>
          <a:p>
            <a:pPr algn="just"/>
            <a:r>
              <a:rPr lang="en-US" dirty="0" smtClean="0">
                <a:latin typeface="Times New Roman" pitchFamily="18" charset="0"/>
                <a:cs typeface="Times New Roman" pitchFamily="18" charset="0"/>
              </a:rPr>
              <a:t>Laser printers can be used in a home office or a small business office. </a:t>
            </a:r>
          </a:p>
          <a:p>
            <a:pPr algn="just"/>
            <a:r>
              <a:rPr lang="en-US" dirty="0" smtClean="0">
                <a:latin typeface="Times New Roman" pitchFamily="18" charset="0"/>
                <a:cs typeface="Times New Roman" pitchFamily="18" charset="0"/>
              </a:rPr>
              <a:t>Office connectivity is typically via an Ethernet connection. </a:t>
            </a:r>
          </a:p>
          <a:p>
            <a:pPr algn="just"/>
            <a:r>
              <a:rPr lang="en-US" dirty="0" smtClean="0">
                <a:latin typeface="Times New Roman" pitchFamily="18" charset="0"/>
                <a:cs typeface="Times New Roman" pitchFamily="18" charset="0"/>
              </a:rPr>
              <a:t>In a home office or small business, a cable or Wi-Fi are used to connect the printer to computing devices. </a:t>
            </a:r>
          </a:p>
          <a:p>
            <a:pPr algn="just"/>
            <a:r>
              <a:rPr lang="en-US" dirty="0" smtClean="0">
                <a:latin typeface="Times New Roman" pitchFamily="18" charset="0"/>
                <a:cs typeface="Times New Roman" pitchFamily="18" charset="0"/>
              </a:rPr>
              <a:t>Wi-Fi is also used to connect mobile devices to printers for mobile printing.</a:t>
            </a:r>
          </a:p>
          <a:p>
            <a:pPr algn="just"/>
            <a:r>
              <a:rPr lang="en-US" dirty="0" smtClean="0">
                <a:latin typeface="Times New Roman" pitchFamily="18" charset="0"/>
                <a:cs typeface="Times New Roman" pitchFamily="18" charset="0"/>
              </a:rPr>
              <a:t>Laser printers can handle both black and white and color printing, though color laser printers are more expensive than monochrome laser printers. </a:t>
            </a:r>
          </a:p>
          <a:p>
            <a:pPr algn="just"/>
            <a:r>
              <a:rPr lang="en-US" dirty="0" smtClean="0">
                <a:latin typeface="Times New Roman" pitchFamily="18" charset="0"/>
                <a:cs typeface="Times New Roman" pitchFamily="18" charset="0"/>
              </a:rPr>
              <a:t>Typically, laser printers are used for printing whereas newer all-in-one printers can function as a printer, copier, scanner and fax. </a:t>
            </a:r>
          </a:p>
          <a:p>
            <a:pPr algn="just"/>
            <a:r>
              <a:rPr lang="en-US" dirty="0" smtClean="0">
                <a:latin typeface="Times New Roman" pitchFamily="18" charset="0"/>
                <a:cs typeface="Times New Roman" pitchFamily="18" charset="0"/>
              </a:rPr>
              <a:t>Many have user-friendly touch screen displays.</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80</a:t>
            </a:fld>
            <a:endParaRPr lang="en-US"/>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5.GIF"/>
          <p:cNvPicPr>
            <a:picLocks noGrp="1" noChangeAspect="1"/>
          </p:cNvPicPr>
          <p:nvPr>
            <p:ph idx="1"/>
          </p:nvPr>
        </p:nvPicPr>
        <p:blipFill>
          <a:blip r:embed="rId2"/>
          <a:stretch>
            <a:fillRect/>
          </a:stretch>
        </p:blipFill>
        <p:spPr>
          <a:xfrm>
            <a:off x="0" y="0"/>
            <a:ext cx="9144000" cy="6553200"/>
          </a:xfrm>
        </p:spPr>
      </p:pic>
      <p:sp>
        <p:nvSpPr>
          <p:cNvPr id="4" name="Slide Number Placeholder 3"/>
          <p:cNvSpPr>
            <a:spLocks noGrp="1"/>
          </p:cNvSpPr>
          <p:nvPr>
            <p:ph type="sldNum" sz="quarter" idx="12"/>
          </p:nvPr>
        </p:nvSpPr>
        <p:spPr/>
        <p:txBody>
          <a:bodyPr/>
          <a:lstStyle/>
          <a:p>
            <a:fld id="{B6F15528-21DE-4FAA-801E-634DDDAF4B2B}" type="slidenum">
              <a:rPr lang="en-US" smtClean="0"/>
              <a:pPr/>
              <a:t>81</a:t>
            </a:fld>
            <a:endParaRPr 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6.GIF"/>
          <p:cNvPicPr>
            <a:picLocks noGrp="1" noChangeAspect="1"/>
          </p:cNvPicPr>
          <p:nvPr>
            <p:ph idx="1"/>
          </p:nvPr>
        </p:nvPicPr>
        <p:blipFill>
          <a:blip r:embed="rId2"/>
          <a:stretch>
            <a:fillRect/>
          </a:stretch>
        </p:blipFill>
        <p:spPr>
          <a:xfrm>
            <a:off x="228600" y="152400"/>
            <a:ext cx="8686800" cy="6629399"/>
          </a:xfrm>
        </p:spPr>
      </p:pic>
      <p:sp>
        <p:nvSpPr>
          <p:cNvPr id="4" name="Slide Number Placeholder 3"/>
          <p:cNvSpPr>
            <a:spLocks noGrp="1"/>
          </p:cNvSpPr>
          <p:nvPr>
            <p:ph type="sldNum" sz="quarter" idx="12"/>
          </p:nvPr>
        </p:nvSpPr>
        <p:spPr/>
        <p:txBody>
          <a:bodyPr/>
          <a:lstStyle/>
          <a:p>
            <a:fld id="{B6F15528-21DE-4FAA-801E-634DDDAF4B2B}" type="slidenum">
              <a:rPr lang="en-US" smtClean="0"/>
              <a:pPr/>
              <a:t>82</a:t>
            </a:fld>
            <a:endParaRPr lang="en-US"/>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lstStyle/>
          <a:p>
            <a:pPr algn="just">
              <a:buNone/>
            </a:pPr>
            <a:r>
              <a:rPr lang="en-US" dirty="0" smtClean="0">
                <a:latin typeface="Times New Roman" pitchFamily="18" charset="0"/>
                <a:cs typeface="Times New Roman" pitchFamily="18" charset="0"/>
              </a:rPr>
              <a:t>6.4 Indicators and display Devices - Nixie, LED, LCD and seven </a:t>
            </a:r>
            <a:r>
              <a:rPr lang="en-US" dirty="0" smtClean="0">
                <a:latin typeface="Times New Roman" pitchFamily="18" charset="0"/>
                <a:cs typeface="Times New Roman" pitchFamily="18" charset="0"/>
              </a:rPr>
              <a:t>segment </a:t>
            </a:r>
            <a:r>
              <a:rPr lang="en-US" dirty="0" smtClean="0">
                <a:latin typeface="Times New Roman" pitchFamily="18" charset="0"/>
                <a:cs typeface="Times New Roman" pitchFamily="18" charset="0"/>
              </a:rPr>
              <a:t>and dot matrix displays.</a:t>
            </a:r>
          </a:p>
          <a:p>
            <a:pPr algn="just"/>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83</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569</TotalTime>
  <Words>6643</Words>
  <Application>Microsoft Office PowerPoint</Application>
  <PresentationFormat>On-screen Show (4:3)</PresentationFormat>
  <Paragraphs>467</Paragraphs>
  <Slides>83</Slides>
  <Notes>1</Notes>
  <HiddenSlides>0</HiddenSlides>
  <MMClips>0</MMClips>
  <ScaleCrop>false</ScaleCrop>
  <HeadingPairs>
    <vt:vector size="4" baseType="variant">
      <vt:variant>
        <vt:lpstr>Theme</vt:lpstr>
      </vt:variant>
      <vt:variant>
        <vt:i4>1</vt:i4>
      </vt:variant>
      <vt:variant>
        <vt:lpstr>Slide Titles</vt:lpstr>
      </vt:variant>
      <vt:variant>
        <vt:i4>83</vt:i4>
      </vt:variant>
    </vt:vector>
  </HeadingPairs>
  <TitlesOfParts>
    <vt:vector size="8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Recorder</vt:lpstr>
      <vt:lpstr>Recorder</vt:lpstr>
      <vt:lpstr>Strip Chart Recorder</vt:lpstr>
      <vt:lpstr>Strip Chart Recorder</vt:lpstr>
      <vt:lpstr>Strip Chart Recorder</vt:lpstr>
      <vt:lpstr>Slide 41</vt:lpstr>
      <vt:lpstr>Slide 42</vt:lpstr>
      <vt:lpstr>Slide 43</vt:lpstr>
      <vt:lpstr>X-Y Recorder</vt:lpstr>
      <vt:lpstr>X-Y Recorder</vt:lpstr>
      <vt:lpstr>Working of X-Y Recorder</vt:lpstr>
      <vt:lpstr>Working of X-Y Recorder</vt:lpstr>
      <vt:lpstr> Applications Of X-Y Recorder </vt:lpstr>
      <vt:lpstr>Slide 49</vt:lpstr>
      <vt:lpstr>Slide 50</vt:lpstr>
      <vt:lpstr>Slide 51</vt:lpstr>
      <vt:lpstr>Magnetic Tape Recorder</vt:lpstr>
      <vt:lpstr>Magnetic Tape Recorder</vt:lpstr>
      <vt:lpstr>Magnetic Tape Recorder</vt:lpstr>
      <vt:lpstr>Magnetic Tape:</vt:lpstr>
      <vt:lpstr>Reproduce Head:</vt:lpstr>
      <vt:lpstr>Record and Reproduce Head</vt:lpstr>
      <vt:lpstr>Advantages of magnetic tape recorder</vt:lpstr>
      <vt:lpstr>Slide 59</vt:lpstr>
      <vt:lpstr>Slide 60</vt:lpstr>
      <vt:lpstr>Direct Recording</vt:lpstr>
      <vt:lpstr>During reproduction:</vt:lpstr>
      <vt:lpstr>Merits of Direct Recording</vt:lpstr>
      <vt:lpstr>Demerits of Direct Recording</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Basuki Sir</dc:creator>
  <cp:lastModifiedBy>Basuki Sir</cp:lastModifiedBy>
  <cp:revision>52</cp:revision>
  <dcterms:created xsi:type="dcterms:W3CDTF">2006-08-16T00:00:00Z</dcterms:created>
  <dcterms:modified xsi:type="dcterms:W3CDTF">2023-07-31T08:08:21Z</dcterms:modified>
</cp:coreProperties>
</file>