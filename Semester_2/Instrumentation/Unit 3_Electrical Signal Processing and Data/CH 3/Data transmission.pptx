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73" r:id="rId6"/>
    <p:sldId id="261" r:id="rId7"/>
    <p:sldId id="262" r:id="rId8"/>
    <p:sldId id="272" r:id="rId9"/>
    <p:sldId id="263" r:id="rId10"/>
    <p:sldId id="264" r:id="rId11"/>
    <p:sldId id="265" r:id="rId12"/>
    <p:sldId id="266" r:id="rId13"/>
    <p:sldId id="267" r:id="rId14"/>
    <p:sldId id="268" r:id="rId15"/>
    <p:sldId id="269" r:id="rId16"/>
    <p:sldId id="270" r:id="rId17"/>
    <p:sldId id="271" r:id="rId18"/>
    <p:sldId id="274" r:id="rId19"/>
    <p:sldId id="275" r:id="rId20"/>
    <p:sldId id="283" r:id="rId21"/>
    <p:sldId id="284" r:id="rId22"/>
    <p:sldId id="285" r:id="rId23"/>
    <p:sldId id="286" r:id="rId24"/>
    <p:sldId id="287" r:id="rId25"/>
    <p:sldId id="276" r:id="rId26"/>
    <p:sldId id="277" r:id="rId27"/>
    <p:sldId id="278" r:id="rId28"/>
    <p:sldId id="282" r:id="rId29"/>
    <p:sldId id="288" r:id="rId30"/>
    <p:sldId id="292" r:id="rId31"/>
    <p:sldId id="289" r:id="rId32"/>
    <p:sldId id="291" r:id="rId33"/>
    <p:sldId id="293" r:id="rId34"/>
    <p:sldId id="294"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398"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19-Jul-23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19-Jul-23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19-Jul-23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19-Jul-23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19-Jul-23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19-Jul-23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19-Jul-23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19-Jul-23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19-Jul-23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19-Jul-23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19-Jul-23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19-Jul-23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www.techtarget.com/iotagenda/blog/IoT-Agenda/IoT-is-revolutionizing-natural-disaster-prediction" TargetMode="External"/><Relationship Id="rId2" Type="http://schemas.openxmlformats.org/officeDocument/2006/relationships/hyperlink" Target="https://www.techtarget.com/searchapparchitecture/tip/5-application-performance-metrics-all-dev-teams-should-track" TargetMode="External"/><Relationship Id="rId1" Type="http://schemas.openxmlformats.org/officeDocument/2006/relationships/slideLayout" Target="../slideLayouts/slideLayout1.xml"/><Relationship Id="rId4" Type="http://schemas.openxmlformats.org/officeDocument/2006/relationships/hyperlink" Target="https://www.techtarget.com/iotagenda/feature/Explore-3-IoT-trends-in-healthcare" TargetMode="External"/></Relationships>
</file>

<file path=ppt/slides/_rels/slide17.xml.rels><?xml version="1.0" encoding="UTF-8" standalone="yes"?>
<Relationships xmlns="http://schemas.openxmlformats.org/package/2006/relationships"><Relationship Id="rId2" Type="http://schemas.openxmlformats.org/officeDocument/2006/relationships/hyperlink" Target="https://www.techopedia.com/definition/9756/data-transmission" TargetMode="Externa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hyperlink" Target="https://www.geeksforgeeks.org/transmission-modes-computer-networks/"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en.wikipedia.org/wiki/Megabyte" TargetMode="External"/><Relationship Id="rId7" Type="http://schemas.openxmlformats.org/officeDocument/2006/relationships/hyperlink" Target="https://en.wikipedia.org/wiki/Hard_disk" TargetMode="External"/><Relationship Id="rId2" Type="http://schemas.openxmlformats.org/officeDocument/2006/relationships/hyperlink" Target="https://en.wikipedia.org/wiki/Parallel_communications" TargetMode="External"/><Relationship Id="rId1" Type="http://schemas.openxmlformats.org/officeDocument/2006/relationships/slideLayout" Target="../slideLayouts/slideLayout2.xml"/><Relationship Id="rId6" Type="http://schemas.openxmlformats.org/officeDocument/2006/relationships/hyperlink" Target="https://en.wikipedia.org/wiki/Tape_drive" TargetMode="External"/><Relationship Id="rId5" Type="http://schemas.openxmlformats.org/officeDocument/2006/relationships/hyperlink" Target="https://en.wikipedia.org/wiki/Image_scanner" TargetMode="External"/><Relationship Id="rId4" Type="http://schemas.openxmlformats.org/officeDocument/2006/relationships/hyperlink" Target="https://en.wikipedia.org/wiki/SCS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85000" lnSpcReduction="10000"/>
          </a:bodyPr>
          <a:lstStyle/>
          <a:p>
            <a:pPr algn="just"/>
            <a:endParaRPr lang="en-US" dirty="0" smtClean="0">
              <a:solidFill>
                <a:schemeClr val="tx1"/>
              </a:solidFill>
              <a:latin typeface="Times New Roman" pitchFamily="18" charset="0"/>
              <a:cs typeface="Times New Roman" pitchFamily="18" charset="0"/>
            </a:endParaRPr>
          </a:p>
          <a:p>
            <a:pPr algn="just"/>
            <a:r>
              <a:rPr lang="en-US" b="1" u="sng" dirty="0" smtClean="0">
                <a:solidFill>
                  <a:schemeClr val="tx1"/>
                </a:solidFill>
                <a:latin typeface="Times New Roman" pitchFamily="18" charset="0"/>
                <a:cs typeface="Times New Roman" pitchFamily="18" charset="0"/>
              </a:rPr>
              <a:t>Data Transmission and Telemetry</a:t>
            </a:r>
          </a:p>
          <a:p>
            <a:pPr algn="just"/>
            <a:endParaRPr lang="en-US" dirty="0" smtClean="0">
              <a:solidFill>
                <a:schemeClr val="tx1"/>
              </a:solidFill>
              <a:latin typeface="Times New Roman" pitchFamily="18" charset="0"/>
              <a:cs typeface="Times New Roman" pitchFamily="18" charset="0"/>
            </a:endParaRPr>
          </a:p>
          <a:p>
            <a:pPr algn="just">
              <a:buFont typeface="Arial" pitchFamily="34" charset="0"/>
              <a:buChar char="•"/>
            </a:pPr>
            <a:r>
              <a:rPr lang="en-US" dirty="0" smtClean="0">
                <a:solidFill>
                  <a:schemeClr val="tx1"/>
                </a:solidFill>
                <a:latin typeface="Times New Roman" pitchFamily="18" charset="0"/>
                <a:cs typeface="Times New Roman" pitchFamily="18" charset="0"/>
              </a:rPr>
              <a:t>In modem measurement systems, the various components comprising the system are usually located at a distance from each other. It, therefore, becomes necessary to transmit the data or an information between them through some form of communication channels.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terms data transmission and telemetry refer to the process by which information regarding the quantity being measured, may be using a transducer and signal conditioning equipment, is transferred to a remote location, perhaps to be processed, recorded and displayed. </a:t>
            </a:r>
            <a:r>
              <a:rPr lang="en-US" b="1" dirty="0" smtClean="0">
                <a:solidFill>
                  <a:schemeClr val="tx1"/>
                </a:solidFill>
                <a:latin typeface="Times New Roman" pitchFamily="18" charset="0"/>
                <a:cs typeface="Times New Roman" pitchFamily="18" charset="0"/>
              </a:rPr>
              <a:t>Telemetry</a:t>
            </a:r>
            <a:r>
              <a:rPr lang="en-US" dirty="0" smtClean="0">
                <a:solidFill>
                  <a:schemeClr val="tx1"/>
                </a:solidFill>
                <a:latin typeface="Times New Roman" pitchFamily="18" charset="0"/>
                <a:cs typeface="Times New Roman" pitchFamily="18" charset="0"/>
              </a:rPr>
              <a:t> is the technology which enables a user to collect data from several measurement points at inaccessible or inconvenient locations, transmit that data to a convenient location, and present the several individual measurements in a usable form.</a:t>
            </a:r>
            <a:endParaRPr lang="en-US"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70000" lnSpcReduction="20000"/>
          </a:bodyPr>
          <a:lstStyle/>
          <a:p>
            <a:pPr algn="just"/>
            <a:endParaRPr lang="en-US" dirty="0" smtClean="0">
              <a:solidFill>
                <a:schemeClr val="tx1"/>
              </a:solidFill>
              <a:latin typeface="Times New Roman" pitchFamily="18" charset="0"/>
              <a:cs typeface="Times New Roman" pitchFamily="18" charset="0"/>
            </a:endParaRPr>
          </a:p>
          <a:p>
            <a:pPr algn="just"/>
            <a:r>
              <a:rPr lang="en-US" b="1" u="sng" dirty="0" smtClean="0">
                <a:solidFill>
                  <a:schemeClr val="tx1"/>
                </a:solidFill>
                <a:latin typeface="Times New Roman" pitchFamily="18" charset="0"/>
                <a:cs typeface="Times New Roman" pitchFamily="18" charset="0"/>
              </a:rPr>
              <a:t>METHODS OF DATA TRANSMISSION </a:t>
            </a:r>
          </a:p>
          <a:p>
            <a:pPr algn="just"/>
            <a:endParaRPr lang="en-US" dirty="0" smtClean="0">
              <a:solidFill>
                <a:schemeClr val="tx1"/>
              </a:solidFill>
              <a:latin typeface="Times New Roman" pitchFamily="18" charset="0"/>
              <a:cs typeface="Times New Roman" pitchFamily="18" charset="0"/>
            </a:endParaRPr>
          </a:p>
          <a:p>
            <a:pPr algn="just">
              <a:buFont typeface="Arial" pitchFamily="34" charset="0"/>
              <a:buChar char="•"/>
            </a:pPr>
            <a:r>
              <a:rPr lang="en-US" dirty="0" smtClean="0">
                <a:solidFill>
                  <a:schemeClr val="tx1"/>
                </a:solidFill>
                <a:latin typeface="Times New Roman" pitchFamily="18" charset="0"/>
                <a:cs typeface="Times New Roman" pitchFamily="18" charset="0"/>
              </a:rPr>
              <a:t>The transmission of a measured variable to a remote point is an important function in Instrumentation systems because of the size and complexity of </a:t>
            </a:r>
            <a:r>
              <a:rPr lang="en-US" smtClean="0">
                <a:solidFill>
                  <a:schemeClr val="tx1"/>
                </a:solidFill>
                <a:latin typeface="Times New Roman" pitchFamily="18" charset="0"/>
                <a:cs typeface="Times New Roman" pitchFamily="18" charset="0"/>
              </a:rPr>
              <a:t>morden </a:t>
            </a:r>
            <a:r>
              <a:rPr lang="en-US" dirty="0" smtClean="0">
                <a:solidFill>
                  <a:schemeClr val="tx1"/>
                </a:solidFill>
                <a:latin typeface="Times New Roman" pitchFamily="18" charset="0"/>
                <a:cs typeface="Times New Roman" pitchFamily="18" charset="0"/>
              </a:rPr>
              <a:t>industrial plants. The most common variables encountered in industrial plants are temperature, pressure and flow. Most measuring devices for these variables such as mercury thermometers, pressure gauges or flow rate meters would require fluid-line connections of great length from the place of measurement to the place of data recording or display. This will result into excessive measurement lags. Hence, there is a need for fast transmission of data.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a:t>
            </a:r>
            <a:r>
              <a:rPr lang="en-US" b="1" dirty="0" smtClean="0">
                <a:solidFill>
                  <a:schemeClr val="tx1"/>
                </a:solidFill>
                <a:latin typeface="Times New Roman" pitchFamily="18" charset="0"/>
                <a:cs typeface="Times New Roman" pitchFamily="18" charset="0"/>
              </a:rPr>
              <a:t>methods employed for data transmission </a:t>
            </a:r>
            <a:r>
              <a:rPr lang="en-US" dirty="0" smtClean="0">
                <a:solidFill>
                  <a:schemeClr val="tx1"/>
                </a:solidFill>
                <a:latin typeface="Times New Roman" pitchFamily="18" charset="0"/>
                <a:cs typeface="Times New Roman" pitchFamily="18" charset="0"/>
              </a:rPr>
              <a:t>depend upon the variable and the distance over which it has to be transmitted. The following methods may be used for data transmission : </a:t>
            </a:r>
          </a:p>
          <a:p>
            <a:pPr marL="514350" indent="-514350" algn="just">
              <a:buFont typeface="+mj-lt"/>
              <a:buAutoNum type="arabicPeriod"/>
            </a:pPr>
            <a:r>
              <a:rPr lang="en-US" dirty="0" smtClean="0">
                <a:solidFill>
                  <a:schemeClr val="tx1"/>
                </a:solidFill>
                <a:latin typeface="Times New Roman" pitchFamily="18" charset="0"/>
                <a:cs typeface="Times New Roman" pitchFamily="18" charset="0"/>
              </a:rPr>
              <a:t>Hydraulic transmission, </a:t>
            </a:r>
          </a:p>
          <a:p>
            <a:pPr marL="514350" indent="-514350" algn="just">
              <a:buFont typeface="+mj-lt"/>
              <a:buAutoNum type="arabicPeriod"/>
            </a:pPr>
            <a:r>
              <a:rPr lang="en-US" dirty="0" smtClean="0">
                <a:solidFill>
                  <a:schemeClr val="tx1"/>
                </a:solidFill>
                <a:latin typeface="Times New Roman" pitchFamily="18" charset="0"/>
                <a:cs typeface="Times New Roman" pitchFamily="18" charset="0"/>
              </a:rPr>
              <a:t>Pneumatic transmission, and </a:t>
            </a:r>
          </a:p>
          <a:p>
            <a:pPr marL="514350" indent="-514350" algn="just">
              <a:buFont typeface="+mj-lt"/>
              <a:buAutoNum type="arabicPeriod"/>
            </a:pPr>
            <a:r>
              <a:rPr lang="en-US" dirty="0" smtClean="0">
                <a:solidFill>
                  <a:schemeClr val="tx1"/>
                </a:solidFill>
                <a:latin typeface="Times New Roman" pitchFamily="18" charset="0"/>
                <a:cs typeface="Times New Roman" pitchFamily="18" charset="0"/>
              </a:rPr>
              <a:t>Electrical and Electronic transmission. </a:t>
            </a:r>
          </a:p>
          <a:p>
            <a:pPr algn="just"/>
            <a:r>
              <a:rPr lang="en-US" dirty="0" smtClean="0">
                <a:solidFill>
                  <a:schemeClr val="tx1"/>
                </a:solidFill>
                <a:latin typeface="Times New Roman" pitchFamily="18" charset="0"/>
                <a:cs typeface="Times New Roman" pitchFamily="18" charset="0"/>
              </a:rPr>
              <a:t>The electrical and electronic methods of data transmission are extensively used in Instrumentation and measurement systems.</a:t>
            </a:r>
            <a:endParaRPr lang="en-US"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a:bodyPr>
          <a:lstStyle/>
          <a:p>
            <a:pPr algn="just"/>
            <a:endParaRPr lang="en-US" sz="2400" dirty="0" smtClean="0">
              <a:solidFill>
                <a:schemeClr val="tx1"/>
              </a:solidFill>
              <a:latin typeface="Times New Roman" pitchFamily="18" charset="0"/>
              <a:cs typeface="Times New Roman" pitchFamily="18" charset="0"/>
            </a:endParaRPr>
          </a:p>
          <a:p>
            <a:pPr algn="just"/>
            <a:r>
              <a:rPr lang="en-US" sz="2400" b="1" u="sng" dirty="0" smtClean="0">
                <a:solidFill>
                  <a:schemeClr val="tx1"/>
                </a:solidFill>
                <a:latin typeface="Times New Roman" pitchFamily="18" charset="0"/>
                <a:cs typeface="Times New Roman" pitchFamily="18" charset="0"/>
              </a:rPr>
              <a:t>GENERAL TELEMETRY SYSTEM </a:t>
            </a:r>
          </a:p>
          <a:p>
            <a:pPr algn="just"/>
            <a:endParaRPr lang="en-US" sz="1400" dirty="0" smtClean="0">
              <a:solidFill>
                <a:schemeClr val="tx1"/>
              </a:solidFill>
              <a:latin typeface="Times New Roman" pitchFamily="18" charset="0"/>
              <a:cs typeface="Times New Roman" pitchFamily="18" charset="0"/>
            </a:endParaRPr>
          </a:p>
          <a:p>
            <a:pPr algn="just">
              <a:buFont typeface="Arial" pitchFamily="34" charset="0"/>
              <a:buChar char="•"/>
            </a:pPr>
            <a:r>
              <a:rPr lang="en-US" sz="2000" dirty="0" smtClean="0">
                <a:solidFill>
                  <a:schemeClr val="tx1"/>
                </a:solidFill>
                <a:latin typeface="Times New Roman" pitchFamily="18" charset="0"/>
                <a:cs typeface="Times New Roman" pitchFamily="18" charset="0"/>
              </a:rPr>
              <a:t>Telemetry may be defined as measurement at a distance. A general </a:t>
            </a:r>
            <a:r>
              <a:rPr lang="en-US" sz="2000" dirty="0" err="1" smtClean="0">
                <a:solidFill>
                  <a:schemeClr val="tx1"/>
                </a:solidFill>
                <a:latin typeface="Times New Roman" pitchFamily="18" charset="0"/>
                <a:cs typeface="Times New Roman" pitchFamily="18" charset="0"/>
              </a:rPr>
              <a:t>telemetering</a:t>
            </a:r>
            <a:r>
              <a:rPr lang="en-US" sz="2000" dirty="0" smtClean="0">
                <a:solidFill>
                  <a:schemeClr val="tx1"/>
                </a:solidFill>
                <a:latin typeface="Times New Roman" pitchFamily="18" charset="0"/>
                <a:cs typeface="Times New Roman" pitchFamily="18" charset="0"/>
              </a:rPr>
              <a:t> system is shown in Fig. 27.1. The primary detector and the end device of the </a:t>
            </a:r>
            <a:r>
              <a:rPr lang="en-US" sz="2000" dirty="0" err="1" smtClean="0">
                <a:solidFill>
                  <a:schemeClr val="tx1"/>
                </a:solidFill>
                <a:latin typeface="Times New Roman" pitchFamily="18" charset="0"/>
                <a:cs typeface="Times New Roman" pitchFamily="18" charset="0"/>
              </a:rPr>
              <a:t>telemetering</a:t>
            </a:r>
            <a:r>
              <a:rPr lang="en-US" sz="2000" dirty="0" smtClean="0">
                <a:solidFill>
                  <a:schemeClr val="tx1"/>
                </a:solidFill>
                <a:latin typeface="Times New Roman" pitchFamily="18" charset="0"/>
                <a:cs typeface="Times New Roman" pitchFamily="18" charset="0"/>
              </a:rPr>
              <a:t> system have the same position and functional roles as in a generalized measurement system. However, there are three system elements in the intermediate stage which are peculiar to a </a:t>
            </a:r>
            <a:r>
              <a:rPr lang="en-US" sz="2000" dirty="0" err="1" smtClean="0">
                <a:solidFill>
                  <a:schemeClr val="tx1"/>
                </a:solidFill>
                <a:latin typeface="Times New Roman" pitchFamily="18" charset="0"/>
                <a:cs typeface="Times New Roman" pitchFamily="18" charset="0"/>
              </a:rPr>
              <a:t>telemetering</a:t>
            </a:r>
            <a:r>
              <a:rPr lang="en-US" sz="2000" dirty="0" smtClean="0">
                <a:solidFill>
                  <a:schemeClr val="tx1"/>
                </a:solidFill>
                <a:latin typeface="Times New Roman" pitchFamily="18" charset="0"/>
                <a:cs typeface="Times New Roman" pitchFamily="18" charset="0"/>
              </a:rPr>
              <a:t> system, they are : </a:t>
            </a:r>
          </a:p>
          <a:p>
            <a:pPr marL="514350" indent="-514350" algn="just">
              <a:buFont typeface="+mj-lt"/>
              <a:buAutoNum type="arabicPeriod"/>
            </a:pPr>
            <a:r>
              <a:rPr lang="en-US" sz="2000" dirty="0" smtClean="0">
                <a:solidFill>
                  <a:schemeClr val="tx1"/>
                </a:solidFill>
                <a:latin typeface="Times New Roman" pitchFamily="18" charset="0"/>
                <a:cs typeface="Times New Roman" pitchFamily="18" charset="0"/>
              </a:rPr>
              <a:t>telemeter transmitter, </a:t>
            </a:r>
          </a:p>
          <a:p>
            <a:pPr marL="514350" indent="-514350" algn="just">
              <a:buFont typeface="+mj-lt"/>
              <a:buAutoNum type="arabicPeriod"/>
            </a:pPr>
            <a:r>
              <a:rPr lang="en-US" sz="2000" dirty="0" smtClean="0">
                <a:solidFill>
                  <a:schemeClr val="tx1"/>
                </a:solidFill>
                <a:latin typeface="Times New Roman" pitchFamily="18" charset="0"/>
                <a:cs typeface="Times New Roman" pitchFamily="18" charset="0"/>
              </a:rPr>
              <a:t>telemeter channel, </a:t>
            </a:r>
          </a:p>
          <a:p>
            <a:pPr marL="514350" indent="-514350" algn="just">
              <a:buFont typeface="+mj-lt"/>
              <a:buAutoNum type="arabicPeriod"/>
            </a:pPr>
            <a:r>
              <a:rPr lang="en-US" sz="2000" dirty="0" smtClean="0">
                <a:solidFill>
                  <a:schemeClr val="tx1"/>
                </a:solidFill>
                <a:latin typeface="Times New Roman" pitchFamily="18" charset="0"/>
                <a:cs typeface="Times New Roman" pitchFamily="18" charset="0"/>
              </a:rPr>
              <a:t>telemeter receiver.</a:t>
            </a:r>
          </a:p>
          <a:p>
            <a:pPr marL="514350" indent="-514350" algn="just">
              <a:buFont typeface="+mj-lt"/>
              <a:buAutoNum type="arabicPeriod"/>
            </a:pPr>
            <a:endParaRPr lang="en-US" dirty="0" smtClean="0">
              <a:solidFill>
                <a:schemeClr val="tx1"/>
              </a:solidFill>
              <a:latin typeface="Times New Roman" pitchFamily="18" charset="0"/>
              <a:cs typeface="Times New Roman" pitchFamily="18" charset="0"/>
            </a:endParaRPr>
          </a:p>
          <a:p>
            <a:pPr marL="514350" indent="-514350" algn="just">
              <a:buFont typeface="+mj-lt"/>
              <a:buAutoNum type="arabicPeriod"/>
            </a:pPr>
            <a:endParaRPr lang="en-US" dirty="0">
              <a:solidFill>
                <a:schemeClr val="tx1"/>
              </a:solidFill>
              <a:latin typeface="Times New Roman" pitchFamily="18" charset="0"/>
              <a:cs typeface="Times New Roman" pitchFamily="18" charset="0"/>
            </a:endParaRPr>
          </a:p>
        </p:txBody>
      </p:sp>
      <p:pic>
        <p:nvPicPr>
          <p:cNvPr id="4" name="Picture 3" descr="aa.JPG"/>
          <p:cNvPicPr>
            <a:picLocks noChangeAspect="1"/>
          </p:cNvPicPr>
          <p:nvPr/>
        </p:nvPicPr>
        <p:blipFill>
          <a:blip r:embed="rId2"/>
          <a:stretch>
            <a:fillRect/>
          </a:stretch>
        </p:blipFill>
        <p:spPr>
          <a:xfrm>
            <a:off x="0" y="3962400"/>
            <a:ext cx="9144000" cy="289560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a:bodyPr>
          <a:lstStyle/>
          <a:p>
            <a:pPr algn="just">
              <a:buFont typeface="Arial" pitchFamily="34" charset="0"/>
              <a:buChar char="•"/>
            </a:pPr>
            <a:r>
              <a:rPr lang="en-US" dirty="0" smtClean="0">
                <a:solidFill>
                  <a:schemeClr val="tx1"/>
                </a:solidFill>
                <a:latin typeface="Times New Roman" pitchFamily="18" charset="0"/>
                <a:cs typeface="Times New Roman" pitchFamily="18" charset="0"/>
              </a:rPr>
              <a:t>The function of the telemeter transmitter is to convert the output of a primary sensing element into an electrical signal and to transmit it over a </a:t>
            </a:r>
            <a:r>
              <a:rPr lang="en-US" dirty="0" err="1" smtClean="0">
                <a:solidFill>
                  <a:schemeClr val="tx1"/>
                </a:solidFill>
                <a:latin typeface="Times New Roman" pitchFamily="18" charset="0"/>
                <a:cs typeface="Times New Roman" pitchFamily="18" charset="0"/>
              </a:rPr>
              <a:t>telemetering</a:t>
            </a:r>
            <a:r>
              <a:rPr lang="en-US" dirty="0" smtClean="0">
                <a:solidFill>
                  <a:schemeClr val="tx1"/>
                </a:solidFill>
                <a:latin typeface="Times New Roman" pitchFamily="18" charset="0"/>
                <a:cs typeface="Times New Roman" pitchFamily="18" charset="0"/>
              </a:rPr>
              <a:t> channel. This signal is in electrical format and is received by a receiver placed at a remote location. This signal is converted into a usable form by the receiver and is indicated or recorded by an end device, which is graduated in terms of the </a:t>
            </a:r>
            <a:r>
              <a:rPr lang="en-US" dirty="0" err="1" smtClean="0">
                <a:solidFill>
                  <a:schemeClr val="tx1"/>
                </a:solidFill>
                <a:latin typeface="Times New Roman" pitchFamily="18" charset="0"/>
                <a:cs typeface="Times New Roman" pitchFamily="18" charset="0"/>
              </a:rPr>
              <a:t>measurand</a:t>
            </a:r>
            <a:r>
              <a:rPr lang="en-US" dirty="0" smtClean="0">
                <a:solidFill>
                  <a:schemeClr val="tx1"/>
                </a:solidFill>
                <a:latin typeface="Times New Roman" pitchFamily="18" charset="0"/>
                <a:cs typeface="Times New Roman" pitchFamily="18" charset="0"/>
              </a:rPr>
              <a:t>. The end device may be a control element which may be used for the control of the input quantity (</a:t>
            </a:r>
            <a:r>
              <a:rPr lang="en-US" dirty="0" err="1" smtClean="0">
                <a:solidFill>
                  <a:schemeClr val="tx1"/>
                </a:solidFill>
                <a:latin typeface="Times New Roman" pitchFamily="18" charset="0"/>
                <a:cs typeface="Times New Roman" pitchFamily="18" charset="0"/>
              </a:rPr>
              <a:t>measurand</a:t>
            </a:r>
            <a:r>
              <a:rPr lang="en-US" dirty="0" smtClean="0">
                <a:solidFill>
                  <a:schemeClr val="tx1"/>
                </a:solidFill>
                <a:latin typeface="Times New Roman" pitchFamily="18" charset="0"/>
                <a:cs typeface="Times New Roman" pitchFamily="18" charset="0"/>
              </a:rPr>
              <a:t>), through a feedback loop to produce desired output.</a:t>
            </a:r>
          </a:p>
          <a:p>
            <a:pPr algn="just">
              <a:buFont typeface="Arial" pitchFamily="34" charset="0"/>
              <a:buChar char="•"/>
            </a:pPr>
            <a:endParaRPr lang="en-US"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a:bodyPr>
          <a:lstStyle/>
          <a:p>
            <a:pPr algn="just"/>
            <a:r>
              <a:rPr lang="en-US" sz="2000" b="1" u="sng" dirty="0" smtClean="0">
                <a:solidFill>
                  <a:schemeClr val="tx1"/>
                </a:solidFill>
                <a:latin typeface="Times New Roman" pitchFamily="18" charset="0"/>
                <a:cs typeface="Times New Roman" pitchFamily="18" charset="0"/>
              </a:rPr>
              <a:t>TELEMETRY SCIENCE </a:t>
            </a:r>
          </a:p>
          <a:p>
            <a:pPr algn="just">
              <a:buFont typeface="Arial" pitchFamily="34" charset="0"/>
              <a:buChar char="•"/>
            </a:pPr>
            <a:r>
              <a:rPr lang="en-US" sz="2000" i="1" dirty="0" smtClean="0">
                <a:solidFill>
                  <a:schemeClr val="tx1"/>
                </a:solidFill>
                <a:latin typeface="Times New Roman" pitchFamily="18" charset="0"/>
                <a:cs typeface="Times New Roman" pitchFamily="18" charset="0"/>
              </a:rPr>
              <a:t>Telemetry is the science involved in performing a measurement at a remote location and transmitting</a:t>
            </a:r>
            <a:endParaRPr lang="en-US" sz="2000" dirty="0" smtClean="0">
              <a:solidFill>
                <a:schemeClr val="tx1"/>
              </a:solidFill>
              <a:latin typeface="Times New Roman" pitchFamily="18" charset="0"/>
              <a:cs typeface="Times New Roman" pitchFamily="18" charset="0"/>
            </a:endParaRPr>
          </a:p>
          <a:p>
            <a:pPr algn="just"/>
            <a:r>
              <a:rPr lang="en-US" sz="2000" dirty="0" smtClean="0">
                <a:solidFill>
                  <a:schemeClr val="tx1"/>
                </a:solidFill>
                <a:latin typeface="Times New Roman" pitchFamily="18" charset="0"/>
                <a:cs typeface="Times New Roman" pitchFamily="18" charset="0"/>
              </a:rPr>
              <a:t>the data to a central location for processing and/or storage. Three basic parts comprise the typical telemetry system (Fig. 27.30) : (1) the data source, which is usually a transducer that converts the measured parameter into an electrical signal ; (2) the mode of transmission of the data ; (3) the receiving station and the recovery of the transmitted data.</a:t>
            </a:r>
          </a:p>
          <a:p>
            <a:pPr algn="just"/>
            <a:endParaRPr lang="en-US" sz="2000" dirty="0">
              <a:solidFill>
                <a:schemeClr val="tx1"/>
              </a:solidFill>
              <a:latin typeface="Times New Roman" pitchFamily="18" charset="0"/>
              <a:cs typeface="Times New Roman" pitchFamily="18" charset="0"/>
            </a:endParaRPr>
          </a:p>
        </p:txBody>
      </p:sp>
      <p:pic>
        <p:nvPicPr>
          <p:cNvPr id="4" name="Picture 3" descr="d.JPG"/>
          <p:cNvPicPr>
            <a:picLocks noChangeAspect="1"/>
          </p:cNvPicPr>
          <p:nvPr/>
        </p:nvPicPr>
        <p:blipFill>
          <a:blip r:embed="rId2"/>
          <a:stretch>
            <a:fillRect/>
          </a:stretch>
        </p:blipFill>
        <p:spPr>
          <a:xfrm>
            <a:off x="0" y="2590800"/>
            <a:ext cx="9144000" cy="42672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77500" lnSpcReduction="20000"/>
          </a:bodyPr>
          <a:lstStyle/>
          <a:p>
            <a:pPr algn="just"/>
            <a:r>
              <a:rPr lang="en-US" b="1" u="sng" dirty="0" smtClean="0">
                <a:solidFill>
                  <a:schemeClr val="tx1"/>
                </a:solidFill>
                <a:latin typeface="Times New Roman" pitchFamily="18" charset="0"/>
                <a:cs typeface="Times New Roman" pitchFamily="18" charset="0"/>
              </a:rPr>
              <a:t>TYPES OF TELEMETRY SYSTEMS </a:t>
            </a:r>
            <a:endParaRPr lang="en-US" dirty="0" smtClean="0">
              <a:solidFill>
                <a:schemeClr val="tx1"/>
              </a:solidFill>
              <a:latin typeface="Times New Roman" pitchFamily="18" charset="0"/>
              <a:cs typeface="Times New Roman" pitchFamily="18" charset="0"/>
            </a:endParaRPr>
          </a:p>
          <a:p>
            <a:pPr algn="just"/>
            <a:r>
              <a:rPr lang="en-US" i="1" dirty="0" smtClean="0">
                <a:solidFill>
                  <a:schemeClr val="tx1"/>
                </a:solidFill>
                <a:latin typeface="Times New Roman" pitchFamily="18" charset="0"/>
                <a:cs typeface="Times New Roman" pitchFamily="18" charset="0"/>
              </a:rPr>
              <a:t>Two types of </a:t>
            </a:r>
            <a:r>
              <a:rPr lang="en-US" i="1" dirty="0" err="1" smtClean="0">
                <a:solidFill>
                  <a:schemeClr val="tx1"/>
                </a:solidFill>
                <a:latin typeface="Times New Roman" pitchFamily="18" charset="0"/>
                <a:cs typeface="Times New Roman" pitchFamily="18" charset="0"/>
              </a:rPr>
              <a:t>telemetering</a:t>
            </a:r>
            <a:r>
              <a:rPr lang="en-US" i="1" dirty="0" smtClean="0">
                <a:solidFill>
                  <a:schemeClr val="tx1"/>
                </a:solidFill>
                <a:latin typeface="Times New Roman" pitchFamily="18" charset="0"/>
                <a:cs typeface="Times New Roman" pitchFamily="18" charset="0"/>
              </a:rPr>
              <a:t> systems are used : </a:t>
            </a:r>
          </a:p>
          <a:p>
            <a:pPr marL="514350" indent="-514350" algn="just">
              <a:buFont typeface="+mj-lt"/>
              <a:buAutoNum type="arabicPeriod"/>
            </a:pPr>
            <a:r>
              <a:rPr lang="en-US" dirty="0" smtClean="0">
                <a:solidFill>
                  <a:schemeClr val="tx1"/>
                </a:solidFill>
                <a:latin typeface="Times New Roman" pitchFamily="18" charset="0"/>
                <a:cs typeface="Times New Roman" pitchFamily="18" charset="0"/>
              </a:rPr>
              <a:t>Land line telemetry, </a:t>
            </a:r>
          </a:p>
          <a:p>
            <a:pPr marL="514350" indent="-514350" algn="just">
              <a:buFont typeface="+mj-lt"/>
              <a:buAutoNum type="arabicPeriod"/>
            </a:pPr>
            <a:r>
              <a:rPr lang="en-US" dirty="0" smtClean="0">
                <a:solidFill>
                  <a:schemeClr val="tx1"/>
                </a:solidFill>
                <a:latin typeface="Times New Roman" pitchFamily="18" charset="0"/>
                <a:cs typeface="Times New Roman" pitchFamily="18" charset="0"/>
              </a:rPr>
              <a:t>R.F. (radio frequency) telemetry. </a:t>
            </a:r>
          </a:p>
          <a:p>
            <a:pPr marL="514350" indent="-514350" algn="just"/>
            <a:r>
              <a:rPr lang="en-US" b="1" u="sng" dirty="0" smtClean="0">
                <a:solidFill>
                  <a:schemeClr val="tx1"/>
                </a:solidFill>
                <a:latin typeface="Times New Roman" pitchFamily="18" charset="0"/>
                <a:cs typeface="Times New Roman" pitchFamily="18" charset="0"/>
              </a:rPr>
              <a:t>1. LAND LINE TELEMETERING SYSTEM </a:t>
            </a:r>
          </a:p>
          <a:p>
            <a:pPr algn="just">
              <a:buFont typeface="Arial" pitchFamily="34" charset="0"/>
              <a:buChar char="•"/>
            </a:pPr>
            <a:r>
              <a:rPr lang="en-US" dirty="0" smtClean="0">
                <a:solidFill>
                  <a:schemeClr val="tx1"/>
                </a:solidFill>
                <a:latin typeface="Times New Roman" pitchFamily="18" charset="0"/>
                <a:cs typeface="Times New Roman" pitchFamily="18" charset="0"/>
              </a:rPr>
              <a:t>A land line </a:t>
            </a:r>
            <a:r>
              <a:rPr lang="en-US" dirty="0" err="1" smtClean="0">
                <a:solidFill>
                  <a:schemeClr val="tx1"/>
                </a:solidFill>
                <a:latin typeface="Times New Roman" pitchFamily="18" charset="0"/>
                <a:cs typeface="Times New Roman" pitchFamily="18" charset="0"/>
              </a:rPr>
              <a:t>telemetring</a:t>
            </a:r>
            <a:r>
              <a:rPr lang="en-US" dirty="0" smtClean="0">
                <a:solidFill>
                  <a:schemeClr val="tx1"/>
                </a:solidFill>
                <a:latin typeface="Times New Roman" pitchFamily="18" charset="0"/>
                <a:cs typeface="Times New Roman" pitchFamily="18" charset="0"/>
              </a:rPr>
              <a:t> system requires a telemeter channel which is a physical link between the telemeter transmitter and receiver. This physical link may be a cable, a specially laid out wire, existing telephone and telegraph cables or a power line carrier.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land line </a:t>
            </a:r>
            <a:r>
              <a:rPr lang="en-US" dirty="0" err="1" smtClean="0">
                <a:solidFill>
                  <a:schemeClr val="tx1"/>
                </a:solidFill>
                <a:latin typeface="Times New Roman" pitchFamily="18" charset="0"/>
                <a:cs typeface="Times New Roman" pitchFamily="18" charset="0"/>
              </a:rPr>
              <a:t>telemetering</a:t>
            </a:r>
            <a:r>
              <a:rPr lang="en-US" dirty="0" smtClean="0">
                <a:solidFill>
                  <a:schemeClr val="tx1"/>
                </a:solidFill>
                <a:latin typeface="Times New Roman" pitchFamily="18" charset="0"/>
                <a:cs typeface="Times New Roman" pitchFamily="18" charset="0"/>
              </a:rPr>
              <a:t> is, in fact, a direct transmission of information through cables and transmission lines. The direct transmission via cables employs current, voltage, frequency, position or impulses to convey the information. </a:t>
            </a:r>
          </a:p>
          <a:p>
            <a:pPr algn="just">
              <a:buFont typeface="Arial" pitchFamily="34" charset="0"/>
              <a:buChar char="•"/>
            </a:pPr>
            <a:r>
              <a:rPr lang="en-US" dirty="0" smtClean="0">
                <a:solidFill>
                  <a:schemeClr val="tx1"/>
                </a:solidFill>
                <a:latin typeface="Times New Roman" pitchFamily="18" charset="0"/>
                <a:cs typeface="Times New Roman" pitchFamily="18" charset="0"/>
              </a:rPr>
              <a:t>Current, voltage and position type systems can be used only for short distances while for long distance telemetry, pulse and frequency types of systems are used.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information may be in the form of analog or digital signals. While current, voltage, position, frequency and pulse types of signals can be used for analog telemetry, only pulse signals can be used for digital telemetry.</a:t>
            </a:r>
            <a:endParaRPr lang="en-US"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77500" lnSpcReduction="20000"/>
          </a:bodyPr>
          <a:lstStyle/>
          <a:p>
            <a:pPr algn="just"/>
            <a:r>
              <a:rPr lang="en-US" dirty="0" smtClean="0">
                <a:solidFill>
                  <a:schemeClr val="tx1"/>
                </a:solidFill>
                <a:latin typeface="Times New Roman" pitchFamily="18" charset="0"/>
                <a:cs typeface="Times New Roman" pitchFamily="18" charset="0"/>
              </a:rPr>
              <a:t>The land line telemetry systems can be classified as : </a:t>
            </a:r>
          </a:p>
          <a:p>
            <a:pPr marL="514350" indent="-514350" algn="just">
              <a:buFont typeface="+mj-lt"/>
              <a:buAutoNum type="arabicPeriod"/>
            </a:pPr>
            <a:r>
              <a:rPr lang="en-US" dirty="0" smtClean="0">
                <a:solidFill>
                  <a:schemeClr val="tx1"/>
                </a:solidFill>
                <a:latin typeface="Times New Roman" pitchFamily="18" charset="0"/>
                <a:cs typeface="Times New Roman" pitchFamily="18" charset="0"/>
              </a:rPr>
              <a:t>voltage </a:t>
            </a:r>
            <a:r>
              <a:rPr lang="en-US" dirty="0" err="1" smtClean="0">
                <a:solidFill>
                  <a:schemeClr val="tx1"/>
                </a:solidFill>
                <a:latin typeface="Times New Roman" pitchFamily="18" charset="0"/>
                <a:cs typeface="Times New Roman" pitchFamily="18" charset="0"/>
              </a:rPr>
              <a:t>telemetering</a:t>
            </a:r>
            <a:r>
              <a:rPr lang="en-US" dirty="0" smtClean="0">
                <a:solidFill>
                  <a:schemeClr val="tx1"/>
                </a:solidFill>
                <a:latin typeface="Times New Roman" pitchFamily="18" charset="0"/>
                <a:cs typeface="Times New Roman" pitchFamily="18" charset="0"/>
              </a:rPr>
              <a:t> systems, </a:t>
            </a:r>
          </a:p>
          <a:p>
            <a:pPr marL="514350" indent="-514350" algn="just">
              <a:buFont typeface="+mj-lt"/>
              <a:buAutoNum type="arabicPeriod"/>
            </a:pPr>
            <a:r>
              <a:rPr lang="en-US" dirty="0" smtClean="0">
                <a:solidFill>
                  <a:schemeClr val="tx1"/>
                </a:solidFill>
                <a:latin typeface="Times New Roman" pitchFamily="18" charset="0"/>
                <a:cs typeface="Times New Roman" pitchFamily="18" charset="0"/>
              </a:rPr>
              <a:t>current </a:t>
            </a:r>
            <a:r>
              <a:rPr lang="en-US" dirty="0" err="1" smtClean="0">
                <a:solidFill>
                  <a:schemeClr val="tx1"/>
                </a:solidFill>
                <a:latin typeface="Times New Roman" pitchFamily="18" charset="0"/>
                <a:cs typeface="Times New Roman" pitchFamily="18" charset="0"/>
              </a:rPr>
              <a:t>telemetering</a:t>
            </a:r>
            <a:r>
              <a:rPr lang="en-US" dirty="0" smtClean="0">
                <a:solidFill>
                  <a:schemeClr val="tx1"/>
                </a:solidFill>
                <a:latin typeface="Times New Roman" pitchFamily="18" charset="0"/>
                <a:cs typeface="Times New Roman" pitchFamily="18" charset="0"/>
              </a:rPr>
              <a:t> systems, and </a:t>
            </a:r>
          </a:p>
          <a:p>
            <a:pPr marL="514350" indent="-514350" algn="just">
              <a:buFont typeface="+mj-lt"/>
              <a:buAutoNum type="arabicPeriod"/>
            </a:pPr>
            <a:r>
              <a:rPr lang="en-US" dirty="0" smtClean="0">
                <a:solidFill>
                  <a:schemeClr val="tx1"/>
                </a:solidFill>
                <a:latin typeface="Times New Roman" pitchFamily="18" charset="0"/>
                <a:cs typeface="Times New Roman" pitchFamily="18" charset="0"/>
              </a:rPr>
              <a:t>position </a:t>
            </a:r>
            <a:r>
              <a:rPr lang="en-US" dirty="0" err="1" smtClean="0">
                <a:solidFill>
                  <a:schemeClr val="tx1"/>
                </a:solidFill>
                <a:latin typeface="Times New Roman" pitchFamily="18" charset="0"/>
                <a:cs typeface="Times New Roman" pitchFamily="18" charset="0"/>
              </a:rPr>
              <a:t>telemetering</a:t>
            </a:r>
            <a:r>
              <a:rPr lang="en-US" dirty="0" smtClean="0">
                <a:solidFill>
                  <a:schemeClr val="tx1"/>
                </a:solidFill>
                <a:latin typeface="Times New Roman" pitchFamily="18" charset="0"/>
                <a:cs typeface="Times New Roman" pitchFamily="18" charset="0"/>
              </a:rPr>
              <a:t> systems.</a:t>
            </a:r>
          </a:p>
          <a:p>
            <a:pPr algn="just"/>
            <a:endParaRPr lang="en-US" dirty="0" smtClean="0">
              <a:solidFill>
                <a:schemeClr val="tx1"/>
              </a:solidFill>
              <a:latin typeface="Times New Roman" pitchFamily="18" charset="0"/>
              <a:cs typeface="Times New Roman" pitchFamily="18" charset="0"/>
            </a:endParaRPr>
          </a:p>
          <a:p>
            <a:pPr algn="just"/>
            <a:r>
              <a:rPr lang="en-US" b="1" u="sng" dirty="0" smtClean="0">
                <a:solidFill>
                  <a:schemeClr val="tx1"/>
                </a:solidFill>
                <a:latin typeface="Times New Roman" pitchFamily="18" charset="0"/>
                <a:cs typeface="Times New Roman" pitchFamily="18" charset="0"/>
              </a:rPr>
              <a:t>Voltage </a:t>
            </a:r>
            <a:r>
              <a:rPr lang="en-US" b="1" u="sng" dirty="0" err="1" smtClean="0">
                <a:solidFill>
                  <a:schemeClr val="tx1"/>
                </a:solidFill>
                <a:latin typeface="Times New Roman" pitchFamily="18" charset="0"/>
                <a:cs typeface="Times New Roman" pitchFamily="18" charset="0"/>
              </a:rPr>
              <a:t>Telemetering</a:t>
            </a:r>
            <a:r>
              <a:rPr lang="en-US" b="1" u="sng" dirty="0" smtClean="0">
                <a:solidFill>
                  <a:schemeClr val="tx1"/>
                </a:solidFill>
                <a:latin typeface="Times New Roman" pitchFamily="18" charset="0"/>
                <a:cs typeface="Times New Roman" pitchFamily="18" charset="0"/>
              </a:rPr>
              <a:t> Systems </a:t>
            </a:r>
          </a:p>
          <a:p>
            <a:pPr algn="just">
              <a:buFont typeface="Arial" pitchFamily="34" charset="0"/>
              <a:buChar char="•"/>
            </a:pPr>
            <a:r>
              <a:rPr lang="en-US" dirty="0" smtClean="0">
                <a:solidFill>
                  <a:schemeClr val="tx1"/>
                </a:solidFill>
                <a:latin typeface="Times New Roman" pitchFamily="18" charset="0"/>
                <a:cs typeface="Times New Roman" pitchFamily="18" charset="0"/>
              </a:rPr>
              <a:t>A voltage </a:t>
            </a:r>
            <a:r>
              <a:rPr lang="en-US" dirty="0" err="1" smtClean="0">
                <a:solidFill>
                  <a:schemeClr val="tx1"/>
                </a:solidFill>
                <a:latin typeface="Times New Roman" pitchFamily="18" charset="0"/>
                <a:cs typeface="Times New Roman" pitchFamily="18" charset="0"/>
              </a:rPr>
              <a:t>telemetering</a:t>
            </a:r>
            <a:r>
              <a:rPr lang="en-US" dirty="0" smtClean="0">
                <a:solidFill>
                  <a:schemeClr val="tx1"/>
                </a:solidFill>
                <a:latin typeface="Times New Roman" pitchFamily="18" charset="0"/>
                <a:cs typeface="Times New Roman" pitchFamily="18" charset="0"/>
              </a:rPr>
              <a:t> system transmits the measured variable as a function of an </a:t>
            </a:r>
            <a:r>
              <a:rPr lang="en-US" dirty="0" err="1" smtClean="0">
                <a:solidFill>
                  <a:schemeClr val="tx1"/>
                </a:solidFill>
                <a:latin typeface="Times New Roman" pitchFamily="18" charset="0"/>
                <a:cs typeface="Times New Roman" pitchFamily="18" charset="0"/>
              </a:rPr>
              <a:t>a.c</a:t>
            </a:r>
            <a:r>
              <a:rPr lang="en-US" dirty="0" smtClean="0">
                <a:solidFill>
                  <a:schemeClr val="tx1"/>
                </a:solidFill>
                <a:latin typeface="Times New Roman" pitchFamily="18" charset="0"/>
                <a:cs typeface="Times New Roman" pitchFamily="18" charset="0"/>
              </a:rPr>
              <a:t>. or </a:t>
            </a:r>
            <a:r>
              <a:rPr lang="en-US" dirty="0" err="1" smtClean="0">
                <a:solidFill>
                  <a:schemeClr val="tx1"/>
                </a:solidFill>
                <a:latin typeface="Times New Roman" pitchFamily="18" charset="0"/>
                <a:cs typeface="Times New Roman" pitchFamily="18" charset="0"/>
              </a:rPr>
              <a:t>d.c</a:t>
            </a:r>
            <a:r>
              <a:rPr lang="en-US" dirty="0" smtClean="0">
                <a:solidFill>
                  <a:schemeClr val="tx1"/>
                </a:solidFill>
                <a:latin typeface="Times New Roman" pitchFamily="18" charset="0"/>
                <a:cs typeface="Times New Roman" pitchFamily="18" charset="0"/>
              </a:rPr>
              <a:t>. voltage.</a:t>
            </a:r>
          </a:p>
          <a:p>
            <a:pPr algn="just"/>
            <a:endParaRPr lang="en-US" dirty="0" smtClean="0">
              <a:solidFill>
                <a:schemeClr val="tx1"/>
              </a:solidFill>
              <a:latin typeface="Times New Roman" pitchFamily="18" charset="0"/>
              <a:cs typeface="Times New Roman" pitchFamily="18" charset="0"/>
            </a:endParaRPr>
          </a:p>
          <a:p>
            <a:pPr algn="just"/>
            <a:r>
              <a:rPr lang="en-US" b="1" u="sng" dirty="0" smtClean="0">
                <a:solidFill>
                  <a:schemeClr val="tx1"/>
                </a:solidFill>
                <a:latin typeface="Times New Roman" pitchFamily="18" charset="0"/>
                <a:cs typeface="Times New Roman" pitchFamily="18" charset="0"/>
              </a:rPr>
              <a:t>Current </a:t>
            </a:r>
            <a:r>
              <a:rPr lang="en-US" b="1" u="sng" dirty="0" err="1" smtClean="0">
                <a:solidFill>
                  <a:schemeClr val="tx1"/>
                </a:solidFill>
                <a:latin typeface="Times New Roman" pitchFamily="18" charset="0"/>
                <a:cs typeface="Times New Roman" pitchFamily="18" charset="0"/>
              </a:rPr>
              <a:t>Telemetering</a:t>
            </a:r>
            <a:r>
              <a:rPr lang="en-US" b="1" u="sng" dirty="0" smtClean="0">
                <a:solidFill>
                  <a:schemeClr val="tx1"/>
                </a:solidFill>
                <a:latin typeface="Times New Roman" pitchFamily="18" charset="0"/>
                <a:cs typeface="Times New Roman" pitchFamily="18" charset="0"/>
              </a:rPr>
              <a:t> System </a:t>
            </a:r>
          </a:p>
          <a:p>
            <a:pPr algn="just">
              <a:buFont typeface="Arial" pitchFamily="34" charset="0"/>
              <a:buChar char="•"/>
            </a:pPr>
            <a:r>
              <a:rPr lang="en-US" dirty="0" smtClean="0">
                <a:solidFill>
                  <a:schemeClr val="tx1"/>
                </a:solidFill>
                <a:latin typeface="Times New Roman" pitchFamily="18" charset="0"/>
                <a:cs typeface="Times New Roman" pitchFamily="18" charset="0"/>
              </a:rPr>
              <a:t>A current </a:t>
            </a:r>
            <a:r>
              <a:rPr lang="en-US" dirty="0" err="1" smtClean="0">
                <a:solidFill>
                  <a:schemeClr val="tx1"/>
                </a:solidFill>
                <a:latin typeface="Times New Roman" pitchFamily="18" charset="0"/>
                <a:cs typeface="Times New Roman" pitchFamily="18" charset="0"/>
              </a:rPr>
              <a:t>telemetering</a:t>
            </a:r>
            <a:r>
              <a:rPr lang="en-US" dirty="0" smtClean="0">
                <a:solidFill>
                  <a:schemeClr val="tx1"/>
                </a:solidFill>
                <a:latin typeface="Times New Roman" pitchFamily="18" charset="0"/>
                <a:cs typeface="Times New Roman" pitchFamily="18" charset="0"/>
              </a:rPr>
              <a:t> system transmits the measured variable as a function of an </a:t>
            </a:r>
            <a:r>
              <a:rPr lang="en-US" dirty="0" err="1" smtClean="0">
                <a:solidFill>
                  <a:schemeClr val="tx1"/>
                </a:solidFill>
                <a:latin typeface="Times New Roman" pitchFamily="18" charset="0"/>
                <a:cs typeface="Times New Roman" pitchFamily="18" charset="0"/>
              </a:rPr>
              <a:t>a.c</a:t>
            </a:r>
            <a:r>
              <a:rPr lang="en-US" dirty="0" smtClean="0">
                <a:solidFill>
                  <a:schemeClr val="tx1"/>
                </a:solidFill>
                <a:latin typeface="Times New Roman" pitchFamily="18" charset="0"/>
                <a:cs typeface="Times New Roman" pitchFamily="18" charset="0"/>
              </a:rPr>
              <a:t>. or </a:t>
            </a:r>
            <a:r>
              <a:rPr lang="en-US" dirty="0" err="1" smtClean="0">
                <a:solidFill>
                  <a:schemeClr val="tx1"/>
                </a:solidFill>
                <a:latin typeface="Times New Roman" pitchFamily="18" charset="0"/>
                <a:cs typeface="Times New Roman" pitchFamily="18" charset="0"/>
              </a:rPr>
              <a:t>d.c</a:t>
            </a:r>
            <a:r>
              <a:rPr lang="en-US" dirty="0" smtClean="0">
                <a:solidFill>
                  <a:schemeClr val="tx1"/>
                </a:solidFill>
                <a:latin typeface="Times New Roman" pitchFamily="18" charset="0"/>
                <a:cs typeface="Times New Roman" pitchFamily="18" charset="0"/>
              </a:rPr>
              <a:t>. current.</a:t>
            </a:r>
          </a:p>
          <a:p>
            <a:pPr algn="just">
              <a:buFont typeface="Arial" pitchFamily="34" charset="0"/>
              <a:buChar char="•"/>
            </a:pPr>
            <a:endParaRPr lang="en-US" dirty="0" smtClean="0">
              <a:solidFill>
                <a:schemeClr val="tx1"/>
              </a:solidFill>
              <a:latin typeface="Times New Roman" pitchFamily="18" charset="0"/>
              <a:cs typeface="Times New Roman" pitchFamily="18" charset="0"/>
            </a:endParaRPr>
          </a:p>
          <a:p>
            <a:pPr algn="just"/>
            <a:r>
              <a:rPr lang="en-US" b="1" u="sng" dirty="0" smtClean="0">
                <a:solidFill>
                  <a:schemeClr val="tx1"/>
                </a:solidFill>
                <a:latin typeface="Times New Roman" pitchFamily="18" charset="0"/>
                <a:cs typeface="Times New Roman" pitchFamily="18" charset="0"/>
              </a:rPr>
              <a:t>Position </a:t>
            </a:r>
            <a:r>
              <a:rPr lang="en-US" b="1" u="sng" dirty="0" err="1" smtClean="0">
                <a:solidFill>
                  <a:schemeClr val="tx1"/>
                </a:solidFill>
                <a:latin typeface="Times New Roman" pitchFamily="18" charset="0"/>
                <a:cs typeface="Times New Roman" pitchFamily="18" charset="0"/>
              </a:rPr>
              <a:t>Telemetering</a:t>
            </a:r>
            <a:r>
              <a:rPr lang="en-US" b="1" u="sng" dirty="0" smtClean="0">
                <a:solidFill>
                  <a:schemeClr val="tx1"/>
                </a:solidFill>
                <a:latin typeface="Times New Roman" pitchFamily="18" charset="0"/>
                <a:cs typeface="Times New Roman" pitchFamily="18" charset="0"/>
              </a:rPr>
              <a:t> System </a:t>
            </a:r>
          </a:p>
          <a:p>
            <a:pPr algn="just">
              <a:buFont typeface="Arial" pitchFamily="34" charset="0"/>
              <a:buChar char="•"/>
            </a:pPr>
            <a:r>
              <a:rPr lang="en-US" dirty="0" smtClean="0">
                <a:solidFill>
                  <a:schemeClr val="tx1"/>
                </a:solidFill>
                <a:latin typeface="Times New Roman" pitchFamily="18" charset="0"/>
                <a:cs typeface="Times New Roman" pitchFamily="18" charset="0"/>
              </a:rPr>
              <a:t>A position </a:t>
            </a:r>
            <a:r>
              <a:rPr lang="en-US" dirty="0" err="1" smtClean="0">
                <a:solidFill>
                  <a:schemeClr val="tx1"/>
                </a:solidFill>
                <a:latin typeface="Times New Roman" pitchFamily="18" charset="0"/>
                <a:cs typeface="Times New Roman" pitchFamily="18" charset="0"/>
              </a:rPr>
              <a:t>telemetering</a:t>
            </a:r>
            <a:r>
              <a:rPr lang="en-US" dirty="0" smtClean="0">
                <a:solidFill>
                  <a:schemeClr val="tx1"/>
                </a:solidFill>
                <a:latin typeface="Times New Roman" pitchFamily="18" charset="0"/>
                <a:cs typeface="Times New Roman" pitchFamily="18" charset="0"/>
              </a:rPr>
              <a:t> system transmits and reproduces the measured variable by positioning variable resistors or other electrical components in a  bridge circuit form so as to produce proportional changes at both the transmitter and receiver ends.</a:t>
            </a:r>
            <a:endParaRPr lang="en-US"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lstStyle/>
          <a:p>
            <a:endParaRPr lang="en-US" dirty="0"/>
          </a:p>
        </p:txBody>
      </p:sp>
      <p:pic>
        <p:nvPicPr>
          <p:cNvPr id="4" name="Picture 3" descr="c.JP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92500" lnSpcReduction="20000"/>
          </a:bodyPr>
          <a:lstStyle/>
          <a:p>
            <a:pPr algn="just">
              <a:buFont typeface="Arial" pitchFamily="34" charset="0"/>
              <a:buChar char="•"/>
            </a:pPr>
            <a:r>
              <a:rPr lang="en-US" dirty="0" smtClean="0">
                <a:solidFill>
                  <a:schemeClr val="tx1"/>
                </a:solidFill>
                <a:latin typeface="Times New Roman" pitchFamily="18" charset="0"/>
                <a:cs typeface="Times New Roman" pitchFamily="18" charset="0"/>
              </a:rPr>
              <a:t>In the land line telemetry, the two primary considerations are : </a:t>
            </a:r>
          </a:p>
          <a:p>
            <a:pPr marL="571500" indent="-571500" algn="just">
              <a:buFont typeface="+mj-lt"/>
              <a:buAutoNum type="romanLcPeriod"/>
            </a:pPr>
            <a:r>
              <a:rPr lang="en-US" dirty="0" smtClean="0">
                <a:solidFill>
                  <a:schemeClr val="tx1"/>
                </a:solidFill>
                <a:latin typeface="Times New Roman" pitchFamily="18" charset="0"/>
                <a:cs typeface="Times New Roman" pitchFamily="18" charset="0"/>
              </a:rPr>
              <a:t>economy and (ii) reliability. </a:t>
            </a:r>
          </a:p>
          <a:p>
            <a:pPr algn="just">
              <a:buFont typeface="Arial" pitchFamily="34" charset="0"/>
              <a:buChar char="•"/>
            </a:pPr>
            <a:r>
              <a:rPr lang="en-US" dirty="0" smtClean="0">
                <a:solidFill>
                  <a:schemeClr val="tx1"/>
                </a:solidFill>
                <a:latin typeface="Times New Roman" pitchFamily="18" charset="0"/>
                <a:cs typeface="Times New Roman" pitchFamily="18" charset="0"/>
              </a:rPr>
              <a:t>In the land-line telemetry, the greatest advantage is the simplicity of the set-up as space required and weight are generally of no consideration. </a:t>
            </a:r>
          </a:p>
          <a:p>
            <a:pPr algn="just">
              <a:buFont typeface="Arial" pitchFamily="34" charset="0"/>
              <a:buChar char="•"/>
            </a:pPr>
            <a:r>
              <a:rPr lang="en-US" dirty="0" smtClean="0">
                <a:solidFill>
                  <a:schemeClr val="tx1"/>
                </a:solidFill>
                <a:latin typeface="Times New Roman" pitchFamily="18" charset="0"/>
                <a:cs typeface="Times New Roman" pitchFamily="18" charset="0"/>
              </a:rPr>
              <a:t>However, the disadvantages are : </a:t>
            </a:r>
          </a:p>
          <a:p>
            <a:pPr marL="571500" indent="-571500" algn="just">
              <a:buAutoNum type="romanLcParenBoth"/>
            </a:pPr>
            <a:r>
              <a:rPr lang="en-US" dirty="0" smtClean="0">
                <a:solidFill>
                  <a:schemeClr val="tx1"/>
                </a:solidFill>
                <a:latin typeface="Times New Roman" pitchFamily="18" charset="0"/>
                <a:cs typeface="Times New Roman" pitchFamily="18" charset="0"/>
              </a:rPr>
              <a:t>all the transmission link distortions are directly introduced into the system. This is particularly true of induction effects of mains frequency from nearby cables.</a:t>
            </a:r>
          </a:p>
          <a:p>
            <a:pPr marL="571500" indent="-571500" algn="just">
              <a:buAutoNum type="romanLcParenBoth"/>
            </a:pPr>
            <a:r>
              <a:rPr lang="en-US" dirty="0" smtClean="0">
                <a:solidFill>
                  <a:schemeClr val="tx1"/>
                </a:solidFill>
                <a:latin typeface="Times New Roman" pitchFamily="18" charset="0"/>
                <a:cs typeface="Times New Roman" pitchFamily="18" charset="0"/>
              </a:rPr>
              <a:t>the effects of thermo-electric </a:t>
            </a:r>
            <a:r>
              <a:rPr lang="en-US" dirty="0" err="1" smtClean="0">
                <a:solidFill>
                  <a:schemeClr val="tx1"/>
                </a:solidFill>
                <a:latin typeface="Times New Roman" pitchFamily="18" charset="0"/>
                <a:cs typeface="Times New Roman" pitchFamily="18" charset="0"/>
              </a:rPr>
              <a:t>emfs</a:t>
            </a:r>
            <a:r>
              <a:rPr lang="en-US" dirty="0" smtClean="0">
                <a:solidFill>
                  <a:schemeClr val="tx1"/>
                </a:solidFill>
                <a:latin typeface="Times New Roman" pitchFamily="18" charset="0"/>
                <a:cs typeface="Times New Roman" pitchFamily="18" charset="0"/>
              </a:rPr>
              <a:t> may be substantial in case </a:t>
            </a:r>
            <a:r>
              <a:rPr lang="en-US" dirty="0" err="1" smtClean="0">
                <a:solidFill>
                  <a:schemeClr val="tx1"/>
                </a:solidFill>
                <a:latin typeface="Times New Roman" pitchFamily="18" charset="0"/>
                <a:cs typeface="Times New Roman" pitchFamily="18" charset="0"/>
              </a:rPr>
              <a:t>d.c</a:t>
            </a:r>
            <a:r>
              <a:rPr lang="en-US" dirty="0" smtClean="0">
                <a:solidFill>
                  <a:schemeClr val="tx1"/>
                </a:solidFill>
                <a:latin typeface="Times New Roman" pitchFamily="18" charset="0"/>
                <a:cs typeface="Times New Roman" pitchFamily="18" charset="0"/>
              </a:rPr>
              <a:t>. telemetry systems are used. </a:t>
            </a:r>
          </a:p>
          <a:p>
            <a:pPr algn="just"/>
            <a:r>
              <a:rPr lang="en-US" dirty="0" smtClean="0">
                <a:solidFill>
                  <a:schemeClr val="tx1"/>
                </a:solidFill>
                <a:latin typeface="Times New Roman" pitchFamily="18" charset="0"/>
                <a:cs typeface="Times New Roman" pitchFamily="18" charset="0"/>
              </a:rPr>
              <a:t>(iii) the frequency response is limited. </a:t>
            </a:r>
          </a:p>
          <a:p>
            <a:pPr algn="just"/>
            <a:endParaRPr lang="en-US" dirty="0" smtClean="0">
              <a:solidFill>
                <a:schemeClr val="tx1"/>
              </a:solidFill>
              <a:latin typeface="Times New Roman" pitchFamily="18" charset="0"/>
              <a:cs typeface="Times New Roman" pitchFamily="18" charset="0"/>
            </a:endParaRPr>
          </a:p>
          <a:p>
            <a:pPr algn="just"/>
            <a:r>
              <a:rPr lang="en-US" dirty="0" smtClean="0">
                <a:solidFill>
                  <a:schemeClr val="tx1"/>
                </a:solidFill>
                <a:latin typeface="Times New Roman" pitchFamily="18" charset="0"/>
                <a:cs typeface="Times New Roman" pitchFamily="18" charset="0"/>
              </a:rPr>
              <a:t>(</a:t>
            </a:r>
            <a:r>
              <a:rPr lang="en-US" dirty="0" err="1" smtClean="0">
                <a:solidFill>
                  <a:schemeClr val="tx1"/>
                </a:solidFill>
                <a:latin typeface="Times New Roman" pitchFamily="18" charset="0"/>
                <a:cs typeface="Times New Roman" pitchFamily="18" charset="0"/>
              </a:rPr>
              <a:t>iu</a:t>
            </a:r>
            <a:r>
              <a:rPr lang="en-US" dirty="0" smtClean="0">
                <a:solidFill>
                  <a:schemeClr val="tx1"/>
                </a:solidFill>
                <a:latin typeface="Times New Roman" pitchFamily="18" charset="0"/>
                <a:cs typeface="Times New Roman" pitchFamily="18" charset="0"/>
              </a:rPr>
              <a:t>) signal multiplexing tends to be impracticable. </a:t>
            </a:r>
            <a:endParaRPr lang="en-US"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85000" lnSpcReduction="20000"/>
          </a:bodyPr>
          <a:lstStyle/>
          <a:p>
            <a:pPr algn="just"/>
            <a:r>
              <a:rPr lang="en-US" b="1" u="sng" dirty="0" smtClean="0">
                <a:solidFill>
                  <a:schemeClr val="tx1"/>
                </a:solidFill>
                <a:latin typeface="Times New Roman" pitchFamily="18" charset="0"/>
                <a:cs typeface="Times New Roman" pitchFamily="18" charset="0"/>
              </a:rPr>
              <a:t>2. RADIO FREQUENCY (R.F.) TELEMETRY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telemetry, earlier on, has been defined, as a technology that enables the user to collect data from several measurement points at inaccessible or inconvenient locations. This is very true of applications which require Radio Frequency (R.F.) telemetry, as in such applications, there is no physical link between the transmitting and receiving stations. The link between the transmission station (where the actual measurements are being carried out) and the receiving station (where the </a:t>
            </a:r>
            <a:r>
              <a:rPr lang="en-US" dirty="0" err="1" smtClean="0">
                <a:solidFill>
                  <a:schemeClr val="tx1"/>
                </a:solidFill>
                <a:latin typeface="Times New Roman" pitchFamily="18" charset="0"/>
                <a:cs typeface="Times New Roman" pitchFamily="18" charset="0"/>
              </a:rPr>
              <a:t>measurand</a:t>
            </a:r>
            <a:r>
              <a:rPr lang="en-US" dirty="0" smtClean="0">
                <a:solidFill>
                  <a:schemeClr val="tx1"/>
                </a:solidFill>
                <a:latin typeface="Times New Roman" pitchFamily="18" charset="0"/>
                <a:cs typeface="Times New Roman" pitchFamily="18" charset="0"/>
              </a:rPr>
              <a:t> is measured, recorded and information used for control purposes) can only be established through radio links. </a:t>
            </a:r>
          </a:p>
          <a:p>
            <a:pPr algn="just">
              <a:buFont typeface="Arial" pitchFamily="34" charset="0"/>
              <a:buChar char="•"/>
            </a:pPr>
            <a:r>
              <a:rPr lang="en-US" dirty="0" smtClean="0">
                <a:solidFill>
                  <a:schemeClr val="tx1"/>
                </a:solidFill>
                <a:latin typeface="Times New Roman" pitchFamily="18" charset="0"/>
                <a:cs typeface="Times New Roman" pitchFamily="18" charset="0"/>
              </a:rPr>
              <a:t>For example, an aircraft on a test flight has many parameters which change during the flight i.e., fuel flow, amount of fuel, engine performance, vibrations of critical parts, performance of avionic systems, temperature of various components. The test pilot can monitor some of these, of course, by observing the readings of the meters on the panel, but time permits reading those instruments which are critical to the safety of the flight and even those are not sufficiently accurate for detailed flight analysis. </a:t>
            </a:r>
            <a:endParaRPr lang="en-US"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92500" lnSpcReduction="20000"/>
          </a:bodyPr>
          <a:lstStyle/>
          <a:p>
            <a:pPr algn="just">
              <a:buFont typeface="Arial" pitchFamily="34" charset="0"/>
              <a:buChar char="•"/>
            </a:pPr>
            <a:r>
              <a:rPr lang="en-US" dirty="0" smtClean="0">
                <a:solidFill>
                  <a:schemeClr val="tx1"/>
                </a:solidFill>
                <a:latin typeface="Times New Roman" pitchFamily="18" charset="0"/>
                <a:cs typeface="Times New Roman" pitchFamily="18" charset="0"/>
              </a:rPr>
              <a:t>An alternative would be taken along a team of specialist engineers involved in the design, production of the air-craft and analysis of the data produced and to suggest the corrective actions. This solution is just not practicable.</a:t>
            </a:r>
          </a:p>
          <a:p>
            <a:pPr algn="just">
              <a:buFont typeface="Arial" pitchFamily="34" charset="0"/>
              <a:buChar char="•"/>
            </a:pPr>
            <a:r>
              <a:rPr lang="en-US" dirty="0" smtClean="0">
                <a:solidFill>
                  <a:schemeClr val="tx1"/>
                </a:solidFill>
                <a:latin typeface="Times New Roman" pitchFamily="18" charset="0"/>
                <a:cs typeface="Times New Roman" pitchFamily="18" charset="0"/>
              </a:rPr>
              <a:t>Another, alternative would be to put a sophisticated computer on the flight for analysis of data. This again is not a satisfactory solution.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best way is to locate the team of engineers on a land based station and the test data be transmitted through radio links from the air-craft to the land station. The team of engineers and the computer stationed on land are in a much better environments to </a:t>
            </a:r>
            <a:r>
              <a:rPr lang="en-US" dirty="0" err="1" smtClean="0">
                <a:solidFill>
                  <a:schemeClr val="tx1"/>
                </a:solidFill>
                <a:latin typeface="Times New Roman" pitchFamily="18" charset="0"/>
                <a:cs typeface="Times New Roman" pitchFamily="18" charset="0"/>
              </a:rPr>
              <a:t>analyse</a:t>
            </a:r>
            <a:r>
              <a:rPr lang="en-US" dirty="0" smtClean="0">
                <a:solidFill>
                  <a:schemeClr val="tx1"/>
                </a:solidFill>
                <a:latin typeface="Times New Roman" pitchFamily="18" charset="0"/>
                <a:cs typeface="Times New Roman" pitchFamily="18" charset="0"/>
              </a:rPr>
              <a:t> the data and suggest the corrective measures.</a:t>
            </a:r>
          </a:p>
          <a:p>
            <a:pPr algn="just"/>
            <a:endParaRPr lang="en-US" dirty="0" smtClean="0">
              <a:solidFill>
                <a:schemeClr val="tx1"/>
              </a:solidFill>
              <a:latin typeface="Times New Roman" pitchFamily="18" charset="0"/>
              <a:cs typeface="Times New Roman" pitchFamily="18" charset="0"/>
            </a:endParaRPr>
          </a:p>
          <a:p>
            <a:pPr algn="just">
              <a:buFont typeface="Arial" pitchFamily="34" charset="0"/>
              <a:buChar char="•"/>
            </a:pPr>
            <a:r>
              <a:rPr lang="en-US" dirty="0" smtClean="0">
                <a:solidFill>
                  <a:schemeClr val="tx1"/>
                </a:solidFill>
                <a:latin typeface="Times New Roman" pitchFamily="18" charset="0"/>
                <a:cs typeface="Times New Roman" pitchFamily="18" charset="0"/>
              </a:rPr>
              <a:t>R.F. telemetry is usually more suitable if the data is to be transmitted over distances greater than 1 km. </a:t>
            </a:r>
            <a:endParaRPr lang="en-US"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lstStyle/>
          <a:p>
            <a:endParaRPr lang="en-US" dirty="0"/>
          </a:p>
        </p:txBody>
      </p:sp>
      <p:pic>
        <p:nvPicPr>
          <p:cNvPr id="4" name="Picture 3" descr="b.JP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85000" lnSpcReduction="20000"/>
          </a:bodyPr>
          <a:lstStyle/>
          <a:p>
            <a:pPr algn="just"/>
            <a:r>
              <a:rPr lang="en-US" b="1" u="sng" dirty="0" smtClean="0">
                <a:solidFill>
                  <a:schemeClr val="tx1"/>
                </a:solidFill>
                <a:latin typeface="Times New Roman" pitchFamily="18" charset="0"/>
                <a:cs typeface="Times New Roman" pitchFamily="18" charset="0"/>
              </a:rPr>
              <a:t>TRANSMISSION CHANNELS AND MEDIA</a:t>
            </a:r>
          </a:p>
          <a:p>
            <a:pPr algn="just"/>
            <a:endParaRPr lang="en-US" dirty="0" smtClean="0">
              <a:solidFill>
                <a:schemeClr val="tx1"/>
              </a:solidFill>
              <a:latin typeface="Times New Roman" pitchFamily="18" charset="0"/>
              <a:cs typeface="Times New Roman" pitchFamily="18" charset="0"/>
            </a:endParaRPr>
          </a:p>
          <a:p>
            <a:pPr algn="just">
              <a:buFont typeface="Arial" pitchFamily="34" charset="0"/>
              <a:buChar char="•"/>
            </a:pPr>
            <a:r>
              <a:rPr lang="en-US" dirty="0" smtClean="0">
                <a:solidFill>
                  <a:schemeClr val="tx1"/>
                </a:solidFill>
                <a:latin typeface="Times New Roman" pitchFamily="18" charset="0"/>
                <a:cs typeface="Times New Roman" pitchFamily="18" charset="0"/>
              </a:rPr>
              <a:t>The most extensively used transmission media are cables and electromagnetic radiation radio links. However, optical, ultrasonic and magnetic induction data links are also used for many applications. </a:t>
            </a:r>
          </a:p>
          <a:p>
            <a:pPr algn="just">
              <a:buFont typeface="Arial" pitchFamily="34" charset="0"/>
              <a:buChar char="•"/>
            </a:pPr>
            <a:r>
              <a:rPr lang="en-US" dirty="0" smtClean="0">
                <a:solidFill>
                  <a:schemeClr val="tx1"/>
                </a:solidFill>
                <a:latin typeface="Times New Roman" pitchFamily="18" charset="0"/>
                <a:cs typeface="Times New Roman" pitchFamily="18" charset="0"/>
              </a:rPr>
              <a:t>Landline telemetry utilizes cables or wires to transmit data from industrial process plants and power generation stations to central monitoring and control units.</a:t>
            </a:r>
          </a:p>
          <a:p>
            <a:pPr algn="just">
              <a:buFont typeface="Arial" pitchFamily="34" charset="0"/>
              <a:buChar char="•"/>
            </a:pPr>
            <a:r>
              <a:rPr lang="en-US" dirty="0" smtClean="0">
                <a:solidFill>
                  <a:schemeClr val="tx1"/>
                </a:solidFill>
                <a:latin typeface="Times New Roman" pitchFamily="18" charset="0"/>
                <a:cs typeface="Times New Roman" pitchFamily="18" charset="0"/>
              </a:rPr>
              <a:t>When the data is to be transmitted over lengths greater than 1 km, radio links are usually more suitable. Certain parts of the radio frequency spectrum are allocated for telemetry. The microwave links are used above about 4 </a:t>
            </a:r>
            <a:r>
              <a:rPr lang="en-US" dirty="0" err="1" smtClean="0">
                <a:solidFill>
                  <a:schemeClr val="tx1"/>
                </a:solidFill>
                <a:latin typeface="Times New Roman" pitchFamily="18" charset="0"/>
                <a:cs typeface="Times New Roman" pitchFamily="18" charset="0"/>
              </a:rPr>
              <a:t>MHz.</a:t>
            </a:r>
            <a:r>
              <a:rPr lang="en-US" dirty="0" smtClean="0">
                <a:solidFill>
                  <a:schemeClr val="tx1"/>
                </a:solidFill>
                <a:latin typeface="Times New Roman" pitchFamily="18" charset="0"/>
                <a:cs typeface="Times New Roman" pitchFamily="18" charset="0"/>
              </a:rPr>
              <a:t> Radio waves at these frequencies tend to travel in a straight line, requiring repeater stations every 30 - 60 km away. </a:t>
            </a:r>
          </a:p>
          <a:p>
            <a:pPr algn="just">
              <a:buFont typeface="Arial" pitchFamily="34" charset="0"/>
              <a:buChar char="•"/>
            </a:pPr>
            <a:r>
              <a:rPr lang="en-US" dirty="0" smtClean="0">
                <a:solidFill>
                  <a:schemeClr val="tx1"/>
                </a:solidFill>
                <a:latin typeface="Times New Roman" pitchFamily="18" charset="0"/>
                <a:cs typeface="Times New Roman" pitchFamily="18" charset="0"/>
              </a:rPr>
              <a:t>Short range non-contact data links of approximate lengths up to 50 m, such as those used force rotating machinery and power lines generally use either FM radio, optical or ultrasonic methods. </a:t>
            </a:r>
            <a:endParaRPr lang="en-US"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70000" lnSpcReduction="20000"/>
          </a:bodyPr>
          <a:lstStyle/>
          <a:p>
            <a:pPr algn="just">
              <a:buFont typeface="Arial" pitchFamily="34" charset="0"/>
              <a:buChar char="•"/>
            </a:pPr>
            <a:r>
              <a:rPr lang="en-US" dirty="0" smtClean="0">
                <a:solidFill>
                  <a:schemeClr val="tx1"/>
                </a:solidFill>
                <a:latin typeface="Times New Roman" pitchFamily="18" charset="0"/>
                <a:cs typeface="Times New Roman" pitchFamily="18" charset="0"/>
              </a:rPr>
              <a:t>The common communication channels used for </a:t>
            </a:r>
            <a:r>
              <a:rPr lang="en-US" dirty="0" err="1" smtClean="0">
                <a:solidFill>
                  <a:schemeClr val="tx1"/>
                </a:solidFill>
                <a:latin typeface="Times New Roman" pitchFamily="18" charset="0"/>
                <a:cs typeface="Times New Roman" pitchFamily="18" charset="0"/>
              </a:rPr>
              <a:t>telemetering</a:t>
            </a:r>
            <a:r>
              <a:rPr lang="en-US" dirty="0" smtClean="0">
                <a:solidFill>
                  <a:schemeClr val="tx1"/>
                </a:solidFill>
                <a:latin typeface="Times New Roman" pitchFamily="18" charset="0"/>
                <a:cs typeface="Times New Roman" pitchFamily="18" charset="0"/>
              </a:rPr>
              <a:t> are :</a:t>
            </a:r>
          </a:p>
          <a:p>
            <a:pPr algn="just"/>
            <a:r>
              <a:rPr lang="en-US" dirty="0" smtClean="0">
                <a:solidFill>
                  <a:schemeClr val="tx1"/>
                </a:solidFill>
                <a:latin typeface="Times New Roman" pitchFamily="18" charset="0"/>
                <a:cs typeface="Times New Roman" pitchFamily="18" charset="0"/>
              </a:rPr>
              <a:t>(</a:t>
            </a:r>
            <a:r>
              <a:rPr lang="en-US" dirty="0" err="1" smtClean="0">
                <a:solidFill>
                  <a:schemeClr val="tx1"/>
                </a:solidFill>
                <a:latin typeface="Times New Roman" pitchFamily="18" charset="0"/>
                <a:cs typeface="Times New Roman" pitchFamily="18" charset="0"/>
              </a:rPr>
              <a:t>i</a:t>
            </a:r>
            <a:r>
              <a:rPr lang="en-US" dirty="0" smtClean="0">
                <a:solidFill>
                  <a:schemeClr val="tx1"/>
                </a:solidFill>
                <a:latin typeface="Times New Roman" pitchFamily="18" charset="0"/>
                <a:cs typeface="Times New Roman" pitchFamily="18" charset="0"/>
              </a:rPr>
              <a:t>) wire line channels</a:t>
            </a:r>
          </a:p>
          <a:p>
            <a:pPr algn="just"/>
            <a:r>
              <a:rPr lang="en-US" dirty="0" smtClean="0">
                <a:solidFill>
                  <a:schemeClr val="tx1"/>
                </a:solidFill>
                <a:latin typeface="Times New Roman" pitchFamily="18" charset="0"/>
                <a:cs typeface="Times New Roman" pitchFamily="18" charset="0"/>
              </a:rPr>
              <a:t>(ii) microwave channels,</a:t>
            </a:r>
          </a:p>
          <a:p>
            <a:pPr algn="just"/>
            <a:r>
              <a:rPr lang="en-US" dirty="0" smtClean="0">
                <a:solidFill>
                  <a:schemeClr val="tx1"/>
                </a:solidFill>
                <a:latin typeface="Times New Roman" pitchFamily="18" charset="0"/>
                <a:cs typeface="Times New Roman" pitchFamily="18" charset="0"/>
              </a:rPr>
              <a:t>(iii) radio channels, and</a:t>
            </a:r>
          </a:p>
          <a:p>
            <a:pPr algn="just"/>
            <a:r>
              <a:rPr lang="en-US" dirty="0" smtClean="0">
                <a:solidFill>
                  <a:schemeClr val="tx1"/>
                </a:solidFill>
                <a:latin typeface="Times New Roman" pitchFamily="18" charset="0"/>
                <a:cs typeface="Times New Roman" pitchFamily="18" charset="0"/>
              </a:rPr>
              <a:t>(iv) power-line carrier channel.</a:t>
            </a:r>
          </a:p>
          <a:p>
            <a:pPr algn="just"/>
            <a:endParaRPr lang="en-US" dirty="0" smtClean="0">
              <a:solidFill>
                <a:schemeClr val="tx1"/>
              </a:solidFill>
              <a:latin typeface="Times New Roman" pitchFamily="18" charset="0"/>
              <a:cs typeface="Times New Roman" pitchFamily="18" charset="0"/>
            </a:endParaRPr>
          </a:p>
          <a:p>
            <a:pPr algn="just"/>
            <a:r>
              <a:rPr lang="en-US" b="1" u="sng" dirty="0" smtClean="0">
                <a:solidFill>
                  <a:schemeClr val="tx1"/>
                </a:solidFill>
                <a:latin typeface="Times New Roman" pitchFamily="18" charset="0"/>
                <a:cs typeface="Times New Roman" pitchFamily="18" charset="0"/>
              </a:rPr>
              <a:t>1. Wire Line Channels</a:t>
            </a:r>
          </a:p>
          <a:p>
            <a:pPr algn="just"/>
            <a:endParaRPr lang="en-US" dirty="0" smtClean="0">
              <a:solidFill>
                <a:schemeClr val="tx1"/>
              </a:solidFill>
              <a:latin typeface="Times New Roman" pitchFamily="18" charset="0"/>
              <a:cs typeface="Times New Roman" pitchFamily="18" charset="0"/>
            </a:endParaRPr>
          </a:p>
          <a:p>
            <a:pPr algn="just">
              <a:buFont typeface="Arial" pitchFamily="34" charset="0"/>
              <a:buChar char="•"/>
            </a:pPr>
            <a:r>
              <a:rPr lang="en-US" dirty="0" smtClean="0">
                <a:solidFill>
                  <a:schemeClr val="tx1"/>
                </a:solidFill>
                <a:latin typeface="Times New Roman" pitchFamily="18" charset="0"/>
                <a:cs typeface="Times New Roman" pitchFamily="18" charset="0"/>
              </a:rPr>
              <a:t>For land-line telemetry wire line channels are used. The wire line is the simplest type of channel for transmission of information. The wire lines may be : (a) privately owned or (b) leased from Posts and Telegraphs Department.</a:t>
            </a:r>
          </a:p>
          <a:p>
            <a:pPr algn="just"/>
            <a:endParaRPr lang="en-US" dirty="0" smtClean="0">
              <a:solidFill>
                <a:schemeClr val="tx1"/>
              </a:solidFill>
              <a:latin typeface="Times New Roman" pitchFamily="18" charset="0"/>
              <a:cs typeface="Times New Roman" pitchFamily="18" charset="0"/>
            </a:endParaRPr>
          </a:p>
          <a:p>
            <a:pPr algn="just">
              <a:buFont typeface="Arial" pitchFamily="34" charset="0"/>
              <a:buChar char="•"/>
            </a:pPr>
            <a:r>
              <a:rPr lang="en-US" dirty="0" smtClean="0">
                <a:solidFill>
                  <a:schemeClr val="tx1"/>
                </a:solidFill>
                <a:latin typeface="Times New Roman" pitchFamily="18" charset="0"/>
                <a:cs typeface="Times New Roman" pitchFamily="18" charset="0"/>
              </a:rPr>
              <a:t>For land-line telemetry an enormous variety of connectors are employed. They range from, a pair of open wires, a pair of twisted wires, wires of a telephone cable, to co-axial cables.</a:t>
            </a:r>
          </a:p>
          <a:p>
            <a:pPr algn="just"/>
            <a:endParaRPr lang="en-US" dirty="0" smtClean="0">
              <a:solidFill>
                <a:schemeClr val="tx1"/>
              </a:solidFill>
              <a:latin typeface="Times New Roman" pitchFamily="18" charset="0"/>
              <a:cs typeface="Times New Roman" pitchFamily="18" charset="0"/>
            </a:endParaRPr>
          </a:p>
          <a:p>
            <a:pPr algn="just"/>
            <a:r>
              <a:rPr lang="en-US" b="1" u="sng" dirty="0" smtClean="0">
                <a:solidFill>
                  <a:schemeClr val="tx1"/>
                </a:solidFill>
                <a:latin typeface="Times New Roman" pitchFamily="18" charset="0"/>
                <a:cs typeface="Times New Roman" pitchFamily="18" charset="0"/>
              </a:rPr>
              <a:t>2. Radio Channels </a:t>
            </a:r>
          </a:p>
          <a:p>
            <a:pPr algn="just"/>
            <a:endParaRPr lang="en-US" dirty="0" smtClean="0">
              <a:solidFill>
                <a:schemeClr val="tx1"/>
              </a:solidFill>
              <a:latin typeface="Times New Roman" pitchFamily="18" charset="0"/>
              <a:cs typeface="Times New Roman" pitchFamily="18" charset="0"/>
            </a:endParaRPr>
          </a:p>
          <a:p>
            <a:pPr algn="just">
              <a:buFont typeface="Arial" pitchFamily="34" charset="0"/>
              <a:buChar char="•"/>
            </a:pPr>
            <a:r>
              <a:rPr lang="en-US" dirty="0" smtClean="0">
                <a:solidFill>
                  <a:schemeClr val="tx1"/>
                </a:solidFill>
                <a:latin typeface="Times New Roman" pitchFamily="18" charset="0"/>
                <a:cs typeface="Times New Roman" pitchFamily="18" charset="0"/>
              </a:rPr>
              <a:t>Where longer distances are involved, or where measurements have to be made in a missile or moving vehicle, it may be necessary to use radio frequency (RF) techniques to transmit information</a:t>
            </a:r>
            <a:endParaRPr lang="en-US"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85000" lnSpcReduction="20000"/>
          </a:bodyPr>
          <a:lstStyle/>
          <a:p>
            <a:pPr algn="just"/>
            <a:r>
              <a:rPr lang="en-US" b="1" u="sng" dirty="0" smtClean="0">
                <a:solidFill>
                  <a:schemeClr val="tx1"/>
                </a:solidFill>
                <a:latin typeface="Times New Roman" pitchFamily="18" charset="0"/>
                <a:cs typeface="Times New Roman" pitchFamily="18" charset="0"/>
              </a:rPr>
              <a:t>3. Microwave Channels </a:t>
            </a:r>
            <a:endParaRPr lang="en-US" dirty="0" smtClean="0">
              <a:solidFill>
                <a:schemeClr val="tx1"/>
              </a:solidFill>
              <a:latin typeface="Times New Roman" pitchFamily="18" charset="0"/>
              <a:cs typeface="Times New Roman" pitchFamily="18" charset="0"/>
            </a:endParaRPr>
          </a:p>
          <a:p>
            <a:pPr algn="just">
              <a:buFont typeface="Arial" pitchFamily="34" charset="0"/>
              <a:buChar char="•"/>
            </a:pPr>
            <a:r>
              <a:rPr lang="en-US" dirty="0" smtClean="0">
                <a:solidFill>
                  <a:schemeClr val="tx1"/>
                </a:solidFill>
                <a:latin typeface="Times New Roman" pitchFamily="18" charset="0"/>
                <a:cs typeface="Times New Roman" pitchFamily="18" charset="0"/>
              </a:rPr>
              <a:t>Microwave is a special case of radio transmission.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necessity for a large number of communication channels in industries like power and gas transmission and the overcrowding of spectrum in the radio frequency range has led to the increased use of microwave radio transmission. Several bands in the range of 890 MHz to 30 GHz have been allocated for microwave transmission.</a:t>
            </a:r>
          </a:p>
          <a:p>
            <a:pPr algn="just"/>
            <a:endParaRPr lang="en-US" dirty="0" smtClean="0">
              <a:solidFill>
                <a:schemeClr val="tx1"/>
              </a:solidFill>
              <a:latin typeface="Times New Roman" pitchFamily="18" charset="0"/>
              <a:cs typeface="Times New Roman" pitchFamily="18" charset="0"/>
            </a:endParaRPr>
          </a:p>
          <a:p>
            <a:pPr algn="just"/>
            <a:r>
              <a:rPr lang="en-US" b="1" u="sng" dirty="0" smtClean="0">
                <a:solidFill>
                  <a:schemeClr val="tx1"/>
                </a:solidFill>
                <a:latin typeface="Times New Roman" pitchFamily="18" charset="0"/>
                <a:cs typeface="Times New Roman" pitchFamily="18" charset="0"/>
              </a:rPr>
              <a:t>4. Power Line Carrier Channels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use of power line carriers has been prevalent for a long time to transmit information between the central generating station and the local substations. </a:t>
            </a:r>
          </a:p>
          <a:p>
            <a:pPr algn="just">
              <a:buFont typeface="Arial" pitchFamily="34" charset="0"/>
              <a:buChar char="•"/>
            </a:pPr>
            <a:r>
              <a:rPr lang="en-US" dirty="0" smtClean="0">
                <a:solidFill>
                  <a:schemeClr val="tx1"/>
                </a:solidFill>
                <a:latin typeface="Times New Roman" pitchFamily="18" charset="0"/>
                <a:cs typeface="Times New Roman" pitchFamily="18" charset="0"/>
              </a:rPr>
              <a:t>They utilize the power line equipment for this purpose. </a:t>
            </a:r>
          </a:p>
          <a:p>
            <a:pPr algn="just">
              <a:buFont typeface="Arial" pitchFamily="34" charset="0"/>
              <a:buChar char="•"/>
            </a:pPr>
            <a:r>
              <a:rPr lang="en-US" dirty="0" smtClean="0">
                <a:solidFill>
                  <a:schemeClr val="tx1"/>
                </a:solidFill>
                <a:latin typeface="Times New Roman" pitchFamily="18" charset="0"/>
                <a:cs typeface="Times New Roman" pitchFamily="18" charset="0"/>
              </a:rPr>
              <a:t>An </a:t>
            </a:r>
            <a:r>
              <a:rPr lang="en-US" dirty="0" err="1" smtClean="0">
                <a:solidFill>
                  <a:schemeClr val="tx1"/>
                </a:solidFill>
                <a:latin typeface="Times New Roman" pitchFamily="18" charset="0"/>
                <a:cs typeface="Times New Roman" pitchFamily="18" charset="0"/>
              </a:rPr>
              <a:t>a.c</a:t>
            </a:r>
            <a:r>
              <a:rPr lang="en-US" dirty="0" smtClean="0">
                <a:solidFill>
                  <a:schemeClr val="tx1"/>
                </a:solidFill>
                <a:latin typeface="Times New Roman" pitchFamily="18" charset="0"/>
                <a:cs typeface="Times New Roman" pitchFamily="18" charset="0"/>
              </a:rPr>
              <a:t>. carrier is coupled to the </a:t>
            </a:r>
            <a:r>
              <a:rPr lang="en-US" dirty="0" err="1" smtClean="0">
                <a:solidFill>
                  <a:schemeClr val="tx1"/>
                </a:solidFill>
                <a:latin typeface="Times New Roman" pitchFamily="18" charset="0"/>
                <a:cs typeface="Times New Roman" pitchFamily="18" charset="0"/>
              </a:rPr>
              <a:t>a.c</a:t>
            </a:r>
            <a:r>
              <a:rPr lang="en-US" dirty="0" smtClean="0">
                <a:solidFill>
                  <a:schemeClr val="tx1"/>
                </a:solidFill>
                <a:latin typeface="Times New Roman" pitchFamily="18" charset="0"/>
                <a:cs typeface="Times New Roman" pitchFamily="18" charset="0"/>
              </a:rPr>
              <a:t>. voltage transmission line and the information to be </a:t>
            </a:r>
            <a:r>
              <a:rPr lang="en-US" dirty="0" err="1" smtClean="0">
                <a:solidFill>
                  <a:schemeClr val="tx1"/>
                </a:solidFill>
                <a:latin typeface="Times New Roman" pitchFamily="18" charset="0"/>
                <a:cs typeface="Times New Roman" pitchFamily="18" charset="0"/>
              </a:rPr>
              <a:t>telemetered</a:t>
            </a:r>
            <a:r>
              <a:rPr lang="en-US" dirty="0" smtClean="0">
                <a:solidFill>
                  <a:schemeClr val="tx1"/>
                </a:solidFill>
                <a:latin typeface="Times New Roman" pitchFamily="18" charset="0"/>
                <a:cs typeface="Times New Roman" pitchFamily="18" charset="0"/>
              </a:rPr>
              <a:t> is superposed upon the transmitted power.</a:t>
            </a:r>
            <a:endParaRPr lang="en-US"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a:solidFill>
            <a:schemeClr val="bg1"/>
          </a:solidFill>
        </p:spPr>
        <p:txBody>
          <a:bodyPr>
            <a:normAutofit fontScale="77500" lnSpcReduction="20000"/>
          </a:bodyPr>
          <a:lstStyle/>
          <a:p>
            <a:pPr algn="just"/>
            <a:r>
              <a:rPr lang="en-US" b="1" u="sng" dirty="0" smtClean="0">
                <a:solidFill>
                  <a:schemeClr val="tx1"/>
                </a:solidFill>
                <a:latin typeface="Times New Roman" pitchFamily="18" charset="0"/>
                <a:cs typeface="Times New Roman" pitchFamily="18" charset="0"/>
              </a:rPr>
              <a:t>Application of Telemetry system</a:t>
            </a:r>
          </a:p>
          <a:p>
            <a:pPr algn="just">
              <a:buFont typeface="Arial" pitchFamily="34" charset="0"/>
              <a:buChar char="•"/>
            </a:pPr>
            <a:r>
              <a:rPr lang="en-US" dirty="0" smtClean="0">
                <a:solidFill>
                  <a:schemeClr val="tx1"/>
                </a:solidFill>
                <a:latin typeface="Times New Roman" pitchFamily="18" charset="0"/>
                <a:cs typeface="Times New Roman" pitchFamily="18" charset="0"/>
              </a:rPr>
              <a:t>In software development, telemetry systems are used with an end user's permission to remotely monitor the security, health and </a:t>
            </a:r>
            <a:r>
              <a:rPr lang="en-US" dirty="0" smtClean="0">
                <a:solidFill>
                  <a:schemeClr val="tx1"/>
                </a:solidFill>
                <a:latin typeface="Times New Roman" pitchFamily="18" charset="0"/>
                <a:cs typeface="Times New Roman" pitchFamily="18" charset="0"/>
                <a:hlinkClick r:id="rId2"/>
              </a:rPr>
              <a:t>performance of applications</a:t>
            </a:r>
            <a:r>
              <a:rPr lang="en-US" dirty="0" smtClean="0">
                <a:solidFill>
                  <a:schemeClr val="tx1"/>
                </a:solidFill>
                <a:latin typeface="Times New Roman" pitchFamily="18" charset="0"/>
                <a:cs typeface="Times New Roman" pitchFamily="18" charset="0"/>
              </a:rPr>
              <a:t>. The information developers get from these systems provides insights into how their applications are performing without the need of feedback from users.</a:t>
            </a:r>
          </a:p>
          <a:p>
            <a:pPr algn="just"/>
            <a:r>
              <a:rPr lang="en-US" dirty="0" smtClean="0">
                <a:solidFill>
                  <a:schemeClr val="tx1"/>
                </a:solidFill>
                <a:latin typeface="Times New Roman" pitchFamily="18" charset="0"/>
                <a:cs typeface="Times New Roman" pitchFamily="18" charset="0"/>
              </a:rPr>
              <a:t>Telemetry is also used in the following fields:</a:t>
            </a:r>
          </a:p>
          <a:p>
            <a:pPr algn="just"/>
            <a:r>
              <a:rPr lang="en-US" b="1" dirty="0" smtClean="0">
                <a:solidFill>
                  <a:schemeClr val="tx1"/>
                </a:solidFill>
                <a:latin typeface="Times New Roman" pitchFamily="18" charset="0"/>
                <a:cs typeface="Times New Roman" pitchFamily="18" charset="0"/>
              </a:rPr>
              <a:t>Meteorology.</a:t>
            </a:r>
            <a:r>
              <a:rPr lang="en-US" dirty="0" smtClean="0">
                <a:solidFill>
                  <a:schemeClr val="tx1"/>
                </a:solidFill>
                <a:latin typeface="Times New Roman" pitchFamily="18" charset="0"/>
                <a:cs typeface="Times New Roman" pitchFamily="18" charset="0"/>
              </a:rPr>
              <a:t> Weather balloons and other meteorological devices use telemetry system to </a:t>
            </a:r>
            <a:r>
              <a:rPr lang="en-US" u="sng" dirty="0" smtClean="0">
                <a:solidFill>
                  <a:schemeClr val="tx1"/>
                </a:solidFill>
                <a:latin typeface="Times New Roman" pitchFamily="18" charset="0"/>
                <a:cs typeface="Times New Roman" pitchFamily="18" charset="0"/>
                <a:hlinkClick r:id="rId3"/>
              </a:rPr>
              <a:t>collect and transmit meteorological data</a:t>
            </a:r>
            <a:r>
              <a:rPr lang="en-US" dirty="0" smtClean="0">
                <a:solidFill>
                  <a:schemeClr val="tx1"/>
                </a:solidFill>
                <a:latin typeface="Times New Roman" pitchFamily="18" charset="0"/>
                <a:cs typeface="Times New Roman" pitchFamily="18" charset="0"/>
              </a:rPr>
              <a:t> such as temperature and barometric pressure.</a:t>
            </a:r>
          </a:p>
          <a:p>
            <a:pPr algn="just"/>
            <a:r>
              <a:rPr lang="en-US" b="1" dirty="0" smtClean="0">
                <a:solidFill>
                  <a:schemeClr val="tx1"/>
                </a:solidFill>
                <a:latin typeface="Times New Roman" pitchFamily="18" charset="0"/>
                <a:cs typeface="Times New Roman" pitchFamily="18" charset="0"/>
              </a:rPr>
              <a:t>Agriculture. </a:t>
            </a:r>
            <a:r>
              <a:rPr lang="en-US" dirty="0" smtClean="0">
                <a:solidFill>
                  <a:schemeClr val="tx1"/>
                </a:solidFill>
                <a:latin typeface="Times New Roman" pitchFamily="18" charset="0"/>
                <a:cs typeface="Times New Roman" pitchFamily="18" charset="0"/>
              </a:rPr>
              <a:t>Wireless weather stations and sensors gather data on the environment, such as temperature, humidity and solar radiation, that helps farmers make decisions about what and when to plant crops.</a:t>
            </a:r>
          </a:p>
          <a:p>
            <a:pPr algn="just"/>
            <a:r>
              <a:rPr lang="en-US" b="1" dirty="0" smtClean="0">
                <a:solidFill>
                  <a:schemeClr val="tx1"/>
                </a:solidFill>
                <a:latin typeface="Times New Roman" pitchFamily="18" charset="0"/>
                <a:cs typeface="Times New Roman" pitchFamily="18" charset="0"/>
              </a:rPr>
              <a:t>Space exploration and defense. </a:t>
            </a:r>
            <a:r>
              <a:rPr lang="en-US" dirty="0" smtClean="0">
                <a:solidFill>
                  <a:schemeClr val="tx1"/>
                </a:solidFill>
                <a:latin typeface="Times New Roman" pitchFamily="18" charset="0"/>
                <a:cs typeface="Times New Roman" pitchFamily="18" charset="0"/>
              </a:rPr>
              <a:t>NASA and the U.S. military use telemetry to monitor the location, performance and health of satellites, spacecraft and aircraft.</a:t>
            </a:r>
          </a:p>
          <a:p>
            <a:pPr algn="just"/>
            <a:r>
              <a:rPr lang="en-US" b="1" dirty="0" smtClean="0">
                <a:solidFill>
                  <a:schemeClr val="tx1"/>
                </a:solidFill>
                <a:latin typeface="Times New Roman" pitchFamily="18" charset="0"/>
                <a:cs typeface="Times New Roman" pitchFamily="18" charset="0"/>
              </a:rPr>
              <a:t>Healthcare.</a:t>
            </a:r>
            <a:r>
              <a:rPr lang="en-US" dirty="0" smtClean="0">
                <a:solidFill>
                  <a:schemeClr val="tx1"/>
                </a:solidFill>
                <a:latin typeface="Times New Roman" pitchFamily="18" charset="0"/>
                <a:cs typeface="Times New Roman" pitchFamily="18" charset="0"/>
              </a:rPr>
              <a:t> Individuals with heart conditions or other medical issues use telemetry devices to monitor heart rate, blood pressure and other vital statistics. This </a:t>
            </a:r>
            <a:r>
              <a:rPr lang="en-US" u="sng" dirty="0" smtClean="0">
                <a:solidFill>
                  <a:schemeClr val="tx1"/>
                </a:solidFill>
                <a:latin typeface="Times New Roman" pitchFamily="18" charset="0"/>
                <a:cs typeface="Times New Roman" pitchFamily="18" charset="0"/>
                <a:hlinkClick r:id="rId4"/>
              </a:rPr>
              <a:t>use of telemetry in healthcare</a:t>
            </a:r>
            <a:r>
              <a:rPr lang="en-US" dirty="0" smtClean="0">
                <a:solidFill>
                  <a:schemeClr val="tx1"/>
                </a:solidFill>
                <a:latin typeface="Times New Roman" pitchFamily="18" charset="0"/>
                <a:cs typeface="Times New Roman" pitchFamily="18" charset="0"/>
              </a:rPr>
              <a:t> is sometimes referred to as biotelemetry.</a:t>
            </a:r>
          </a:p>
          <a:p>
            <a:pPr algn="just"/>
            <a:endParaRPr lang="en-US"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fontScale="92500" lnSpcReduction="20000"/>
          </a:bodyPr>
          <a:lstStyle/>
          <a:p>
            <a:pPr algn="just"/>
            <a:r>
              <a:rPr lang="en-US" b="1" dirty="0" smtClean="0">
                <a:solidFill>
                  <a:schemeClr val="tx1"/>
                </a:solidFill>
                <a:latin typeface="Times New Roman" pitchFamily="18" charset="0"/>
                <a:cs typeface="Times New Roman" pitchFamily="18" charset="0"/>
              </a:rPr>
              <a:t>What is data transmission?</a:t>
            </a:r>
          </a:p>
          <a:p>
            <a:pPr algn="just">
              <a:buFont typeface="Arial" pitchFamily="34" charset="0"/>
              <a:buChar char="•"/>
            </a:pPr>
            <a:r>
              <a:rPr lang="en-US" dirty="0" smtClean="0">
                <a:solidFill>
                  <a:schemeClr val="tx1"/>
                </a:solidFill>
                <a:latin typeface="Times New Roman" pitchFamily="18" charset="0"/>
                <a:cs typeface="Times New Roman" pitchFamily="18" charset="0"/>
                <a:hlinkClick r:id="rId2"/>
              </a:rPr>
              <a:t>Data transmission</a:t>
            </a:r>
            <a:r>
              <a:rPr lang="en-US" dirty="0" smtClean="0">
                <a:solidFill>
                  <a:schemeClr val="tx1"/>
                </a:solidFill>
                <a:latin typeface="Times New Roman" pitchFamily="18" charset="0"/>
                <a:cs typeface="Times New Roman" pitchFamily="18" charset="0"/>
              </a:rPr>
              <a:t> refers to the process of transferring data between two or more digital devices. Data is transmitted from one device to another in analog or digital format. Basically, data transmission enables devices or components within devices to speak to each other.</a:t>
            </a:r>
          </a:p>
          <a:p>
            <a:pPr algn="just"/>
            <a:r>
              <a:rPr lang="en-US" b="1" dirty="0" smtClean="0">
                <a:solidFill>
                  <a:schemeClr val="tx1"/>
                </a:solidFill>
                <a:latin typeface="Times New Roman" pitchFamily="18" charset="0"/>
                <a:cs typeface="Times New Roman" pitchFamily="18" charset="0"/>
              </a:rPr>
              <a:t>How does data transmission work between digital devices?</a:t>
            </a:r>
          </a:p>
          <a:p>
            <a:pPr algn="just">
              <a:buFont typeface="Arial" pitchFamily="34" charset="0"/>
              <a:buChar char="•"/>
            </a:pPr>
            <a:r>
              <a:rPr lang="en-US" dirty="0" smtClean="0">
                <a:solidFill>
                  <a:schemeClr val="tx1"/>
                </a:solidFill>
                <a:latin typeface="Times New Roman" pitchFamily="18" charset="0"/>
                <a:cs typeface="Times New Roman" pitchFamily="18" charset="0"/>
              </a:rPr>
              <a:t>Data is transferred in the form of bits between two or more digital devices. </a:t>
            </a:r>
          </a:p>
          <a:p>
            <a:pPr algn="just">
              <a:buFont typeface="Arial" pitchFamily="34" charset="0"/>
              <a:buChar char="•"/>
            </a:pPr>
            <a:r>
              <a:rPr lang="en-US" dirty="0" smtClean="0">
                <a:solidFill>
                  <a:schemeClr val="tx1"/>
                </a:solidFill>
                <a:latin typeface="Times New Roman" pitchFamily="18" charset="0"/>
                <a:cs typeface="Times New Roman" pitchFamily="18" charset="0"/>
              </a:rPr>
              <a:t>There are two methods used to transmit data between digital devices: serial transmission and parallel transmission. </a:t>
            </a:r>
          </a:p>
          <a:p>
            <a:pPr algn="just">
              <a:buFont typeface="Arial" pitchFamily="34" charset="0"/>
              <a:buChar char="•"/>
            </a:pPr>
            <a:r>
              <a:rPr lang="en-US" dirty="0" smtClean="0">
                <a:solidFill>
                  <a:schemeClr val="tx1"/>
                </a:solidFill>
                <a:latin typeface="Times New Roman" pitchFamily="18" charset="0"/>
                <a:cs typeface="Times New Roman" pitchFamily="18" charset="0"/>
              </a:rPr>
              <a:t>Serial data transmission sends data bits one after another over a single channel. </a:t>
            </a:r>
          </a:p>
          <a:p>
            <a:pPr algn="just">
              <a:buFont typeface="Arial" pitchFamily="34" charset="0"/>
              <a:buChar char="•"/>
            </a:pPr>
            <a:r>
              <a:rPr lang="en-US" dirty="0" smtClean="0">
                <a:solidFill>
                  <a:schemeClr val="tx1"/>
                </a:solidFill>
                <a:latin typeface="Times New Roman" pitchFamily="18" charset="0"/>
                <a:cs typeface="Times New Roman" pitchFamily="18" charset="0"/>
              </a:rPr>
              <a:t>Parallel data transmission sends multiple data bits at the same time over multiple channels.</a:t>
            </a:r>
          </a:p>
          <a:p>
            <a:pPr algn="just"/>
            <a:endParaRPr lang="en-US"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algn="just" fontAlgn="base">
              <a:buNone/>
            </a:pPr>
            <a:r>
              <a:rPr lang="en-US" sz="2200" b="1" u="sng" dirty="0" smtClean="0">
                <a:latin typeface="Times New Roman" pitchFamily="18" charset="0"/>
                <a:cs typeface="Times New Roman" pitchFamily="18" charset="0"/>
              </a:rPr>
              <a:t>Definition of Serial Communication</a:t>
            </a:r>
          </a:p>
          <a:p>
            <a:pPr algn="just" fontAlgn="base"/>
            <a:r>
              <a:rPr lang="en-US" sz="2200" dirty="0" smtClean="0">
                <a:latin typeface="Times New Roman" pitchFamily="18" charset="0"/>
                <a:cs typeface="Times New Roman" pitchFamily="18" charset="0"/>
              </a:rPr>
              <a:t>In serial communication the data bits are transmitted serially over a common communication link one after the other. Basically it does not allow simultaneous transmission of data because only a single channel is utilized. Thereby allowing sequential transfer rather than simultaneous transfer.</a:t>
            </a:r>
          </a:p>
          <a:p>
            <a:pPr algn="just" fontAlgn="base"/>
            <a:r>
              <a:rPr lang="en-US" sz="2200" dirty="0" smtClean="0">
                <a:latin typeface="Times New Roman" pitchFamily="18" charset="0"/>
                <a:cs typeface="Times New Roman" pitchFamily="18" charset="0"/>
              </a:rPr>
              <a:t>It is highly suitable for long distance signal transmission as only a single wire or bus is used. So, it can be connected between two points that are separated at a large distance with respect to each other. But as only a </a:t>
            </a:r>
            <a:r>
              <a:rPr lang="en-US" sz="2200" b="1" dirty="0" smtClean="0">
                <a:latin typeface="Times New Roman" pitchFamily="18" charset="0"/>
                <a:cs typeface="Times New Roman" pitchFamily="18" charset="0"/>
              </a:rPr>
              <a:t>single data bit is transmitted per clock pulse</a:t>
            </a:r>
            <a:r>
              <a:rPr lang="en-US" sz="2200" dirty="0" smtClean="0">
                <a:latin typeface="Times New Roman" pitchFamily="18" charset="0"/>
                <a:cs typeface="Times New Roman" pitchFamily="18" charset="0"/>
              </a:rPr>
              <a:t> thus the transmission of data is a quiet time taking process.</a:t>
            </a:r>
          </a:p>
          <a:p>
            <a:pPr algn="just" fontAlgn="base"/>
            <a:r>
              <a:rPr lang="en-US" sz="2200" dirty="0" smtClean="0">
                <a:latin typeface="Times New Roman" pitchFamily="18" charset="0"/>
                <a:cs typeface="Times New Roman" pitchFamily="18" charset="0"/>
              </a:rPr>
              <a:t>The figure below shows the serial data transmission:</a:t>
            </a:r>
          </a:p>
          <a:p>
            <a:pPr algn="just" fontAlgn="base"/>
            <a:endParaRPr lang="en-US" dirty="0" smtClean="0">
              <a:latin typeface="Times New Roman" pitchFamily="18" charset="0"/>
              <a:cs typeface="Times New Roman" pitchFamily="18" charset="0"/>
            </a:endParaRPr>
          </a:p>
          <a:p>
            <a:pPr algn="just">
              <a:buNone/>
            </a:pPr>
            <a:endParaRPr lang="en-US" dirty="0">
              <a:latin typeface="Times New Roman" pitchFamily="18" charset="0"/>
              <a:cs typeface="Times New Roman" pitchFamily="18" charset="0"/>
            </a:endParaRPr>
          </a:p>
        </p:txBody>
      </p:sp>
      <p:pic>
        <p:nvPicPr>
          <p:cNvPr id="4" name="Picture 3" descr="e.JPG"/>
          <p:cNvPicPr>
            <a:picLocks noChangeAspect="1"/>
          </p:cNvPicPr>
          <p:nvPr/>
        </p:nvPicPr>
        <p:blipFill>
          <a:blip r:embed="rId2"/>
          <a:stretch>
            <a:fillRect/>
          </a:stretch>
        </p:blipFill>
        <p:spPr>
          <a:xfrm>
            <a:off x="457200" y="4038600"/>
            <a:ext cx="8077200" cy="281940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0000" lnSpcReduction="20000"/>
          </a:bodyPr>
          <a:lstStyle/>
          <a:p>
            <a:pPr algn="just"/>
            <a:r>
              <a:rPr lang="en-US" dirty="0" smtClean="0">
                <a:latin typeface="Times New Roman" pitchFamily="18" charset="0"/>
                <a:cs typeface="Times New Roman" pitchFamily="18" charset="0"/>
              </a:rPr>
              <a:t>Serial transmission has </a:t>
            </a:r>
            <a:r>
              <a:rPr lang="en-US" b="1" dirty="0" smtClean="0">
                <a:latin typeface="Times New Roman" pitchFamily="18" charset="0"/>
                <a:cs typeface="Times New Roman" pitchFamily="18" charset="0"/>
              </a:rPr>
              <a:t>two classifications</a:t>
            </a:r>
            <a:r>
              <a:rPr lang="en-US" dirty="0" smtClean="0">
                <a:latin typeface="Times New Roman" pitchFamily="18" charset="0"/>
                <a:cs typeface="Times New Roman" pitchFamily="18" charset="0"/>
              </a:rPr>
              <a:t>: asynchronous and synchronous.</a:t>
            </a:r>
          </a:p>
          <a:p>
            <a:pPr marL="514350" indent="-514350" algn="just">
              <a:buAutoNum type="arabicPeriod"/>
            </a:pPr>
            <a:r>
              <a:rPr lang="en-US" b="1" u="sng" dirty="0" smtClean="0">
                <a:latin typeface="Times New Roman" pitchFamily="18" charset="0"/>
                <a:cs typeface="Times New Roman" pitchFamily="18" charset="0"/>
              </a:rPr>
              <a:t>Asynchronous Serial Transmission</a:t>
            </a:r>
          </a:p>
          <a:p>
            <a:pPr marL="514350" indent="-514350" algn="just"/>
            <a:r>
              <a:rPr lang="en-US" dirty="0" smtClean="0">
                <a:latin typeface="Times New Roman" pitchFamily="18" charset="0"/>
                <a:cs typeface="Times New Roman" pitchFamily="18" charset="0"/>
              </a:rPr>
              <a:t>Data bits can be sent at any point in time. Stop bits and start bits are used between data bytes to synchronize the transmitter and receiver and to ensure that the data is transmitted correctly. The time between sending and receiving data bits is not constant, so gaps are used to provide time between transmissions.</a:t>
            </a:r>
          </a:p>
          <a:p>
            <a:pPr algn="just"/>
            <a:r>
              <a:rPr lang="en-US" dirty="0" smtClean="0">
                <a:latin typeface="Times New Roman" pitchFamily="18" charset="0"/>
                <a:cs typeface="Times New Roman" pitchFamily="18" charset="0"/>
              </a:rPr>
              <a:t>The advantage of using the asynchronous method is that no synchronization is required between the transmitter and receiver devices. It is also a more cost effective method. A disadvantage is that data transmission can be slower, but this is not always the case.</a:t>
            </a:r>
          </a:p>
          <a:p>
            <a:pPr algn="just"/>
            <a:r>
              <a:rPr lang="en-US" b="1" u="sng" dirty="0" smtClean="0">
                <a:latin typeface="Times New Roman" pitchFamily="18" charset="0"/>
                <a:cs typeface="Times New Roman" pitchFamily="18" charset="0"/>
              </a:rPr>
              <a:t>2.	Synchronous Serial Transmission</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Data bits are transmitted as a continuous stream in time with a master clock. The data transmitter and receiver both operate using a synchronized clock frequency; therefore, start bits, stop bits, and gaps are not used. This means that data moves faster and timing errors are less frequent because the transmitter and receiver time is synced. However, data accuracy is highly dependent on timing being synced correctly between devices. In comparison with asynchronous serial transmission, this method is usually more expensive.</a:t>
            </a:r>
          </a:p>
          <a:p>
            <a:pPr algn="just">
              <a:buNone/>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algn="just" fontAlgn="base">
              <a:buNone/>
            </a:pPr>
            <a:r>
              <a:rPr lang="en-US" sz="2000" b="1" u="sng" dirty="0" smtClean="0">
                <a:latin typeface="Times New Roman" pitchFamily="18" charset="0"/>
                <a:cs typeface="Times New Roman" pitchFamily="18" charset="0"/>
              </a:rPr>
              <a:t>Definition of Synchronous Transmission</a:t>
            </a:r>
          </a:p>
          <a:p>
            <a:pPr algn="just" fontAlgn="base"/>
            <a:r>
              <a:rPr lang="en-US" sz="2000" dirty="0" smtClean="0">
                <a:latin typeface="Times New Roman" pitchFamily="18" charset="0"/>
                <a:cs typeface="Times New Roman" pitchFamily="18" charset="0"/>
              </a:rPr>
              <a:t>Here the name itself is indicating that synchronous transmission needs synchronization between transmitter and receiver in order to allow communication between the two. Basically, despite having internal clock pulses, the transmitter and receiver share a common clock pulse so as to have synchronization in communication. This means data will be transmitted between the transmitter and receiver only after a constant time interval.</a:t>
            </a:r>
          </a:p>
          <a:p>
            <a:pPr algn="just" fontAlgn="base"/>
            <a:r>
              <a:rPr lang="en-US" sz="2000" dirty="0" smtClean="0">
                <a:latin typeface="Times New Roman" pitchFamily="18" charset="0"/>
                <a:cs typeface="Times New Roman" pitchFamily="18" charset="0"/>
              </a:rPr>
              <a:t>The figure below represents the synchronous transmission between the sender and receiver:</a:t>
            </a:r>
          </a:p>
          <a:p>
            <a:pPr algn="just" fontAlgn="base"/>
            <a:endParaRPr lang="en-US" sz="2000" dirty="0" smtClean="0">
              <a:latin typeface="Times New Roman" pitchFamily="18" charset="0"/>
              <a:cs typeface="Times New Roman" pitchFamily="18" charset="0"/>
            </a:endParaRPr>
          </a:p>
          <a:p>
            <a:pPr algn="just" fontAlgn="base"/>
            <a:endParaRPr lang="en-US" sz="2000" dirty="0" smtClean="0">
              <a:latin typeface="Times New Roman" pitchFamily="18" charset="0"/>
              <a:cs typeface="Times New Roman" pitchFamily="18" charset="0"/>
            </a:endParaRPr>
          </a:p>
          <a:p>
            <a:pPr algn="just" fontAlgn="base"/>
            <a:endParaRPr lang="en-US" sz="2000" dirty="0" smtClean="0">
              <a:latin typeface="Times New Roman" pitchFamily="18" charset="0"/>
              <a:cs typeface="Times New Roman" pitchFamily="18" charset="0"/>
            </a:endParaRPr>
          </a:p>
          <a:p>
            <a:pPr algn="just" fontAlgn="base"/>
            <a:endParaRPr lang="en-US" sz="2000" dirty="0" smtClean="0">
              <a:latin typeface="Times New Roman" pitchFamily="18" charset="0"/>
              <a:cs typeface="Times New Roman" pitchFamily="18" charset="0"/>
            </a:endParaRPr>
          </a:p>
          <a:p>
            <a:pPr algn="just" fontAlgn="base"/>
            <a:endParaRPr lang="en-US" sz="2000" dirty="0" smtClean="0">
              <a:latin typeface="Times New Roman" pitchFamily="18" charset="0"/>
              <a:cs typeface="Times New Roman" pitchFamily="18" charset="0"/>
            </a:endParaRPr>
          </a:p>
          <a:p>
            <a:pPr algn="just" fontAlgn="base"/>
            <a:r>
              <a:rPr lang="en-US" sz="2000" dirty="0" smtClean="0">
                <a:latin typeface="Times New Roman" pitchFamily="18" charset="0"/>
                <a:cs typeface="Times New Roman" pitchFamily="18" charset="0"/>
              </a:rPr>
              <a:t>It allows the transmission of data in the form of frames or blocks. Thus, a huge data amount can be transmitted between transmitter and receiver once the clock pulse is sent. This time interval is decided by the frequency of the external clock pulse. So basically in synchronous transmission, the clock pulse decides when to transmit the data and for this, both transmitter and receiver must be ready to have communication.</a:t>
            </a:r>
          </a:p>
          <a:p>
            <a:pPr algn="just">
              <a:buNone/>
            </a:pPr>
            <a:endParaRPr lang="en-US" sz="2000" dirty="0">
              <a:latin typeface="Times New Roman" pitchFamily="18" charset="0"/>
              <a:cs typeface="Times New Roman" pitchFamily="18" charset="0"/>
            </a:endParaRPr>
          </a:p>
        </p:txBody>
      </p:sp>
      <p:pic>
        <p:nvPicPr>
          <p:cNvPr id="4" name="Picture 3" descr="g.GIF"/>
          <p:cNvPicPr>
            <a:picLocks noChangeAspect="1"/>
          </p:cNvPicPr>
          <p:nvPr/>
        </p:nvPicPr>
        <p:blipFill>
          <a:blip r:embed="rId2"/>
          <a:stretch>
            <a:fillRect/>
          </a:stretch>
        </p:blipFill>
        <p:spPr>
          <a:xfrm>
            <a:off x="1905000" y="2667000"/>
            <a:ext cx="7010400" cy="198120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lgn="just" fontAlgn="base">
              <a:buNone/>
            </a:pPr>
            <a:r>
              <a:rPr lang="en-US" sz="2400" b="1" u="sng" dirty="0" smtClean="0">
                <a:latin typeface="Times New Roman" pitchFamily="18" charset="0"/>
                <a:cs typeface="Times New Roman" pitchFamily="18" charset="0"/>
              </a:rPr>
              <a:t>Definition of Asynchronous Transmission</a:t>
            </a:r>
          </a:p>
          <a:p>
            <a:pPr algn="just" fontAlgn="base"/>
            <a:r>
              <a:rPr lang="en-US" sz="2400" dirty="0" smtClean="0">
                <a:latin typeface="Times New Roman" pitchFamily="18" charset="0"/>
                <a:cs typeface="Times New Roman" pitchFamily="18" charset="0"/>
              </a:rPr>
              <a:t>Asynchronous transmission is a type of serial transmission that follows a non-synchronized form of communication. Thus start and stop bits are required in order to intimate the receiver about the beginning and end of the data stream.</a:t>
            </a:r>
          </a:p>
          <a:p>
            <a:pPr algn="just" fontAlgn="base"/>
            <a:r>
              <a:rPr lang="en-US" sz="2400" dirty="0" smtClean="0">
                <a:latin typeface="Times New Roman" pitchFamily="18" charset="0"/>
                <a:cs typeface="Times New Roman" pitchFamily="18" charset="0"/>
              </a:rPr>
              <a:t>The figure below shows the asynchronous transmission technique:</a:t>
            </a:r>
          </a:p>
          <a:p>
            <a:pPr algn="just"/>
            <a:endParaRPr lang="en-US" dirty="0">
              <a:latin typeface="Times New Roman" pitchFamily="18" charset="0"/>
              <a:cs typeface="Times New Roman" pitchFamily="18" charset="0"/>
            </a:endParaRPr>
          </a:p>
        </p:txBody>
      </p:sp>
      <p:pic>
        <p:nvPicPr>
          <p:cNvPr id="4" name="Picture 3" descr="h.GIF"/>
          <p:cNvPicPr>
            <a:picLocks noChangeAspect="1"/>
          </p:cNvPicPr>
          <p:nvPr/>
        </p:nvPicPr>
        <p:blipFill>
          <a:blip r:embed="rId2"/>
          <a:stretch>
            <a:fillRect/>
          </a:stretch>
        </p:blipFill>
        <p:spPr>
          <a:xfrm>
            <a:off x="533400" y="2819400"/>
            <a:ext cx="7391400" cy="257175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20000"/>
          </a:bodyPr>
          <a:lstStyle/>
          <a:p>
            <a:pPr algn="just" fontAlgn="base"/>
            <a:r>
              <a:rPr lang="en-US" dirty="0" smtClean="0">
                <a:latin typeface="Times New Roman" pitchFamily="18" charset="0"/>
                <a:cs typeface="Times New Roman" pitchFamily="18" charset="0"/>
              </a:rPr>
              <a:t>Here the data is transferred from an end to another in the form of bytes or characters. Thus when the transmitter wants to send data then it has to notify the receiver that it is going to send the data bits. So for this reason before sending the actual data the transmitter sends a start bit that notifies the receiver about the transmission.</a:t>
            </a:r>
          </a:p>
          <a:p>
            <a:pPr algn="just" fontAlgn="base"/>
            <a:r>
              <a:rPr lang="en-US" dirty="0" smtClean="0">
                <a:latin typeface="Times New Roman" pitchFamily="18" charset="0"/>
                <a:cs typeface="Times New Roman" pitchFamily="18" charset="0"/>
              </a:rPr>
              <a:t>And after sending the data byte, the transmitter sends stop bit that shows the completion of the data. The transmitter and receiver in the asynchronous transmission system have their internal clock for operation. But do not operate on a common clock pulse.</a:t>
            </a:r>
          </a:p>
          <a:p>
            <a:pPr algn="just" fontAlgn="base"/>
            <a:r>
              <a:rPr lang="en-US" dirty="0" smtClean="0">
                <a:latin typeface="Times New Roman" pitchFamily="18" charset="0"/>
                <a:cs typeface="Times New Roman" pitchFamily="18" charset="0"/>
              </a:rPr>
              <a:t>Thereby leading to unawareness about the proper transmission. Therefore, due to this reason start and stop bits are utilized in the asynchronous communication system. However, the presence of start and stop bit reduces the data transmission rate in the case of asynchronous transmission.</a:t>
            </a:r>
          </a:p>
          <a:p>
            <a:pPr algn="just">
              <a:buNone/>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Autofit/>
          </a:bodyPr>
          <a:lstStyle/>
          <a:p>
            <a:pPr algn="just" fontAlgn="base">
              <a:buNone/>
            </a:pPr>
            <a:r>
              <a:rPr lang="en-US" sz="2400" b="1" u="sng" dirty="0" smtClean="0">
                <a:latin typeface="Times New Roman" pitchFamily="18" charset="0"/>
                <a:cs typeface="Times New Roman" pitchFamily="18" charset="0"/>
              </a:rPr>
              <a:t>Key Differences Between Synchronous and Asynchronous Transmission</a:t>
            </a:r>
          </a:p>
          <a:p>
            <a:pPr algn="just" fontAlgn="base"/>
            <a:r>
              <a:rPr lang="en-US" sz="2400" dirty="0" smtClean="0">
                <a:latin typeface="Times New Roman" pitchFamily="18" charset="0"/>
                <a:cs typeface="Times New Roman" pitchFamily="18" charset="0"/>
              </a:rPr>
              <a:t>The synchronous transmission allows the transmission of data in frame or block formats. Whereas, in asynchronous transmission, a byte or character is transmitted at a time.</a:t>
            </a:r>
          </a:p>
          <a:p>
            <a:pPr algn="just" fontAlgn="base"/>
            <a:r>
              <a:rPr lang="en-US" sz="2400" dirty="0" smtClean="0">
                <a:latin typeface="Times New Roman" pitchFamily="18" charset="0"/>
                <a:cs typeface="Times New Roman" pitchFamily="18" charset="0"/>
              </a:rPr>
              <a:t>Due to the transmission of data in the form of frames the </a:t>
            </a:r>
            <a:r>
              <a:rPr lang="en-US" sz="2400" b="1" dirty="0" smtClean="0">
                <a:latin typeface="Times New Roman" pitchFamily="18" charset="0"/>
                <a:cs typeface="Times New Roman" pitchFamily="18" charset="0"/>
              </a:rPr>
              <a:t>rate of data transmission</a:t>
            </a:r>
            <a:r>
              <a:rPr lang="en-US" sz="2400" dirty="0" smtClean="0">
                <a:latin typeface="Times New Roman" pitchFamily="18" charset="0"/>
                <a:cs typeface="Times New Roman" pitchFamily="18" charset="0"/>
              </a:rPr>
              <a:t> is quite fast in synchronous transmission. While in asynchronous transmission the rate of data transmission is comparatively slow.</a:t>
            </a:r>
          </a:p>
          <a:p>
            <a:pPr algn="just" fontAlgn="base"/>
            <a:r>
              <a:rPr lang="en-US" sz="2400" dirty="0" smtClean="0">
                <a:latin typeface="Times New Roman" pitchFamily="18" charset="0"/>
                <a:cs typeface="Times New Roman" pitchFamily="18" charset="0"/>
              </a:rPr>
              <a:t>Synchronous communication needs synchronization between sender and receiver thus the two shares a common clock pulse. On the contrary, Asynchronous communication does not permit synchronized communication and thus the sender and receiver have their own internal clock.</a:t>
            </a:r>
          </a:p>
          <a:p>
            <a:pPr algn="just" fontAlgn="base"/>
            <a:r>
              <a:rPr lang="en-US" sz="2400" dirty="0" smtClean="0">
                <a:latin typeface="Times New Roman" pitchFamily="18" charset="0"/>
                <a:cs typeface="Times New Roman" pitchFamily="18" charset="0"/>
              </a:rPr>
              <a:t>Due to the existence of </a:t>
            </a:r>
            <a:r>
              <a:rPr lang="en-US" sz="2400" b="1" dirty="0" smtClean="0">
                <a:latin typeface="Times New Roman" pitchFamily="18" charset="0"/>
                <a:cs typeface="Times New Roman" pitchFamily="18" charset="0"/>
              </a:rPr>
              <a:t>clock pulse</a:t>
            </a:r>
            <a:r>
              <a:rPr lang="en-US" sz="2400" dirty="0" smtClean="0">
                <a:latin typeface="Times New Roman" pitchFamily="18" charset="0"/>
                <a:cs typeface="Times New Roman" pitchFamily="18" charset="0"/>
              </a:rPr>
              <a:t>, data in the form of frames can be continuously transmitted between sender and receiver. While the absence of a common clock pulse causes the existence of gaps between data bits.</a:t>
            </a:r>
          </a:p>
          <a:p>
            <a:pPr algn="just">
              <a:buNone/>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85000" lnSpcReduction="20000"/>
          </a:bodyPr>
          <a:lstStyle/>
          <a:p>
            <a:pPr algn="just" fontAlgn="base"/>
            <a:r>
              <a:rPr lang="en-US" dirty="0" smtClean="0">
                <a:latin typeface="Times New Roman" pitchFamily="18" charset="0"/>
                <a:cs typeface="Times New Roman" pitchFamily="18" charset="0"/>
              </a:rPr>
              <a:t>The synchronous transmission does not require </a:t>
            </a:r>
            <a:r>
              <a:rPr lang="en-US" b="1" dirty="0" smtClean="0">
                <a:latin typeface="Times New Roman" pitchFamily="18" charset="0"/>
                <a:cs typeface="Times New Roman" pitchFamily="18" charset="0"/>
              </a:rPr>
              <a:t>start and stop bits</a:t>
            </a:r>
            <a:r>
              <a:rPr lang="en-US" dirty="0" smtClean="0">
                <a:latin typeface="Times New Roman" pitchFamily="18" charset="0"/>
                <a:cs typeface="Times New Roman" pitchFamily="18" charset="0"/>
              </a:rPr>
              <a:t>. As against in order to have asynchronous transmission between sender and receiver, start and stop bits are necessarily needed before and after the message signal bits.</a:t>
            </a:r>
          </a:p>
          <a:p>
            <a:pPr algn="just" fontAlgn="base"/>
            <a:r>
              <a:rPr lang="en-US" dirty="0" smtClean="0">
                <a:latin typeface="Times New Roman" pitchFamily="18" charset="0"/>
                <a:cs typeface="Times New Roman" pitchFamily="18" charset="0"/>
              </a:rPr>
              <a:t>The </a:t>
            </a:r>
            <a:r>
              <a:rPr lang="en-US" b="1" dirty="0" smtClean="0">
                <a:latin typeface="Times New Roman" pitchFamily="18" charset="0"/>
                <a:cs typeface="Times New Roman" pitchFamily="18" charset="0"/>
              </a:rPr>
              <a:t>time interval</a:t>
            </a:r>
            <a:r>
              <a:rPr lang="en-US" dirty="0" smtClean="0">
                <a:latin typeface="Times New Roman" pitchFamily="18" charset="0"/>
                <a:cs typeface="Times New Roman" pitchFamily="18" charset="0"/>
              </a:rPr>
              <a:t> of transmission remains constant between the data to be transmitted. However, in the case of asynchronous transmission variable time intervals between the data bits exist.</a:t>
            </a:r>
          </a:p>
          <a:p>
            <a:pPr algn="just" fontAlgn="base"/>
            <a:r>
              <a:rPr lang="en-US" dirty="0" smtClean="0">
                <a:latin typeface="Times New Roman" pitchFamily="18" charset="0"/>
                <a:cs typeface="Times New Roman" pitchFamily="18" charset="0"/>
              </a:rPr>
              <a:t>A system supporting synchronous transmission is comparatively </a:t>
            </a:r>
            <a:r>
              <a:rPr lang="en-US" b="1" dirty="0" smtClean="0">
                <a:latin typeface="Times New Roman" pitchFamily="18" charset="0"/>
                <a:cs typeface="Times New Roman" pitchFamily="18" charset="0"/>
              </a:rPr>
              <a:t>complex</a:t>
            </a:r>
            <a:r>
              <a:rPr lang="en-US" dirty="0" smtClean="0">
                <a:latin typeface="Times New Roman" pitchFamily="18" charset="0"/>
                <a:cs typeface="Times New Roman" pitchFamily="18" charset="0"/>
              </a:rPr>
              <a:t> than asynchronous transmission system.</a:t>
            </a:r>
          </a:p>
          <a:p>
            <a:pPr algn="just" fontAlgn="base"/>
            <a:r>
              <a:rPr lang="en-US" dirty="0" smtClean="0">
                <a:latin typeface="Times New Roman" pitchFamily="18" charset="0"/>
                <a:cs typeface="Times New Roman" pitchFamily="18" charset="0"/>
              </a:rPr>
              <a:t>Due to synchronized communication, the synchronous transmission is more </a:t>
            </a:r>
            <a:r>
              <a:rPr lang="en-US" b="1" dirty="0" smtClean="0">
                <a:latin typeface="Times New Roman" pitchFamily="18" charset="0"/>
                <a:cs typeface="Times New Roman" pitchFamily="18" charset="0"/>
              </a:rPr>
              <a:t>efficient</a:t>
            </a:r>
            <a:r>
              <a:rPr lang="en-US" dirty="0" smtClean="0">
                <a:latin typeface="Times New Roman" pitchFamily="18" charset="0"/>
                <a:cs typeface="Times New Roman" pitchFamily="18" charset="0"/>
              </a:rPr>
              <a:t> compared to asynchronous transmission.</a:t>
            </a:r>
          </a:p>
          <a:p>
            <a:pPr algn="just" fontAlgn="base"/>
            <a:r>
              <a:rPr lang="en-US" dirty="0" smtClean="0">
                <a:latin typeface="Times New Roman" pitchFamily="18" charset="0"/>
                <a:cs typeface="Times New Roman" pitchFamily="18" charset="0"/>
              </a:rPr>
              <a:t>The </a:t>
            </a:r>
            <a:r>
              <a:rPr lang="en-US" dirty="0" err="1" smtClean="0">
                <a:latin typeface="Times New Roman" pitchFamily="18" charset="0"/>
                <a:cs typeface="Times New Roman" pitchFamily="18" charset="0"/>
              </a:rPr>
              <a:t>complexing</a:t>
            </a:r>
            <a:r>
              <a:rPr lang="en-US" dirty="0" smtClean="0">
                <a:latin typeface="Times New Roman" pitchFamily="18" charset="0"/>
                <a:cs typeface="Times New Roman" pitchFamily="18" charset="0"/>
              </a:rPr>
              <a:t> of the system in synchronous transmission increases the </a:t>
            </a:r>
            <a:r>
              <a:rPr lang="en-US" b="1" dirty="0" smtClean="0">
                <a:latin typeface="Times New Roman" pitchFamily="18" charset="0"/>
                <a:cs typeface="Times New Roman" pitchFamily="18" charset="0"/>
              </a:rPr>
              <a:t>cost</a:t>
            </a:r>
            <a:r>
              <a:rPr lang="en-US" dirty="0" smtClean="0">
                <a:latin typeface="Times New Roman" pitchFamily="18" charset="0"/>
                <a:cs typeface="Times New Roman" pitchFamily="18" charset="0"/>
              </a:rPr>
              <a:t> of the system. Thus synchronous transmission is more expensive than asynchronous transmission.</a:t>
            </a:r>
          </a:p>
          <a:p>
            <a:pPr>
              <a:buNone/>
            </a:pP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lgn="just" fontAlgn="base">
              <a:buNone/>
            </a:pPr>
            <a:r>
              <a:rPr lang="en-US" sz="2400" b="1" u="sng" dirty="0" smtClean="0">
                <a:latin typeface="Times New Roman" pitchFamily="18" charset="0"/>
                <a:cs typeface="Times New Roman" pitchFamily="18" charset="0"/>
              </a:rPr>
              <a:t>Definition of Parallel Communication</a:t>
            </a:r>
          </a:p>
          <a:p>
            <a:pPr algn="just" fontAlgn="base"/>
            <a:r>
              <a:rPr lang="en-US" sz="2400" dirty="0" smtClean="0">
                <a:latin typeface="Times New Roman" pitchFamily="18" charset="0"/>
                <a:cs typeface="Times New Roman" pitchFamily="18" charset="0"/>
              </a:rPr>
              <a:t>In parallel communication the various data bits are simultaneously transmitted using multiple communication links between sender and receiver. Here, despite using a single channel between sender and receiver, various links are used and each bit of data is transmitted separately over all the communication link.</a:t>
            </a:r>
          </a:p>
          <a:p>
            <a:pPr algn="just" fontAlgn="base"/>
            <a:r>
              <a:rPr lang="en-US" sz="2400" dirty="0" smtClean="0">
                <a:latin typeface="Times New Roman" pitchFamily="18" charset="0"/>
                <a:cs typeface="Times New Roman" pitchFamily="18" charset="0"/>
              </a:rPr>
              <a:t>The figure below shows the transmission of 8 byte data using parallel communication technique:</a:t>
            </a:r>
          </a:p>
          <a:p>
            <a:pPr>
              <a:buNone/>
            </a:pPr>
            <a:endParaRPr lang="en-US" dirty="0"/>
          </a:p>
        </p:txBody>
      </p:sp>
      <p:pic>
        <p:nvPicPr>
          <p:cNvPr id="4" name="Picture 3" descr="f.JPG"/>
          <p:cNvPicPr>
            <a:picLocks noChangeAspect="1"/>
          </p:cNvPicPr>
          <p:nvPr/>
        </p:nvPicPr>
        <p:blipFill>
          <a:blip r:embed="rId2"/>
          <a:stretch>
            <a:fillRect/>
          </a:stretch>
        </p:blipFill>
        <p:spPr>
          <a:xfrm>
            <a:off x="533400" y="3352800"/>
            <a:ext cx="8153400" cy="350520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lgn="just" fontAlgn="base"/>
            <a:r>
              <a:rPr lang="en-US" dirty="0" smtClean="0">
                <a:latin typeface="Times New Roman" pitchFamily="18" charset="0"/>
                <a:cs typeface="Times New Roman" pitchFamily="18" charset="0"/>
              </a:rPr>
              <a:t>Here, as we can see that for the transmission of 8-bit of data, 8 separate communication links are utilized. </a:t>
            </a:r>
          </a:p>
          <a:p>
            <a:pPr algn="just" fontAlgn="base"/>
            <a:r>
              <a:rPr lang="en-US" dirty="0" smtClean="0">
                <a:latin typeface="Times New Roman" pitchFamily="18" charset="0"/>
                <a:cs typeface="Times New Roman" pitchFamily="18" charset="0"/>
              </a:rPr>
              <a:t>And so rather following a sequential data transmission, simultaneous transmission of data is allowed. This leads to a faster communication between the sender and receiver.</a:t>
            </a:r>
          </a:p>
          <a:p>
            <a:pPr algn="just" fontAlgn="base"/>
            <a:r>
              <a:rPr lang="en-US" dirty="0" smtClean="0">
                <a:latin typeface="Times New Roman" pitchFamily="18" charset="0"/>
                <a:cs typeface="Times New Roman" pitchFamily="18" charset="0"/>
              </a:rPr>
              <a:t>But for connecting multiple lines between sender and receiver multiple connecting unit are to be present between a pair of sender and receiver. </a:t>
            </a:r>
          </a:p>
          <a:p>
            <a:pPr algn="just" fontAlgn="base"/>
            <a:r>
              <a:rPr lang="en-US" dirty="0" smtClean="0">
                <a:latin typeface="Times New Roman" pitchFamily="18" charset="0"/>
                <a:cs typeface="Times New Roman" pitchFamily="18" charset="0"/>
              </a:rPr>
              <a:t>And this is the reason why parallel communication is not suitable for long distance transmission, because connecting multiple lines to large distances is very difficult and expensive.</a:t>
            </a:r>
          </a:p>
          <a:p>
            <a:pPr algn="just">
              <a:buNone/>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0000" lnSpcReduction="20000"/>
          </a:bodyPr>
          <a:lstStyle/>
          <a:p>
            <a:pPr algn="just" fontAlgn="base">
              <a:buNone/>
            </a:pPr>
            <a:r>
              <a:rPr lang="en-US" b="1" u="sng" dirty="0" smtClean="0"/>
              <a:t>Differences Between Serial and Parallel Communication</a:t>
            </a:r>
          </a:p>
          <a:p>
            <a:pPr algn="just" fontAlgn="base"/>
            <a:r>
              <a:rPr lang="en-US" dirty="0" smtClean="0"/>
              <a:t>Due to the presence of single communication link the speed of data transmission is slow. While multiple links in case of parallel communication allows data transmission at comparatively faster rate.</a:t>
            </a:r>
          </a:p>
          <a:p>
            <a:pPr algn="just" fontAlgn="base"/>
            <a:r>
              <a:rPr lang="en-US" dirty="0" smtClean="0"/>
              <a:t>Whenever there exists a need for </a:t>
            </a:r>
            <a:r>
              <a:rPr lang="en-US" b="1" dirty="0" smtClean="0"/>
              <a:t>system up-gradation</a:t>
            </a:r>
            <a:r>
              <a:rPr lang="en-US" dirty="0" smtClean="0"/>
              <a:t> then upgrading a system that uses serial communication is quite an easy task as compared to upgrading a parallel communication system.</a:t>
            </a:r>
          </a:p>
          <a:p>
            <a:pPr algn="just" fontAlgn="base"/>
            <a:r>
              <a:rPr lang="en-US" dirty="0" smtClean="0"/>
              <a:t>In serial communication, the all data bits are transmitted over a common channel thus proper spacing is required to be maintained in order to avoid interference. While in parallel communication, the utilization of multiple link reduces the chances of interference between the transmitted bits.</a:t>
            </a:r>
          </a:p>
          <a:p>
            <a:pPr algn="just" fontAlgn="base"/>
            <a:r>
              <a:rPr lang="en-US" dirty="0" smtClean="0"/>
              <a:t>Serial communication supports higher </a:t>
            </a:r>
            <a:r>
              <a:rPr lang="en-US" b="1" dirty="0" smtClean="0"/>
              <a:t>bandwidth</a:t>
            </a:r>
            <a:r>
              <a:rPr lang="en-US" dirty="0" smtClean="0"/>
              <a:t> while parallel communication supports comparatively lower bandwidth.</a:t>
            </a:r>
          </a:p>
          <a:p>
            <a:pPr algn="just" fontAlgn="base"/>
            <a:r>
              <a:rPr lang="en-US" dirty="0" smtClean="0"/>
              <a:t>Serial communication is efficient for high frequency operation. However, parallel communication shows its suitability more in case of low frequency operations.</a:t>
            </a:r>
          </a:p>
          <a:p>
            <a:pPr algn="just" fontAlgn="base"/>
            <a:r>
              <a:rPr lang="en-US" dirty="0" smtClean="0"/>
              <a:t>Due to existence of single link, the problem of </a:t>
            </a:r>
            <a:r>
              <a:rPr lang="en-US" b="1" dirty="0" smtClean="0"/>
              <a:t>crosstalk</a:t>
            </a:r>
            <a:r>
              <a:rPr lang="en-US" dirty="0" smtClean="0"/>
              <a:t> is not present in serial communication. But multiple links increase the chances of crosstalk in parallel communication.</a:t>
            </a:r>
          </a:p>
          <a:p>
            <a:pPr algn="just" fontAlgn="base"/>
            <a:r>
              <a:rPr lang="en-US" dirty="0" smtClean="0"/>
              <a:t>Serial communication is suitable for long distance transmission of data as against parallel communication is suitable for short distance transmission of data.</a:t>
            </a:r>
          </a:p>
          <a:p>
            <a:pPr algn="just">
              <a:buNone/>
            </a:pP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algn="just" fontAlgn="base">
              <a:buNone/>
            </a:pPr>
            <a:r>
              <a:rPr lang="en-US" sz="2000" u="sng" dirty="0" smtClean="0">
                <a:latin typeface="Times New Roman" pitchFamily="18" charset="0"/>
                <a:cs typeface="Times New Roman" pitchFamily="18" charset="0"/>
                <a:hlinkClick r:id="rId2"/>
              </a:rPr>
              <a:t>Transmission Modes in Computer Networks</a:t>
            </a:r>
            <a:r>
              <a:rPr lang="en-US" sz="2000" dirty="0" smtClean="0">
                <a:latin typeface="Times New Roman" pitchFamily="18" charset="0"/>
                <a:cs typeface="Times New Roman" pitchFamily="18" charset="0"/>
              </a:rPr>
              <a:t> </a:t>
            </a:r>
          </a:p>
          <a:p>
            <a:pPr algn="just" fontAlgn="base"/>
            <a:r>
              <a:rPr lang="en-US" sz="2000" dirty="0" smtClean="0">
                <a:latin typeface="Times New Roman" pitchFamily="18" charset="0"/>
                <a:cs typeface="Times New Roman" pitchFamily="18" charset="0"/>
              </a:rPr>
              <a:t>There are 3 types of transmission modes which are given below: Simplex mode, Half duplex mode, and Full-duplex mode. </a:t>
            </a:r>
          </a:p>
          <a:p>
            <a:pPr algn="just" fontAlgn="base"/>
            <a:r>
              <a:rPr lang="en-US" sz="2000" b="1" dirty="0" smtClean="0">
                <a:latin typeface="Times New Roman" pitchFamily="18" charset="0"/>
                <a:cs typeface="Times New Roman" pitchFamily="18" charset="0"/>
              </a:rPr>
              <a:t>Simplex mode:</a:t>
            </a:r>
            <a:r>
              <a:rPr lang="en-US" sz="2000" dirty="0" smtClean="0">
                <a:latin typeface="Times New Roman" pitchFamily="18" charset="0"/>
                <a:cs typeface="Times New Roman" pitchFamily="18" charset="0"/>
              </a:rPr>
              <a:t> In simplex mode, Sender can send the data but the sender can’t receive the data. It is a unidirectional communication.</a:t>
            </a:r>
          </a:p>
          <a:p>
            <a:pPr algn="just" fontAlgn="base"/>
            <a:r>
              <a:rPr lang="en-US" sz="2000" b="1" dirty="0" smtClean="0">
                <a:latin typeface="Times New Roman" pitchFamily="18" charset="0"/>
                <a:cs typeface="Times New Roman" pitchFamily="18" charset="0"/>
              </a:rPr>
              <a:t>Half-duplex mode:</a:t>
            </a:r>
            <a:r>
              <a:rPr lang="en-US" sz="2000" dirty="0" smtClean="0">
                <a:latin typeface="Times New Roman" pitchFamily="18" charset="0"/>
                <a:cs typeface="Times New Roman" pitchFamily="18" charset="0"/>
              </a:rPr>
              <a:t> In half-duplex mode, Sender can send the data and also can receive the data one at a time. It is two-way directional communication but one at a time. </a:t>
            </a:r>
          </a:p>
          <a:p>
            <a:pPr algn="just" fontAlgn="base"/>
            <a:r>
              <a:rPr lang="en-US" sz="2000" b="1" dirty="0" smtClean="0">
                <a:latin typeface="Times New Roman" pitchFamily="18" charset="0"/>
                <a:cs typeface="Times New Roman" pitchFamily="18" charset="0"/>
              </a:rPr>
              <a:t>Full duplex mode:</a:t>
            </a:r>
            <a:r>
              <a:rPr lang="en-US" sz="2000" dirty="0" smtClean="0">
                <a:latin typeface="Times New Roman" pitchFamily="18" charset="0"/>
                <a:cs typeface="Times New Roman" pitchFamily="18" charset="0"/>
              </a:rPr>
              <a:t> In full-duplex mode, Sender can send the data and also can receive the data simultaneously. It is two-way directional communication simultaneously. </a:t>
            </a:r>
          </a:p>
          <a:p>
            <a:pPr algn="just">
              <a:buNone/>
            </a:pPr>
            <a:endParaRPr lang="en-US" sz="2000" dirty="0">
              <a:latin typeface="Times New Roman" pitchFamily="18" charset="0"/>
              <a:cs typeface="Times New Roman" pitchFamily="18" charset="0"/>
            </a:endParaRPr>
          </a:p>
        </p:txBody>
      </p:sp>
      <p:pic>
        <p:nvPicPr>
          <p:cNvPr id="4" name="Picture 3" descr="a.GIF"/>
          <p:cNvPicPr>
            <a:picLocks noChangeAspect="1"/>
          </p:cNvPicPr>
          <p:nvPr/>
        </p:nvPicPr>
        <p:blipFill>
          <a:blip r:embed="rId3"/>
          <a:stretch>
            <a:fillRect/>
          </a:stretch>
        </p:blipFill>
        <p:spPr>
          <a:xfrm>
            <a:off x="838200" y="4191000"/>
            <a:ext cx="5267325" cy="170497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GIF"/>
          <p:cNvPicPr>
            <a:picLocks noChangeAspect="1"/>
          </p:cNvPicPr>
          <p:nvPr/>
        </p:nvPicPr>
        <p:blipFill>
          <a:blip r:embed="rId2"/>
          <a:stretch>
            <a:fillRect/>
          </a:stretch>
        </p:blipFill>
        <p:spPr>
          <a:xfrm>
            <a:off x="1828800" y="4552950"/>
            <a:ext cx="5553075" cy="2305050"/>
          </a:xfrm>
          <a:prstGeom prst="rect">
            <a:avLst/>
          </a:prstGeom>
        </p:spPr>
      </p:pic>
      <p:pic>
        <p:nvPicPr>
          <p:cNvPr id="7" name="Content Placeholder 6" descr="b.GIF"/>
          <p:cNvPicPr>
            <a:picLocks noGrp="1" noChangeAspect="1"/>
          </p:cNvPicPr>
          <p:nvPr>
            <p:ph idx="1"/>
          </p:nvPr>
        </p:nvPicPr>
        <p:blipFill>
          <a:blip r:embed="rId3"/>
          <a:stretch>
            <a:fillRect/>
          </a:stretch>
        </p:blipFill>
        <p:spPr>
          <a:xfrm>
            <a:off x="533400" y="0"/>
            <a:ext cx="7848600" cy="4038600"/>
          </a:xfr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4525963"/>
          </a:xfrm>
        </p:spPr>
        <p:txBody>
          <a:bodyPr/>
          <a:lstStyle/>
          <a:p>
            <a:r>
              <a:rPr lang="en-US" b="1" u="sng" dirty="0" smtClean="0">
                <a:latin typeface="Times New Roman" pitchFamily="18" charset="0"/>
                <a:cs typeface="Times New Roman" pitchFamily="18" charset="0"/>
              </a:rPr>
              <a:t>RS 232 </a:t>
            </a:r>
            <a:r>
              <a:rPr lang="en-US" b="1" u="sng" dirty="0" smtClean="0">
                <a:latin typeface="Times New Roman" pitchFamily="18" charset="0"/>
                <a:cs typeface="Times New Roman" pitchFamily="18" charset="0"/>
              </a:rPr>
              <a:t>cable</a:t>
            </a:r>
          </a:p>
          <a:p>
            <a:endParaRPr lang="en-US" dirty="0"/>
          </a:p>
        </p:txBody>
      </p:sp>
      <p:pic>
        <p:nvPicPr>
          <p:cNvPr id="4" name="Picture 3" descr="Capture.GIF"/>
          <p:cNvPicPr>
            <a:picLocks noChangeAspect="1"/>
          </p:cNvPicPr>
          <p:nvPr/>
        </p:nvPicPr>
        <p:blipFill>
          <a:blip r:embed="rId2"/>
          <a:stretch>
            <a:fillRect/>
          </a:stretch>
        </p:blipFill>
        <p:spPr>
          <a:xfrm>
            <a:off x="0" y="1524000"/>
            <a:ext cx="4267200" cy="4419600"/>
          </a:xfrm>
          <a:prstGeom prst="rect">
            <a:avLst/>
          </a:prstGeom>
        </p:spPr>
      </p:pic>
      <p:pic>
        <p:nvPicPr>
          <p:cNvPr id="5" name="Picture 4" descr="Capture.GIF"/>
          <p:cNvPicPr>
            <a:picLocks noChangeAspect="1"/>
          </p:cNvPicPr>
          <p:nvPr/>
        </p:nvPicPr>
        <p:blipFill>
          <a:blip r:embed="rId3"/>
          <a:stretch>
            <a:fillRect/>
          </a:stretch>
        </p:blipFill>
        <p:spPr>
          <a:xfrm>
            <a:off x="5019675" y="1143000"/>
            <a:ext cx="4124325" cy="414337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20000"/>
          </a:bodyPr>
          <a:lstStyle/>
          <a:p>
            <a:pPr algn="just">
              <a:buNone/>
            </a:pPr>
            <a:r>
              <a:rPr lang="en-US" b="1" u="sng" dirty="0" smtClean="0">
                <a:latin typeface="Times New Roman" pitchFamily="18" charset="0"/>
                <a:cs typeface="Times New Roman" pitchFamily="18" charset="0"/>
              </a:rPr>
              <a:t>Features and application of RS 232 cable</a:t>
            </a:r>
          </a:p>
          <a:p>
            <a:pPr algn="just"/>
            <a:r>
              <a:rPr lang="en-US" b="1" dirty="0" smtClean="0">
                <a:latin typeface="Times New Roman" pitchFamily="18" charset="0"/>
                <a:cs typeface="Times New Roman" pitchFamily="18" charset="0"/>
              </a:rPr>
              <a:t>RS232 cables </a:t>
            </a:r>
            <a:r>
              <a:rPr lang="en-US" dirty="0" smtClean="0">
                <a:latin typeface="Times New Roman" pitchFamily="18" charset="0"/>
                <a:cs typeface="Times New Roman" pitchFamily="18" charset="0"/>
              </a:rPr>
              <a:t>support a typical transmission speed of 9600 bps at 15 m. They provide asynchronous communication capabilities with hardware flow control, software flow control, and parity checking. Most gears, instruments with digital control interfaces, and communication devices have an RS232 interface.</a:t>
            </a:r>
          </a:p>
          <a:p>
            <a:pPr algn="just"/>
            <a:r>
              <a:rPr lang="en-US" dirty="0" smtClean="0">
                <a:latin typeface="Times New Roman" pitchFamily="18" charset="0"/>
                <a:cs typeface="Times New Roman" pitchFamily="18" charset="0"/>
              </a:rPr>
              <a:t>The </a:t>
            </a:r>
            <a:r>
              <a:rPr lang="en-US" dirty="0" smtClean="0">
                <a:latin typeface="Times New Roman" pitchFamily="18" charset="0"/>
                <a:cs typeface="Times New Roman" pitchFamily="18" charset="0"/>
              </a:rPr>
              <a:t>application may determine the cable's dimensional and electrical specifications, as well as its end connectors and approvals and certifications.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Suppliers </a:t>
            </a:r>
            <a:r>
              <a:rPr lang="en-US" dirty="0" smtClean="0">
                <a:latin typeface="Times New Roman" pitchFamily="18" charset="0"/>
                <a:cs typeface="Times New Roman" pitchFamily="18" charset="0"/>
              </a:rPr>
              <a:t>offer serial cables for audio / video (A/V), automotive, imaging, medical, radio frequency (RF), and telecommunications applications.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There </a:t>
            </a:r>
            <a:r>
              <a:rPr lang="en-US" dirty="0" smtClean="0">
                <a:latin typeface="Times New Roman" pitchFamily="18" charset="0"/>
                <a:cs typeface="Times New Roman" pitchFamily="18" charset="0"/>
              </a:rPr>
              <a:t>are also cables for personal computers (PCs), local area network (LAN) and Ethernet applications, and industrial control and instrumentation systems.</a:t>
            </a:r>
            <a:endParaRPr lang="en-US" dirty="0">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lnSpcReduction="10000"/>
          </a:bodyPr>
          <a:lstStyle/>
          <a:p>
            <a:pPr algn="just" fontAlgn="base">
              <a:buNone/>
            </a:pPr>
            <a:r>
              <a:rPr lang="en-US" b="1" u="sng" dirty="0" smtClean="0">
                <a:latin typeface="Times New Roman" pitchFamily="18" charset="0"/>
                <a:cs typeface="Times New Roman" pitchFamily="18" charset="0"/>
              </a:rPr>
              <a:t>Features &amp; Benefits</a:t>
            </a:r>
          </a:p>
          <a:p>
            <a:pPr algn="just" fontAlgn="base"/>
            <a:r>
              <a:rPr lang="en-US" dirty="0" smtClean="0">
                <a:latin typeface="Times New Roman" pitchFamily="18" charset="0"/>
                <a:cs typeface="Times New Roman" pitchFamily="18" charset="0"/>
              </a:rPr>
              <a:t>Best-in-Class Shield Technology: Patented </a:t>
            </a:r>
            <a:r>
              <a:rPr lang="en-US" dirty="0" err="1" smtClean="0">
                <a:latin typeface="Times New Roman" pitchFamily="18" charset="0"/>
                <a:cs typeface="Times New Roman" pitchFamily="18" charset="0"/>
              </a:rPr>
              <a:t>Beldfoil</a:t>
            </a:r>
            <a:r>
              <a:rPr lang="en-US" dirty="0" smtClean="0">
                <a:latin typeface="Times New Roman" pitchFamily="18" charset="0"/>
                <a:cs typeface="Times New Roman" pitchFamily="18" charset="0"/>
              </a:rPr>
              <a:t> shield technology offers 100% coverage, preventing outside noise from affecting the signal</a:t>
            </a:r>
          </a:p>
          <a:p>
            <a:pPr algn="just" fontAlgn="base"/>
            <a:r>
              <a:rPr lang="en-US" dirty="0" smtClean="0">
                <a:latin typeface="Times New Roman" pitchFamily="18" charset="0"/>
                <a:cs typeface="Times New Roman" pitchFamily="18" charset="0"/>
              </a:rPr>
              <a:t>Multiple Temperature Options: Range of jacket material options suited for different temperature ratings and budget requirements</a:t>
            </a:r>
          </a:p>
          <a:p>
            <a:pPr algn="just" fontAlgn="base"/>
            <a:r>
              <a:rPr lang="en-US" dirty="0" smtClean="0">
                <a:latin typeface="Times New Roman" pitchFamily="18" charset="0"/>
                <a:cs typeface="Times New Roman" pitchFamily="18" charset="0"/>
              </a:rPr>
              <a:t>Longer Transmission Distances: Lower capacitance allows signal transmission over extended distances</a:t>
            </a:r>
          </a:p>
          <a:p>
            <a:pPr algn="just" fontAlgn="base"/>
            <a:r>
              <a:rPr lang="en-US" dirty="0" smtClean="0">
                <a:latin typeface="Times New Roman" pitchFamily="18" charset="0"/>
                <a:cs typeface="Times New Roman" pitchFamily="18" charset="0"/>
              </a:rPr>
              <a:t>Simplified Installation: Cables use finely stranded conductors for increased flexibility</a:t>
            </a:r>
          </a:p>
          <a:p>
            <a:pPr algn="just" fontAlgn="base"/>
            <a:r>
              <a:rPr lang="en-US" dirty="0" smtClean="0">
                <a:latin typeface="Times New Roman" pitchFamily="18" charset="0"/>
                <a:cs typeface="Times New Roman" pitchFamily="18" charset="0"/>
              </a:rPr>
              <a:t>Easy to Spec &amp; Design: Offered in a range of gauge sizes, shielding options, conductor types and pair counts</a:t>
            </a:r>
          </a:p>
          <a:p>
            <a:pPr algn="just"/>
            <a:endParaRPr lang="en-US" dirty="0">
              <a:latin typeface="Times New Roman" pitchFamily="18" charset="0"/>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7500" lnSpcReduction="20000"/>
          </a:bodyPr>
          <a:lstStyle/>
          <a:p>
            <a:pPr algn="just">
              <a:buNone/>
            </a:pPr>
            <a:r>
              <a:rPr lang="en-US" b="1" u="sng" dirty="0" smtClean="0">
                <a:latin typeface="Times New Roman" pitchFamily="18" charset="0"/>
                <a:cs typeface="Times New Roman" pitchFamily="18" charset="0"/>
              </a:rPr>
              <a:t>What is RS232?</a:t>
            </a:r>
          </a:p>
          <a:p>
            <a:pPr algn="just"/>
            <a:r>
              <a:rPr lang="en-US" b="1" i="1" dirty="0" smtClean="0">
                <a:latin typeface="Times New Roman" pitchFamily="18" charset="0"/>
                <a:cs typeface="Times New Roman" pitchFamily="18" charset="0"/>
              </a:rPr>
              <a:t>RS232C “Recommended Standard 232C”</a:t>
            </a:r>
            <a:r>
              <a:rPr lang="en-US" i="1" dirty="0" smtClean="0">
                <a:latin typeface="Times New Roman" pitchFamily="18" charset="0"/>
                <a:cs typeface="Times New Roman" pitchFamily="18" charset="0"/>
              </a:rPr>
              <a:t> is the recent version of Standard 25 pin whereas, </a:t>
            </a:r>
            <a:r>
              <a:rPr lang="en-US" b="1" i="1" dirty="0" smtClean="0">
                <a:latin typeface="Times New Roman" pitchFamily="18" charset="0"/>
                <a:cs typeface="Times New Roman" pitchFamily="18" charset="0"/>
              </a:rPr>
              <a:t>RS232D</a:t>
            </a:r>
            <a:r>
              <a:rPr lang="en-US" i="1" dirty="0" smtClean="0">
                <a:latin typeface="Times New Roman" pitchFamily="18" charset="0"/>
                <a:cs typeface="Times New Roman" pitchFamily="18" charset="0"/>
              </a:rPr>
              <a:t> which is of 22 pins. In new PC’s male D-type which is of 9 pins.</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RS232 is a standard protocol used for serial communication, it is used for connecting computer and its peripheral devices to allow serial data exchange between them. As it obtains the voltage for the path used for the data exchange between the devices. It is used in serial communication up to 50 feet with the rate of 1.492kbps. As EIA defines, the RS232 is used for connecting </a:t>
            </a:r>
            <a:r>
              <a:rPr lang="en-US" b="1" dirty="0" smtClean="0">
                <a:latin typeface="Times New Roman" pitchFamily="18" charset="0"/>
                <a:cs typeface="Times New Roman" pitchFamily="18" charset="0"/>
              </a:rPr>
              <a:t>Data Transmission Equipment (DTE)</a:t>
            </a:r>
            <a:r>
              <a:rPr lang="en-US" dirty="0" smtClean="0">
                <a:latin typeface="Times New Roman" pitchFamily="18" charset="0"/>
                <a:cs typeface="Times New Roman" pitchFamily="18" charset="0"/>
              </a:rPr>
              <a:t> and </a:t>
            </a:r>
            <a:r>
              <a:rPr lang="en-US" b="1" dirty="0" smtClean="0">
                <a:latin typeface="Times New Roman" pitchFamily="18" charset="0"/>
                <a:cs typeface="Times New Roman" pitchFamily="18" charset="0"/>
              </a:rPr>
              <a:t>Data Communication Equipment (DCE)</a:t>
            </a:r>
            <a:r>
              <a:rPr lang="en-US" dirty="0" smtClean="0">
                <a:latin typeface="Times New Roman" pitchFamily="18" charset="0"/>
                <a:cs typeface="Times New Roman" pitchFamily="18" charset="0"/>
              </a:rPr>
              <a:t>.</a:t>
            </a:r>
          </a:p>
          <a:p>
            <a:pPr algn="just"/>
            <a:r>
              <a:rPr lang="en-US" b="1" dirty="0" smtClean="0">
                <a:latin typeface="Times New Roman" pitchFamily="18" charset="0"/>
                <a:cs typeface="Times New Roman" pitchFamily="18" charset="0"/>
              </a:rPr>
              <a:t>Universal Asynchronous Data Receiver &amp;Transmitter (UART)</a:t>
            </a:r>
            <a:r>
              <a:rPr lang="en-US" dirty="0" smtClean="0">
                <a:latin typeface="Times New Roman" pitchFamily="18" charset="0"/>
                <a:cs typeface="Times New Roman" pitchFamily="18" charset="0"/>
              </a:rPr>
              <a:t> used in connection with RS232 for transferring data between printer and computer. The microcontrollers are not able to handle such kind of voltage levels, connectors are connected between RS232 signals. These connectors are known as the </a:t>
            </a:r>
            <a:r>
              <a:rPr lang="en-US" b="1" dirty="0" smtClean="0">
                <a:latin typeface="Times New Roman" pitchFamily="18" charset="0"/>
                <a:cs typeface="Times New Roman" pitchFamily="18" charset="0"/>
              </a:rPr>
              <a:t>DB-9 Connector</a:t>
            </a:r>
            <a:r>
              <a:rPr lang="en-US" dirty="0" smtClean="0">
                <a:latin typeface="Times New Roman" pitchFamily="18" charset="0"/>
                <a:cs typeface="Times New Roman" pitchFamily="18" charset="0"/>
              </a:rPr>
              <a:t> as a serial port and they are of two type’s </a:t>
            </a:r>
            <a:r>
              <a:rPr lang="en-US" b="1" dirty="0" smtClean="0">
                <a:latin typeface="Times New Roman" pitchFamily="18" charset="0"/>
                <a:cs typeface="Times New Roman" pitchFamily="18" charset="0"/>
              </a:rPr>
              <a:t>Male connector (DTE) &amp; Female connector (DCE).</a:t>
            </a:r>
            <a:endParaRPr lang="en-US" dirty="0" smtClean="0">
              <a:latin typeface="Times New Roman" pitchFamily="18" charset="0"/>
              <a:cs typeface="Times New Roman" pitchFamily="18" charset="0"/>
            </a:endParaRPr>
          </a:p>
          <a:p>
            <a:pPr algn="just">
              <a:buNone/>
            </a:pPr>
            <a:endParaRPr lang="en-US" dirty="0">
              <a:latin typeface="Times New Roman" pitchFamily="18" charset="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algn="just">
              <a:buNone/>
            </a:pPr>
            <a:r>
              <a:rPr lang="en-US" sz="2400" b="1" u="sng" dirty="0" smtClean="0">
                <a:latin typeface="Times New Roman" pitchFamily="18" charset="0"/>
                <a:cs typeface="Times New Roman" pitchFamily="18" charset="0"/>
              </a:rPr>
              <a:t>IEEE 1284</a:t>
            </a:r>
            <a:r>
              <a:rPr lang="en-US"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is </a:t>
            </a:r>
            <a:r>
              <a:rPr lang="en-US" sz="2400" dirty="0" smtClean="0">
                <a:latin typeface="Times New Roman" pitchFamily="18" charset="0"/>
                <a:cs typeface="Times New Roman" pitchFamily="18" charset="0"/>
              </a:rPr>
              <a:t>a standard that defines bi-directional </a:t>
            </a:r>
            <a:r>
              <a:rPr lang="en-US" sz="2400" dirty="0" smtClean="0">
                <a:latin typeface="Times New Roman" pitchFamily="18" charset="0"/>
                <a:cs typeface="Times New Roman" pitchFamily="18" charset="0"/>
                <a:hlinkClick r:id="rId2" tooltip="Parallel communications"/>
              </a:rPr>
              <a:t>parallel communications</a:t>
            </a:r>
            <a:r>
              <a:rPr lang="en-US" sz="2400" dirty="0" smtClean="0">
                <a:latin typeface="Times New Roman" pitchFamily="18" charset="0"/>
                <a:cs typeface="Times New Roman" pitchFamily="18" charset="0"/>
              </a:rPr>
              <a:t> between computers and other devices</a:t>
            </a:r>
            <a:r>
              <a:rPr lang="en-US" sz="2400"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The IEEE 1284 standard allows for faster throughput and bidirectional data flow with a theoretical maximum throughput of 4 </a:t>
            </a:r>
            <a:r>
              <a:rPr lang="en-US" sz="2400" dirty="0" smtClean="0">
                <a:latin typeface="Times New Roman" pitchFamily="18" charset="0"/>
                <a:cs typeface="Times New Roman" pitchFamily="18" charset="0"/>
                <a:hlinkClick r:id="rId3" tooltip="Megabyte"/>
              </a:rPr>
              <a:t>megabytes</a:t>
            </a:r>
            <a:r>
              <a:rPr lang="en-US" sz="2400" dirty="0" smtClean="0">
                <a:latin typeface="Times New Roman" pitchFamily="18" charset="0"/>
                <a:cs typeface="Times New Roman" pitchFamily="18" charset="0"/>
              </a:rPr>
              <a:t> per second; actual throughput is around 2 megabytes/second depending on hardware.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In </a:t>
            </a:r>
            <a:r>
              <a:rPr lang="en-US" sz="2400" dirty="0" smtClean="0">
                <a:latin typeface="Times New Roman" pitchFamily="18" charset="0"/>
                <a:cs typeface="Times New Roman" pitchFamily="18" charset="0"/>
              </a:rPr>
              <a:t>the printer venue, this allows for faster printing and back-channel status and management. Since the new standard allowed the peripheral to send large amounts of data back to the host, devices that had previously used </a:t>
            </a:r>
            <a:r>
              <a:rPr lang="en-US" sz="2400" dirty="0" smtClean="0">
                <a:latin typeface="Times New Roman" pitchFamily="18" charset="0"/>
                <a:cs typeface="Times New Roman" pitchFamily="18" charset="0"/>
                <a:hlinkClick r:id="rId4" tooltip="SCSI"/>
              </a:rPr>
              <a:t>SCSI</a:t>
            </a:r>
            <a:r>
              <a:rPr lang="en-US" sz="2400" dirty="0" smtClean="0">
                <a:latin typeface="Times New Roman" pitchFamily="18" charset="0"/>
                <a:cs typeface="Times New Roman" pitchFamily="18" charset="0"/>
              </a:rPr>
              <a:t> interfaces could be produced at a much lower cost. </a:t>
            </a:r>
            <a:r>
              <a:rPr lang="en-US" sz="2400" dirty="0" smtClean="0">
                <a:latin typeface="Times New Roman" pitchFamily="18" charset="0"/>
                <a:cs typeface="Times New Roman" pitchFamily="18" charset="0"/>
              </a:rPr>
              <a:t>This </a:t>
            </a:r>
            <a:r>
              <a:rPr lang="en-US" sz="2400" dirty="0" smtClean="0">
                <a:latin typeface="Times New Roman" pitchFamily="18" charset="0"/>
                <a:cs typeface="Times New Roman" pitchFamily="18" charset="0"/>
              </a:rPr>
              <a:t>included </a:t>
            </a:r>
            <a:r>
              <a:rPr lang="en-US" sz="2400" dirty="0" smtClean="0">
                <a:latin typeface="Times New Roman" pitchFamily="18" charset="0"/>
                <a:cs typeface="Times New Roman" pitchFamily="18" charset="0"/>
                <a:hlinkClick r:id="rId5" tooltip="Image scanner"/>
              </a:rPr>
              <a:t>scanners</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hlinkClick r:id="rId6" tooltip="Tape drive"/>
              </a:rPr>
              <a:t>tape drives</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hlinkClick r:id="rId7" tooltip="Hard disk"/>
              </a:rPr>
              <a:t>hard disks</a:t>
            </a:r>
            <a:r>
              <a:rPr lang="en-US" sz="2400" dirty="0" smtClean="0">
                <a:latin typeface="Times New Roman" pitchFamily="18" charset="0"/>
                <a:cs typeface="Times New Roman" pitchFamily="18" charset="0"/>
              </a:rPr>
              <a:t>, computer networks connected directly via parallel interface, network adapters and other devices. No longer was the consumer required to purchase an expensive SCSI card—they could simply use their built-in parallel interface.</a:t>
            </a:r>
            <a:endParaRPr lang="en-US" sz="24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371</TotalTime>
  <Words>2795</Words>
  <Application>Microsoft Office PowerPoint</Application>
  <PresentationFormat>On-screen Show (4:3)</PresentationFormat>
  <Paragraphs>180</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Basuki Sir</dc:creator>
  <cp:lastModifiedBy>Basuki Sir</cp:lastModifiedBy>
  <cp:revision>28</cp:revision>
  <dcterms:created xsi:type="dcterms:W3CDTF">2006-08-16T00:00:00Z</dcterms:created>
  <dcterms:modified xsi:type="dcterms:W3CDTF">2023-07-19T08:48:18Z</dcterms:modified>
</cp:coreProperties>
</file>