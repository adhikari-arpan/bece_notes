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4" r:id="rId6"/>
    <p:sldId id="266" r:id="rId7"/>
    <p:sldId id="263" r:id="rId8"/>
    <p:sldId id="267" r:id="rId9"/>
    <p:sldId id="268" r:id="rId10"/>
    <p:sldId id="259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64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6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4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1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8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7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0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3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5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2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6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5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DA1E8-FF5F-4DE8-B07F-08C7D4D78A7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6813B-4752-4335-8B44-78B74A89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Modern Graphics Hardware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8458200" cy="51816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Motherboard contains  </a:t>
            </a:r>
            <a:r>
              <a:rPr lang="en-US" b="1" dirty="0">
                <a:solidFill>
                  <a:schemeClr val="tx1"/>
                </a:solidFill>
              </a:rPr>
              <a:t>CPU  (multiple cores)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Graphics card is add-in board with </a:t>
            </a:r>
            <a:r>
              <a:rPr lang="en-US" b="1" dirty="0">
                <a:solidFill>
                  <a:schemeClr val="tx1"/>
                </a:solidFill>
              </a:rPr>
              <a:t>GPU (thousands of cores)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Hardware Acceleration (GPU Rendering)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U</a:t>
            </a:r>
            <a:r>
              <a:rPr lang="en-US" dirty="0">
                <a:solidFill>
                  <a:schemeClr val="tx1"/>
                </a:solidFill>
              </a:rPr>
              <a:t>se of dedicated processing hardware using </a:t>
            </a:r>
            <a:r>
              <a:rPr lang="en-US" b="1" dirty="0">
                <a:solidFill>
                  <a:schemeClr val="tx1"/>
                </a:solidFill>
              </a:rPr>
              <a:t>buffer caching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modern graphics APIs</a:t>
            </a:r>
            <a:r>
              <a:rPr lang="en-US" dirty="0">
                <a:solidFill>
                  <a:schemeClr val="tx1"/>
                </a:solidFill>
              </a:rPr>
              <a:t> for Realtime interactive visualization of graphics data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Graphics processing unit (GPU) is specifically designed to accelerate computer graphics workloads thru high-speed, parallel mathematical calculations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Accelerates rendering of 3D graphics for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interesting visual effects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realistic scenes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advanced lighting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shadowing techniques.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Now also used to accelerate additional workloads in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high performance computing (HPC)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deep learning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41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Modern Graphics Hardware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447800"/>
            <a:ext cx="8153400" cy="4495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GPU Types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Integrated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Does not come on its own separate card    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and is instead </a:t>
            </a:r>
            <a:r>
              <a:rPr lang="en-US" b="1" dirty="0">
                <a:solidFill>
                  <a:schemeClr val="tx1"/>
                </a:solidFill>
              </a:rPr>
              <a:t>embedded alongside CPU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Discrete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Distinct chip that is mounted on its </a:t>
            </a:r>
            <a:r>
              <a:rPr lang="en-US" b="1" dirty="0">
                <a:solidFill>
                  <a:schemeClr val="tx1"/>
                </a:solidFill>
              </a:rPr>
              <a:t>own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          circuit board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Typically attached to a PCI Express slot.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61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Modern Graphics Hardware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447800"/>
            <a:ext cx="8077200" cy="5181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CPU On-Board Facilities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3D graphics, is a </a:t>
            </a:r>
            <a:r>
              <a:rPr lang="en-US" b="1" dirty="0">
                <a:solidFill>
                  <a:schemeClr val="tx1"/>
                </a:solidFill>
              </a:rPr>
              <a:t>calculation intensive </a:t>
            </a:r>
            <a:r>
              <a:rPr lang="en-US" dirty="0">
                <a:solidFill>
                  <a:schemeClr val="tx1"/>
                </a:solidFill>
              </a:rPr>
              <a:t>environment.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The calculations are usually simple and can be performed in integer math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Graphics coprocessors often rely on the main CPU for performing this basic arithmetic.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Special purpose graphics processing  units (GPUs)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Hundreds of processors for </a:t>
            </a:r>
            <a:r>
              <a:rPr lang="en-US" b="1" dirty="0">
                <a:solidFill>
                  <a:schemeClr val="tx1"/>
                </a:solidFill>
              </a:rPr>
              <a:t>parallelly executing graphics algorithms </a:t>
            </a:r>
            <a:r>
              <a:rPr lang="en-US" dirty="0">
                <a:solidFill>
                  <a:schemeClr val="tx1"/>
                </a:solidFill>
              </a:rPr>
              <a:t>more quickly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Workload sufficiency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Processes </a:t>
            </a:r>
            <a:r>
              <a:rPr lang="en-US" b="1" dirty="0">
                <a:solidFill>
                  <a:schemeClr val="tx1"/>
                </a:solidFill>
              </a:rPr>
              <a:t>thousands of floating point operations per pixel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Strong market demand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87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stack.imgur.com/pU0O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783614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 You Need A GPU (Graphics Card) If It's Not For Gaming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962400"/>
            <a:ext cx="5057422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7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043C-0E88-4192-93D0-C1DDE23F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CPU/GPU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66E4-C62F-4AE7-B68B-BDA5A9DC9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CPU used to perform computations necessary for rendering of  graphical data which </a:t>
            </a:r>
            <a:r>
              <a:rPr lang="en-US" b="1" dirty="0"/>
              <a:t>makes rendering slow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GPU is used nowadays that performs graphics</a:t>
            </a:r>
          </a:p>
          <a:p>
            <a:pPr marL="0" indent="0">
              <a:buNone/>
            </a:pPr>
            <a:r>
              <a:rPr lang="en-US" dirty="0"/>
              <a:t>intensive calculations very </a:t>
            </a:r>
            <a:r>
              <a:rPr lang="en-US" b="1" dirty="0"/>
              <a:t>quickly</a:t>
            </a:r>
            <a:r>
              <a:rPr lang="en-US" dirty="0"/>
              <a:t> and in </a:t>
            </a:r>
            <a:r>
              <a:rPr lang="en-US" b="1" dirty="0"/>
              <a:t>parallel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for fast and smooth rendering of graphical contents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GPU frees CPU of graphics intensive tasks</a:t>
            </a:r>
          </a:p>
        </p:txBody>
      </p:sp>
    </p:spTree>
    <p:extLst>
      <p:ext uri="{BB962C8B-B14F-4D97-AF65-F5344CB8AC3E}">
        <p14:creationId xmlns:p14="http://schemas.microsoft.com/office/powerpoint/2010/main" val="219730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578-58D3-47B0-A3B7-CD40A50B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GPU Working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D658-A7E2-496B-9439-870DF4940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Parallel</a:t>
            </a:r>
            <a:r>
              <a:rPr lang="en-US" dirty="0"/>
              <a:t> </a:t>
            </a:r>
            <a:r>
              <a:rPr lang="en-US" b="1" dirty="0"/>
              <a:t>processing</a:t>
            </a:r>
            <a:r>
              <a:rPr lang="en-US" dirty="0"/>
              <a:t>,  multiple processors handle separate parts of a single task. </a:t>
            </a:r>
          </a:p>
          <a:p>
            <a:endParaRPr lang="en-US" dirty="0"/>
          </a:p>
          <a:p>
            <a:r>
              <a:rPr lang="en-US" dirty="0"/>
              <a:t>A GPU has its </a:t>
            </a:r>
            <a:r>
              <a:rPr lang="en-US" b="1" dirty="0"/>
              <a:t>own RAM </a:t>
            </a:r>
            <a:r>
              <a:rPr lang="en-US" dirty="0"/>
              <a:t>designed specifically to hold large amounts of information coming into the GPU</a:t>
            </a:r>
          </a:p>
          <a:p>
            <a:endParaRPr lang="en-US" dirty="0"/>
          </a:p>
          <a:p>
            <a:r>
              <a:rPr lang="en-US" dirty="0"/>
              <a:t>For graphics applications,  </a:t>
            </a:r>
            <a:r>
              <a:rPr lang="en-US" b="1" dirty="0"/>
              <a:t>CPU sends instructions to  GPU</a:t>
            </a:r>
            <a:r>
              <a:rPr lang="en-US" dirty="0"/>
              <a:t> for drawing graphics content on screen</a:t>
            </a:r>
          </a:p>
          <a:p>
            <a:endParaRPr lang="en-US" dirty="0"/>
          </a:p>
          <a:p>
            <a:r>
              <a:rPr lang="en-US" dirty="0"/>
              <a:t>The GPU executes instructions </a:t>
            </a:r>
            <a:r>
              <a:rPr lang="en-US" b="1" dirty="0"/>
              <a:t>in parallel and at high speeds</a:t>
            </a:r>
            <a:r>
              <a:rPr lang="en-US" dirty="0"/>
              <a:t> to display  content on device</a:t>
            </a:r>
          </a:p>
          <a:p>
            <a:pPr marL="0" indent="0">
              <a:buNone/>
            </a:pPr>
            <a:r>
              <a:rPr lang="en-US" dirty="0"/>
              <a:t>     (graphics or rendering pipeline)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4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0B3E-C3FE-40BB-9CE9-45661665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6D586-77C7-41A0-B378-5F04BFDEE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PU: A Complete Guide in Simple Terms - WEKA">
            <a:extLst>
              <a:ext uri="{FF2B5EF4-FFF2-40B4-BE49-F238E27FC236}">
                <a16:creationId xmlns:a16="http://schemas.microsoft.com/office/drawing/2014/main" id="{B9B76C92-9624-4BA4-8B8D-09B07DDFD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44000" cy="405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42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480C-E6C6-4492-ADCD-92526C54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1D22A-08FD-4B9A-AA78-BF3146777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Accelerating</a:t>
            </a:r>
            <a:r>
              <a:rPr lang="en-US" dirty="0"/>
              <a:t> the rendering of real-time 2D and 3D graphics applications.</a:t>
            </a:r>
          </a:p>
          <a:p>
            <a:r>
              <a:rPr lang="en-US" dirty="0"/>
              <a:t>Video </a:t>
            </a:r>
            <a:r>
              <a:rPr lang="en-US" b="1" dirty="0"/>
              <a:t>editing</a:t>
            </a:r>
            <a:r>
              <a:rPr lang="en-US" dirty="0"/>
              <a:t> and video </a:t>
            </a:r>
            <a:r>
              <a:rPr lang="en-US" b="1" dirty="0"/>
              <a:t>content</a:t>
            </a:r>
            <a:r>
              <a:rPr lang="en-US" dirty="0"/>
              <a:t> </a:t>
            </a:r>
            <a:r>
              <a:rPr lang="en-US" b="1" dirty="0"/>
              <a:t>creation</a:t>
            </a:r>
            <a:r>
              <a:rPr lang="en-US" dirty="0"/>
              <a:t>.</a:t>
            </a:r>
          </a:p>
          <a:p>
            <a:r>
              <a:rPr lang="en-US" dirty="0"/>
              <a:t>Video </a:t>
            </a:r>
            <a:r>
              <a:rPr lang="en-US" b="1" dirty="0"/>
              <a:t>game</a:t>
            </a:r>
            <a:r>
              <a:rPr lang="en-US" dirty="0"/>
              <a:t> graphics.</a:t>
            </a:r>
          </a:p>
          <a:p>
            <a:r>
              <a:rPr lang="en-US" dirty="0"/>
              <a:t>Accelerating </a:t>
            </a:r>
            <a:r>
              <a:rPr lang="en-US" b="1" dirty="0"/>
              <a:t>ML applications </a:t>
            </a:r>
            <a:r>
              <a:rPr lang="en-US" dirty="0"/>
              <a:t>such as image recognition and facial detection and recognition.</a:t>
            </a:r>
          </a:p>
          <a:p>
            <a:r>
              <a:rPr lang="en-US" b="1" dirty="0"/>
              <a:t>Training</a:t>
            </a:r>
            <a:r>
              <a:rPr lang="en-US" dirty="0"/>
              <a:t> deep learning neural networks.</a:t>
            </a:r>
          </a:p>
          <a:p>
            <a:r>
              <a:rPr lang="en-US" b="1" dirty="0"/>
              <a:t>Mining</a:t>
            </a:r>
            <a:r>
              <a:rPr lang="en-US" dirty="0"/>
              <a:t> crypto currencies e.g. bitcoin, Ethereum.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490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5729-6AC5-49EA-A27F-45AACF0D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FB53-AEFD-4016-9937-4DCFBA44F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virtual GPU </a:t>
            </a:r>
            <a:r>
              <a:rPr lang="en-US" dirty="0"/>
              <a:t>that removes the need to deploy a GPU or associated hardware and software on a local device.</a:t>
            </a:r>
          </a:p>
          <a:p>
            <a:endParaRPr lang="en-US" dirty="0"/>
          </a:p>
          <a:p>
            <a:r>
              <a:rPr lang="en-US" dirty="0"/>
              <a:t>Benefits </a:t>
            </a:r>
          </a:p>
          <a:p>
            <a:pPr marL="0" indent="0">
              <a:buNone/>
            </a:pPr>
            <a:r>
              <a:rPr lang="en-US" dirty="0"/>
              <a:t>-	freeing up local resources </a:t>
            </a:r>
          </a:p>
          <a:p>
            <a:pPr marL="0" indent="0">
              <a:buNone/>
            </a:pPr>
            <a:r>
              <a:rPr lang="en-US" dirty="0"/>
              <a:t>-	saving time and cost</a:t>
            </a:r>
          </a:p>
          <a:p>
            <a:pPr marL="0" indent="0">
              <a:buNone/>
            </a:pPr>
            <a:r>
              <a:rPr lang="en-US" dirty="0"/>
              <a:t>-	greater scalability</a:t>
            </a:r>
          </a:p>
          <a:p>
            <a:endParaRPr lang="en-US" dirty="0"/>
          </a:p>
          <a:p>
            <a:r>
              <a:rPr lang="en-US" dirty="0"/>
              <a:t>Cloud service providers (Google, Amazon, Azure) provide cloud GPUs </a:t>
            </a:r>
          </a:p>
          <a:p>
            <a:endParaRPr lang="en-US" dirty="0"/>
          </a:p>
          <a:p>
            <a:r>
              <a:rPr lang="en-US" dirty="0"/>
              <a:t>A range of GPU types are available that are suitable for a variety of workloads, budgets and performance requirements.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0C0287-DCD2-4E32-9604-9905EA2B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05000"/>
            <a:ext cx="3292125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6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Modern Graphics Hardware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8305800" cy="51816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NVDIA GeForce 9800 GTX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GTX can render 340 million small </a:t>
            </a:r>
            <a:r>
              <a:rPr lang="en-US" b="1" dirty="0">
                <a:solidFill>
                  <a:schemeClr val="tx1"/>
                </a:solidFill>
              </a:rPr>
              <a:t>triangles</a:t>
            </a:r>
            <a:r>
              <a:rPr lang="en-US" dirty="0">
                <a:solidFill>
                  <a:schemeClr val="tx1"/>
                </a:solidFill>
              </a:rPr>
              <a:t> per second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almost 11 billion pixels per second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576 billion  floating point operations per second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Chipset supports memory  transfer at up to 25.6 GB/s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NVDIA GeForce 9800 GTX has 16 cores each with eight float point ALUs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GeForce GTX 1080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NVIDIA CUDA Cores: 2560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Boost Clock: 1733 MHz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Memory Size: 8 GB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GeForce RTX 3090Ti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NVIDIA CUDA Cores: 10752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Boost Clock: 1.86 GHz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Memory Size: 24 GB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 descr="RTX 3060 vs GTX 1080: Which Is Better In 2023 - Tech4Game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4191000"/>
            <a:ext cx="33782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he wireframe view of the Bunny model with 1K vertices and the... |  Download Scientific Diagram">
            <a:extLst>
              <a:ext uri="{FF2B5EF4-FFF2-40B4-BE49-F238E27FC236}">
                <a16:creationId xmlns:a16="http://schemas.microsoft.com/office/drawing/2014/main" id="{79F10B59-F2A3-4E93-9A4A-F5ACF0ED8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41232"/>
            <a:ext cx="8382000" cy="607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87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TX 1080 vs RTX 3060 - Electronics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669867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608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E333-F106-4783-B65C-9B95CA57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342E-514D-4208-ADC9-2A01CFF4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vs Graphics Card difference?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GPU vs Graphics Card - What Is The ...">
            <a:extLst>
              <a:ext uri="{FF2B5EF4-FFF2-40B4-BE49-F238E27FC236}">
                <a16:creationId xmlns:a16="http://schemas.microsoft.com/office/drawing/2014/main" id="{C764FE7D-02DC-46BC-BF16-E23C9765A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553" y="2667000"/>
            <a:ext cx="5510893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25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6083</TotalTime>
  <Words>400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Modern Graphics Hardware</vt:lpstr>
      <vt:lpstr>Modern Graphics Hardware</vt:lpstr>
      <vt:lpstr>Modern Graphics Hardware</vt:lpstr>
      <vt:lpstr>PowerPoint Presentation</vt:lpstr>
      <vt:lpstr>CPU/GPU</vt:lpstr>
      <vt:lpstr>GPU Working Mechanism </vt:lpstr>
      <vt:lpstr>PowerPoint Presentation</vt:lpstr>
      <vt:lpstr>Uses of GPU</vt:lpstr>
      <vt:lpstr>Cloud GPU</vt:lpstr>
      <vt:lpstr>Modern Graphics Hardware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Graphics Hardware</dc:title>
  <dc:creator>saroj</dc:creator>
  <cp:lastModifiedBy>DELL</cp:lastModifiedBy>
  <cp:revision>21</cp:revision>
  <dcterms:created xsi:type="dcterms:W3CDTF">2023-11-20T12:52:24Z</dcterms:created>
  <dcterms:modified xsi:type="dcterms:W3CDTF">2024-09-21T10:42:33Z</dcterms:modified>
</cp:coreProperties>
</file>