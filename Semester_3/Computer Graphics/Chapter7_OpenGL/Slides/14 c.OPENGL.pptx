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53"/>
  </p:notesMasterIdLst>
  <p:sldIdLst>
    <p:sldId id="291" r:id="rId2"/>
    <p:sldId id="298" r:id="rId3"/>
    <p:sldId id="299" r:id="rId4"/>
    <p:sldId id="311" r:id="rId5"/>
    <p:sldId id="312" r:id="rId6"/>
    <p:sldId id="313" r:id="rId7"/>
    <p:sldId id="314" r:id="rId8"/>
    <p:sldId id="315" r:id="rId9"/>
    <p:sldId id="316" r:id="rId10"/>
    <p:sldId id="317" r:id="rId11"/>
    <p:sldId id="278" r:id="rId12"/>
    <p:sldId id="256" r:id="rId13"/>
    <p:sldId id="281" r:id="rId14"/>
    <p:sldId id="282" r:id="rId15"/>
    <p:sldId id="283" r:id="rId16"/>
    <p:sldId id="284" r:id="rId17"/>
    <p:sldId id="285" r:id="rId18"/>
    <p:sldId id="286" r:id="rId19"/>
    <p:sldId id="287" r:id="rId20"/>
    <p:sldId id="290" r:id="rId21"/>
    <p:sldId id="288" r:id="rId22"/>
    <p:sldId id="257" r:id="rId23"/>
    <p:sldId id="289" r:id="rId24"/>
    <p:sldId id="259" r:id="rId25"/>
    <p:sldId id="260" r:id="rId26"/>
    <p:sldId id="261" r:id="rId27"/>
    <p:sldId id="262" r:id="rId28"/>
    <p:sldId id="263" r:id="rId29"/>
    <p:sldId id="264" r:id="rId30"/>
    <p:sldId id="265" r:id="rId31"/>
    <p:sldId id="292" r:id="rId32"/>
    <p:sldId id="266" r:id="rId33"/>
    <p:sldId id="267" r:id="rId34"/>
    <p:sldId id="268" r:id="rId35"/>
    <p:sldId id="280" r:id="rId36"/>
    <p:sldId id="269" r:id="rId37"/>
    <p:sldId id="279" r:id="rId38"/>
    <p:sldId id="270" r:id="rId39"/>
    <p:sldId id="271" r:id="rId40"/>
    <p:sldId id="272" r:id="rId41"/>
    <p:sldId id="274" r:id="rId42"/>
    <p:sldId id="273" r:id="rId43"/>
    <p:sldId id="275" r:id="rId44"/>
    <p:sldId id="295" r:id="rId45"/>
    <p:sldId id="277" r:id="rId46"/>
    <p:sldId id="276" r:id="rId47"/>
    <p:sldId id="258" r:id="rId48"/>
    <p:sldId id="294" r:id="rId49"/>
    <p:sldId id="293" r:id="rId50"/>
    <p:sldId id="296" r:id="rId51"/>
    <p:sldId id="297"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7" autoAdjust="0"/>
    <p:restoredTop sz="94660"/>
  </p:normalViewPr>
  <p:slideViewPr>
    <p:cSldViewPr>
      <p:cViewPr varScale="1">
        <p:scale>
          <a:sx n="85" d="100"/>
          <a:sy n="85" d="100"/>
        </p:scale>
        <p:origin x="1176"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EAF549-6900-4CE8-A3DC-5B39D11F04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96E7623-D63B-4824-98C6-1A1F4299A37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65661-528C-401E-990B-93BC52849286}" type="datetimeFigureOut">
              <a:rPr lang="en-US" smtClean="0"/>
              <a:t>3/3/2025</a:t>
            </a:fld>
            <a:endParaRPr lang="en-US"/>
          </a:p>
        </p:txBody>
      </p:sp>
      <p:sp>
        <p:nvSpPr>
          <p:cNvPr id="4" name="Slide Image Placeholder 3">
            <a:extLst>
              <a:ext uri="{FF2B5EF4-FFF2-40B4-BE49-F238E27FC236}">
                <a16:creationId xmlns:a16="http://schemas.microsoft.com/office/drawing/2014/main" id="{80ABDD25-87E3-40FB-8617-41765DCC0FF0}"/>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80CF5D2A-D8F4-4A85-9B48-39B599722F7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6F8E56F-1B64-41F4-B618-389A8DE49D69}"/>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a:extLst>
              <a:ext uri="{FF2B5EF4-FFF2-40B4-BE49-F238E27FC236}">
                <a16:creationId xmlns:a16="http://schemas.microsoft.com/office/drawing/2014/main" id="{3BF20E39-9AC9-4A34-A7D7-F5C315D942A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C9851-B228-4026-95ED-417DEEFD173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X,Y,X,W   IF W IS 0 DIRECTIONAL ELSE POSITIONAL LIGHT SOURCE</a:t>
            </a:r>
          </a:p>
        </p:txBody>
      </p:sp>
      <p:sp>
        <p:nvSpPr>
          <p:cNvPr id="4" name="Slide Number Placeholder 3"/>
          <p:cNvSpPr>
            <a:spLocks noGrp="1"/>
          </p:cNvSpPr>
          <p:nvPr>
            <p:ph type="sldNum" sz="quarter" idx="5"/>
          </p:nvPr>
        </p:nvSpPr>
        <p:spPr/>
        <p:txBody>
          <a:bodyPr/>
          <a:lstStyle/>
          <a:p>
            <a:fld id="{B83275C5-A554-460E-B917-B47E80F9A116}" type="slidenum">
              <a:rPr lang="en-US" smtClean="0"/>
              <a:t>50</a:t>
            </a:fld>
            <a:endParaRPr lang="en-US"/>
          </a:p>
        </p:txBody>
      </p:sp>
    </p:spTree>
    <p:extLst>
      <p:ext uri="{BB962C8B-B14F-4D97-AF65-F5344CB8AC3E}">
        <p14:creationId xmlns:p14="http://schemas.microsoft.com/office/powerpoint/2010/main" val="75409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3275C5-A554-460E-B917-B47E80F9A116}" type="slidenum">
              <a:rPr lang="en-US" smtClean="0"/>
              <a:t>51</a:t>
            </a:fld>
            <a:endParaRPr lang="en-US"/>
          </a:p>
        </p:txBody>
      </p:sp>
    </p:spTree>
    <p:extLst>
      <p:ext uri="{BB962C8B-B14F-4D97-AF65-F5344CB8AC3E}">
        <p14:creationId xmlns:p14="http://schemas.microsoft.com/office/powerpoint/2010/main" val="1604038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DD3D781-56F6-4FB5-93F5-31841BC3281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fld id="{BA103744-0617-4E5E-B36E-FE01C6CA05D3}" type="datetimeFigureOut">
              <a:rPr lang="en-US" smtClean="0"/>
              <a:pPr/>
              <a:t>3/3/2025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fld id="{CDD3D781-56F6-4FB5-93F5-31841BC32815}"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0200" y="4953000"/>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HW1</a:t>
            </a:r>
          </a:p>
        </p:txBody>
      </p:sp>
      <p:sp>
        <p:nvSpPr>
          <p:cNvPr id="5" name="Rectangle 4"/>
          <p:cNvSpPr/>
          <p:nvPr/>
        </p:nvSpPr>
        <p:spPr>
          <a:xfrm>
            <a:off x="3352800" y="4953000"/>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HW2</a:t>
            </a:r>
          </a:p>
        </p:txBody>
      </p:sp>
      <p:sp>
        <p:nvSpPr>
          <p:cNvPr id="6" name="Rectangle 5"/>
          <p:cNvSpPr/>
          <p:nvPr/>
        </p:nvSpPr>
        <p:spPr>
          <a:xfrm>
            <a:off x="5105400" y="4953000"/>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HW3</a:t>
            </a:r>
          </a:p>
        </p:txBody>
      </p:sp>
      <p:sp>
        <p:nvSpPr>
          <p:cNvPr id="7" name="Rectangle 6"/>
          <p:cNvSpPr/>
          <p:nvPr/>
        </p:nvSpPr>
        <p:spPr>
          <a:xfrm>
            <a:off x="6858000" y="4953000"/>
            <a:ext cx="9144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HW4</a:t>
            </a:r>
          </a:p>
        </p:txBody>
      </p:sp>
      <p:sp>
        <p:nvSpPr>
          <p:cNvPr id="8" name="Rectangle 7"/>
          <p:cNvSpPr/>
          <p:nvPr/>
        </p:nvSpPr>
        <p:spPr>
          <a:xfrm>
            <a:off x="1600200" y="4648200"/>
            <a:ext cx="6172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OpenGL</a:t>
            </a:r>
          </a:p>
        </p:txBody>
      </p:sp>
      <p:sp>
        <p:nvSpPr>
          <p:cNvPr id="9" name="Rectangle 8"/>
          <p:cNvSpPr/>
          <p:nvPr/>
        </p:nvSpPr>
        <p:spPr>
          <a:xfrm>
            <a:off x="1600200" y="2133600"/>
            <a:ext cx="6172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OpenGL API</a:t>
            </a:r>
          </a:p>
        </p:txBody>
      </p:sp>
      <p:sp>
        <p:nvSpPr>
          <p:cNvPr id="12" name="Rectangle 11"/>
          <p:cNvSpPr/>
          <p:nvPr/>
        </p:nvSpPr>
        <p:spPr>
          <a:xfrm>
            <a:off x="3962400" y="1295400"/>
            <a:ext cx="1447800"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Application Programmer</a:t>
            </a:r>
          </a:p>
        </p:txBody>
      </p:sp>
      <p:cxnSp>
        <p:nvCxnSpPr>
          <p:cNvPr id="15" name="Straight Arrow Connector 14"/>
          <p:cNvCxnSpPr/>
          <p:nvPr/>
        </p:nvCxnSpPr>
        <p:spPr>
          <a:xfrm flipH="1">
            <a:off x="2209800" y="2667000"/>
            <a:ext cx="2476500" cy="2514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914900" y="2667000"/>
            <a:ext cx="2628900" cy="2514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838700" y="2819400"/>
            <a:ext cx="723900" cy="2362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3810000" y="2819400"/>
            <a:ext cx="876300" cy="2362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6744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BEFF-EFBB-4EF1-8940-E90F0D532750}"/>
              </a:ext>
            </a:extLst>
          </p:cNvPr>
          <p:cNvSpPr>
            <a:spLocks noGrp="1"/>
          </p:cNvSpPr>
          <p:nvPr>
            <p:ph type="title"/>
          </p:nvPr>
        </p:nvSpPr>
        <p:spPr>
          <a:xfrm>
            <a:off x="457200" y="0"/>
            <a:ext cx="8229600" cy="457199"/>
          </a:xfrm>
        </p:spPr>
        <p:txBody>
          <a:bodyPr/>
          <a:lstStyle/>
          <a:p>
            <a:r>
              <a:rPr lang="en-US" sz="3600" b="1" dirty="0"/>
              <a:t>OpenGL Rendering Pipeline </a:t>
            </a:r>
            <a:endParaRPr lang="en-US" sz="3600" dirty="0"/>
          </a:p>
        </p:txBody>
      </p:sp>
      <p:sp>
        <p:nvSpPr>
          <p:cNvPr id="3" name="Content Placeholder 2">
            <a:extLst>
              <a:ext uri="{FF2B5EF4-FFF2-40B4-BE49-F238E27FC236}">
                <a16:creationId xmlns:a16="http://schemas.microsoft.com/office/drawing/2014/main" id="{6DF78C62-45A8-47AA-A96D-ED65EC742C58}"/>
              </a:ext>
            </a:extLst>
          </p:cNvPr>
          <p:cNvSpPr>
            <a:spLocks noGrp="1"/>
          </p:cNvSpPr>
          <p:nvPr>
            <p:ph idx="1"/>
          </p:nvPr>
        </p:nvSpPr>
        <p:spPr>
          <a:xfrm>
            <a:off x="457200" y="609600"/>
            <a:ext cx="8305800" cy="6019800"/>
          </a:xfrm>
        </p:spPr>
        <p:txBody>
          <a:bodyPr/>
          <a:lstStyle/>
          <a:p>
            <a:pPr marL="0" indent="0">
              <a:buNone/>
            </a:pPr>
            <a:r>
              <a:rPr lang="en-US" sz="2000" b="1" dirty="0"/>
              <a:t>1. Vertex Processing:</a:t>
            </a:r>
          </a:p>
          <a:p>
            <a:r>
              <a:rPr lang="en-US" sz="2000" dirty="0"/>
              <a:t>Each vertex in the vertex array is processed in turn into an </a:t>
            </a:r>
            <a:r>
              <a:rPr lang="en-US" sz="2000" b="1" dirty="0">
                <a:solidFill>
                  <a:srgbClr val="FFFF00"/>
                </a:solidFill>
              </a:rPr>
              <a:t>output vertex </a:t>
            </a:r>
            <a:r>
              <a:rPr lang="en-US" sz="2000" dirty="0"/>
              <a:t>.</a:t>
            </a:r>
          </a:p>
          <a:p>
            <a:r>
              <a:rPr lang="en-US" sz="2000" dirty="0"/>
              <a:t>It then goes through </a:t>
            </a:r>
            <a:r>
              <a:rPr lang="en-US" sz="2000" b="1" dirty="0">
                <a:solidFill>
                  <a:srgbClr val="FFFF00"/>
                </a:solidFill>
              </a:rPr>
              <a:t>tessellation</a:t>
            </a:r>
            <a:r>
              <a:rPr lang="en-US" sz="2000" dirty="0"/>
              <a:t> stages and </a:t>
            </a:r>
            <a:r>
              <a:rPr lang="en-US" sz="2000" b="1" dirty="0">
                <a:solidFill>
                  <a:srgbClr val="FFFF00"/>
                </a:solidFill>
              </a:rPr>
              <a:t>geometry shader</a:t>
            </a:r>
            <a:r>
              <a:rPr lang="en-US" sz="2000" dirty="0"/>
              <a:t> primitive processing for producing  a sequence of primitives.</a:t>
            </a:r>
          </a:p>
          <a:p>
            <a:pPr marL="0" indent="0">
              <a:buNone/>
            </a:pPr>
            <a:r>
              <a:rPr lang="en-US" sz="2000" b="1" dirty="0"/>
              <a:t>2. Vertex Post-Processing:</a:t>
            </a:r>
          </a:p>
          <a:p>
            <a:r>
              <a:rPr lang="en-US" sz="2000" dirty="0"/>
              <a:t>Outputs of the last stage are adjusted or shipped to different locations.</a:t>
            </a:r>
          </a:p>
          <a:p>
            <a:r>
              <a:rPr lang="en-US" sz="2000" dirty="0"/>
              <a:t>Transform Feedback happens here like </a:t>
            </a:r>
            <a:r>
              <a:rPr lang="en-US" sz="2000" b="1" dirty="0">
                <a:solidFill>
                  <a:srgbClr val="FFFF00"/>
                </a:solidFill>
              </a:rPr>
              <a:t>Primitive Assembly, Primitive Clipping, the perspective  divide</a:t>
            </a:r>
            <a:r>
              <a:rPr lang="en-US" sz="2000" dirty="0"/>
              <a:t>, and the </a:t>
            </a:r>
            <a:r>
              <a:rPr lang="en-US" sz="2000" b="1" dirty="0">
                <a:solidFill>
                  <a:srgbClr val="FFFF00"/>
                </a:solidFill>
              </a:rPr>
              <a:t>viewport transform</a:t>
            </a:r>
            <a:r>
              <a:rPr lang="en-US" sz="2000" dirty="0"/>
              <a:t> to window space.</a:t>
            </a:r>
          </a:p>
          <a:p>
            <a:pPr marL="0" indent="0">
              <a:buNone/>
            </a:pPr>
            <a:r>
              <a:rPr lang="en-US" sz="2000" b="1" dirty="0"/>
              <a:t>3. Scan conversion</a:t>
            </a:r>
            <a:r>
              <a:rPr lang="en-US" sz="2000" dirty="0"/>
              <a:t> and primitive parameter interpolation, which </a:t>
            </a:r>
          </a:p>
          <a:p>
            <a:pPr marL="0" indent="0">
              <a:buNone/>
            </a:pPr>
            <a:r>
              <a:rPr lang="en-US" sz="2000" dirty="0"/>
              <a:t>       generates a number of </a:t>
            </a:r>
            <a:r>
              <a:rPr lang="en-US" sz="2000" b="1" dirty="0">
                <a:solidFill>
                  <a:srgbClr val="FFFF00"/>
                </a:solidFill>
              </a:rPr>
              <a:t>Fragments</a:t>
            </a:r>
            <a:r>
              <a:rPr lang="en-US" sz="2000" dirty="0"/>
              <a:t>.</a:t>
            </a:r>
          </a:p>
          <a:p>
            <a:pPr marL="0" indent="0">
              <a:buNone/>
            </a:pPr>
            <a:r>
              <a:rPr lang="en-US" sz="2000" b="1" dirty="0"/>
              <a:t>4. A </a:t>
            </a:r>
            <a:r>
              <a:rPr lang="en-US" sz="2000" b="1" dirty="0">
                <a:solidFill>
                  <a:srgbClr val="FFFF00"/>
                </a:solidFill>
              </a:rPr>
              <a:t>Fragment Shader</a:t>
            </a:r>
            <a:r>
              <a:rPr lang="en-US" sz="2000" dirty="0"/>
              <a:t> processes each fragment. Each fragment generates a </a:t>
            </a:r>
          </a:p>
          <a:p>
            <a:pPr marL="0" indent="0">
              <a:buNone/>
            </a:pPr>
            <a:r>
              <a:rPr lang="en-US" sz="2000" dirty="0"/>
              <a:t>     number of outputs.</a:t>
            </a:r>
          </a:p>
          <a:p>
            <a:pPr marL="0" indent="0">
              <a:buNone/>
            </a:pPr>
            <a:r>
              <a:rPr lang="en-US" sz="2000" b="1" dirty="0"/>
              <a:t>5. Per-Sample Processing</a:t>
            </a:r>
            <a:r>
              <a:rPr lang="en-US" sz="2000" dirty="0"/>
              <a:t>:</a:t>
            </a:r>
          </a:p>
          <a:p>
            <a:r>
              <a:rPr lang="en-US" sz="2000" dirty="0"/>
              <a:t>Scissor Test, Stencil Test, Depth Test, Blending, Logical Operation, Write Mask</a:t>
            </a:r>
          </a:p>
        </p:txBody>
      </p:sp>
    </p:spTree>
    <p:extLst>
      <p:ext uri="{BB962C8B-B14F-4D97-AF65-F5344CB8AC3E}">
        <p14:creationId xmlns:p14="http://schemas.microsoft.com/office/powerpoint/2010/main" val="153130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2295-1F67-46CB-B708-4891C1DD6BBE}"/>
              </a:ext>
            </a:extLst>
          </p:cNvPr>
          <p:cNvSpPr>
            <a:spLocks noGrp="1"/>
          </p:cNvSpPr>
          <p:nvPr>
            <p:ph type="title"/>
          </p:nvPr>
        </p:nvSpPr>
        <p:spPr/>
        <p:txBody>
          <a:bodyPr/>
          <a:lstStyle/>
          <a:p>
            <a:r>
              <a:rPr lang="en-US" altLang="en-US" b="1" dirty="0">
                <a:latin typeface="Times New Roman" panose="02020603050405020304" pitchFamily="18" charset="0"/>
                <a:ea typeface="Calibri" panose="020F0502020204030204" pitchFamily="34" charset="0"/>
                <a:cs typeface="Times New Roman" panose="02020603050405020304" pitchFamily="18" charset="0"/>
              </a:rPr>
              <a:t>Rasterization (Scan Conversion)</a:t>
            </a:r>
            <a:br>
              <a:rPr lang="en-US" altLang="en-US" sz="1050" dirty="0"/>
            </a:br>
            <a:endParaRPr lang="en-US" dirty="0"/>
          </a:p>
        </p:txBody>
      </p:sp>
      <p:sp>
        <p:nvSpPr>
          <p:cNvPr id="3" name="Content Placeholder 2">
            <a:extLst>
              <a:ext uri="{FF2B5EF4-FFF2-40B4-BE49-F238E27FC236}">
                <a16:creationId xmlns:a16="http://schemas.microsoft.com/office/drawing/2014/main" id="{C0B5A0EE-16D4-455A-AE5F-E9FFD20742C7}"/>
              </a:ext>
            </a:extLst>
          </p:cNvPr>
          <p:cNvSpPr>
            <a:spLocks noGrp="1"/>
          </p:cNvSpPr>
          <p:nvPr>
            <p:ph idx="1"/>
          </p:nvPr>
        </p:nvSpPr>
        <p:spPr/>
        <p:txBody>
          <a:bodyPr/>
          <a:lstStyle/>
          <a:p>
            <a:pPr marL="0" lvl="0" indent="0" algn="just" eaLnBrk="0" hangingPunct="0">
              <a:spcBef>
                <a:spcPct val="0"/>
              </a:spcBef>
              <a:buNone/>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It is a process that determines which </a:t>
            </a:r>
            <a:r>
              <a:rPr lang="en-US" altLang="en-US" sz="2400" b="1" dirty="0">
                <a:latin typeface="Times New Roman" panose="02020603050405020304" pitchFamily="18" charset="0"/>
                <a:ea typeface="Calibri" panose="020F0502020204030204" pitchFamily="34" charset="0"/>
                <a:cs typeface="Times New Roman" panose="02020603050405020304" pitchFamily="18" charset="0"/>
              </a:rPr>
              <a:t>pixels that are inside primitive</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specified by a set of vertices</a:t>
            </a:r>
            <a:endParaRPr lang="en-US" altLang="en-US" sz="600" dirty="0"/>
          </a:p>
          <a:p>
            <a:pPr marL="0" lvl="0" indent="0" algn="just" eaLnBrk="0" hangingPunct="0">
              <a:spcBef>
                <a:spcPct val="0"/>
              </a:spcBef>
              <a:buNone/>
            </a:pP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eaLnBrk="0" hangingPunct="0">
              <a:spcBef>
                <a:spcPct val="0"/>
              </a:spcBef>
              <a:buNone/>
            </a:pP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It produces a set of </a:t>
            </a:r>
            <a:r>
              <a:rPr lang="en-US" altLang="en-US" sz="2400" b="1" dirty="0">
                <a:latin typeface="Times New Roman" panose="02020603050405020304" pitchFamily="18" charset="0"/>
                <a:ea typeface="Calibri" panose="020F0502020204030204" pitchFamily="34" charset="0"/>
                <a:cs typeface="Times New Roman" panose="02020603050405020304" pitchFamily="18" charset="0"/>
              </a:rPr>
              <a:t>fragments that have a pixel location</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and other attributes like </a:t>
            </a:r>
            <a:r>
              <a:rPr lang="en-US" altLang="en-US" sz="2400" b="1" dirty="0" err="1">
                <a:latin typeface="Times New Roman" panose="02020603050405020304" pitchFamily="18" charset="0"/>
                <a:ea typeface="Calibri" panose="020F0502020204030204" pitchFamily="34" charset="0"/>
                <a:cs typeface="Times New Roman" panose="02020603050405020304" pitchFamily="18" charset="0"/>
              </a:rPr>
              <a:t>colour</a:t>
            </a:r>
            <a:r>
              <a:rPr lang="en-US" altLang="en-US" sz="2400" dirty="0">
                <a:latin typeface="Times New Roman" panose="02020603050405020304" pitchFamily="18" charset="0"/>
                <a:ea typeface="Calibri" panose="020F0502020204030204" pitchFamily="34" charset="0"/>
                <a:cs typeface="Times New Roman" panose="02020603050405020304" pitchFamily="18" charset="0"/>
              </a:rPr>
              <a:t>, texture  </a:t>
            </a:r>
            <a:endParaRPr lang="en-US" altLang="en-US" sz="600" dirty="0"/>
          </a:p>
          <a:p>
            <a:pPr marL="0" lvl="0" indent="0" algn="just" eaLnBrk="0" hangingPunct="0">
              <a:spcBef>
                <a:spcPct val="0"/>
              </a:spcBef>
              <a:buNone/>
            </a:pPr>
            <a:endParaRPr lang="en-US" altLang="en-US" sz="4000" dirty="0">
              <a:latin typeface="Arial" panose="020B0604020202020204" pitchFamily="34" charset="0"/>
            </a:endParaRPr>
          </a:p>
          <a:p>
            <a:pPr algn="just"/>
            <a:endParaRPr lang="en-US" sz="2400" dirty="0"/>
          </a:p>
        </p:txBody>
      </p:sp>
      <p:pic>
        <p:nvPicPr>
          <p:cNvPr id="1025" name="Picture 18">
            <a:extLst>
              <a:ext uri="{FF2B5EF4-FFF2-40B4-BE49-F238E27FC236}">
                <a16:creationId xmlns:a16="http://schemas.microsoft.com/office/drawing/2014/main" id="{62AB5A84-7430-4035-B0EA-98CB7BB8B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733838"/>
            <a:ext cx="3810000" cy="22783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39494D9-9D93-4D52-9C3E-886ADE4A5DE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724835"/>
            <a:ext cx="5181600" cy="2309813"/>
          </a:xfrm>
          <a:prstGeom prst="rect">
            <a:avLst/>
          </a:prstGeom>
          <a:noFill/>
          <a:ln>
            <a:noFill/>
          </a:ln>
        </p:spPr>
      </p:pic>
    </p:spTree>
    <p:extLst>
      <p:ext uri="{BB962C8B-B14F-4D97-AF65-F5344CB8AC3E}">
        <p14:creationId xmlns:p14="http://schemas.microsoft.com/office/powerpoint/2010/main" val="81180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A20C9F-EA76-4F9A-9202-0FAA8E76B35D}"/>
              </a:ext>
            </a:extLst>
          </p:cNvPr>
          <p:cNvPicPr/>
          <p:nvPr/>
        </p:nvPicPr>
        <p:blipFill>
          <a:blip r:embed="rId2"/>
          <a:stretch>
            <a:fillRect/>
          </a:stretch>
        </p:blipFill>
        <p:spPr>
          <a:xfrm>
            <a:off x="1905000" y="192741"/>
            <a:ext cx="4953000" cy="6324600"/>
          </a:xfrm>
          <a:prstGeom prst="rect">
            <a:avLst/>
          </a:prstGeom>
        </p:spPr>
      </p:pic>
    </p:spTree>
    <p:extLst>
      <p:ext uri="{BB962C8B-B14F-4D97-AF65-F5344CB8AC3E}">
        <p14:creationId xmlns:p14="http://schemas.microsoft.com/office/powerpoint/2010/main" val="23915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E723C1-5E7C-4D19-9C3A-25EB99E04E28}"/>
              </a:ext>
            </a:extLst>
          </p:cNvPr>
          <p:cNvPicPr/>
          <p:nvPr/>
        </p:nvPicPr>
        <p:blipFill>
          <a:blip r:embed="rId2"/>
          <a:stretch>
            <a:fillRect/>
          </a:stretch>
        </p:blipFill>
        <p:spPr>
          <a:xfrm>
            <a:off x="17928" y="-35859"/>
            <a:ext cx="7906871" cy="3464859"/>
          </a:xfrm>
          <a:prstGeom prst="rect">
            <a:avLst/>
          </a:prstGeom>
        </p:spPr>
      </p:pic>
      <p:pic>
        <p:nvPicPr>
          <p:cNvPr id="6" name="Picture 5">
            <a:extLst>
              <a:ext uri="{FF2B5EF4-FFF2-40B4-BE49-F238E27FC236}">
                <a16:creationId xmlns:a16="http://schemas.microsoft.com/office/drawing/2014/main" id="{0248AAF7-81D2-4C8E-A2F5-7D6ABE410630}"/>
              </a:ext>
            </a:extLst>
          </p:cNvPr>
          <p:cNvPicPr/>
          <p:nvPr/>
        </p:nvPicPr>
        <p:blipFill>
          <a:blip r:embed="rId3"/>
          <a:stretch>
            <a:fillRect/>
          </a:stretch>
        </p:blipFill>
        <p:spPr>
          <a:xfrm>
            <a:off x="17929" y="3505200"/>
            <a:ext cx="7906870" cy="3316941"/>
          </a:xfrm>
          <a:prstGeom prst="rect">
            <a:avLst/>
          </a:prstGeom>
        </p:spPr>
      </p:pic>
    </p:spTree>
    <p:extLst>
      <p:ext uri="{BB962C8B-B14F-4D97-AF65-F5344CB8AC3E}">
        <p14:creationId xmlns:p14="http://schemas.microsoft.com/office/powerpoint/2010/main" val="268463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789025-74EB-4934-B43D-0152C317AC04}"/>
              </a:ext>
            </a:extLst>
          </p:cNvPr>
          <p:cNvPicPr/>
          <p:nvPr/>
        </p:nvPicPr>
        <p:blipFill>
          <a:blip r:embed="rId2"/>
          <a:stretch>
            <a:fillRect/>
          </a:stretch>
        </p:blipFill>
        <p:spPr>
          <a:xfrm>
            <a:off x="-13447" y="-1"/>
            <a:ext cx="7938246" cy="3316941"/>
          </a:xfrm>
          <a:prstGeom prst="rect">
            <a:avLst/>
          </a:prstGeom>
        </p:spPr>
      </p:pic>
      <p:pic>
        <p:nvPicPr>
          <p:cNvPr id="7" name="Picture 6">
            <a:extLst>
              <a:ext uri="{FF2B5EF4-FFF2-40B4-BE49-F238E27FC236}">
                <a16:creationId xmlns:a16="http://schemas.microsoft.com/office/drawing/2014/main" id="{AF51DEF3-8A9A-4A61-A7E3-790DB9DC121F}"/>
              </a:ext>
            </a:extLst>
          </p:cNvPr>
          <p:cNvPicPr/>
          <p:nvPr/>
        </p:nvPicPr>
        <p:blipFill>
          <a:blip r:embed="rId3"/>
          <a:stretch>
            <a:fillRect/>
          </a:stretch>
        </p:blipFill>
        <p:spPr>
          <a:xfrm>
            <a:off x="-1" y="3429000"/>
            <a:ext cx="7924799" cy="3429000"/>
          </a:xfrm>
          <a:prstGeom prst="rect">
            <a:avLst/>
          </a:prstGeom>
        </p:spPr>
      </p:pic>
    </p:spTree>
    <p:extLst>
      <p:ext uri="{BB962C8B-B14F-4D97-AF65-F5344CB8AC3E}">
        <p14:creationId xmlns:p14="http://schemas.microsoft.com/office/powerpoint/2010/main" val="250421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A42FD5-FDD1-4848-81A3-3E081B46AD3B}"/>
              </a:ext>
            </a:extLst>
          </p:cNvPr>
          <p:cNvPicPr/>
          <p:nvPr/>
        </p:nvPicPr>
        <p:blipFill>
          <a:blip r:embed="rId2"/>
          <a:stretch>
            <a:fillRect/>
          </a:stretch>
        </p:blipFill>
        <p:spPr>
          <a:xfrm>
            <a:off x="17928" y="0"/>
            <a:ext cx="7906869" cy="3352800"/>
          </a:xfrm>
          <a:prstGeom prst="rect">
            <a:avLst/>
          </a:prstGeom>
        </p:spPr>
      </p:pic>
      <p:pic>
        <p:nvPicPr>
          <p:cNvPr id="6" name="Picture 5">
            <a:extLst>
              <a:ext uri="{FF2B5EF4-FFF2-40B4-BE49-F238E27FC236}">
                <a16:creationId xmlns:a16="http://schemas.microsoft.com/office/drawing/2014/main" id="{5E88B423-5E79-4BCA-BB69-46CD886FB498}"/>
              </a:ext>
            </a:extLst>
          </p:cNvPr>
          <p:cNvPicPr/>
          <p:nvPr/>
        </p:nvPicPr>
        <p:blipFill>
          <a:blip r:embed="rId3"/>
          <a:stretch>
            <a:fillRect/>
          </a:stretch>
        </p:blipFill>
        <p:spPr>
          <a:xfrm>
            <a:off x="17928" y="3505200"/>
            <a:ext cx="7906868" cy="3276599"/>
          </a:xfrm>
          <a:prstGeom prst="rect">
            <a:avLst/>
          </a:prstGeom>
        </p:spPr>
      </p:pic>
    </p:spTree>
    <p:extLst>
      <p:ext uri="{BB962C8B-B14F-4D97-AF65-F5344CB8AC3E}">
        <p14:creationId xmlns:p14="http://schemas.microsoft.com/office/powerpoint/2010/main" val="4266616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5FD719-B297-4823-8B1F-19BF9576FD10}"/>
              </a:ext>
            </a:extLst>
          </p:cNvPr>
          <p:cNvPicPr/>
          <p:nvPr/>
        </p:nvPicPr>
        <p:blipFill>
          <a:blip r:embed="rId2"/>
          <a:stretch>
            <a:fillRect/>
          </a:stretch>
        </p:blipFill>
        <p:spPr>
          <a:xfrm>
            <a:off x="0" y="0"/>
            <a:ext cx="7906868" cy="3429000"/>
          </a:xfrm>
          <a:prstGeom prst="rect">
            <a:avLst/>
          </a:prstGeom>
        </p:spPr>
      </p:pic>
      <p:pic>
        <p:nvPicPr>
          <p:cNvPr id="7" name="Picture 6">
            <a:extLst>
              <a:ext uri="{FF2B5EF4-FFF2-40B4-BE49-F238E27FC236}">
                <a16:creationId xmlns:a16="http://schemas.microsoft.com/office/drawing/2014/main" id="{FE668B86-99E3-44A5-9AFF-58E54536505C}"/>
              </a:ext>
            </a:extLst>
          </p:cNvPr>
          <p:cNvPicPr/>
          <p:nvPr/>
        </p:nvPicPr>
        <p:blipFill>
          <a:blip r:embed="rId3"/>
          <a:stretch>
            <a:fillRect/>
          </a:stretch>
        </p:blipFill>
        <p:spPr>
          <a:xfrm>
            <a:off x="0" y="3505200"/>
            <a:ext cx="7906868" cy="3352800"/>
          </a:xfrm>
          <a:prstGeom prst="rect">
            <a:avLst/>
          </a:prstGeom>
        </p:spPr>
      </p:pic>
    </p:spTree>
    <p:extLst>
      <p:ext uri="{BB962C8B-B14F-4D97-AF65-F5344CB8AC3E}">
        <p14:creationId xmlns:p14="http://schemas.microsoft.com/office/powerpoint/2010/main" val="4253803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835EF5-A554-4CB5-A7C4-6C4F9C0A8FA6}"/>
              </a:ext>
            </a:extLst>
          </p:cNvPr>
          <p:cNvPicPr/>
          <p:nvPr/>
        </p:nvPicPr>
        <p:blipFill>
          <a:blip r:embed="rId2"/>
          <a:stretch>
            <a:fillRect/>
          </a:stretch>
        </p:blipFill>
        <p:spPr>
          <a:xfrm>
            <a:off x="0" y="0"/>
            <a:ext cx="7906868" cy="3352800"/>
          </a:xfrm>
          <a:prstGeom prst="rect">
            <a:avLst/>
          </a:prstGeom>
        </p:spPr>
      </p:pic>
      <p:pic>
        <p:nvPicPr>
          <p:cNvPr id="6" name="Picture 5">
            <a:extLst>
              <a:ext uri="{FF2B5EF4-FFF2-40B4-BE49-F238E27FC236}">
                <a16:creationId xmlns:a16="http://schemas.microsoft.com/office/drawing/2014/main" id="{6E0D4B3F-270B-47A7-9514-F38BD63FF577}"/>
              </a:ext>
            </a:extLst>
          </p:cNvPr>
          <p:cNvPicPr/>
          <p:nvPr/>
        </p:nvPicPr>
        <p:blipFill>
          <a:blip r:embed="rId3"/>
          <a:stretch>
            <a:fillRect/>
          </a:stretch>
        </p:blipFill>
        <p:spPr>
          <a:xfrm>
            <a:off x="0" y="3505200"/>
            <a:ext cx="7906868" cy="3352800"/>
          </a:xfrm>
          <a:prstGeom prst="rect">
            <a:avLst/>
          </a:prstGeom>
        </p:spPr>
      </p:pic>
    </p:spTree>
    <p:extLst>
      <p:ext uri="{BB962C8B-B14F-4D97-AF65-F5344CB8AC3E}">
        <p14:creationId xmlns:p14="http://schemas.microsoft.com/office/powerpoint/2010/main" val="151333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8F1ED6-BBBD-44C6-928F-0C0AC0E341F7}"/>
              </a:ext>
            </a:extLst>
          </p:cNvPr>
          <p:cNvPicPr/>
          <p:nvPr/>
        </p:nvPicPr>
        <p:blipFill>
          <a:blip r:embed="rId2"/>
          <a:stretch>
            <a:fillRect/>
          </a:stretch>
        </p:blipFill>
        <p:spPr>
          <a:xfrm>
            <a:off x="0" y="0"/>
            <a:ext cx="7906868" cy="3352800"/>
          </a:xfrm>
          <a:prstGeom prst="rect">
            <a:avLst/>
          </a:prstGeom>
        </p:spPr>
      </p:pic>
    </p:spTree>
    <p:extLst>
      <p:ext uri="{BB962C8B-B14F-4D97-AF65-F5344CB8AC3E}">
        <p14:creationId xmlns:p14="http://schemas.microsoft.com/office/powerpoint/2010/main" val="1530405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70000" lnSpcReduction="20000"/>
          </a:bodyPr>
          <a:lstStyle/>
          <a:p>
            <a:pPr algn="l"/>
            <a:r>
              <a:rPr lang="en-US" dirty="0"/>
              <a:t>A</a:t>
            </a:r>
            <a:r>
              <a:rPr lang="en-US"/>
              <a:t>n </a:t>
            </a:r>
            <a:r>
              <a:rPr lang="en-US" b="1" dirty="0">
                <a:solidFill>
                  <a:srgbClr val="FFFF00"/>
                </a:solidFill>
              </a:rPr>
              <a:t>operating system and hardware platform independent graphics library</a:t>
            </a:r>
            <a:r>
              <a:rPr lang="en-US" dirty="0"/>
              <a:t> designed to be easily portable yet rapidly executable. </a:t>
            </a:r>
          </a:p>
          <a:p>
            <a:pPr algn="l"/>
            <a:endParaRPr lang="en-US" dirty="0"/>
          </a:p>
          <a:p>
            <a:pPr algn="l"/>
            <a:r>
              <a:rPr lang="en-US" dirty="0"/>
              <a:t>It brings a standard 3D graphics library with the hardware enhanced ability to perform </a:t>
            </a:r>
            <a:r>
              <a:rPr lang="en-US" dirty="0">
                <a:solidFill>
                  <a:srgbClr val="FFFF00"/>
                </a:solidFill>
              </a:rPr>
              <a:t>l</a:t>
            </a:r>
            <a:r>
              <a:rPr lang="en-US" b="1" dirty="0">
                <a:solidFill>
                  <a:srgbClr val="FFFF00"/>
                </a:solidFill>
              </a:rPr>
              <a:t>ighting , shading, texture mapping, hidden surface removal </a:t>
            </a:r>
            <a:r>
              <a:rPr lang="en-US" sz="2900" b="1" dirty="0">
                <a:solidFill>
                  <a:srgbClr val="FFFF00"/>
                </a:solidFill>
              </a:rPr>
              <a:t>and</a:t>
            </a:r>
            <a:r>
              <a:rPr lang="en-US" b="1" dirty="0">
                <a:solidFill>
                  <a:srgbClr val="FFFF00"/>
                </a:solidFill>
              </a:rPr>
              <a:t> animation</a:t>
            </a:r>
            <a:r>
              <a:rPr lang="en-US" dirty="0"/>
              <a:t> on to the windows platform </a:t>
            </a:r>
          </a:p>
          <a:p>
            <a:pPr algn="l"/>
            <a:endParaRPr lang="en-US" dirty="0"/>
          </a:p>
          <a:p>
            <a:pPr algn="l"/>
            <a:r>
              <a:rPr lang="en-US" dirty="0"/>
              <a:t>Open GL is available on a variety of hardware platforms and operating systems. </a:t>
            </a:r>
          </a:p>
          <a:p>
            <a:pPr algn="l"/>
            <a:endParaRPr lang="en-US" dirty="0"/>
          </a:p>
          <a:p>
            <a:pPr algn="l"/>
            <a:r>
              <a:rPr lang="en-US" dirty="0"/>
              <a:t>OpenGL was written with the express intention of becoming a </a:t>
            </a:r>
            <a:r>
              <a:rPr lang="en-US" b="1" dirty="0">
                <a:solidFill>
                  <a:srgbClr val="FFFF00"/>
                </a:solidFill>
              </a:rPr>
              <a:t>thin software interface to underlying graphics hardware</a:t>
            </a:r>
            <a:r>
              <a:rPr lang="en-US" dirty="0"/>
              <a:t> an arrangement of proven success in the graphics workstation market. </a:t>
            </a:r>
          </a:p>
          <a:p>
            <a:pPr algn="l"/>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pic>
        <p:nvPicPr>
          <p:cNvPr id="1039" name="Picture 15"/>
          <p:cNvPicPr>
            <a:picLocks noChangeAspect="1" noChangeArrowheads="1"/>
          </p:cNvPicPr>
          <p:nvPr/>
        </p:nvPicPr>
        <p:blipFill>
          <a:blip r:embed="rId2"/>
          <a:srcRect/>
          <a:stretch>
            <a:fillRect/>
          </a:stretch>
        </p:blipFill>
        <p:spPr bwMode="auto">
          <a:xfrm>
            <a:off x="76200" y="2514600"/>
            <a:ext cx="8991600" cy="2438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70000" lnSpcReduction="20000"/>
          </a:bodyPr>
          <a:lstStyle/>
          <a:p>
            <a:pPr algn="l"/>
            <a:r>
              <a:rPr lang="en-US" dirty="0"/>
              <a:t>A </a:t>
            </a:r>
            <a:r>
              <a:rPr lang="en-US" b="1" dirty="0">
                <a:solidFill>
                  <a:srgbClr val="FFFF00"/>
                </a:solidFill>
              </a:rPr>
              <a:t>software interface</a:t>
            </a:r>
            <a:r>
              <a:rPr lang="en-US" dirty="0"/>
              <a:t> to graphics hardware</a:t>
            </a:r>
          </a:p>
          <a:p>
            <a:pPr algn="l"/>
            <a:endParaRPr lang="en-US" dirty="0"/>
          </a:p>
          <a:p>
            <a:pPr algn="l"/>
            <a:r>
              <a:rPr lang="en-US" b="1" dirty="0"/>
              <a:t>About  </a:t>
            </a:r>
            <a:r>
              <a:rPr lang="en-US" b="1" dirty="0">
                <a:solidFill>
                  <a:srgbClr val="FFFF00"/>
                </a:solidFill>
              </a:rPr>
              <a:t>250 distinct commands</a:t>
            </a:r>
            <a:r>
              <a:rPr lang="en-US" dirty="0"/>
              <a:t> </a:t>
            </a:r>
          </a:p>
          <a:p>
            <a:pPr algn="l"/>
            <a:endParaRPr lang="en-US" dirty="0"/>
          </a:p>
          <a:p>
            <a:pPr algn="l"/>
            <a:r>
              <a:rPr lang="en-US" dirty="0"/>
              <a:t>200 in  core OpenGL and 50 in OpenGL Utility Library to produce interactive 3D applications</a:t>
            </a:r>
          </a:p>
          <a:p>
            <a:pPr algn="l"/>
            <a:endParaRPr lang="en-US" dirty="0"/>
          </a:p>
          <a:p>
            <a:pPr algn="l"/>
            <a:r>
              <a:rPr lang="en-US" dirty="0"/>
              <a:t>Designed as </a:t>
            </a:r>
            <a:r>
              <a:rPr lang="en-US" b="1" dirty="0">
                <a:solidFill>
                  <a:srgbClr val="FFFF00"/>
                </a:solidFill>
              </a:rPr>
              <a:t>hardware independent interface</a:t>
            </a:r>
            <a:r>
              <a:rPr lang="en-US" dirty="0"/>
              <a:t> to be implemented on different hardware platforms</a:t>
            </a:r>
          </a:p>
          <a:p>
            <a:pPr algn="l"/>
            <a:endParaRPr lang="en-US" dirty="0"/>
          </a:p>
          <a:p>
            <a:pPr algn="l"/>
            <a:r>
              <a:rPr lang="en-US" dirty="0"/>
              <a:t>To achieve these </a:t>
            </a:r>
            <a:r>
              <a:rPr lang="en-US" b="1" dirty="0"/>
              <a:t>no windowing tasks</a:t>
            </a:r>
            <a:r>
              <a:rPr lang="en-US" dirty="0"/>
              <a:t> or obtaining user inputs are included in open GL </a:t>
            </a:r>
          </a:p>
          <a:p>
            <a:pPr algn="l"/>
            <a:endParaRPr lang="en-US" dirty="0"/>
          </a:p>
          <a:p>
            <a:pPr algn="l"/>
            <a:r>
              <a:rPr lang="en-US" dirty="0"/>
              <a:t>Desired models are built up from a small set of geometric primitives – points, lines, polygons</a:t>
            </a:r>
          </a:p>
          <a:p>
            <a:pPr algn="l"/>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Features of Open GL:</a:t>
            </a:r>
            <a:endParaRPr lang="en-US" dirty="0"/>
          </a:p>
        </p:txBody>
      </p:sp>
      <p:sp>
        <p:nvSpPr>
          <p:cNvPr id="3" name="Subtitle 2"/>
          <p:cNvSpPr>
            <a:spLocks noGrp="1"/>
          </p:cNvSpPr>
          <p:nvPr>
            <p:ph type="subTitle" idx="1"/>
          </p:nvPr>
        </p:nvSpPr>
        <p:spPr>
          <a:xfrm>
            <a:off x="685800" y="990600"/>
            <a:ext cx="7772400" cy="5715000"/>
          </a:xfrm>
        </p:spPr>
        <p:txBody>
          <a:bodyPr>
            <a:normAutofit fontScale="55000" lnSpcReduction="20000"/>
          </a:bodyPr>
          <a:lstStyle/>
          <a:p>
            <a:pPr algn="l"/>
            <a:r>
              <a:rPr lang="en-US" b="1" dirty="0">
                <a:solidFill>
                  <a:srgbClr val="FFFF00"/>
                </a:solidFill>
              </a:rPr>
              <a:t>Texture Mapping</a:t>
            </a:r>
            <a:r>
              <a:rPr lang="en-US" dirty="0">
                <a:solidFill>
                  <a:srgbClr val="FFFF00"/>
                </a:solidFill>
              </a:rPr>
              <a:t> : </a:t>
            </a:r>
          </a:p>
          <a:p>
            <a:pPr algn="l"/>
            <a:r>
              <a:rPr lang="en-US" dirty="0"/>
              <a:t>The ability to apply an image to a graphics surface, this technique is used to rapidly generate realistic images without having to specify on excessive amount of detail regarding pixel coordinates, textures etc</a:t>
            </a:r>
          </a:p>
          <a:p>
            <a:pPr algn="l"/>
            <a:endParaRPr lang="en-US" b="1" dirty="0"/>
          </a:p>
          <a:p>
            <a:pPr algn="l"/>
            <a:r>
              <a:rPr lang="en-US" b="1" dirty="0">
                <a:solidFill>
                  <a:srgbClr val="FFFF00"/>
                </a:solidFill>
              </a:rPr>
              <a:t>Z-Buffering</a:t>
            </a:r>
            <a:r>
              <a:rPr lang="en-US" dirty="0">
                <a:solidFill>
                  <a:srgbClr val="FFFF00"/>
                </a:solidFill>
              </a:rPr>
              <a:t>: </a:t>
            </a:r>
          </a:p>
          <a:p>
            <a:pPr algn="l"/>
            <a:r>
              <a:rPr lang="en-US" dirty="0"/>
              <a:t>The ability to calculate the distance from the viewer’s location. this makes it easy for the program to automatically remove surface or parts of surfaces that are hidden from  view</a:t>
            </a:r>
          </a:p>
          <a:p>
            <a:pPr algn="l"/>
            <a:endParaRPr lang="en-US" b="1" dirty="0">
              <a:solidFill>
                <a:srgbClr val="FFFF00"/>
              </a:solidFill>
            </a:endParaRPr>
          </a:p>
          <a:p>
            <a:pPr algn="l"/>
            <a:r>
              <a:rPr lang="en-US" b="1" dirty="0">
                <a:solidFill>
                  <a:srgbClr val="FFFF00"/>
                </a:solidFill>
              </a:rPr>
              <a:t>Double Buffering</a:t>
            </a:r>
            <a:r>
              <a:rPr lang="en-US" dirty="0"/>
              <a:t>: </a:t>
            </a:r>
          </a:p>
          <a:p>
            <a:pPr algn="l"/>
            <a:r>
              <a:rPr lang="en-US" dirty="0"/>
              <a:t>Support for smooth animation using double buffering. A smooth animation sequence is achieved by drawing into the back buffer while displaying the front buffer and then swapping the buffers when ready to display the next animation sequence</a:t>
            </a:r>
          </a:p>
          <a:p>
            <a:pPr algn="l"/>
            <a:endParaRPr lang="en-US" b="1" dirty="0"/>
          </a:p>
          <a:p>
            <a:pPr algn="l"/>
            <a:r>
              <a:rPr lang="en-US" b="1" dirty="0">
                <a:solidFill>
                  <a:srgbClr val="FFFF00"/>
                </a:solidFill>
              </a:rPr>
              <a:t>Lighting Effects</a:t>
            </a:r>
            <a:r>
              <a:rPr lang="en-US" dirty="0"/>
              <a:t>: </a:t>
            </a:r>
          </a:p>
          <a:p>
            <a:pPr algn="l"/>
            <a:r>
              <a:rPr lang="en-US" dirty="0"/>
              <a:t>The ability to calculate the effects on the lightness of a surface’s color when different lighting models are applied to the surface from one or more light sources</a:t>
            </a:r>
          </a:p>
          <a:p>
            <a:pPr algn="l"/>
            <a:endParaRPr lang="en-US" b="1" dirty="0"/>
          </a:p>
          <a:p>
            <a:pPr algn="l"/>
            <a:r>
              <a:rPr lang="en-US" b="1" dirty="0"/>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Features of Open GL:</a:t>
            </a:r>
            <a:endParaRPr lang="en-US" dirty="0"/>
          </a:p>
        </p:txBody>
      </p:sp>
      <p:sp>
        <p:nvSpPr>
          <p:cNvPr id="3" name="Subtitle 2"/>
          <p:cNvSpPr>
            <a:spLocks noGrp="1"/>
          </p:cNvSpPr>
          <p:nvPr>
            <p:ph type="subTitle" idx="1"/>
          </p:nvPr>
        </p:nvSpPr>
        <p:spPr>
          <a:xfrm>
            <a:off x="685800" y="1143000"/>
            <a:ext cx="7772400" cy="5334000"/>
          </a:xfrm>
        </p:spPr>
        <p:txBody>
          <a:bodyPr>
            <a:normAutofit fontScale="62500" lnSpcReduction="20000"/>
          </a:bodyPr>
          <a:lstStyle/>
          <a:p>
            <a:pPr algn="l"/>
            <a:r>
              <a:rPr lang="en-US" b="1" dirty="0">
                <a:solidFill>
                  <a:srgbClr val="FFFF00"/>
                </a:solidFill>
              </a:rPr>
              <a:t>Smooth Shading</a:t>
            </a:r>
            <a:r>
              <a:rPr lang="en-US" dirty="0">
                <a:solidFill>
                  <a:srgbClr val="FFFF00"/>
                </a:solidFill>
              </a:rPr>
              <a:t>: </a:t>
            </a:r>
          </a:p>
          <a:p>
            <a:pPr algn="l"/>
            <a:r>
              <a:rPr lang="en-US" dirty="0"/>
              <a:t>The ability to calculate the shading effect that occurs when light hits a surface at an angle and results in subtle color differences across the surface. This effect is important for making model look realistic</a:t>
            </a:r>
          </a:p>
          <a:p>
            <a:pPr algn="l"/>
            <a:endParaRPr lang="en-US" b="1" dirty="0"/>
          </a:p>
          <a:p>
            <a:pPr algn="l"/>
            <a:r>
              <a:rPr lang="en-US" b="1" dirty="0">
                <a:solidFill>
                  <a:srgbClr val="FFFF00"/>
                </a:solidFill>
              </a:rPr>
              <a:t>Material Properties</a:t>
            </a:r>
            <a:r>
              <a:rPr lang="en-US" dirty="0">
                <a:solidFill>
                  <a:srgbClr val="FFFF00"/>
                </a:solidFill>
              </a:rPr>
              <a:t>:</a:t>
            </a:r>
            <a:r>
              <a:rPr lang="en-US" dirty="0"/>
              <a:t> </a:t>
            </a:r>
          </a:p>
          <a:p>
            <a:pPr algn="l"/>
            <a:r>
              <a:rPr lang="en-US" dirty="0"/>
              <a:t>The ability to specify the material properties of a surface. These properties modify the lighting effects on the surface by specifying such this as dullness or shininess of the surface</a:t>
            </a:r>
          </a:p>
          <a:p>
            <a:pPr algn="l"/>
            <a:endParaRPr lang="en-US" b="1" dirty="0"/>
          </a:p>
          <a:p>
            <a:pPr algn="l"/>
            <a:r>
              <a:rPr lang="en-US" b="1" dirty="0">
                <a:solidFill>
                  <a:srgbClr val="FFFF00"/>
                </a:solidFill>
              </a:rPr>
              <a:t>Alpha Blending:</a:t>
            </a:r>
            <a:r>
              <a:rPr lang="en-US" b="1" dirty="0"/>
              <a:t> </a:t>
            </a:r>
          </a:p>
          <a:p>
            <a:pPr algn="l"/>
            <a:r>
              <a:rPr lang="en-US" dirty="0"/>
              <a:t>The ability to specify alpha or opacity value in addition to the regular  red , green, blue values. The alpha component is used to specify opacity, allowing the full range from completely transparent to totally opaque. When used in combination with z buffer, Alpha blending gives the effect of being able to see through objects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Developer’s Advantage:</a:t>
            </a:r>
            <a:endParaRPr lang="en-US" dirty="0"/>
          </a:p>
        </p:txBody>
      </p:sp>
      <p:sp>
        <p:nvSpPr>
          <p:cNvPr id="3" name="Subtitle 2"/>
          <p:cNvSpPr>
            <a:spLocks noGrp="1"/>
          </p:cNvSpPr>
          <p:nvPr>
            <p:ph type="subTitle" idx="1"/>
          </p:nvPr>
        </p:nvSpPr>
        <p:spPr>
          <a:xfrm>
            <a:off x="685800" y="1143000"/>
            <a:ext cx="7772400" cy="5334000"/>
          </a:xfrm>
        </p:spPr>
        <p:txBody>
          <a:bodyPr>
            <a:normAutofit fontScale="62500" lnSpcReduction="20000"/>
          </a:bodyPr>
          <a:lstStyle/>
          <a:p>
            <a:pPr algn="l"/>
            <a:r>
              <a:rPr lang="en-US" b="1" dirty="0"/>
              <a:t> </a:t>
            </a:r>
            <a:endParaRPr lang="en-US" dirty="0"/>
          </a:p>
          <a:p>
            <a:pPr algn="l"/>
            <a:r>
              <a:rPr lang="en-US" b="1" dirty="0">
                <a:solidFill>
                  <a:srgbClr val="FFFF00"/>
                </a:solidFill>
              </a:rPr>
              <a:t>Industry Standard</a:t>
            </a:r>
            <a:r>
              <a:rPr lang="en-US" dirty="0">
                <a:solidFill>
                  <a:srgbClr val="FFFF00"/>
                </a:solidFill>
              </a:rPr>
              <a:t>: </a:t>
            </a:r>
          </a:p>
          <a:p>
            <a:pPr algn="l"/>
            <a:r>
              <a:rPr lang="en-US" dirty="0"/>
              <a:t>the Open GL architecture Review board an independent consortium guides the Open GL specification Open GL is the only </a:t>
            </a:r>
            <a:r>
              <a:rPr lang="en-US" dirty="0">
                <a:solidFill>
                  <a:srgbClr val="FFFF00"/>
                </a:solidFill>
              </a:rPr>
              <a:t>true open vendor-neutral, multiplatform graphics standard</a:t>
            </a:r>
            <a:r>
              <a:rPr lang="en-US" dirty="0"/>
              <a:t> with a broad industry support</a:t>
            </a:r>
          </a:p>
          <a:p>
            <a:pPr algn="l"/>
            <a:endParaRPr lang="en-US" b="1" dirty="0"/>
          </a:p>
          <a:p>
            <a:pPr algn="l"/>
            <a:r>
              <a:rPr lang="en-US" b="1" dirty="0">
                <a:solidFill>
                  <a:srgbClr val="FFFF00"/>
                </a:solidFill>
              </a:rPr>
              <a:t>Stability</a:t>
            </a:r>
            <a:r>
              <a:rPr lang="en-US" dirty="0">
                <a:solidFill>
                  <a:srgbClr val="FFFF00"/>
                </a:solidFill>
              </a:rPr>
              <a:t>: </a:t>
            </a:r>
          </a:p>
          <a:p>
            <a:pPr algn="l"/>
            <a:r>
              <a:rPr lang="en-US" dirty="0">
                <a:solidFill>
                  <a:srgbClr val="FFFF00"/>
                </a:solidFill>
              </a:rPr>
              <a:t>Updating</a:t>
            </a:r>
            <a:r>
              <a:rPr lang="en-US" dirty="0"/>
              <a:t> to Open GL specification are </a:t>
            </a:r>
            <a:r>
              <a:rPr lang="en-US" dirty="0">
                <a:solidFill>
                  <a:srgbClr val="FFFF00"/>
                </a:solidFill>
              </a:rPr>
              <a:t>carefully controlled</a:t>
            </a:r>
            <a:r>
              <a:rPr lang="en-US" dirty="0"/>
              <a:t> and updates are announced in time for developers to adopt changes. Backward compatibility requirements ensure the viability of existing applications </a:t>
            </a:r>
          </a:p>
          <a:p>
            <a:pPr algn="l"/>
            <a:endParaRPr lang="en-US" b="1" dirty="0"/>
          </a:p>
          <a:p>
            <a:pPr algn="l"/>
            <a:r>
              <a:rPr lang="en-US" b="1" dirty="0">
                <a:solidFill>
                  <a:srgbClr val="FFFF00"/>
                </a:solidFill>
              </a:rPr>
              <a:t>Portability</a:t>
            </a:r>
            <a:r>
              <a:rPr lang="en-US" dirty="0">
                <a:solidFill>
                  <a:srgbClr val="FFFF00"/>
                </a:solidFill>
              </a:rPr>
              <a:t>: </a:t>
            </a:r>
          </a:p>
          <a:p>
            <a:pPr algn="l"/>
            <a:r>
              <a:rPr lang="en-US" dirty="0"/>
              <a:t>applications produce consistent visual display result </a:t>
            </a:r>
            <a:r>
              <a:rPr lang="en-US" dirty="0">
                <a:solidFill>
                  <a:srgbClr val="FFFF00"/>
                </a:solidFill>
              </a:rPr>
              <a:t>on any OpenGL API compliant hardware </a:t>
            </a:r>
            <a:r>
              <a:rPr lang="en-US" dirty="0"/>
              <a:t>regardless of OS or windowing system. So once a program is written for any platform, it can be ported for other platforms as well.</a:t>
            </a:r>
          </a:p>
          <a:p>
            <a:pPr algn="l"/>
            <a:endParaRPr lang="en-US"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Developer’s Advantage:</a:t>
            </a:r>
            <a:endParaRPr lang="en-US" dirty="0"/>
          </a:p>
        </p:txBody>
      </p:sp>
      <p:sp>
        <p:nvSpPr>
          <p:cNvPr id="3" name="Subtitle 2"/>
          <p:cNvSpPr>
            <a:spLocks noGrp="1"/>
          </p:cNvSpPr>
          <p:nvPr>
            <p:ph type="subTitle" idx="1"/>
          </p:nvPr>
        </p:nvSpPr>
        <p:spPr>
          <a:xfrm>
            <a:off x="685800" y="1143000"/>
            <a:ext cx="7772400" cy="5334000"/>
          </a:xfrm>
        </p:spPr>
        <p:txBody>
          <a:bodyPr>
            <a:normAutofit fontScale="62500" lnSpcReduction="20000"/>
          </a:bodyPr>
          <a:lstStyle/>
          <a:p>
            <a:pPr algn="l"/>
            <a:r>
              <a:rPr lang="en-US" b="1" dirty="0">
                <a:solidFill>
                  <a:srgbClr val="FFFF00"/>
                </a:solidFill>
              </a:rPr>
              <a:t>Evolving</a:t>
            </a:r>
            <a:r>
              <a:rPr lang="en-US" dirty="0">
                <a:solidFill>
                  <a:srgbClr val="FFFF00"/>
                </a:solidFill>
              </a:rPr>
              <a:t>: </a:t>
            </a:r>
          </a:p>
          <a:p>
            <a:pPr algn="l"/>
            <a:r>
              <a:rPr lang="en-US" dirty="0"/>
              <a:t>New hardware innovations are accessible thru the API via the OpenGL extension mechanism Innovations are phased in to enable developers and hardware vendors to incorporate new features into their product release cycles</a:t>
            </a:r>
          </a:p>
          <a:p>
            <a:pPr algn="l"/>
            <a:endParaRPr lang="en-US" b="1" dirty="0"/>
          </a:p>
          <a:p>
            <a:pPr algn="l"/>
            <a:r>
              <a:rPr lang="en-US" b="1" dirty="0">
                <a:solidFill>
                  <a:srgbClr val="FFFF00"/>
                </a:solidFill>
              </a:rPr>
              <a:t>Scalability</a:t>
            </a:r>
            <a:r>
              <a:rPr lang="en-US" dirty="0">
                <a:solidFill>
                  <a:srgbClr val="FFFF00"/>
                </a:solidFill>
              </a:rPr>
              <a:t>: </a:t>
            </a:r>
          </a:p>
          <a:p>
            <a:pPr algn="l"/>
            <a:r>
              <a:rPr lang="en-US" dirty="0"/>
              <a:t>Open GL applications can be scaled to any class of machine, everything from consumer electronics to PCS, workstations, Super Computers</a:t>
            </a:r>
          </a:p>
          <a:p>
            <a:pPr algn="l"/>
            <a:endParaRPr lang="en-US" b="1" dirty="0"/>
          </a:p>
          <a:p>
            <a:pPr algn="l"/>
            <a:r>
              <a:rPr lang="en-US" b="1" dirty="0">
                <a:solidFill>
                  <a:srgbClr val="FFFF00"/>
                </a:solidFill>
              </a:rPr>
              <a:t>Ease of Use</a:t>
            </a:r>
            <a:r>
              <a:rPr lang="en-US" dirty="0">
                <a:solidFill>
                  <a:srgbClr val="FFFF00"/>
                </a:solidFill>
              </a:rPr>
              <a:t>: </a:t>
            </a:r>
          </a:p>
          <a:p>
            <a:pPr algn="l"/>
            <a:r>
              <a:rPr lang="en-US" dirty="0"/>
              <a:t>Efficient OpenGL routines typically result in applications with fewer lines of code than programs created with other graphics libraries or packages. OpenGL driver encapsulates the information about the underlying hardware so the application programmer does not need to b e concerned about having to design for specific hardware features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History</a:t>
            </a:r>
            <a:endParaRPr lang="en-US" dirty="0"/>
          </a:p>
        </p:txBody>
      </p:sp>
      <p:sp>
        <p:nvSpPr>
          <p:cNvPr id="3" name="Subtitle 2"/>
          <p:cNvSpPr>
            <a:spLocks noGrp="1"/>
          </p:cNvSpPr>
          <p:nvPr>
            <p:ph type="subTitle" idx="1"/>
          </p:nvPr>
        </p:nvSpPr>
        <p:spPr>
          <a:xfrm>
            <a:off x="685800" y="1143000"/>
            <a:ext cx="7772400" cy="5334000"/>
          </a:xfrm>
        </p:spPr>
        <p:txBody>
          <a:bodyPr>
            <a:normAutofit fontScale="62500" lnSpcReduction="20000"/>
          </a:bodyPr>
          <a:lstStyle/>
          <a:p>
            <a:pPr algn="just"/>
            <a:r>
              <a:rPr lang="en-US" dirty="0"/>
              <a:t>OpenGL was first created as an open and reproducible alternative to </a:t>
            </a:r>
            <a:r>
              <a:rPr lang="en-US" b="1" dirty="0">
                <a:solidFill>
                  <a:srgbClr val="FFFF00"/>
                </a:solidFill>
              </a:rPr>
              <a:t>Iris GL </a:t>
            </a:r>
            <a:r>
              <a:rPr lang="en-US" dirty="0"/>
              <a:t>which had been the </a:t>
            </a:r>
            <a:r>
              <a:rPr lang="en-US" b="1" dirty="0">
                <a:solidFill>
                  <a:srgbClr val="FFFF00"/>
                </a:solidFill>
              </a:rPr>
              <a:t>proprietary graphics API on Silicon Graphics workstations. </a:t>
            </a:r>
          </a:p>
          <a:p>
            <a:pPr algn="just"/>
            <a:endParaRPr lang="en-US" dirty="0"/>
          </a:p>
          <a:p>
            <a:pPr algn="just"/>
            <a:r>
              <a:rPr lang="en-US" dirty="0"/>
              <a:t>Although OpenGL was initially similar in some respects to </a:t>
            </a:r>
            <a:r>
              <a:rPr lang="en-US" dirty="0" err="1"/>
              <a:t>IrisGL</a:t>
            </a:r>
            <a:r>
              <a:rPr lang="en-US" dirty="0"/>
              <a:t> the lack of a formal specification and conformance tests made Iris GL unsuitable for broader adoption. </a:t>
            </a:r>
          </a:p>
          <a:p>
            <a:pPr algn="just"/>
            <a:endParaRPr lang="en-US" dirty="0"/>
          </a:p>
          <a:p>
            <a:pPr algn="just"/>
            <a:r>
              <a:rPr lang="en-US" dirty="0"/>
              <a:t>Mark Segal and Kurt Akeley authored the OpenGL 1.0 specification which tried to </a:t>
            </a:r>
            <a:r>
              <a:rPr lang="en-US" b="1" dirty="0">
                <a:solidFill>
                  <a:srgbClr val="FFFF00"/>
                </a:solidFill>
              </a:rPr>
              <a:t>formalize the definition of a useful graphics API</a:t>
            </a:r>
            <a:r>
              <a:rPr lang="en-US" dirty="0"/>
              <a:t> and made cross platform non-SGI 3rd party implementation and support viable. </a:t>
            </a:r>
          </a:p>
          <a:p>
            <a:pPr algn="just"/>
            <a:r>
              <a:rPr lang="en-US" dirty="0"/>
              <a:t>One notable omission from version 1.0 of the API was texture objects. </a:t>
            </a:r>
          </a:p>
          <a:p>
            <a:pPr algn="just"/>
            <a:endParaRPr lang="en-US" dirty="0"/>
          </a:p>
          <a:p>
            <a:pPr algn="just"/>
            <a:r>
              <a:rPr lang="en-US" dirty="0" err="1"/>
              <a:t>IrisGL</a:t>
            </a:r>
            <a:r>
              <a:rPr lang="en-US" dirty="0"/>
              <a:t> had definition and bind stages for all sorts of objects including materials, lights, textures and texture environments. OpenGL avoided these objects in favor of incremental state changes with the idea that collective changes could be encapsulated in display lists. This has remained the philosophy with the exception that texture objects (</a:t>
            </a:r>
            <a:r>
              <a:rPr lang="en-US" b="1" dirty="0" err="1">
                <a:solidFill>
                  <a:srgbClr val="FFFF00"/>
                </a:solidFill>
              </a:rPr>
              <a:t>glBindTexture</a:t>
            </a:r>
            <a:r>
              <a:rPr lang="en-US" dirty="0"/>
              <a:t>) with no distinct definition stage are a key part of the API.</a:t>
            </a:r>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History</a:t>
            </a:r>
            <a:endParaRPr lang="en-US" dirty="0"/>
          </a:p>
        </p:txBody>
      </p:sp>
      <p:sp>
        <p:nvSpPr>
          <p:cNvPr id="3" name="Subtitle 2"/>
          <p:cNvSpPr>
            <a:spLocks noGrp="1"/>
          </p:cNvSpPr>
          <p:nvPr>
            <p:ph type="subTitle" idx="1"/>
          </p:nvPr>
        </p:nvSpPr>
        <p:spPr>
          <a:xfrm>
            <a:off x="685800" y="1143000"/>
            <a:ext cx="7772400" cy="5334000"/>
          </a:xfrm>
        </p:spPr>
        <p:txBody>
          <a:bodyPr>
            <a:normAutofit fontScale="62500" lnSpcReduction="20000"/>
          </a:bodyPr>
          <a:lstStyle/>
          <a:p>
            <a:pPr algn="just"/>
            <a:r>
              <a:rPr lang="en-US" dirty="0"/>
              <a:t>OpenGL has been through a number of revisions which have predominantly been incremental additions where extensions to the core API have gradually been incorporated into the main body of the API. </a:t>
            </a:r>
          </a:p>
          <a:p>
            <a:pPr algn="just"/>
            <a:endParaRPr lang="en-US" dirty="0"/>
          </a:p>
          <a:p>
            <a:pPr algn="just"/>
            <a:r>
              <a:rPr lang="en-US" b="1" dirty="0">
                <a:solidFill>
                  <a:srgbClr val="FFFF00"/>
                </a:solidFill>
              </a:rPr>
              <a:t>OpenGL</a:t>
            </a:r>
            <a:r>
              <a:rPr lang="en-US" dirty="0"/>
              <a:t> </a:t>
            </a:r>
            <a:r>
              <a:rPr lang="en-US" b="1" dirty="0">
                <a:solidFill>
                  <a:srgbClr val="FFFF00"/>
                </a:solidFill>
              </a:rPr>
              <a:t>1.1</a:t>
            </a:r>
            <a:r>
              <a:rPr lang="en-US" dirty="0"/>
              <a:t>:  added the </a:t>
            </a:r>
            <a:r>
              <a:rPr lang="en-US" dirty="0" err="1">
                <a:solidFill>
                  <a:srgbClr val="FFFF00"/>
                </a:solidFill>
              </a:rPr>
              <a:t>glBindTexture</a:t>
            </a:r>
            <a:r>
              <a:rPr lang="en-US" dirty="0"/>
              <a:t> extension to the core API.</a:t>
            </a:r>
          </a:p>
          <a:p>
            <a:pPr algn="just"/>
            <a:endParaRPr lang="en-US" dirty="0"/>
          </a:p>
          <a:p>
            <a:pPr algn="just"/>
            <a:r>
              <a:rPr lang="en-US" dirty="0">
                <a:solidFill>
                  <a:srgbClr val="FFFF00"/>
                </a:solidFill>
              </a:rPr>
              <a:t>OpenGL 2.0 </a:t>
            </a:r>
            <a:r>
              <a:rPr lang="en-US" dirty="0"/>
              <a:t>: addition of the OpenGL </a:t>
            </a:r>
            <a:r>
              <a:rPr lang="en-US" b="1" dirty="0">
                <a:solidFill>
                  <a:srgbClr val="FFFF00"/>
                </a:solidFill>
              </a:rPr>
              <a:t>Shading Language</a:t>
            </a:r>
            <a:r>
              <a:rPr lang="en-US" dirty="0"/>
              <a:t> (also called GLSL), a C like language with which the transformation and fragment shading stages of the pipeline can be programmed.</a:t>
            </a:r>
          </a:p>
          <a:p>
            <a:pPr algn="just"/>
            <a:endParaRPr lang="en-US" dirty="0"/>
          </a:p>
          <a:p>
            <a:pPr algn="just"/>
            <a:r>
              <a:rPr lang="en-US" b="1" dirty="0">
                <a:solidFill>
                  <a:srgbClr val="FFFF00"/>
                </a:solidFill>
              </a:rPr>
              <a:t>OpenGL 3.0</a:t>
            </a:r>
            <a:r>
              <a:rPr lang="en-US" dirty="0"/>
              <a:t> : adds the concept of </a:t>
            </a:r>
            <a:r>
              <a:rPr lang="en-US" b="1" dirty="0">
                <a:solidFill>
                  <a:srgbClr val="FFFF00"/>
                </a:solidFill>
              </a:rPr>
              <a:t>deprecation</a:t>
            </a:r>
            <a:r>
              <a:rPr lang="en-US" dirty="0"/>
              <a:t>: marking certain features as subject to removal in later versions. GL 3.1 removed most deprecated features, and GL 3.2 created the notion of  core and compatibility OpenGL contexts.</a:t>
            </a:r>
          </a:p>
          <a:p>
            <a:pPr algn="just"/>
            <a:endParaRPr lang="en-US" dirty="0"/>
          </a:p>
          <a:p>
            <a:pPr algn="just"/>
            <a:r>
              <a:rPr lang="en-US" dirty="0"/>
              <a:t>Official versions of OpenGL released to date are 1.0, 1.1, 1.2, 1.2.1, 1.3, 1.4, 1.5, 2.0, 2.1, 3.0, 3.1, 3.2, 3.3, 4.0, 4.1, 4.2, 4.3, 4.4, 4.5.</a:t>
            </a:r>
          </a:p>
          <a:p>
            <a:pPr algn="just"/>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Model-View-Controller Architecture</a:t>
            </a:r>
            <a:endParaRPr lang="en-US" dirty="0"/>
          </a:p>
        </p:txBody>
      </p:sp>
      <p:sp>
        <p:nvSpPr>
          <p:cNvPr id="3" name="Subtitle 2"/>
          <p:cNvSpPr>
            <a:spLocks noGrp="1"/>
          </p:cNvSpPr>
          <p:nvPr>
            <p:ph type="subTitle" idx="1"/>
          </p:nvPr>
        </p:nvSpPr>
        <p:spPr>
          <a:xfrm>
            <a:off x="685800" y="1143000"/>
            <a:ext cx="7772400" cy="6019800"/>
          </a:xfrm>
        </p:spPr>
        <p:txBody>
          <a:bodyPr>
            <a:normAutofit fontScale="77500" lnSpcReduction="20000"/>
          </a:bodyPr>
          <a:lstStyle/>
          <a:p>
            <a:pPr algn="just"/>
            <a:endParaRPr lang="en-US" dirty="0"/>
          </a:p>
          <a:p>
            <a:pPr algn="just"/>
            <a:r>
              <a:rPr lang="en-US" dirty="0"/>
              <a:t>Interactive program design involves breaking the program into three parts:</a:t>
            </a:r>
          </a:p>
          <a:p>
            <a:pPr lvl="0" algn="just"/>
            <a:r>
              <a:rPr lang="en-US" dirty="0"/>
              <a:t>The </a:t>
            </a:r>
            <a:r>
              <a:rPr lang="en-US" b="1" i="1" dirty="0"/>
              <a:t>Model</a:t>
            </a:r>
            <a:r>
              <a:rPr lang="en-US" dirty="0"/>
              <a:t>: all the data that are unique to the program reside there. This might be game state, the contents of a text file, or tables in a database.</a:t>
            </a:r>
          </a:p>
          <a:p>
            <a:pPr lvl="0" algn="just"/>
            <a:endParaRPr lang="en-US" dirty="0"/>
          </a:p>
          <a:p>
            <a:pPr lvl="0" algn="just"/>
            <a:r>
              <a:rPr lang="en-US" dirty="0"/>
              <a:t>The </a:t>
            </a:r>
            <a:r>
              <a:rPr lang="en-US" b="1" i="1" dirty="0"/>
              <a:t>View</a:t>
            </a:r>
            <a:r>
              <a:rPr lang="en-US" dirty="0"/>
              <a:t> of the </a:t>
            </a:r>
            <a:r>
              <a:rPr lang="en-US" b="1" i="1" dirty="0"/>
              <a:t>Model</a:t>
            </a:r>
            <a:r>
              <a:rPr lang="en-US" dirty="0"/>
              <a:t>: it is a way of displaying some or all of the data to user. Objects in the game state might be drawn in 3D, text in the file might be drawn to the screen with formatting, or queries on the database might be wrapped in HTML and sent to a web browser.</a:t>
            </a:r>
          </a:p>
          <a:p>
            <a:pPr lvl="0" algn="just"/>
            <a:endParaRPr lang="en-US" dirty="0"/>
          </a:p>
          <a:p>
            <a:pPr lvl="0" algn="just"/>
            <a:r>
              <a:rPr lang="en-US" dirty="0"/>
              <a:t>The </a:t>
            </a:r>
            <a:r>
              <a:rPr lang="en-US" b="1" i="1" dirty="0"/>
              <a:t>Controller</a:t>
            </a:r>
            <a:r>
              <a:rPr lang="en-US" dirty="0"/>
              <a:t>: the methods for user to manipulate the model or the view. Mouse and keystrokes might change the game state, select text, or fill in and submit a form for a new query.</a:t>
            </a:r>
          </a:p>
          <a:p>
            <a:pPr algn="just"/>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Architecture</a:t>
            </a:r>
            <a:endParaRPr lang="en-US" dirty="0"/>
          </a:p>
        </p:txBody>
      </p:sp>
      <p:sp>
        <p:nvSpPr>
          <p:cNvPr id="4" name="Subtitle 3"/>
          <p:cNvSpPr>
            <a:spLocks noGrp="1"/>
          </p:cNvSpPr>
          <p:nvPr>
            <p:ph type="subTitle" idx="1"/>
          </p:nvPr>
        </p:nvSpPr>
        <p:spPr/>
        <p:txBody>
          <a:bodyPr/>
          <a:lstStyle/>
          <a:p>
            <a:endParaRPr lang="en-US"/>
          </a:p>
        </p:txBody>
      </p:sp>
      <p:pic>
        <p:nvPicPr>
          <p:cNvPr id="2073" name="Picture 25"/>
          <p:cNvPicPr>
            <a:picLocks noChangeAspect="1" noChangeArrowheads="1"/>
          </p:cNvPicPr>
          <p:nvPr/>
        </p:nvPicPr>
        <p:blipFill>
          <a:blip r:embed="rId2"/>
          <a:srcRect/>
          <a:stretch>
            <a:fillRect/>
          </a:stretch>
        </p:blipFill>
        <p:spPr bwMode="auto">
          <a:xfrm>
            <a:off x="1885950" y="1524000"/>
            <a:ext cx="5372100" cy="480592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76200" y="2057400"/>
            <a:ext cx="2667000" cy="2286000"/>
          </a:xfrm>
        </p:spPr>
        <p:txBody>
          <a:bodyPr>
            <a:normAutofit/>
          </a:bodyPr>
          <a:lstStyle/>
          <a:p>
            <a:pPr algn="l"/>
            <a:r>
              <a:rPr lang="en-US" sz="2400" b="1" dirty="0"/>
              <a:t>GL</a:t>
            </a:r>
          </a:p>
          <a:p>
            <a:pPr algn="l"/>
            <a:r>
              <a:rPr lang="en-US" sz="2400" b="1" dirty="0"/>
              <a:t>Core Open GL APIs</a:t>
            </a:r>
          </a:p>
          <a:p>
            <a:pPr algn="l"/>
            <a:endParaRPr lang="en-US" sz="2400" b="1" dirty="0"/>
          </a:p>
        </p:txBody>
      </p:sp>
      <p:sp>
        <p:nvSpPr>
          <p:cNvPr id="4" name="Subtitle 2"/>
          <p:cNvSpPr txBox="1">
            <a:spLocks/>
          </p:cNvSpPr>
          <p:nvPr/>
        </p:nvSpPr>
        <p:spPr bwMode="auto">
          <a:xfrm>
            <a:off x="2667000" y="1981200"/>
            <a:ext cx="32004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fontAlgn="base">
              <a:spcBef>
                <a:spcPct val="20000"/>
              </a:spcBef>
              <a:spcAft>
                <a:spcPct val="0"/>
              </a:spcAft>
            </a:pPr>
            <a:r>
              <a:rPr lang="en-US" sz="2400" b="1" dirty="0"/>
              <a:t>OpenGL Utility Toolkit (</a:t>
            </a:r>
            <a:r>
              <a:rPr kumimoji="0" lang="en-US" sz="2400" b="1" i="0" u="none" strike="noStrike" kern="1200" cap="none" spc="0" normalizeH="0" baseline="0" noProof="0" dirty="0">
                <a:ln>
                  <a:noFill/>
                </a:ln>
                <a:solidFill>
                  <a:schemeClr val="tx1">
                    <a:tint val="75000"/>
                  </a:schemeClr>
                </a:solidFill>
                <a:effectLst/>
                <a:uLnTx/>
                <a:uFillTx/>
                <a:latin typeface="+mn-lt"/>
                <a:ea typeface="+mn-ea"/>
                <a:cs typeface="+mn-cs"/>
              </a:rPr>
              <a:t>GLUT)</a:t>
            </a:r>
            <a:r>
              <a:rPr kumimoji="0" lang="en-US" sz="2400" b="0" i="0" u="none" strike="noStrike" kern="1200" cap="none" spc="0" normalizeH="0" baseline="0" noProof="0" dirty="0">
                <a:ln>
                  <a:noFill/>
                </a:ln>
                <a:solidFill>
                  <a:schemeClr val="tx1">
                    <a:tint val="75000"/>
                  </a:schemeClr>
                </a:solidFill>
                <a:effectLst/>
                <a:uLnTx/>
                <a:uFillTx/>
                <a:latin typeface="+mn-lt"/>
                <a:ea typeface="+mn-ea"/>
                <a:cs typeface="+mn-cs"/>
              </a:rPr>
              <a:t> </a:t>
            </a:r>
          </a:p>
          <a:p>
            <a:pPr marL="0" marR="0" lvl="0" indent="0" algn="just" defTabSz="914400" rtl="0" eaLnBrk="1" fontAlgn="base" latinLnBrk="0" hangingPunct="1">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chemeClr val="tx1">
                    <a:tint val="75000"/>
                  </a:schemeClr>
                </a:solidFill>
                <a:effectLst/>
                <a:uLnTx/>
                <a:uFillTx/>
                <a:latin typeface="+mn-lt"/>
                <a:ea typeface="+mn-ea"/>
                <a:cs typeface="+mn-cs"/>
              </a:rPr>
              <a:t>provides several routines for opening windows detecting input and creating complicated 3D objects like </a:t>
            </a:r>
            <a:r>
              <a:rPr kumimoji="0" lang="en-US" sz="2400" b="1" i="0" u="none" strike="noStrike" kern="1200" cap="none" spc="0" normalizeH="0" baseline="0" noProof="0" dirty="0" err="1">
                <a:ln>
                  <a:noFill/>
                </a:ln>
                <a:solidFill>
                  <a:schemeClr val="tx1">
                    <a:tint val="75000"/>
                  </a:schemeClr>
                </a:solidFill>
                <a:effectLst/>
                <a:uLnTx/>
                <a:uFillTx/>
                <a:latin typeface="+mn-lt"/>
                <a:ea typeface="+mn-ea"/>
                <a:cs typeface="+mn-cs"/>
              </a:rPr>
              <a:t>spehere</a:t>
            </a:r>
            <a:r>
              <a:rPr kumimoji="0" lang="en-US" sz="2400" b="1" i="0" u="none" strike="noStrike" kern="1200" cap="none" spc="0" normalizeH="0" baseline="0" noProof="0" dirty="0">
                <a:ln>
                  <a:noFill/>
                </a:ln>
                <a:solidFill>
                  <a:schemeClr val="tx1">
                    <a:tint val="75000"/>
                  </a:schemeClr>
                </a:solidFill>
                <a:effectLst/>
                <a:uLnTx/>
                <a:uFillTx/>
                <a:latin typeface="+mn-lt"/>
                <a:ea typeface="+mn-ea"/>
                <a:cs typeface="+mn-cs"/>
              </a:rPr>
              <a:t> , torus , teapot</a:t>
            </a:r>
          </a:p>
          <a:p>
            <a:pPr marL="0" marR="0" lvl="0" indent="0" algn="l" defTabSz="914400" rtl="0" eaLnBrk="1" fontAlgn="base" latinLnBrk="0" hangingPunct="1">
              <a:lnSpc>
                <a:spcPct val="100000"/>
              </a:lnSpc>
              <a:spcBef>
                <a:spcPct val="20000"/>
              </a:spcBef>
              <a:spcAft>
                <a:spcPct val="0"/>
              </a:spcAft>
              <a:buClrTx/>
              <a:buSzTx/>
              <a:buFont typeface="Arial" pitchFamily="34" charset="0"/>
              <a:buNone/>
              <a:tabLst/>
              <a:defRPr/>
            </a:pPr>
            <a:endParaRPr kumimoji="0" lang="en-US" sz="2400" b="1"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Subtitle 2"/>
          <p:cNvSpPr txBox="1">
            <a:spLocks/>
          </p:cNvSpPr>
          <p:nvPr/>
        </p:nvSpPr>
        <p:spPr bwMode="auto">
          <a:xfrm>
            <a:off x="5867400" y="1905000"/>
            <a:ext cx="32004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fontAlgn="base">
              <a:spcBef>
                <a:spcPct val="20000"/>
              </a:spcBef>
              <a:spcAft>
                <a:spcPct val="0"/>
              </a:spcAft>
              <a:defRPr/>
            </a:pPr>
            <a:r>
              <a:rPr lang="en-US" sz="2400" b="1" dirty="0">
                <a:solidFill>
                  <a:schemeClr val="tx1">
                    <a:tint val="75000"/>
                  </a:schemeClr>
                </a:solidFill>
              </a:rPr>
              <a:t>OpenGL Utility Library (GLU)</a:t>
            </a:r>
            <a:endParaRPr lang="en-US" sz="2400" dirty="0">
              <a:solidFill>
                <a:schemeClr val="tx1">
                  <a:tint val="75000"/>
                </a:schemeClr>
              </a:solidFill>
            </a:endParaRPr>
          </a:p>
          <a:p>
            <a:pPr lvl="0" algn="just" fontAlgn="base">
              <a:spcBef>
                <a:spcPct val="20000"/>
              </a:spcBef>
              <a:spcAft>
                <a:spcPct val="0"/>
              </a:spcAft>
              <a:defRPr/>
            </a:pPr>
            <a:r>
              <a:rPr lang="en-US" sz="2400" dirty="0">
                <a:solidFill>
                  <a:schemeClr val="tx1">
                    <a:tint val="75000"/>
                  </a:schemeClr>
                </a:solidFill>
              </a:rPr>
              <a:t>Contains several routines that use lower level  OpenGL Commands to perform tasks as setting up matrices, for specific viewing orientations and projections etc. e.g.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80">
                                          <p:stCondLst>
                                            <p:cond delay="0"/>
                                          </p:stCondLst>
                                        </p:cTn>
                                        <p:tgtEl>
                                          <p:spTgt spid="5"/>
                                        </p:tgtEl>
                                      </p:cBhvr>
                                    </p:animEffect>
                                    <p:anim calcmode="lin" valueType="num">
                                      <p:cBhvr>
                                        <p:cTn id="2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1" dur="26">
                                          <p:stCondLst>
                                            <p:cond delay="650"/>
                                          </p:stCondLst>
                                        </p:cTn>
                                        <p:tgtEl>
                                          <p:spTgt spid="5"/>
                                        </p:tgtEl>
                                      </p:cBhvr>
                                      <p:to x="100000" y="60000"/>
                                    </p:animScale>
                                    <p:animScale>
                                      <p:cBhvr>
                                        <p:cTn id="32" dur="166" decel="50000">
                                          <p:stCondLst>
                                            <p:cond delay="676"/>
                                          </p:stCondLst>
                                        </p:cTn>
                                        <p:tgtEl>
                                          <p:spTgt spid="5"/>
                                        </p:tgtEl>
                                      </p:cBhvr>
                                      <p:to x="100000" y="100000"/>
                                    </p:animScale>
                                    <p:animScale>
                                      <p:cBhvr>
                                        <p:cTn id="33" dur="26">
                                          <p:stCondLst>
                                            <p:cond delay="1312"/>
                                          </p:stCondLst>
                                        </p:cTn>
                                        <p:tgtEl>
                                          <p:spTgt spid="5"/>
                                        </p:tgtEl>
                                      </p:cBhvr>
                                      <p:to x="100000" y="80000"/>
                                    </p:animScale>
                                    <p:animScale>
                                      <p:cBhvr>
                                        <p:cTn id="34" dur="166" decel="50000">
                                          <p:stCondLst>
                                            <p:cond delay="1338"/>
                                          </p:stCondLst>
                                        </p:cTn>
                                        <p:tgtEl>
                                          <p:spTgt spid="5"/>
                                        </p:tgtEl>
                                      </p:cBhvr>
                                      <p:to x="100000" y="100000"/>
                                    </p:animScale>
                                    <p:animScale>
                                      <p:cBhvr>
                                        <p:cTn id="35" dur="26">
                                          <p:stCondLst>
                                            <p:cond delay="1642"/>
                                          </p:stCondLst>
                                        </p:cTn>
                                        <p:tgtEl>
                                          <p:spTgt spid="5"/>
                                        </p:tgtEl>
                                      </p:cBhvr>
                                      <p:to x="100000" y="90000"/>
                                    </p:animScale>
                                    <p:animScale>
                                      <p:cBhvr>
                                        <p:cTn id="36" dur="166" decel="50000">
                                          <p:stCondLst>
                                            <p:cond delay="1668"/>
                                          </p:stCondLst>
                                        </p:cTn>
                                        <p:tgtEl>
                                          <p:spTgt spid="5"/>
                                        </p:tgtEl>
                                      </p:cBhvr>
                                      <p:to x="100000" y="100000"/>
                                    </p:animScale>
                                    <p:animScale>
                                      <p:cBhvr>
                                        <p:cTn id="37" dur="26">
                                          <p:stCondLst>
                                            <p:cond delay="1808"/>
                                          </p:stCondLst>
                                        </p:cTn>
                                        <p:tgtEl>
                                          <p:spTgt spid="5"/>
                                        </p:tgtEl>
                                      </p:cBhvr>
                                      <p:to x="100000" y="95000"/>
                                    </p:animScale>
                                    <p:animScale>
                                      <p:cBhvr>
                                        <p:cTn id="38"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endParaRPr lang="en-US" sz="2400" dirty="0"/>
          </a:p>
          <a:p>
            <a:pPr algn="l"/>
            <a:endParaRPr lang="en-US" sz="2400" dirty="0"/>
          </a:p>
          <a:p>
            <a:pPr algn="l"/>
            <a:endParaRPr lang="en-US" sz="2400" dirty="0"/>
          </a:p>
          <a:p>
            <a:pPr algn="l"/>
            <a:r>
              <a:rPr lang="en-US" sz="2400" dirty="0"/>
              <a:t>#include &lt;necessary header files&gt;</a:t>
            </a:r>
          </a:p>
          <a:p>
            <a:pPr algn="l"/>
            <a:r>
              <a:rPr lang="en-US" sz="2400" dirty="0"/>
              <a:t>main(){</a:t>
            </a:r>
          </a:p>
          <a:p>
            <a:pPr algn="l"/>
            <a:r>
              <a:rPr lang="en-US" sz="2400" dirty="0"/>
              <a:t>	</a:t>
            </a:r>
            <a:r>
              <a:rPr lang="en-US" sz="2400" dirty="0" err="1"/>
              <a:t>InitializeWindow</a:t>
            </a:r>
            <a:r>
              <a:rPr lang="en-US" sz="2400" dirty="0"/>
              <a:t>();</a:t>
            </a:r>
          </a:p>
          <a:p>
            <a:pPr algn="l"/>
            <a:r>
              <a:rPr lang="en-US" sz="2400" dirty="0"/>
              <a:t>	Rendering operations(); 	</a:t>
            </a:r>
            <a:r>
              <a:rPr lang="en-US" sz="2400" dirty="0" err="1"/>
              <a:t>UpdateWindowAndCheckForEvents</a:t>
            </a:r>
            <a:r>
              <a:rPr lang="en-US" sz="2400" dirty="0"/>
              <a:t>();</a:t>
            </a:r>
          </a:p>
          <a:p>
            <a:pPr algn="l"/>
            <a:r>
              <a:rPr lang="en-US" sz="2400" dirty="0"/>
              <a:t>}</a:t>
            </a:r>
          </a:p>
          <a:p>
            <a:pPr algn="l"/>
            <a:endParaRPr lang="en-US" sz="2400" dirty="0"/>
          </a:p>
          <a:p>
            <a:pPr algn="l"/>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 Command Syntax</a:t>
            </a:r>
          </a:p>
        </p:txBody>
      </p:sp>
      <p:sp>
        <p:nvSpPr>
          <p:cNvPr id="3" name="Subtitle 2"/>
          <p:cNvSpPr>
            <a:spLocks noGrp="1"/>
          </p:cNvSpPr>
          <p:nvPr>
            <p:ph type="subTitle" idx="1"/>
          </p:nvPr>
        </p:nvSpPr>
        <p:spPr>
          <a:xfrm>
            <a:off x="685800" y="1143000"/>
            <a:ext cx="7772400" cy="5334000"/>
          </a:xfrm>
        </p:spPr>
        <p:txBody>
          <a:bodyPr>
            <a:normAutofit lnSpcReduction="10000"/>
          </a:bodyPr>
          <a:lstStyle/>
          <a:p>
            <a:pPr algn="l"/>
            <a:endParaRPr lang="en-US" dirty="0"/>
          </a:p>
          <a:p>
            <a:pPr algn="l"/>
            <a:r>
              <a:rPr lang="en-US" dirty="0"/>
              <a:t>Uses the prefix </a:t>
            </a:r>
            <a:r>
              <a:rPr lang="en-US" dirty="0" err="1"/>
              <a:t>gl</a:t>
            </a:r>
            <a:r>
              <a:rPr lang="en-US" dirty="0"/>
              <a:t> and initial capital letters for each word making up the command name 	</a:t>
            </a:r>
          </a:p>
          <a:p>
            <a:pPr algn="l"/>
            <a:r>
              <a:rPr lang="en-US" dirty="0"/>
              <a:t>e.g.    </a:t>
            </a:r>
            <a:r>
              <a:rPr lang="en-US" dirty="0" err="1"/>
              <a:t>glClearColor</a:t>
            </a:r>
            <a:r>
              <a:rPr lang="en-US" dirty="0"/>
              <a:t>(---------); </a:t>
            </a:r>
          </a:p>
          <a:p>
            <a:pPr algn="l"/>
            <a:r>
              <a:rPr lang="en-US" dirty="0"/>
              <a:t>	 glVertex3f(---------);</a:t>
            </a:r>
          </a:p>
          <a:p>
            <a:pPr algn="l"/>
            <a:endParaRPr lang="en-US" dirty="0"/>
          </a:p>
          <a:p>
            <a:pPr algn="l"/>
            <a:r>
              <a:rPr lang="en-US" dirty="0"/>
              <a:t>Constants begin with GL </a:t>
            </a:r>
          </a:p>
          <a:p>
            <a:pPr algn="l"/>
            <a:endParaRPr lang="en-US" dirty="0"/>
          </a:p>
          <a:p>
            <a:pPr algn="l"/>
            <a:r>
              <a:rPr lang="en-US" dirty="0"/>
              <a:t>Use all capital letters and underscores to separate words e.g. GL_COLOR_BUFFER_BIT</a:t>
            </a:r>
          </a:p>
          <a:p>
            <a:pPr algn="l"/>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975"/>
            <a:ext cx="7772400" cy="1470025"/>
          </a:xfrm>
        </p:spPr>
        <p:txBody>
          <a:bodyPr/>
          <a:lstStyle/>
          <a:p>
            <a:r>
              <a:rPr lang="en-US" b="1" dirty="0"/>
              <a:t>Data types</a:t>
            </a:r>
          </a:p>
        </p:txBody>
      </p:sp>
      <p:sp>
        <p:nvSpPr>
          <p:cNvPr id="3" name="Subtitle 2"/>
          <p:cNvSpPr>
            <a:spLocks noGrp="1"/>
          </p:cNvSpPr>
          <p:nvPr>
            <p:ph type="subTitle" idx="1"/>
          </p:nvPr>
        </p:nvSpPr>
        <p:spPr>
          <a:xfrm>
            <a:off x="304800" y="2209800"/>
            <a:ext cx="8610600" cy="5334000"/>
          </a:xfrm>
        </p:spPr>
        <p:txBody>
          <a:bodyPr>
            <a:normAutofit/>
          </a:bodyPr>
          <a:lstStyle/>
          <a:p>
            <a:pPr algn="l"/>
            <a:r>
              <a:rPr lang="en-US" sz="2000" u="sng" dirty="0"/>
              <a:t>Data type	Corresponding C language	OpenGL </a:t>
            </a:r>
            <a:r>
              <a:rPr lang="en-US" sz="2000" u="sng" dirty="0" err="1"/>
              <a:t>TypeDefinition</a:t>
            </a:r>
            <a:endParaRPr lang="en-US" sz="2000" u="sng" dirty="0"/>
          </a:p>
          <a:p>
            <a:pPr algn="l"/>
            <a:r>
              <a:rPr lang="en-US" sz="2000" dirty="0"/>
              <a:t>8 bit integer		signed char			</a:t>
            </a:r>
            <a:r>
              <a:rPr lang="en-US" sz="2000" dirty="0" err="1"/>
              <a:t>GLbyte</a:t>
            </a:r>
            <a:endParaRPr lang="en-US" sz="2000" dirty="0"/>
          </a:p>
          <a:p>
            <a:pPr algn="l"/>
            <a:r>
              <a:rPr lang="en-US" sz="2000" dirty="0"/>
              <a:t>16 bit integer		short				</a:t>
            </a:r>
            <a:r>
              <a:rPr lang="en-US" sz="2000" dirty="0" err="1"/>
              <a:t>GLshort</a:t>
            </a:r>
            <a:endParaRPr lang="en-US" sz="2000" dirty="0"/>
          </a:p>
          <a:p>
            <a:pPr algn="l"/>
            <a:r>
              <a:rPr lang="en-US" sz="2000" dirty="0"/>
              <a:t>32 bit integer		</a:t>
            </a:r>
            <a:r>
              <a:rPr lang="en-US" sz="2000" dirty="0" err="1"/>
              <a:t>int</a:t>
            </a:r>
            <a:r>
              <a:rPr lang="en-US" sz="2000" dirty="0"/>
              <a:t> or long			</a:t>
            </a:r>
            <a:r>
              <a:rPr lang="en-US" sz="2000" dirty="0" err="1"/>
              <a:t>GLint</a:t>
            </a:r>
            <a:r>
              <a:rPr lang="en-US" sz="2000" dirty="0"/>
              <a:t>, </a:t>
            </a:r>
            <a:r>
              <a:rPr lang="en-US" sz="2000" dirty="0" err="1"/>
              <a:t>GLsizei</a:t>
            </a:r>
            <a:endParaRPr lang="en-US" sz="2000" dirty="0"/>
          </a:p>
          <a:p>
            <a:pPr algn="l"/>
            <a:r>
              <a:rPr lang="en-US" sz="2000" dirty="0"/>
              <a:t>32 bit float		</a:t>
            </a:r>
            <a:r>
              <a:rPr lang="en-US" sz="2000" dirty="0" err="1"/>
              <a:t>float</a:t>
            </a:r>
            <a:r>
              <a:rPr lang="en-US" sz="2000" dirty="0"/>
              <a:t>				</a:t>
            </a:r>
            <a:r>
              <a:rPr lang="en-US" sz="2000" dirty="0" err="1"/>
              <a:t>GLfloat</a:t>
            </a:r>
            <a:endParaRPr lang="en-US" sz="2000" dirty="0"/>
          </a:p>
          <a:p>
            <a:pPr algn="l"/>
            <a:r>
              <a:rPr lang="en-US" sz="2000" dirty="0"/>
              <a:t>64 bit float		double				</a:t>
            </a:r>
            <a:r>
              <a:rPr lang="en-US" sz="2000" dirty="0" err="1"/>
              <a:t>GLdouble</a:t>
            </a:r>
            <a:endParaRPr lang="en-US" sz="2000" dirty="0"/>
          </a:p>
          <a:p>
            <a:pPr algn="l"/>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lstStyle/>
          <a:p>
            <a:r>
              <a:rPr lang="en-US" b="1" dirty="0"/>
              <a:t>GL Related Libraries</a:t>
            </a: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endParaRPr lang="en-US" b="1" dirty="0"/>
          </a:p>
          <a:p>
            <a:pPr algn="l"/>
            <a:r>
              <a:rPr lang="en-US" b="1" dirty="0"/>
              <a:t>OpenGL Utility Library (GLU)</a:t>
            </a:r>
            <a:r>
              <a:rPr lang="en-US" dirty="0"/>
              <a:t>: </a:t>
            </a:r>
          </a:p>
          <a:p>
            <a:pPr algn="l"/>
            <a:endParaRPr lang="en-US" dirty="0"/>
          </a:p>
          <a:p>
            <a:pPr algn="l"/>
            <a:r>
              <a:rPr lang="en-US" dirty="0"/>
              <a:t>Contains several routines that use lower level  OpenGL Commands to perform tasks as setting up matrices, for specific viewing orientations and projections etc. e.g. </a:t>
            </a:r>
          </a:p>
          <a:p>
            <a:pPr algn="l"/>
            <a:endParaRPr lang="en-US" dirty="0"/>
          </a:p>
          <a:p>
            <a:pPr algn="l"/>
            <a:r>
              <a:rPr lang="en-US" dirty="0" err="1"/>
              <a:t>gluPerspective</a:t>
            </a:r>
            <a:r>
              <a:rPr lang="en-US" dirty="0"/>
              <a:t>(…………..);</a:t>
            </a:r>
          </a:p>
          <a:p>
            <a:pPr algn="l"/>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r>
              <a:rPr lang="en-US" b="1" dirty="0"/>
              <a:t>OpenGL Utility Toolkit  (GLUT): </a:t>
            </a:r>
            <a:r>
              <a:rPr lang="en-US" dirty="0"/>
              <a:t>A </a:t>
            </a:r>
            <a:r>
              <a:rPr lang="en-US" b="1" dirty="0"/>
              <a:t>window system independent</a:t>
            </a:r>
            <a:r>
              <a:rPr lang="en-US" dirty="0"/>
              <a:t> toolkit written by Mark </a:t>
            </a:r>
            <a:r>
              <a:rPr lang="en-US" dirty="0" err="1"/>
              <a:t>Kilgard</a:t>
            </a:r>
            <a:r>
              <a:rPr lang="en-US" dirty="0"/>
              <a:t> to hide the complexities of differing  system APIs</a:t>
            </a:r>
          </a:p>
          <a:p>
            <a:pPr algn="l"/>
            <a:endParaRPr lang="en-US" dirty="0"/>
          </a:p>
          <a:p>
            <a:pPr algn="l"/>
            <a:r>
              <a:rPr lang="en-US" dirty="0"/>
              <a:t>OpenGL contains </a:t>
            </a:r>
            <a:r>
              <a:rPr lang="en-US" b="1" dirty="0"/>
              <a:t>only rendering commands</a:t>
            </a:r>
            <a:r>
              <a:rPr lang="en-US" dirty="0"/>
              <a:t> and no commands for opening windows or reading events from keyboard or mouse </a:t>
            </a:r>
          </a:p>
          <a:p>
            <a:pPr algn="l"/>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92500" lnSpcReduction="10000"/>
          </a:bodyPr>
          <a:lstStyle/>
          <a:p>
            <a:pPr algn="l"/>
            <a:r>
              <a:rPr lang="en-US" b="1" dirty="0"/>
              <a:t>GLUT</a:t>
            </a:r>
            <a:r>
              <a:rPr lang="en-US" dirty="0"/>
              <a:t> provides several routines for opening windows detecting input and creating complicated 3D objects like </a:t>
            </a:r>
            <a:r>
              <a:rPr lang="en-US" b="1" dirty="0" err="1"/>
              <a:t>spehere</a:t>
            </a:r>
            <a:r>
              <a:rPr lang="en-US" b="1" dirty="0"/>
              <a:t> , torus , teapot</a:t>
            </a:r>
          </a:p>
          <a:p>
            <a:pPr algn="l"/>
            <a:endParaRPr lang="en-US" dirty="0"/>
          </a:p>
          <a:p>
            <a:pPr algn="l"/>
            <a:r>
              <a:rPr lang="en-US" b="1" dirty="0"/>
              <a:t>GLUT</a:t>
            </a:r>
            <a:r>
              <a:rPr lang="en-US" dirty="0"/>
              <a:t> routines use the prefix </a:t>
            </a:r>
            <a:r>
              <a:rPr lang="en-US" b="1" dirty="0"/>
              <a:t>glut</a:t>
            </a:r>
          </a:p>
          <a:p>
            <a:pPr algn="l"/>
            <a:endParaRPr lang="en-US" dirty="0"/>
          </a:p>
          <a:p>
            <a:pPr algn="l"/>
            <a:r>
              <a:rPr lang="en-US" dirty="0"/>
              <a:t>e.g.    </a:t>
            </a:r>
            <a:r>
              <a:rPr lang="en-US" dirty="0" err="1"/>
              <a:t>glutCreateWindow</a:t>
            </a:r>
            <a:r>
              <a:rPr lang="en-US" dirty="0"/>
              <a:t>(…); </a:t>
            </a:r>
          </a:p>
          <a:p>
            <a:pPr algn="l"/>
            <a:r>
              <a:rPr lang="en-US" dirty="0"/>
              <a:t>	</a:t>
            </a:r>
            <a:r>
              <a:rPr lang="en-US" dirty="0" err="1"/>
              <a:t>glutInit</a:t>
            </a:r>
            <a:r>
              <a:rPr lang="en-US" dirty="0"/>
              <a:t>(…); </a:t>
            </a:r>
          </a:p>
          <a:p>
            <a:pPr algn="l"/>
            <a:r>
              <a:rPr lang="en-US" dirty="0"/>
              <a:t>	</a:t>
            </a:r>
            <a:r>
              <a:rPr lang="en-US" dirty="0" err="1"/>
              <a:t>glutMouseFunc</a:t>
            </a:r>
            <a:r>
              <a:rPr lang="en-US" dirty="0"/>
              <a:t>(…..); 	</a:t>
            </a:r>
            <a:r>
              <a:rPr lang="en-US" dirty="0" err="1"/>
              <a:t>glutKeyboardFunc</a:t>
            </a:r>
            <a:r>
              <a:rPr lang="en-US" dirty="0"/>
              <a:t>(…..);  </a:t>
            </a:r>
          </a:p>
          <a:p>
            <a:pPr algn="l"/>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98425"/>
            <a:ext cx="7772400" cy="1470025"/>
          </a:xfrm>
        </p:spPr>
        <p:txBody>
          <a:bodyPr>
            <a:normAutofit/>
          </a:bodyPr>
          <a:lstStyle/>
          <a:p>
            <a:r>
              <a:rPr lang="en-US" sz="4400" b="1" dirty="0"/>
              <a:t>Windows Management</a:t>
            </a:r>
          </a:p>
        </p:txBody>
      </p:sp>
      <p:sp>
        <p:nvSpPr>
          <p:cNvPr id="3" name="Subtitle 2"/>
          <p:cNvSpPr>
            <a:spLocks noGrp="1"/>
          </p:cNvSpPr>
          <p:nvPr>
            <p:ph type="subTitle" idx="1"/>
          </p:nvPr>
        </p:nvSpPr>
        <p:spPr>
          <a:xfrm>
            <a:off x="76200" y="990600"/>
            <a:ext cx="9067800" cy="5562600"/>
          </a:xfrm>
        </p:spPr>
        <p:txBody>
          <a:bodyPr>
            <a:normAutofit fontScale="85000" lnSpcReduction="10000"/>
          </a:bodyPr>
          <a:lstStyle/>
          <a:p>
            <a:pPr algn="l"/>
            <a:r>
              <a:rPr lang="en-US" dirty="0"/>
              <a:t>Five routines perform tasks necessary for initializing a window</a:t>
            </a:r>
          </a:p>
          <a:p>
            <a:pPr algn="l"/>
            <a:endParaRPr lang="en-US" dirty="0"/>
          </a:p>
          <a:p>
            <a:pPr algn="l"/>
            <a:r>
              <a:rPr lang="en-US" sz="2600" dirty="0" err="1"/>
              <a:t>glutInit</a:t>
            </a:r>
            <a:r>
              <a:rPr lang="en-US" sz="2600" dirty="0"/>
              <a:t>(</a:t>
            </a:r>
            <a:r>
              <a:rPr lang="en-US" sz="2600" dirty="0" err="1"/>
              <a:t>int</a:t>
            </a:r>
            <a:r>
              <a:rPr lang="en-US" sz="2600" dirty="0"/>
              <a:t> *</a:t>
            </a:r>
            <a:r>
              <a:rPr lang="en-US" sz="2600" dirty="0" err="1"/>
              <a:t>argc</a:t>
            </a:r>
            <a:r>
              <a:rPr lang="en-US" sz="2600" dirty="0"/>
              <a:t>, char **</a:t>
            </a:r>
            <a:r>
              <a:rPr lang="en-US" sz="2600" dirty="0" err="1"/>
              <a:t>argv</a:t>
            </a:r>
            <a:r>
              <a:rPr lang="en-US" sz="2600" dirty="0"/>
              <a:t>)</a:t>
            </a:r>
          </a:p>
          <a:p>
            <a:pPr algn="l">
              <a:buFontTx/>
              <a:buChar char="-"/>
            </a:pPr>
            <a:r>
              <a:rPr lang="en-US" dirty="0"/>
              <a:t>           Initializes glut and processes command line arguments</a:t>
            </a:r>
          </a:p>
          <a:p>
            <a:pPr algn="l"/>
            <a:r>
              <a:rPr lang="en-US" sz="2600" dirty="0"/>
              <a:t>	</a:t>
            </a:r>
            <a:r>
              <a:rPr lang="en-US" sz="2600" dirty="0" err="1"/>
              <a:t>glutInit</a:t>
            </a:r>
            <a:r>
              <a:rPr lang="en-US" sz="2600" dirty="0"/>
              <a:t>();  </a:t>
            </a:r>
          </a:p>
          <a:p>
            <a:pPr algn="l"/>
            <a:r>
              <a:rPr lang="en-US" dirty="0"/>
              <a:t>-	should be called before any other GLUT routine</a:t>
            </a:r>
          </a:p>
          <a:p>
            <a:pPr algn="l"/>
            <a:endParaRPr lang="en-US" dirty="0"/>
          </a:p>
          <a:p>
            <a:pPr algn="l"/>
            <a:r>
              <a:rPr lang="en-US" sz="2600" dirty="0" err="1"/>
              <a:t>glutInitDisplayMode</a:t>
            </a:r>
            <a:r>
              <a:rPr lang="en-US" sz="2600" dirty="0"/>
              <a:t>(unsigned </a:t>
            </a:r>
            <a:r>
              <a:rPr lang="en-US" sz="2600" dirty="0" err="1"/>
              <a:t>int</a:t>
            </a:r>
            <a:r>
              <a:rPr lang="en-US" sz="2600" dirty="0"/>
              <a:t> mode)</a:t>
            </a:r>
          </a:p>
          <a:p>
            <a:pPr algn="l">
              <a:buFontTx/>
              <a:buChar char="-"/>
            </a:pPr>
            <a:r>
              <a:rPr lang="en-US" dirty="0"/>
              <a:t>          specifies whether to use an RGBA or color-index model</a:t>
            </a:r>
          </a:p>
          <a:p>
            <a:pPr algn="l">
              <a:buFontTx/>
              <a:buChar char="-"/>
            </a:pPr>
            <a:r>
              <a:rPr lang="en-US" dirty="0"/>
              <a:t>  	specifies whether to use a single or double buffered 	window 	and specify a depth buffer</a:t>
            </a:r>
          </a:p>
          <a:p>
            <a:pPr algn="l"/>
            <a:endParaRPr lang="en-US" dirty="0"/>
          </a:p>
          <a:p>
            <a:pPr algn="l"/>
            <a:r>
              <a:rPr lang="en-US" sz="2600" dirty="0"/>
              <a:t>	</a:t>
            </a:r>
            <a:r>
              <a:rPr lang="en-US" sz="2600" dirty="0" err="1"/>
              <a:t>glutInitDisplayMode</a:t>
            </a:r>
            <a:r>
              <a:rPr lang="en-US" sz="2600" dirty="0"/>
              <a:t>(GLUT_SINGLE|GLUT_RGBA|GLUT_DEPTH);</a:t>
            </a:r>
          </a:p>
          <a:p>
            <a:pPr algn="l"/>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304800" y="1143000"/>
            <a:ext cx="8534400" cy="5334000"/>
          </a:xfrm>
        </p:spPr>
        <p:txBody>
          <a:bodyPr>
            <a:normAutofit/>
          </a:bodyPr>
          <a:lstStyle/>
          <a:p>
            <a:pPr algn="l"/>
            <a:r>
              <a:rPr lang="en-US" sz="2400" dirty="0" err="1"/>
              <a:t>glutInitWindowPosition</a:t>
            </a:r>
            <a:r>
              <a:rPr lang="en-US" sz="2400" dirty="0"/>
              <a:t>(</a:t>
            </a:r>
            <a:r>
              <a:rPr lang="en-US" sz="2400" dirty="0" err="1"/>
              <a:t>int</a:t>
            </a:r>
            <a:r>
              <a:rPr lang="en-US" sz="2400" dirty="0"/>
              <a:t> x, </a:t>
            </a:r>
            <a:r>
              <a:rPr lang="en-US" sz="2400" dirty="0" err="1"/>
              <a:t>int</a:t>
            </a:r>
            <a:r>
              <a:rPr lang="en-US" sz="2400" dirty="0"/>
              <a:t> y)</a:t>
            </a:r>
          </a:p>
          <a:p>
            <a:pPr algn="l"/>
            <a:r>
              <a:rPr lang="en-US" dirty="0"/>
              <a:t>-	specifies screen location for the upper loft 	corner of your window</a:t>
            </a:r>
          </a:p>
          <a:p>
            <a:pPr algn="l"/>
            <a:endParaRPr lang="en-US" sz="2400" dirty="0"/>
          </a:p>
          <a:p>
            <a:pPr algn="l"/>
            <a:r>
              <a:rPr lang="en-US" sz="2400" dirty="0" err="1"/>
              <a:t>glutInitWindowSize</a:t>
            </a:r>
            <a:r>
              <a:rPr lang="en-US" sz="2400" dirty="0"/>
              <a:t>(</a:t>
            </a:r>
            <a:r>
              <a:rPr lang="en-US" sz="2400" dirty="0" err="1"/>
              <a:t>int</a:t>
            </a:r>
            <a:r>
              <a:rPr lang="en-US" sz="2400" dirty="0"/>
              <a:t> x, </a:t>
            </a:r>
            <a:r>
              <a:rPr lang="en-US" sz="2400" dirty="0" err="1"/>
              <a:t>int</a:t>
            </a:r>
            <a:r>
              <a:rPr lang="en-US" sz="2400" dirty="0"/>
              <a:t> y)</a:t>
            </a:r>
          </a:p>
          <a:p>
            <a:pPr algn="l"/>
            <a:r>
              <a:rPr lang="en-US" dirty="0"/>
              <a:t>-	specifies the size in pixels of your window</a:t>
            </a:r>
          </a:p>
          <a:p>
            <a:pPr algn="l"/>
            <a:endParaRPr lang="en-US" sz="2400" dirty="0"/>
          </a:p>
          <a:p>
            <a:pPr algn="l"/>
            <a:r>
              <a:rPr lang="en-US" sz="2400" dirty="0" err="1"/>
              <a:t>glutCreateWindow</a:t>
            </a:r>
            <a:r>
              <a:rPr lang="en-US" sz="2400" dirty="0"/>
              <a:t>(char *string)</a:t>
            </a:r>
          </a:p>
          <a:p>
            <a:pPr algn="l"/>
            <a:r>
              <a:rPr lang="en-US" dirty="0"/>
              <a:t>-	creates a window with the name that you 	supplies as the string (pointer) variable</a:t>
            </a:r>
          </a:p>
          <a:p>
            <a:pPr algn="l"/>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Callback Functions</a:t>
            </a:r>
          </a:p>
        </p:txBody>
      </p:sp>
      <p:sp>
        <p:nvSpPr>
          <p:cNvPr id="3" name="Content Placeholder 2"/>
          <p:cNvSpPr>
            <a:spLocks noGrp="1"/>
          </p:cNvSpPr>
          <p:nvPr>
            <p:ph idx="1"/>
          </p:nvPr>
        </p:nvSpPr>
        <p:spPr/>
        <p:txBody>
          <a:bodyPr/>
          <a:lstStyle/>
          <a:p>
            <a:r>
              <a:rPr lang="en-US" dirty="0"/>
              <a:t>A function passed as an argument to </a:t>
            </a:r>
            <a:r>
              <a:rPr lang="en-US"/>
              <a:t>another function</a:t>
            </a:r>
          </a:p>
          <a:p>
            <a:endParaRPr lang="en-US"/>
          </a:p>
        </p:txBody>
      </p:sp>
    </p:spTree>
    <p:extLst>
      <p:ext uri="{BB962C8B-B14F-4D97-AF65-F5344CB8AC3E}">
        <p14:creationId xmlns:p14="http://schemas.microsoft.com/office/powerpoint/2010/main" val="1901836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b="1" dirty="0"/>
              <a:t>The Display </a:t>
            </a:r>
            <a:r>
              <a:rPr lang="en-US" b="1" dirty="0">
                <a:solidFill>
                  <a:srgbClr val="FFFF00"/>
                </a:solidFill>
              </a:rPr>
              <a:t>Callback</a:t>
            </a:r>
          </a:p>
        </p:txBody>
      </p:sp>
      <p:sp>
        <p:nvSpPr>
          <p:cNvPr id="3" name="Subtitle 2"/>
          <p:cNvSpPr>
            <a:spLocks noGrp="1"/>
          </p:cNvSpPr>
          <p:nvPr>
            <p:ph type="subTitle" idx="1"/>
          </p:nvPr>
        </p:nvSpPr>
        <p:spPr>
          <a:xfrm>
            <a:off x="0" y="1143000"/>
            <a:ext cx="9144000" cy="5334000"/>
          </a:xfrm>
        </p:spPr>
        <p:txBody>
          <a:bodyPr>
            <a:normAutofit/>
          </a:bodyPr>
          <a:lstStyle/>
          <a:p>
            <a:pPr algn="l"/>
            <a:r>
              <a:rPr lang="en-US" sz="2400" dirty="0" err="1"/>
              <a:t>glutDisplayFunc</a:t>
            </a:r>
            <a:r>
              <a:rPr lang="en-US" sz="2400" dirty="0"/>
              <a:t>(void (*</a:t>
            </a:r>
            <a:r>
              <a:rPr lang="en-US" sz="2400" dirty="0" err="1"/>
              <a:t>func</a:t>
            </a:r>
            <a:r>
              <a:rPr lang="en-US" sz="2400" dirty="0"/>
              <a:t>)(void))</a:t>
            </a:r>
          </a:p>
          <a:p>
            <a:pPr algn="l"/>
            <a:endParaRPr lang="en-US" dirty="0"/>
          </a:p>
          <a:p>
            <a:pPr algn="l"/>
            <a:r>
              <a:rPr lang="en-US" dirty="0"/>
              <a:t>-	most important event	</a:t>
            </a:r>
            <a:r>
              <a:rPr lang="en-US" b="1" dirty="0">
                <a:solidFill>
                  <a:srgbClr val="FFFF00"/>
                </a:solidFill>
              </a:rPr>
              <a:t>callback function</a:t>
            </a:r>
            <a:r>
              <a:rPr lang="en-US" dirty="0"/>
              <a:t> </a:t>
            </a:r>
          </a:p>
          <a:p>
            <a:pPr algn="l"/>
            <a:r>
              <a:rPr lang="en-US" dirty="0"/>
              <a:t>-	Whenever GLUT determines that the 	contents 	of the window need to be 	redisplayed the call 	back function registered by </a:t>
            </a:r>
            <a:r>
              <a:rPr lang="en-US" dirty="0" err="1"/>
              <a:t>glutDisplayFunc</a:t>
            </a:r>
            <a:r>
              <a:rPr lang="en-US" dirty="0"/>
              <a:t>() 	is executed</a:t>
            </a:r>
          </a:p>
          <a:p>
            <a:pPr algn="l"/>
            <a:r>
              <a:rPr lang="en-US" dirty="0"/>
              <a:t>-	All the routines needed to redraw the 	scene are 	placed here</a:t>
            </a:r>
          </a:p>
          <a:p>
            <a:pPr algn="l"/>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r>
              <a:rPr lang="en-US" dirty="0" err="1"/>
              <a:t>glutMainLoop</a:t>
            </a:r>
            <a:r>
              <a:rPr lang="en-US" dirty="0"/>
              <a:t>()</a:t>
            </a:r>
          </a:p>
          <a:p>
            <a:pPr algn="l"/>
            <a:endParaRPr lang="en-US" dirty="0"/>
          </a:p>
          <a:p>
            <a:pPr algn="l"/>
            <a:r>
              <a:rPr lang="en-US" dirty="0"/>
              <a:t>-	This is an infinite loop </a:t>
            </a:r>
          </a:p>
          <a:p>
            <a:pPr algn="l"/>
            <a:r>
              <a:rPr lang="en-US" dirty="0"/>
              <a:t>-	All the windows that have been created 	are now shown infinitely</a:t>
            </a:r>
          </a:p>
          <a:p>
            <a:pPr algn="l"/>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normAutofit/>
          </a:bodyPr>
          <a:lstStyle/>
          <a:p>
            <a:r>
              <a:rPr lang="en-US" b="1" dirty="0"/>
              <a:t>Setting up 2D Projection</a:t>
            </a:r>
            <a:endParaRPr lang="en-US" sz="4400" b="1" dirty="0"/>
          </a:p>
        </p:txBody>
      </p:sp>
      <p:sp>
        <p:nvSpPr>
          <p:cNvPr id="3" name="Subtitle 2"/>
          <p:cNvSpPr>
            <a:spLocks noGrp="1"/>
          </p:cNvSpPr>
          <p:nvPr>
            <p:ph type="subTitle" idx="1"/>
          </p:nvPr>
        </p:nvSpPr>
        <p:spPr>
          <a:xfrm>
            <a:off x="0" y="1143000"/>
            <a:ext cx="9144000" cy="5334000"/>
          </a:xfrm>
        </p:spPr>
        <p:txBody>
          <a:bodyPr>
            <a:normAutofit/>
          </a:bodyPr>
          <a:lstStyle/>
          <a:p>
            <a:pPr algn="l"/>
            <a:endParaRPr lang="en-US" sz="2000" dirty="0"/>
          </a:p>
          <a:p>
            <a:pPr algn="l"/>
            <a:r>
              <a:rPr lang="en-US" sz="2000" dirty="0"/>
              <a:t>	void </a:t>
            </a:r>
            <a:r>
              <a:rPr lang="en-US" sz="2000" dirty="0" err="1"/>
              <a:t>myReshape</a:t>
            </a:r>
            <a:r>
              <a:rPr lang="en-US" sz="2000" dirty="0"/>
              <a:t>(</a:t>
            </a:r>
            <a:r>
              <a:rPr lang="en-US" sz="2000" dirty="0" err="1"/>
              <a:t>int</a:t>
            </a:r>
            <a:r>
              <a:rPr lang="en-US" sz="2000" dirty="0"/>
              <a:t> w, </a:t>
            </a:r>
            <a:r>
              <a:rPr lang="en-US" sz="2000" dirty="0" err="1"/>
              <a:t>int</a:t>
            </a:r>
            <a:r>
              <a:rPr lang="en-US" sz="2000" dirty="0"/>
              <a:t> h) {                            // window is reshaped</a:t>
            </a:r>
          </a:p>
          <a:p>
            <a:pPr algn="l"/>
            <a:r>
              <a:rPr lang="en-US" sz="2000" dirty="0"/>
              <a:t>		</a:t>
            </a:r>
            <a:r>
              <a:rPr lang="en-US" sz="2000" dirty="0" err="1"/>
              <a:t>glViewport</a:t>
            </a:r>
            <a:r>
              <a:rPr lang="en-US" sz="2000" dirty="0"/>
              <a:t> (0, 0, w, h);                         // update the viewport</a:t>
            </a:r>
          </a:p>
          <a:p>
            <a:pPr algn="l"/>
            <a:r>
              <a:rPr lang="en-US" sz="2000" dirty="0"/>
              <a:t>		</a:t>
            </a:r>
            <a:r>
              <a:rPr lang="en-US" sz="2000" dirty="0" err="1"/>
              <a:t>glMatrixMode</a:t>
            </a:r>
            <a:r>
              <a:rPr lang="en-US" sz="2000" dirty="0"/>
              <a:t>(GL_PROJECTION);      // update projection</a:t>
            </a:r>
          </a:p>
          <a:p>
            <a:pPr algn="l"/>
            <a:r>
              <a:rPr lang="en-US" sz="2000" dirty="0"/>
              <a:t>		</a:t>
            </a:r>
            <a:r>
              <a:rPr lang="en-US" sz="2000" dirty="0" err="1"/>
              <a:t>glLoadIdentity</a:t>
            </a:r>
            <a:r>
              <a:rPr lang="en-US" sz="2000" dirty="0"/>
              <a:t>();</a:t>
            </a:r>
          </a:p>
          <a:p>
            <a:pPr algn="l"/>
            <a:r>
              <a:rPr lang="en-US" sz="2000" dirty="0"/>
              <a:t>		gluOrtho2D(0.0, 1.0, 0.0, 1.0);             // map unit square to viewport</a:t>
            </a:r>
          </a:p>
          <a:p>
            <a:pPr algn="l"/>
            <a:r>
              <a:rPr lang="en-US" sz="2000" dirty="0"/>
              <a:t>		</a:t>
            </a:r>
            <a:r>
              <a:rPr lang="en-US" sz="2000" dirty="0" err="1"/>
              <a:t>glMatrixMode</a:t>
            </a:r>
            <a:r>
              <a:rPr lang="en-US" sz="2000" dirty="0"/>
              <a:t>(GL_MODELVIEW);</a:t>
            </a:r>
          </a:p>
          <a:p>
            <a:pPr algn="l"/>
            <a:r>
              <a:rPr lang="en-US" sz="2000" dirty="0"/>
              <a:t>		</a:t>
            </a:r>
            <a:r>
              <a:rPr lang="en-US" sz="2000" dirty="0" err="1"/>
              <a:t>glutPostRedisplay</a:t>
            </a:r>
            <a:r>
              <a:rPr lang="en-US" sz="2000" dirty="0"/>
              <a:t>();                             // request redisplay</a:t>
            </a:r>
          </a:p>
          <a:p>
            <a:pPr algn="l"/>
            <a:r>
              <a:rPr lang="en-US" sz="20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normAutofit/>
          </a:bodyPr>
          <a:lstStyle/>
          <a:p>
            <a:r>
              <a:rPr lang="en-US" sz="4400" b="1" dirty="0"/>
              <a:t>Handling input events</a:t>
            </a:r>
          </a:p>
        </p:txBody>
      </p:sp>
      <p:sp>
        <p:nvSpPr>
          <p:cNvPr id="3" name="Subtitle 2"/>
          <p:cNvSpPr>
            <a:spLocks noGrp="1"/>
          </p:cNvSpPr>
          <p:nvPr>
            <p:ph type="subTitle" idx="1"/>
          </p:nvPr>
        </p:nvSpPr>
        <p:spPr>
          <a:xfrm>
            <a:off x="0" y="1143000"/>
            <a:ext cx="9144000" cy="5334000"/>
          </a:xfrm>
        </p:spPr>
        <p:txBody>
          <a:bodyPr>
            <a:normAutofit lnSpcReduction="10000"/>
          </a:bodyPr>
          <a:lstStyle/>
          <a:p>
            <a:pPr algn="l"/>
            <a:r>
              <a:rPr lang="en-US" dirty="0"/>
              <a:t>Use the following routines to register </a:t>
            </a:r>
            <a:r>
              <a:rPr lang="en-US" b="1" dirty="0">
                <a:solidFill>
                  <a:srgbClr val="FFFF00"/>
                </a:solidFill>
              </a:rPr>
              <a:t>callback commands</a:t>
            </a:r>
            <a:r>
              <a:rPr lang="en-US" dirty="0"/>
              <a:t> that are invoked when specified events occur</a:t>
            </a:r>
          </a:p>
          <a:p>
            <a:pPr algn="l"/>
            <a:r>
              <a:rPr lang="en-US" sz="2000" dirty="0" err="1"/>
              <a:t>glutReshapeFunc</a:t>
            </a:r>
            <a:r>
              <a:rPr lang="en-US" sz="2000" dirty="0"/>
              <a:t>(void (*</a:t>
            </a:r>
            <a:r>
              <a:rPr lang="en-US" sz="2000" dirty="0" err="1"/>
              <a:t>func</a:t>
            </a:r>
            <a:r>
              <a:rPr lang="en-US" sz="2000" dirty="0"/>
              <a:t>)(</a:t>
            </a:r>
            <a:r>
              <a:rPr lang="en-US" sz="2000" dirty="0" err="1"/>
              <a:t>int</a:t>
            </a:r>
            <a:r>
              <a:rPr lang="en-US" sz="2000" dirty="0"/>
              <a:t> w, </a:t>
            </a:r>
            <a:r>
              <a:rPr lang="en-US" sz="2000" dirty="0" err="1"/>
              <a:t>int</a:t>
            </a:r>
            <a:r>
              <a:rPr lang="en-US" sz="2000" dirty="0"/>
              <a:t> h))</a:t>
            </a:r>
          </a:p>
          <a:p>
            <a:pPr algn="l"/>
            <a:r>
              <a:rPr lang="en-US" dirty="0"/>
              <a:t>-	Indicates what action should be taken 	when the 	window is resized</a:t>
            </a:r>
          </a:p>
          <a:p>
            <a:pPr algn="l"/>
            <a:r>
              <a:rPr lang="en-US" sz="2000" dirty="0" err="1"/>
              <a:t>glutKeyboardFunc</a:t>
            </a:r>
            <a:r>
              <a:rPr lang="en-US" sz="2000" dirty="0"/>
              <a:t>(void (*</a:t>
            </a:r>
            <a:r>
              <a:rPr lang="en-US" sz="2000" dirty="0" err="1"/>
              <a:t>func</a:t>
            </a:r>
            <a:r>
              <a:rPr lang="en-US" sz="2000" dirty="0"/>
              <a:t>)(unsigned char key, </a:t>
            </a:r>
            <a:r>
              <a:rPr lang="en-US" sz="2000" dirty="0" err="1"/>
              <a:t>int</a:t>
            </a:r>
            <a:r>
              <a:rPr lang="en-US" sz="2000" dirty="0"/>
              <a:t> x, </a:t>
            </a:r>
            <a:r>
              <a:rPr lang="en-US" sz="2000" dirty="0" err="1"/>
              <a:t>int</a:t>
            </a:r>
            <a:r>
              <a:rPr lang="en-US" sz="2000" dirty="0"/>
              <a:t> y))</a:t>
            </a:r>
          </a:p>
          <a:p>
            <a:pPr algn="l"/>
            <a:r>
              <a:rPr lang="en-US" sz="2200" dirty="0" err="1"/>
              <a:t>glutMouseFunc</a:t>
            </a:r>
            <a:r>
              <a:rPr lang="en-US" sz="2200" dirty="0"/>
              <a:t>(void (*</a:t>
            </a:r>
            <a:r>
              <a:rPr lang="en-US" sz="2200" dirty="0" err="1"/>
              <a:t>func</a:t>
            </a:r>
            <a:r>
              <a:rPr lang="en-US" sz="2200" dirty="0"/>
              <a:t>)(</a:t>
            </a:r>
            <a:r>
              <a:rPr lang="en-US" sz="2200" dirty="0" err="1"/>
              <a:t>int</a:t>
            </a:r>
            <a:r>
              <a:rPr lang="en-US" sz="2200" dirty="0"/>
              <a:t> button, </a:t>
            </a:r>
            <a:r>
              <a:rPr lang="en-US" sz="2200" dirty="0" err="1"/>
              <a:t>int</a:t>
            </a:r>
            <a:r>
              <a:rPr lang="en-US" sz="2200" dirty="0"/>
              <a:t> state, </a:t>
            </a:r>
            <a:r>
              <a:rPr lang="en-US" sz="2200" dirty="0" err="1"/>
              <a:t>int</a:t>
            </a:r>
            <a:r>
              <a:rPr lang="en-US" sz="2200" dirty="0"/>
              <a:t> x, </a:t>
            </a:r>
            <a:r>
              <a:rPr lang="en-US" sz="2200" dirty="0" err="1"/>
              <a:t>int</a:t>
            </a:r>
            <a:r>
              <a:rPr lang="en-US" sz="2200" dirty="0"/>
              <a:t> y))</a:t>
            </a:r>
          </a:p>
          <a:p>
            <a:pPr algn="l"/>
            <a:r>
              <a:rPr lang="en-US" dirty="0"/>
              <a:t>-	Allow you to link a keyboard key or a 	mouse 	button with a routine that’s 	invoked when 	the key or mouse button 	is 	pressed or 	released</a:t>
            </a:r>
          </a:p>
          <a:p>
            <a:pPr algn="l"/>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normAutofit/>
          </a:bodyPr>
          <a:lstStyle/>
          <a:p>
            <a:r>
              <a:rPr lang="en-US" sz="4000" b="1" dirty="0"/>
              <a:t>Managing a background process</a:t>
            </a:r>
          </a:p>
        </p:txBody>
      </p:sp>
      <p:sp>
        <p:nvSpPr>
          <p:cNvPr id="3" name="Subtitle 2"/>
          <p:cNvSpPr>
            <a:spLocks noGrp="1"/>
          </p:cNvSpPr>
          <p:nvPr>
            <p:ph type="subTitle" idx="1"/>
          </p:nvPr>
        </p:nvSpPr>
        <p:spPr>
          <a:xfrm>
            <a:off x="685800" y="1447800"/>
            <a:ext cx="7772400" cy="5334000"/>
          </a:xfrm>
        </p:spPr>
        <p:txBody>
          <a:bodyPr>
            <a:normAutofit/>
          </a:bodyPr>
          <a:lstStyle/>
          <a:p>
            <a:pPr algn="l"/>
            <a:r>
              <a:rPr lang="en-US" sz="2400" dirty="0" err="1"/>
              <a:t>glutIdleFunc</a:t>
            </a:r>
            <a:r>
              <a:rPr lang="en-US" sz="2400" dirty="0"/>
              <a:t>((*</a:t>
            </a:r>
            <a:r>
              <a:rPr lang="en-US" sz="2400" dirty="0" err="1"/>
              <a:t>func</a:t>
            </a:r>
            <a:r>
              <a:rPr lang="en-US" sz="2400" dirty="0"/>
              <a:t>)(void))</a:t>
            </a:r>
          </a:p>
          <a:p>
            <a:pPr algn="l"/>
            <a:endParaRPr lang="en-US" dirty="0"/>
          </a:p>
          <a:p>
            <a:pPr algn="l"/>
            <a:r>
              <a:rPr lang="en-US" dirty="0"/>
              <a:t>-	Used to specify a function that’s to be 	executed if no other events are pending  </a:t>
            </a:r>
          </a:p>
          <a:p>
            <a:pPr algn="l"/>
            <a:r>
              <a:rPr lang="en-US" dirty="0"/>
              <a:t>-	This routine takes a pointer to a 	function as its only argument</a:t>
            </a:r>
          </a:p>
          <a:p>
            <a:pPr algn="l"/>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77500" lnSpcReduction="20000"/>
          </a:bodyPr>
          <a:lstStyle/>
          <a:p>
            <a:pPr algn="l"/>
            <a:r>
              <a:rPr lang="en-US" dirty="0"/>
              <a:t>#include &lt;</a:t>
            </a:r>
            <a:r>
              <a:rPr lang="en-US" dirty="0" err="1"/>
              <a:t>windows.h</a:t>
            </a:r>
            <a:r>
              <a:rPr lang="en-US" dirty="0"/>
              <a:t>&gt;</a:t>
            </a:r>
          </a:p>
          <a:p>
            <a:pPr algn="l"/>
            <a:r>
              <a:rPr lang="en-US" dirty="0"/>
              <a:t>#include &lt;</a:t>
            </a:r>
            <a:r>
              <a:rPr lang="en-US" dirty="0" err="1"/>
              <a:t>gl</a:t>
            </a:r>
            <a:r>
              <a:rPr lang="en-US" dirty="0"/>
              <a:t>/</a:t>
            </a:r>
            <a:r>
              <a:rPr lang="en-US" dirty="0" err="1"/>
              <a:t>glut.h</a:t>
            </a:r>
            <a:r>
              <a:rPr lang="en-US" dirty="0"/>
              <a:t>&gt;</a:t>
            </a:r>
          </a:p>
          <a:p>
            <a:pPr algn="l"/>
            <a:r>
              <a:rPr lang="en-US" dirty="0"/>
              <a:t>#include &lt;</a:t>
            </a:r>
            <a:r>
              <a:rPr lang="en-US" dirty="0" err="1"/>
              <a:t>gl</a:t>
            </a:r>
            <a:r>
              <a:rPr lang="en-US" dirty="0"/>
              <a:t>/</a:t>
            </a:r>
            <a:r>
              <a:rPr lang="en-US" dirty="0" err="1"/>
              <a:t>glu.h</a:t>
            </a:r>
            <a:r>
              <a:rPr lang="en-US" dirty="0"/>
              <a:t>&gt;</a:t>
            </a:r>
          </a:p>
          <a:p>
            <a:pPr algn="l"/>
            <a:endParaRPr lang="en-US" dirty="0"/>
          </a:p>
          <a:p>
            <a:pPr algn="l"/>
            <a:r>
              <a:rPr lang="en-US" dirty="0"/>
              <a:t>void main(</a:t>
            </a:r>
            <a:r>
              <a:rPr lang="en-US" dirty="0" err="1"/>
              <a:t>int</a:t>
            </a:r>
            <a:r>
              <a:rPr lang="en-US" dirty="0"/>
              <a:t> </a:t>
            </a:r>
            <a:r>
              <a:rPr lang="en-US" dirty="0" err="1"/>
              <a:t>argc</a:t>
            </a:r>
            <a:r>
              <a:rPr lang="en-US" dirty="0"/>
              <a:t>, char **</a:t>
            </a:r>
            <a:r>
              <a:rPr lang="en-US" dirty="0" err="1"/>
              <a:t>argv</a:t>
            </a:r>
            <a:r>
              <a:rPr lang="en-US" dirty="0"/>
              <a:t>){</a:t>
            </a:r>
          </a:p>
          <a:p>
            <a:pPr algn="l"/>
            <a:r>
              <a:rPr lang="en-US" dirty="0"/>
              <a:t>       </a:t>
            </a:r>
            <a:r>
              <a:rPr lang="en-US" dirty="0" err="1"/>
              <a:t>glutInit</a:t>
            </a:r>
            <a:r>
              <a:rPr lang="en-US" dirty="0"/>
              <a:t>(&amp;</a:t>
            </a:r>
            <a:r>
              <a:rPr lang="en-US" dirty="0" err="1"/>
              <a:t>argc,argv</a:t>
            </a:r>
            <a:r>
              <a:rPr lang="en-US" dirty="0"/>
              <a:t>);</a:t>
            </a:r>
          </a:p>
          <a:p>
            <a:pPr algn="l"/>
            <a:r>
              <a:rPr lang="en-US" dirty="0"/>
              <a:t>       </a:t>
            </a:r>
            <a:r>
              <a:rPr lang="en-US" dirty="0" err="1"/>
              <a:t>glutInitDisplayMode</a:t>
            </a:r>
            <a:r>
              <a:rPr lang="en-US" dirty="0"/>
              <a:t>(GLUT_SINGLE|GLUT_RGB);</a:t>
            </a:r>
          </a:p>
          <a:p>
            <a:pPr algn="l"/>
            <a:r>
              <a:rPr lang="en-US" dirty="0"/>
              <a:t>       </a:t>
            </a:r>
            <a:r>
              <a:rPr lang="en-US" dirty="0" err="1"/>
              <a:t>glutInitWindowPosition</a:t>
            </a:r>
            <a:r>
              <a:rPr lang="en-US" dirty="0"/>
              <a:t>(100,100);</a:t>
            </a:r>
          </a:p>
          <a:p>
            <a:pPr algn="l"/>
            <a:r>
              <a:rPr lang="en-US" dirty="0"/>
              <a:t>       </a:t>
            </a:r>
            <a:r>
              <a:rPr lang="en-US" dirty="0" err="1"/>
              <a:t>glutInitWindowSize</a:t>
            </a:r>
            <a:r>
              <a:rPr lang="en-US" dirty="0"/>
              <a:t>(100,100);</a:t>
            </a:r>
          </a:p>
          <a:p>
            <a:pPr algn="l"/>
            <a:r>
              <a:rPr lang="en-US" dirty="0"/>
              <a:t>       </a:t>
            </a:r>
            <a:r>
              <a:rPr lang="en-US" dirty="0" err="1"/>
              <a:t>glutCreateWindow</a:t>
            </a:r>
            <a:r>
              <a:rPr lang="en-US" dirty="0"/>
              <a:t>(“Open GL Lab Work");</a:t>
            </a:r>
          </a:p>
          <a:p>
            <a:pPr algn="l"/>
            <a:r>
              <a:rPr lang="en-US" dirty="0"/>
              <a:t>       </a:t>
            </a:r>
            <a:r>
              <a:rPr lang="en-US" dirty="0" err="1"/>
              <a:t>glutDisplayFunc</a:t>
            </a:r>
            <a:r>
              <a:rPr lang="en-US" dirty="0"/>
              <a:t>(display);</a:t>
            </a:r>
          </a:p>
          <a:p>
            <a:pPr algn="l"/>
            <a:r>
              <a:rPr lang="en-US" dirty="0"/>
              <a:t>       </a:t>
            </a:r>
            <a:r>
              <a:rPr lang="en-US" dirty="0" err="1"/>
              <a:t>glutMainLoop</a:t>
            </a:r>
            <a:r>
              <a:rPr lang="en-US" dirty="0"/>
              <a:t>();</a:t>
            </a:r>
          </a:p>
          <a:p>
            <a:pPr algn="l"/>
            <a:r>
              <a:rPr lang="en-US" dirty="0"/>
              <a:t>} </a:t>
            </a:r>
          </a:p>
          <a:p>
            <a:pPr algn="l"/>
            <a:endParaRPr lang="en-US" b="1" dirty="0"/>
          </a:p>
          <a:p>
            <a:pPr algn="l"/>
            <a:endParaRPr lang="en-US" b="1" dirty="0"/>
          </a:p>
          <a:p>
            <a:pPr algn="l"/>
            <a:endParaRPr lang="en-US" b="1" dirty="0"/>
          </a:p>
          <a:p>
            <a:pPr algn="l"/>
            <a:endParaRPr lang="en-US" b="1" dirty="0"/>
          </a:p>
          <a:p>
            <a:pPr algn="l"/>
            <a:endParaRPr lang="en-US"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457200" y="914400"/>
            <a:ext cx="8001000" cy="5562600"/>
          </a:xfrm>
        </p:spPr>
        <p:txBody>
          <a:bodyPr>
            <a:normAutofit fontScale="55000" lnSpcReduction="20000"/>
          </a:bodyPr>
          <a:lstStyle/>
          <a:p>
            <a:pPr algn="l"/>
            <a:r>
              <a:rPr lang="en-US" dirty="0"/>
              <a:t>#include &lt;</a:t>
            </a:r>
            <a:r>
              <a:rPr lang="en-US" dirty="0" err="1"/>
              <a:t>windows.h</a:t>
            </a:r>
            <a:r>
              <a:rPr lang="en-US" dirty="0"/>
              <a:t>&gt;</a:t>
            </a:r>
          </a:p>
          <a:p>
            <a:pPr algn="l"/>
            <a:r>
              <a:rPr lang="en-US" dirty="0"/>
              <a:t>#include &lt;</a:t>
            </a:r>
            <a:r>
              <a:rPr lang="en-US" dirty="0" err="1"/>
              <a:t>gl</a:t>
            </a:r>
            <a:r>
              <a:rPr lang="en-US" dirty="0"/>
              <a:t>/</a:t>
            </a:r>
            <a:r>
              <a:rPr lang="en-US" dirty="0" err="1"/>
              <a:t>glut.h</a:t>
            </a:r>
            <a:r>
              <a:rPr lang="en-US" dirty="0"/>
              <a:t>&gt;</a:t>
            </a:r>
          </a:p>
          <a:p>
            <a:pPr algn="l"/>
            <a:r>
              <a:rPr lang="en-US" dirty="0"/>
              <a:t>#include &lt;</a:t>
            </a:r>
            <a:r>
              <a:rPr lang="en-US" dirty="0" err="1"/>
              <a:t>gl</a:t>
            </a:r>
            <a:r>
              <a:rPr lang="en-US" dirty="0"/>
              <a:t>/</a:t>
            </a:r>
            <a:r>
              <a:rPr lang="en-US" dirty="0" err="1"/>
              <a:t>glu.h</a:t>
            </a:r>
            <a:r>
              <a:rPr lang="en-US" dirty="0"/>
              <a:t>&gt;</a:t>
            </a:r>
          </a:p>
          <a:p>
            <a:pPr algn="l"/>
            <a:endParaRPr lang="en-US" b="1" dirty="0"/>
          </a:p>
          <a:p>
            <a:pPr algn="l"/>
            <a:r>
              <a:rPr lang="en-US" b="1" dirty="0"/>
              <a:t>//CLEARING THE BACKGROUND</a:t>
            </a:r>
            <a:endParaRPr lang="en-US" dirty="0"/>
          </a:p>
          <a:p>
            <a:pPr algn="l"/>
            <a:r>
              <a:rPr lang="en-US" dirty="0"/>
              <a:t>void display(){</a:t>
            </a:r>
          </a:p>
          <a:p>
            <a:pPr algn="l"/>
            <a:r>
              <a:rPr lang="en-US" dirty="0"/>
              <a:t>         </a:t>
            </a:r>
            <a:r>
              <a:rPr lang="en-US" dirty="0" err="1"/>
              <a:t>glClearColor</a:t>
            </a:r>
            <a:r>
              <a:rPr lang="en-US" dirty="0"/>
              <a:t>(1.0,0.0,1.0,1.0);</a:t>
            </a:r>
          </a:p>
          <a:p>
            <a:pPr algn="l"/>
            <a:r>
              <a:rPr lang="en-US" dirty="0"/>
              <a:t>         </a:t>
            </a:r>
            <a:r>
              <a:rPr lang="en-US" dirty="0" err="1"/>
              <a:t>glClear</a:t>
            </a:r>
            <a:r>
              <a:rPr lang="en-US" dirty="0"/>
              <a:t>(GL_COLOR_BUFFER_BIT);</a:t>
            </a:r>
          </a:p>
          <a:p>
            <a:pPr algn="l"/>
            <a:r>
              <a:rPr lang="en-US" dirty="0"/>
              <a:t>         </a:t>
            </a:r>
            <a:r>
              <a:rPr lang="en-US" dirty="0" err="1"/>
              <a:t>glFlush</a:t>
            </a:r>
            <a:r>
              <a:rPr lang="en-US" dirty="0"/>
              <a:t>();</a:t>
            </a:r>
          </a:p>
          <a:p>
            <a:pPr algn="l"/>
            <a:r>
              <a:rPr lang="en-US" dirty="0"/>
              <a:t>}</a:t>
            </a:r>
          </a:p>
          <a:p>
            <a:pPr algn="l"/>
            <a:r>
              <a:rPr lang="en-US" dirty="0"/>
              <a:t>void main(</a:t>
            </a:r>
            <a:r>
              <a:rPr lang="en-US" dirty="0" err="1"/>
              <a:t>int</a:t>
            </a:r>
            <a:r>
              <a:rPr lang="en-US" dirty="0"/>
              <a:t> </a:t>
            </a:r>
            <a:r>
              <a:rPr lang="en-US" dirty="0" err="1"/>
              <a:t>argc</a:t>
            </a:r>
            <a:r>
              <a:rPr lang="en-US" dirty="0"/>
              <a:t>, char **</a:t>
            </a:r>
            <a:r>
              <a:rPr lang="en-US" dirty="0" err="1"/>
              <a:t>argv</a:t>
            </a:r>
            <a:r>
              <a:rPr lang="en-US" dirty="0"/>
              <a:t>){</a:t>
            </a:r>
          </a:p>
          <a:p>
            <a:pPr algn="l"/>
            <a:r>
              <a:rPr lang="en-US" dirty="0"/>
              <a:t>        </a:t>
            </a:r>
            <a:r>
              <a:rPr lang="en-US" dirty="0" err="1"/>
              <a:t>glutInit</a:t>
            </a:r>
            <a:r>
              <a:rPr lang="en-US" dirty="0"/>
              <a:t>(&amp;</a:t>
            </a:r>
            <a:r>
              <a:rPr lang="en-US" dirty="0" err="1"/>
              <a:t>argc,argv</a:t>
            </a:r>
            <a:r>
              <a:rPr lang="en-US" dirty="0"/>
              <a:t>);</a:t>
            </a:r>
          </a:p>
          <a:p>
            <a:pPr algn="l"/>
            <a:r>
              <a:rPr lang="en-US" dirty="0"/>
              <a:t>        </a:t>
            </a:r>
            <a:r>
              <a:rPr lang="en-US" dirty="0" err="1"/>
              <a:t>glutInitDisplayMode</a:t>
            </a:r>
            <a:r>
              <a:rPr lang="en-US" dirty="0"/>
              <a:t>(GLUT_SINGLE|GLUT_RGB);</a:t>
            </a:r>
          </a:p>
          <a:p>
            <a:pPr algn="l"/>
            <a:r>
              <a:rPr lang="en-US" dirty="0"/>
              <a:t>        </a:t>
            </a:r>
            <a:r>
              <a:rPr lang="en-US" dirty="0" err="1"/>
              <a:t>glutInitWindowPosition</a:t>
            </a:r>
            <a:r>
              <a:rPr lang="en-US" dirty="0"/>
              <a:t>(100,100);</a:t>
            </a:r>
          </a:p>
          <a:p>
            <a:pPr algn="l"/>
            <a:r>
              <a:rPr lang="en-US" dirty="0"/>
              <a:t>        </a:t>
            </a:r>
            <a:r>
              <a:rPr lang="en-US" dirty="0" err="1"/>
              <a:t>glutInitWindowSize</a:t>
            </a:r>
            <a:r>
              <a:rPr lang="en-US" dirty="0"/>
              <a:t>(100,100);</a:t>
            </a:r>
          </a:p>
          <a:p>
            <a:pPr algn="l"/>
            <a:r>
              <a:rPr lang="en-US" dirty="0"/>
              <a:t>        </a:t>
            </a:r>
            <a:r>
              <a:rPr lang="en-US" dirty="0" err="1"/>
              <a:t>glutCreateWindow</a:t>
            </a:r>
            <a:r>
              <a:rPr lang="en-US" dirty="0"/>
              <a:t>(“Open GL Lab Work");</a:t>
            </a:r>
          </a:p>
          <a:p>
            <a:pPr algn="l"/>
            <a:r>
              <a:rPr lang="en-US" dirty="0"/>
              <a:t>        </a:t>
            </a:r>
            <a:r>
              <a:rPr lang="en-US" dirty="0" err="1"/>
              <a:t>glutDisplayFunc</a:t>
            </a:r>
            <a:r>
              <a:rPr lang="en-US" dirty="0"/>
              <a:t>(display);</a:t>
            </a:r>
          </a:p>
          <a:p>
            <a:pPr algn="l"/>
            <a:r>
              <a:rPr lang="en-US" dirty="0"/>
              <a:t>        </a:t>
            </a:r>
            <a:r>
              <a:rPr lang="en-US" dirty="0" err="1"/>
              <a:t>glutMainLoop</a:t>
            </a:r>
            <a:r>
              <a:rPr lang="en-US" dirty="0"/>
              <a:t>();</a:t>
            </a:r>
          </a:p>
          <a:p>
            <a:pPr algn="l"/>
            <a:r>
              <a:rPr lang="en-US" dirty="0"/>
              <a:t>}</a:t>
            </a:r>
          </a:p>
          <a:p>
            <a:pPr algn="l"/>
            <a:endParaRPr lang="en-US"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0175"/>
            <a:ext cx="7772400" cy="1470025"/>
          </a:xfrm>
        </p:spPr>
        <p:txBody>
          <a:bodyPr>
            <a:normAutofit/>
          </a:bodyPr>
          <a:lstStyle/>
          <a:p>
            <a:r>
              <a:rPr lang="en-US" b="1" dirty="0"/>
              <a:t>PLOTTING A POLYGON: 	</a:t>
            </a: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r>
              <a:rPr lang="en-US" b="1" dirty="0"/>
              <a:t>ADDED INSIDE DISPLAY FUNCTION</a:t>
            </a:r>
          </a:p>
          <a:p>
            <a:pPr algn="l"/>
            <a:endParaRPr lang="en-US" sz="1400" b="1" dirty="0"/>
          </a:p>
          <a:p>
            <a:pPr algn="l"/>
            <a:r>
              <a:rPr lang="en-US" dirty="0" err="1"/>
              <a:t>glShadeModel</a:t>
            </a:r>
            <a:r>
              <a:rPr lang="en-US" dirty="0"/>
              <a:t>(GL_SMOOTH);</a:t>
            </a:r>
          </a:p>
          <a:p>
            <a:pPr algn="l"/>
            <a:r>
              <a:rPr lang="en-US" dirty="0"/>
              <a:t>  </a:t>
            </a:r>
            <a:r>
              <a:rPr lang="en-US" dirty="0" err="1"/>
              <a:t>glBegin</a:t>
            </a:r>
            <a:r>
              <a:rPr lang="en-US" dirty="0"/>
              <a:t>(GL_POLYGON);</a:t>
            </a:r>
          </a:p>
          <a:p>
            <a:pPr algn="l"/>
            <a:r>
              <a:rPr lang="en-US" dirty="0"/>
              <a:t>         glVertex3f(0.25,  0.25, 0.0);</a:t>
            </a:r>
          </a:p>
          <a:p>
            <a:pPr algn="l"/>
            <a:r>
              <a:rPr lang="en-US" dirty="0"/>
              <a:t>         glVertex3f(0.75,  0.25, 0.0);</a:t>
            </a:r>
          </a:p>
          <a:p>
            <a:pPr algn="l"/>
            <a:r>
              <a:rPr lang="en-US" dirty="0"/>
              <a:t>         glVertex3f(0.75,  0.75, 0.0);</a:t>
            </a:r>
          </a:p>
          <a:p>
            <a:pPr algn="l"/>
            <a:r>
              <a:rPr lang="en-US" dirty="0"/>
              <a:t>         glVertex3f(0.25,  0.75, 0.0);</a:t>
            </a:r>
          </a:p>
          <a:p>
            <a:pPr algn="l"/>
            <a:r>
              <a:rPr lang="en-US" dirty="0"/>
              <a:t>  </a:t>
            </a:r>
            <a:r>
              <a:rPr lang="en-US" dirty="0" err="1"/>
              <a:t>glEnd</a:t>
            </a:r>
            <a:r>
              <a:rPr lang="en-US" dirty="0"/>
              <a:t>();</a:t>
            </a:r>
          </a:p>
          <a:p>
            <a:pPr algn="l"/>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a:bodyPr>
          <a:lstStyle/>
          <a:p>
            <a:pPr algn="l"/>
            <a:r>
              <a:rPr lang="en-US" b="1" dirty="0"/>
              <a:t>// TO SPECIFY FILL COLOR</a:t>
            </a:r>
            <a:endParaRPr lang="en-US" dirty="0"/>
          </a:p>
          <a:p>
            <a:pPr algn="l"/>
            <a:r>
              <a:rPr lang="en-US" b="1" dirty="0"/>
              <a:t>//ADDED INSIDE DISPLAY FUNCTION</a:t>
            </a:r>
            <a:endParaRPr lang="en-US" dirty="0"/>
          </a:p>
          <a:p>
            <a:pPr algn="l"/>
            <a:endParaRPr lang="en-US" dirty="0"/>
          </a:p>
          <a:p>
            <a:pPr algn="l"/>
            <a:r>
              <a:rPr lang="en-US" dirty="0"/>
              <a:t> </a:t>
            </a:r>
            <a:r>
              <a:rPr lang="en-US" dirty="0" err="1"/>
              <a:t>glClearColor</a:t>
            </a:r>
            <a:r>
              <a:rPr lang="en-US" dirty="0"/>
              <a:t>(1.0,0.0,1.0,1.0);</a:t>
            </a:r>
          </a:p>
          <a:p>
            <a:pPr algn="l"/>
            <a:r>
              <a:rPr lang="en-US" dirty="0"/>
              <a:t> </a:t>
            </a:r>
            <a:r>
              <a:rPr lang="en-US" dirty="0" err="1"/>
              <a:t>glClear</a:t>
            </a:r>
            <a:r>
              <a:rPr lang="en-US" dirty="0"/>
              <a:t>(GL_COLOR_BUFFER_BIT);</a:t>
            </a:r>
          </a:p>
          <a:p>
            <a:pPr algn="l"/>
            <a:r>
              <a:rPr lang="en-US" dirty="0"/>
              <a:t> </a:t>
            </a:r>
            <a:r>
              <a:rPr lang="en-US" dirty="0" err="1"/>
              <a:t>glShadeModel</a:t>
            </a:r>
            <a:r>
              <a:rPr lang="en-US" dirty="0"/>
              <a:t>(GL_FLAT);</a:t>
            </a:r>
          </a:p>
          <a:p>
            <a:pPr algn="l"/>
            <a:r>
              <a:rPr lang="en-US" dirty="0"/>
              <a:t> glColor3f(0.0,1.0,0.0);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81000"/>
            <a:ext cx="7772400" cy="6096000"/>
          </a:xfrm>
        </p:spPr>
        <p:txBody>
          <a:bodyPr numCol="2">
            <a:noAutofit/>
          </a:bodyPr>
          <a:lstStyle/>
          <a:p>
            <a:pPr algn="l"/>
            <a:r>
              <a:rPr lang="en-US" sz="1400" b="1" dirty="0"/>
              <a:t>Getting input from a Mouse</a:t>
            </a:r>
          </a:p>
          <a:p>
            <a:pPr algn="l"/>
            <a:br>
              <a:rPr lang="en-US" sz="1400" i="1" dirty="0"/>
            </a:br>
            <a:r>
              <a:rPr lang="en-US" sz="1400" dirty="0" err="1"/>
              <a:t>GLfloat</a:t>
            </a:r>
            <a:r>
              <a:rPr lang="en-US" sz="1400" dirty="0"/>
              <a:t> x = 0.15;</a:t>
            </a:r>
          </a:p>
          <a:p>
            <a:pPr algn="l"/>
            <a:endParaRPr lang="en-US" sz="1400" dirty="0"/>
          </a:p>
          <a:p>
            <a:pPr algn="l"/>
            <a:r>
              <a:rPr lang="en-US" sz="1400" dirty="0"/>
              <a:t>void display(){</a:t>
            </a:r>
          </a:p>
          <a:p>
            <a:pPr algn="l"/>
            <a:r>
              <a:rPr lang="en-US" sz="1400" dirty="0"/>
              <a:t> </a:t>
            </a:r>
            <a:r>
              <a:rPr lang="en-US" sz="1400" dirty="0" err="1"/>
              <a:t>glClearColor</a:t>
            </a:r>
            <a:r>
              <a:rPr lang="en-US" sz="1400" dirty="0"/>
              <a:t>(1.0,1.0,1.0,1.0);</a:t>
            </a:r>
          </a:p>
          <a:p>
            <a:pPr algn="l"/>
            <a:r>
              <a:rPr lang="en-US" sz="1400" dirty="0"/>
              <a:t> </a:t>
            </a:r>
            <a:r>
              <a:rPr lang="en-US" sz="1400" dirty="0" err="1"/>
              <a:t>glClear</a:t>
            </a:r>
            <a:r>
              <a:rPr lang="en-US" sz="1400" dirty="0"/>
              <a:t>(GL_COLOR_BUFFER_BIT);</a:t>
            </a:r>
          </a:p>
          <a:p>
            <a:pPr algn="l"/>
            <a:r>
              <a:rPr lang="en-US" sz="1400" dirty="0"/>
              <a:t> glColor3f(0.0,0.0,1.0);</a:t>
            </a:r>
          </a:p>
          <a:p>
            <a:pPr algn="l"/>
            <a:r>
              <a:rPr lang="en-US" sz="1400" dirty="0"/>
              <a:t>  </a:t>
            </a:r>
            <a:r>
              <a:rPr lang="en-US" sz="1400" dirty="0" err="1"/>
              <a:t>glBegin</a:t>
            </a:r>
            <a:r>
              <a:rPr lang="en-US" sz="1400" dirty="0"/>
              <a:t>(GL_POLYGON);</a:t>
            </a:r>
          </a:p>
          <a:p>
            <a:pPr algn="l"/>
            <a:r>
              <a:rPr lang="en-US" sz="1400" dirty="0"/>
              <a:t>    glVertex3f(0.25+x,0.25,0.0);</a:t>
            </a:r>
          </a:p>
          <a:p>
            <a:pPr algn="l"/>
            <a:r>
              <a:rPr lang="en-US" sz="1400" dirty="0"/>
              <a:t>    glVertex3f(0.75+x,0.25,0.0);</a:t>
            </a:r>
          </a:p>
          <a:p>
            <a:pPr algn="l"/>
            <a:r>
              <a:rPr lang="en-US" sz="1400" dirty="0"/>
              <a:t>    glVertex3f(0.75+x,0.75,0.0);</a:t>
            </a:r>
          </a:p>
          <a:p>
            <a:pPr algn="l"/>
            <a:r>
              <a:rPr lang="en-US" sz="1400" dirty="0"/>
              <a:t>  </a:t>
            </a:r>
            <a:r>
              <a:rPr lang="en-US" sz="1400" dirty="0" err="1"/>
              <a:t>glEnd</a:t>
            </a:r>
            <a:r>
              <a:rPr lang="en-US" sz="1400" dirty="0"/>
              <a:t>();</a:t>
            </a:r>
          </a:p>
          <a:p>
            <a:pPr algn="l"/>
            <a:r>
              <a:rPr lang="en-US" sz="1400" dirty="0"/>
              <a:t> </a:t>
            </a:r>
            <a:r>
              <a:rPr lang="en-US" sz="1400" dirty="0" err="1"/>
              <a:t>glFlush</a:t>
            </a:r>
            <a:r>
              <a:rPr lang="en-US" sz="1400" dirty="0"/>
              <a:t>();</a:t>
            </a:r>
          </a:p>
          <a:p>
            <a:pPr algn="l"/>
            <a:r>
              <a:rPr lang="en-US" sz="1400" dirty="0"/>
              <a:t>}</a:t>
            </a:r>
          </a:p>
          <a:p>
            <a:pPr algn="l"/>
            <a:endParaRPr lang="en-US" sz="1400" dirty="0"/>
          </a:p>
          <a:p>
            <a:pPr algn="l"/>
            <a:r>
              <a:rPr lang="en-US" sz="1400" dirty="0"/>
              <a:t>void trans(){</a:t>
            </a:r>
          </a:p>
          <a:p>
            <a:pPr algn="l"/>
            <a:r>
              <a:rPr lang="en-US" sz="1400" dirty="0"/>
              <a:t>  x = x - 0.001;</a:t>
            </a:r>
          </a:p>
          <a:p>
            <a:pPr algn="l"/>
            <a:r>
              <a:rPr lang="en-US" sz="1400" dirty="0"/>
              <a:t>  </a:t>
            </a:r>
            <a:r>
              <a:rPr lang="en-US" sz="1400" dirty="0" err="1"/>
              <a:t>glutPostRedisplay</a:t>
            </a:r>
            <a:r>
              <a:rPr lang="en-US" sz="1400" dirty="0"/>
              <a:t>();</a:t>
            </a:r>
          </a:p>
          <a:p>
            <a:pPr algn="l"/>
            <a:r>
              <a:rPr lang="en-US" sz="1400" dirty="0"/>
              <a:t>} </a:t>
            </a:r>
          </a:p>
          <a:p>
            <a:pPr algn="l"/>
            <a:endParaRPr lang="en-US" sz="1400" dirty="0"/>
          </a:p>
          <a:p>
            <a:pPr algn="l"/>
            <a:endParaRPr lang="en-US" sz="1400" dirty="0"/>
          </a:p>
          <a:p>
            <a:pPr algn="l"/>
            <a:endParaRPr lang="en-US" sz="1400" dirty="0"/>
          </a:p>
          <a:p>
            <a:pPr algn="l"/>
            <a:endParaRPr lang="en-US" sz="1400" dirty="0"/>
          </a:p>
          <a:p>
            <a:pPr algn="l"/>
            <a:endParaRPr lang="en-US" sz="1400" dirty="0"/>
          </a:p>
          <a:p>
            <a:pPr algn="l"/>
            <a:endParaRPr lang="en-US" sz="1400" dirty="0"/>
          </a:p>
          <a:p>
            <a:pPr algn="l"/>
            <a:endParaRPr lang="en-US" sz="1400" dirty="0"/>
          </a:p>
          <a:p>
            <a:pPr algn="l"/>
            <a:r>
              <a:rPr lang="en-US" sz="1400" dirty="0"/>
              <a:t>void mouse(</a:t>
            </a:r>
            <a:r>
              <a:rPr lang="en-US" sz="1400" dirty="0" err="1"/>
              <a:t>int</a:t>
            </a:r>
            <a:r>
              <a:rPr lang="en-US" sz="1400" dirty="0"/>
              <a:t> button, </a:t>
            </a:r>
            <a:r>
              <a:rPr lang="en-US" sz="1400" dirty="0" err="1"/>
              <a:t>int</a:t>
            </a:r>
            <a:r>
              <a:rPr lang="en-US" sz="1400" dirty="0"/>
              <a:t> state, </a:t>
            </a:r>
            <a:r>
              <a:rPr lang="en-US" sz="1400" dirty="0" err="1"/>
              <a:t>int</a:t>
            </a:r>
            <a:r>
              <a:rPr lang="en-US" sz="1400" dirty="0"/>
              <a:t> x, </a:t>
            </a:r>
            <a:r>
              <a:rPr lang="en-US" sz="1400" dirty="0" err="1"/>
              <a:t>int</a:t>
            </a:r>
            <a:r>
              <a:rPr lang="en-US" sz="1400" dirty="0"/>
              <a:t> y){</a:t>
            </a:r>
          </a:p>
          <a:p>
            <a:pPr algn="l"/>
            <a:r>
              <a:rPr lang="en-US" sz="1400" dirty="0"/>
              <a:t>   switch(button){</a:t>
            </a:r>
          </a:p>
          <a:p>
            <a:pPr algn="l"/>
            <a:r>
              <a:rPr lang="en-US" sz="1400" dirty="0"/>
              <a:t>      case GLUT_LEFT_BUTTON:</a:t>
            </a:r>
          </a:p>
          <a:p>
            <a:pPr algn="l"/>
            <a:r>
              <a:rPr lang="en-US" sz="1400" dirty="0"/>
              <a:t>         if (state == GLUT_DOWN)</a:t>
            </a:r>
          </a:p>
          <a:p>
            <a:pPr algn="l"/>
            <a:r>
              <a:rPr lang="en-US" sz="1400" dirty="0"/>
              <a:t>	     </a:t>
            </a:r>
            <a:r>
              <a:rPr lang="en-US" sz="1400" dirty="0" err="1"/>
              <a:t>glutIdleFunc</a:t>
            </a:r>
            <a:r>
              <a:rPr lang="en-US" sz="1400" dirty="0"/>
              <a:t>(trans); </a:t>
            </a:r>
          </a:p>
          <a:p>
            <a:pPr algn="l"/>
            <a:r>
              <a:rPr lang="en-US" sz="1400" dirty="0"/>
              <a:t>         break;</a:t>
            </a:r>
          </a:p>
          <a:p>
            <a:pPr algn="l"/>
            <a:r>
              <a:rPr lang="en-US" sz="1400" dirty="0"/>
              <a:t> </a:t>
            </a:r>
          </a:p>
          <a:p>
            <a:pPr algn="l"/>
            <a:r>
              <a:rPr lang="en-US" sz="1400" dirty="0"/>
              <a:t>       case GLUT_RIGHT_BUTTON:</a:t>
            </a:r>
          </a:p>
          <a:p>
            <a:pPr algn="l"/>
            <a:r>
              <a:rPr lang="en-US" sz="1400" dirty="0"/>
              <a:t>          if (state == GLUT_DOWN)</a:t>
            </a:r>
          </a:p>
          <a:p>
            <a:pPr algn="l"/>
            <a:r>
              <a:rPr lang="en-US" sz="1400" dirty="0"/>
              <a:t>	     </a:t>
            </a:r>
            <a:r>
              <a:rPr lang="en-US" sz="1400" dirty="0" err="1"/>
              <a:t>glutIdleFunc</a:t>
            </a:r>
            <a:r>
              <a:rPr lang="en-US" sz="1400" dirty="0"/>
              <a:t>(NULL);</a:t>
            </a:r>
          </a:p>
          <a:p>
            <a:pPr algn="l"/>
            <a:r>
              <a:rPr lang="en-US" sz="1400" dirty="0"/>
              <a:t>        break; </a:t>
            </a:r>
          </a:p>
          <a:p>
            <a:pPr algn="l"/>
            <a:r>
              <a:rPr lang="en-US" sz="1400" dirty="0"/>
              <a:t>       }</a:t>
            </a:r>
          </a:p>
          <a:p>
            <a:pPr algn="l"/>
            <a:r>
              <a:rPr lang="en-US" sz="1400" dirty="0"/>
              <a:t>}</a:t>
            </a:r>
          </a:p>
          <a:p>
            <a:pPr algn="l"/>
            <a:r>
              <a:rPr lang="en-US" sz="1400" dirty="0"/>
              <a:t> </a:t>
            </a:r>
          </a:p>
          <a:p>
            <a:pPr algn="l"/>
            <a:r>
              <a:rPr lang="en-US" sz="1400" dirty="0"/>
              <a:t>void main(</a:t>
            </a:r>
            <a:r>
              <a:rPr lang="en-US" sz="1400" dirty="0" err="1"/>
              <a:t>int</a:t>
            </a:r>
            <a:r>
              <a:rPr lang="en-US" sz="1400" dirty="0"/>
              <a:t> </a:t>
            </a:r>
            <a:r>
              <a:rPr lang="en-US" sz="1400" dirty="0" err="1"/>
              <a:t>argc</a:t>
            </a:r>
            <a:r>
              <a:rPr lang="en-US" sz="1400" dirty="0"/>
              <a:t>, char **</a:t>
            </a:r>
            <a:r>
              <a:rPr lang="en-US" sz="1400" dirty="0" err="1"/>
              <a:t>argv</a:t>
            </a:r>
            <a:r>
              <a:rPr lang="en-US" sz="1400" dirty="0"/>
              <a:t>){</a:t>
            </a:r>
          </a:p>
          <a:p>
            <a:pPr algn="l"/>
            <a:r>
              <a:rPr lang="en-US" sz="1400" dirty="0"/>
              <a:t>  </a:t>
            </a:r>
            <a:r>
              <a:rPr lang="en-US" sz="1400" dirty="0" err="1"/>
              <a:t>glutInit</a:t>
            </a:r>
            <a:r>
              <a:rPr lang="en-US" sz="1400" dirty="0"/>
              <a:t>(&amp;</a:t>
            </a:r>
            <a:r>
              <a:rPr lang="en-US" sz="1400" dirty="0" err="1"/>
              <a:t>argc,argv</a:t>
            </a:r>
            <a:r>
              <a:rPr lang="en-US" sz="1400" dirty="0"/>
              <a:t>);</a:t>
            </a:r>
          </a:p>
          <a:p>
            <a:pPr algn="l"/>
            <a:r>
              <a:rPr lang="en-US" sz="1400" dirty="0"/>
              <a:t>  </a:t>
            </a:r>
            <a:r>
              <a:rPr lang="en-US" sz="1400" dirty="0" err="1"/>
              <a:t>glutInitDisplayMode</a:t>
            </a:r>
            <a:r>
              <a:rPr lang="en-US" sz="1400" dirty="0"/>
              <a:t>(GLUT_SINGLE|GLUT_RGB);</a:t>
            </a:r>
          </a:p>
          <a:p>
            <a:pPr algn="l"/>
            <a:r>
              <a:rPr lang="en-US" sz="1400" dirty="0"/>
              <a:t>  </a:t>
            </a:r>
            <a:r>
              <a:rPr lang="en-US" sz="1400" dirty="0" err="1"/>
              <a:t>glutInitWindowPosition</a:t>
            </a:r>
            <a:r>
              <a:rPr lang="en-US" sz="1400" dirty="0"/>
              <a:t>(111,111);</a:t>
            </a:r>
          </a:p>
          <a:p>
            <a:pPr algn="l"/>
            <a:r>
              <a:rPr lang="en-US" sz="1400" dirty="0"/>
              <a:t>  </a:t>
            </a:r>
            <a:r>
              <a:rPr lang="en-US" sz="1400" dirty="0" err="1"/>
              <a:t>glutInitWindowSize</a:t>
            </a:r>
            <a:r>
              <a:rPr lang="en-US" sz="1400" dirty="0"/>
              <a:t>(200,100);</a:t>
            </a:r>
          </a:p>
          <a:p>
            <a:pPr algn="l"/>
            <a:r>
              <a:rPr lang="en-US" sz="1400" dirty="0"/>
              <a:t>  </a:t>
            </a:r>
            <a:r>
              <a:rPr lang="en-US" sz="1400" dirty="0" err="1"/>
              <a:t>glutCreateWindow</a:t>
            </a:r>
            <a:r>
              <a:rPr lang="en-US" sz="1400" dirty="0"/>
              <a:t>("</a:t>
            </a:r>
            <a:r>
              <a:rPr lang="en-US" sz="1400" dirty="0" err="1"/>
              <a:t>saroj</a:t>
            </a:r>
            <a:r>
              <a:rPr lang="en-US" sz="1400" dirty="0"/>
              <a:t>");</a:t>
            </a:r>
          </a:p>
          <a:p>
            <a:pPr algn="l"/>
            <a:r>
              <a:rPr lang="en-US" sz="1400" dirty="0"/>
              <a:t>  </a:t>
            </a:r>
            <a:r>
              <a:rPr lang="en-US" sz="1400" dirty="0" err="1"/>
              <a:t>glutDisplayFunc</a:t>
            </a:r>
            <a:r>
              <a:rPr lang="en-US" sz="1400" dirty="0"/>
              <a:t>(display);</a:t>
            </a:r>
          </a:p>
          <a:p>
            <a:pPr algn="l"/>
            <a:r>
              <a:rPr lang="en-US" sz="1400" dirty="0"/>
              <a:t> </a:t>
            </a:r>
            <a:r>
              <a:rPr lang="en-US" sz="1400" i="1" dirty="0"/>
              <a:t> </a:t>
            </a:r>
            <a:r>
              <a:rPr lang="en-US" sz="1400" dirty="0" err="1"/>
              <a:t>glutMouseFunc</a:t>
            </a:r>
            <a:r>
              <a:rPr lang="en-US" sz="1400" dirty="0"/>
              <a:t>(mouse);</a:t>
            </a:r>
          </a:p>
          <a:p>
            <a:pPr algn="l"/>
            <a:r>
              <a:rPr lang="en-US" sz="1400" i="1" dirty="0"/>
              <a:t> </a:t>
            </a:r>
            <a:r>
              <a:rPr lang="en-US" sz="1400" dirty="0"/>
              <a:t> </a:t>
            </a:r>
            <a:r>
              <a:rPr lang="en-US" sz="1400" dirty="0" err="1"/>
              <a:t>glutMainLoop</a:t>
            </a:r>
            <a:r>
              <a:rPr lang="en-US" sz="1400" dirty="0"/>
              <a:t>();</a:t>
            </a:r>
          </a:p>
          <a:p>
            <a:pPr algn="l"/>
            <a:r>
              <a:rPr lang="en-US" sz="1400" dirty="0"/>
              <a:t>}</a:t>
            </a:r>
          </a:p>
          <a:p>
            <a:pPr algn="l"/>
            <a:br>
              <a:rPr lang="en-US" sz="1400" i="1" dirty="0"/>
            </a:b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47500" lnSpcReduction="20000"/>
          </a:bodyPr>
          <a:lstStyle/>
          <a:p>
            <a:pPr algn="l"/>
            <a:r>
              <a:rPr lang="en-US" dirty="0"/>
              <a:t>void reshape(</a:t>
            </a:r>
            <a:r>
              <a:rPr lang="en-US" dirty="0" err="1"/>
              <a:t>int</a:t>
            </a:r>
            <a:r>
              <a:rPr lang="en-US" dirty="0"/>
              <a:t> w, </a:t>
            </a:r>
            <a:r>
              <a:rPr lang="en-US" dirty="0" err="1"/>
              <a:t>int</a:t>
            </a:r>
            <a:r>
              <a:rPr lang="en-US" dirty="0"/>
              <a:t> h){</a:t>
            </a:r>
          </a:p>
          <a:p>
            <a:pPr algn="l"/>
            <a:r>
              <a:rPr lang="en-US" dirty="0"/>
              <a:t> </a:t>
            </a:r>
            <a:r>
              <a:rPr lang="en-US" dirty="0" err="1"/>
              <a:t>glViewport</a:t>
            </a:r>
            <a:r>
              <a:rPr lang="en-US" dirty="0"/>
              <a:t>(0,0,w,h);</a:t>
            </a:r>
          </a:p>
          <a:p>
            <a:pPr algn="l"/>
            <a:r>
              <a:rPr lang="en-US" dirty="0"/>
              <a:t> </a:t>
            </a:r>
            <a:r>
              <a:rPr lang="en-US" dirty="0" err="1"/>
              <a:t>glMatrixMode</a:t>
            </a:r>
            <a:r>
              <a:rPr lang="en-US" dirty="0"/>
              <a:t>(GL_PROJECTION);</a:t>
            </a:r>
          </a:p>
          <a:p>
            <a:pPr algn="l"/>
            <a:r>
              <a:rPr lang="en-US" dirty="0"/>
              <a:t> </a:t>
            </a:r>
            <a:r>
              <a:rPr lang="en-US" dirty="0" err="1"/>
              <a:t>glLoadIdentity</a:t>
            </a:r>
            <a:r>
              <a:rPr lang="en-US" dirty="0"/>
              <a:t>();</a:t>
            </a:r>
          </a:p>
          <a:p>
            <a:pPr algn="l"/>
            <a:r>
              <a:rPr lang="en-US" dirty="0"/>
              <a:t> </a:t>
            </a:r>
            <a:r>
              <a:rPr lang="en-US" dirty="0" err="1"/>
              <a:t>glOrtho</a:t>
            </a:r>
            <a:r>
              <a:rPr lang="en-US" dirty="0"/>
              <a:t>(0,50,0,50,-1,1);  </a:t>
            </a:r>
          </a:p>
          <a:p>
            <a:pPr algn="l"/>
            <a:r>
              <a:rPr lang="en-US" dirty="0"/>
              <a:t> //</a:t>
            </a:r>
            <a:r>
              <a:rPr lang="en-US" dirty="0" err="1"/>
              <a:t>glOrtho</a:t>
            </a:r>
            <a:r>
              <a:rPr lang="en-US" dirty="0"/>
              <a:t>(</a:t>
            </a:r>
            <a:r>
              <a:rPr lang="en-US" dirty="0" err="1"/>
              <a:t>left,right,bottom,top,near,far</a:t>
            </a:r>
            <a:r>
              <a:rPr lang="en-US" dirty="0"/>
              <a:t>);</a:t>
            </a:r>
          </a:p>
          <a:p>
            <a:pPr algn="l"/>
            <a:r>
              <a:rPr lang="en-US" dirty="0"/>
              <a:t> </a:t>
            </a:r>
            <a:r>
              <a:rPr lang="en-US" dirty="0" err="1"/>
              <a:t>glMatrixMode</a:t>
            </a:r>
            <a:r>
              <a:rPr lang="en-US" dirty="0"/>
              <a:t>(GL_MODELVIEW);</a:t>
            </a:r>
          </a:p>
          <a:p>
            <a:pPr algn="l"/>
            <a:r>
              <a:rPr lang="en-US" dirty="0"/>
              <a:t> </a:t>
            </a:r>
            <a:r>
              <a:rPr lang="en-US" dirty="0" err="1"/>
              <a:t>glLoadIdentity</a:t>
            </a:r>
            <a:r>
              <a:rPr lang="en-US" dirty="0"/>
              <a:t>();</a:t>
            </a:r>
          </a:p>
          <a:p>
            <a:pPr algn="l"/>
            <a:r>
              <a:rPr lang="en-US" dirty="0"/>
              <a:t>}</a:t>
            </a:r>
          </a:p>
          <a:p>
            <a:pPr algn="l"/>
            <a:r>
              <a:rPr lang="en-US" dirty="0"/>
              <a:t> </a:t>
            </a:r>
          </a:p>
          <a:p>
            <a:pPr algn="l"/>
            <a:r>
              <a:rPr lang="en-US" dirty="0"/>
              <a:t>void main(</a:t>
            </a:r>
            <a:r>
              <a:rPr lang="en-US" dirty="0" err="1"/>
              <a:t>int</a:t>
            </a:r>
            <a:r>
              <a:rPr lang="en-US" dirty="0"/>
              <a:t> </a:t>
            </a:r>
            <a:r>
              <a:rPr lang="en-US" dirty="0" err="1"/>
              <a:t>argc</a:t>
            </a:r>
            <a:r>
              <a:rPr lang="en-US" dirty="0"/>
              <a:t>, char **</a:t>
            </a:r>
            <a:r>
              <a:rPr lang="en-US" dirty="0" err="1"/>
              <a:t>argv</a:t>
            </a:r>
            <a:r>
              <a:rPr lang="en-US" dirty="0"/>
              <a:t>){</a:t>
            </a:r>
          </a:p>
          <a:p>
            <a:pPr algn="l"/>
            <a:r>
              <a:rPr lang="en-US" dirty="0"/>
              <a:t> </a:t>
            </a:r>
            <a:r>
              <a:rPr lang="en-US" dirty="0" err="1"/>
              <a:t>glutInit</a:t>
            </a:r>
            <a:r>
              <a:rPr lang="en-US" dirty="0"/>
              <a:t>(&amp;</a:t>
            </a:r>
            <a:r>
              <a:rPr lang="en-US" dirty="0" err="1"/>
              <a:t>argc,argv</a:t>
            </a:r>
            <a:r>
              <a:rPr lang="en-US" dirty="0"/>
              <a:t>);</a:t>
            </a:r>
          </a:p>
          <a:p>
            <a:pPr algn="l"/>
            <a:r>
              <a:rPr lang="en-US" dirty="0"/>
              <a:t> </a:t>
            </a:r>
            <a:r>
              <a:rPr lang="en-US" dirty="0" err="1"/>
              <a:t>glutInitDisplayMode</a:t>
            </a:r>
            <a:r>
              <a:rPr lang="en-US" dirty="0"/>
              <a:t>(GLUT_SINGLE|GLUT_RGB);</a:t>
            </a:r>
          </a:p>
          <a:p>
            <a:pPr algn="l"/>
            <a:r>
              <a:rPr lang="en-US" dirty="0"/>
              <a:t> </a:t>
            </a:r>
            <a:r>
              <a:rPr lang="en-US" dirty="0" err="1"/>
              <a:t>glutInitWindowPosition</a:t>
            </a:r>
            <a:r>
              <a:rPr lang="en-US" dirty="0"/>
              <a:t>(200,200);</a:t>
            </a:r>
          </a:p>
          <a:p>
            <a:pPr algn="l"/>
            <a:r>
              <a:rPr lang="en-US" dirty="0"/>
              <a:t> </a:t>
            </a:r>
            <a:r>
              <a:rPr lang="en-US" dirty="0" err="1"/>
              <a:t>glutInitWindowSize</a:t>
            </a:r>
            <a:r>
              <a:rPr lang="en-US" dirty="0"/>
              <a:t>(200,200);</a:t>
            </a:r>
          </a:p>
          <a:p>
            <a:pPr algn="l"/>
            <a:r>
              <a:rPr lang="en-US" dirty="0"/>
              <a:t> </a:t>
            </a:r>
            <a:r>
              <a:rPr lang="en-US" dirty="0" err="1"/>
              <a:t>glutCreateWindow</a:t>
            </a:r>
            <a:r>
              <a:rPr lang="en-US" dirty="0"/>
              <a:t>("Triangle");</a:t>
            </a:r>
          </a:p>
          <a:p>
            <a:pPr algn="l"/>
            <a:r>
              <a:rPr lang="en-US" dirty="0"/>
              <a:t> </a:t>
            </a:r>
            <a:r>
              <a:rPr lang="en-US" dirty="0" err="1"/>
              <a:t>glutDisplayFunc</a:t>
            </a:r>
            <a:r>
              <a:rPr lang="en-US" dirty="0"/>
              <a:t>(display);</a:t>
            </a:r>
          </a:p>
          <a:p>
            <a:pPr algn="l"/>
            <a:r>
              <a:rPr lang="en-US" dirty="0"/>
              <a:t> </a:t>
            </a:r>
            <a:r>
              <a:rPr lang="en-US" dirty="0" err="1"/>
              <a:t>glutReshapeFunc</a:t>
            </a:r>
            <a:r>
              <a:rPr lang="en-US" dirty="0"/>
              <a:t>(reshape);</a:t>
            </a:r>
          </a:p>
          <a:p>
            <a:pPr algn="l"/>
            <a:r>
              <a:rPr lang="en-US" dirty="0"/>
              <a:t> </a:t>
            </a:r>
            <a:r>
              <a:rPr lang="en-US" dirty="0" err="1"/>
              <a:t>glutMainLoop</a:t>
            </a:r>
            <a:r>
              <a:rPr lang="en-US" dirty="0"/>
              <a:t>();</a:t>
            </a:r>
          </a:p>
          <a:p>
            <a:pPr algn="l"/>
            <a:r>
              <a:rPr lang="en-US" dirty="0"/>
              <a:t>}</a:t>
            </a:r>
          </a:p>
          <a:p>
            <a:pPr algn="l"/>
            <a:br>
              <a:rPr lang="en-US" b="1" dirty="0"/>
            </a:br>
            <a:r>
              <a:rPr lang="en-US" dirty="0"/>
              <a:t>GL_PROJECTION : Applies subsequent matrix operations to the projection matrix stack.</a:t>
            </a:r>
            <a:endParaRPr lang="en-US" b="1" dirty="0"/>
          </a:p>
          <a:p>
            <a:pPr algn="l"/>
            <a:r>
              <a:rPr lang="en-US" dirty="0"/>
              <a:t>GL_MODELVIEW :  Applies subsequent matrix operations to the </a:t>
            </a:r>
            <a:r>
              <a:rPr lang="en-US" dirty="0" err="1"/>
              <a:t>modelview</a:t>
            </a:r>
            <a:r>
              <a:rPr lang="en-US" dirty="0"/>
              <a:t> matrix stack.</a:t>
            </a:r>
          </a:p>
          <a:p>
            <a:pPr algn="l"/>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4" name="Rectangle 3"/>
          <p:cNvSpPr/>
          <p:nvPr/>
        </p:nvSpPr>
        <p:spPr>
          <a:xfrm>
            <a:off x="685800" y="1371600"/>
            <a:ext cx="7772400" cy="1877437"/>
          </a:xfrm>
          <a:prstGeom prst="rect">
            <a:avLst/>
          </a:prstGeom>
        </p:spPr>
        <p:txBody>
          <a:bodyPr wrap="square">
            <a:spAutoFit/>
          </a:bodyPr>
          <a:lstStyle/>
          <a:p>
            <a:r>
              <a:rPr lang="en-US" dirty="0"/>
              <a:t> </a:t>
            </a:r>
            <a:r>
              <a:rPr lang="en-US" sz="2400" dirty="0" err="1"/>
              <a:t>glutPostRedisplay</a:t>
            </a:r>
            <a:r>
              <a:rPr lang="en-US" sz="2400" dirty="0"/>
              <a:t>();</a:t>
            </a:r>
            <a:endParaRPr lang="en-US" dirty="0"/>
          </a:p>
          <a:p>
            <a:endParaRPr lang="en-US" dirty="0"/>
          </a:p>
          <a:p>
            <a:r>
              <a:rPr lang="en-US" sz="2800" dirty="0"/>
              <a:t> — 	marks the current or specified window 	as needing to be redisplayed.</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31886-F5FF-4EBA-9589-B4079120BADE}"/>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A7ECA2AE-46FD-489B-A1C4-AAF06C4600EF}"/>
              </a:ext>
            </a:extLst>
          </p:cNvPr>
          <p:cNvSpPr>
            <a:spLocks noGrp="1"/>
          </p:cNvSpPr>
          <p:nvPr>
            <p:ph idx="1"/>
          </p:nvPr>
        </p:nvSpPr>
        <p:spPr>
          <a:xfrm>
            <a:off x="457200" y="1295400"/>
            <a:ext cx="8229600" cy="4525963"/>
          </a:xfrm>
        </p:spPr>
        <p:txBody>
          <a:bodyPr/>
          <a:lstStyle/>
          <a:p>
            <a:pPr marL="0" indent="0">
              <a:buNone/>
            </a:pPr>
            <a:r>
              <a:rPr lang="en-US" dirty="0"/>
              <a:t>Translation: </a:t>
            </a:r>
            <a:r>
              <a:rPr lang="en-US" dirty="0" err="1"/>
              <a:t>glTranslate</a:t>
            </a:r>
            <a:r>
              <a:rPr lang="en-US" dirty="0"/>
              <a:t>*(</a:t>
            </a:r>
            <a:r>
              <a:rPr lang="en-US" dirty="0" err="1"/>
              <a:t>tx</a:t>
            </a:r>
            <a:r>
              <a:rPr lang="en-US" dirty="0"/>
              <a:t>, ty, </a:t>
            </a:r>
            <a:r>
              <a:rPr lang="en-US" dirty="0" err="1"/>
              <a:t>tx</a:t>
            </a:r>
            <a:r>
              <a:rPr lang="en-US" dirty="0"/>
              <a:t>)</a:t>
            </a:r>
          </a:p>
          <a:p>
            <a:pPr marL="0" indent="0">
              <a:buNone/>
            </a:pPr>
            <a:r>
              <a:rPr lang="en-US" sz="2400" dirty="0"/>
              <a:t>Here </a:t>
            </a:r>
            <a:r>
              <a:rPr lang="en-US" sz="2400" dirty="0" err="1"/>
              <a:t>tx</a:t>
            </a:r>
            <a:r>
              <a:rPr lang="en-US" sz="2400" dirty="0"/>
              <a:t>, ty, </a:t>
            </a:r>
            <a:r>
              <a:rPr lang="en-US" sz="2400" dirty="0" err="1"/>
              <a:t>tx</a:t>
            </a:r>
            <a:r>
              <a:rPr lang="en-US" sz="2400" dirty="0"/>
              <a:t> are the translation factors, the suffix * may be a f (float) or d (double)</a:t>
            </a:r>
          </a:p>
          <a:p>
            <a:pPr marL="0" indent="0">
              <a:buNone/>
            </a:pPr>
            <a:endParaRPr lang="en-US" dirty="0"/>
          </a:p>
          <a:p>
            <a:pPr marL="0" indent="0">
              <a:buNone/>
            </a:pPr>
            <a:r>
              <a:rPr lang="en-US" dirty="0"/>
              <a:t>Rotation: </a:t>
            </a:r>
            <a:r>
              <a:rPr lang="en-US" dirty="0" err="1"/>
              <a:t>glRotate</a:t>
            </a:r>
            <a:r>
              <a:rPr lang="en-US" dirty="0"/>
              <a:t>(theta, </a:t>
            </a:r>
            <a:r>
              <a:rPr lang="en-US" dirty="0" err="1"/>
              <a:t>vx</a:t>
            </a:r>
            <a:r>
              <a:rPr lang="en-US" dirty="0"/>
              <a:t>, </a:t>
            </a:r>
            <a:r>
              <a:rPr lang="en-US" dirty="0" err="1"/>
              <a:t>vy</a:t>
            </a:r>
            <a:r>
              <a:rPr lang="en-US" dirty="0"/>
              <a:t>, </a:t>
            </a:r>
            <a:r>
              <a:rPr lang="en-US" dirty="0" err="1"/>
              <a:t>vz</a:t>
            </a:r>
            <a:r>
              <a:rPr lang="en-US" dirty="0"/>
              <a:t>)</a:t>
            </a:r>
          </a:p>
          <a:p>
            <a:pPr marL="0" indent="0">
              <a:buNone/>
            </a:pPr>
            <a:r>
              <a:rPr lang="en-US" sz="2400" dirty="0"/>
              <a:t>Here </a:t>
            </a:r>
            <a:r>
              <a:rPr lang="en-US" sz="2400" dirty="0" err="1"/>
              <a:t>vx</a:t>
            </a:r>
            <a:r>
              <a:rPr lang="en-US" sz="2400" dirty="0"/>
              <a:t>, </a:t>
            </a:r>
            <a:r>
              <a:rPr lang="en-US" sz="2400" dirty="0" err="1"/>
              <a:t>vy</a:t>
            </a:r>
            <a:r>
              <a:rPr lang="en-US" sz="2400" dirty="0"/>
              <a:t> and </a:t>
            </a:r>
            <a:r>
              <a:rPr lang="en-US" sz="2400" dirty="0" err="1"/>
              <a:t>vz</a:t>
            </a:r>
            <a:r>
              <a:rPr lang="en-US" sz="2400" dirty="0"/>
              <a:t> are orientation for a rotation axis that passes through the coordinate origin</a:t>
            </a:r>
          </a:p>
          <a:p>
            <a:pPr marL="0" indent="0">
              <a:buNone/>
            </a:pPr>
            <a:r>
              <a:rPr lang="en-US" sz="2400" dirty="0"/>
              <a:t>theta is the rotation angle in degrees </a:t>
            </a:r>
          </a:p>
          <a:p>
            <a:pPr marL="0" indent="0">
              <a:buNone/>
            </a:pPr>
            <a:endParaRPr lang="en-US" sz="2400" dirty="0"/>
          </a:p>
          <a:p>
            <a:pPr marL="0" indent="0">
              <a:buNone/>
            </a:pPr>
            <a:r>
              <a:rPr lang="en-US" dirty="0"/>
              <a:t>Scale: </a:t>
            </a:r>
            <a:r>
              <a:rPr lang="en-US" dirty="0" err="1"/>
              <a:t>glScale</a:t>
            </a:r>
            <a:r>
              <a:rPr lang="en-US" dirty="0"/>
              <a:t>*(</a:t>
            </a:r>
            <a:r>
              <a:rPr lang="en-US" dirty="0" err="1"/>
              <a:t>sx</a:t>
            </a:r>
            <a:r>
              <a:rPr lang="en-US" dirty="0"/>
              <a:t>, </a:t>
            </a:r>
            <a:r>
              <a:rPr lang="en-US" dirty="0" err="1"/>
              <a:t>sy</a:t>
            </a:r>
            <a:r>
              <a:rPr lang="en-US" dirty="0"/>
              <a:t>, </a:t>
            </a:r>
            <a:r>
              <a:rPr lang="en-US" dirty="0" err="1"/>
              <a:t>sz</a:t>
            </a:r>
            <a:r>
              <a:rPr lang="en-US" dirty="0"/>
              <a:t>)</a:t>
            </a:r>
          </a:p>
          <a:p>
            <a:pPr marL="0" indent="0">
              <a:buNone/>
            </a:pPr>
            <a:r>
              <a:rPr lang="en-US" sz="2400" dirty="0"/>
              <a:t>Here </a:t>
            </a:r>
            <a:r>
              <a:rPr lang="en-US" sz="2400" dirty="0" err="1"/>
              <a:t>sx</a:t>
            </a:r>
            <a:r>
              <a:rPr lang="en-US" sz="2400" dirty="0"/>
              <a:t>, </a:t>
            </a:r>
            <a:r>
              <a:rPr lang="en-US" sz="2400" dirty="0" err="1"/>
              <a:t>sy</a:t>
            </a:r>
            <a:r>
              <a:rPr lang="en-US" sz="2400" dirty="0"/>
              <a:t> and </a:t>
            </a:r>
            <a:r>
              <a:rPr lang="en-US" sz="2400" dirty="0" err="1"/>
              <a:t>sz</a:t>
            </a:r>
            <a:r>
              <a:rPr lang="en-US" sz="2400" dirty="0"/>
              <a:t> are scaling factors</a:t>
            </a:r>
            <a:endParaRPr lang="en-US" dirty="0"/>
          </a:p>
        </p:txBody>
      </p:sp>
    </p:spTree>
    <p:extLst>
      <p:ext uri="{BB962C8B-B14F-4D97-AF65-F5344CB8AC3E}">
        <p14:creationId xmlns:p14="http://schemas.microsoft.com/office/powerpoint/2010/main" val="3579577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3" name="Subtitle 2"/>
          <p:cNvSpPr>
            <a:spLocks noGrp="1"/>
          </p:cNvSpPr>
          <p:nvPr>
            <p:ph type="subTitle" idx="1"/>
          </p:nvPr>
        </p:nvSpPr>
        <p:spPr>
          <a:xfrm>
            <a:off x="685800" y="1143000"/>
            <a:ext cx="7772400" cy="5334000"/>
          </a:xfrm>
        </p:spPr>
        <p:txBody>
          <a:bodyPr>
            <a:normAutofit fontScale="85000" lnSpcReduction="10000"/>
          </a:bodyPr>
          <a:lstStyle/>
          <a:p>
            <a:pPr algn="l"/>
            <a:r>
              <a:rPr lang="en-US" sz="3600" dirty="0"/>
              <a:t>void </a:t>
            </a:r>
            <a:r>
              <a:rPr lang="en-US" sz="3600" dirty="0" err="1"/>
              <a:t>gluLookAt</a:t>
            </a:r>
            <a:r>
              <a:rPr lang="en-US" sz="2800" dirty="0"/>
              <a:t>( </a:t>
            </a:r>
            <a:r>
              <a:rPr lang="en-US" sz="2400" dirty="0" err="1"/>
              <a:t>GLdouble</a:t>
            </a:r>
            <a:r>
              <a:rPr lang="en-US" sz="2400" dirty="0"/>
              <a:t> </a:t>
            </a:r>
            <a:r>
              <a:rPr lang="en-US" sz="2400" dirty="0" err="1"/>
              <a:t>eyex</a:t>
            </a:r>
            <a:r>
              <a:rPr lang="en-US" sz="2400" dirty="0"/>
              <a:t>, </a:t>
            </a:r>
            <a:r>
              <a:rPr lang="en-US" sz="2400" dirty="0" err="1"/>
              <a:t>GLdouble</a:t>
            </a:r>
            <a:r>
              <a:rPr lang="en-US" sz="2400" dirty="0"/>
              <a:t> </a:t>
            </a:r>
            <a:r>
              <a:rPr lang="en-US" sz="2400" dirty="0" err="1"/>
              <a:t>eyey</a:t>
            </a:r>
            <a:r>
              <a:rPr lang="en-US" sz="2400" dirty="0"/>
              <a:t>, </a:t>
            </a:r>
            <a:r>
              <a:rPr lang="en-US" sz="2400" dirty="0" err="1"/>
              <a:t>GLdouble</a:t>
            </a:r>
            <a:r>
              <a:rPr lang="en-US" sz="2400" dirty="0"/>
              <a:t> </a:t>
            </a:r>
            <a:r>
              <a:rPr lang="en-US" sz="2400" dirty="0" err="1"/>
              <a:t>eyez</a:t>
            </a:r>
            <a:r>
              <a:rPr lang="en-US" sz="2400" dirty="0"/>
              <a:t>, </a:t>
            </a:r>
            <a:r>
              <a:rPr lang="en-US" sz="2400" dirty="0" err="1"/>
              <a:t>GLdouble</a:t>
            </a:r>
            <a:r>
              <a:rPr lang="en-US" sz="2400" dirty="0"/>
              <a:t> </a:t>
            </a:r>
            <a:r>
              <a:rPr lang="en-US" sz="2400" dirty="0" err="1"/>
              <a:t>centerx</a:t>
            </a:r>
            <a:r>
              <a:rPr lang="en-US" sz="2400" dirty="0"/>
              <a:t>, </a:t>
            </a:r>
            <a:r>
              <a:rPr lang="en-US" sz="2400" dirty="0" err="1"/>
              <a:t>GLdouble</a:t>
            </a:r>
            <a:r>
              <a:rPr lang="en-US" sz="2400" dirty="0"/>
              <a:t> </a:t>
            </a:r>
            <a:r>
              <a:rPr lang="en-US" sz="2400" dirty="0" err="1"/>
              <a:t>centery</a:t>
            </a:r>
            <a:r>
              <a:rPr lang="en-US" sz="2400" dirty="0"/>
              <a:t>, </a:t>
            </a:r>
            <a:r>
              <a:rPr lang="en-US" sz="2400" dirty="0" err="1"/>
              <a:t>GLdouble</a:t>
            </a:r>
            <a:r>
              <a:rPr lang="en-US" sz="2400" dirty="0"/>
              <a:t> </a:t>
            </a:r>
            <a:r>
              <a:rPr lang="en-US" sz="2400" dirty="0" err="1"/>
              <a:t>centerz</a:t>
            </a:r>
            <a:r>
              <a:rPr lang="en-US" sz="2400" dirty="0"/>
              <a:t>, </a:t>
            </a:r>
            <a:r>
              <a:rPr lang="en-US" sz="2400" dirty="0" err="1"/>
              <a:t>GLdouble</a:t>
            </a:r>
            <a:r>
              <a:rPr lang="en-US" sz="2400" dirty="0"/>
              <a:t> </a:t>
            </a:r>
            <a:r>
              <a:rPr lang="en-US" sz="2400" dirty="0" err="1"/>
              <a:t>upx</a:t>
            </a:r>
            <a:r>
              <a:rPr lang="en-US" sz="2400" dirty="0"/>
              <a:t>, </a:t>
            </a:r>
            <a:r>
              <a:rPr lang="en-US" sz="2400" dirty="0" err="1"/>
              <a:t>GLdouble</a:t>
            </a:r>
            <a:r>
              <a:rPr lang="en-US" sz="2400" dirty="0"/>
              <a:t> </a:t>
            </a:r>
            <a:r>
              <a:rPr lang="en-US" sz="2400" dirty="0" err="1"/>
              <a:t>upy</a:t>
            </a:r>
            <a:r>
              <a:rPr lang="en-US" sz="2400" dirty="0"/>
              <a:t>, </a:t>
            </a:r>
            <a:r>
              <a:rPr lang="en-US" sz="2400" dirty="0" err="1"/>
              <a:t>GLdouble</a:t>
            </a:r>
            <a:r>
              <a:rPr lang="en-US" sz="2400" dirty="0"/>
              <a:t> </a:t>
            </a:r>
            <a:r>
              <a:rPr lang="en-US" sz="2400" dirty="0" err="1"/>
              <a:t>upz</a:t>
            </a:r>
            <a:r>
              <a:rPr lang="en-US" sz="2800" dirty="0"/>
              <a:t> );</a:t>
            </a:r>
            <a:endParaRPr lang="en-US" sz="3600" dirty="0"/>
          </a:p>
          <a:p>
            <a:pPr algn="l"/>
            <a:endParaRPr lang="en-US" b="1" dirty="0"/>
          </a:p>
          <a:p>
            <a:pPr algn="l"/>
            <a:r>
              <a:rPr lang="en-US" b="1" dirty="0"/>
              <a:t>Parameters</a:t>
            </a:r>
          </a:p>
          <a:p>
            <a:pPr algn="l"/>
            <a:r>
              <a:rPr lang="en-US" sz="2800" i="1" dirty="0" err="1"/>
              <a:t>eyex</a:t>
            </a:r>
            <a:r>
              <a:rPr lang="en-US" sz="2800" i="1" dirty="0"/>
              <a:t>, </a:t>
            </a:r>
            <a:r>
              <a:rPr lang="en-US" sz="2800" i="1" dirty="0" err="1"/>
              <a:t>eyey</a:t>
            </a:r>
            <a:r>
              <a:rPr lang="en-US" sz="2800" i="1" dirty="0"/>
              <a:t>, </a:t>
            </a:r>
            <a:r>
              <a:rPr lang="en-US" sz="2800" i="1" dirty="0" err="1"/>
              <a:t>eyez</a:t>
            </a:r>
            <a:r>
              <a:rPr lang="en-US" sz="2800" dirty="0"/>
              <a:t> The position of the eye point. </a:t>
            </a:r>
          </a:p>
          <a:p>
            <a:pPr algn="l"/>
            <a:r>
              <a:rPr lang="en-US" sz="2800" i="1" dirty="0" err="1"/>
              <a:t>centerx</a:t>
            </a:r>
            <a:r>
              <a:rPr lang="en-US" sz="2800" i="1" dirty="0"/>
              <a:t>, </a:t>
            </a:r>
            <a:r>
              <a:rPr lang="en-US" sz="2800" i="1" dirty="0" err="1"/>
              <a:t>centery</a:t>
            </a:r>
            <a:r>
              <a:rPr lang="en-US" sz="2800" i="1" dirty="0"/>
              <a:t>, </a:t>
            </a:r>
            <a:r>
              <a:rPr lang="en-US" sz="2800" i="1" dirty="0" err="1"/>
              <a:t>centerz</a:t>
            </a:r>
            <a:r>
              <a:rPr lang="en-US" sz="2800" dirty="0"/>
              <a:t> The position of the reference point. </a:t>
            </a:r>
          </a:p>
          <a:p>
            <a:pPr algn="l"/>
            <a:r>
              <a:rPr lang="en-US" sz="2800" i="1" dirty="0" err="1"/>
              <a:t>upx</a:t>
            </a:r>
            <a:r>
              <a:rPr lang="en-US" sz="2800" i="1" dirty="0"/>
              <a:t>, </a:t>
            </a:r>
            <a:r>
              <a:rPr lang="en-US" sz="2800" i="1" dirty="0" err="1"/>
              <a:t>upy</a:t>
            </a:r>
            <a:r>
              <a:rPr lang="en-US" sz="2800" i="1" dirty="0"/>
              <a:t>, </a:t>
            </a:r>
            <a:r>
              <a:rPr lang="en-US" sz="2800" i="1" dirty="0" err="1"/>
              <a:t>upz</a:t>
            </a:r>
            <a:r>
              <a:rPr lang="en-US" sz="2800" dirty="0"/>
              <a:t> The direction of the up vector.</a:t>
            </a:r>
          </a:p>
          <a:p>
            <a:pPr algn="l"/>
            <a:endParaRPr lang="en-US" dirty="0"/>
          </a:p>
          <a:p>
            <a:pPr algn="l"/>
            <a:r>
              <a:rPr lang="en-US" dirty="0"/>
              <a:t>The </a:t>
            </a:r>
            <a:r>
              <a:rPr lang="en-US" b="1" dirty="0" err="1"/>
              <a:t>gluLookAt</a:t>
            </a:r>
            <a:r>
              <a:rPr lang="en-US" dirty="0"/>
              <a:t> function creates a viewing matrix derived from an eye point, a reference point indicating the center of the scene, and an up vector.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pic>
        <p:nvPicPr>
          <p:cNvPr id="4" name="Picture 3">
            <a:extLst>
              <a:ext uri="{FF2B5EF4-FFF2-40B4-BE49-F238E27FC236}">
                <a16:creationId xmlns:a16="http://schemas.microsoft.com/office/drawing/2014/main" id="{8BF419ED-A813-492E-8A24-E10411D07E9B}"/>
              </a:ext>
            </a:extLst>
          </p:cNvPr>
          <p:cNvPicPr>
            <a:picLocks noChangeAspect="1"/>
          </p:cNvPicPr>
          <p:nvPr/>
        </p:nvPicPr>
        <p:blipFill>
          <a:blip r:embed="rId2"/>
          <a:stretch>
            <a:fillRect/>
          </a:stretch>
        </p:blipFill>
        <p:spPr>
          <a:xfrm>
            <a:off x="5274194" y="2462321"/>
            <a:ext cx="3725424" cy="2578663"/>
          </a:xfrm>
          <a:prstGeom prst="rect">
            <a:avLst/>
          </a:prstGeom>
        </p:spPr>
      </p:pic>
      <p:pic>
        <p:nvPicPr>
          <p:cNvPr id="5" name="Picture 4">
            <a:extLst>
              <a:ext uri="{FF2B5EF4-FFF2-40B4-BE49-F238E27FC236}">
                <a16:creationId xmlns:a16="http://schemas.microsoft.com/office/drawing/2014/main" id="{529DE7D6-EDC3-434D-95F2-685D23DCDDC7}"/>
              </a:ext>
            </a:extLst>
          </p:cNvPr>
          <p:cNvPicPr>
            <a:picLocks noChangeAspect="1"/>
          </p:cNvPicPr>
          <p:nvPr/>
        </p:nvPicPr>
        <p:blipFill>
          <a:blip r:embed="rId3"/>
          <a:stretch>
            <a:fillRect/>
          </a:stretch>
        </p:blipFill>
        <p:spPr>
          <a:xfrm>
            <a:off x="144382" y="2438400"/>
            <a:ext cx="4143321" cy="2754984"/>
          </a:xfrm>
          <a:prstGeom prst="rect">
            <a:avLst/>
          </a:prstGeom>
        </p:spPr>
      </p:pic>
      <p:sp>
        <p:nvSpPr>
          <p:cNvPr id="6" name="Rectangle 5">
            <a:extLst>
              <a:ext uri="{FF2B5EF4-FFF2-40B4-BE49-F238E27FC236}">
                <a16:creationId xmlns:a16="http://schemas.microsoft.com/office/drawing/2014/main" id="{DCA7089C-7BF7-42DB-AE71-7BB6318719B4}"/>
              </a:ext>
            </a:extLst>
          </p:cNvPr>
          <p:cNvSpPr/>
          <p:nvPr/>
        </p:nvSpPr>
        <p:spPr>
          <a:xfrm>
            <a:off x="228600" y="5595271"/>
            <a:ext cx="8686800" cy="1200329"/>
          </a:xfrm>
          <a:prstGeom prst="rect">
            <a:avLst/>
          </a:prstGeom>
        </p:spPr>
        <p:txBody>
          <a:bodyPr wrap="square">
            <a:spAutoFit/>
          </a:bodyPr>
          <a:lstStyle/>
          <a:p>
            <a:r>
              <a:rPr lang="en-US" sz="2400" dirty="0">
                <a:latin typeface="Times New Roman" panose="02020603050405020304" pitchFamily="18" charset="0"/>
              </a:rPr>
              <a:t>where the camera (or eye position) is placed </a:t>
            </a:r>
          </a:p>
          <a:p>
            <a:r>
              <a:rPr lang="en-US" sz="2400" dirty="0">
                <a:latin typeface="Times New Roman" panose="02020603050405020304" pitchFamily="18" charset="0"/>
              </a:rPr>
              <a:t>where it is aimed</a:t>
            </a:r>
          </a:p>
          <a:p>
            <a:r>
              <a:rPr lang="en-US" sz="2400" dirty="0">
                <a:latin typeface="Times New Roman" panose="02020603050405020304" pitchFamily="18" charset="0"/>
              </a:rPr>
              <a:t>which way is up</a:t>
            </a:r>
            <a:endParaRPr lang="en-US" sz="2400" b="0" i="0" dirty="0">
              <a:effectLst/>
              <a:latin typeface="Times New Roman" panose="02020603050405020304" pitchFamily="18" charset="0"/>
            </a:endParaRPr>
          </a:p>
        </p:txBody>
      </p:sp>
      <p:sp>
        <p:nvSpPr>
          <p:cNvPr id="7" name="Rectangle 6">
            <a:extLst>
              <a:ext uri="{FF2B5EF4-FFF2-40B4-BE49-F238E27FC236}">
                <a16:creationId xmlns:a16="http://schemas.microsoft.com/office/drawing/2014/main" id="{B89DDED9-4B3C-4074-9F1D-3CDC4CF56B53}"/>
              </a:ext>
            </a:extLst>
          </p:cNvPr>
          <p:cNvSpPr/>
          <p:nvPr/>
        </p:nvSpPr>
        <p:spPr>
          <a:xfrm>
            <a:off x="208948" y="1226403"/>
            <a:ext cx="8686799" cy="1107996"/>
          </a:xfrm>
          <a:prstGeom prst="rect">
            <a:avLst/>
          </a:prstGeom>
        </p:spPr>
        <p:txBody>
          <a:bodyPr wrap="square">
            <a:spAutoFit/>
          </a:bodyPr>
          <a:lstStyle/>
          <a:p>
            <a:r>
              <a:rPr lang="en-US" sz="2800" dirty="0"/>
              <a:t>void </a:t>
            </a:r>
            <a:r>
              <a:rPr lang="en-US" sz="2800" dirty="0" err="1"/>
              <a:t>gluLookAt</a:t>
            </a:r>
            <a:r>
              <a:rPr lang="en-US" sz="2000" dirty="0"/>
              <a:t>( </a:t>
            </a:r>
            <a:r>
              <a:rPr lang="en-US" dirty="0" err="1"/>
              <a:t>GLdouble</a:t>
            </a:r>
            <a:r>
              <a:rPr lang="en-US" dirty="0"/>
              <a:t> </a:t>
            </a:r>
            <a:r>
              <a:rPr lang="en-US" b="1" dirty="0" err="1">
                <a:solidFill>
                  <a:srgbClr val="FFFF00"/>
                </a:solidFill>
              </a:rPr>
              <a:t>eyex</a:t>
            </a:r>
            <a:r>
              <a:rPr lang="en-US" dirty="0"/>
              <a:t>, </a:t>
            </a:r>
            <a:r>
              <a:rPr lang="en-US" dirty="0" err="1"/>
              <a:t>GLdouble</a:t>
            </a:r>
            <a:r>
              <a:rPr lang="en-US" dirty="0"/>
              <a:t> </a:t>
            </a:r>
            <a:r>
              <a:rPr lang="en-US" b="1" dirty="0" err="1">
                <a:solidFill>
                  <a:srgbClr val="FFFF00"/>
                </a:solidFill>
              </a:rPr>
              <a:t>eyey</a:t>
            </a:r>
            <a:r>
              <a:rPr lang="en-US" dirty="0"/>
              <a:t>, </a:t>
            </a:r>
            <a:r>
              <a:rPr lang="en-US" dirty="0" err="1"/>
              <a:t>GLdouble</a:t>
            </a:r>
            <a:r>
              <a:rPr lang="en-US" dirty="0"/>
              <a:t> </a:t>
            </a:r>
            <a:r>
              <a:rPr lang="en-US" b="1" dirty="0" err="1">
                <a:solidFill>
                  <a:srgbClr val="FFFF00"/>
                </a:solidFill>
              </a:rPr>
              <a:t>eyez</a:t>
            </a:r>
            <a:r>
              <a:rPr lang="en-US" dirty="0"/>
              <a:t>, </a:t>
            </a:r>
          </a:p>
          <a:p>
            <a:r>
              <a:rPr lang="en-US" dirty="0"/>
              <a:t>                                           </a:t>
            </a:r>
            <a:r>
              <a:rPr lang="en-US" dirty="0" err="1"/>
              <a:t>GLdouble</a:t>
            </a:r>
            <a:r>
              <a:rPr lang="en-US" dirty="0"/>
              <a:t> </a:t>
            </a:r>
            <a:r>
              <a:rPr lang="en-US" b="1" dirty="0" err="1">
                <a:solidFill>
                  <a:srgbClr val="FFFF00"/>
                </a:solidFill>
              </a:rPr>
              <a:t>centerx</a:t>
            </a:r>
            <a:r>
              <a:rPr lang="en-US" dirty="0"/>
              <a:t>, </a:t>
            </a:r>
            <a:r>
              <a:rPr lang="en-US" dirty="0" err="1"/>
              <a:t>GLdouble</a:t>
            </a:r>
            <a:r>
              <a:rPr lang="en-US" dirty="0"/>
              <a:t> </a:t>
            </a:r>
            <a:r>
              <a:rPr lang="en-US" b="1" dirty="0" err="1">
                <a:solidFill>
                  <a:srgbClr val="FFFF00"/>
                </a:solidFill>
              </a:rPr>
              <a:t>centery</a:t>
            </a:r>
            <a:r>
              <a:rPr lang="en-US" dirty="0"/>
              <a:t>, </a:t>
            </a:r>
            <a:r>
              <a:rPr lang="en-US" dirty="0" err="1"/>
              <a:t>GLdouble</a:t>
            </a:r>
            <a:r>
              <a:rPr lang="en-US" dirty="0"/>
              <a:t> </a:t>
            </a:r>
            <a:r>
              <a:rPr lang="en-US" b="1" dirty="0" err="1">
                <a:solidFill>
                  <a:srgbClr val="FFFF00"/>
                </a:solidFill>
              </a:rPr>
              <a:t>centerz</a:t>
            </a:r>
            <a:r>
              <a:rPr lang="en-US" dirty="0"/>
              <a:t>, </a:t>
            </a:r>
          </a:p>
          <a:p>
            <a:r>
              <a:rPr lang="en-US" dirty="0"/>
              <a:t>                                           </a:t>
            </a:r>
            <a:r>
              <a:rPr lang="en-US" dirty="0" err="1"/>
              <a:t>GLdouble</a:t>
            </a:r>
            <a:r>
              <a:rPr lang="en-US" dirty="0"/>
              <a:t> </a:t>
            </a:r>
            <a:r>
              <a:rPr lang="en-US" b="1" dirty="0" err="1">
                <a:solidFill>
                  <a:srgbClr val="FFFF00"/>
                </a:solidFill>
              </a:rPr>
              <a:t>upx</a:t>
            </a:r>
            <a:r>
              <a:rPr lang="en-US" dirty="0"/>
              <a:t>, </a:t>
            </a:r>
            <a:r>
              <a:rPr lang="en-US" dirty="0" err="1"/>
              <a:t>GLdouble</a:t>
            </a:r>
            <a:r>
              <a:rPr lang="en-US" dirty="0"/>
              <a:t> </a:t>
            </a:r>
            <a:r>
              <a:rPr lang="en-US" b="1" dirty="0" err="1">
                <a:solidFill>
                  <a:srgbClr val="FFFF00"/>
                </a:solidFill>
              </a:rPr>
              <a:t>upy</a:t>
            </a:r>
            <a:r>
              <a:rPr lang="en-US" dirty="0"/>
              <a:t>, </a:t>
            </a:r>
            <a:r>
              <a:rPr lang="en-US" dirty="0" err="1"/>
              <a:t>GLdouble</a:t>
            </a:r>
            <a:r>
              <a:rPr lang="en-US" dirty="0"/>
              <a:t> </a:t>
            </a:r>
            <a:r>
              <a:rPr lang="en-US" b="1" dirty="0" err="1">
                <a:solidFill>
                  <a:srgbClr val="FFFF00"/>
                </a:solidFill>
              </a:rPr>
              <a:t>upz</a:t>
            </a:r>
            <a:r>
              <a:rPr lang="en-US" sz="2000" dirty="0"/>
              <a:t> );</a:t>
            </a:r>
            <a:endParaRPr 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4" name="Subtitle 3"/>
          <p:cNvSpPr>
            <a:spLocks noGrp="1"/>
          </p:cNvSpPr>
          <p:nvPr>
            <p:ph type="subTitle" idx="1"/>
          </p:nvPr>
        </p:nvSpPr>
        <p:spPr>
          <a:xfrm>
            <a:off x="457200" y="3065740"/>
            <a:ext cx="8458464" cy="3563660"/>
          </a:xfrm>
        </p:spPr>
        <p:txBody>
          <a:bodyPr/>
          <a:lstStyle/>
          <a:p>
            <a:pPr algn="l"/>
            <a:r>
              <a:rPr lang="en-US" sz="2000" dirty="0"/>
              <a:t>void </a:t>
            </a:r>
            <a:r>
              <a:rPr lang="en-US" sz="2000" dirty="0" err="1"/>
              <a:t>glOrtho</a:t>
            </a:r>
            <a:r>
              <a:rPr lang="en-US" sz="2000" dirty="0"/>
              <a:t>(</a:t>
            </a:r>
            <a:r>
              <a:rPr lang="en-US" sz="2000" dirty="0" err="1"/>
              <a:t>GLdouble</a:t>
            </a:r>
            <a:r>
              <a:rPr lang="en-US" sz="2000" dirty="0"/>
              <a:t> left, </a:t>
            </a:r>
            <a:r>
              <a:rPr lang="en-US" sz="2000" dirty="0" err="1"/>
              <a:t>GLdouble</a:t>
            </a:r>
            <a:r>
              <a:rPr lang="en-US" sz="2000" dirty="0"/>
              <a:t> right, </a:t>
            </a:r>
            <a:r>
              <a:rPr lang="en-US" sz="2000" dirty="0" err="1"/>
              <a:t>GLdouble</a:t>
            </a:r>
            <a:r>
              <a:rPr lang="en-US" sz="2000" dirty="0"/>
              <a:t> bottom, </a:t>
            </a:r>
            <a:r>
              <a:rPr lang="en-US" sz="2000" dirty="0" err="1"/>
              <a:t>GLdouble</a:t>
            </a:r>
            <a:r>
              <a:rPr lang="en-US" sz="2000" dirty="0"/>
              <a:t> top, </a:t>
            </a:r>
            <a:r>
              <a:rPr lang="en-US" sz="2000" dirty="0" err="1"/>
              <a:t>GLdouble</a:t>
            </a:r>
            <a:r>
              <a:rPr lang="en-US" sz="2000" dirty="0"/>
              <a:t> near, </a:t>
            </a:r>
            <a:r>
              <a:rPr lang="en-US" sz="2000" dirty="0" err="1"/>
              <a:t>GLdouble</a:t>
            </a:r>
            <a:r>
              <a:rPr lang="en-US" sz="2000" dirty="0"/>
              <a:t> far); </a:t>
            </a:r>
          </a:p>
          <a:p>
            <a:pPr algn="l"/>
            <a:endParaRPr lang="en-US" sz="1800" dirty="0"/>
          </a:p>
          <a:p>
            <a:pPr algn="l"/>
            <a:r>
              <a:rPr lang="en-US" sz="1800" dirty="0"/>
              <a:t>Creates a matrix for an orthographic parallel viewing volume and multiplies the current matrix by it. </a:t>
            </a:r>
          </a:p>
          <a:p>
            <a:pPr algn="l"/>
            <a:r>
              <a:rPr lang="en-US" sz="1800" dirty="0"/>
              <a:t>(left, bottom, –near) and (right, top, –near) are points on the near clipping plane that are mapped to the lower left and upper right corners of the viewport window, respectively. </a:t>
            </a:r>
          </a:p>
          <a:p>
            <a:pPr algn="l"/>
            <a:r>
              <a:rPr lang="en-US" sz="1800" dirty="0"/>
              <a:t>(left, bottom, –far) and (right, top, –far) are points on the far clipping plane that are mapped to the same respective corners of the viewport. </a:t>
            </a:r>
          </a:p>
          <a:p>
            <a:pPr algn="l"/>
            <a:r>
              <a:rPr lang="en-US" sz="1800" dirty="0"/>
              <a:t>Both near and far may be positive, negative, or even set to zero. Near and far should not be the same value.</a:t>
            </a:r>
          </a:p>
        </p:txBody>
      </p:sp>
      <p:pic>
        <p:nvPicPr>
          <p:cNvPr id="6" name="Picture 5">
            <a:extLst>
              <a:ext uri="{FF2B5EF4-FFF2-40B4-BE49-F238E27FC236}">
                <a16:creationId xmlns:a16="http://schemas.microsoft.com/office/drawing/2014/main" id="{C19FA1E4-E24C-4D0C-B91B-2B3A4B82AF27}"/>
              </a:ext>
            </a:extLst>
          </p:cNvPr>
          <p:cNvPicPr>
            <a:picLocks noChangeAspect="1"/>
          </p:cNvPicPr>
          <p:nvPr/>
        </p:nvPicPr>
        <p:blipFill>
          <a:blip r:embed="rId2"/>
          <a:stretch>
            <a:fillRect/>
          </a:stretch>
        </p:blipFill>
        <p:spPr>
          <a:xfrm>
            <a:off x="152400" y="762000"/>
            <a:ext cx="3589331" cy="20728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AE9CB-3C9C-46C6-98BB-C4AB2F03EAC1}"/>
              </a:ext>
            </a:extLst>
          </p:cNvPr>
          <p:cNvSpPr>
            <a:spLocks noGrp="1"/>
          </p:cNvSpPr>
          <p:nvPr>
            <p:ph idx="1"/>
          </p:nvPr>
        </p:nvSpPr>
        <p:spPr/>
        <p:txBody>
          <a:bodyPr/>
          <a:lstStyle/>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err="1"/>
              <a:t>gluLookAt</a:t>
            </a:r>
            <a:r>
              <a:rPr lang="en-US" sz="2400" dirty="0"/>
              <a:t>(4.0, 2.0, 1.0, 2.0, 4.0, -3.0, 2.0, 2.0, -1.0)</a:t>
            </a:r>
          </a:p>
          <a:p>
            <a:pPr marL="0" indent="0">
              <a:buNone/>
            </a:pPr>
            <a:r>
              <a:rPr lang="en-US" sz="2400" dirty="0"/>
              <a:t>The camera position (</a:t>
            </a:r>
            <a:r>
              <a:rPr lang="en-US" sz="2400" dirty="0" err="1"/>
              <a:t>eyex</a:t>
            </a:r>
            <a:r>
              <a:rPr lang="en-US" sz="2400" dirty="0"/>
              <a:t>, </a:t>
            </a:r>
            <a:r>
              <a:rPr lang="en-US" sz="2400" dirty="0" err="1"/>
              <a:t>eyey</a:t>
            </a:r>
            <a:r>
              <a:rPr lang="en-US" sz="2400" dirty="0"/>
              <a:t>, </a:t>
            </a:r>
            <a:r>
              <a:rPr lang="en-US" sz="2400" dirty="0" err="1"/>
              <a:t>eyez</a:t>
            </a:r>
            <a:r>
              <a:rPr lang="en-US" sz="2400" dirty="0"/>
              <a:t>) is at (4, 2, 1). </a:t>
            </a:r>
          </a:p>
          <a:p>
            <a:pPr marL="0" indent="0">
              <a:buNone/>
            </a:pPr>
            <a:r>
              <a:rPr lang="en-US" sz="2400" dirty="0"/>
              <a:t>The camera is looking right at the model, so the reference point is at (2, 4, –3). </a:t>
            </a:r>
          </a:p>
          <a:p>
            <a:pPr marL="0" indent="0">
              <a:buNone/>
            </a:pPr>
            <a:r>
              <a:rPr lang="en-US" sz="2400" dirty="0"/>
              <a:t>An orientation vector of (2, 2, –1) is chosen to rotate the viewpoint to this 45-degree angle</a:t>
            </a:r>
          </a:p>
        </p:txBody>
      </p:sp>
      <p:pic>
        <p:nvPicPr>
          <p:cNvPr id="5" name="Picture 4">
            <a:extLst>
              <a:ext uri="{FF2B5EF4-FFF2-40B4-BE49-F238E27FC236}">
                <a16:creationId xmlns:a16="http://schemas.microsoft.com/office/drawing/2014/main" id="{B07FD3A0-6AB2-4E31-827E-C667BCC5CB5A}"/>
              </a:ext>
            </a:extLst>
          </p:cNvPr>
          <p:cNvPicPr>
            <a:picLocks noChangeAspect="1"/>
          </p:cNvPicPr>
          <p:nvPr/>
        </p:nvPicPr>
        <p:blipFill>
          <a:blip r:embed="rId2"/>
          <a:stretch>
            <a:fillRect/>
          </a:stretch>
        </p:blipFill>
        <p:spPr>
          <a:xfrm>
            <a:off x="228600" y="952272"/>
            <a:ext cx="3322608" cy="2629128"/>
          </a:xfrm>
          <a:prstGeom prst="rect">
            <a:avLst/>
          </a:prstGeom>
        </p:spPr>
      </p:pic>
    </p:spTree>
    <p:extLst>
      <p:ext uri="{BB962C8B-B14F-4D97-AF65-F5344CB8AC3E}">
        <p14:creationId xmlns:p14="http://schemas.microsoft.com/office/powerpoint/2010/main" val="1321975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lstStyle/>
          <a:p>
            <a:r>
              <a:rPr lang="en-US" b="1" dirty="0"/>
              <a:t>OPENGL</a:t>
            </a:r>
            <a:br>
              <a:rPr lang="en-US" b="1" dirty="0"/>
            </a:br>
            <a:endParaRPr lang="en-US" dirty="0"/>
          </a:p>
        </p:txBody>
      </p:sp>
      <p:sp>
        <p:nvSpPr>
          <p:cNvPr id="4" name="Subtitle 3"/>
          <p:cNvSpPr>
            <a:spLocks noGrp="1"/>
          </p:cNvSpPr>
          <p:nvPr>
            <p:ph type="subTitle" idx="1"/>
          </p:nvPr>
        </p:nvSpPr>
        <p:spPr>
          <a:xfrm>
            <a:off x="457200" y="3065740"/>
            <a:ext cx="8458464" cy="3563660"/>
          </a:xfrm>
        </p:spPr>
        <p:txBody>
          <a:bodyPr/>
          <a:lstStyle/>
          <a:p>
            <a:pPr algn="l"/>
            <a:r>
              <a:rPr lang="en-US" sz="2000" dirty="0"/>
              <a:t>void </a:t>
            </a:r>
            <a:r>
              <a:rPr lang="en-US" sz="2000" dirty="0" err="1"/>
              <a:t>gluPerspective</a:t>
            </a:r>
            <a:r>
              <a:rPr lang="en-US" sz="1800" dirty="0"/>
              <a:t>(</a:t>
            </a:r>
            <a:r>
              <a:rPr lang="en-US" sz="1800" dirty="0" err="1"/>
              <a:t>GLdouble</a:t>
            </a:r>
            <a:r>
              <a:rPr lang="en-US" sz="1800" dirty="0"/>
              <a:t> </a:t>
            </a:r>
            <a:r>
              <a:rPr lang="en-US" sz="1800" b="1" dirty="0" err="1">
                <a:solidFill>
                  <a:srgbClr val="FFFF00"/>
                </a:solidFill>
              </a:rPr>
              <a:t>fovy</a:t>
            </a:r>
            <a:r>
              <a:rPr lang="en-US" sz="1800" dirty="0"/>
              <a:t>, </a:t>
            </a:r>
            <a:r>
              <a:rPr lang="en-US" sz="1800" dirty="0" err="1"/>
              <a:t>GLdouble</a:t>
            </a:r>
            <a:r>
              <a:rPr lang="en-US" sz="1800" dirty="0"/>
              <a:t> </a:t>
            </a:r>
            <a:r>
              <a:rPr lang="en-US" sz="1800" b="1" dirty="0">
                <a:solidFill>
                  <a:srgbClr val="FFFF00"/>
                </a:solidFill>
              </a:rPr>
              <a:t>aspect</a:t>
            </a:r>
            <a:r>
              <a:rPr lang="en-US" sz="1800" dirty="0"/>
              <a:t>, </a:t>
            </a:r>
            <a:r>
              <a:rPr lang="en-US" sz="1800" dirty="0" err="1"/>
              <a:t>GLdouble</a:t>
            </a:r>
            <a:r>
              <a:rPr lang="en-US" sz="1800" dirty="0"/>
              <a:t> </a:t>
            </a:r>
            <a:r>
              <a:rPr lang="en-US" sz="1800" b="1" dirty="0">
                <a:solidFill>
                  <a:srgbClr val="FFFF00"/>
                </a:solidFill>
              </a:rPr>
              <a:t>near</a:t>
            </a:r>
            <a:r>
              <a:rPr lang="en-US" sz="1800" dirty="0"/>
              <a:t>, </a:t>
            </a:r>
            <a:r>
              <a:rPr lang="en-US" sz="1800" dirty="0" err="1"/>
              <a:t>GLdouble</a:t>
            </a:r>
            <a:r>
              <a:rPr lang="en-US" sz="1800" dirty="0"/>
              <a:t> </a:t>
            </a:r>
            <a:r>
              <a:rPr lang="en-US" sz="1800" b="1" dirty="0">
                <a:solidFill>
                  <a:srgbClr val="FFFF00"/>
                </a:solidFill>
              </a:rPr>
              <a:t>far</a:t>
            </a:r>
            <a:r>
              <a:rPr lang="en-US" sz="1800" dirty="0"/>
              <a:t>); </a:t>
            </a:r>
            <a:endParaRPr lang="en-US" sz="2000" dirty="0"/>
          </a:p>
          <a:p>
            <a:pPr algn="l"/>
            <a:endParaRPr lang="en-US" sz="2000" dirty="0"/>
          </a:p>
          <a:p>
            <a:pPr algn="l"/>
            <a:r>
              <a:rPr lang="en-US" sz="1800" dirty="0"/>
              <a:t>Creates a matrix for a symmetric perspective-view frustum and multiplies the current matrix by it.</a:t>
            </a:r>
          </a:p>
          <a:p>
            <a:pPr algn="l"/>
            <a:r>
              <a:rPr lang="en-US" sz="1800" dirty="0" err="1"/>
              <a:t>fovy</a:t>
            </a:r>
            <a:r>
              <a:rPr lang="en-US" sz="1800" dirty="0"/>
              <a:t> is the angle of the field of view in the </a:t>
            </a:r>
            <a:r>
              <a:rPr lang="en-US" sz="1800" dirty="0" err="1"/>
              <a:t>yz</a:t>
            </a:r>
            <a:r>
              <a:rPr lang="en-US" sz="1800" dirty="0"/>
              <a:t>-plane; its value must be in the range [0.0, 180.0]. </a:t>
            </a:r>
          </a:p>
          <a:p>
            <a:pPr algn="l"/>
            <a:r>
              <a:rPr lang="en-US" sz="1800" dirty="0"/>
              <a:t>aspect is the aspect ratio of the frustum, its width divided by its height. </a:t>
            </a:r>
          </a:p>
          <a:p>
            <a:pPr algn="l"/>
            <a:r>
              <a:rPr lang="en-US" sz="1800" dirty="0"/>
              <a:t>near and far values are the distances between the viewpoint and the clipping planes, along the negative z-axis. </a:t>
            </a:r>
          </a:p>
          <a:p>
            <a:pPr algn="l"/>
            <a:r>
              <a:rPr lang="en-US" sz="1800" dirty="0"/>
              <a:t>They should always be positive.</a:t>
            </a:r>
          </a:p>
        </p:txBody>
      </p:sp>
      <p:pic>
        <p:nvPicPr>
          <p:cNvPr id="3" name="Picture 2">
            <a:extLst>
              <a:ext uri="{FF2B5EF4-FFF2-40B4-BE49-F238E27FC236}">
                <a16:creationId xmlns:a16="http://schemas.microsoft.com/office/drawing/2014/main" id="{B7B6CD09-81FE-4BD2-8ED2-B10CF34227B4}"/>
              </a:ext>
            </a:extLst>
          </p:cNvPr>
          <p:cNvPicPr>
            <a:picLocks noChangeAspect="1"/>
          </p:cNvPicPr>
          <p:nvPr/>
        </p:nvPicPr>
        <p:blipFill>
          <a:blip r:embed="rId2"/>
          <a:stretch>
            <a:fillRect/>
          </a:stretch>
        </p:blipFill>
        <p:spPr>
          <a:xfrm>
            <a:off x="5575852" y="457200"/>
            <a:ext cx="3550277" cy="2405313"/>
          </a:xfrm>
          <a:prstGeom prst="rect">
            <a:avLst/>
          </a:prstGeom>
        </p:spPr>
      </p:pic>
      <p:pic>
        <p:nvPicPr>
          <p:cNvPr id="6" name="Picture 5">
            <a:extLst>
              <a:ext uri="{FF2B5EF4-FFF2-40B4-BE49-F238E27FC236}">
                <a16:creationId xmlns:a16="http://schemas.microsoft.com/office/drawing/2014/main" id="{F73BFA3E-BE62-4ACD-A62F-72CF00959D7A}"/>
              </a:ext>
            </a:extLst>
          </p:cNvPr>
          <p:cNvPicPr>
            <a:picLocks noChangeAspect="1"/>
          </p:cNvPicPr>
          <p:nvPr/>
        </p:nvPicPr>
        <p:blipFill>
          <a:blip r:embed="rId3"/>
          <a:stretch>
            <a:fillRect/>
          </a:stretch>
        </p:blipFill>
        <p:spPr>
          <a:xfrm>
            <a:off x="0" y="455069"/>
            <a:ext cx="3509077" cy="2405313"/>
          </a:xfrm>
          <a:prstGeom prst="rect">
            <a:avLst/>
          </a:prstGeom>
        </p:spPr>
      </p:pic>
    </p:spTree>
    <p:extLst>
      <p:ext uri="{BB962C8B-B14F-4D97-AF65-F5344CB8AC3E}">
        <p14:creationId xmlns:p14="http://schemas.microsoft.com/office/powerpoint/2010/main" val="2357126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B3AA4-776A-4EC2-A2ED-233857184D0C}"/>
              </a:ext>
            </a:extLst>
          </p:cNvPr>
          <p:cNvSpPr>
            <a:spLocks noGrp="1"/>
          </p:cNvSpPr>
          <p:nvPr>
            <p:ph type="title"/>
          </p:nvPr>
        </p:nvSpPr>
        <p:spPr/>
        <p:txBody>
          <a:bodyPr/>
          <a:lstStyle/>
          <a:p>
            <a:r>
              <a:rPr lang="en-US" dirty="0"/>
              <a:t>Light</a:t>
            </a:r>
          </a:p>
        </p:txBody>
      </p:sp>
      <p:sp>
        <p:nvSpPr>
          <p:cNvPr id="4" name="Rectangle 1">
            <a:extLst>
              <a:ext uri="{FF2B5EF4-FFF2-40B4-BE49-F238E27FC236}">
                <a16:creationId xmlns:a16="http://schemas.microsoft.com/office/drawing/2014/main" id="{F93C574C-B490-4B27-BA68-FFEF26BDFD8F}"/>
              </a:ext>
            </a:extLst>
          </p:cNvPr>
          <p:cNvSpPr>
            <a:spLocks noGrp="1" noChangeArrowheads="1"/>
          </p:cNvSpPr>
          <p:nvPr>
            <p:ph idx="1"/>
          </p:nvPr>
        </p:nvSpPr>
        <p:spPr bwMode="auto">
          <a:xfrm>
            <a:off x="457200" y="1524092"/>
            <a:ext cx="6751848"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indent="457200" eaLnBrk="0" fontAlgn="base" hangingPunct="0">
              <a:spcBef>
                <a:spcPct val="0"/>
              </a:spcBef>
              <a:spcAft>
                <a:spcPct val="0"/>
              </a:spcAft>
              <a:tabLst>
                <a:tab pos="914400" algn="l"/>
              </a:tabLst>
              <a:defRPr>
                <a:solidFill>
                  <a:schemeClr val="tx1"/>
                </a:solidFill>
                <a:latin typeface="Arial" panose="020B0604020202020204" pitchFamily="34" charset="0"/>
              </a:defRPr>
            </a:lvl1pPr>
            <a:lvl2pPr eaLnBrk="0" fontAlgn="base" hangingPunct="0">
              <a:spcBef>
                <a:spcPct val="0"/>
              </a:spcBef>
              <a:spcAft>
                <a:spcPct val="0"/>
              </a:spcAft>
              <a:tabLst>
                <a:tab pos="914400" algn="l"/>
              </a:tabLst>
              <a:defRPr>
                <a:solidFill>
                  <a:schemeClr val="tx1"/>
                </a:solidFill>
                <a:latin typeface="Arial" panose="020B0604020202020204" pitchFamily="34" charset="0"/>
              </a:defRPr>
            </a:lvl2pPr>
            <a:lvl3pPr eaLnBrk="0" fontAlgn="base" hangingPunct="0">
              <a:spcBef>
                <a:spcPct val="0"/>
              </a:spcBef>
              <a:spcAft>
                <a:spcPct val="0"/>
              </a:spcAft>
              <a:tabLst>
                <a:tab pos="914400" algn="l"/>
              </a:tabLst>
              <a:defRPr>
                <a:solidFill>
                  <a:schemeClr val="tx1"/>
                </a:solidFill>
                <a:latin typeface="Arial" panose="020B0604020202020204" pitchFamily="34" charset="0"/>
              </a:defRPr>
            </a:lvl3pPr>
            <a:lvl4pPr eaLnBrk="0" fontAlgn="base" hangingPunct="0">
              <a:spcBef>
                <a:spcPct val="0"/>
              </a:spcBef>
              <a:spcAft>
                <a:spcPct val="0"/>
              </a:spcAft>
              <a:tabLst>
                <a:tab pos="914400" algn="l"/>
              </a:tabLst>
              <a:defRPr>
                <a:solidFill>
                  <a:schemeClr val="tx1"/>
                </a:solidFill>
                <a:latin typeface="Arial" panose="020B0604020202020204" pitchFamily="34" charset="0"/>
              </a:defRPr>
            </a:lvl4pPr>
            <a:lvl5pPr eaLnBrk="0" fontAlgn="base" hangingPunct="0">
              <a:spcBef>
                <a:spcPct val="0"/>
              </a:spcBef>
              <a:spcAft>
                <a:spcPct val="0"/>
              </a:spcAft>
              <a:tabLst>
                <a:tab pos="914400" algn="l"/>
              </a:tabLst>
              <a:defRPr>
                <a:solidFill>
                  <a:schemeClr val="tx1"/>
                </a:solidFill>
                <a:latin typeface="Arial" panose="020B0604020202020204" pitchFamily="34" charset="0"/>
              </a:defRPr>
            </a:lvl5pPr>
            <a:lvl6pPr eaLnBrk="0" fontAlgn="base" hangingPunct="0">
              <a:spcBef>
                <a:spcPct val="0"/>
              </a:spcBef>
              <a:spcAft>
                <a:spcPct val="0"/>
              </a:spcAft>
              <a:tabLst>
                <a:tab pos="914400" algn="l"/>
              </a:tabLst>
              <a:defRPr>
                <a:solidFill>
                  <a:schemeClr val="tx1"/>
                </a:solidFill>
                <a:latin typeface="Arial" panose="020B0604020202020204" pitchFamily="34" charset="0"/>
              </a:defRPr>
            </a:lvl6pPr>
            <a:lvl7pPr eaLnBrk="0" fontAlgn="base" hangingPunct="0">
              <a:spcBef>
                <a:spcPct val="0"/>
              </a:spcBef>
              <a:spcAft>
                <a:spcPct val="0"/>
              </a:spcAft>
              <a:tabLst>
                <a:tab pos="914400" algn="l"/>
              </a:tabLst>
              <a:defRPr>
                <a:solidFill>
                  <a:schemeClr val="tx1"/>
                </a:solidFill>
                <a:latin typeface="Arial" panose="020B0604020202020204" pitchFamily="34" charset="0"/>
              </a:defRPr>
            </a:lvl7pPr>
            <a:lvl8pPr eaLnBrk="0" fontAlgn="base" hangingPunct="0">
              <a:spcBef>
                <a:spcPct val="0"/>
              </a:spcBef>
              <a:spcAft>
                <a:spcPct val="0"/>
              </a:spcAft>
              <a:tabLst>
                <a:tab pos="914400" algn="l"/>
              </a:tabLst>
              <a:defRPr>
                <a:solidFill>
                  <a:schemeClr val="tx1"/>
                </a:solidFill>
                <a:latin typeface="Arial" panose="020B0604020202020204" pitchFamily="34" charset="0"/>
              </a:defRPr>
            </a:lvl8pPr>
            <a:lvl9pPr eaLnBrk="0" fontAlgn="base" hangingPunct="0">
              <a:spcBef>
                <a:spcPct val="0"/>
              </a:spcBef>
              <a:spcAft>
                <a:spcPct val="0"/>
              </a:spcAft>
              <a:tabLst>
                <a:tab pos="914400" algn="l"/>
              </a:tabLst>
              <a:defRPr>
                <a:solidFill>
                  <a:schemeClr val="tx1"/>
                </a:solidFill>
                <a:latin typeface="Arial" panose="020B0604020202020204" pitchFamily="34" charset="0"/>
              </a:defRPr>
            </a:lvl9pPr>
          </a:lstStyle>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lang="en-US" altLang="en-US" sz="2400" dirty="0" err="1">
                <a:latin typeface="+mn-lt"/>
              </a:rPr>
              <a:t>glLightfv</a:t>
            </a:r>
            <a:r>
              <a:rPr lang="en-US" altLang="en-US" sz="2400" dirty="0">
                <a:latin typeface="+mn-lt"/>
              </a:rPr>
              <a:t>(GL_LIGHT0,GL_POSITION,position):</a:t>
            </a:r>
          </a:p>
          <a:p>
            <a:pPr marL="0" marR="0" lvl="0" indent="0" algn="l" defTabSz="914400" rtl="0" eaLnBrk="0" fontAlgn="base" latinLnBrk="0" hangingPunct="0">
              <a:lnSpc>
                <a:spcPct val="100000"/>
              </a:lnSpc>
              <a:spcBef>
                <a:spcPct val="0"/>
              </a:spcBef>
              <a:spcAft>
                <a:spcPct val="0"/>
              </a:spcAft>
              <a:buClrTx/>
              <a:buSzTx/>
              <a:buNone/>
              <a:tabLst>
                <a:tab pos="914400" algn="l"/>
              </a:tabLst>
            </a:pPr>
            <a:endPar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tab pos="914400" algn="l"/>
              </a:tabLst>
            </a:pP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Set light-source parameters.</a:t>
            </a:r>
            <a:endParaRPr lang="en-US" altLang="en-US" sz="1600" dirty="0">
              <a:latin typeface="Arial Unicode MS"/>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tab pos="914400" algn="l"/>
              </a:tabLst>
            </a:pPr>
            <a:r>
              <a:rPr kumimoji="0" lang="en-US" altLang="en-US" sz="1600" b="0" i="0" u="none" strike="noStrike" cap="none" normalizeH="0" baseline="0" dirty="0">
                <a:ln>
                  <a:noFill/>
                </a:ln>
                <a:solidFill>
                  <a:schemeClr val="tx1"/>
                </a:solidFill>
                <a:effectLst/>
                <a:latin typeface="Arial Unicode MS"/>
                <a:ea typeface="Courier New" panose="02070309020205020404" pitchFamily="49" charset="0"/>
              </a:rPr>
              <a:t>void </a:t>
            </a:r>
            <a:r>
              <a:rPr kumimoji="0" lang="en-US" altLang="en-US" sz="1600" b="0" i="0" u="none" strike="noStrike" cap="none" normalizeH="0" baseline="0" dirty="0" err="1">
                <a:ln>
                  <a:noFill/>
                </a:ln>
                <a:solidFill>
                  <a:schemeClr val="tx1"/>
                </a:solidFill>
                <a:effectLst/>
                <a:latin typeface="Arial Unicode MS"/>
                <a:ea typeface="Courier New" panose="02070309020205020404" pitchFamily="49" charset="0"/>
              </a:rPr>
              <a:t>glLightfv</a:t>
            </a:r>
            <a:r>
              <a:rPr kumimoji="0" lang="en-US" altLang="en-US" sz="1600" b="0" i="0" u="none" strike="noStrike" cap="none" normalizeH="0" baseline="0" dirty="0">
                <a:ln>
                  <a:noFill/>
                </a:ln>
                <a:solidFill>
                  <a:schemeClr val="tx1"/>
                </a:solidFill>
                <a:effectLst/>
                <a:latin typeface="Arial Unicode MS"/>
                <a:ea typeface="Courier New" panose="02070309020205020404" pitchFamily="49" charset="0"/>
              </a:rPr>
              <a:t>(  </a:t>
            </a:r>
            <a:r>
              <a:rPr kumimoji="0" lang="en-US" altLang="en-US" sz="1600" b="0" i="0" u="none" strike="noStrike" cap="none" normalizeH="0" baseline="0" dirty="0" err="1">
                <a:ln>
                  <a:noFill/>
                </a:ln>
                <a:solidFill>
                  <a:schemeClr val="tx1"/>
                </a:solidFill>
                <a:effectLst/>
                <a:latin typeface="Arial Unicode MS"/>
                <a:ea typeface="Courier New" panose="02070309020205020404" pitchFamily="49" charset="0"/>
              </a:rPr>
              <a:t>GLenum</a:t>
            </a:r>
            <a:r>
              <a:rPr kumimoji="0" lang="en-US" altLang="en-US" sz="1600" b="0" i="1" u="none" strike="noStrike" cap="none" normalizeH="0" baseline="0" dirty="0">
                <a:ln>
                  <a:noFill/>
                </a:ln>
                <a:solidFill>
                  <a:schemeClr val="tx1"/>
                </a:solidFill>
                <a:effectLst/>
                <a:latin typeface="Arial Unicode MS"/>
                <a:ea typeface="Courier New" panose="02070309020205020404" pitchFamily="49" charset="0"/>
              </a:rPr>
              <a:t> </a:t>
            </a:r>
            <a:r>
              <a:rPr kumimoji="0" lang="en-US" altLang="en-US" sz="1600" b="1" strike="noStrike" cap="none" normalizeH="0" baseline="0" dirty="0">
                <a:ln>
                  <a:noFill/>
                </a:ln>
                <a:solidFill>
                  <a:srgbClr val="FFFF00"/>
                </a:solidFill>
                <a:effectLst/>
                <a:latin typeface="Arial Unicode MS"/>
                <a:ea typeface="Courier New" panose="02070309020205020404" pitchFamily="49" charset="0"/>
              </a:rPr>
              <a:t>light</a:t>
            </a:r>
            <a:r>
              <a:rPr kumimoji="0" lang="en-US" altLang="en-US" sz="1600" b="0" i="0" u="none" strike="noStrike" cap="none" normalizeH="0" baseline="0" dirty="0">
                <a:ln>
                  <a:noFill/>
                </a:ln>
                <a:solidFill>
                  <a:schemeClr val="tx1"/>
                </a:solidFill>
                <a:effectLst/>
                <a:latin typeface="Arial Unicode MS"/>
                <a:ea typeface="Courier New" panose="02070309020205020404" pitchFamily="49" charset="0"/>
              </a:rPr>
              <a:t>,  </a:t>
            </a:r>
            <a:r>
              <a:rPr kumimoji="0" lang="en-US" altLang="en-US" sz="1600" b="0" i="0" u="none" strike="noStrike" cap="none" normalizeH="0" baseline="0" dirty="0" err="1">
                <a:ln>
                  <a:noFill/>
                </a:ln>
                <a:solidFill>
                  <a:schemeClr val="tx1"/>
                </a:solidFill>
                <a:effectLst/>
                <a:latin typeface="Arial Unicode MS"/>
                <a:ea typeface="Courier New" panose="02070309020205020404" pitchFamily="49" charset="0"/>
              </a:rPr>
              <a:t>GLenum</a:t>
            </a:r>
            <a:r>
              <a:rPr kumimoji="0" lang="en-US" altLang="en-US" sz="1600" b="0" i="1" u="none" strike="noStrike" cap="none" normalizeH="0" baseline="0" dirty="0">
                <a:ln>
                  <a:noFill/>
                </a:ln>
                <a:solidFill>
                  <a:schemeClr val="tx1"/>
                </a:solidFill>
                <a:effectLst/>
                <a:latin typeface="Arial Unicode MS"/>
                <a:ea typeface="Courier New" panose="02070309020205020404" pitchFamily="49" charset="0"/>
              </a:rPr>
              <a:t> </a:t>
            </a:r>
            <a:r>
              <a:rPr kumimoji="0" lang="en-US" altLang="en-US" sz="1600" b="1" strike="noStrike" cap="none" normalizeH="0" baseline="0" dirty="0" err="1">
                <a:ln>
                  <a:noFill/>
                </a:ln>
                <a:solidFill>
                  <a:srgbClr val="FFFF00"/>
                </a:solidFill>
                <a:effectLst/>
                <a:latin typeface="Arial Unicode MS"/>
                <a:ea typeface="Courier New" panose="02070309020205020404" pitchFamily="49" charset="0"/>
              </a:rPr>
              <a:t>pname</a:t>
            </a:r>
            <a:r>
              <a:rPr kumimoji="0" lang="en-US" altLang="en-US" sz="1600" b="0" i="0" u="none" strike="noStrike" cap="none" normalizeH="0" baseline="0" dirty="0">
                <a:ln>
                  <a:noFill/>
                </a:ln>
                <a:solidFill>
                  <a:schemeClr val="tx1"/>
                </a:solidFill>
                <a:effectLst/>
                <a:latin typeface="Arial Unicode MS"/>
                <a:ea typeface="Courier New" panose="02070309020205020404" pitchFamily="49" charset="0"/>
              </a:rPr>
              <a:t>,  const </a:t>
            </a:r>
            <a:r>
              <a:rPr kumimoji="0" lang="en-US" altLang="en-US" sz="1600" b="0" i="0" u="none" strike="noStrike" cap="none" normalizeH="0" baseline="0" dirty="0" err="1">
                <a:ln>
                  <a:noFill/>
                </a:ln>
                <a:solidFill>
                  <a:schemeClr val="tx1"/>
                </a:solidFill>
                <a:effectLst/>
                <a:latin typeface="Arial Unicode MS"/>
                <a:ea typeface="Courier New" panose="02070309020205020404" pitchFamily="49" charset="0"/>
              </a:rPr>
              <a:t>GLfloat</a:t>
            </a:r>
            <a:r>
              <a:rPr kumimoji="0" lang="en-US" altLang="en-US" sz="1600" b="0" i="1" u="none" strike="noStrike" cap="none" normalizeH="0" baseline="0" dirty="0">
                <a:ln>
                  <a:noFill/>
                </a:ln>
                <a:solidFill>
                  <a:schemeClr val="tx1"/>
                </a:solidFill>
                <a:effectLst/>
                <a:latin typeface="Arial Unicode MS"/>
                <a:ea typeface="Courier New" panose="02070309020205020404" pitchFamily="49" charset="0"/>
              </a:rPr>
              <a:t> *</a:t>
            </a:r>
            <a:r>
              <a:rPr kumimoji="0" lang="en-US" altLang="en-US" sz="1600" b="1" strike="noStrike" cap="none" normalizeH="0" baseline="0" dirty="0">
                <a:ln>
                  <a:noFill/>
                </a:ln>
                <a:solidFill>
                  <a:srgbClr val="FFFF00"/>
                </a:solidFill>
                <a:effectLst/>
                <a:latin typeface="Arial Unicode MS"/>
                <a:ea typeface="Courier New" panose="02070309020205020404" pitchFamily="49" charset="0"/>
              </a:rPr>
              <a:t>params</a:t>
            </a:r>
            <a:r>
              <a:rPr kumimoji="0" lang="en-US" altLang="en-US" sz="1600" b="0" i="0" u="none" strike="noStrike" cap="none" normalizeH="0" baseline="0" dirty="0">
                <a:ln>
                  <a:noFill/>
                </a:ln>
                <a:solidFill>
                  <a:schemeClr val="tx1"/>
                </a:solidFill>
                <a:effectLst/>
                <a:latin typeface="Arial Unicode MS"/>
                <a:ea typeface="Courier New" panose="02070309020205020404" pitchFamily="49" charset="0"/>
              </a:rPr>
              <a:t>);</a:t>
            </a:r>
            <a:r>
              <a:rPr kumimoji="0" lang="en-US" altLang="en-US" sz="1050" b="0" i="0" u="none" strike="noStrike" cap="none" normalizeH="0" baseline="0" dirty="0">
                <a:ln>
                  <a:noFill/>
                </a:ln>
                <a:solidFill>
                  <a:schemeClr val="tx1"/>
                </a:solidFill>
                <a:effectLst/>
              </a:rPr>
              <a:t> </a:t>
            </a:r>
            <a:endParaRPr lang="en-US" altLang="en-US" sz="3600" dirty="0"/>
          </a:p>
          <a:p>
            <a:pPr marL="0" marR="0" lvl="0" indent="0" algn="l" defTabSz="914400" rtl="0" eaLnBrk="0" fontAlgn="base" latinLnBrk="0" hangingPunct="0">
              <a:lnSpc>
                <a:spcPct val="100000"/>
              </a:lnSpc>
              <a:spcBef>
                <a:spcPct val="0"/>
              </a:spcBef>
              <a:spcAft>
                <a:spcPct val="0"/>
              </a:spcAft>
              <a:buClrTx/>
              <a:buSzTx/>
              <a:buNone/>
              <a:tabLst>
                <a:tab pos="914400" algn="l"/>
              </a:tabLst>
            </a:pPr>
            <a:r>
              <a:rPr kumimoji="0" lang="en-US" altLang="en-US" sz="24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None/>
              <a:tabLst>
                <a:tab pos="914400" algn="l"/>
              </a:tabLst>
            </a:pPr>
            <a:r>
              <a:rPr kumimoji="0" lang="en-US" altLang="en-US" sz="24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light</a:t>
            </a:r>
            <a:r>
              <a:rPr kumimoji="0" lang="en-US" altLang="en-US" sz="24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identifier of a light</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1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GL_LIGHTi</a:t>
            </a:r>
            <a:r>
              <a:rPr kumimoji="0" lang="en-US"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where 0 ≤ </a:t>
            </a:r>
            <a:r>
              <a:rPr kumimoji="0" lang="en-US" altLang="en-US" sz="11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i</a:t>
            </a:r>
            <a:r>
              <a:rPr kumimoji="0" lang="en-US" altLang="en-US" sz="11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&lt; GL_MAX_LIGHTS</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least eight lights are supported.</a:t>
            </a:r>
            <a:endParaRPr lang="en-US" altLang="en-US" sz="900" dirty="0"/>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endParaRPr kumimoji="0" lang="en-US" altLang="en-US" sz="9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1"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pname</a:t>
            </a: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 single-valued light-source parameter for </a:t>
            </a:r>
            <a:r>
              <a:rPr kumimoji="0" lang="en-US" altLang="en-US"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light position</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endParaRPr kumimoji="0" lang="en-US" altLang="en-US"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param</a:t>
            </a: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value to which parameter </a:t>
            </a:r>
            <a:r>
              <a:rPr kumimoji="0" lang="en-US" altLang="en-US" sz="1800" b="0" i="1"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pname</a:t>
            </a: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of light source </a:t>
            </a:r>
          </a:p>
          <a:p>
            <a:pPr marL="0" marR="0" lvl="0" indent="457200" algn="l" defTabSz="914400" rtl="0" eaLnBrk="0" fontAlgn="base" latinLnBrk="0" hangingPunct="0">
              <a:lnSpc>
                <a:spcPct val="100000"/>
              </a:lnSpc>
              <a:spcBef>
                <a:spcPct val="0"/>
              </a:spcBef>
              <a:spcAft>
                <a:spcPct val="0"/>
              </a:spcAft>
              <a:buClrTx/>
              <a:buSzTx/>
              <a:buFontTx/>
              <a:buNone/>
              <a:tabLst>
                <a:tab pos="914400" algn="l"/>
              </a:tabLst>
            </a:pPr>
            <a:r>
              <a:rPr kumimoji="0" lang="en-US" altLang="en-US" sz="18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light</a:t>
            </a:r>
            <a:r>
              <a:rPr kumimoji="0" lang="en-US" altLang="en-US" sz="18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will be set.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961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3235C-CFF2-464F-9869-7D6769EB9990}"/>
              </a:ext>
            </a:extLst>
          </p:cNvPr>
          <p:cNvSpPr>
            <a:spLocks noGrp="1"/>
          </p:cNvSpPr>
          <p:nvPr>
            <p:ph type="title"/>
          </p:nvPr>
        </p:nvSpPr>
        <p:spPr/>
        <p:txBody>
          <a:bodyPr/>
          <a:lstStyle/>
          <a:p>
            <a:r>
              <a:rPr lang="en-US" dirty="0"/>
              <a:t>Lighting</a:t>
            </a:r>
          </a:p>
        </p:txBody>
      </p:sp>
      <p:sp>
        <p:nvSpPr>
          <p:cNvPr id="3" name="Content Placeholder 2">
            <a:extLst>
              <a:ext uri="{FF2B5EF4-FFF2-40B4-BE49-F238E27FC236}">
                <a16:creationId xmlns:a16="http://schemas.microsoft.com/office/drawing/2014/main" id="{4ECAB228-58A6-43EB-8A48-5D99BBD06897}"/>
              </a:ext>
            </a:extLst>
          </p:cNvPr>
          <p:cNvSpPr>
            <a:spLocks noGrp="1"/>
          </p:cNvSpPr>
          <p:nvPr>
            <p:ph idx="1"/>
          </p:nvPr>
        </p:nvSpPr>
        <p:spPr/>
        <p:txBody>
          <a:bodyPr/>
          <a:lstStyle/>
          <a:p>
            <a:pPr marL="0" indent="0">
              <a:buNone/>
            </a:pPr>
            <a:r>
              <a:rPr lang="en-US" sz="2400" dirty="0" err="1"/>
              <a:t>glMaterial</a:t>
            </a:r>
            <a:r>
              <a:rPr lang="en-US" sz="2400" dirty="0"/>
              <a:t>*() affect the colors of the diffuse, specular  and ambient light reflected by an object</a:t>
            </a:r>
          </a:p>
          <a:p>
            <a:pPr marL="0" indent="0">
              <a:buNone/>
            </a:pPr>
            <a:endParaRPr lang="en-US" sz="2400" dirty="0"/>
          </a:p>
          <a:p>
            <a:pPr marL="0" indent="0">
              <a:buNone/>
            </a:pPr>
            <a:r>
              <a:rPr lang="en-US" sz="2400" dirty="0" err="1"/>
              <a:t>gLfloat</a:t>
            </a:r>
            <a:r>
              <a:rPr lang="en-US" sz="2400" dirty="0"/>
              <a:t> </a:t>
            </a:r>
            <a:r>
              <a:rPr lang="en-US" sz="2400" b="1" dirty="0" err="1">
                <a:solidFill>
                  <a:srgbClr val="FFFF00"/>
                </a:solidFill>
              </a:rPr>
              <a:t>mat_specular</a:t>
            </a:r>
            <a:r>
              <a:rPr lang="en-US" sz="2400" b="1" dirty="0">
                <a:solidFill>
                  <a:srgbClr val="FFFF00"/>
                </a:solidFill>
              </a:rPr>
              <a:t>[]</a:t>
            </a:r>
            <a:r>
              <a:rPr lang="en-US" sz="2400" dirty="0"/>
              <a:t> = {1,0,0,1};</a:t>
            </a:r>
          </a:p>
          <a:p>
            <a:pPr marL="0" indent="0">
              <a:buNone/>
            </a:pPr>
            <a:r>
              <a:rPr lang="en-US" sz="2400" dirty="0" err="1"/>
              <a:t>glMaterialfv</a:t>
            </a:r>
            <a:r>
              <a:rPr lang="en-US" sz="2400" dirty="0"/>
              <a:t>(GL_FRONT, GL_SPECULAR, </a:t>
            </a:r>
            <a:r>
              <a:rPr lang="en-US" sz="2400" b="1" dirty="0" err="1">
                <a:solidFill>
                  <a:srgbClr val="FFFF00"/>
                </a:solidFill>
              </a:rPr>
              <a:t>mat_specular</a:t>
            </a:r>
            <a:r>
              <a:rPr lang="en-US" sz="2400" dirty="0"/>
              <a:t>);</a:t>
            </a:r>
          </a:p>
          <a:p>
            <a:pPr marL="0" indent="0">
              <a:buNone/>
            </a:pPr>
            <a:endParaRPr lang="en-US" sz="2400" dirty="0"/>
          </a:p>
          <a:p>
            <a:pPr marL="0" indent="0">
              <a:buNone/>
            </a:pPr>
            <a:r>
              <a:rPr lang="en-US" sz="2400" dirty="0" err="1"/>
              <a:t>glEnable</a:t>
            </a:r>
            <a:r>
              <a:rPr lang="en-US" sz="2400" dirty="0"/>
              <a:t>(GL_LIGHTING);</a:t>
            </a:r>
          </a:p>
          <a:p>
            <a:pPr marL="0" indent="0">
              <a:buNone/>
            </a:pPr>
            <a:r>
              <a:rPr lang="en-US" sz="2400" dirty="0" err="1"/>
              <a:t>glEnable</a:t>
            </a:r>
            <a:r>
              <a:rPr lang="en-US" sz="2400" dirty="0"/>
              <a:t>(GL_LIGHT0);</a:t>
            </a:r>
          </a:p>
          <a:p>
            <a:pPr marL="0" indent="0">
              <a:buNone/>
            </a:pPr>
            <a:r>
              <a:rPr lang="en-US" sz="2400" dirty="0" err="1"/>
              <a:t>glEnable</a:t>
            </a:r>
            <a:r>
              <a:rPr lang="en-US" sz="2400" dirty="0"/>
              <a:t>(GL_DEPTH_TEST);</a:t>
            </a:r>
          </a:p>
          <a:p>
            <a:pPr marL="0" indent="0">
              <a:buNone/>
            </a:pPr>
            <a:r>
              <a:rPr lang="en-US" sz="2400" dirty="0" err="1"/>
              <a:t>glutSolidSphere</a:t>
            </a:r>
            <a:r>
              <a:rPr lang="en-US" sz="2400" dirty="0"/>
              <a:t>(1.0, 20, 16);</a:t>
            </a:r>
          </a:p>
          <a:p>
            <a:pPr marL="0" indent="0">
              <a:buNone/>
            </a:pPr>
            <a:r>
              <a:rPr lang="en-US" sz="2400" dirty="0" err="1"/>
              <a:t>glFlush</a:t>
            </a:r>
            <a:r>
              <a:rPr lang="en-US" sz="2400" dirty="0"/>
              <a:t>();</a:t>
            </a:r>
          </a:p>
          <a:p>
            <a:endParaRPr lang="en-US" sz="2400" dirty="0"/>
          </a:p>
        </p:txBody>
      </p:sp>
    </p:spTree>
    <p:extLst>
      <p:ext uri="{BB962C8B-B14F-4D97-AF65-F5344CB8AC3E}">
        <p14:creationId xmlns:p14="http://schemas.microsoft.com/office/powerpoint/2010/main" val="3030626587"/>
      </p:ext>
    </p:extLst>
  </p:cSld>
  <p:clrMapOvr>
    <a:masterClrMapping/>
  </p:clrMapOvr>
</p:sld>
</file>

<file path=ppt/theme/theme1.xml><?xml version="1.0" encoding="utf-8"?>
<a:theme xmlns:a="http://schemas.openxmlformats.org/drawingml/2006/main" name="RT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Metro</Template>
  <TotalTime>7759</TotalTime>
  <Words>2484</Words>
  <Application>Microsoft Office PowerPoint</Application>
  <PresentationFormat>On-screen Show (4:3)</PresentationFormat>
  <Paragraphs>437</Paragraphs>
  <Slides>51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Arial Unicode MS</vt:lpstr>
      <vt:lpstr>Calibri</vt:lpstr>
      <vt:lpstr>Courier New</vt:lpstr>
      <vt:lpstr>Times New Roman</vt:lpstr>
      <vt:lpstr>RTS</vt:lpstr>
      <vt:lpstr>PowerPoint Presentation</vt:lpstr>
      <vt:lpstr>OpenGL Rendering Pipeline </vt:lpstr>
      <vt:lpstr>Rasterization (Scan Conversion)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OPENGL </vt:lpstr>
      <vt:lpstr>OPENGL </vt:lpstr>
      <vt:lpstr>OPENGL </vt:lpstr>
      <vt:lpstr>Features of Open GL:</vt:lpstr>
      <vt:lpstr>Features of Open GL:</vt:lpstr>
      <vt:lpstr>Developer’s Advantage:</vt:lpstr>
      <vt:lpstr>Developer’s Advantage:</vt:lpstr>
      <vt:lpstr>History</vt:lpstr>
      <vt:lpstr>History</vt:lpstr>
      <vt:lpstr>Model-View-Controller Architecture</vt:lpstr>
      <vt:lpstr>Architecture</vt:lpstr>
      <vt:lpstr>OPENGL </vt:lpstr>
      <vt:lpstr>OPENGL </vt:lpstr>
      <vt:lpstr>OpenGL Command Syntax</vt:lpstr>
      <vt:lpstr>Data types</vt:lpstr>
      <vt:lpstr>GL Related Libraries</vt:lpstr>
      <vt:lpstr>OPENGL </vt:lpstr>
      <vt:lpstr>OPENGL </vt:lpstr>
      <vt:lpstr>Windows Management</vt:lpstr>
      <vt:lpstr>OPENGL </vt:lpstr>
      <vt:lpstr>Callback Functions</vt:lpstr>
      <vt:lpstr>The Display Callback</vt:lpstr>
      <vt:lpstr>OPENGL </vt:lpstr>
      <vt:lpstr>Setting up 2D Projection</vt:lpstr>
      <vt:lpstr>Handling input events</vt:lpstr>
      <vt:lpstr>Managing a background process</vt:lpstr>
      <vt:lpstr>OPENGL </vt:lpstr>
      <vt:lpstr>OPENGL </vt:lpstr>
      <vt:lpstr>PLOTTING A POLYGON:  </vt:lpstr>
      <vt:lpstr>OPENGL </vt:lpstr>
      <vt:lpstr>PowerPoint Presentation</vt:lpstr>
      <vt:lpstr>OPENGL </vt:lpstr>
      <vt:lpstr>OPENGL </vt:lpstr>
      <vt:lpstr>Transformations</vt:lpstr>
      <vt:lpstr>OPENGL </vt:lpstr>
      <vt:lpstr>OPENGL </vt:lpstr>
      <vt:lpstr>OPENGL </vt:lpstr>
      <vt:lpstr>PowerPoint Presentation</vt:lpstr>
      <vt:lpstr>OPENGL </vt:lpstr>
      <vt:lpstr>Light</vt:lpstr>
      <vt:lpstr>Lighting</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OPENGL </dc:title>
  <dc:creator>IT GEEK</dc:creator>
  <cp:lastModifiedBy>saroj shakya</cp:lastModifiedBy>
  <cp:revision>90</cp:revision>
  <dcterms:created xsi:type="dcterms:W3CDTF">2008-11-10T09:38:57Z</dcterms:created>
  <dcterms:modified xsi:type="dcterms:W3CDTF">2025-03-03T14:46:05Z</dcterms:modified>
</cp:coreProperties>
</file>