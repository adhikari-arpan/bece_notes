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2"/>
  </p:notesMasterIdLst>
  <p:sldIdLst>
    <p:sldId id="309" r:id="rId2"/>
    <p:sldId id="292" r:id="rId3"/>
    <p:sldId id="310" r:id="rId4"/>
    <p:sldId id="311" r:id="rId5"/>
    <p:sldId id="444" r:id="rId6"/>
    <p:sldId id="349" r:id="rId7"/>
    <p:sldId id="348" r:id="rId8"/>
    <p:sldId id="445" r:id="rId9"/>
    <p:sldId id="446" r:id="rId10"/>
    <p:sldId id="447" r:id="rId11"/>
    <p:sldId id="452" r:id="rId12"/>
    <p:sldId id="454" r:id="rId13"/>
    <p:sldId id="453" r:id="rId14"/>
    <p:sldId id="456" r:id="rId15"/>
    <p:sldId id="457" r:id="rId16"/>
    <p:sldId id="351" r:id="rId17"/>
    <p:sldId id="458" r:id="rId18"/>
    <p:sldId id="313" r:id="rId19"/>
    <p:sldId id="460" r:id="rId20"/>
    <p:sldId id="461" r:id="rId21"/>
    <p:sldId id="462" r:id="rId22"/>
    <p:sldId id="353" r:id="rId23"/>
    <p:sldId id="360" r:id="rId24"/>
    <p:sldId id="464" r:id="rId25"/>
    <p:sldId id="463" r:id="rId26"/>
    <p:sldId id="370" r:id="rId27"/>
    <p:sldId id="465" r:id="rId28"/>
    <p:sldId id="466" r:id="rId29"/>
    <p:sldId id="371" r:id="rId30"/>
    <p:sldId id="467" r:id="rId31"/>
    <p:sldId id="468" r:id="rId32"/>
    <p:sldId id="469" r:id="rId33"/>
    <p:sldId id="470" r:id="rId34"/>
    <p:sldId id="481" r:id="rId35"/>
    <p:sldId id="487" r:id="rId36"/>
    <p:sldId id="472" r:id="rId37"/>
    <p:sldId id="482" r:id="rId38"/>
    <p:sldId id="473" r:id="rId39"/>
    <p:sldId id="483" r:id="rId40"/>
    <p:sldId id="474" r:id="rId41"/>
    <p:sldId id="475" r:id="rId42"/>
    <p:sldId id="476" r:id="rId43"/>
    <p:sldId id="484" r:id="rId44"/>
    <p:sldId id="477" r:id="rId45"/>
    <p:sldId id="485" r:id="rId46"/>
    <p:sldId id="478" r:id="rId47"/>
    <p:sldId id="486" r:id="rId48"/>
    <p:sldId id="479" r:id="rId49"/>
    <p:sldId id="480" r:id="rId50"/>
    <p:sldId id="346" r:id="rId51"/>
  </p:sldIdLst>
  <p:sldSz cx="12192000" cy="6858000"/>
  <p:notesSz cx="6954838" cy="9309100"/>
  <p:embeddedFontLst>
    <p:embeddedFont>
      <p:font typeface="Roboto Condensed Light" panose="020B0604020202020204" charset="0"/>
      <p:regular r:id="rId53"/>
      <p:italic r:id="rId54"/>
    </p:embeddedFont>
    <p:embeddedFont>
      <p:font typeface="Wingdings 3" panose="05040102010807070707" pitchFamily="18" charset="2"/>
      <p:regular r:id="rId55"/>
    </p:embeddedFont>
    <p:embeddedFont>
      <p:font typeface="Calibri" panose="020F0502020204030204" pitchFamily="34" charset="0"/>
      <p:regular r:id="rId56"/>
      <p:bold r:id="rId57"/>
      <p:italic r:id="rId58"/>
      <p:boldItalic r:id="rId59"/>
    </p:embeddedFont>
    <p:embeddedFont>
      <p:font typeface="Wingdings 2" panose="05020102010507070707" pitchFamily="18" charset="2"/>
      <p:regular r:id="rId60"/>
    </p:embeddedFont>
    <p:embeddedFont>
      <p:font typeface="Segoe UI Black" panose="020B0A02040204020203" pitchFamily="34" charset="0"/>
      <p:bold r:id="rId61"/>
      <p:boldItalic r:id="rId62"/>
    </p:embeddedFont>
    <p:embeddedFont>
      <p:font typeface="Roboto Condensed" panose="020B0604020202020204" charset="0"/>
      <p:regular r:id="rId63"/>
      <p:bold r:id="rId64"/>
      <p:italic r:id="rId65"/>
      <p:boldItalic r:id="rId66"/>
    </p:embeddedFont>
  </p:embeddedFontLst>
  <p:custDataLst>
    <p:tags r:id="rId6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/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/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/>
        <a:schemeClr val="dk1"/>
      </a:tcTxStyle>
      <a:tcStyle>
        <a:tcBdr/>
      </a:tcStyle>
    </a:seCell>
    <a:swCell>
      <a:tcTxStyle b="on">
        <a:fontRef idx="minor"/>
        <a:schemeClr val="dk1"/>
      </a:tcTxStyle>
      <a:tcStyle>
        <a:tcBdr/>
      </a:tcStyle>
    </a:swCell>
    <a:firstRow>
      <a:tcTxStyle b="on">
        <a:fontRef idx="minor"/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font" Target="fonts/font11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61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12.png"/><Relationship Id="rId10" Type="http://schemas.openxmlformats.org/officeDocument/2006/relationships/image" Target="../media/image9.jpeg"/><Relationship Id="rId4" Type="http://schemas.openxmlformats.org/officeDocument/2006/relationships/image" Target="../media/image6.png"/><Relationship Id="rId9" Type="http://schemas.openxmlformats.org/officeDocument/2006/relationships/image" Target="../media/image13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5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6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>
            <a:fillRect/>
          </a:stretch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xmlns="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C7F163-5BA5-498E-B699-76FCE17F5062}" type="datetime4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December 19, 2023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</a:t>
            </a:r>
            <a:r>
              <a:rPr lang="en-US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Process and Threads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C698DE-48EC-418C-AE25-1086CA961BE0}" type="datetime4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December 19, 2023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Process and Threads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9BF6E0-819C-43FF-A2D3-982C68E344FF}" type="datetime4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December 19, 2023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Process and Threads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15" y="863445"/>
            <a:ext cx="11964106" cy="5625278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>
            <a:fillRect/>
          </a:stretch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/>
              <a:t>Thank</a:t>
            </a:r>
          </a:p>
          <a:p>
            <a:pPr algn="ctr"/>
            <a:r>
              <a:rPr lang="en-US" sz="6000" b="1" i="1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829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/>
              <a:t>Thank</a:t>
            </a:r>
          </a:p>
          <a:p>
            <a:pPr algn="ctr"/>
            <a:r>
              <a:rPr lang="en-US" sz="6000" b="1" i="1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xmlns="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xmlns="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xmlns="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2793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xmlns="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xmlns="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xmlns="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>
            <a:fillRect/>
          </a:stretch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302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Nepal Engineering College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789" y="1795212"/>
            <a:ext cx="2880360" cy="277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3" r:id="rId10"/>
    <p:sldLayoutId id="2147483692" r:id="rId11"/>
    <p:sldLayoutId id="2147483691" r:id="rId12"/>
    <p:sldLayoutId id="2147483674" r:id="rId13"/>
    <p:sldLayoutId id="2147483676" r:id="rId14"/>
    <p:sldLayoutId id="2147483677" r:id="rId15"/>
    <p:sldLayoutId id="2147483678" r:id="rId16"/>
    <p:sldLayoutId id="2147483679" r:id="rId17"/>
    <p:sldLayoutId id="2147483681" r:id="rId18"/>
    <p:sldLayoutId id="2147483683" r:id="rId19"/>
    <p:sldLayoutId id="2147483682" r:id="rId20"/>
    <p:sldLayoutId id="2147483684" r:id="rId21"/>
    <p:sldLayoutId id="2147483685" r:id="rId22"/>
    <p:sldLayoutId id="2147483686" r:id="rId23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gi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03F305CB-DBE2-45D5-8D0B-92106F27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315200" cy="2992436"/>
          </a:xfrm>
        </p:spPr>
        <p:txBody>
          <a:bodyPr/>
          <a:lstStyle/>
          <a:p>
            <a:r>
              <a:rPr lang="en-US" sz="4800" b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Unit-2</a:t>
            </a:r>
            <a:r>
              <a:rPr lang="en-US"/>
              <a:t> </a:t>
            </a:r>
            <a:br>
              <a:rPr lang="en-US"/>
            </a:br>
            <a:r>
              <a:rPr lang="en-US"/>
              <a:t>Process and Threads Management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Asst. Prof. </a:t>
            </a:r>
            <a:r>
              <a:rPr lang="en-US" dirty="0" err="1" smtClean="0"/>
              <a:t>Jhumi</a:t>
            </a:r>
            <a:r>
              <a:rPr lang="en-US" dirty="0" smtClean="0"/>
              <a:t> </a:t>
            </a:r>
            <a:r>
              <a:rPr lang="en-US" dirty="0" err="1" smtClean="0"/>
              <a:t>Thapa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Operating System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(OS)</a:t>
            </a:r>
          </a:p>
        </p:txBody>
      </p:sp>
    </p:spTree>
    <p:extLst>
      <p:ext uri="{BB962C8B-B14F-4D97-AF65-F5344CB8AC3E}">
        <p14:creationId xmlns:p14="http://schemas.microsoft.com/office/powerpoint/2010/main" val="16008347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D9EBF344-4A7B-4C4A-AF6D-6441BD040AB3}"/>
              </a:ext>
            </a:extLst>
          </p:cNvPr>
          <p:cNvCxnSpPr>
            <a:endCxn id="6" idx="0"/>
          </p:cNvCxnSpPr>
          <p:nvPr/>
        </p:nvCxnSpPr>
        <p:spPr>
          <a:xfrm flipH="1"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CA925EF2-D58F-4AC0-ACED-F747CC08D69F}"/>
              </a:ext>
            </a:extLst>
          </p:cNvPr>
          <p:cNvCxnSpPr/>
          <p:nvPr/>
        </p:nvCxnSpPr>
        <p:spPr>
          <a:xfrm flipH="1"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ym typeface="Wingdings 2" panose="05020102010507070707" pitchFamily="18" charset="2"/>
              </a:rPr>
              <a:t></a:t>
            </a:r>
            <a:endParaRPr lang="en-US" sz="2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F34260FD-CAA3-43A0-977C-7E4B57013872}"/>
              </a:ext>
            </a:extLst>
          </p:cNvPr>
          <p:cNvCxnSpPr/>
          <p:nvPr/>
        </p:nvCxnSpPr>
        <p:spPr>
          <a:xfrm flipH="1"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77724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Process concept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Process states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Process state transitions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Process Control Block (PCB)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Context switching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Threads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Comparison between process and thread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Benefits/Advantages of threads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Types of threads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Multi Threading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>
                    <a:lumMod val="50000"/>
                  </a:schemeClr>
                </a:solidFill>
              </a:rPr>
              <a:t>Pthread </a:t>
            </a: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function calls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System calls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Process concept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375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Process?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1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76" y="1912582"/>
            <a:ext cx="8763000" cy="37528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38" y="1912320"/>
            <a:ext cx="8783276" cy="3753374"/>
          </a:xfrm>
          <a:prstGeom prst="rect">
            <a:avLst/>
          </a:prstGeom>
        </p:spPr>
      </p:pic>
      <p:pic>
        <p:nvPicPr>
          <p:cNvPr id="40" name="Picture 6" descr="Image result for hello world c program output screee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12589" y="1964969"/>
            <a:ext cx="5591175" cy="364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ounded Rectangular Callout 40"/>
          <p:cNvSpPr/>
          <p:nvPr/>
        </p:nvSpPr>
        <p:spPr>
          <a:xfrm>
            <a:off x="1555376" y="1078507"/>
            <a:ext cx="1512000" cy="468000"/>
          </a:xfrm>
          <a:prstGeom prst="wedgeRoundRectCallout">
            <a:avLst>
              <a:gd name="adj1" fmla="val -24183"/>
              <a:gd name="adj2" fmla="val 225191"/>
              <a:gd name="adj3" fmla="val 16667"/>
            </a:avLst>
          </a:prstGeom>
          <a:solidFill>
            <a:srgbClr val="F0F0F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42" name="Rounded Rectangular Callout 41"/>
          <p:cNvSpPr/>
          <p:nvPr/>
        </p:nvSpPr>
        <p:spPr>
          <a:xfrm>
            <a:off x="3396176" y="1078507"/>
            <a:ext cx="1512000" cy="468000"/>
          </a:xfrm>
          <a:prstGeom prst="wedgeRoundRectCallout">
            <a:avLst>
              <a:gd name="adj1" fmla="val -24183"/>
              <a:gd name="adj2" fmla="val 164133"/>
              <a:gd name="adj3" fmla="val 16667"/>
            </a:avLst>
          </a:prstGeom>
          <a:solidFill>
            <a:srgbClr val="F0F0F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41193922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1" grpId="1" animBg="1"/>
      <p:bldP spid="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Process?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Process is a </a:t>
            </a:r>
            <a:r>
              <a:rPr lang="en-US" b="1">
                <a:solidFill>
                  <a:schemeClr val="accent6"/>
                </a:solidFill>
              </a:rPr>
              <a:t>program under execution</a:t>
            </a:r>
            <a:r>
              <a:rPr lang="en-US"/>
              <a:t>.</a:t>
            </a:r>
          </a:p>
          <a:p>
            <a:r>
              <a:rPr lang="en-US"/>
              <a:t>Process is an </a:t>
            </a:r>
            <a:r>
              <a:rPr lang="en-US" b="1">
                <a:solidFill>
                  <a:schemeClr val="accent6"/>
                </a:solidFill>
              </a:rPr>
              <a:t>abstraction of a running program</a:t>
            </a:r>
            <a:r>
              <a:rPr lang="en-US"/>
              <a:t>.</a:t>
            </a:r>
          </a:p>
          <a:p>
            <a:r>
              <a:rPr lang="en-US"/>
              <a:t>Process is an </a:t>
            </a:r>
            <a:r>
              <a:rPr lang="en-US" b="1">
                <a:solidFill>
                  <a:schemeClr val="accent6"/>
                </a:solidFill>
              </a:rPr>
              <a:t>instance of an executing program</a:t>
            </a:r>
            <a:r>
              <a:rPr lang="en-US"/>
              <a:t>, including the current values of the program counter, registers &amp; variables.</a:t>
            </a:r>
          </a:p>
          <a:p>
            <a:r>
              <a:rPr lang="en-US" b="1">
                <a:solidFill>
                  <a:schemeClr val="accent6"/>
                </a:solidFill>
              </a:rPr>
              <a:t>Each process has its own virtual CPU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47919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real </a:t>
            </a:r>
            <a:r>
              <a:rPr lang="en-US" b="1">
                <a:solidFill>
                  <a:schemeClr val="accent6"/>
                </a:solidFill>
              </a:rPr>
              <a:t>CPU switches </a:t>
            </a:r>
            <a:r>
              <a:rPr lang="en-US"/>
              <a:t>back and forth from process to process. </a:t>
            </a:r>
          </a:p>
          <a:p>
            <a:r>
              <a:rPr lang="en-US"/>
              <a:t>This </a:t>
            </a:r>
            <a:r>
              <a:rPr lang="en-US" b="1">
                <a:solidFill>
                  <a:schemeClr val="accent6"/>
                </a:solidFill>
              </a:rPr>
              <a:t>rapid switching back and forth is called multiprogramming</a:t>
            </a:r>
            <a:r>
              <a:rPr lang="en-US"/>
              <a:t>.</a:t>
            </a:r>
          </a:p>
          <a:p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number of processes loaded simultaneously in memory is called degree of multiprogramming</a:t>
            </a:r>
            <a:r>
              <a:rPr lang="en-US"/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3" t="8163"/>
          <a:stretch>
            <a:fillRect/>
          </a:stretch>
        </p:blipFill>
        <p:spPr>
          <a:xfrm>
            <a:off x="6891032" y="2590800"/>
            <a:ext cx="5108222" cy="3810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004" y="2711450"/>
            <a:ext cx="4165402" cy="234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319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Multiprogramming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30832" cy="5590565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There are </a:t>
            </a:r>
            <a:r>
              <a:rPr lang="en-US" b="1">
                <a:solidFill>
                  <a:srgbClr val="C00000"/>
                </a:solidFill>
              </a:rPr>
              <a:t>three processes</a:t>
            </a:r>
            <a:r>
              <a:rPr lang="en-US"/>
              <a:t>, </a:t>
            </a:r>
            <a:r>
              <a:rPr lang="en-US" b="1">
                <a:solidFill>
                  <a:srgbClr val="C00000"/>
                </a:solidFill>
              </a:rPr>
              <a:t>one processor </a:t>
            </a:r>
            <a:r>
              <a:rPr lang="en-US"/>
              <a:t>(CPU), </a:t>
            </a:r>
            <a:r>
              <a:rPr lang="en-US" b="1">
                <a:solidFill>
                  <a:srgbClr val="C00000"/>
                </a:solidFill>
              </a:rPr>
              <a:t>three logical program counter</a:t>
            </a:r>
            <a:r>
              <a:rPr lang="en-US"/>
              <a:t> (one for each processes) in memory and one physical program counter in processor.</a:t>
            </a:r>
          </a:p>
          <a:p>
            <a:r>
              <a:rPr lang="en-US"/>
              <a:t>Here </a:t>
            </a:r>
            <a:r>
              <a:rPr lang="en-US" b="1">
                <a:solidFill>
                  <a:srgbClr val="C00000"/>
                </a:solidFill>
              </a:rPr>
              <a:t>CPU is free </a:t>
            </a:r>
            <a:r>
              <a:rPr lang="en-US"/>
              <a:t>(no process is running).</a:t>
            </a:r>
          </a:p>
          <a:p>
            <a:r>
              <a:rPr lang="en-US"/>
              <a:t>No data in physical program counter.</a:t>
            </a:r>
          </a:p>
        </p:txBody>
      </p:sp>
      <p:pic>
        <p:nvPicPr>
          <p:cNvPr id="9" name="Picture 2" descr="Image result for proces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1585" y="2707701"/>
            <a:ext cx="1552337" cy="1335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" y="1163755"/>
            <a:ext cx="1106567" cy="11089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470" y="1163755"/>
            <a:ext cx="1106567" cy="11089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10" y="1163755"/>
            <a:ext cx="1106567" cy="11089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5879" y="2064912"/>
            <a:ext cx="1597619" cy="731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wrap="square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2070104"/>
            <a:ext cx="1637961" cy="731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50" b="1" i="0" u="none" strike="noStrike" kern="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24400" y="1191398"/>
            <a:ext cx="1637961" cy="731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50" b="1" i="0" u="none" strike="noStrike" kern="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24400" y="2948810"/>
            <a:ext cx="1637961" cy="731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50" b="1" i="0" u="none" strike="noStrike" kern="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9807" y="914400"/>
            <a:ext cx="4270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0838" y="914400"/>
            <a:ext cx="4138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7169" y="914400"/>
            <a:ext cx="39004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9624" y="914400"/>
            <a:ext cx="8875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5901" y="1753517"/>
            <a:ext cx="95757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Processor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52039" y="1669201"/>
            <a:ext cx="382682" cy="25371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52039" y="2547907"/>
            <a:ext cx="382682" cy="25371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2039" y="3426613"/>
            <a:ext cx="382682" cy="25371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P3</a:t>
            </a:r>
          </a:p>
        </p:txBody>
      </p:sp>
    </p:spTree>
    <p:extLst>
      <p:ext uri="{BB962C8B-B14F-4D97-AF65-F5344CB8AC3E}">
        <p14:creationId xmlns:p14="http://schemas.microsoft.com/office/powerpoint/2010/main" val="27655974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Multiprogramming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30832" cy="5590565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CPU is </a:t>
            </a:r>
            <a:r>
              <a:rPr lang="en-US" b="1">
                <a:solidFill>
                  <a:srgbClr val="C00000"/>
                </a:solidFill>
              </a:rPr>
              <a:t>allocated to process P1 </a:t>
            </a:r>
            <a:r>
              <a:rPr lang="en-US"/>
              <a:t>(process P1 is running).</a:t>
            </a:r>
          </a:p>
          <a:p>
            <a:r>
              <a:rPr lang="en-US" b="1">
                <a:solidFill>
                  <a:srgbClr val="C00000"/>
                </a:solidFill>
              </a:rPr>
              <a:t>Data of process P1 is copied </a:t>
            </a:r>
            <a:r>
              <a:rPr lang="en-US"/>
              <a:t>from its logical program counter to the physical program counter.</a:t>
            </a:r>
          </a:p>
        </p:txBody>
      </p:sp>
      <p:pic>
        <p:nvPicPr>
          <p:cNvPr id="9" name="Picture 2" descr="Image result for proces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1585" y="2707701"/>
            <a:ext cx="1552337" cy="1335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" y="1163755"/>
            <a:ext cx="1106567" cy="11089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470" y="1163755"/>
            <a:ext cx="1106567" cy="11089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10" y="1163755"/>
            <a:ext cx="1106567" cy="11089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5879" y="2064912"/>
            <a:ext cx="1597619" cy="731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wrap="square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2070104"/>
            <a:ext cx="1637961" cy="731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50" b="1" i="0" u="none" strike="noStrike" kern="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24400" y="1191398"/>
            <a:ext cx="1637961" cy="731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50" b="1" i="0" u="none" strike="noStrike" kern="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24400" y="2948810"/>
            <a:ext cx="1637961" cy="731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50" b="1" i="0" u="none" strike="noStrike" kern="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9807" y="914400"/>
            <a:ext cx="4270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0838" y="914400"/>
            <a:ext cx="4138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7169" y="914400"/>
            <a:ext cx="39004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9624" y="914400"/>
            <a:ext cx="8875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5901" y="1753517"/>
            <a:ext cx="95757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Processor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52039" y="1669201"/>
            <a:ext cx="382682" cy="25371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52039" y="2547907"/>
            <a:ext cx="382682" cy="25371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2039" y="3426613"/>
            <a:ext cx="382682" cy="25371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P3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793314" y="2237245"/>
            <a:ext cx="1244076" cy="54089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13" idx="1"/>
          </p:cNvCxnSpPr>
          <p:nvPr/>
        </p:nvCxnSpPr>
        <p:spPr>
          <a:xfrm>
            <a:off x="6362361" y="1577340"/>
            <a:ext cx="993518" cy="853332"/>
          </a:xfrm>
          <a:prstGeom prst="straightConnector1">
            <a:avLst/>
          </a:prstGeom>
          <a:ln w="38100">
            <a:solidFill>
              <a:srgbClr val="70AD47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56460" y="1733703"/>
            <a:ext cx="3691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12936462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  <p:cond evt="onBegin" delay="0">
                          <p:tn val="10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06 4.44444E-06 L 0.21354 0.12708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77" y="634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Multiprogramming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CPU </a:t>
            </a:r>
            <a:r>
              <a:rPr lang="en-US" b="1">
                <a:solidFill>
                  <a:srgbClr val="C00000"/>
                </a:solidFill>
              </a:rPr>
              <a:t>switches</a:t>
            </a:r>
            <a:r>
              <a:rPr lang="en-US"/>
              <a:t> from process </a:t>
            </a:r>
            <a:r>
              <a:rPr lang="en-US" b="1">
                <a:solidFill>
                  <a:srgbClr val="C00000"/>
                </a:solidFill>
              </a:rPr>
              <a:t>P1 to </a:t>
            </a:r>
            <a:r>
              <a:rPr lang="en-US"/>
              <a:t>process </a:t>
            </a:r>
            <a:r>
              <a:rPr lang="en-US" b="1">
                <a:solidFill>
                  <a:srgbClr val="C00000"/>
                </a:solidFill>
              </a:rPr>
              <a:t>P2</a:t>
            </a:r>
            <a:r>
              <a:rPr lang="en-US"/>
              <a:t>.</a:t>
            </a:r>
          </a:p>
          <a:p>
            <a:r>
              <a:rPr lang="en-US"/>
              <a:t>CPU is </a:t>
            </a:r>
            <a:r>
              <a:rPr lang="en-US" b="1">
                <a:solidFill>
                  <a:srgbClr val="C00000"/>
                </a:solidFill>
              </a:rPr>
              <a:t>allocated to process P2 </a:t>
            </a:r>
            <a:r>
              <a:rPr lang="en-US"/>
              <a:t>(process P2 is running).</a:t>
            </a:r>
          </a:p>
          <a:p>
            <a:r>
              <a:rPr lang="en-US" b="1">
                <a:solidFill>
                  <a:srgbClr val="C00000"/>
                </a:solidFill>
              </a:rPr>
              <a:t>Data of process P1 is copied back </a:t>
            </a:r>
            <a:r>
              <a:rPr lang="en-US"/>
              <a:t>to its logical program counter.</a:t>
            </a:r>
          </a:p>
          <a:p>
            <a:r>
              <a:rPr lang="en-US" b="1">
                <a:solidFill>
                  <a:srgbClr val="C00000"/>
                </a:solidFill>
              </a:rPr>
              <a:t>Data of process P2 is copied </a:t>
            </a:r>
            <a:r>
              <a:rPr lang="en-US"/>
              <a:t>from its logical program counter to the physical program counter.</a:t>
            </a:r>
          </a:p>
          <a:p>
            <a:endParaRPr lang="en-US"/>
          </a:p>
        </p:txBody>
      </p:sp>
      <p:pic>
        <p:nvPicPr>
          <p:cNvPr id="9" name="Picture 2" descr="Image result for proces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1585" y="2707701"/>
            <a:ext cx="1552337" cy="1335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" y="1163755"/>
            <a:ext cx="1106567" cy="11089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470" y="1163755"/>
            <a:ext cx="1106567" cy="11089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10" y="1163755"/>
            <a:ext cx="1106567" cy="11089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5879" y="2064912"/>
            <a:ext cx="1597619" cy="731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wrap="square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2070104"/>
            <a:ext cx="1637961" cy="731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50" b="1" i="0" u="none" strike="noStrike" kern="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24400" y="1191398"/>
            <a:ext cx="1637961" cy="731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50" b="1" i="0" u="none" strike="noStrike" kern="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24400" y="2948810"/>
            <a:ext cx="1637961" cy="731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50" b="1" i="0" u="none" strike="noStrike" kern="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9807" y="914400"/>
            <a:ext cx="4270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0838" y="914400"/>
            <a:ext cx="4138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7169" y="914400"/>
            <a:ext cx="39004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9624" y="914400"/>
            <a:ext cx="8875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5901" y="1753517"/>
            <a:ext cx="95757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Processor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3347" y="2542715"/>
            <a:ext cx="382682" cy="25371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52039" y="2547907"/>
            <a:ext cx="382682" cy="25371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2039" y="3426613"/>
            <a:ext cx="382682" cy="25371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P3</a:t>
            </a:r>
          </a:p>
        </p:txBody>
      </p:sp>
      <p:cxnSp>
        <p:nvCxnSpPr>
          <p:cNvPr id="26" name="Straight Arrow Connector 25"/>
          <p:cNvCxnSpPr>
            <a:endCxn id="11" idx="2"/>
          </p:cNvCxnSpPr>
          <p:nvPr/>
        </p:nvCxnSpPr>
        <p:spPr>
          <a:xfrm flipH="1" flipV="1">
            <a:off x="2027754" y="2272743"/>
            <a:ext cx="9636" cy="50539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13" idx="1"/>
          </p:cNvCxnSpPr>
          <p:nvPr/>
        </p:nvCxnSpPr>
        <p:spPr>
          <a:xfrm flipV="1">
            <a:off x="6362361" y="2430672"/>
            <a:ext cx="993518" cy="12082"/>
          </a:xfrm>
          <a:prstGeom prst="straightConnector1">
            <a:avLst/>
          </a:prstGeom>
          <a:ln w="38100">
            <a:solidFill>
              <a:srgbClr val="70AD47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43397" y="1707577"/>
            <a:ext cx="3691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P1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 flipV="1">
            <a:off x="6362361" y="1601274"/>
            <a:ext cx="993518" cy="829398"/>
          </a:xfrm>
          <a:prstGeom prst="straightConnector1">
            <a:avLst/>
          </a:prstGeom>
          <a:ln w="38100">
            <a:solidFill>
              <a:srgbClr val="70AD47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71875" y="2145350"/>
            <a:ext cx="3691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P2</a:t>
            </a:r>
          </a:p>
        </p:txBody>
      </p:sp>
    </p:spTree>
    <p:extLst>
      <p:ext uri="{BB962C8B-B14F-4D97-AF65-F5344CB8AC3E}">
        <p14:creationId xmlns:p14="http://schemas.microsoft.com/office/powerpoint/2010/main" val="32249390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  <p:cond evt="onBegin" delay="0">
                          <p:tn val="13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0.0081 L -0.21367 -0.12847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77" y="-6829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  <p:cond evt="onBegin" delay="0">
                          <p:tn val="26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06 -2.96296E-06 L 0.21562 3.7037E-06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68" y="93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Multiprogramming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CPU </a:t>
            </a:r>
            <a:r>
              <a:rPr lang="en-US" b="1">
                <a:solidFill>
                  <a:srgbClr val="C00000"/>
                </a:solidFill>
              </a:rPr>
              <a:t>switches </a:t>
            </a:r>
            <a:r>
              <a:rPr lang="en-US"/>
              <a:t>from process </a:t>
            </a:r>
            <a:r>
              <a:rPr lang="en-US" b="1">
                <a:solidFill>
                  <a:srgbClr val="C00000"/>
                </a:solidFill>
              </a:rPr>
              <a:t>P2 to </a:t>
            </a:r>
            <a:r>
              <a:rPr lang="en-US"/>
              <a:t>process </a:t>
            </a:r>
            <a:r>
              <a:rPr lang="en-US" b="1">
                <a:solidFill>
                  <a:srgbClr val="C00000"/>
                </a:solidFill>
              </a:rPr>
              <a:t>P3</a:t>
            </a:r>
            <a:r>
              <a:rPr lang="en-US"/>
              <a:t>.</a:t>
            </a:r>
          </a:p>
          <a:p>
            <a:r>
              <a:rPr lang="en-US"/>
              <a:t>CPU is </a:t>
            </a:r>
            <a:r>
              <a:rPr lang="en-US" b="1">
                <a:solidFill>
                  <a:srgbClr val="C00000"/>
                </a:solidFill>
              </a:rPr>
              <a:t>allocated to process P3 </a:t>
            </a:r>
            <a:r>
              <a:rPr lang="en-US"/>
              <a:t>(process P3 is running).</a:t>
            </a:r>
          </a:p>
          <a:p>
            <a:r>
              <a:rPr lang="en-US" b="1">
                <a:solidFill>
                  <a:srgbClr val="C00000"/>
                </a:solidFill>
              </a:rPr>
              <a:t>Data of process P2 is copied back </a:t>
            </a:r>
            <a:r>
              <a:rPr lang="en-US"/>
              <a:t>its logical program counter.</a:t>
            </a:r>
          </a:p>
          <a:p>
            <a:r>
              <a:rPr lang="en-US" b="1">
                <a:solidFill>
                  <a:srgbClr val="C00000"/>
                </a:solidFill>
              </a:rPr>
              <a:t>Data of process P3 is copied </a:t>
            </a:r>
            <a:r>
              <a:rPr lang="en-US"/>
              <a:t>from its logical program counter to the physical program counter.</a:t>
            </a:r>
          </a:p>
          <a:p>
            <a:endParaRPr lang="en-US"/>
          </a:p>
        </p:txBody>
      </p:sp>
      <p:pic>
        <p:nvPicPr>
          <p:cNvPr id="9" name="Picture 2" descr="Image result for proces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1585" y="2707701"/>
            <a:ext cx="1552337" cy="1335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" y="1163755"/>
            <a:ext cx="1106567" cy="11089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470" y="1163755"/>
            <a:ext cx="1106567" cy="11089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10" y="1163755"/>
            <a:ext cx="1106567" cy="11089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5879" y="2064912"/>
            <a:ext cx="1597619" cy="731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wrap="square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2070104"/>
            <a:ext cx="1637961" cy="731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50" b="1" i="0" u="none" strike="noStrike" kern="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24400" y="1191398"/>
            <a:ext cx="1637961" cy="731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50" b="1" i="0" u="none" strike="noStrike" kern="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24400" y="2948810"/>
            <a:ext cx="1637961" cy="731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Counter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50" b="1" i="0" u="none" strike="noStrike" kern="0" cap="none" spc="0" normalizeH="0" baseline="0" noProof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9807" y="914400"/>
            <a:ext cx="4270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0838" y="914400"/>
            <a:ext cx="4138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7169" y="914400"/>
            <a:ext cx="39004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9624" y="914400"/>
            <a:ext cx="8875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5901" y="1753517"/>
            <a:ext cx="95757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Processor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3347" y="2542715"/>
            <a:ext cx="382682" cy="25371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2039" y="3426613"/>
            <a:ext cx="382682" cy="25371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P3</a:t>
            </a:r>
          </a:p>
        </p:txBody>
      </p:sp>
      <p:cxnSp>
        <p:nvCxnSpPr>
          <p:cNvPr id="26" name="Straight Arrow Connector 25"/>
          <p:cNvCxnSpPr>
            <a:endCxn id="12" idx="2"/>
          </p:cNvCxnSpPr>
          <p:nvPr/>
        </p:nvCxnSpPr>
        <p:spPr>
          <a:xfrm flipV="1">
            <a:off x="2037390" y="2272743"/>
            <a:ext cx="1224804" cy="50539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13" idx="1"/>
          </p:cNvCxnSpPr>
          <p:nvPr/>
        </p:nvCxnSpPr>
        <p:spPr>
          <a:xfrm flipV="1">
            <a:off x="6362361" y="2430672"/>
            <a:ext cx="993518" cy="887294"/>
          </a:xfrm>
          <a:prstGeom prst="straightConnector1">
            <a:avLst/>
          </a:prstGeom>
          <a:ln w="38100">
            <a:solidFill>
              <a:srgbClr val="70AD47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8177" y="2153389"/>
            <a:ext cx="3691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P2</a:t>
            </a:r>
          </a:p>
        </p:txBody>
      </p:sp>
      <p:cxnSp>
        <p:nvCxnSpPr>
          <p:cNvPr id="25" name="Straight Arrow Connector 24"/>
          <p:cNvCxnSpPr>
            <a:endCxn id="14" idx="3"/>
          </p:cNvCxnSpPr>
          <p:nvPr/>
        </p:nvCxnSpPr>
        <p:spPr>
          <a:xfrm flipH="1">
            <a:off x="6362361" y="2430672"/>
            <a:ext cx="993518" cy="5192"/>
          </a:xfrm>
          <a:prstGeom prst="straightConnector1">
            <a:avLst/>
          </a:prstGeom>
          <a:ln w="38100">
            <a:solidFill>
              <a:srgbClr val="70AD47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58812" y="2628098"/>
            <a:ext cx="3691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</a:rPr>
              <a:t>P3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52039" y="1669201"/>
            <a:ext cx="382682" cy="25371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28281073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  <p:cond evt="onBegin" delay="0">
                          <p:tn val="13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045E-16 -1.85185E-06 L -0.21276 0.00093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38" y="4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  <p:cond evt="onBegin" delay="0">
                          <p:tn val="26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06 4.44444E-06 L 0.21419 -0.1287" pathEditMode="relative" rAng="0" ptsTypes="AA">
                                      <p:cBhvr>
                                        <p:cTn id="41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42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1" name="Picture 1028" descr="2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214" b="9180"/>
          <a:stretch>
            <a:fillRect/>
          </a:stretch>
        </p:blipFill>
        <p:spPr bwMode="auto">
          <a:xfrm>
            <a:off x="240030" y="977921"/>
            <a:ext cx="2612675" cy="3200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28" descr="2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9" r="39046" b="9180"/>
          <a:stretch>
            <a:fillRect/>
          </a:stretch>
        </p:blipFill>
        <p:spPr bwMode="auto">
          <a:xfrm>
            <a:off x="3313297" y="977921"/>
            <a:ext cx="4132764" cy="3200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28" descr="2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96" b="10129"/>
          <a:stretch>
            <a:fillRect/>
          </a:stretch>
        </p:blipFill>
        <p:spPr bwMode="auto">
          <a:xfrm>
            <a:off x="7908179" y="977921"/>
            <a:ext cx="4029890" cy="3200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40030" y="4175628"/>
            <a:ext cx="2615184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wrap="square" rtlCol="0" anchor="t">
            <a:spAutoFit/>
          </a:bodyPr>
          <a:lstStyle/>
          <a:p>
            <a:pPr lvl="0" algn="ctr">
              <a:defRPr/>
            </a:pPr>
            <a:r>
              <a:rPr lang="en-US" sz="1600" kern="0">
                <a:solidFill>
                  <a:prstClr val="black"/>
                </a:solidFill>
                <a:latin typeface="Calibri" panose="020F0502020204030204"/>
              </a:rPr>
              <a:t>Multiprogramming of </a:t>
            </a:r>
          </a:p>
          <a:p>
            <a:pPr lvl="0" algn="ctr">
              <a:defRPr/>
            </a:pPr>
            <a:r>
              <a:rPr lang="en-US" sz="1600" kern="0">
                <a:solidFill>
                  <a:prstClr val="black"/>
                </a:solidFill>
                <a:latin typeface="Calibri" panose="020F0502020204030204"/>
              </a:rPr>
              <a:t>four programs in memory</a:t>
            </a: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13135" y="4175628"/>
            <a:ext cx="4133088" cy="10772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wrap="square" rtlCol="0" anchor="t">
            <a:spAutoFit/>
          </a:bodyPr>
          <a:lstStyle/>
          <a:p>
            <a:pPr lvl="0" algn="ctr">
              <a:defRPr/>
            </a:pPr>
            <a:r>
              <a:rPr lang="en-US" sz="1600" kern="0">
                <a:solidFill>
                  <a:prstClr val="black"/>
                </a:solidFill>
                <a:latin typeface="Calibri" panose="020F0502020204030204"/>
              </a:rPr>
              <a:t>Conceptual model of 4 independent, sequential processes, each with its own flow of control (i.e., its own logical program counter) and each one running independently of the other ones. </a:t>
            </a: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06872" y="4175628"/>
            <a:ext cx="4032504" cy="10772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wrap="square" rtlCol="0" anchor="t">
            <a:spAutoFit/>
          </a:bodyPr>
          <a:lstStyle/>
          <a:p>
            <a:pPr lvl="0" algn="ctr">
              <a:defRPr/>
            </a:pPr>
            <a:r>
              <a:rPr lang="en-US" sz="1600" kern="0">
                <a:solidFill>
                  <a:prstClr val="black"/>
                </a:solidFill>
                <a:latin typeface="Calibri" panose="020F0502020204030204"/>
              </a:rPr>
              <a:t>Over a long period of time interval, all the processes have made progress, but at any given instant only one process is actually running.</a:t>
            </a: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81378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8" y="863444"/>
            <a:ext cx="11932920" cy="5590565"/>
          </a:xfrm>
        </p:spPr>
        <p:txBody>
          <a:bodyPr/>
          <a:lstStyle/>
          <a:p>
            <a:pPr marL="0" indent="0">
              <a:buNone/>
            </a:pPr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17"/>
          <a:stretch>
            <a:fillRect/>
          </a:stretch>
        </p:blipFill>
        <p:spPr bwMode="auto">
          <a:xfrm>
            <a:off x="228600" y="890339"/>
            <a:ext cx="4028810" cy="245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Content Placeholder 2"/>
          <p:cNvSpPr txBox="1"/>
          <p:nvPr/>
        </p:nvSpPr>
        <p:spPr>
          <a:xfrm>
            <a:off x="4257410" y="890339"/>
            <a:ext cx="7589520" cy="2103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b="1">
                <a:solidFill>
                  <a:schemeClr val="accent6"/>
                </a:solidFill>
              </a:rPr>
              <a:t>System initialization</a:t>
            </a:r>
          </a:p>
          <a:p>
            <a:pPr lvl="1"/>
            <a:r>
              <a:rPr lang="en-US"/>
              <a:t>At the time of </a:t>
            </a:r>
            <a:r>
              <a:rPr lang="en-US" b="1">
                <a:solidFill>
                  <a:schemeClr val="accent6"/>
                </a:solidFill>
              </a:rPr>
              <a:t>system (OS) booting </a:t>
            </a:r>
            <a:r>
              <a:rPr lang="en-US"/>
              <a:t>various processes are created</a:t>
            </a:r>
          </a:p>
          <a:p>
            <a:pPr lvl="1"/>
            <a:r>
              <a:rPr lang="en-US"/>
              <a:t>Foreground and background processes are created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Background process </a:t>
            </a:r>
            <a:r>
              <a:rPr lang="en-US"/>
              <a:t>– that </a:t>
            </a:r>
            <a:r>
              <a:rPr lang="en-US" b="1">
                <a:solidFill>
                  <a:schemeClr val="accent6"/>
                </a:solidFill>
              </a:rPr>
              <a:t>do not interact with user </a:t>
            </a:r>
            <a:r>
              <a:rPr lang="en-US"/>
              <a:t>e.g. process to accept mail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Foreground Process </a:t>
            </a:r>
            <a:r>
              <a:rPr lang="en-US"/>
              <a:t>– that </a:t>
            </a:r>
            <a:r>
              <a:rPr lang="en-US" b="1">
                <a:solidFill>
                  <a:schemeClr val="accent6"/>
                </a:solidFill>
              </a:rPr>
              <a:t>interact with user</a:t>
            </a:r>
          </a:p>
        </p:txBody>
      </p:sp>
      <p:sp>
        <p:nvSpPr>
          <p:cNvPr id="12" name="Content Placeholder 2"/>
          <p:cNvSpPr txBox="1"/>
          <p:nvPr/>
        </p:nvSpPr>
        <p:spPr>
          <a:xfrm>
            <a:off x="4257410" y="3565319"/>
            <a:ext cx="7589520" cy="228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b="1">
                <a:solidFill>
                  <a:schemeClr val="accent6"/>
                </a:solidFill>
              </a:rPr>
              <a:t>Execution of a process creation system call (fork) by running process</a:t>
            </a:r>
          </a:p>
          <a:p>
            <a:pPr lvl="1"/>
            <a:r>
              <a:rPr lang="en-US"/>
              <a:t>Running process will issue system call (fork) to </a:t>
            </a:r>
            <a:r>
              <a:rPr lang="en-US" b="1">
                <a:solidFill>
                  <a:schemeClr val="accent6"/>
                </a:solidFill>
              </a:rPr>
              <a:t>create one or more new process to help it</a:t>
            </a:r>
            <a:r>
              <a:rPr lang="en-US"/>
              <a:t>.</a:t>
            </a:r>
          </a:p>
          <a:p>
            <a:pPr lvl="1"/>
            <a:r>
              <a:rPr lang="en-US"/>
              <a:t>A process fetching large amount of data and execute it will create two different processes one for fetching data and another to execute it.</a:t>
            </a:r>
          </a:p>
        </p:txBody>
      </p:sp>
      <p:sp>
        <p:nvSpPr>
          <p:cNvPr id="13" name="Content Placeholder 2"/>
          <p:cNvSpPr txBox="1"/>
          <p:nvPr/>
        </p:nvSpPr>
        <p:spPr>
          <a:xfrm>
            <a:off x="228600" y="3565319"/>
            <a:ext cx="4032504" cy="2459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884852" y="4435187"/>
            <a:ext cx="720000" cy="72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5" name="Oval 14"/>
          <p:cNvSpPr/>
          <p:nvPr/>
        </p:nvSpPr>
        <p:spPr>
          <a:xfrm>
            <a:off x="1884852" y="4435187"/>
            <a:ext cx="720000" cy="72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16" name="Oval 15"/>
          <p:cNvSpPr/>
          <p:nvPr/>
        </p:nvSpPr>
        <p:spPr>
          <a:xfrm>
            <a:off x="1635252" y="4185587"/>
            <a:ext cx="1219200" cy="1219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38163606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06 -4.07407E-06 L 0.12579 -4.07407E-06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89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06 -4.07407E-06 L -0.12929 0.00047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7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4" grpId="1" animBg="1"/>
      <p:bldP spid="15" grpId="0" animBg="1"/>
      <p:bldP spid="15" grpId="1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Creation</a:t>
            </a:r>
          </a:p>
        </p:txBody>
      </p:sp>
      <p:pic>
        <p:nvPicPr>
          <p:cNvPr id="18" name="Content Placeholder 1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227" y="2406217"/>
            <a:ext cx="6648450" cy="3143250"/>
          </a:xfrm>
          <a:ln>
            <a:solidFill>
              <a:schemeClr val="tx1"/>
            </a:solidFill>
          </a:ln>
        </p:spPr>
      </p:pic>
      <p:sp>
        <p:nvSpPr>
          <p:cNvPr id="11" name="Content Placeholder 2"/>
          <p:cNvSpPr txBox="1"/>
          <p:nvPr/>
        </p:nvSpPr>
        <p:spPr>
          <a:xfrm>
            <a:off x="4710532" y="890339"/>
            <a:ext cx="7132320" cy="1097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/>
              <a:t>A </a:t>
            </a:r>
            <a:r>
              <a:rPr lang="en-US" b="1">
                <a:solidFill>
                  <a:schemeClr val="accent6"/>
                </a:solidFill>
              </a:rPr>
              <a:t>user request to create a new process</a:t>
            </a:r>
          </a:p>
          <a:p>
            <a:pPr lvl="1"/>
            <a:r>
              <a:rPr lang="en-US"/>
              <a:t>Start process by clicking an icon (opening word file by double click) or by typing command.</a:t>
            </a:r>
            <a:endParaRPr lang="en-US" b="1">
              <a:solidFill>
                <a:schemeClr val="accent6"/>
              </a:solidFill>
            </a:endParaRPr>
          </a:p>
        </p:txBody>
      </p:sp>
      <p:sp>
        <p:nvSpPr>
          <p:cNvPr id="12" name="Content Placeholder 2"/>
          <p:cNvSpPr txBox="1"/>
          <p:nvPr/>
        </p:nvSpPr>
        <p:spPr>
          <a:xfrm>
            <a:off x="4250157" y="5553292"/>
            <a:ext cx="7589520" cy="822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4"/>
            </a:pPr>
            <a:r>
              <a:rPr lang="en-US" b="1">
                <a:solidFill>
                  <a:schemeClr val="accent6"/>
                </a:solidFill>
              </a:rPr>
              <a:t>Initialization of batch process</a:t>
            </a:r>
          </a:p>
          <a:p>
            <a:pPr lvl="1"/>
            <a:r>
              <a:rPr lang="en-US"/>
              <a:t>Applicable to only batch system found on large mainframe</a:t>
            </a:r>
          </a:p>
        </p:txBody>
      </p:sp>
      <p:pic>
        <p:nvPicPr>
          <p:cNvPr id="17" name="Picture 2" descr="Related image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0127" y="890339"/>
            <a:ext cx="451485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6579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Termination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ontent Placeholder 2"/>
          <p:cNvSpPr txBox="1"/>
          <p:nvPr/>
        </p:nvSpPr>
        <p:spPr>
          <a:xfrm>
            <a:off x="207160" y="4959635"/>
            <a:ext cx="4552950" cy="1005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b="1">
                <a:solidFill>
                  <a:schemeClr val="accent6"/>
                </a:solidFill>
              </a:rPr>
              <a:t>Normal exit (voluntary)</a:t>
            </a:r>
          </a:p>
          <a:p>
            <a:pPr lvl="1"/>
            <a:r>
              <a:rPr lang="en-US"/>
              <a:t>Terminated because process has done its work.</a:t>
            </a:r>
          </a:p>
        </p:txBody>
      </p:sp>
      <p:pic>
        <p:nvPicPr>
          <p:cNvPr id="13" name="Picture 2" descr="Image result for close word 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7160" y="835309"/>
            <a:ext cx="4552950" cy="412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GNWEBSOFT\Desktop\windows-Mingw-Compiler-Comman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01482" y="835309"/>
            <a:ext cx="458152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Image result for file does not exis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2244" y="1213511"/>
            <a:ext cx="220980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ontent Placeholder 2"/>
          <p:cNvSpPr txBox="1"/>
          <p:nvPr/>
        </p:nvSpPr>
        <p:spPr>
          <a:xfrm>
            <a:off x="4901482" y="5033307"/>
            <a:ext cx="7140609" cy="1280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457200" indent="-4572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+mj-lt"/>
              <a:buAutoNum type="arabicPeriod" startAt="2"/>
              <a:defRPr sz="2400" b="1">
                <a:solidFill>
                  <a:schemeClr val="accent6"/>
                </a:solidFill>
              </a:defRPr>
            </a:lvl1pPr>
            <a:lvl2pPr marL="809625" lvl="1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Error exit (voluntary)</a:t>
            </a:r>
          </a:p>
          <a:p>
            <a:pPr lvl="1"/>
            <a:r>
              <a:rPr lang="en-US"/>
              <a:t>The process discovers a fatal error e.g. user types the command cc foo.c to compile the program foo.c and no such file exists, the compiler simply exit.</a:t>
            </a:r>
          </a:p>
        </p:txBody>
      </p:sp>
    </p:spTree>
    <p:extLst>
      <p:ext uri="{BB962C8B-B14F-4D97-AF65-F5344CB8AC3E}">
        <p14:creationId xmlns:p14="http://schemas.microsoft.com/office/powerpoint/2010/main" val="19238774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Termination</a:t>
            </a:r>
          </a:p>
        </p:txBody>
      </p:sp>
      <p:sp>
        <p:nvSpPr>
          <p:cNvPr id="12" name="Content Placeholder 2"/>
          <p:cNvSpPr txBox="1"/>
          <p:nvPr/>
        </p:nvSpPr>
        <p:spPr>
          <a:xfrm>
            <a:off x="207160" y="4654835"/>
            <a:ext cx="6099048" cy="1554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b="1">
                <a:solidFill>
                  <a:schemeClr val="accent6"/>
                </a:solidFill>
              </a:rPr>
              <a:t>Fatal error (involuntary)</a:t>
            </a:r>
          </a:p>
          <a:p>
            <a:pPr lvl="1"/>
            <a:r>
              <a:rPr lang="en-US"/>
              <a:t>An error caused by a process often due to a program bug e.g. executing an illegal instruction, referencing nonexistent memory or divided by zero.</a:t>
            </a:r>
          </a:p>
        </p:txBody>
      </p:sp>
      <p:sp>
        <p:nvSpPr>
          <p:cNvPr id="16" name="Content Placeholder 2"/>
          <p:cNvSpPr txBox="1"/>
          <p:nvPr/>
        </p:nvSpPr>
        <p:spPr>
          <a:xfrm>
            <a:off x="6427628" y="4654835"/>
            <a:ext cx="5629033" cy="1280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457200" indent="-4572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+mj-lt"/>
              <a:buAutoNum type="arabicPeriod" startAt="2"/>
              <a:defRPr sz="2400" b="1">
                <a:solidFill>
                  <a:schemeClr val="accent6"/>
                </a:solidFill>
              </a:defRPr>
            </a:lvl1pPr>
            <a:lvl2pPr marL="809625" lvl="1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Font typeface="+mj-lt"/>
              <a:buAutoNum type="arabicPeriod" startAt="4"/>
            </a:pPr>
            <a:r>
              <a:rPr lang="en-US"/>
              <a:t>Killed by another process (involuntary)</a:t>
            </a:r>
          </a:p>
          <a:p>
            <a:pPr lvl="1"/>
            <a:r>
              <a:rPr lang="en-US"/>
              <a:t>A process executes a system call telling the OS to kill some other process using kill system call.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7160" y="863444"/>
            <a:ext cx="6096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8" t="6102" r="3766" b="4651"/>
          <a:stretch>
            <a:fillRect/>
          </a:stretch>
        </p:blipFill>
        <p:spPr bwMode="auto">
          <a:xfrm>
            <a:off x="1269999" y="2876550"/>
            <a:ext cx="2159001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629" y="1767828"/>
            <a:ext cx="5629033" cy="2887007"/>
          </a:xfrm>
        </p:spPr>
      </p:pic>
    </p:spTree>
    <p:extLst>
      <p:ext uri="{BB962C8B-B14F-4D97-AF65-F5344CB8AC3E}">
        <p14:creationId xmlns:p14="http://schemas.microsoft.com/office/powerpoint/2010/main" val="34757437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Hierarchies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529660" cy="5590565"/>
          </a:xfrm>
        </p:spPr>
        <p:txBody>
          <a:bodyPr/>
          <a:lstStyle/>
          <a:p>
            <a:r>
              <a:rPr lang="en-US"/>
              <a:t>Parent process can create child process, child process can create its own child process.</a:t>
            </a:r>
          </a:p>
          <a:p>
            <a:r>
              <a:rPr lang="en-US" b="1">
                <a:solidFill>
                  <a:schemeClr val="accent6"/>
                </a:solidFill>
              </a:rPr>
              <a:t>UNIX has hierarchy concept </a:t>
            </a:r>
            <a:r>
              <a:rPr lang="en-US"/>
              <a:t>which is known as process group</a:t>
            </a:r>
          </a:p>
          <a:p>
            <a:r>
              <a:rPr lang="en-US"/>
              <a:t>Windows has no concept of hierarchy</a:t>
            </a:r>
          </a:p>
          <a:p>
            <a:pPr lvl="1"/>
            <a:r>
              <a:rPr lang="en-US"/>
              <a:t>All the process as treated equal (</a:t>
            </a:r>
            <a:r>
              <a:rPr lang="en-US" b="1">
                <a:solidFill>
                  <a:schemeClr val="accent6"/>
                </a:solidFill>
              </a:rPr>
              <a:t>use handle </a:t>
            </a:r>
            <a:r>
              <a:rPr lang="en-US"/>
              <a:t>concept)</a:t>
            </a:r>
          </a:p>
          <a:p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071162" y="1057836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P1</a:t>
            </a:r>
          </a:p>
        </p:txBody>
      </p:sp>
      <p:sp>
        <p:nvSpPr>
          <p:cNvPr id="8" name="Oval 7"/>
          <p:cNvSpPr/>
          <p:nvPr/>
        </p:nvSpPr>
        <p:spPr>
          <a:xfrm>
            <a:off x="9070541" y="2033489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P3</a:t>
            </a:r>
          </a:p>
        </p:txBody>
      </p:sp>
      <p:sp>
        <p:nvSpPr>
          <p:cNvPr id="9" name="Oval 8"/>
          <p:cNvSpPr/>
          <p:nvPr/>
        </p:nvSpPr>
        <p:spPr>
          <a:xfrm>
            <a:off x="10042712" y="1886511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P4</a:t>
            </a:r>
          </a:p>
        </p:txBody>
      </p:sp>
      <p:sp>
        <p:nvSpPr>
          <p:cNvPr id="10" name="Oval 9"/>
          <p:cNvSpPr/>
          <p:nvPr/>
        </p:nvSpPr>
        <p:spPr>
          <a:xfrm>
            <a:off x="8099612" y="1883800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P2</a:t>
            </a:r>
          </a:p>
        </p:txBody>
      </p:sp>
      <p:cxnSp>
        <p:nvCxnSpPr>
          <p:cNvPr id="11" name="Straight Arrow Connector 10"/>
          <p:cNvCxnSpPr>
            <a:stCxn id="6" idx="4"/>
          </p:cNvCxnSpPr>
          <p:nvPr/>
        </p:nvCxnSpPr>
        <p:spPr>
          <a:xfrm flipH="1">
            <a:off x="8390124" y="1593947"/>
            <a:ext cx="947738" cy="283039"/>
          </a:xfrm>
          <a:prstGeom prst="straightConnector1">
            <a:avLst/>
          </a:prstGeom>
          <a:ln w="28575">
            <a:solidFill>
              <a:srgbClr val="AE250A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4"/>
            <a:endCxn id="9" idx="0"/>
          </p:cNvCxnSpPr>
          <p:nvPr/>
        </p:nvCxnSpPr>
        <p:spPr>
          <a:xfrm>
            <a:off x="9337862" y="1593947"/>
            <a:ext cx="971550" cy="292564"/>
          </a:xfrm>
          <a:prstGeom prst="straightConnector1">
            <a:avLst/>
          </a:prstGeom>
          <a:ln w="28575">
            <a:solidFill>
              <a:srgbClr val="AE250A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34531" y="1152699"/>
            <a:ext cx="155448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Parent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0051" y="1978663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Child process</a:t>
            </a:r>
          </a:p>
        </p:txBody>
      </p:sp>
      <p:cxnSp>
        <p:nvCxnSpPr>
          <p:cNvPr id="15" name="Straight Arrow Connector 14"/>
          <p:cNvCxnSpPr>
            <a:stCxn id="6" idx="4"/>
            <a:endCxn id="8" idx="0"/>
          </p:cNvCxnSpPr>
          <p:nvPr/>
        </p:nvCxnSpPr>
        <p:spPr>
          <a:xfrm flipH="1">
            <a:off x="9337241" y="1593947"/>
            <a:ext cx="621" cy="439542"/>
          </a:xfrm>
          <a:prstGeom prst="straightConnector1">
            <a:avLst/>
          </a:prstGeom>
          <a:ln w="28575">
            <a:solidFill>
              <a:srgbClr val="AE250A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09377" y="4014745"/>
            <a:ext cx="155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Parent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0765" y="4855656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Child process</a:t>
            </a:r>
          </a:p>
        </p:txBody>
      </p:sp>
      <p:sp>
        <p:nvSpPr>
          <p:cNvPr id="20" name="Oval 19"/>
          <p:cNvSpPr/>
          <p:nvPr/>
        </p:nvSpPr>
        <p:spPr>
          <a:xfrm>
            <a:off x="8634134" y="2866071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P5</a:t>
            </a:r>
          </a:p>
        </p:txBody>
      </p:sp>
      <p:sp>
        <p:nvSpPr>
          <p:cNvPr id="21" name="Oval 20"/>
          <p:cNvSpPr/>
          <p:nvPr/>
        </p:nvSpPr>
        <p:spPr>
          <a:xfrm>
            <a:off x="9510434" y="2866071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P6</a:t>
            </a:r>
          </a:p>
        </p:txBody>
      </p:sp>
      <p:cxnSp>
        <p:nvCxnSpPr>
          <p:cNvPr id="22" name="Straight Arrow Connector 21"/>
          <p:cNvCxnSpPr>
            <a:endCxn id="20" idx="0"/>
          </p:cNvCxnSpPr>
          <p:nvPr/>
        </p:nvCxnSpPr>
        <p:spPr>
          <a:xfrm flipH="1">
            <a:off x="8900834" y="2561271"/>
            <a:ext cx="437529" cy="304800"/>
          </a:xfrm>
          <a:prstGeom prst="straightConnector1">
            <a:avLst/>
          </a:prstGeom>
          <a:ln w="28575">
            <a:solidFill>
              <a:srgbClr val="AE250A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21" idx="0"/>
          </p:cNvCxnSpPr>
          <p:nvPr/>
        </p:nvCxnSpPr>
        <p:spPr>
          <a:xfrm>
            <a:off x="9338363" y="2561271"/>
            <a:ext cx="438771" cy="304800"/>
          </a:xfrm>
          <a:prstGeom prst="straightConnector1">
            <a:avLst/>
          </a:prstGeom>
          <a:ln w="28575">
            <a:solidFill>
              <a:srgbClr val="AE250A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481733" y="1959957"/>
            <a:ext cx="1711016" cy="1823225"/>
          </a:xfrm>
          <a:prstGeom prst="ellipse">
            <a:avLst/>
          </a:prstGeom>
          <a:noFill/>
          <a:ln>
            <a:solidFill>
              <a:srgbClr val="70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5" name="Oval 24"/>
          <p:cNvSpPr/>
          <p:nvPr/>
        </p:nvSpPr>
        <p:spPr>
          <a:xfrm>
            <a:off x="9076523" y="3931356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P3</a:t>
            </a:r>
          </a:p>
        </p:txBody>
      </p:sp>
      <p:sp>
        <p:nvSpPr>
          <p:cNvPr id="26" name="Oval 25"/>
          <p:cNvSpPr/>
          <p:nvPr/>
        </p:nvSpPr>
        <p:spPr>
          <a:xfrm>
            <a:off x="8638994" y="4772267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P5</a:t>
            </a:r>
          </a:p>
        </p:txBody>
      </p:sp>
      <p:sp>
        <p:nvSpPr>
          <p:cNvPr id="27" name="Oval 26"/>
          <p:cNvSpPr/>
          <p:nvPr/>
        </p:nvSpPr>
        <p:spPr>
          <a:xfrm>
            <a:off x="9515294" y="4772267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P6</a:t>
            </a:r>
          </a:p>
        </p:txBody>
      </p:sp>
      <p:cxnSp>
        <p:nvCxnSpPr>
          <p:cNvPr id="28" name="Straight Arrow Connector 27"/>
          <p:cNvCxnSpPr>
            <a:stCxn id="25" idx="4"/>
            <a:endCxn id="26" idx="0"/>
          </p:cNvCxnSpPr>
          <p:nvPr/>
        </p:nvCxnSpPr>
        <p:spPr>
          <a:xfrm flipH="1">
            <a:off x="8905694" y="4467467"/>
            <a:ext cx="437529" cy="304800"/>
          </a:xfrm>
          <a:prstGeom prst="straightConnector1">
            <a:avLst/>
          </a:prstGeom>
          <a:ln w="28575">
            <a:solidFill>
              <a:srgbClr val="AE250A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4"/>
            <a:endCxn id="27" idx="0"/>
          </p:cNvCxnSpPr>
          <p:nvPr/>
        </p:nvCxnSpPr>
        <p:spPr>
          <a:xfrm>
            <a:off x="9343223" y="4467467"/>
            <a:ext cx="438771" cy="304800"/>
          </a:xfrm>
          <a:prstGeom prst="straightConnector1">
            <a:avLst/>
          </a:prstGeom>
          <a:ln w="28575">
            <a:solidFill>
              <a:srgbClr val="AE250A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486593" y="3866153"/>
            <a:ext cx="1711016" cy="1823225"/>
          </a:xfrm>
          <a:prstGeom prst="ellipse">
            <a:avLst/>
          </a:prstGeom>
          <a:noFill/>
          <a:ln>
            <a:solidFill>
              <a:srgbClr val="70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218635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3" grpId="0"/>
      <p:bldP spid="14" grpId="0"/>
      <p:bldP spid="18" grpId="0"/>
      <p:bldP spid="19" grpId="0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529660" cy="5590565"/>
          </a:xfrm>
        </p:spPr>
        <p:txBody>
          <a:bodyPr/>
          <a:lstStyle/>
          <a:p>
            <a:r>
              <a:rPr lang="en-US"/>
              <a:t>When a process is created, the </a:t>
            </a:r>
            <a:r>
              <a:rPr lang="en-US" b="1">
                <a:solidFill>
                  <a:schemeClr val="accent6"/>
                </a:solidFill>
              </a:rPr>
              <a:t>parent process is given a special token called handle</a:t>
            </a:r>
            <a:r>
              <a:rPr lang="en-US"/>
              <a:t>.</a:t>
            </a:r>
          </a:p>
          <a:p>
            <a:r>
              <a:rPr lang="en-US"/>
              <a:t>This </a:t>
            </a:r>
            <a:r>
              <a:rPr lang="en-US" b="1">
                <a:solidFill>
                  <a:schemeClr val="accent6"/>
                </a:solidFill>
              </a:rPr>
              <a:t>handle is used to control the child process</a:t>
            </a:r>
            <a:r>
              <a:rPr lang="en-US"/>
              <a:t>.</a:t>
            </a:r>
          </a:p>
          <a:p>
            <a:r>
              <a:rPr lang="en-US"/>
              <a:t>A </a:t>
            </a:r>
            <a:r>
              <a:rPr lang="en-US" b="1">
                <a:solidFill>
                  <a:schemeClr val="accent6"/>
                </a:solidFill>
              </a:rPr>
              <a:t>process is free to pass this token </a:t>
            </a:r>
            <a:r>
              <a:rPr lang="en-US"/>
              <a:t>to some other process.</a:t>
            </a:r>
          </a:p>
          <a:p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071162" y="1528481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P1</a:t>
            </a:r>
          </a:p>
        </p:txBody>
      </p:sp>
      <p:sp>
        <p:nvSpPr>
          <p:cNvPr id="8" name="Oval 7"/>
          <p:cNvSpPr/>
          <p:nvPr/>
        </p:nvSpPr>
        <p:spPr>
          <a:xfrm>
            <a:off x="9070541" y="2504134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P3</a:t>
            </a:r>
          </a:p>
        </p:txBody>
      </p:sp>
      <p:sp>
        <p:nvSpPr>
          <p:cNvPr id="9" name="Oval 8"/>
          <p:cNvSpPr/>
          <p:nvPr/>
        </p:nvSpPr>
        <p:spPr>
          <a:xfrm>
            <a:off x="10042712" y="2357156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P4</a:t>
            </a:r>
          </a:p>
        </p:txBody>
      </p:sp>
      <p:sp>
        <p:nvSpPr>
          <p:cNvPr id="10" name="Oval 9"/>
          <p:cNvSpPr/>
          <p:nvPr/>
        </p:nvSpPr>
        <p:spPr>
          <a:xfrm>
            <a:off x="8099612" y="2354445"/>
            <a:ext cx="533400" cy="53611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P2</a:t>
            </a:r>
          </a:p>
        </p:txBody>
      </p:sp>
      <p:cxnSp>
        <p:nvCxnSpPr>
          <p:cNvPr id="11" name="Straight Arrow Connector 10"/>
          <p:cNvCxnSpPr>
            <a:stCxn id="6" idx="4"/>
          </p:cNvCxnSpPr>
          <p:nvPr/>
        </p:nvCxnSpPr>
        <p:spPr>
          <a:xfrm flipH="1">
            <a:off x="8390124" y="2064592"/>
            <a:ext cx="947738" cy="283039"/>
          </a:xfrm>
          <a:prstGeom prst="straightConnector1">
            <a:avLst/>
          </a:prstGeom>
          <a:ln w="28575">
            <a:solidFill>
              <a:srgbClr val="AE250A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4"/>
            <a:endCxn id="9" idx="0"/>
          </p:cNvCxnSpPr>
          <p:nvPr/>
        </p:nvCxnSpPr>
        <p:spPr>
          <a:xfrm>
            <a:off x="9337862" y="2064592"/>
            <a:ext cx="971550" cy="292564"/>
          </a:xfrm>
          <a:prstGeom prst="straightConnector1">
            <a:avLst/>
          </a:prstGeom>
          <a:ln w="28575">
            <a:solidFill>
              <a:srgbClr val="AE250A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34531" y="1623344"/>
            <a:ext cx="155448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Parent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0051" y="2449308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Child process</a:t>
            </a:r>
          </a:p>
        </p:txBody>
      </p:sp>
      <p:cxnSp>
        <p:nvCxnSpPr>
          <p:cNvPr id="15" name="Straight Arrow Connector 14"/>
          <p:cNvCxnSpPr>
            <a:stCxn id="6" idx="4"/>
            <a:endCxn id="8" idx="0"/>
          </p:cNvCxnSpPr>
          <p:nvPr/>
        </p:nvCxnSpPr>
        <p:spPr>
          <a:xfrm flipH="1">
            <a:off x="9337241" y="2064592"/>
            <a:ext cx="621" cy="439542"/>
          </a:xfrm>
          <a:prstGeom prst="straightConnector1">
            <a:avLst/>
          </a:prstGeom>
          <a:ln w="28575">
            <a:solidFill>
              <a:srgbClr val="AE250A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2" descr="Image result for tok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8139" y="1140753"/>
            <a:ext cx="378203" cy="378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8303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06 -1.48148E-06 L 4.58333E-06 0.13866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Process states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738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2"/>
          <a:stretch>
            <a:fillRect/>
          </a:stretch>
        </p:blipFill>
        <p:spPr>
          <a:xfrm>
            <a:off x="203201" y="4652086"/>
            <a:ext cx="3316922" cy="1828800"/>
          </a:xfr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states</a:t>
            </a:r>
          </a:p>
        </p:txBody>
      </p:sp>
      <p:sp>
        <p:nvSpPr>
          <p:cNvPr id="8" name="Oval 7"/>
          <p:cNvSpPr/>
          <p:nvPr/>
        </p:nvSpPr>
        <p:spPr>
          <a:xfrm>
            <a:off x="3320550" y="4664786"/>
            <a:ext cx="1549400" cy="901700"/>
          </a:xfrm>
          <a:prstGeom prst="ellipse">
            <a:avLst/>
          </a:prstGeom>
          <a:noFill/>
          <a:ln w="38100">
            <a:solidFill>
              <a:srgbClr val="AE25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Blocked</a:t>
            </a:r>
            <a:endParaRPr lang="en-US" sz="2100" b="1">
              <a:solidFill>
                <a:srgbClr val="00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16" y="856342"/>
            <a:ext cx="3344092" cy="1828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31" y="2754214"/>
            <a:ext cx="3344092" cy="182880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320550" y="856342"/>
            <a:ext cx="1549400" cy="901700"/>
          </a:xfrm>
          <a:prstGeom prst="ellipse">
            <a:avLst/>
          </a:prstGeom>
          <a:noFill/>
          <a:ln w="38100">
            <a:solidFill>
              <a:srgbClr val="AE25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Running</a:t>
            </a:r>
          </a:p>
        </p:txBody>
      </p:sp>
      <p:sp>
        <p:nvSpPr>
          <p:cNvPr id="14" name="Oval 13"/>
          <p:cNvSpPr/>
          <p:nvPr/>
        </p:nvSpPr>
        <p:spPr>
          <a:xfrm>
            <a:off x="3320550" y="2760564"/>
            <a:ext cx="1549400" cy="901700"/>
          </a:xfrm>
          <a:prstGeom prst="ellipse">
            <a:avLst/>
          </a:prstGeom>
          <a:noFill/>
          <a:ln w="38100">
            <a:solidFill>
              <a:srgbClr val="AE25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Ready</a:t>
            </a:r>
            <a:endParaRPr lang="en-US" sz="2100" b="1">
              <a:solidFill>
                <a:srgbClr val="000000"/>
              </a:solidFill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4744092" y="5095834"/>
            <a:ext cx="73152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indent="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  <a:defRPr sz="2400" b="1">
                <a:solidFill>
                  <a:schemeClr val="accent6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Blocked: </a:t>
            </a:r>
          </a:p>
          <a:p>
            <a:r>
              <a:rPr lang="en-US" b="0">
                <a:solidFill>
                  <a:schemeClr val="tx1"/>
                </a:solidFill>
              </a:rPr>
              <a:t>Process is </a:t>
            </a:r>
            <a:r>
              <a:rPr lang="en-US" b="0"/>
              <a:t>unable to run </a:t>
            </a:r>
            <a:r>
              <a:rPr lang="en-US" b="0">
                <a:solidFill>
                  <a:schemeClr val="tx1"/>
                </a:solidFill>
              </a:rPr>
              <a:t>until some external event happens</a:t>
            </a:r>
          </a:p>
        </p:txBody>
      </p:sp>
      <p:sp>
        <p:nvSpPr>
          <p:cNvPr id="10" name="Content Placeholder 2"/>
          <p:cNvSpPr txBox="1"/>
          <p:nvPr/>
        </p:nvSpPr>
        <p:spPr>
          <a:xfrm>
            <a:off x="4744092" y="3211414"/>
            <a:ext cx="7315200" cy="1371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indent="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  <a:defRPr sz="2400">
                <a:solidFill>
                  <a:schemeClr val="accent6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b="1"/>
              <a:t>Ready: </a:t>
            </a:r>
          </a:p>
          <a:p>
            <a:r>
              <a:rPr lang="en-US">
                <a:solidFill>
                  <a:schemeClr val="tx1"/>
                </a:solidFill>
              </a:rPr>
              <a:t>Process is runnable, </a:t>
            </a:r>
            <a:r>
              <a:rPr lang="en-US"/>
              <a:t>temporarily stopped </a:t>
            </a:r>
            <a:r>
              <a:rPr lang="en-US">
                <a:solidFill>
                  <a:schemeClr val="tx1"/>
                </a:solidFill>
              </a:rPr>
              <a:t>to let another process to run</a:t>
            </a:r>
          </a:p>
        </p:txBody>
      </p:sp>
      <p:sp>
        <p:nvSpPr>
          <p:cNvPr id="7" name="Content Placeholder 2"/>
          <p:cNvSpPr txBox="1"/>
          <p:nvPr/>
        </p:nvSpPr>
        <p:spPr>
          <a:xfrm>
            <a:off x="4744092" y="1385413"/>
            <a:ext cx="420624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b="1">
                <a:solidFill>
                  <a:schemeClr val="accent6"/>
                </a:solidFill>
              </a:rPr>
              <a:t>Running:</a:t>
            </a:r>
            <a:r>
              <a:rPr lang="en-US">
                <a:solidFill>
                  <a:schemeClr val="accent6"/>
                </a:solidFill>
              </a:rPr>
              <a:t>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/>
              <a:t>Process is actually </a:t>
            </a:r>
            <a:r>
              <a:rPr lang="en-US">
                <a:solidFill>
                  <a:schemeClr val="accent6"/>
                </a:solidFill>
              </a:rPr>
              <a:t>using the CPU</a:t>
            </a:r>
          </a:p>
        </p:txBody>
      </p:sp>
    </p:spTree>
    <p:extLst>
      <p:ext uri="{BB962C8B-B14F-4D97-AF65-F5344CB8AC3E}">
        <p14:creationId xmlns:p14="http://schemas.microsoft.com/office/powerpoint/2010/main" val="37517688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  <p:bldP spid="9" grpId="0" animBg="1"/>
      <p:bldP spid="10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states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4"/>
          <p:cNvSpPr txBox="1"/>
          <p:nvPr/>
        </p:nvSpPr>
        <p:spPr>
          <a:xfrm>
            <a:off x="437238" y="1357080"/>
            <a:ext cx="4305300" cy="50593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/>
              <a:t>Running</a:t>
            </a:r>
            <a:r>
              <a:rPr lang="en-IN"/>
              <a:t> – Process is actually using the CPU</a:t>
            </a:r>
          </a:p>
          <a:p>
            <a:r>
              <a:rPr lang="en-IN" b="1"/>
              <a:t>Ready</a:t>
            </a:r>
            <a:r>
              <a:rPr lang="en-IN"/>
              <a:t> – Process is runnable, temporarily stopped to let another process to run</a:t>
            </a:r>
          </a:p>
          <a:p>
            <a:r>
              <a:rPr lang="en-IN" b="1"/>
              <a:t>Blocked</a:t>
            </a:r>
            <a:r>
              <a:rPr lang="en-IN"/>
              <a:t> – process is unable to run until some external event happens</a:t>
            </a:r>
          </a:p>
          <a:p>
            <a:r>
              <a:rPr lang="en-IN"/>
              <a:t>Processes are always either </a:t>
            </a:r>
            <a:r>
              <a:rPr lang="en-IN">
                <a:solidFill>
                  <a:srgbClr val="FF0000"/>
                </a:solidFill>
              </a:rPr>
              <a:t>executing (running), waiting to execute (ready) or waiting for an event (blocked)</a:t>
            </a:r>
            <a:r>
              <a:rPr lang="en-IN"/>
              <a:t> to occur.</a:t>
            </a:r>
          </a:p>
        </p:txBody>
      </p:sp>
      <p:sp>
        <p:nvSpPr>
          <p:cNvPr id="7" name="Oval 6"/>
          <p:cNvSpPr/>
          <p:nvPr/>
        </p:nvSpPr>
        <p:spPr>
          <a:xfrm>
            <a:off x="6380838" y="2506430"/>
            <a:ext cx="1549400" cy="901700"/>
          </a:xfrm>
          <a:prstGeom prst="ellipse">
            <a:avLst/>
          </a:prstGeom>
          <a:noFill/>
          <a:ln w="38100">
            <a:solidFill>
              <a:srgbClr val="AE25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Running</a:t>
            </a:r>
          </a:p>
        </p:txBody>
      </p:sp>
      <p:sp>
        <p:nvSpPr>
          <p:cNvPr id="8" name="Oval 7"/>
          <p:cNvSpPr/>
          <p:nvPr/>
        </p:nvSpPr>
        <p:spPr>
          <a:xfrm>
            <a:off x="5174338" y="4039027"/>
            <a:ext cx="1549400" cy="901700"/>
          </a:xfrm>
          <a:prstGeom prst="ellipse">
            <a:avLst/>
          </a:prstGeom>
          <a:noFill/>
          <a:ln w="38100">
            <a:solidFill>
              <a:srgbClr val="AE25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Blocked</a:t>
            </a:r>
            <a:endParaRPr lang="en-US" sz="2100" b="1">
              <a:solidFill>
                <a:srgbClr val="00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600039" y="4039026"/>
            <a:ext cx="1549400" cy="901700"/>
          </a:xfrm>
          <a:prstGeom prst="ellipse">
            <a:avLst/>
          </a:prstGeom>
          <a:noFill/>
          <a:ln w="38100">
            <a:solidFill>
              <a:srgbClr val="AE25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Ready</a:t>
            </a:r>
            <a:endParaRPr lang="en-US" sz="2100" b="1">
              <a:solidFill>
                <a:srgbClr val="000000"/>
              </a:solidFill>
            </a:endParaRPr>
          </a:p>
        </p:txBody>
      </p:sp>
      <p:pic>
        <p:nvPicPr>
          <p:cNvPr id="10" name="Picture 2" descr="Image result for ms office word icon on desk t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9138" y="1433280"/>
            <a:ext cx="8852344" cy="4977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75613" y="2728680"/>
            <a:ext cx="4048125" cy="210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Image result for ms office word opening scree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9138" y="1433279"/>
            <a:ext cx="8852344" cy="4977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ounded Rectangular Callout 12"/>
          <p:cNvSpPr/>
          <p:nvPr/>
        </p:nvSpPr>
        <p:spPr>
          <a:xfrm>
            <a:off x="5949038" y="518880"/>
            <a:ext cx="1651001" cy="685800"/>
          </a:xfrm>
          <a:prstGeom prst="wedgeRoundRectCallout">
            <a:avLst>
              <a:gd name="adj1" fmla="val -27671"/>
              <a:gd name="adj2" fmla="val 88838"/>
              <a:gd name="adj3" fmla="val 16667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Ready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5809338" y="518880"/>
            <a:ext cx="2133600" cy="685800"/>
          </a:xfrm>
          <a:prstGeom prst="wedgeRoundRectCallout">
            <a:avLst>
              <a:gd name="adj1" fmla="val -27671"/>
              <a:gd name="adj2" fmla="val 88838"/>
              <a:gd name="adj3" fmla="val 16667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Running</a:t>
            </a:r>
          </a:p>
        </p:txBody>
      </p:sp>
      <p:pic>
        <p:nvPicPr>
          <p:cNvPr id="15" name="Picture 2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457" y="1433280"/>
            <a:ext cx="8963025" cy="4977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Image result for ms office word printi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22407" y="2026715"/>
            <a:ext cx="4981575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Related imag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60531" y="2791251"/>
            <a:ext cx="4505325" cy="249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ounded Rectangular Callout 17"/>
          <p:cNvSpPr/>
          <p:nvPr/>
        </p:nvSpPr>
        <p:spPr>
          <a:xfrm>
            <a:off x="5809338" y="504769"/>
            <a:ext cx="2133600" cy="685800"/>
          </a:xfrm>
          <a:prstGeom prst="wedgeRoundRectCallout">
            <a:avLst>
              <a:gd name="adj1" fmla="val -27671"/>
              <a:gd name="adj2" fmla="val 88838"/>
              <a:gd name="adj3" fmla="val 16667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Blocked</a:t>
            </a:r>
          </a:p>
        </p:txBody>
      </p:sp>
      <p:pic>
        <p:nvPicPr>
          <p:cNvPr id="19" name="Picture 8" descr="Image result for word waiting for printe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7538" y="1509480"/>
            <a:ext cx="8953944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6693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  <p:cond evt="onBegin" delay="0">
                          <p:tn val="6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  <p:cond evt="onBegin" delay="0">
                          <p:tn val="10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  <p:cond evt="onBegin" delay="0">
                          <p:tn val="27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  <p:cond evt="onBegin" delay="0">
                          <p:tn val="31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  <p:cond evt="onBegin" delay="0">
                          <p:tn val="36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  <p:cond evt="onBegin" delay="0">
                          <p:tn val="40"/>
                        </p:cond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  <p:cond evt="onBegin" delay="0">
                          <p:tn val="44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  <p:cond evt="onBegin" delay="0">
                          <p:tn val="48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  <p:cond evt="onBegin" delay="0">
                          <p:tn val="5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  <p:cond evt="onBegin" delay="0">
                          <p:tn val="57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  <p:cond evt="onBegin" delay="0">
                          <p:tn val="65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  <p:cond evt="onBegin" delay="0">
                          <p:tn val="69"/>
                        </p:cond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  <p:cond evt="onBegin" delay="0">
                          <p:tn val="73"/>
                        </p:cond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13" grpId="3" animBg="1"/>
      <p:bldP spid="14" grpId="0" animBg="1"/>
      <p:bldP spid="14" grpId="1" animBg="1"/>
      <p:bldP spid="18" grpId="0" animBg="1"/>
      <p:bldP spid="18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Process states transitions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366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State Transitions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721048" cy="5590565"/>
          </a:xfrm>
        </p:spPr>
        <p:txBody>
          <a:bodyPr/>
          <a:lstStyle/>
          <a:p>
            <a:r>
              <a:rPr lang="en-US"/>
              <a:t>When and how these transitions occur (process moves from one state to another)?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>
                <a:solidFill>
                  <a:schemeClr val="accent6"/>
                </a:solidFill>
              </a:rPr>
              <a:t>Process blocks for input or waits for an event</a:t>
            </a:r>
            <a:r>
              <a:rPr lang="en-US"/>
              <a:t> (i.e. printer is not available)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Scheduler </a:t>
            </a:r>
            <a:r>
              <a:rPr lang="en-US">
                <a:solidFill>
                  <a:schemeClr val="accent6"/>
                </a:solidFill>
              </a:rPr>
              <a:t>picks another process</a:t>
            </a:r>
          </a:p>
          <a:p>
            <a:pPr lvl="2"/>
            <a:r>
              <a:rPr lang="en-US"/>
              <a:t>End of time-slice or pre-emption.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Scheduler </a:t>
            </a:r>
            <a:r>
              <a:rPr lang="en-US">
                <a:solidFill>
                  <a:schemeClr val="accent6"/>
                </a:solidFill>
              </a:rPr>
              <a:t>picks this process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>
                <a:solidFill>
                  <a:schemeClr val="accent6"/>
                </a:solidFill>
              </a:rPr>
              <a:t>Input becomes available, event arrives </a:t>
            </a:r>
            <a:r>
              <a:rPr lang="en-US"/>
              <a:t>(i.e. printer become available)</a:t>
            </a:r>
          </a:p>
        </p:txBody>
      </p:sp>
      <p:sp>
        <p:nvSpPr>
          <p:cNvPr id="6" name="Oval 5"/>
          <p:cNvSpPr/>
          <p:nvPr/>
        </p:nvSpPr>
        <p:spPr>
          <a:xfrm>
            <a:off x="9254668" y="1925867"/>
            <a:ext cx="1549400" cy="901700"/>
          </a:xfrm>
          <a:prstGeom prst="ellipse">
            <a:avLst/>
          </a:prstGeom>
          <a:noFill/>
          <a:ln w="38100">
            <a:solidFill>
              <a:srgbClr val="AE25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Running</a:t>
            </a:r>
          </a:p>
        </p:txBody>
      </p:sp>
      <p:sp>
        <p:nvSpPr>
          <p:cNvPr id="8" name="Oval 7"/>
          <p:cNvSpPr/>
          <p:nvPr/>
        </p:nvSpPr>
        <p:spPr>
          <a:xfrm>
            <a:off x="8048168" y="3458464"/>
            <a:ext cx="1549400" cy="901700"/>
          </a:xfrm>
          <a:prstGeom prst="ellipse">
            <a:avLst/>
          </a:prstGeom>
          <a:noFill/>
          <a:ln w="38100">
            <a:solidFill>
              <a:srgbClr val="AE25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Blocked</a:t>
            </a:r>
            <a:endParaRPr lang="en-US" sz="2100" b="1">
              <a:solidFill>
                <a:srgbClr val="00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0473869" y="3458463"/>
            <a:ext cx="1549400" cy="901700"/>
          </a:xfrm>
          <a:prstGeom prst="ellipse">
            <a:avLst/>
          </a:prstGeom>
          <a:noFill/>
          <a:ln w="38100">
            <a:solidFill>
              <a:srgbClr val="AE25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Ready</a:t>
            </a:r>
            <a:endParaRPr lang="en-US" sz="2100" b="1">
              <a:solidFill>
                <a:srgbClr val="000000"/>
              </a:solidFill>
            </a:endParaRPr>
          </a:p>
        </p:txBody>
      </p:sp>
      <p:sp>
        <p:nvSpPr>
          <p:cNvPr id="10" name="Arc 9"/>
          <p:cNvSpPr/>
          <p:nvPr/>
        </p:nvSpPr>
        <p:spPr>
          <a:xfrm rot="669130">
            <a:off x="9898217" y="2545008"/>
            <a:ext cx="1405055" cy="1586428"/>
          </a:xfrm>
          <a:prstGeom prst="arc">
            <a:avLst/>
          </a:prstGeom>
          <a:ln w="38100">
            <a:solidFill>
              <a:srgbClr val="AE250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Arc 10"/>
          <p:cNvSpPr/>
          <p:nvPr/>
        </p:nvSpPr>
        <p:spPr>
          <a:xfrm rot="12370299">
            <a:off x="10173093" y="2313483"/>
            <a:ext cx="1352062" cy="1602173"/>
          </a:xfrm>
          <a:prstGeom prst="arc">
            <a:avLst/>
          </a:prstGeom>
          <a:ln w="38100">
            <a:solidFill>
              <a:srgbClr val="AE250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Arc 11"/>
          <p:cNvSpPr/>
          <p:nvPr/>
        </p:nvSpPr>
        <p:spPr>
          <a:xfrm rot="20930870" flipH="1">
            <a:off x="8782610" y="2561687"/>
            <a:ext cx="1405055" cy="1586428"/>
          </a:xfrm>
          <a:prstGeom prst="arc">
            <a:avLst/>
          </a:prstGeom>
          <a:ln w="38100">
            <a:solidFill>
              <a:srgbClr val="AE250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Arc 12"/>
          <p:cNvSpPr/>
          <p:nvPr/>
        </p:nvSpPr>
        <p:spPr>
          <a:xfrm rot="13844775" flipH="1">
            <a:off x="9315182" y="2827817"/>
            <a:ext cx="1543793" cy="1623599"/>
          </a:xfrm>
          <a:prstGeom prst="arc">
            <a:avLst>
              <a:gd name="adj1" fmla="val 16200000"/>
              <a:gd name="adj2" fmla="val 348710"/>
            </a:avLst>
          </a:prstGeom>
          <a:ln w="38100">
            <a:solidFill>
              <a:srgbClr val="AE250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TextBox 13"/>
          <p:cNvSpPr txBox="1"/>
          <p:nvPr/>
        </p:nvSpPr>
        <p:spPr>
          <a:xfrm>
            <a:off x="8477679" y="3109165"/>
            <a:ext cx="2115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02184" y="3087220"/>
            <a:ext cx="2115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7922" y="2918289"/>
            <a:ext cx="2115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9964" y="4062780"/>
            <a:ext cx="2115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/>
              <a:t>4</a:t>
            </a:r>
          </a:p>
        </p:txBody>
      </p:sp>
      <p:sp>
        <p:nvSpPr>
          <p:cNvPr id="18" name="Content Placeholder 2"/>
          <p:cNvSpPr txBox="1"/>
          <p:nvPr/>
        </p:nvSpPr>
        <p:spPr>
          <a:xfrm>
            <a:off x="401865" y="4517700"/>
            <a:ext cx="1138827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indent="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  <a:defRPr sz="2400">
                <a:solidFill>
                  <a:schemeClr val="accent6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2800">
                <a:solidFill>
                  <a:schemeClr val="tx1"/>
                </a:solidFill>
              </a:rPr>
              <a:t>Processes are always either executing (running) or waiting to execute (ready) or waiting for an event (blocked) to occur.</a:t>
            </a:r>
          </a:p>
        </p:txBody>
      </p:sp>
    </p:spTree>
    <p:extLst>
      <p:ext uri="{BB962C8B-B14F-4D97-AF65-F5344CB8AC3E}">
        <p14:creationId xmlns:p14="http://schemas.microsoft.com/office/powerpoint/2010/main" val="41919256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Five State Process Model and Transitions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 b="1">
                <a:solidFill>
                  <a:schemeClr val="accent6"/>
                </a:solidFill>
              </a:rPr>
              <a:t>New</a:t>
            </a:r>
            <a:r>
              <a:rPr lang="en-US"/>
              <a:t> – process is being </a:t>
            </a:r>
            <a:r>
              <a:rPr lang="en-US" b="1">
                <a:solidFill>
                  <a:schemeClr val="accent6"/>
                </a:solidFill>
              </a:rPr>
              <a:t>created</a:t>
            </a:r>
          </a:p>
          <a:p>
            <a:r>
              <a:rPr lang="en-US" b="1">
                <a:solidFill>
                  <a:schemeClr val="accent6"/>
                </a:solidFill>
              </a:rPr>
              <a:t>Ready</a:t>
            </a:r>
            <a:r>
              <a:rPr lang="en-US"/>
              <a:t> – process is </a:t>
            </a:r>
            <a:r>
              <a:rPr lang="en-US" b="1">
                <a:solidFill>
                  <a:schemeClr val="accent6"/>
                </a:solidFill>
              </a:rPr>
              <a:t>waiting to run (runnable)</a:t>
            </a:r>
            <a:r>
              <a:rPr lang="en-US"/>
              <a:t>, temporarily stopped to let another process run</a:t>
            </a:r>
          </a:p>
          <a:p>
            <a:r>
              <a:rPr lang="en-US" b="1">
                <a:solidFill>
                  <a:schemeClr val="accent6"/>
                </a:solidFill>
              </a:rPr>
              <a:t>Running</a:t>
            </a:r>
            <a:r>
              <a:rPr lang="en-US"/>
              <a:t> – process is actually </a:t>
            </a:r>
            <a:r>
              <a:rPr lang="en-US" b="1">
                <a:solidFill>
                  <a:schemeClr val="accent6"/>
                </a:solidFill>
              </a:rPr>
              <a:t>using the CPU</a:t>
            </a:r>
          </a:p>
          <a:p>
            <a:r>
              <a:rPr lang="en-US" b="1">
                <a:solidFill>
                  <a:schemeClr val="accent6"/>
                </a:solidFill>
              </a:rPr>
              <a:t>Blocked</a:t>
            </a:r>
            <a:r>
              <a:rPr lang="en-US"/>
              <a:t> – </a:t>
            </a:r>
            <a:r>
              <a:rPr lang="en-US" b="1">
                <a:solidFill>
                  <a:schemeClr val="accent6"/>
                </a:solidFill>
              </a:rPr>
              <a:t>unable to run </a:t>
            </a:r>
            <a:r>
              <a:rPr lang="en-US"/>
              <a:t>until some external event happens</a:t>
            </a:r>
          </a:p>
          <a:p>
            <a:r>
              <a:rPr lang="en-US" b="1">
                <a:solidFill>
                  <a:schemeClr val="accent6"/>
                </a:solidFill>
              </a:rPr>
              <a:t>Exit (Terminated) </a:t>
            </a:r>
            <a:r>
              <a:rPr lang="en-US"/>
              <a:t>– process has </a:t>
            </a:r>
            <a:r>
              <a:rPr lang="en-US" b="1">
                <a:solidFill>
                  <a:schemeClr val="accent6"/>
                </a:solidFill>
              </a:rPr>
              <a:t>finished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the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execution</a:t>
            </a: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2402397" y="1256067"/>
            <a:ext cx="1076325" cy="504825"/>
          </a:xfrm>
          <a:prstGeom prst="ellipse">
            <a:avLst/>
          </a:prstGeom>
          <a:ln w="28575">
            <a:solidFill>
              <a:srgbClr val="AE250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endParaRPr lang="ar-SA" altLang="en-US" sz="1800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6002847" y="1256067"/>
            <a:ext cx="1076325" cy="504825"/>
          </a:xfrm>
          <a:prstGeom prst="ellipse">
            <a:avLst/>
          </a:prstGeom>
          <a:ln w="28575">
            <a:solidFill>
              <a:srgbClr val="AE250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endParaRPr lang="ar-SA" altLang="en-US" sz="1800"/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7774497" y="1256067"/>
            <a:ext cx="1076325" cy="504825"/>
          </a:xfrm>
          <a:prstGeom prst="ellipse">
            <a:avLst/>
          </a:prstGeom>
          <a:ln w="28575">
            <a:solidFill>
              <a:srgbClr val="AE250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endParaRPr lang="ar-SA" altLang="en-US" sz="1800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4237863" y="1256067"/>
            <a:ext cx="1076325" cy="504825"/>
          </a:xfrm>
          <a:prstGeom prst="ellipse">
            <a:avLst/>
          </a:prstGeom>
          <a:ln w="28575">
            <a:solidFill>
              <a:srgbClr val="AE250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endParaRPr lang="ar-SA" altLang="en-US" sz="1800"/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4237863" y="2617585"/>
            <a:ext cx="1076325" cy="504825"/>
          </a:xfrm>
          <a:prstGeom prst="ellipse">
            <a:avLst/>
          </a:prstGeom>
          <a:ln w="28575">
            <a:solidFill>
              <a:srgbClr val="AE250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endParaRPr lang="ar-SA" alt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716539" y="1367094"/>
            <a:ext cx="448040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latin typeface="+mj-lt"/>
              </a:rPr>
              <a:t>New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487083" y="1367094"/>
            <a:ext cx="577884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latin typeface="+mj-lt"/>
              </a:rPr>
              <a:t>Ready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179131" y="1367094"/>
            <a:ext cx="723757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latin typeface="+mj-lt"/>
              </a:rPr>
              <a:t>Running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8109478" y="1367094"/>
            <a:ext cx="406362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latin typeface="+mj-lt"/>
              </a:rPr>
              <a:t>Exit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4416551" y="2728612"/>
            <a:ext cx="718948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latin typeface="+mj-lt"/>
              </a:rPr>
              <a:t>Blocked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3489438" y="1508479"/>
            <a:ext cx="732234" cy="0"/>
          </a:xfrm>
          <a:prstGeom prst="line">
            <a:avLst/>
          </a:prstGeom>
          <a:noFill/>
          <a:ln w="28575">
            <a:solidFill>
              <a:srgbClr val="AE250A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 flipH="1" flipV="1">
            <a:off x="4764248" y="1778669"/>
            <a:ext cx="4672" cy="821626"/>
          </a:xfrm>
          <a:prstGeom prst="line">
            <a:avLst/>
          </a:prstGeom>
          <a:noFill/>
          <a:ln w="28575">
            <a:solidFill>
              <a:srgbClr val="AE250A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7089888" y="1508479"/>
            <a:ext cx="675084" cy="0"/>
          </a:xfrm>
          <a:prstGeom prst="line">
            <a:avLst/>
          </a:prstGeom>
          <a:noFill/>
          <a:ln w="28575">
            <a:solidFill>
              <a:srgbClr val="AE250A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5261088" y="1365604"/>
            <a:ext cx="789384" cy="0"/>
          </a:xfrm>
          <a:prstGeom prst="line">
            <a:avLst/>
          </a:prstGeom>
          <a:noFill/>
          <a:ln w="28575">
            <a:solidFill>
              <a:srgbClr val="AE250A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H="1">
            <a:off x="5251563" y="1651354"/>
            <a:ext cx="808434" cy="0"/>
          </a:xfrm>
          <a:prstGeom prst="line">
            <a:avLst/>
          </a:prstGeom>
          <a:noFill/>
          <a:ln w="28575">
            <a:solidFill>
              <a:srgbClr val="AE250A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3536076" y="1215292"/>
            <a:ext cx="560250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+mj-lt"/>
              </a:rPr>
              <a:t>Admit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4797770" y="2115420"/>
            <a:ext cx="633988" cy="49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+mj-lt"/>
              </a:rPr>
              <a:t>Event</a:t>
            </a:r>
          </a:p>
          <a:p>
            <a:r>
              <a:rPr lang="en-US" altLang="en-US" sz="1400">
                <a:latin typeface="+mj-lt"/>
              </a:rPr>
              <a:t>Occurs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244420" y="1079893"/>
            <a:ext cx="760626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+mj-lt"/>
              </a:rPr>
              <a:t>Dispatch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7079376" y="1226138"/>
            <a:ext cx="691697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+mj-lt"/>
              </a:rPr>
              <a:t>Release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5244420" y="1639081"/>
            <a:ext cx="763832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+mj-lt"/>
              </a:rPr>
              <a:t>Time-out</a:t>
            </a:r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>
            <a:off x="5323713" y="1727063"/>
            <a:ext cx="957739" cy="1099957"/>
          </a:xfrm>
          <a:prstGeom prst="line">
            <a:avLst/>
          </a:prstGeom>
          <a:noFill/>
          <a:ln w="28575">
            <a:solidFill>
              <a:srgbClr val="AE250A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5796703" y="2207601"/>
            <a:ext cx="526588" cy="49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+mj-lt"/>
              </a:rPr>
              <a:t>Event</a:t>
            </a:r>
          </a:p>
          <a:p>
            <a:r>
              <a:rPr lang="en-US" altLang="en-US" sz="1400">
                <a:latin typeface="+mj-lt"/>
              </a:rPr>
              <a:t>Wait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492344" y="6367376"/>
            <a:ext cx="699516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2477730"/>
              </p:ext>
            </p:extLst>
          </p:nvPr>
        </p:nvGraphicFramePr>
        <p:xfrm>
          <a:off x="492344" y="5979391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2494333"/>
              </p:ext>
            </p:extLst>
          </p:nvPr>
        </p:nvGraphicFramePr>
        <p:xfrm>
          <a:off x="1591273" y="5970503"/>
          <a:ext cx="603504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350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process resides in which memory during different state?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2584665" y="804070"/>
            <a:ext cx="64008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HDD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5985" y="800257"/>
            <a:ext cx="64008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9512" y="807925"/>
            <a:ext cx="64008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2367" y="3205362"/>
            <a:ext cx="64008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2619" y="800257"/>
            <a:ext cx="64008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8912431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 animBg="1"/>
      <p:bldP spid="25" grpId="0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34" name="Picture 2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89095" y="3213411"/>
            <a:ext cx="1156465" cy="84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" name="Group 34"/>
          <p:cNvGrpSpPr/>
          <p:nvPr/>
        </p:nvGrpSpPr>
        <p:grpSpPr>
          <a:xfrm>
            <a:off x="6661336" y="5400990"/>
            <a:ext cx="1766888" cy="514350"/>
            <a:chOff x="1488" y="3024"/>
            <a:chExt cx="1484" cy="432"/>
          </a:xfrm>
        </p:grpSpPr>
        <p:sp>
          <p:nvSpPr>
            <p:cNvPr id="36" name="Line 5"/>
            <p:cNvSpPr>
              <a:spLocks noChangeShapeType="1"/>
            </p:cNvSpPr>
            <p:nvPr/>
          </p:nvSpPr>
          <p:spPr bwMode="auto">
            <a:xfrm>
              <a:off x="1493" y="3024"/>
              <a:ext cx="14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7" name="Line 6"/>
            <p:cNvSpPr>
              <a:spLocks noChangeShapeType="1"/>
            </p:cNvSpPr>
            <p:nvPr/>
          </p:nvSpPr>
          <p:spPr bwMode="auto">
            <a:xfrm flipH="1">
              <a:off x="1488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8" name="Line 7"/>
            <p:cNvSpPr>
              <a:spLocks noChangeShapeType="1"/>
            </p:cNvSpPr>
            <p:nvPr/>
          </p:nvSpPr>
          <p:spPr bwMode="auto">
            <a:xfrm>
              <a:off x="1493" y="3456"/>
              <a:ext cx="14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9" name="Line 8"/>
            <p:cNvSpPr>
              <a:spLocks noChangeShapeType="1"/>
            </p:cNvSpPr>
            <p:nvPr/>
          </p:nvSpPr>
          <p:spPr bwMode="auto">
            <a:xfrm flipH="1">
              <a:off x="1680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40" name="Line 9"/>
            <p:cNvSpPr>
              <a:spLocks noChangeShapeType="1"/>
            </p:cNvSpPr>
            <p:nvPr/>
          </p:nvSpPr>
          <p:spPr bwMode="auto">
            <a:xfrm flipH="1">
              <a:off x="1872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41" name="Line 10"/>
            <p:cNvSpPr>
              <a:spLocks noChangeShapeType="1"/>
            </p:cNvSpPr>
            <p:nvPr/>
          </p:nvSpPr>
          <p:spPr bwMode="auto">
            <a:xfrm flipH="1">
              <a:off x="2064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 flipH="1">
              <a:off x="2256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43" name="Line 12"/>
            <p:cNvSpPr>
              <a:spLocks noChangeShapeType="1"/>
            </p:cNvSpPr>
            <p:nvPr/>
          </p:nvSpPr>
          <p:spPr bwMode="auto">
            <a:xfrm flipH="1">
              <a:off x="2448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44" name="Line 13"/>
            <p:cNvSpPr>
              <a:spLocks noChangeShapeType="1"/>
            </p:cNvSpPr>
            <p:nvPr/>
          </p:nvSpPr>
          <p:spPr bwMode="auto">
            <a:xfrm flipH="1">
              <a:off x="2640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657765" y="3375501"/>
            <a:ext cx="1779984" cy="522684"/>
            <a:chOff x="1485" y="1341"/>
            <a:chExt cx="1495" cy="439"/>
          </a:xfrm>
        </p:grpSpPr>
        <p:sp>
          <p:nvSpPr>
            <p:cNvPr id="46" name="Line 15"/>
            <p:cNvSpPr>
              <a:spLocks noChangeShapeType="1"/>
            </p:cNvSpPr>
            <p:nvPr/>
          </p:nvSpPr>
          <p:spPr bwMode="auto">
            <a:xfrm flipH="1">
              <a:off x="1485" y="1776"/>
              <a:ext cx="14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47" name="Line 16"/>
            <p:cNvSpPr>
              <a:spLocks noChangeShapeType="1"/>
            </p:cNvSpPr>
            <p:nvPr/>
          </p:nvSpPr>
          <p:spPr bwMode="auto">
            <a:xfrm flipH="1" flipV="1">
              <a:off x="2976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48" name="Line 17"/>
            <p:cNvSpPr>
              <a:spLocks noChangeShapeType="1"/>
            </p:cNvSpPr>
            <p:nvPr/>
          </p:nvSpPr>
          <p:spPr bwMode="auto">
            <a:xfrm flipH="1">
              <a:off x="1485" y="1344"/>
              <a:ext cx="14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49" name="Line 18"/>
            <p:cNvSpPr>
              <a:spLocks noChangeShapeType="1"/>
            </p:cNvSpPr>
            <p:nvPr/>
          </p:nvSpPr>
          <p:spPr bwMode="auto">
            <a:xfrm flipH="1" flipV="1">
              <a:off x="2784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50" name="Line 19"/>
            <p:cNvSpPr>
              <a:spLocks noChangeShapeType="1"/>
            </p:cNvSpPr>
            <p:nvPr/>
          </p:nvSpPr>
          <p:spPr bwMode="auto">
            <a:xfrm flipH="1" flipV="1">
              <a:off x="2592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51" name="Line 20"/>
            <p:cNvSpPr>
              <a:spLocks noChangeShapeType="1"/>
            </p:cNvSpPr>
            <p:nvPr/>
          </p:nvSpPr>
          <p:spPr bwMode="auto">
            <a:xfrm flipH="1" flipV="1">
              <a:off x="2400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52" name="Line 21"/>
            <p:cNvSpPr>
              <a:spLocks noChangeShapeType="1"/>
            </p:cNvSpPr>
            <p:nvPr/>
          </p:nvSpPr>
          <p:spPr bwMode="auto">
            <a:xfrm flipH="1" flipV="1">
              <a:off x="2208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53" name="Line 22"/>
            <p:cNvSpPr>
              <a:spLocks noChangeShapeType="1"/>
            </p:cNvSpPr>
            <p:nvPr/>
          </p:nvSpPr>
          <p:spPr bwMode="auto">
            <a:xfrm flipH="1" flipV="1">
              <a:off x="2016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54" name="Line 23"/>
            <p:cNvSpPr>
              <a:spLocks noChangeShapeType="1"/>
            </p:cNvSpPr>
            <p:nvPr/>
          </p:nvSpPr>
          <p:spPr bwMode="auto">
            <a:xfrm flipH="1" flipV="1">
              <a:off x="1824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</p:grpSp>
      <p:sp>
        <p:nvSpPr>
          <p:cNvPr id="56" name="Line 25"/>
          <p:cNvSpPr>
            <a:spLocks noChangeShapeType="1"/>
          </p:cNvSpPr>
          <p:nvPr/>
        </p:nvSpPr>
        <p:spPr bwMode="auto">
          <a:xfrm>
            <a:off x="8438940" y="3636843"/>
            <a:ext cx="124658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7" name="Line 26"/>
          <p:cNvSpPr>
            <a:spLocks noChangeShapeType="1"/>
          </p:cNvSpPr>
          <p:nvPr/>
        </p:nvSpPr>
        <p:spPr bwMode="auto">
          <a:xfrm>
            <a:off x="10795187" y="3636843"/>
            <a:ext cx="73223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8" name="Line 27"/>
          <p:cNvSpPr>
            <a:spLocks noChangeShapeType="1"/>
          </p:cNvSpPr>
          <p:nvPr/>
        </p:nvSpPr>
        <p:spPr bwMode="auto">
          <a:xfrm flipH="1">
            <a:off x="5857665" y="5686740"/>
            <a:ext cx="80843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9" name="Line 28"/>
          <p:cNvSpPr>
            <a:spLocks noChangeShapeType="1"/>
          </p:cNvSpPr>
          <p:nvPr/>
        </p:nvSpPr>
        <p:spPr bwMode="auto">
          <a:xfrm flipH="1" flipV="1">
            <a:off x="5861236" y="3682919"/>
            <a:ext cx="0" cy="200858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0" name="Line 29"/>
          <p:cNvSpPr>
            <a:spLocks noChangeShapeType="1"/>
          </p:cNvSpPr>
          <p:nvPr/>
        </p:nvSpPr>
        <p:spPr bwMode="auto">
          <a:xfrm flipV="1">
            <a:off x="10793646" y="3800790"/>
            <a:ext cx="377778" cy="119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1" name="Line 30"/>
          <p:cNvSpPr>
            <a:spLocks noChangeShapeType="1"/>
          </p:cNvSpPr>
          <p:nvPr/>
        </p:nvSpPr>
        <p:spPr bwMode="auto">
          <a:xfrm flipH="1">
            <a:off x="11176186" y="3806744"/>
            <a:ext cx="0" cy="187523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2" name="Line 31"/>
          <p:cNvSpPr>
            <a:spLocks noChangeShapeType="1"/>
          </p:cNvSpPr>
          <p:nvPr/>
        </p:nvSpPr>
        <p:spPr bwMode="auto">
          <a:xfrm flipH="1">
            <a:off x="8437749" y="5686740"/>
            <a:ext cx="2743200" cy="205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3" name="Line 32"/>
          <p:cNvSpPr>
            <a:spLocks noChangeShapeType="1"/>
          </p:cNvSpPr>
          <p:nvPr/>
        </p:nvSpPr>
        <p:spPr bwMode="auto">
          <a:xfrm flipH="1">
            <a:off x="5857665" y="4772340"/>
            <a:ext cx="532328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5221871" y="3326922"/>
            <a:ext cx="738184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Admit</a:t>
            </a:r>
          </a:p>
        </p:txBody>
      </p:sp>
      <p:sp>
        <p:nvSpPr>
          <p:cNvPr id="65" name="Rectangle 64"/>
          <p:cNvSpPr>
            <a:spLocks noChangeArrowheads="1"/>
          </p:cNvSpPr>
          <p:nvPr/>
        </p:nvSpPr>
        <p:spPr bwMode="auto">
          <a:xfrm>
            <a:off x="6822071" y="3027688"/>
            <a:ext cx="1451520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Ready Queue</a:t>
            </a: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8420766" y="2332757"/>
            <a:ext cx="1271984" cy="1298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6"/>
                </a:solidFill>
                <a:latin typeface="+mj-lt"/>
              </a:rPr>
              <a:t>Process is </a:t>
            </a:r>
          </a:p>
          <a:p>
            <a:r>
              <a:rPr lang="en-US" altLang="en-US" sz="2000" b="1">
                <a:solidFill>
                  <a:schemeClr val="accent6"/>
                </a:solidFill>
                <a:latin typeface="+mj-lt"/>
              </a:rPr>
              <a:t>Scheduled</a:t>
            </a:r>
          </a:p>
          <a:p>
            <a:r>
              <a:rPr lang="en-US" altLang="en-US" sz="2000" b="1">
                <a:solidFill>
                  <a:schemeClr val="accent6"/>
                </a:solidFill>
                <a:latin typeface="+mj-lt"/>
              </a:rPr>
              <a:t>to run</a:t>
            </a:r>
          </a:p>
          <a:p>
            <a:r>
              <a:rPr lang="en-US" altLang="en-US" sz="2000">
                <a:latin typeface="+mj-lt"/>
              </a:rPr>
              <a:t>Dispatch</a:t>
            </a:r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8174621" y="4407680"/>
            <a:ext cx="1033137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Time-out</a:t>
            </a:r>
          </a:p>
        </p:txBody>
      </p:sp>
      <p:sp>
        <p:nvSpPr>
          <p:cNvPr id="68" name="Rectangle 67"/>
          <p:cNvSpPr>
            <a:spLocks noChangeArrowheads="1"/>
          </p:cNvSpPr>
          <p:nvPr/>
        </p:nvSpPr>
        <p:spPr bwMode="auto">
          <a:xfrm>
            <a:off x="9108071" y="5313688"/>
            <a:ext cx="1209467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Event</a:t>
            </a:r>
            <a:r>
              <a:rPr lang="en-US" altLang="en-US" sz="2000"/>
              <a:t> </a:t>
            </a:r>
            <a:r>
              <a:rPr lang="en-US" altLang="en-US" sz="2000">
                <a:latin typeface="+mj-lt"/>
              </a:rPr>
              <a:t>Wait</a:t>
            </a: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10793646" y="2593168"/>
            <a:ext cx="1267175" cy="99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6"/>
                </a:solidFill>
                <a:latin typeface="+mj-lt"/>
              </a:rPr>
              <a:t>Process is </a:t>
            </a:r>
          </a:p>
          <a:p>
            <a:r>
              <a:rPr lang="en-US" altLang="en-US" sz="2000" b="1">
                <a:solidFill>
                  <a:schemeClr val="accent6"/>
                </a:solidFill>
                <a:latin typeface="+mj-lt"/>
              </a:rPr>
              <a:t>completed </a:t>
            </a:r>
          </a:p>
          <a:p>
            <a:r>
              <a:rPr lang="en-US" altLang="en-US" sz="2000">
                <a:latin typeface="+mj-lt"/>
              </a:rPr>
              <a:t>Exit</a:t>
            </a:r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9698621" y="3449291"/>
            <a:ext cx="1166185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Processor</a:t>
            </a: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6650621" y="5917392"/>
            <a:ext cx="1650292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Blocked</a:t>
            </a:r>
            <a:r>
              <a:rPr lang="en-US" altLang="en-US" sz="2000"/>
              <a:t> </a:t>
            </a:r>
            <a:r>
              <a:rPr lang="en-US" altLang="en-US" sz="2000">
                <a:latin typeface="+mj-lt"/>
              </a:rPr>
              <a:t>Queue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5421905" y="5712934"/>
            <a:ext cx="863218" cy="68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Event</a:t>
            </a:r>
          </a:p>
          <a:p>
            <a:r>
              <a:rPr lang="en-US" altLang="en-US" sz="2000">
                <a:latin typeface="+mj-lt"/>
              </a:rPr>
              <a:t>Occurs</a:t>
            </a:r>
          </a:p>
        </p:txBody>
      </p:sp>
      <p:sp>
        <p:nvSpPr>
          <p:cNvPr id="73" name="Oval 72"/>
          <p:cNvSpPr>
            <a:spLocks noChangeArrowheads="1"/>
          </p:cNvSpPr>
          <p:nvPr/>
        </p:nvSpPr>
        <p:spPr bwMode="auto">
          <a:xfrm>
            <a:off x="202196" y="1319553"/>
            <a:ext cx="1076325" cy="504825"/>
          </a:xfrm>
          <a:prstGeom prst="ellipse">
            <a:avLst/>
          </a:prstGeom>
          <a:ln w="28575">
            <a:solidFill>
              <a:srgbClr val="AE250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endParaRPr lang="ar-SA" altLang="en-US" sz="1800"/>
          </a:p>
        </p:txBody>
      </p:sp>
      <p:sp>
        <p:nvSpPr>
          <p:cNvPr id="74" name="Oval 73"/>
          <p:cNvSpPr>
            <a:spLocks noChangeArrowheads="1"/>
          </p:cNvSpPr>
          <p:nvPr/>
        </p:nvSpPr>
        <p:spPr bwMode="auto">
          <a:xfrm>
            <a:off x="3802646" y="1319553"/>
            <a:ext cx="1076325" cy="504825"/>
          </a:xfrm>
          <a:prstGeom prst="ellipse">
            <a:avLst/>
          </a:prstGeom>
          <a:ln w="28575">
            <a:solidFill>
              <a:srgbClr val="AE250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endParaRPr lang="ar-SA" altLang="en-US" sz="1800"/>
          </a:p>
        </p:txBody>
      </p:sp>
      <p:sp>
        <p:nvSpPr>
          <p:cNvPr id="75" name="Oval 74"/>
          <p:cNvSpPr>
            <a:spLocks noChangeArrowheads="1"/>
          </p:cNvSpPr>
          <p:nvPr/>
        </p:nvSpPr>
        <p:spPr bwMode="auto">
          <a:xfrm>
            <a:off x="5574296" y="1319553"/>
            <a:ext cx="1076325" cy="504825"/>
          </a:xfrm>
          <a:prstGeom prst="ellipse">
            <a:avLst/>
          </a:prstGeom>
          <a:ln w="28575">
            <a:solidFill>
              <a:srgbClr val="AE250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endParaRPr lang="ar-SA" altLang="en-US" sz="1800"/>
          </a:p>
        </p:txBody>
      </p:sp>
      <p:sp>
        <p:nvSpPr>
          <p:cNvPr id="76" name="Oval 75"/>
          <p:cNvSpPr>
            <a:spLocks noChangeArrowheads="1"/>
          </p:cNvSpPr>
          <p:nvPr/>
        </p:nvSpPr>
        <p:spPr bwMode="auto">
          <a:xfrm>
            <a:off x="2037662" y="1319553"/>
            <a:ext cx="1076325" cy="504825"/>
          </a:xfrm>
          <a:prstGeom prst="ellipse">
            <a:avLst/>
          </a:prstGeom>
          <a:ln w="28575">
            <a:solidFill>
              <a:srgbClr val="AE250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endParaRPr lang="ar-SA" altLang="en-US" sz="1800"/>
          </a:p>
        </p:txBody>
      </p:sp>
      <p:sp>
        <p:nvSpPr>
          <p:cNvPr id="77" name="Oval 76"/>
          <p:cNvSpPr>
            <a:spLocks noChangeArrowheads="1"/>
          </p:cNvSpPr>
          <p:nvPr/>
        </p:nvSpPr>
        <p:spPr bwMode="auto">
          <a:xfrm>
            <a:off x="2037662" y="2681071"/>
            <a:ext cx="1076325" cy="504825"/>
          </a:xfrm>
          <a:prstGeom prst="ellipse">
            <a:avLst/>
          </a:prstGeom>
          <a:ln w="28575">
            <a:solidFill>
              <a:srgbClr val="AE250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endParaRPr lang="ar-SA" altLang="en-US" sz="1800"/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516338" y="1430580"/>
            <a:ext cx="448040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latin typeface="+mj-lt"/>
              </a:rPr>
              <a:t>New</a:t>
            </a:r>
          </a:p>
        </p:txBody>
      </p:sp>
      <p:sp>
        <p:nvSpPr>
          <p:cNvPr id="79" name="Rectangle 78"/>
          <p:cNvSpPr>
            <a:spLocks noChangeArrowheads="1"/>
          </p:cNvSpPr>
          <p:nvPr/>
        </p:nvSpPr>
        <p:spPr bwMode="auto">
          <a:xfrm>
            <a:off x="2286882" y="1430580"/>
            <a:ext cx="577884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latin typeface="+mj-lt"/>
              </a:rPr>
              <a:t>Ready</a:t>
            </a:r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3978930" y="1430580"/>
            <a:ext cx="723757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latin typeface="+mj-lt"/>
              </a:rPr>
              <a:t>Running</a:t>
            </a:r>
          </a:p>
        </p:txBody>
      </p:sp>
      <p:sp>
        <p:nvSpPr>
          <p:cNvPr id="81" name="Rectangle 80"/>
          <p:cNvSpPr>
            <a:spLocks noChangeArrowheads="1"/>
          </p:cNvSpPr>
          <p:nvPr/>
        </p:nvSpPr>
        <p:spPr bwMode="auto">
          <a:xfrm>
            <a:off x="5909277" y="1430580"/>
            <a:ext cx="406362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latin typeface="+mj-lt"/>
              </a:rPr>
              <a:t>Exit</a:t>
            </a:r>
          </a:p>
        </p:txBody>
      </p:sp>
      <p:sp>
        <p:nvSpPr>
          <p:cNvPr id="82" name="Rectangle 81"/>
          <p:cNvSpPr>
            <a:spLocks noChangeArrowheads="1"/>
          </p:cNvSpPr>
          <p:nvPr/>
        </p:nvSpPr>
        <p:spPr bwMode="auto">
          <a:xfrm>
            <a:off x="2216350" y="2792098"/>
            <a:ext cx="718948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latin typeface="+mj-lt"/>
              </a:rPr>
              <a:t>Blocked</a:t>
            </a:r>
          </a:p>
        </p:txBody>
      </p:sp>
      <p:sp>
        <p:nvSpPr>
          <p:cNvPr id="83" name="Line 13"/>
          <p:cNvSpPr>
            <a:spLocks noChangeShapeType="1"/>
          </p:cNvSpPr>
          <p:nvPr/>
        </p:nvSpPr>
        <p:spPr bwMode="auto">
          <a:xfrm>
            <a:off x="1289237" y="1571965"/>
            <a:ext cx="732234" cy="0"/>
          </a:xfrm>
          <a:prstGeom prst="line">
            <a:avLst/>
          </a:prstGeom>
          <a:noFill/>
          <a:ln w="28575">
            <a:solidFill>
              <a:srgbClr val="AE250A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4" name="Line 14"/>
          <p:cNvSpPr>
            <a:spLocks noChangeShapeType="1"/>
          </p:cNvSpPr>
          <p:nvPr/>
        </p:nvSpPr>
        <p:spPr bwMode="auto">
          <a:xfrm flipH="1" flipV="1">
            <a:off x="2564047" y="1842155"/>
            <a:ext cx="4672" cy="821626"/>
          </a:xfrm>
          <a:prstGeom prst="line">
            <a:avLst/>
          </a:prstGeom>
          <a:noFill/>
          <a:ln w="28575">
            <a:solidFill>
              <a:srgbClr val="AE250A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5" name="Line 15"/>
          <p:cNvSpPr>
            <a:spLocks noChangeShapeType="1"/>
          </p:cNvSpPr>
          <p:nvPr/>
        </p:nvSpPr>
        <p:spPr bwMode="auto">
          <a:xfrm>
            <a:off x="4889687" y="1571965"/>
            <a:ext cx="675084" cy="0"/>
          </a:xfrm>
          <a:prstGeom prst="line">
            <a:avLst/>
          </a:prstGeom>
          <a:noFill/>
          <a:ln w="28575">
            <a:solidFill>
              <a:srgbClr val="AE250A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6" name="Line 16"/>
          <p:cNvSpPr>
            <a:spLocks noChangeShapeType="1"/>
          </p:cNvSpPr>
          <p:nvPr/>
        </p:nvSpPr>
        <p:spPr bwMode="auto">
          <a:xfrm>
            <a:off x="3060887" y="1429090"/>
            <a:ext cx="789384" cy="0"/>
          </a:xfrm>
          <a:prstGeom prst="line">
            <a:avLst/>
          </a:prstGeom>
          <a:noFill/>
          <a:ln w="28575">
            <a:solidFill>
              <a:srgbClr val="AE250A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7" name="Line 17"/>
          <p:cNvSpPr>
            <a:spLocks noChangeShapeType="1"/>
          </p:cNvSpPr>
          <p:nvPr/>
        </p:nvSpPr>
        <p:spPr bwMode="auto">
          <a:xfrm flipH="1">
            <a:off x="3051362" y="1714840"/>
            <a:ext cx="808434" cy="0"/>
          </a:xfrm>
          <a:prstGeom prst="line">
            <a:avLst/>
          </a:prstGeom>
          <a:noFill/>
          <a:ln w="28575">
            <a:solidFill>
              <a:srgbClr val="AE250A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8" name="Rectangle 87"/>
          <p:cNvSpPr>
            <a:spLocks noChangeArrowheads="1"/>
          </p:cNvSpPr>
          <p:nvPr/>
        </p:nvSpPr>
        <p:spPr bwMode="auto">
          <a:xfrm>
            <a:off x="1335875" y="1278778"/>
            <a:ext cx="560250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+mj-lt"/>
              </a:rPr>
              <a:t>Admit</a:t>
            </a:r>
          </a:p>
        </p:txBody>
      </p:sp>
      <p:sp>
        <p:nvSpPr>
          <p:cNvPr id="89" name="Rectangle 88"/>
          <p:cNvSpPr>
            <a:spLocks noChangeArrowheads="1"/>
          </p:cNvSpPr>
          <p:nvPr/>
        </p:nvSpPr>
        <p:spPr bwMode="auto">
          <a:xfrm>
            <a:off x="2597569" y="2178906"/>
            <a:ext cx="633988" cy="49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+mj-lt"/>
              </a:rPr>
              <a:t>Event</a:t>
            </a:r>
          </a:p>
          <a:p>
            <a:r>
              <a:rPr lang="en-US" altLang="en-US" sz="1400">
                <a:latin typeface="+mj-lt"/>
              </a:rPr>
              <a:t>Occurs</a:t>
            </a:r>
          </a:p>
        </p:txBody>
      </p:sp>
      <p:sp>
        <p:nvSpPr>
          <p:cNvPr id="90" name="Rectangle 89"/>
          <p:cNvSpPr>
            <a:spLocks noChangeArrowheads="1"/>
          </p:cNvSpPr>
          <p:nvPr/>
        </p:nvSpPr>
        <p:spPr bwMode="auto">
          <a:xfrm>
            <a:off x="3044219" y="1143379"/>
            <a:ext cx="760626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+mj-lt"/>
              </a:rPr>
              <a:t>Dispatch</a:t>
            </a:r>
          </a:p>
        </p:txBody>
      </p:sp>
      <p:sp>
        <p:nvSpPr>
          <p:cNvPr id="91" name="Rectangle 90"/>
          <p:cNvSpPr>
            <a:spLocks noChangeArrowheads="1"/>
          </p:cNvSpPr>
          <p:nvPr/>
        </p:nvSpPr>
        <p:spPr bwMode="auto">
          <a:xfrm>
            <a:off x="4879175" y="1289624"/>
            <a:ext cx="691697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+mj-lt"/>
              </a:rPr>
              <a:t>Release</a:t>
            </a:r>
          </a:p>
        </p:txBody>
      </p:sp>
      <p:sp>
        <p:nvSpPr>
          <p:cNvPr id="92" name="Rectangle 91"/>
          <p:cNvSpPr>
            <a:spLocks noChangeArrowheads="1"/>
          </p:cNvSpPr>
          <p:nvPr/>
        </p:nvSpPr>
        <p:spPr bwMode="auto">
          <a:xfrm>
            <a:off x="3044219" y="1702567"/>
            <a:ext cx="763832" cy="28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+mj-lt"/>
              </a:rPr>
              <a:t>Time-out</a:t>
            </a:r>
          </a:p>
        </p:txBody>
      </p:sp>
      <p:sp>
        <p:nvSpPr>
          <p:cNvPr id="93" name="Line 23"/>
          <p:cNvSpPr>
            <a:spLocks noChangeShapeType="1"/>
          </p:cNvSpPr>
          <p:nvPr/>
        </p:nvSpPr>
        <p:spPr bwMode="auto">
          <a:xfrm flipH="1">
            <a:off x="3123512" y="1790549"/>
            <a:ext cx="957739" cy="1099957"/>
          </a:xfrm>
          <a:prstGeom prst="line">
            <a:avLst/>
          </a:prstGeom>
          <a:noFill/>
          <a:ln w="28575">
            <a:solidFill>
              <a:srgbClr val="AE250A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3596502" y="2271087"/>
            <a:ext cx="526588" cy="49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+mj-lt"/>
              </a:rPr>
              <a:t>Event</a:t>
            </a:r>
          </a:p>
          <a:p>
            <a:r>
              <a:rPr lang="en-US" altLang="en-US" sz="1400">
                <a:latin typeface="+mj-lt"/>
              </a:rPr>
              <a:t>Wait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4464" y="867556"/>
            <a:ext cx="64008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HDD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55784" y="863743"/>
            <a:ext cx="64008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RAM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29311" y="871411"/>
            <a:ext cx="64008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RAM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52166" y="3268848"/>
            <a:ext cx="64008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RAM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792418" y="863743"/>
            <a:ext cx="64008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-</a:t>
            </a:r>
          </a:p>
        </p:txBody>
      </p:sp>
      <p:sp>
        <p:nvSpPr>
          <p:cNvPr id="100" name="Line 24"/>
          <p:cNvSpPr>
            <a:spLocks noChangeShapeType="1"/>
          </p:cNvSpPr>
          <p:nvPr/>
        </p:nvSpPr>
        <p:spPr bwMode="auto">
          <a:xfrm>
            <a:off x="5210176" y="3634461"/>
            <a:ext cx="1579136" cy="476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3724624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10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Process Control Block (PCB)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- 4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389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Process Control Block (PCB)?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874738" cy="5590565"/>
          </a:xfrm>
        </p:spPr>
        <p:txBody>
          <a:bodyPr/>
          <a:lstStyle/>
          <a:p>
            <a:r>
              <a:rPr lang="en-US"/>
              <a:t>A Process Control Block (PCB) is a </a:t>
            </a:r>
            <a:r>
              <a:rPr lang="en-US" b="1">
                <a:solidFill>
                  <a:schemeClr val="accent6"/>
                </a:solidFill>
              </a:rPr>
              <a:t>data structure maintained by the operating system for every process</a:t>
            </a:r>
            <a:r>
              <a:rPr lang="en-US"/>
              <a:t>.</a:t>
            </a:r>
          </a:p>
          <a:p>
            <a:r>
              <a:rPr lang="en-US"/>
              <a:t>PCB is used for </a:t>
            </a:r>
            <a:r>
              <a:rPr lang="en-US" b="1">
                <a:solidFill>
                  <a:schemeClr val="accent6"/>
                </a:solidFill>
              </a:rPr>
              <a:t>storing the collection of information about the processes</a:t>
            </a:r>
            <a:r>
              <a:rPr lang="en-US"/>
              <a:t>.</a:t>
            </a:r>
          </a:p>
          <a:p>
            <a:r>
              <a:rPr lang="en-US"/>
              <a:t>The PCB is </a:t>
            </a:r>
            <a:r>
              <a:rPr lang="en-US" b="1">
                <a:solidFill>
                  <a:schemeClr val="accent6"/>
                </a:solidFill>
              </a:rPr>
              <a:t>identified by an integer process ID (PID)</a:t>
            </a:r>
            <a:r>
              <a:rPr lang="en-US"/>
              <a:t>. </a:t>
            </a:r>
          </a:p>
          <a:p>
            <a:r>
              <a:rPr lang="en-US"/>
              <a:t>A PCB </a:t>
            </a:r>
            <a:r>
              <a:rPr lang="en-US" b="1">
                <a:solidFill>
                  <a:schemeClr val="accent6"/>
                </a:solidFill>
              </a:rPr>
              <a:t>keeps all the information needed to keep track of a process</a:t>
            </a:r>
            <a:r>
              <a:rPr lang="en-US"/>
              <a:t>.</a:t>
            </a:r>
          </a:p>
          <a:p>
            <a:r>
              <a:rPr lang="en-US"/>
              <a:t>The PCB is maintained for a process </a:t>
            </a:r>
            <a:r>
              <a:rPr lang="en-US" b="1">
                <a:solidFill>
                  <a:schemeClr val="accent6"/>
                </a:solidFill>
              </a:rPr>
              <a:t>throughout its lifetime </a:t>
            </a:r>
            <a:r>
              <a:rPr lang="en-US"/>
              <a:t>and is </a:t>
            </a:r>
            <a:r>
              <a:rPr lang="en-US" b="1">
                <a:solidFill>
                  <a:schemeClr val="accent6"/>
                </a:solidFill>
              </a:rPr>
              <a:t>deleted once the process terminates</a:t>
            </a:r>
            <a:r>
              <a:rPr lang="en-US"/>
              <a:t>.</a:t>
            </a:r>
          </a:p>
          <a:p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architecture</a:t>
            </a:r>
            <a:r>
              <a:rPr lang="en-US"/>
              <a:t> of a PCB is completely </a:t>
            </a:r>
            <a:r>
              <a:rPr lang="en-US" b="1">
                <a:solidFill>
                  <a:schemeClr val="accent6"/>
                </a:solidFill>
              </a:rPr>
              <a:t>dependent on operating system </a:t>
            </a:r>
            <a:r>
              <a:rPr lang="en-US"/>
              <a:t>and may contain different information in different operating systems.</a:t>
            </a:r>
          </a:p>
          <a:p>
            <a:r>
              <a:rPr lang="en-US"/>
              <a:t>PCB </a:t>
            </a:r>
            <a:r>
              <a:rPr lang="en-US" b="1">
                <a:solidFill>
                  <a:schemeClr val="accent6"/>
                </a:solidFill>
              </a:rPr>
              <a:t>lies in kernel memory space</a:t>
            </a:r>
            <a:r>
              <a:rPr lang="en-US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5" r="3509"/>
          <a:stretch>
            <a:fillRect/>
          </a:stretch>
        </p:blipFill>
        <p:spPr>
          <a:xfrm>
            <a:off x="7010319" y="863444"/>
            <a:ext cx="5051693" cy="361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461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1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  <p:cond evt="onBegin" delay="0">
                          <p:tn val="17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  <p:cond evt="onBegin" delay="0">
                          <p:tn val="2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  <p:cond evt="onBegin" delay="0">
                          <p:tn val="27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  <p:cond evt="onBegin" delay="0">
                          <p:tn val="3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  <p:cond evt="onBegin" delay="0">
                          <p:tn val="37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Fields of Process Control Block (PCB)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9048678" cy="5590565"/>
          </a:xfrm>
        </p:spPr>
        <p:txBody>
          <a:bodyPr/>
          <a:lstStyle/>
          <a:p>
            <a:r>
              <a:rPr lang="en-US" b="1">
                <a:solidFill>
                  <a:schemeClr val="accent6"/>
                </a:solidFill>
              </a:rPr>
              <a:t>Process ID </a:t>
            </a:r>
            <a:r>
              <a:rPr lang="en-US"/>
              <a:t>- </a:t>
            </a:r>
            <a:r>
              <a:rPr lang="en-US">
                <a:solidFill>
                  <a:schemeClr val="accent6"/>
                </a:solidFill>
              </a:rPr>
              <a:t>Unique identification </a:t>
            </a:r>
            <a:r>
              <a:rPr lang="en-US"/>
              <a:t>for each of the process in the operating system.</a:t>
            </a:r>
          </a:p>
          <a:p>
            <a:r>
              <a:rPr lang="en-US" b="1">
                <a:solidFill>
                  <a:schemeClr val="accent6"/>
                </a:solidFill>
              </a:rPr>
              <a:t>Process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State</a:t>
            </a:r>
            <a:r>
              <a:rPr lang="en-US"/>
              <a:t> - The </a:t>
            </a:r>
            <a:r>
              <a:rPr lang="en-US">
                <a:solidFill>
                  <a:schemeClr val="accent6"/>
                </a:solidFill>
              </a:rPr>
              <a:t>current state of the process </a:t>
            </a:r>
            <a:r>
              <a:rPr lang="en-US"/>
              <a:t>i.e., whether it is ready, running, waiting.</a:t>
            </a:r>
          </a:p>
          <a:p>
            <a:r>
              <a:rPr lang="en-US" b="1">
                <a:solidFill>
                  <a:schemeClr val="accent6"/>
                </a:solidFill>
              </a:rPr>
              <a:t>Pointer</a:t>
            </a:r>
            <a:r>
              <a:rPr lang="en-US"/>
              <a:t> - A </a:t>
            </a:r>
            <a:r>
              <a:rPr lang="en-US">
                <a:solidFill>
                  <a:schemeClr val="accent6"/>
                </a:solidFill>
              </a:rPr>
              <a:t>pointer to parent process</a:t>
            </a:r>
            <a:r>
              <a:rPr lang="en-US"/>
              <a:t>.</a:t>
            </a:r>
          </a:p>
          <a:p>
            <a:r>
              <a:rPr lang="en-US" b="1">
                <a:solidFill>
                  <a:schemeClr val="accent6"/>
                </a:solidFill>
              </a:rPr>
              <a:t>Priority</a:t>
            </a:r>
            <a:r>
              <a:rPr lang="en-US"/>
              <a:t> - </a:t>
            </a:r>
            <a:r>
              <a:rPr lang="en-US">
                <a:solidFill>
                  <a:schemeClr val="accent6"/>
                </a:solidFill>
              </a:rPr>
              <a:t>Priority of a process</a:t>
            </a:r>
            <a:r>
              <a:rPr lang="en-US"/>
              <a:t>.</a:t>
            </a:r>
          </a:p>
          <a:p>
            <a:r>
              <a:rPr lang="en-US" b="1">
                <a:solidFill>
                  <a:schemeClr val="accent6"/>
                </a:solidFill>
              </a:rPr>
              <a:t>Program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Counter</a:t>
            </a:r>
            <a:r>
              <a:rPr lang="en-US"/>
              <a:t> - Program Counter is a </a:t>
            </a:r>
            <a:r>
              <a:rPr lang="en-US">
                <a:solidFill>
                  <a:schemeClr val="accent6"/>
                </a:solidFill>
              </a:rPr>
              <a:t>pointer to the address of the next instruction to be executed </a:t>
            </a:r>
            <a:r>
              <a:rPr lang="en-US"/>
              <a:t>for this process.</a:t>
            </a:r>
          </a:p>
          <a:p>
            <a:r>
              <a:rPr lang="en-US" b="1">
                <a:solidFill>
                  <a:schemeClr val="accent6"/>
                </a:solidFill>
              </a:rPr>
              <a:t>CPU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registers</a:t>
            </a:r>
            <a:r>
              <a:rPr lang="en-US"/>
              <a:t> - Various </a:t>
            </a:r>
            <a:r>
              <a:rPr lang="en-US">
                <a:solidFill>
                  <a:schemeClr val="accent6"/>
                </a:solidFill>
              </a:rPr>
              <a:t>CPU registers where process need to be stored for execution</a:t>
            </a:r>
            <a:r>
              <a:rPr lang="en-US"/>
              <a:t> for running state.</a:t>
            </a:r>
          </a:p>
          <a:p>
            <a:r>
              <a:rPr lang="en-US" b="1">
                <a:solidFill>
                  <a:schemeClr val="accent6"/>
                </a:solidFill>
              </a:rPr>
              <a:t>IO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status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information</a:t>
            </a:r>
            <a:r>
              <a:rPr lang="en-US"/>
              <a:t> - This includes a </a:t>
            </a:r>
            <a:r>
              <a:rPr lang="en-US">
                <a:solidFill>
                  <a:schemeClr val="accent6"/>
                </a:solidFill>
              </a:rPr>
              <a:t>list of I/O devices allocated </a:t>
            </a:r>
            <a:r>
              <a:rPr lang="en-US"/>
              <a:t>to the process.</a:t>
            </a:r>
          </a:p>
          <a:p>
            <a:r>
              <a:rPr lang="en-US" b="1">
                <a:solidFill>
                  <a:schemeClr val="accent6"/>
                </a:solidFill>
              </a:rPr>
              <a:t>Accounting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information</a:t>
            </a:r>
            <a:r>
              <a:rPr lang="en-US"/>
              <a:t> - This includes the </a:t>
            </a:r>
            <a:r>
              <a:rPr lang="en-US">
                <a:solidFill>
                  <a:schemeClr val="accent6"/>
                </a:solidFill>
              </a:rPr>
              <a:t>amount of CPU used </a:t>
            </a:r>
            <a:r>
              <a:rPr lang="en-US"/>
              <a:t>for process execution, time limits etc.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9859" y="863444"/>
            <a:ext cx="2909887" cy="503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0645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Context switching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- 5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724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930802" cy="5590565"/>
          </a:xfrm>
        </p:spPr>
        <p:txBody>
          <a:bodyPr/>
          <a:lstStyle/>
          <a:p>
            <a:r>
              <a:rPr lang="en-US"/>
              <a:t>Context switch means </a:t>
            </a:r>
            <a:r>
              <a:rPr lang="en-US" b="1">
                <a:solidFill>
                  <a:schemeClr val="accent6"/>
                </a:solidFill>
              </a:rPr>
              <a:t>stopping one process </a:t>
            </a:r>
            <a:r>
              <a:rPr lang="en-US"/>
              <a:t>and </a:t>
            </a:r>
            <a:r>
              <a:rPr lang="en-US" b="1">
                <a:solidFill>
                  <a:schemeClr val="accent6"/>
                </a:solidFill>
              </a:rPr>
              <a:t>restarting another process</a:t>
            </a:r>
            <a:r>
              <a:rPr lang="en-US"/>
              <a:t>.</a:t>
            </a:r>
          </a:p>
          <a:p>
            <a:r>
              <a:rPr lang="en-US"/>
              <a:t>When an event occur, the </a:t>
            </a:r>
            <a:r>
              <a:rPr lang="en-US" b="1">
                <a:solidFill>
                  <a:schemeClr val="accent6"/>
                </a:solidFill>
              </a:rPr>
              <a:t>OS saves the state of an active process (into its PCB) </a:t>
            </a:r>
            <a:r>
              <a:rPr lang="en-US"/>
              <a:t>and </a:t>
            </a:r>
            <a:r>
              <a:rPr lang="en-US" b="1">
                <a:solidFill>
                  <a:schemeClr val="accent6"/>
                </a:solidFill>
              </a:rPr>
              <a:t>restore the state of new process (from its PCB)</a:t>
            </a:r>
            <a:r>
              <a:rPr lang="en-US"/>
              <a:t>.</a:t>
            </a:r>
          </a:p>
          <a:p>
            <a:r>
              <a:rPr lang="en-US"/>
              <a:t>Context switching is </a:t>
            </a:r>
            <a:r>
              <a:rPr lang="en-US" b="1">
                <a:solidFill>
                  <a:schemeClr val="accent6"/>
                </a:solidFill>
              </a:rPr>
              <a:t>purely overhead </a:t>
            </a:r>
            <a:r>
              <a:rPr lang="en-US"/>
              <a:t>because system does not perform any useful work while context switch.</a:t>
            </a:r>
          </a:p>
          <a:p>
            <a:r>
              <a:rPr lang="en-US"/>
              <a:t>Sequence of action: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>
                <a:solidFill>
                  <a:schemeClr val="accent6"/>
                </a:solidFill>
              </a:rPr>
              <a:t>OS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takes control </a:t>
            </a:r>
            <a:r>
              <a:rPr lang="en-US"/>
              <a:t>(through interrupt)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>
                <a:solidFill>
                  <a:schemeClr val="accent6"/>
                </a:solidFill>
              </a:rPr>
              <a:t>Saves context of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running process </a:t>
            </a:r>
            <a:r>
              <a:rPr lang="en-US"/>
              <a:t>in the process PCB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>
                <a:solidFill>
                  <a:schemeClr val="accent6"/>
                </a:solidFill>
              </a:rPr>
              <a:t>Reload context of new process </a:t>
            </a:r>
            <a:r>
              <a:rPr lang="en-US"/>
              <a:t>from the new process PCB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>
                <a:solidFill>
                  <a:schemeClr val="accent6"/>
                </a:solidFill>
              </a:rPr>
              <a:t>Return control </a:t>
            </a:r>
            <a:r>
              <a:rPr lang="en-US"/>
              <a:t>to new process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729" y="1549241"/>
            <a:ext cx="4874012" cy="3982981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cxnSp>
        <p:nvCxnSpPr>
          <p:cNvPr id="8" name="Straight Connector 7"/>
          <p:cNvCxnSpPr/>
          <p:nvPr/>
        </p:nvCxnSpPr>
        <p:spPr>
          <a:xfrm>
            <a:off x="492344" y="6367376"/>
            <a:ext cx="594360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3405416"/>
              </p:ext>
            </p:extLst>
          </p:nvPr>
        </p:nvGraphicFramePr>
        <p:xfrm>
          <a:off x="492344" y="5979391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8475285"/>
              </p:ext>
            </p:extLst>
          </p:nvPr>
        </p:nvGraphicFramePr>
        <p:xfrm>
          <a:off x="1591273" y="5970503"/>
          <a:ext cx="484632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 causes (Reasons for) context switching?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2" name="Content Placeholder 2"/>
          <p:cNvSpPr txBox="1"/>
          <p:nvPr/>
        </p:nvSpPr>
        <p:spPr>
          <a:xfrm>
            <a:off x="6366975" y="5720457"/>
            <a:ext cx="5644903" cy="6594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indent="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  <a:defRPr sz="2400">
                <a:solidFill>
                  <a:schemeClr val="accent6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1800">
                <a:solidFill>
                  <a:schemeClr val="tx1"/>
                </a:solidFill>
              </a:rPr>
              <a:t>Time slice has elapsed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>
                <a:solidFill>
                  <a:schemeClr val="tx1"/>
                </a:solidFill>
              </a:rPr>
              <a:t>Process with a higher priority has become ready to run.</a:t>
            </a:r>
          </a:p>
        </p:txBody>
      </p:sp>
    </p:spTree>
    <p:extLst>
      <p:ext uri="{BB962C8B-B14F-4D97-AF65-F5344CB8AC3E}">
        <p14:creationId xmlns:p14="http://schemas.microsoft.com/office/powerpoint/2010/main" val="40209267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Threads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- 6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0915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Threads?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Thread is </a:t>
            </a:r>
            <a:r>
              <a:rPr lang="en-US" b="1">
                <a:solidFill>
                  <a:schemeClr val="accent6"/>
                </a:solidFill>
              </a:rPr>
              <a:t>light weight process </a:t>
            </a:r>
            <a:r>
              <a:rPr lang="en-US"/>
              <a:t>created by a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3868" y="1317812"/>
            <a:ext cx="9875520" cy="1097280"/>
          </a:xfrm>
          <a:prstGeom prst="roundRect">
            <a:avLst>
              <a:gd name="adj" fmla="val 6118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r>
              <a:rPr lang="en-IN" sz="2400">
                <a:solidFill>
                  <a:schemeClr val="accent6"/>
                </a:solidFill>
              </a:rPr>
              <a:t>Processes</a:t>
            </a:r>
            <a:r>
              <a:rPr lang="en-IN" sz="2400">
                <a:solidFill>
                  <a:schemeClr val="tx1"/>
                </a:solidFill>
              </a:rPr>
              <a:t> are used to </a:t>
            </a:r>
            <a:r>
              <a:rPr lang="en-IN" sz="2400">
                <a:solidFill>
                  <a:schemeClr val="accent6"/>
                </a:solidFill>
              </a:rPr>
              <a:t>execute large</a:t>
            </a:r>
            <a:r>
              <a:rPr lang="en-IN" sz="2400">
                <a:solidFill>
                  <a:schemeClr val="tx1"/>
                </a:solidFill>
              </a:rPr>
              <a:t>, ‘</a:t>
            </a:r>
            <a:r>
              <a:rPr lang="en-IN" sz="2400">
                <a:solidFill>
                  <a:schemeClr val="accent6"/>
                </a:solidFill>
              </a:rPr>
              <a:t>heavyweight</a:t>
            </a:r>
            <a:r>
              <a:rPr lang="en-IN" sz="2400">
                <a:solidFill>
                  <a:schemeClr val="tx1"/>
                </a:solidFill>
              </a:rPr>
              <a:t>’ jobs such as working in word, while </a:t>
            </a:r>
            <a:r>
              <a:rPr lang="en-IN" sz="2400">
                <a:solidFill>
                  <a:schemeClr val="accent6"/>
                </a:solidFill>
              </a:rPr>
              <a:t>threads</a:t>
            </a:r>
            <a:r>
              <a:rPr lang="en-IN" sz="2400">
                <a:solidFill>
                  <a:schemeClr val="tx1"/>
                </a:solidFill>
              </a:rPr>
              <a:t> are used to carry out </a:t>
            </a:r>
            <a:r>
              <a:rPr lang="en-IN" sz="2400">
                <a:solidFill>
                  <a:schemeClr val="accent6"/>
                </a:solidFill>
              </a:rPr>
              <a:t>smaller</a:t>
            </a:r>
            <a:r>
              <a:rPr lang="en-IN" sz="2400">
                <a:solidFill>
                  <a:schemeClr val="tx1"/>
                </a:solidFill>
              </a:rPr>
              <a:t> or ‘</a:t>
            </a:r>
            <a:r>
              <a:rPr lang="en-IN" sz="2400">
                <a:solidFill>
                  <a:schemeClr val="accent6"/>
                </a:solidFill>
              </a:rPr>
              <a:t>lightweight</a:t>
            </a:r>
            <a:r>
              <a:rPr lang="en-IN" sz="2400">
                <a:solidFill>
                  <a:schemeClr val="tx1"/>
                </a:solidFill>
              </a:rPr>
              <a:t>’ jobs such as auto saving a word document.</a:t>
            </a:r>
          </a:p>
        </p:txBody>
      </p:sp>
      <p:pic>
        <p:nvPicPr>
          <p:cNvPr id="7" name="Picture 2" descr="Image result for real example of thread in 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89196" y="876299"/>
            <a:ext cx="1571625" cy="148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GNWEBSOFT\Desktop\Untitl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29790" y="2511110"/>
            <a:ext cx="7009598" cy="394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/>
          <p:cNvSpPr/>
          <p:nvPr/>
        </p:nvSpPr>
        <p:spPr>
          <a:xfrm>
            <a:off x="6376667" y="4526487"/>
            <a:ext cx="1465038" cy="834580"/>
          </a:xfrm>
          <a:prstGeom prst="ellipse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Threads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7203315" y="3791555"/>
            <a:ext cx="259797" cy="734932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529754" y="5342013"/>
            <a:ext cx="318276" cy="753986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821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Threads?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Thread is </a:t>
            </a:r>
            <a:r>
              <a:rPr lang="en-US" b="1">
                <a:solidFill>
                  <a:schemeClr val="accent6"/>
                </a:solidFill>
              </a:rPr>
              <a:t>light weight process </a:t>
            </a:r>
            <a:r>
              <a:rPr lang="en-US"/>
              <a:t>created by a process.</a:t>
            </a:r>
          </a:p>
          <a:p>
            <a:r>
              <a:rPr lang="en-US"/>
              <a:t>Thread is a </a:t>
            </a:r>
            <a:r>
              <a:rPr lang="en-US" b="1">
                <a:solidFill>
                  <a:schemeClr val="accent6"/>
                </a:solidFill>
              </a:rPr>
              <a:t>single sequence stream </a:t>
            </a:r>
            <a:r>
              <a:rPr lang="en-US"/>
              <a:t>within a process.</a:t>
            </a:r>
          </a:p>
          <a:p>
            <a:r>
              <a:rPr lang="en-US"/>
              <a:t>Thread has it own </a:t>
            </a:r>
          </a:p>
          <a:p>
            <a:endParaRPr lang="en-US"/>
          </a:p>
          <a:p>
            <a:pPr lvl="1"/>
            <a:r>
              <a:rPr lang="en-US" b="1">
                <a:solidFill>
                  <a:schemeClr val="accent6"/>
                </a:solidFill>
              </a:rPr>
              <a:t>program counter </a:t>
            </a:r>
            <a:r>
              <a:rPr lang="en-US"/>
              <a:t>that </a:t>
            </a:r>
            <a:r>
              <a:rPr lang="en-US" b="1">
                <a:solidFill>
                  <a:schemeClr val="accent6"/>
                </a:solidFill>
              </a:rPr>
              <a:t>keeps track of which instruction to execute next</a:t>
            </a:r>
            <a:r>
              <a:rPr lang="en-US"/>
              <a:t>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system registers </a:t>
            </a:r>
            <a:r>
              <a:rPr lang="en-US"/>
              <a:t>which </a:t>
            </a:r>
            <a:r>
              <a:rPr lang="en-US" b="1">
                <a:solidFill>
                  <a:schemeClr val="accent6"/>
                </a:solidFill>
              </a:rPr>
              <a:t>hold its current working variables</a:t>
            </a:r>
            <a:r>
              <a:rPr lang="en-US"/>
              <a:t>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stack</a:t>
            </a:r>
            <a:r>
              <a:rPr lang="en-US"/>
              <a:t> which </a:t>
            </a:r>
            <a:r>
              <a:rPr lang="en-US" b="1">
                <a:solidFill>
                  <a:schemeClr val="accent6"/>
                </a:solidFill>
              </a:rPr>
              <a:t>contains the execution history</a:t>
            </a:r>
            <a:r>
              <a:rPr lang="en-US"/>
              <a:t>.</a:t>
            </a:r>
          </a:p>
        </p:txBody>
      </p:sp>
      <p:pic>
        <p:nvPicPr>
          <p:cNvPr id="7" name="Picture 2" descr="Image result for real example of thread in 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89196" y="876299"/>
            <a:ext cx="1571625" cy="148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868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1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  <p:cond evt="onBegin" delay="0">
                          <p:tn val="17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  <p:cond evt="onBegin" delay="0">
                          <p:tn val="2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  <p:cond evt="onBegin" delay="0">
                          <p:tn val="27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  <p:cond evt="onBegin" delay="0">
                          <p:tn val="3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Threaded Process VS Multiple Threaded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" name="Content Placeholder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8" y="885391"/>
            <a:ext cx="3594882" cy="504000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049" y="885391"/>
            <a:ext cx="3610213" cy="5040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8606" y="885391"/>
            <a:ext cx="4365356" cy="3057105"/>
          </a:xfrm>
          <a:prstGeom prst="roundRect">
            <a:avLst>
              <a:gd name="adj" fmla="val 1858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/>
              <a:t>A single-threaded process is a process with a single thread. </a:t>
            </a: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/>
              <a:t>A multi-threaded process is a process with multiple threads.</a:t>
            </a: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/>
              <a:t>The multiple threads have its own registers, stack and counter but they share the code and data segment.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829805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Comparison between </a:t>
            </a:r>
            <a:b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</a:br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process and thread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- 7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8546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Similarities between Process &amp;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Like processes threads </a:t>
            </a:r>
            <a:r>
              <a:rPr lang="en-US" b="1">
                <a:solidFill>
                  <a:srgbClr val="C00000"/>
                </a:solidFill>
              </a:rPr>
              <a:t>share CPU and only one thread is running at a time</a:t>
            </a:r>
            <a:r>
              <a:rPr lang="en-US"/>
              <a:t>.  </a:t>
            </a:r>
          </a:p>
          <a:p>
            <a:r>
              <a:rPr lang="en-US"/>
              <a:t>Like processes threads </a:t>
            </a:r>
            <a:r>
              <a:rPr lang="en-US" b="1">
                <a:solidFill>
                  <a:srgbClr val="C00000"/>
                </a:solidFill>
              </a:rPr>
              <a:t>within a process execute sequentially</a:t>
            </a:r>
            <a:r>
              <a:rPr lang="en-US"/>
              <a:t>. </a:t>
            </a:r>
          </a:p>
          <a:p>
            <a:r>
              <a:rPr lang="en-US"/>
              <a:t>Like processes thread </a:t>
            </a:r>
            <a:r>
              <a:rPr lang="en-US" b="1">
                <a:solidFill>
                  <a:srgbClr val="C00000"/>
                </a:solidFill>
              </a:rPr>
              <a:t>can create children's</a:t>
            </a:r>
            <a:r>
              <a:rPr lang="en-US"/>
              <a:t>.  </a:t>
            </a:r>
          </a:p>
          <a:p>
            <a:r>
              <a:rPr lang="en-US"/>
              <a:t>Like a traditional process, a thread </a:t>
            </a:r>
            <a:r>
              <a:rPr lang="en-US" b="1">
                <a:solidFill>
                  <a:srgbClr val="C00000"/>
                </a:solidFill>
              </a:rPr>
              <a:t>can be in any one of several states: running, blocked, ready or terminated</a:t>
            </a:r>
            <a:r>
              <a:rPr lang="en-US"/>
              <a:t>. </a:t>
            </a:r>
          </a:p>
          <a:p>
            <a:r>
              <a:rPr lang="en-US"/>
              <a:t>Like process threads </a:t>
            </a:r>
            <a:r>
              <a:rPr lang="en-US" b="1">
                <a:solidFill>
                  <a:srgbClr val="C00000"/>
                </a:solidFill>
              </a:rPr>
              <a:t>have Program Counter, Stack, Registers and State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74715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Dissimilarities between Process &amp;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Unlike processes threads are </a:t>
            </a:r>
            <a:r>
              <a:rPr lang="en-US" b="1">
                <a:solidFill>
                  <a:srgbClr val="C00000"/>
                </a:solidFill>
              </a:rPr>
              <a:t>not independent of one another</a:t>
            </a:r>
            <a:r>
              <a:rPr lang="en-US"/>
              <a:t>.</a:t>
            </a:r>
          </a:p>
          <a:p>
            <a:r>
              <a:rPr lang="en-US"/>
              <a:t>Threads within the same process </a:t>
            </a:r>
            <a:r>
              <a:rPr lang="en-US" b="1">
                <a:solidFill>
                  <a:srgbClr val="C00000"/>
                </a:solidFill>
              </a:rPr>
              <a:t>share an address space</a:t>
            </a:r>
            <a:r>
              <a:rPr lang="en-US"/>
              <a:t>. </a:t>
            </a:r>
          </a:p>
          <a:p>
            <a:r>
              <a:rPr lang="en-US"/>
              <a:t>Unlike processes all threads </a:t>
            </a:r>
            <a:r>
              <a:rPr lang="en-US" b="1">
                <a:solidFill>
                  <a:srgbClr val="C00000"/>
                </a:solidFill>
              </a:rPr>
              <a:t>can access every address in the task</a:t>
            </a:r>
            <a:r>
              <a:rPr lang="en-US"/>
              <a:t>. </a:t>
            </a:r>
          </a:p>
          <a:p>
            <a:r>
              <a:rPr lang="en-US"/>
              <a:t>Unlike processes threads are </a:t>
            </a:r>
            <a:r>
              <a:rPr lang="en-US" b="1">
                <a:solidFill>
                  <a:srgbClr val="C00000"/>
                </a:solidFill>
              </a:rPr>
              <a:t>design to assist one other</a:t>
            </a:r>
            <a:r>
              <a:rPr lang="en-US"/>
              <a:t>. Note that processes might or might not assist one another because processes may be originated from different users.</a:t>
            </a:r>
          </a:p>
        </p:txBody>
      </p:sp>
    </p:spTree>
    <p:extLst>
      <p:ext uri="{BB962C8B-B14F-4D97-AF65-F5344CB8AC3E}">
        <p14:creationId xmlns:p14="http://schemas.microsoft.com/office/powerpoint/2010/main" val="1110228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Benefits/Advantages of threads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- 8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6713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Benefits/Advantages of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Threads </a:t>
            </a:r>
            <a:r>
              <a:rPr lang="en-US" b="1">
                <a:solidFill>
                  <a:srgbClr val="C00000"/>
                </a:solidFill>
              </a:rPr>
              <a:t>minimize</a:t>
            </a:r>
            <a:r>
              <a:rPr lang="en-US"/>
              <a:t> the </a:t>
            </a:r>
            <a:r>
              <a:rPr lang="en-US" b="1">
                <a:solidFill>
                  <a:srgbClr val="C00000"/>
                </a:solidFill>
              </a:rPr>
              <a:t>context switching time</a:t>
            </a:r>
            <a:r>
              <a:rPr lang="en-US"/>
              <a:t>.</a:t>
            </a:r>
          </a:p>
          <a:p>
            <a:r>
              <a:rPr lang="en-US"/>
              <a:t>Use of threads </a:t>
            </a:r>
            <a:r>
              <a:rPr lang="en-US" b="1">
                <a:solidFill>
                  <a:srgbClr val="C00000"/>
                </a:solidFill>
              </a:rPr>
              <a:t>provides concurrency </a:t>
            </a:r>
            <a:r>
              <a:rPr lang="en-US"/>
              <a:t>within a process.</a:t>
            </a:r>
          </a:p>
          <a:p>
            <a:r>
              <a:rPr lang="en-US" b="1">
                <a:solidFill>
                  <a:srgbClr val="C00000"/>
                </a:solidFill>
              </a:rPr>
              <a:t>Efficient communication</a:t>
            </a:r>
            <a:r>
              <a:rPr lang="en-US"/>
              <a:t>.</a:t>
            </a:r>
          </a:p>
          <a:p>
            <a:r>
              <a:rPr lang="en-US"/>
              <a:t>It is more </a:t>
            </a:r>
            <a:r>
              <a:rPr lang="en-US" b="1">
                <a:solidFill>
                  <a:srgbClr val="C00000"/>
                </a:solidFill>
              </a:rPr>
              <a:t>easy to create </a:t>
            </a:r>
            <a:r>
              <a:rPr lang="en-US"/>
              <a:t>and </a:t>
            </a:r>
            <a:r>
              <a:rPr lang="en-US" b="1">
                <a:solidFill>
                  <a:srgbClr val="C00000"/>
                </a:solidFill>
              </a:rPr>
              <a:t>context switch </a:t>
            </a:r>
            <a:r>
              <a:rPr lang="en-US"/>
              <a:t>threads.</a:t>
            </a:r>
          </a:p>
          <a:p>
            <a:r>
              <a:rPr lang="en-US"/>
              <a:t>Threads can </a:t>
            </a:r>
            <a:r>
              <a:rPr lang="en-US" b="1">
                <a:solidFill>
                  <a:srgbClr val="C00000"/>
                </a:solidFill>
              </a:rPr>
              <a:t>execute in parallel </a:t>
            </a:r>
            <a:r>
              <a:rPr lang="en-US"/>
              <a:t>on multiprocessors.</a:t>
            </a:r>
          </a:p>
          <a:p>
            <a:r>
              <a:rPr lang="en-US"/>
              <a:t>With threads, an application can </a:t>
            </a:r>
            <a:r>
              <a:rPr lang="en-US" b="1">
                <a:solidFill>
                  <a:srgbClr val="C00000"/>
                </a:solidFill>
              </a:rPr>
              <a:t>avoid per-process overheads</a:t>
            </a:r>
          </a:p>
          <a:p>
            <a:pPr lvl="1"/>
            <a:r>
              <a:rPr lang="en-US"/>
              <a:t>Thread creation, deletion, switching easier than processes.</a:t>
            </a:r>
          </a:p>
          <a:p>
            <a:r>
              <a:rPr lang="en-US"/>
              <a:t>Threads have </a:t>
            </a:r>
            <a:r>
              <a:rPr lang="en-US" b="1">
                <a:solidFill>
                  <a:srgbClr val="C00000"/>
                </a:solidFill>
              </a:rPr>
              <a:t>full access to address space </a:t>
            </a:r>
            <a:r>
              <a:rPr lang="en-US"/>
              <a:t>(easy sharing).</a:t>
            </a:r>
          </a:p>
        </p:txBody>
      </p:sp>
    </p:spTree>
    <p:extLst>
      <p:ext uri="{BB962C8B-B14F-4D97-AF65-F5344CB8AC3E}">
        <p14:creationId xmlns:p14="http://schemas.microsoft.com/office/powerpoint/2010/main" val="12189867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Types of threads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- 9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7930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Kernel Level Thread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User Level Thread</a:t>
            </a:r>
          </a:p>
        </p:txBody>
      </p:sp>
      <p:pic>
        <p:nvPicPr>
          <p:cNvPr id="4" name="Picture 2" descr="Many to one thread 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29996" y="1810719"/>
            <a:ext cx="6274715" cy="4643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020416" y="3897289"/>
            <a:ext cx="5656734" cy="142718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021964" y="2306020"/>
            <a:ext cx="5655186" cy="144683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Brace 6"/>
          <p:cNvSpPr/>
          <p:nvPr/>
        </p:nvSpPr>
        <p:spPr>
          <a:xfrm>
            <a:off x="7979083" y="2343635"/>
            <a:ext cx="230605" cy="1371600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59897" y="2567770"/>
            <a:ext cx="917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User</a:t>
            </a:r>
          </a:p>
          <a:p>
            <a:r>
              <a:rPr lang="en-US"/>
              <a:t>Level</a:t>
            </a:r>
          </a:p>
          <a:p>
            <a:r>
              <a:rPr lang="en-US"/>
              <a:t>Threads</a:t>
            </a:r>
          </a:p>
        </p:txBody>
      </p:sp>
      <p:sp>
        <p:nvSpPr>
          <p:cNvPr id="9" name="Right Brace 8"/>
          <p:cNvSpPr/>
          <p:nvPr/>
        </p:nvSpPr>
        <p:spPr>
          <a:xfrm>
            <a:off x="7967570" y="3925081"/>
            <a:ext cx="230605" cy="1371600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355616" y="4149216"/>
            <a:ext cx="921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Kernel</a:t>
            </a:r>
          </a:p>
          <a:p>
            <a:r>
              <a:rPr lang="en-US"/>
              <a:t>Level</a:t>
            </a:r>
          </a:p>
          <a:p>
            <a:r>
              <a:rPr lang="en-US"/>
              <a:t>Threads</a:t>
            </a:r>
          </a:p>
        </p:txBody>
      </p:sp>
    </p:spTree>
    <p:extLst>
      <p:ext uri="{BB962C8B-B14F-4D97-AF65-F5344CB8AC3E}">
        <p14:creationId xmlns:p14="http://schemas.microsoft.com/office/powerpoint/2010/main" val="14551588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 animBg="1"/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7409475"/>
              </p:ext>
            </p:extLst>
          </p:nvPr>
        </p:nvGraphicFramePr>
        <p:xfrm>
          <a:off x="248411" y="871110"/>
          <a:ext cx="11795760" cy="63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User Level Thread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Kernel Level Thread</a:t>
                      </a:r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7005519"/>
              </p:ext>
            </p:extLst>
          </p:nvPr>
        </p:nvGraphicFramePr>
        <p:xfrm>
          <a:off x="248411" y="1506107"/>
          <a:ext cx="11795760" cy="54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 thread are </a:t>
                      </a:r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implemented by users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Kernel threads are </a:t>
                      </a:r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implemented by OS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2443018"/>
              </p:ext>
            </p:extLst>
          </p:nvPr>
        </p:nvGraphicFramePr>
        <p:xfrm>
          <a:off x="248411" y="2047440"/>
          <a:ext cx="11795760" cy="54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OS doesn’t recognize 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 level threads.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Kernel threads are </a:t>
                      </a:r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recognized by OS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1193795"/>
              </p:ext>
            </p:extLst>
          </p:nvPr>
        </p:nvGraphicFramePr>
        <p:xfrm>
          <a:off x="248411" y="2588542"/>
          <a:ext cx="11795760" cy="54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user threads is </a:t>
                      </a:r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easy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kernel thread is </a:t>
                      </a:r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complex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6632582"/>
              </p:ext>
            </p:extLst>
          </p:nvPr>
        </p:nvGraphicFramePr>
        <p:xfrm>
          <a:off x="248411" y="3128087"/>
          <a:ext cx="11795760" cy="54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Context switch time is less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Context switch time is more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5877354"/>
              </p:ext>
            </p:extLst>
          </p:nvPr>
        </p:nvGraphicFramePr>
        <p:xfrm>
          <a:off x="248411" y="3670574"/>
          <a:ext cx="11795760" cy="54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Context switch </a:t>
                      </a:r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requires no hardware support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Context switch </a:t>
                      </a:r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requires hardware support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3873363"/>
              </p:ext>
            </p:extLst>
          </p:nvPr>
        </p:nvGraphicFramePr>
        <p:xfrm>
          <a:off x="248411" y="4208903"/>
          <a:ext cx="11795760" cy="1188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one user level thread perform blocking operation then </a:t>
                      </a:r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entire process will be blocked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one kernel thread perform blocking operation then </a:t>
                      </a:r>
                      <a:r>
                        <a:rPr lang="en-US" sz="24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another thread with in same process can continue execution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8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8431905"/>
              </p:ext>
            </p:extLst>
          </p:nvPr>
        </p:nvGraphicFramePr>
        <p:xfrm>
          <a:off x="248411" y="5393668"/>
          <a:ext cx="11795760" cy="54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Example : Java thread, POSIX threads.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Example : Window Solaris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8629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Hybrid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264702" cy="5590565"/>
          </a:xfrm>
        </p:spPr>
        <p:txBody>
          <a:bodyPr/>
          <a:lstStyle/>
          <a:p>
            <a:r>
              <a:rPr lang="en-US"/>
              <a:t>Combines the advantages of user level and kernel level thread.</a:t>
            </a:r>
          </a:p>
          <a:p>
            <a:r>
              <a:rPr lang="en-US"/>
              <a:t>It </a:t>
            </a:r>
            <a:r>
              <a:rPr lang="en-US" b="1">
                <a:solidFill>
                  <a:srgbClr val="C00000"/>
                </a:solidFill>
              </a:rPr>
              <a:t>uses kernel level thread </a:t>
            </a:r>
            <a:r>
              <a:rPr lang="en-US"/>
              <a:t>and then </a:t>
            </a:r>
            <a:r>
              <a:rPr lang="en-US" b="1">
                <a:solidFill>
                  <a:srgbClr val="C00000"/>
                </a:solidFill>
              </a:rPr>
              <a:t>multiplex user level thread on to some or all of kernel threads</a:t>
            </a:r>
            <a:r>
              <a:rPr lang="en-US"/>
              <a:t>.</a:t>
            </a:r>
          </a:p>
          <a:p>
            <a:r>
              <a:rPr lang="en-US" b="1">
                <a:solidFill>
                  <a:srgbClr val="C00000"/>
                </a:solidFill>
              </a:rPr>
              <a:t>Gives flexibility </a:t>
            </a:r>
            <a:r>
              <a:rPr lang="en-US"/>
              <a:t>to programmer that how many kernel level threads to use and how many user level thread to multiplex on each one.</a:t>
            </a:r>
          </a:p>
          <a:p>
            <a:r>
              <a:rPr lang="en-US" b="1">
                <a:solidFill>
                  <a:srgbClr val="C00000"/>
                </a:solidFill>
              </a:rPr>
              <a:t>Kernel is aware of only kernel level threads </a:t>
            </a:r>
            <a:r>
              <a:rPr lang="en-US"/>
              <a:t>and schedule it.</a:t>
            </a:r>
          </a:p>
        </p:txBody>
      </p:sp>
      <p:pic>
        <p:nvPicPr>
          <p:cNvPr id="4" name="Picture 4" descr="Image result for hybrid thre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64513" y="1277470"/>
            <a:ext cx="4162425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6580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Multi Threading Models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- 10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20309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 Threading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11890490" cy="55905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37035" y="1085844"/>
            <a:ext cx="8763000" cy="1920240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3947" y="1168038"/>
            <a:ext cx="2571617" cy="1760220"/>
          </a:xfrm>
          <a:prstGeom prst="roundRect">
            <a:avLst>
              <a:gd name="adj" fmla="val 10000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4000" r="-14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703947" y="2997204"/>
            <a:ext cx="2571617" cy="2926080"/>
            <a:chOff x="266912" y="2156472"/>
            <a:chExt cx="2571617" cy="3200402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7" name="Round Same Side Corner Rectangle 16"/>
            <p:cNvSpPr/>
            <p:nvPr/>
          </p:nvSpPr>
          <p:spPr>
            <a:xfrm rot="10800000">
              <a:off x="266912" y="2156472"/>
              <a:ext cx="2571617" cy="3200402"/>
            </a:xfrm>
            <a:prstGeom prst="round2SameRect">
              <a:avLst>
                <a:gd name="adj1" fmla="val 10500"/>
                <a:gd name="adj2" fmla="val 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/>
            </a:p>
          </p:txBody>
        </p:sp>
        <p:sp>
          <p:nvSpPr>
            <p:cNvPr id="18" name="Round Same Side Corner Rectangle 6"/>
            <p:cNvSpPr/>
            <p:nvPr/>
          </p:nvSpPr>
          <p:spPr>
            <a:xfrm rot="21600000">
              <a:off x="345998" y="2156472"/>
              <a:ext cx="2413445" cy="31213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u="sng" kern="1200">
                  <a:solidFill>
                    <a:schemeClr val="tx1"/>
                  </a:solidFill>
                </a:rPr>
                <a:t>One to One Model</a:t>
              </a:r>
            </a:p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kern="1200">
                  <a:solidFill>
                    <a:schemeClr val="tx1"/>
                  </a:solidFill>
                </a:rPr>
                <a:t>Each user threads mapped to one kernel thread. </a:t>
              </a:r>
            </a:p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kern="1200">
                  <a:solidFill>
                    <a:schemeClr val="tx1"/>
                  </a:solidFill>
                </a:rPr>
                <a:t>Problem with this model is that creating a user thread requires the corresponding kernel thread.</a:t>
              </a:r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3532726" y="1168038"/>
            <a:ext cx="2571617" cy="1760220"/>
          </a:xfrm>
          <a:prstGeom prst="roundRect">
            <a:avLst>
              <a:gd name="adj" fmla="val 10000"/>
            </a:avLst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4000" r="-14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/>
          </a:p>
        </p:txBody>
      </p:sp>
      <p:grpSp>
        <p:nvGrpSpPr>
          <p:cNvPr id="10" name="Group 9"/>
          <p:cNvGrpSpPr/>
          <p:nvPr/>
        </p:nvGrpSpPr>
        <p:grpSpPr>
          <a:xfrm>
            <a:off x="3532726" y="2997204"/>
            <a:ext cx="2571617" cy="2926080"/>
            <a:chOff x="3095691" y="2156472"/>
            <a:chExt cx="2571617" cy="3200402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5" name="Round Same Side Corner Rectangle 14"/>
            <p:cNvSpPr/>
            <p:nvPr/>
          </p:nvSpPr>
          <p:spPr>
            <a:xfrm rot="10800000">
              <a:off x="3095691" y="2156472"/>
              <a:ext cx="2571617" cy="3200402"/>
            </a:xfrm>
            <a:prstGeom prst="round2SameRect">
              <a:avLst>
                <a:gd name="adj1" fmla="val 10500"/>
                <a:gd name="adj2" fmla="val 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/>
            </a:p>
          </p:txBody>
        </p:sp>
        <p:sp>
          <p:nvSpPr>
            <p:cNvPr id="16" name="Round Same Side Corner Rectangle 9"/>
            <p:cNvSpPr/>
            <p:nvPr/>
          </p:nvSpPr>
          <p:spPr>
            <a:xfrm rot="21600000">
              <a:off x="3174777" y="2156472"/>
              <a:ext cx="2413445" cy="31213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u="sng" kern="1200">
                  <a:solidFill>
                    <a:schemeClr val="tx1"/>
                  </a:solidFill>
                </a:rPr>
                <a:t>Many to One Model</a:t>
              </a:r>
            </a:p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kern="1200">
                  <a:solidFill>
                    <a:schemeClr val="tx1"/>
                  </a:solidFill>
                </a:rPr>
                <a:t>Multiple user threads mapped to one kernel thread. </a:t>
              </a:r>
            </a:p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kern="1200">
                  <a:solidFill>
                    <a:schemeClr val="tx1"/>
                  </a:solidFill>
                </a:rPr>
                <a:t>Problem with this model is that a user thread can block entire process because we have only one kernel thread.</a:t>
              </a:r>
            </a:p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800" kern="1200"/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6361505" y="1168038"/>
            <a:ext cx="2571617" cy="1760220"/>
          </a:xfrm>
          <a:prstGeom prst="roundRect">
            <a:avLst>
              <a:gd name="adj" fmla="val 10000"/>
            </a:avLst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4000" r="-14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/>
          </a:p>
        </p:txBody>
      </p:sp>
      <p:grpSp>
        <p:nvGrpSpPr>
          <p:cNvPr id="12" name="Group 11"/>
          <p:cNvGrpSpPr/>
          <p:nvPr/>
        </p:nvGrpSpPr>
        <p:grpSpPr>
          <a:xfrm>
            <a:off x="6361505" y="2997204"/>
            <a:ext cx="2571617" cy="2926080"/>
            <a:chOff x="5924470" y="2156472"/>
            <a:chExt cx="2571617" cy="3200402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3" name="Round Same Side Corner Rectangle 12"/>
            <p:cNvSpPr/>
            <p:nvPr/>
          </p:nvSpPr>
          <p:spPr>
            <a:xfrm rot="10800000">
              <a:off x="5924470" y="2156472"/>
              <a:ext cx="2571617" cy="3200402"/>
            </a:xfrm>
            <a:prstGeom prst="round2SameRect">
              <a:avLst>
                <a:gd name="adj1" fmla="val 10500"/>
                <a:gd name="adj2" fmla="val 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/>
            </a:p>
          </p:txBody>
        </p:sp>
        <p:sp>
          <p:nvSpPr>
            <p:cNvPr id="14" name="Round Same Side Corner Rectangle 12"/>
            <p:cNvSpPr/>
            <p:nvPr/>
          </p:nvSpPr>
          <p:spPr>
            <a:xfrm rot="21600000">
              <a:off x="6003556" y="2156472"/>
              <a:ext cx="2413445" cy="31213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u="sng" kern="1200">
                  <a:solidFill>
                    <a:schemeClr val="tx1"/>
                  </a:solidFill>
                </a:rPr>
                <a:t>Many to Many Model</a:t>
              </a:r>
            </a:p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kern="1200">
                  <a:solidFill>
                    <a:schemeClr val="tx1"/>
                  </a:solidFill>
                </a:rPr>
                <a:t>Multiple user threads multiplex to more than one kernel threads. </a:t>
              </a:r>
            </a:p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kern="1200">
                  <a:solidFill>
                    <a:schemeClr val="tx1"/>
                  </a:solidFill>
                </a:rPr>
                <a:t>Advantage with this model is that a user thread can not block entire process because we have multiple kernel thread.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26016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Pthread function calls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- 11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0632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Pthread function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err="1"/>
              <a:t>Pthread_create:- Create a new thread</a:t>
            </a:r>
          </a:p>
          <a:p>
            <a:pPr marL="457200" indent="-457200">
              <a:buFont typeface="+mj-lt"/>
              <a:buAutoNum type="arabicPeriod"/>
            </a:pPr>
            <a:r>
              <a:rPr lang="en-US" err="1"/>
              <a:t>Pthread_exit:- Terminate the calling thread</a:t>
            </a:r>
          </a:p>
          <a:p>
            <a:pPr marL="457200" indent="-457200">
              <a:buFont typeface="+mj-lt"/>
              <a:buAutoNum type="arabicPeriod"/>
            </a:pPr>
            <a:r>
              <a:rPr lang="en-US" err="1"/>
              <a:t>Pthread_join:- Wait for a specific thread to exit</a:t>
            </a:r>
          </a:p>
          <a:p>
            <a:pPr marL="457200" indent="-457200">
              <a:buFont typeface="+mj-lt"/>
              <a:buAutoNum type="arabicPeriod"/>
            </a:pPr>
            <a:r>
              <a:rPr lang="en-US" err="1"/>
              <a:t>Pthread_yield:- Release the CPU to let another thread run</a:t>
            </a:r>
          </a:p>
          <a:p>
            <a:pPr marL="457200" indent="-457200">
              <a:buFont typeface="+mj-lt"/>
              <a:buAutoNum type="arabicPeriod"/>
            </a:pPr>
            <a:r>
              <a:rPr lang="en-US" err="1"/>
              <a:t>Pthread_attr_init:- Create and initialize a thread’s attribute structure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err="1"/>
              <a:t>Pthread_destroy:- Remove a thread’s attribute structure</a:t>
            </a:r>
          </a:p>
        </p:txBody>
      </p:sp>
    </p:spTree>
    <p:extLst>
      <p:ext uri="{BB962C8B-B14F-4D97-AF65-F5344CB8AC3E}">
        <p14:creationId xmlns:p14="http://schemas.microsoft.com/office/powerpoint/2010/main" val="1510113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System calls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- 12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63110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system call is the </a:t>
            </a:r>
            <a:r>
              <a:rPr lang="en-US" b="1">
                <a:solidFill>
                  <a:schemeClr val="accent6"/>
                </a:solidFill>
              </a:rPr>
              <a:t>programmatic way in which a computer program requests a service from the kernel of the operating system it is executed on</a:t>
            </a:r>
            <a:r>
              <a:rPr lang="en-US"/>
              <a:t>. </a:t>
            </a:r>
          </a:p>
          <a:p>
            <a:r>
              <a:rPr lang="en-US"/>
              <a:t>A system call is a </a:t>
            </a:r>
            <a:r>
              <a:rPr lang="en-US" b="1">
                <a:solidFill>
                  <a:schemeClr val="accent6"/>
                </a:solidFill>
              </a:rPr>
              <a:t>way for programs to interact with the operating system</a:t>
            </a:r>
            <a:r>
              <a:rPr lang="en-US"/>
              <a:t>. </a:t>
            </a:r>
          </a:p>
          <a:p>
            <a:r>
              <a:rPr lang="en-US"/>
              <a:t>A </a:t>
            </a:r>
            <a:r>
              <a:rPr lang="en-US" b="1">
                <a:solidFill>
                  <a:schemeClr val="accent6"/>
                </a:solidFill>
              </a:rPr>
              <a:t>computer program makes a system call when it makes a request to the operating system’s kernel</a:t>
            </a:r>
            <a:r>
              <a:rPr lang="en-US"/>
              <a:t>. </a:t>
            </a:r>
          </a:p>
          <a:p>
            <a:r>
              <a:rPr lang="en-US"/>
              <a:t>System call </a:t>
            </a:r>
            <a:r>
              <a:rPr lang="en-US" b="1">
                <a:solidFill>
                  <a:schemeClr val="accent6"/>
                </a:solidFill>
              </a:rPr>
              <a:t>provides the services of the operating system to the user programs via Application Program Interface(API)</a:t>
            </a:r>
            <a:r>
              <a:rPr lang="en-US"/>
              <a:t>. </a:t>
            </a:r>
          </a:p>
          <a:p>
            <a:r>
              <a:rPr lang="en-US"/>
              <a:t>It </a:t>
            </a:r>
            <a:r>
              <a:rPr lang="en-US" b="1">
                <a:solidFill>
                  <a:schemeClr val="accent6"/>
                </a:solidFill>
              </a:rPr>
              <a:t>provides an interface </a:t>
            </a:r>
            <a:r>
              <a:rPr lang="en-US"/>
              <a:t>between a process and operating system to allow user-level processes to request services of the operating system. </a:t>
            </a:r>
          </a:p>
          <a:p>
            <a:r>
              <a:rPr lang="en-US"/>
              <a:t>System calls are the </a:t>
            </a:r>
            <a:r>
              <a:rPr lang="en-US" b="1">
                <a:solidFill>
                  <a:schemeClr val="accent6"/>
                </a:solidFill>
              </a:rPr>
              <a:t>only entry points into the kernel system</a:t>
            </a:r>
            <a:r>
              <a:rPr lang="en-US"/>
              <a:t>. </a:t>
            </a:r>
          </a:p>
          <a:p>
            <a:r>
              <a:rPr lang="en-US" b="1">
                <a:solidFill>
                  <a:schemeClr val="accent6"/>
                </a:solidFill>
              </a:rPr>
              <a:t>All programs needing resources must use system calls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9831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ps (process status):- The ps (process status) command is used to </a:t>
            </a:r>
            <a:r>
              <a:rPr lang="en-US" b="1">
                <a:solidFill>
                  <a:schemeClr val="accent6"/>
                </a:solidFill>
              </a:rPr>
              <a:t>provide information about the currently running processes</a:t>
            </a:r>
            <a:r>
              <a:rPr lang="en-US"/>
              <a:t>, including their process identification numbers (PIDs). </a:t>
            </a:r>
          </a:p>
          <a:p>
            <a:r>
              <a:rPr lang="en-US"/>
              <a:t>fork:- Fork system call is used for </a:t>
            </a:r>
            <a:r>
              <a:rPr lang="en-US" b="1">
                <a:solidFill>
                  <a:schemeClr val="accent6"/>
                </a:solidFill>
              </a:rPr>
              <a:t>creating a new process, which is called child process</a:t>
            </a:r>
            <a:r>
              <a:rPr lang="en-US"/>
              <a:t>, which runs concurrently with the process that makes the fork() call (parent process).</a:t>
            </a:r>
          </a:p>
          <a:p>
            <a:r>
              <a:rPr lang="en-US"/>
              <a:t>wait:- Wait system call </a:t>
            </a:r>
            <a:r>
              <a:rPr lang="en-US" b="1">
                <a:solidFill>
                  <a:schemeClr val="accent6"/>
                </a:solidFill>
              </a:rPr>
              <a:t>blocks the calling process until one of its child processes exits </a:t>
            </a:r>
            <a:r>
              <a:rPr lang="en-US"/>
              <a:t>or a signal is received. After child process terminates, parent continues its execution after wait system call instruction.</a:t>
            </a:r>
          </a:p>
          <a:p>
            <a:r>
              <a:rPr lang="en-US"/>
              <a:t>exit:- Exit system call </a:t>
            </a:r>
            <a:r>
              <a:rPr lang="en-US" b="1">
                <a:solidFill>
                  <a:schemeClr val="accent6"/>
                </a:solidFill>
              </a:rPr>
              <a:t>terminates the running process normally</a:t>
            </a:r>
            <a:r>
              <a:rPr lang="en-US"/>
              <a:t>.</a:t>
            </a:r>
          </a:p>
          <a:p>
            <a:r>
              <a:rPr lang="en-US"/>
              <a:t>exec family:- The exec family of functions </a:t>
            </a:r>
            <a:r>
              <a:rPr lang="en-US" b="1">
                <a:solidFill>
                  <a:schemeClr val="accent6"/>
                </a:solidFill>
              </a:rPr>
              <a:t>replaces the current running process with a new process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42774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Explain Process/Thread Life Cycle with diagram.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Explain process control block (PCB) with diagram.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Difference between process and thread.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Write various multi threading models.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Write benefits of threads.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8404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5"/>
  <p:tag name="AS_OS" val="Unix 5.15.0.1049"/>
  <p:tag name="AS_RELEASE_DATE" val="2023.09.14"/>
  <p:tag name="AS_TITLE" val="Aspose.Slides for .NET6"/>
  <p:tag name="AS_VERSION" val="23.9"/>
</p:tagLst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Roboto Condensed"/>
        <a:cs typeface="Arial"/>
      </a:majorFont>
      <a:minorFont>
        <a:latin typeface="Roboto Condensed"/>
        <a:ea typeface="Roboto Condensed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4327</TotalTime>
  <Words>2633</Words>
  <Application>Microsoft Office PowerPoint</Application>
  <PresentationFormat>Widescreen</PresentationFormat>
  <Paragraphs>473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1" baseType="lpstr">
      <vt:lpstr>Roboto Condensed Light</vt:lpstr>
      <vt:lpstr>Wingdings</vt:lpstr>
      <vt:lpstr>Open Sans Semibold</vt:lpstr>
      <vt:lpstr>Arial</vt:lpstr>
      <vt:lpstr>Wingdings 3</vt:lpstr>
      <vt:lpstr>Calibri</vt:lpstr>
      <vt:lpstr>Wingdings 2</vt:lpstr>
      <vt:lpstr>Segoe UI Black</vt:lpstr>
      <vt:lpstr>Times New Roman</vt:lpstr>
      <vt:lpstr>Roboto Condensed</vt:lpstr>
      <vt:lpstr>Office Theme</vt:lpstr>
      <vt:lpstr>Unit-2  Process and Threads Management</vt:lpstr>
      <vt:lpstr>PowerPoint Presentation</vt:lpstr>
      <vt:lpstr>Process concept</vt:lpstr>
      <vt:lpstr>What is Process?</vt:lpstr>
      <vt:lpstr>What is Process?</vt:lpstr>
      <vt:lpstr>Multiprogramming</vt:lpstr>
      <vt:lpstr>Multiprogramming execution</vt:lpstr>
      <vt:lpstr>Multiprogramming execution</vt:lpstr>
      <vt:lpstr>Multiprogramming execution</vt:lpstr>
      <vt:lpstr>Multiprogramming execution</vt:lpstr>
      <vt:lpstr>Process Model</vt:lpstr>
      <vt:lpstr>Process Creation</vt:lpstr>
      <vt:lpstr>Process Creation</vt:lpstr>
      <vt:lpstr>Process Termination</vt:lpstr>
      <vt:lpstr>Process Termination</vt:lpstr>
      <vt:lpstr>Process Hierarchies</vt:lpstr>
      <vt:lpstr>Handle</vt:lpstr>
      <vt:lpstr>Process states</vt:lpstr>
      <vt:lpstr>Process states</vt:lpstr>
      <vt:lpstr>Process states</vt:lpstr>
      <vt:lpstr>Process states transitions</vt:lpstr>
      <vt:lpstr>Process State Transitions</vt:lpstr>
      <vt:lpstr>Five State Process Model and Transitions</vt:lpstr>
      <vt:lpstr>Queue Diagram</vt:lpstr>
      <vt:lpstr>Process Control Block (PCB)</vt:lpstr>
      <vt:lpstr>What is Process Control Block (PCB)?</vt:lpstr>
      <vt:lpstr>Fields of Process Control Block (PCB)</vt:lpstr>
      <vt:lpstr>Context switching</vt:lpstr>
      <vt:lpstr>Context switching</vt:lpstr>
      <vt:lpstr>Threads</vt:lpstr>
      <vt:lpstr>What is Threads?</vt:lpstr>
      <vt:lpstr>What is Threads?</vt:lpstr>
      <vt:lpstr>Single Threaded Process VS Multiple Threaded Process</vt:lpstr>
      <vt:lpstr>Comparison between  process and thread</vt:lpstr>
      <vt:lpstr>Similarities between Process &amp; Thread</vt:lpstr>
      <vt:lpstr>Dissimilarities between Process &amp; Thread</vt:lpstr>
      <vt:lpstr>Benefits/Advantages of threads</vt:lpstr>
      <vt:lpstr>Benefits/Advantages of Threads</vt:lpstr>
      <vt:lpstr>Types of threads</vt:lpstr>
      <vt:lpstr>Types of Threads</vt:lpstr>
      <vt:lpstr>Types of Threads</vt:lpstr>
      <vt:lpstr>Hybrid Threads</vt:lpstr>
      <vt:lpstr>Multi Threading Models</vt:lpstr>
      <vt:lpstr>Multi Threading Models</vt:lpstr>
      <vt:lpstr>Pthread function calls</vt:lpstr>
      <vt:lpstr>Pthread function calls</vt:lpstr>
      <vt:lpstr>System calls</vt:lpstr>
      <vt:lpstr>System calls</vt:lpstr>
      <vt:lpstr>System calls</vt:lpstr>
      <vt:lpstr>Assignment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651</cp:revision>
  <cp:lastPrinted>2021-02-05T02:25:01Z</cp:lastPrinted>
  <dcterms:created xsi:type="dcterms:W3CDTF">2020-05-01T05:09:15Z</dcterms:created>
  <dcterms:modified xsi:type="dcterms:W3CDTF">2023-12-19T01:21:05Z</dcterms:modified>
</cp:coreProperties>
</file>