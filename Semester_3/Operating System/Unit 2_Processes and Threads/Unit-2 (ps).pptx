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sldIdLst>
    <p:sldId id="309" r:id="rId2"/>
    <p:sldId id="292" r:id="rId3"/>
    <p:sldId id="310" r:id="rId4"/>
    <p:sldId id="444" r:id="rId5"/>
    <p:sldId id="313" r:id="rId6"/>
    <p:sldId id="488" r:id="rId7"/>
    <p:sldId id="489" r:id="rId8"/>
    <p:sldId id="460" r:id="rId9"/>
    <p:sldId id="490" r:id="rId10"/>
    <p:sldId id="523" r:id="rId11"/>
    <p:sldId id="491" r:id="rId12"/>
    <p:sldId id="487" r:id="rId13"/>
    <p:sldId id="492" r:id="rId14"/>
    <p:sldId id="472" r:id="rId15"/>
    <p:sldId id="493" r:id="rId16"/>
    <p:sldId id="494" r:id="rId17"/>
    <p:sldId id="495" r:id="rId18"/>
    <p:sldId id="496" r:id="rId19"/>
    <p:sldId id="497" r:id="rId20"/>
    <p:sldId id="498" r:id="rId21"/>
    <p:sldId id="499" r:id="rId22"/>
    <p:sldId id="500" r:id="rId23"/>
    <p:sldId id="501" r:id="rId24"/>
    <p:sldId id="502" r:id="rId25"/>
    <p:sldId id="503" r:id="rId26"/>
    <p:sldId id="507" r:id="rId27"/>
    <p:sldId id="504" r:id="rId28"/>
    <p:sldId id="505" r:id="rId29"/>
    <p:sldId id="506" r:id="rId30"/>
    <p:sldId id="508" r:id="rId31"/>
    <p:sldId id="513" r:id="rId32"/>
    <p:sldId id="511" r:id="rId33"/>
    <p:sldId id="512" r:id="rId34"/>
    <p:sldId id="514" r:id="rId35"/>
    <p:sldId id="515" r:id="rId36"/>
    <p:sldId id="516" r:id="rId37"/>
    <p:sldId id="517" r:id="rId38"/>
    <p:sldId id="525" r:id="rId39"/>
    <p:sldId id="524" r:id="rId40"/>
    <p:sldId id="527" r:id="rId41"/>
    <p:sldId id="526" r:id="rId42"/>
    <p:sldId id="346" r:id="rId43"/>
    <p:sldId id="522" r:id="rId44"/>
    <p:sldId id="521" r:id="rId45"/>
  </p:sldIdLst>
  <p:sldSz cx="12192000" cy="6858000"/>
  <p:notesSz cx="6954838" cy="93091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Segoe UI Black" panose="020B0A02040204020203" pitchFamily="34" charset="0"/>
      <p:bold r:id="rId51"/>
      <p:boldItalic r:id="rId52"/>
    </p:embeddedFont>
    <p:embeddedFont>
      <p:font typeface="Wingdings 2" panose="05020102010507070707" pitchFamily="18" charset="2"/>
      <p:regular r:id="rId53"/>
    </p:embeddedFont>
    <p:embeddedFont>
      <p:font typeface="Roboto Condensed Light" panose="020B0604020202020204" charset="0"/>
      <p:regular r:id="rId54"/>
      <p:italic r:id="rId55"/>
    </p:embeddedFont>
    <p:embeddedFont>
      <p:font typeface="Roboto Condensed" panose="020B0604020202020204" charset="0"/>
      <p:regular r:id="rId56"/>
      <p:bold r:id="rId57"/>
      <p:italic r:id="rId58"/>
      <p:boldItalic r:id="rId59"/>
    </p:embeddedFont>
    <p:embeddedFont>
      <p:font typeface="Wingdings 3" panose="05040102010807070707" pitchFamily="18" charset="2"/>
      <p:regular r:id="rId60"/>
    </p:embeddedFont>
  </p:embeddedFontLst>
  <p:custDataLst>
    <p:tags r:id="rId6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/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/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/>
        <a:schemeClr val="dk1"/>
      </a:tcTxStyle>
      <a:tcStyle>
        <a:tcBdr/>
      </a:tcStyle>
    </a:seCell>
    <a:swCell>
      <a:tcTxStyle b="on">
        <a:fontRef idx="minor"/>
        <a:schemeClr val="dk1"/>
      </a:tcTxStyle>
      <a:tcStyle>
        <a:tcBdr/>
      </a:tcStyle>
    </a:swCell>
    <a:firstRow>
      <a:tcTxStyle b="on">
        <a:fontRef idx="minor"/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61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10" Type="http://schemas.openxmlformats.org/officeDocument/2006/relationships/image" Target="../media/image9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5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6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>
            <a:fillRect/>
          </a:stretch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xmlns="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27FD2-85B7-4619-BE67-41CE529DD9FB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2 – </a:t>
            </a:r>
            <a:r>
              <a:rPr lang="en-US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Process and Threads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605C9-AC46-4D12-9183-30F41D8A700A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2 – Process and Threads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B0BEA4-B333-48FC-88D9-883A2688CA88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xmlns="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2 – Process and Threads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xmlns="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xmlns="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>
            <a:fillRect/>
          </a:stretch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xmlns="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xmlns="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xmlns="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/>
              <a:t>Thank</a:t>
            </a:r>
          </a:p>
          <a:p>
            <a:pPr algn="ctr"/>
            <a:r>
              <a:rPr lang="en-US" sz="6000" b="1" i="1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829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/>
              <a:t>Thank</a:t>
            </a:r>
          </a:p>
          <a:p>
            <a:pPr algn="ctr"/>
            <a:r>
              <a:rPr lang="en-US" sz="6000" b="1" i="1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xmlns="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xmlns="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xmlns="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xmlns="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xmlns="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xmlns="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>
            <a:fillRect/>
          </a:stretch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302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Nepal Engineering College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789" y="1795212"/>
            <a:ext cx="2880360" cy="277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xmlns="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xmlns="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xmlns="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xmlns="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xmlns="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3" r:id="rId10"/>
    <p:sldLayoutId id="2147483692" r:id="rId11"/>
    <p:sldLayoutId id="2147483691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3" r:id="rId19"/>
    <p:sldLayoutId id="2147483682" r:id="rId20"/>
    <p:sldLayoutId id="2147483684" r:id="rId21"/>
    <p:sldLayoutId id="2147483685" r:id="rId22"/>
    <p:sldLayoutId id="2147483686" r:id="rId2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3"/>
            <a:ext cx="7315200" cy="3740801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smtClean="0"/>
              <a:t>Process</a:t>
            </a:r>
            <a:r>
              <a:rPr lang="en-US" dirty="0"/>
              <a:t/>
            </a:r>
            <a:br>
              <a:rPr lang="en-US" dirty="0"/>
            </a:br>
            <a:r>
              <a:rPr lang="en-US" sz="6000" dirty="0"/>
              <a:t>Scheduling Algorithms</a:t>
            </a:r>
            <a:endParaRPr lang="en-US" sz="80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Asst. Prof. </a:t>
            </a:r>
            <a:r>
              <a:rPr lang="en-US" dirty="0" err="1" smtClean="0"/>
              <a:t>Jhumi</a:t>
            </a:r>
            <a:r>
              <a:rPr lang="en-US" dirty="0" smtClean="0"/>
              <a:t> </a:t>
            </a:r>
            <a:r>
              <a:rPr lang="en-US" dirty="0" err="1" smtClean="0"/>
              <a:t>Thapa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Operating System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(OS)</a:t>
            </a:r>
          </a:p>
        </p:txBody>
      </p:sp>
    </p:spTree>
    <p:extLst>
      <p:ext uri="{BB962C8B-B14F-4D97-AF65-F5344CB8AC3E}">
        <p14:creationId xmlns:p14="http://schemas.microsoft.com/office/powerpoint/2010/main" val="16008347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9EBF344-4A7B-4C4A-AF6D-6441BD040AB3}"/>
              </a:ext>
            </a:extLst>
          </p:cNvPr>
          <p:cNvCxnSpPr>
            <a:endCxn id="6" idx="0"/>
          </p:cNvCxnSpPr>
          <p:nvPr/>
        </p:nvCxnSpPr>
        <p:spPr>
          <a:xfrm flipH="1"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CA925EF2-D58F-4AC0-ACED-F747CC08D69F}"/>
              </a:ext>
            </a:extLst>
          </p:cNvPr>
          <p:cNvCxnSpPr/>
          <p:nvPr/>
        </p:nvCxnSpPr>
        <p:spPr>
          <a:xfrm flipH="1"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ym typeface="Wingdings 2" panose="05020102010507070707" pitchFamily="18" charset="2"/>
              </a:rPr>
              <a:t></a:t>
            </a:r>
            <a:endParaRPr lang="en-US" sz="2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34260FD-CAA3-43A0-977C-7E4B57013872}"/>
              </a:ext>
            </a:extLst>
          </p:cNvPr>
          <p:cNvCxnSpPr/>
          <p:nvPr/>
        </p:nvCxnSpPr>
        <p:spPr>
          <a:xfrm flipH="1"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7772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What is scheduling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Objectives of scheduling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Types of scheduler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Scheduling algorithms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First Come First Served (FCFS)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Shortest Job First (SJF)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Shortest Remaining Time Next (SRTN)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Round Robin (RR)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Priority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Non-Preemptive Priority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Preemptive Priority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Real Time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What is process scheduling?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375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process scheduling?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103338" cy="5590565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Process </a:t>
            </a:r>
            <a:r>
              <a:rPr lang="en-US" dirty="0"/>
              <a:t>scheduling is the </a:t>
            </a:r>
            <a:r>
              <a:rPr lang="en-US" b="1" dirty="0">
                <a:solidFill>
                  <a:schemeClr val="accent6"/>
                </a:solidFill>
              </a:rPr>
              <a:t>activity of the process manager </a:t>
            </a:r>
            <a:r>
              <a:rPr lang="en-US" dirty="0"/>
              <a:t>that handles </a:t>
            </a:r>
            <a:r>
              <a:rPr lang="en-US" b="1" dirty="0">
                <a:solidFill>
                  <a:schemeClr val="accent6"/>
                </a:solidFill>
              </a:rPr>
              <a:t>suspension of running process from CPU and selection of another process </a:t>
            </a:r>
            <a:r>
              <a:rPr lang="en-US" dirty="0"/>
              <a:t>on the basis of a particular strategy.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part of operating system </a:t>
            </a:r>
            <a:r>
              <a:rPr lang="en-US" dirty="0"/>
              <a:t>that </a:t>
            </a:r>
            <a:r>
              <a:rPr lang="en-US" b="1" dirty="0">
                <a:solidFill>
                  <a:schemeClr val="accent6"/>
                </a:solidFill>
              </a:rPr>
              <a:t>makes</a:t>
            </a:r>
            <a:r>
              <a:rPr lang="en-US" dirty="0"/>
              <a:t> the </a:t>
            </a:r>
            <a:r>
              <a:rPr lang="en-US" b="1" dirty="0">
                <a:solidFill>
                  <a:schemeClr val="accent6"/>
                </a:solidFill>
              </a:rPr>
              <a:t>choice</a:t>
            </a:r>
            <a:r>
              <a:rPr lang="en-US" dirty="0"/>
              <a:t> is called </a:t>
            </a:r>
            <a:r>
              <a:rPr lang="en-US" b="1" dirty="0">
                <a:solidFill>
                  <a:schemeClr val="accent6"/>
                </a:solidFill>
              </a:rPr>
              <a:t>scheduler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algorithm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used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by</a:t>
            </a:r>
            <a:r>
              <a:rPr lang="en-US" dirty="0"/>
              <a:t> this </a:t>
            </a:r>
            <a:r>
              <a:rPr lang="en-US" b="1" dirty="0">
                <a:solidFill>
                  <a:schemeClr val="accent6"/>
                </a:solidFill>
              </a:rPr>
              <a:t>scheduler</a:t>
            </a:r>
            <a:r>
              <a:rPr lang="en-US" dirty="0"/>
              <a:t> is called scheduling </a:t>
            </a:r>
            <a:r>
              <a:rPr lang="en-US" b="1" dirty="0">
                <a:solidFill>
                  <a:schemeClr val="accent6"/>
                </a:solidFill>
              </a:rPr>
              <a:t>algorithm</a:t>
            </a:r>
            <a:r>
              <a:rPr lang="en-US" dirty="0"/>
              <a:t>.</a:t>
            </a:r>
          </a:p>
          <a:p>
            <a:r>
              <a:rPr lang="en-US" dirty="0"/>
              <a:t>Process scheduling is an essential part of a multiprogramming operating systems.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31"/>
          <a:stretch>
            <a:fillRect/>
          </a:stretch>
        </p:blipFill>
        <p:spPr>
          <a:xfrm>
            <a:off x="7355541" y="1035425"/>
            <a:ext cx="4733365" cy="430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919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Objectives (goals) of scheduling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738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 (goals) of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890491" cy="5590565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Fairness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giving each process a fair share of the CPU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Balance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keeping all the parts </a:t>
            </a:r>
            <a:r>
              <a:rPr lang="en-US" dirty="0"/>
              <a:t>of the system </a:t>
            </a:r>
            <a:r>
              <a:rPr lang="en-US" dirty="0">
                <a:solidFill>
                  <a:schemeClr val="accent6"/>
                </a:solidFill>
              </a:rPr>
              <a:t>busy</a:t>
            </a:r>
            <a:r>
              <a:rPr lang="en-US" dirty="0"/>
              <a:t> (</a:t>
            </a:r>
            <a:r>
              <a:rPr lang="en-US" dirty="0">
                <a:solidFill>
                  <a:schemeClr val="tx2"/>
                </a:solidFill>
              </a:rPr>
              <a:t>Maximize</a:t>
            </a:r>
            <a:r>
              <a:rPr lang="en-US" dirty="0"/>
              <a:t>).</a:t>
            </a:r>
          </a:p>
          <a:p>
            <a:r>
              <a:rPr lang="en-US" b="1" dirty="0">
                <a:solidFill>
                  <a:schemeClr val="accent6"/>
                </a:solidFill>
              </a:rPr>
              <a:t>Throughput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no of processes </a:t>
            </a:r>
            <a:r>
              <a:rPr lang="en-US" dirty="0"/>
              <a:t>that are </a:t>
            </a:r>
            <a:r>
              <a:rPr lang="en-US" dirty="0">
                <a:solidFill>
                  <a:schemeClr val="accent6"/>
                </a:solidFill>
              </a:rPr>
              <a:t>completed per time unit</a:t>
            </a:r>
            <a:r>
              <a:rPr lang="en-US" dirty="0"/>
              <a:t> (</a:t>
            </a:r>
            <a:r>
              <a:rPr lang="en-US" dirty="0">
                <a:solidFill>
                  <a:schemeClr val="tx2"/>
                </a:solidFill>
              </a:rPr>
              <a:t>Maximize</a:t>
            </a:r>
            <a:r>
              <a:rPr lang="en-US" dirty="0"/>
              <a:t>).</a:t>
            </a:r>
          </a:p>
          <a:p>
            <a:r>
              <a:rPr lang="en-US" b="1" dirty="0">
                <a:solidFill>
                  <a:schemeClr val="accent6"/>
                </a:solidFill>
              </a:rPr>
              <a:t>Turnaround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time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time to execute a process </a:t>
            </a:r>
            <a:r>
              <a:rPr lang="en-US" dirty="0"/>
              <a:t>from submission to completion (</a:t>
            </a:r>
            <a:r>
              <a:rPr lang="en-US" dirty="0">
                <a:solidFill>
                  <a:schemeClr val="tx2"/>
                </a:solidFill>
              </a:rPr>
              <a:t>Minimize</a:t>
            </a:r>
            <a:r>
              <a:rPr lang="en-US" dirty="0"/>
              <a:t>).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Turnaround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time</a:t>
            </a:r>
            <a:r>
              <a:rPr lang="en-US" dirty="0"/>
              <a:t> = Process </a:t>
            </a:r>
            <a:r>
              <a:rPr lang="en-US" dirty="0" smtClean="0"/>
              <a:t>completion </a:t>
            </a:r>
            <a:r>
              <a:rPr lang="en-US" dirty="0"/>
              <a:t>time – Process arrival time</a:t>
            </a:r>
          </a:p>
          <a:p>
            <a:r>
              <a:rPr lang="en-US" b="1" dirty="0">
                <a:solidFill>
                  <a:schemeClr val="accent6"/>
                </a:solidFill>
              </a:rPr>
              <a:t>CPU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utilization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percent of time </a:t>
            </a:r>
            <a:r>
              <a:rPr lang="en-US" dirty="0"/>
              <a:t>that the </a:t>
            </a:r>
            <a:r>
              <a:rPr lang="en-US" dirty="0">
                <a:solidFill>
                  <a:schemeClr val="accent6"/>
                </a:solidFill>
              </a:rPr>
              <a:t>CPU is busy </a:t>
            </a:r>
            <a:r>
              <a:rPr lang="en-US" dirty="0"/>
              <a:t>in executing a process.</a:t>
            </a:r>
          </a:p>
          <a:p>
            <a:pPr lvl="1"/>
            <a:r>
              <a:rPr lang="en-US" dirty="0"/>
              <a:t>keep CPU as busy as possible (</a:t>
            </a:r>
            <a:r>
              <a:rPr lang="en-US" dirty="0">
                <a:solidFill>
                  <a:schemeClr val="tx2"/>
                </a:solidFill>
              </a:rPr>
              <a:t>Maximized</a:t>
            </a:r>
            <a:r>
              <a:rPr lang="en-US" dirty="0"/>
              <a:t>).</a:t>
            </a:r>
          </a:p>
          <a:p>
            <a:r>
              <a:rPr lang="en-US" b="1" dirty="0">
                <a:solidFill>
                  <a:schemeClr val="accent6"/>
                </a:solidFill>
              </a:rPr>
              <a:t>Response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time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time between issuing a command and getting the result </a:t>
            </a:r>
            <a:r>
              <a:rPr lang="en-US" dirty="0"/>
              <a:t>(</a:t>
            </a:r>
            <a:r>
              <a:rPr lang="en-US" dirty="0">
                <a:solidFill>
                  <a:schemeClr val="tx2"/>
                </a:solidFill>
              </a:rPr>
              <a:t>Minimized</a:t>
            </a:r>
            <a:r>
              <a:rPr lang="en-US" dirty="0"/>
              <a:t>).</a:t>
            </a:r>
          </a:p>
          <a:p>
            <a:r>
              <a:rPr lang="en-US" b="1" dirty="0">
                <a:solidFill>
                  <a:schemeClr val="accent6"/>
                </a:solidFill>
              </a:rPr>
              <a:t>Waiting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time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amount of time a process has been waiting </a:t>
            </a:r>
            <a:r>
              <a:rPr lang="en-US" dirty="0"/>
              <a:t>in the ready queue (</a:t>
            </a:r>
            <a:r>
              <a:rPr lang="en-US" dirty="0">
                <a:solidFill>
                  <a:schemeClr val="tx2"/>
                </a:solidFill>
              </a:rPr>
              <a:t>Minimize</a:t>
            </a:r>
            <a:r>
              <a:rPr lang="en-US" dirty="0"/>
              <a:t>).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Waiting time </a:t>
            </a:r>
            <a:r>
              <a:rPr lang="en-US" dirty="0"/>
              <a:t>= Turnaround time – Actual execution </a:t>
            </a:r>
            <a:r>
              <a:rPr lang="en-US" dirty="0" smtClean="0"/>
              <a:t>time(</a:t>
            </a:r>
            <a:r>
              <a:rPr lang="en-US" dirty="0" err="1" smtClean="0"/>
              <a:t>brust</a:t>
            </a:r>
            <a:r>
              <a:rPr lang="en-US" dirty="0" smtClean="0"/>
              <a:t> time)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1570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Types of schedulers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688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schedulers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8" name="Picture 2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61048" y="2527611"/>
            <a:ext cx="1156465" cy="84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" name="Group 58"/>
          <p:cNvGrpSpPr/>
          <p:nvPr/>
        </p:nvGrpSpPr>
        <p:grpSpPr>
          <a:xfrm>
            <a:off x="4133289" y="4715190"/>
            <a:ext cx="1766888" cy="514350"/>
            <a:chOff x="1488" y="3024"/>
            <a:chExt cx="1484" cy="432"/>
          </a:xfrm>
        </p:grpSpPr>
        <p:sp>
          <p:nvSpPr>
            <p:cNvPr id="60" name="Line 5"/>
            <p:cNvSpPr>
              <a:spLocks noChangeShapeType="1"/>
            </p:cNvSpPr>
            <p:nvPr/>
          </p:nvSpPr>
          <p:spPr bwMode="auto">
            <a:xfrm>
              <a:off x="1493" y="3024"/>
              <a:ext cx="14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1" name="Line 6"/>
            <p:cNvSpPr>
              <a:spLocks noChangeShapeType="1"/>
            </p:cNvSpPr>
            <p:nvPr/>
          </p:nvSpPr>
          <p:spPr bwMode="auto">
            <a:xfrm flipH="1">
              <a:off x="1488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2" name="Line 7"/>
            <p:cNvSpPr>
              <a:spLocks noChangeShapeType="1"/>
            </p:cNvSpPr>
            <p:nvPr/>
          </p:nvSpPr>
          <p:spPr bwMode="auto">
            <a:xfrm>
              <a:off x="1493" y="3456"/>
              <a:ext cx="14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3" name="Line 8"/>
            <p:cNvSpPr>
              <a:spLocks noChangeShapeType="1"/>
            </p:cNvSpPr>
            <p:nvPr/>
          </p:nvSpPr>
          <p:spPr bwMode="auto">
            <a:xfrm flipH="1">
              <a:off x="1680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4" name="Line 9"/>
            <p:cNvSpPr>
              <a:spLocks noChangeShapeType="1"/>
            </p:cNvSpPr>
            <p:nvPr/>
          </p:nvSpPr>
          <p:spPr bwMode="auto">
            <a:xfrm flipH="1">
              <a:off x="1872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5" name="Line 10"/>
            <p:cNvSpPr>
              <a:spLocks noChangeShapeType="1"/>
            </p:cNvSpPr>
            <p:nvPr/>
          </p:nvSpPr>
          <p:spPr bwMode="auto">
            <a:xfrm flipH="1">
              <a:off x="2064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6" name="Line 11"/>
            <p:cNvSpPr>
              <a:spLocks noChangeShapeType="1"/>
            </p:cNvSpPr>
            <p:nvPr/>
          </p:nvSpPr>
          <p:spPr bwMode="auto">
            <a:xfrm flipH="1">
              <a:off x="2256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7" name="Line 12"/>
            <p:cNvSpPr>
              <a:spLocks noChangeShapeType="1"/>
            </p:cNvSpPr>
            <p:nvPr/>
          </p:nvSpPr>
          <p:spPr bwMode="auto">
            <a:xfrm flipH="1">
              <a:off x="2448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8" name="Line 13"/>
            <p:cNvSpPr>
              <a:spLocks noChangeShapeType="1"/>
            </p:cNvSpPr>
            <p:nvPr/>
          </p:nvSpPr>
          <p:spPr bwMode="auto">
            <a:xfrm flipH="1">
              <a:off x="2640" y="3029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4129718" y="2689701"/>
            <a:ext cx="1779984" cy="522684"/>
            <a:chOff x="1485" y="1341"/>
            <a:chExt cx="1495" cy="439"/>
          </a:xfrm>
        </p:grpSpPr>
        <p:sp>
          <p:nvSpPr>
            <p:cNvPr id="70" name="Line 15"/>
            <p:cNvSpPr>
              <a:spLocks noChangeShapeType="1"/>
            </p:cNvSpPr>
            <p:nvPr/>
          </p:nvSpPr>
          <p:spPr bwMode="auto">
            <a:xfrm flipH="1">
              <a:off x="1485" y="1776"/>
              <a:ext cx="14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1" name="Line 16"/>
            <p:cNvSpPr>
              <a:spLocks noChangeShapeType="1"/>
            </p:cNvSpPr>
            <p:nvPr/>
          </p:nvSpPr>
          <p:spPr bwMode="auto">
            <a:xfrm flipH="1" flipV="1">
              <a:off x="2976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2" name="Line 17"/>
            <p:cNvSpPr>
              <a:spLocks noChangeShapeType="1"/>
            </p:cNvSpPr>
            <p:nvPr/>
          </p:nvSpPr>
          <p:spPr bwMode="auto">
            <a:xfrm flipH="1">
              <a:off x="1485" y="1344"/>
              <a:ext cx="14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3" name="Line 18"/>
            <p:cNvSpPr>
              <a:spLocks noChangeShapeType="1"/>
            </p:cNvSpPr>
            <p:nvPr/>
          </p:nvSpPr>
          <p:spPr bwMode="auto">
            <a:xfrm flipH="1" flipV="1">
              <a:off x="2784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4" name="Line 19"/>
            <p:cNvSpPr>
              <a:spLocks noChangeShapeType="1"/>
            </p:cNvSpPr>
            <p:nvPr/>
          </p:nvSpPr>
          <p:spPr bwMode="auto">
            <a:xfrm flipH="1" flipV="1">
              <a:off x="2592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5" name="Line 20"/>
            <p:cNvSpPr>
              <a:spLocks noChangeShapeType="1"/>
            </p:cNvSpPr>
            <p:nvPr/>
          </p:nvSpPr>
          <p:spPr bwMode="auto">
            <a:xfrm flipH="1" flipV="1">
              <a:off x="2400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6" name="Line 21"/>
            <p:cNvSpPr>
              <a:spLocks noChangeShapeType="1"/>
            </p:cNvSpPr>
            <p:nvPr/>
          </p:nvSpPr>
          <p:spPr bwMode="auto">
            <a:xfrm flipH="1" flipV="1">
              <a:off x="2208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7" name="Line 22"/>
            <p:cNvSpPr>
              <a:spLocks noChangeShapeType="1"/>
            </p:cNvSpPr>
            <p:nvPr/>
          </p:nvSpPr>
          <p:spPr bwMode="auto">
            <a:xfrm flipH="1" flipV="1">
              <a:off x="2016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8" name="Line 23"/>
            <p:cNvSpPr>
              <a:spLocks noChangeShapeType="1"/>
            </p:cNvSpPr>
            <p:nvPr/>
          </p:nvSpPr>
          <p:spPr bwMode="auto">
            <a:xfrm flipH="1" flipV="1">
              <a:off x="1824" y="1341"/>
              <a:ext cx="0" cy="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sp>
        <p:nvSpPr>
          <p:cNvPr id="79" name="Line 25"/>
          <p:cNvSpPr>
            <a:spLocks noChangeShapeType="1"/>
          </p:cNvSpPr>
          <p:nvPr/>
        </p:nvSpPr>
        <p:spPr bwMode="auto">
          <a:xfrm>
            <a:off x="5910893" y="2951043"/>
            <a:ext cx="124658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0" name="Line 26"/>
          <p:cNvSpPr>
            <a:spLocks noChangeShapeType="1"/>
          </p:cNvSpPr>
          <p:nvPr/>
        </p:nvSpPr>
        <p:spPr bwMode="auto">
          <a:xfrm>
            <a:off x="8267140" y="2951043"/>
            <a:ext cx="73223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1" name="Line 27"/>
          <p:cNvSpPr>
            <a:spLocks noChangeShapeType="1"/>
          </p:cNvSpPr>
          <p:nvPr/>
        </p:nvSpPr>
        <p:spPr bwMode="auto">
          <a:xfrm flipH="1">
            <a:off x="3329618" y="5000940"/>
            <a:ext cx="80843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2" name="Line 28"/>
          <p:cNvSpPr>
            <a:spLocks noChangeShapeType="1"/>
          </p:cNvSpPr>
          <p:nvPr/>
        </p:nvSpPr>
        <p:spPr bwMode="auto">
          <a:xfrm flipH="1" flipV="1">
            <a:off x="3333189" y="2997119"/>
            <a:ext cx="0" cy="200858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3" name="Line 29"/>
          <p:cNvSpPr>
            <a:spLocks noChangeShapeType="1"/>
          </p:cNvSpPr>
          <p:nvPr/>
        </p:nvSpPr>
        <p:spPr bwMode="auto">
          <a:xfrm flipV="1">
            <a:off x="8265599" y="3114990"/>
            <a:ext cx="377778" cy="119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4" name="Line 30"/>
          <p:cNvSpPr>
            <a:spLocks noChangeShapeType="1"/>
          </p:cNvSpPr>
          <p:nvPr/>
        </p:nvSpPr>
        <p:spPr bwMode="auto">
          <a:xfrm flipH="1">
            <a:off x="8648139" y="3120944"/>
            <a:ext cx="0" cy="187523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5" name="Line 31"/>
          <p:cNvSpPr>
            <a:spLocks noChangeShapeType="1"/>
          </p:cNvSpPr>
          <p:nvPr/>
        </p:nvSpPr>
        <p:spPr bwMode="auto">
          <a:xfrm flipH="1">
            <a:off x="5909702" y="5000940"/>
            <a:ext cx="2743200" cy="205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6" name="Line 32"/>
          <p:cNvSpPr>
            <a:spLocks noChangeShapeType="1"/>
          </p:cNvSpPr>
          <p:nvPr/>
        </p:nvSpPr>
        <p:spPr bwMode="auto">
          <a:xfrm flipH="1">
            <a:off x="3329618" y="4086540"/>
            <a:ext cx="532328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7" name="Rectangle 86"/>
          <p:cNvSpPr>
            <a:spLocks noChangeArrowheads="1"/>
          </p:cNvSpPr>
          <p:nvPr/>
        </p:nvSpPr>
        <p:spPr bwMode="auto">
          <a:xfrm>
            <a:off x="2693824" y="2641122"/>
            <a:ext cx="738184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Admit</a:t>
            </a:r>
          </a:p>
        </p:txBody>
      </p:sp>
      <p:sp>
        <p:nvSpPr>
          <p:cNvPr id="88" name="Rectangle 87"/>
          <p:cNvSpPr>
            <a:spLocks noChangeArrowheads="1"/>
          </p:cNvSpPr>
          <p:nvPr/>
        </p:nvSpPr>
        <p:spPr bwMode="auto">
          <a:xfrm>
            <a:off x="4294024" y="2341888"/>
            <a:ext cx="1451520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Ready Queue</a:t>
            </a:r>
          </a:p>
        </p:txBody>
      </p:sp>
      <p:sp>
        <p:nvSpPr>
          <p:cNvPr id="89" name="Rectangle 88"/>
          <p:cNvSpPr>
            <a:spLocks noChangeArrowheads="1"/>
          </p:cNvSpPr>
          <p:nvPr/>
        </p:nvSpPr>
        <p:spPr bwMode="auto">
          <a:xfrm>
            <a:off x="5985070" y="2570717"/>
            <a:ext cx="1026725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Dispatch</a:t>
            </a:r>
          </a:p>
        </p:txBody>
      </p: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5646574" y="3721880"/>
            <a:ext cx="1033137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Time-out</a:t>
            </a:r>
          </a:p>
        </p:txBody>
      </p:sp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6580024" y="4627888"/>
            <a:ext cx="1209467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Event</a:t>
            </a:r>
            <a:r>
              <a:rPr lang="en-US" altLang="en-US" sz="2000"/>
              <a:t> </a:t>
            </a:r>
            <a:r>
              <a:rPr lang="en-US" altLang="en-US" sz="2000">
                <a:latin typeface="+mj-lt"/>
              </a:rPr>
              <a:t>Wait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8304048" y="2570717"/>
            <a:ext cx="510558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Exit</a:t>
            </a:r>
          </a:p>
        </p:txBody>
      </p:sp>
      <p:sp>
        <p:nvSpPr>
          <p:cNvPr id="93" name="Rectangle 92"/>
          <p:cNvSpPr>
            <a:spLocks noChangeArrowheads="1"/>
          </p:cNvSpPr>
          <p:nvPr/>
        </p:nvSpPr>
        <p:spPr bwMode="auto">
          <a:xfrm>
            <a:off x="7170574" y="2763491"/>
            <a:ext cx="1166185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Processor</a:t>
            </a: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4122574" y="5231592"/>
            <a:ext cx="1650292" cy="37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Blocked</a:t>
            </a:r>
            <a:r>
              <a:rPr lang="en-US" altLang="en-US" sz="2000"/>
              <a:t> </a:t>
            </a:r>
            <a:r>
              <a:rPr lang="en-US" altLang="en-US" sz="2000">
                <a:latin typeface="+mj-lt"/>
              </a:rPr>
              <a:t>Queue</a:t>
            </a:r>
          </a:p>
        </p:txBody>
      </p:sp>
      <p:sp>
        <p:nvSpPr>
          <p:cNvPr id="95" name="Rectangle 94"/>
          <p:cNvSpPr>
            <a:spLocks noChangeArrowheads="1"/>
          </p:cNvSpPr>
          <p:nvPr/>
        </p:nvSpPr>
        <p:spPr bwMode="auto">
          <a:xfrm>
            <a:off x="2893858" y="5027134"/>
            <a:ext cx="863218" cy="6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+mj-lt"/>
              </a:rPr>
              <a:t>Event</a:t>
            </a:r>
          </a:p>
          <a:p>
            <a:r>
              <a:rPr lang="en-US" altLang="en-US" sz="2000">
                <a:latin typeface="+mj-lt"/>
              </a:rPr>
              <a:t>Occurs</a:t>
            </a:r>
          </a:p>
        </p:txBody>
      </p:sp>
      <p:sp>
        <p:nvSpPr>
          <p:cNvPr id="96" name="Line 24"/>
          <p:cNvSpPr>
            <a:spLocks noChangeShapeType="1"/>
          </p:cNvSpPr>
          <p:nvPr/>
        </p:nvSpPr>
        <p:spPr bwMode="auto">
          <a:xfrm>
            <a:off x="2682129" y="2948661"/>
            <a:ext cx="1579136" cy="476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98" name="Rectangle 97"/>
          <p:cNvSpPr>
            <a:spLocks noChangeArrowheads="1"/>
          </p:cNvSpPr>
          <p:nvPr/>
        </p:nvSpPr>
        <p:spPr bwMode="auto">
          <a:xfrm>
            <a:off x="2755529" y="1866831"/>
            <a:ext cx="1275126" cy="6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Long Term</a:t>
            </a:r>
          </a:p>
          <a:p>
            <a:pPr algn="ctr"/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Scheduler</a:t>
            </a:r>
          </a:p>
        </p:txBody>
      </p:sp>
      <p:sp>
        <p:nvSpPr>
          <p:cNvPr id="99" name="Rectangle 98"/>
          <p:cNvSpPr>
            <a:spLocks noChangeArrowheads="1"/>
          </p:cNvSpPr>
          <p:nvPr/>
        </p:nvSpPr>
        <p:spPr bwMode="auto">
          <a:xfrm>
            <a:off x="5909702" y="1866831"/>
            <a:ext cx="1287950" cy="6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Short Term</a:t>
            </a:r>
          </a:p>
          <a:p>
            <a:pPr algn="ctr"/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Scheduler</a:t>
            </a:r>
          </a:p>
        </p:txBody>
      </p:sp>
      <p:sp>
        <p:nvSpPr>
          <p:cNvPr id="100" name="Rectangle 99"/>
          <p:cNvSpPr>
            <a:spLocks noChangeArrowheads="1"/>
          </p:cNvSpPr>
          <p:nvPr/>
        </p:nvSpPr>
        <p:spPr bwMode="auto">
          <a:xfrm>
            <a:off x="1739503" y="3755544"/>
            <a:ext cx="1600536" cy="6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7866" tIns="33338" rIns="67866" bIns="333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Medium Term</a:t>
            </a:r>
          </a:p>
          <a:p>
            <a:pPr algn="ctr"/>
            <a:r>
              <a:rPr lang="en-US" altLang="en-US" sz="2000" b="1">
                <a:solidFill>
                  <a:schemeClr val="accent6"/>
                </a:solidFill>
                <a:latin typeface="+mj-lt"/>
              </a:rPr>
              <a:t>Scheduler</a:t>
            </a:r>
          </a:p>
        </p:txBody>
      </p:sp>
    </p:spTree>
    <p:extLst>
      <p:ext uri="{BB962C8B-B14F-4D97-AF65-F5344CB8AC3E}">
        <p14:creationId xmlns:p14="http://schemas.microsoft.com/office/powerpoint/2010/main" val="37517688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99" grpId="0"/>
      <p:bldP spid="10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schedulers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5634893"/>
              </p:ext>
            </p:extLst>
          </p:nvPr>
        </p:nvGraphicFramePr>
        <p:xfrm>
          <a:off x="248411" y="871110"/>
          <a:ext cx="11795760" cy="63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Long-Term</a:t>
                      </a:r>
                      <a:r>
                        <a:rPr lang="en-US" sz="2400" b="1" baseline="0">
                          <a:solidFill>
                            <a:schemeClr val="tx1"/>
                          </a:solidFill>
                        </a:rPr>
                        <a:t> Scheduler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Short-Term</a:t>
                      </a:r>
                      <a:r>
                        <a:rPr lang="en-US" sz="2400" b="1" baseline="0">
                          <a:solidFill>
                            <a:schemeClr val="tx1"/>
                          </a:solidFill>
                        </a:rPr>
                        <a:t> Scheduler</a:t>
                      </a:r>
                      <a:endParaRPr lang="en-US" sz="24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Medium-Term</a:t>
                      </a:r>
                      <a:r>
                        <a:rPr lang="en-US" sz="2400" b="1" baseline="0">
                          <a:solidFill>
                            <a:schemeClr val="tx1"/>
                          </a:solidFill>
                        </a:rPr>
                        <a:t> Scheduler</a:t>
                      </a:r>
                      <a:endParaRPr lang="en-US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9211640"/>
              </p:ext>
            </p:extLst>
          </p:nvPr>
        </p:nvGraphicFramePr>
        <p:xfrm>
          <a:off x="248411" y="2331015"/>
          <a:ext cx="11795760" cy="1188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selects processes from pool 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loads them into memory for execution.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selects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those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processes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which are ready 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execute.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can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re-introduce the process 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into memory and execution can be continued.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6833747"/>
              </p:ext>
            </p:extLst>
          </p:nvPr>
        </p:nvGraphicFramePr>
        <p:xfrm>
          <a:off x="248411" y="3518958"/>
          <a:ext cx="1179576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Speed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lesser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than short term scheduler.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Speed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fastest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among other two schedulers.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Speed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in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between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both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short and long term scheduler.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0809586"/>
              </p:ext>
            </p:extLst>
          </p:nvPr>
        </p:nvGraphicFramePr>
        <p:xfrm>
          <a:off x="248411" y="4347490"/>
          <a:ext cx="1179576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almost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absent or minimal in time sharing system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also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minimal in time sharing system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a part of time sharing systems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233630"/>
              </p:ext>
            </p:extLst>
          </p:nvPr>
        </p:nvGraphicFramePr>
        <p:xfrm>
          <a:off x="248411" y="1508832"/>
          <a:ext cx="1179576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a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job scheduler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a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CPU scheduler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a </a:t>
                      </a:r>
                      <a:r>
                        <a:rPr lang="en-US" sz="2400" b="0" kern="120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process swapping scheduler</a:t>
                      </a:r>
                      <a:r>
                        <a:rPr lang="en-US" sz="24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GB" sz="24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0087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Arrival time(AT): Time at which the process arrives in the ready queue.</a:t>
            </a:r>
          </a:p>
          <a:p>
            <a:r>
              <a:rPr lang="en-US" dirty="0" smtClean="0"/>
              <a:t>Burst Time(BT): time required by process for CPU execution.</a:t>
            </a:r>
          </a:p>
          <a:p>
            <a:r>
              <a:rPr lang="en-US" dirty="0" smtClean="0"/>
              <a:t>Completion Time(CT): Time at which process completes its execution</a:t>
            </a:r>
          </a:p>
          <a:p>
            <a:r>
              <a:rPr lang="en-US" dirty="0" smtClean="0"/>
              <a:t>Turn Around Time (TAT):The time interval from the submission of a process to the time of the completion of the process.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or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Time difference between completion time and arrival time. i.e. </a:t>
            </a:r>
            <a:r>
              <a:rPr lang="en-US" b="1" dirty="0" smtClean="0"/>
              <a:t>TAT=CT-AT</a:t>
            </a:r>
          </a:p>
          <a:p>
            <a:r>
              <a:rPr lang="en-US" b="1" dirty="0" smtClean="0"/>
              <a:t>Response Time:</a:t>
            </a:r>
            <a:r>
              <a:rPr lang="en-US" dirty="0"/>
              <a:t> </a:t>
            </a:r>
            <a:r>
              <a:rPr lang="en-US" dirty="0" smtClean="0"/>
              <a:t>Amount of time from when a request was submitted until the first response is produced.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8833597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Scheduling algorithms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- 4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640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First Come First Served (FCFS)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Shortest Job First (SJF)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Shortest Remaining Time Next (SRTN)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Round Robin (RR)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Priority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/>
              <a:t>Preemptive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/>
              <a:t>Non-Preemptive</a:t>
            </a:r>
          </a:p>
        </p:txBody>
      </p:sp>
    </p:spTree>
    <p:extLst>
      <p:ext uri="{BB962C8B-B14F-4D97-AF65-F5344CB8AC3E}">
        <p14:creationId xmlns:p14="http://schemas.microsoft.com/office/powerpoint/2010/main" val="28374715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First Come First Served (FCFS)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4.1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56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Come First Served (FCFS)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Selection criteria:</a:t>
            </a:r>
          </a:p>
          <a:p>
            <a:pPr lvl="1"/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process that request first is served first</a:t>
            </a:r>
            <a:r>
              <a:rPr lang="en-US"/>
              <a:t>.</a:t>
            </a:r>
          </a:p>
          <a:p>
            <a:pPr lvl="1"/>
            <a:r>
              <a:rPr lang="en-US"/>
              <a:t>It means that </a:t>
            </a:r>
            <a:r>
              <a:rPr lang="en-US" b="1">
                <a:solidFill>
                  <a:schemeClr val="accent6"/>
                </a:solidFill>
              </a:rPr>
              <a:t>processes are served in the exact order of their arrival</a:t>
            </a:r>
            <a:r>
              <a:rPr lang="en-US"/>
              <a:t>.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Decision Mode: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Non preemptive</a:t>
            </a:r>
            <a:r>
              <a:rPr lang="en-US"/>
              <a:t>: </a:t>
            </a:r>
            <a:r>
              <a:rPr lang="en-US" b="1">
                <a:solidFill>
                  <a:schemeClr val="accent6"/>
                </a:solidFill>
              </a:rPr>
              <a:t>Once a process is selected, it runs until it is blocked </a:t>
            </a:r>
            <a:r>
              <a:rPr lang="en-US"/>
              <a:t>for an I/O or some other event or it is terminated.</a:t>
            </a:r>
          </a:p>
          <a:p>
            <a:r>
              <a:rPr lang="en-US"/>
              <a:t>Implementation:</a:t>
            </a:r>
          </a:p>
          <a:p>
            <a:pPr lvl="1"/>
            <a:r>
              <a:rPr lang="en-US"/>
              <a:t>This strategy can be easily </a:t>
            </a:r>
            <a:r>
              <a:rPr lang="en-US" b="1">
                <a:solidFill>
                  <a:schemeClr val="accent6"/>
                </a:solidFill>
              </a:rPr>
              <a:t>implemented by using FIFO </a:t>
            </a:r>
            <a:r>
              <a:rPr lang="en-US"/>
              <a:t>(First In First Out) queue. </a:t>
            </a:r>
          </a:p>
          <a:p>
            <a:pPr lvl="1"/>
            <a:r>
              <a:rPr lang="en-US"/>
              <a:t>When CPU becomes free, a process from the first position in a queue is selected to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733800" y="2438400"/>
            <a:ext cx="3429000" cy="6858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453064" y="243840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4572000" y="243840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6324600" y="243840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02281" y="2581245"/>
            <a:ext cx="731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0" y="2581245"/>
            <a:ext cx="64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0013" y="2588939"/>
            <a:ext cx="485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8213" y="2588939"/>
            <a:ext cx="485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5280" y="2596634"/>
            <a:ext cx="485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P3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1" b="6234"/>
          <a:stretch>
            <a:fillRect/>
          </a:stretch>
        </p:blipFill>
        <p:spPr>
          <a:xfrm>
            <a:off x="1225296" y="2336318"/>
            <a:ext cx="1005155" cy="898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12016" y="2038290"/>
            <a:ext cx="146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Ready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218" y="2596634"/>
            <a:ext cx="485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P0</a:t>
            </a:r>
          </a:p>
        </p:txBody>
      </p:sp>
    </p:spTree>
    <p:extLst>
      <p:ext uri="{BB962C8B-B14F-4D97-AF65-F5344CB8AC3E}">
        <p14:creationId xmlns:p14="http://schemas.microsoft.com/office/powerpoint/2010/main" val="1110228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06 2.59259E-06 L -0.19141 0.00232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57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  <p:bldP spid="10" grpId="0"/>
      <p:bldP spid="11" grpId="0"/>
      <p:bldP spid="12" grpId="0"/>
      <p:bldP spid="12" grpId="1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Come First Served (FCFS)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858826"/>
            <a:ext cx="11929641" cy="5590565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Gantt Chart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Average Turnaround Time:	 (10+15+15+17)/4 	=	14.25 ms.</a:t>
            </a:r>
          </a:p>
          <a:p>
            <a:r>
              <a:rPr lang="en-US"/>
              <a:t>Average Waiting Time:	 (0+9+13+13)/4  	=	8.75 ms.</a:t>
            </a:r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2752879"/>
              </p:ext>
            </p:extLst>
          </p:nvPr>
        </p:nvGraphicFramePr>
        <p:xfrm>
          <a:off x="423222" y="925219"/>
          <a:ext cx="4585654" cy="3017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417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909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Arrival Time</a:t>
                      </a:r>
                    </a:p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(AT)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Burst Time</a:t>
                      </a:r>
                    </a:p>
                    <a:p>
                      <a:pPr algn="ctr"/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8615143"/>
              </p:ext>
            </p:extLst>
          </p:nvPr>
        </p:nvGraphicFramePr>
        <p:xfrm>
          <a:off x="5012602" y="926587"/>
          <a:ext cx="1752918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Finish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(T1)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6931695"/>
              </p:ext>
            </p:extLst>
          </p:nvPr>
        </p:nvGraphicFramePr>
        <p:xfrm>
          <a:off x="6774090" y="92658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Turnaround Time</a:t>
                      </a:r>
                    </a:p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(TAT = T1 - 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AT)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3152275"/>
              </p:ext>
            </p:extLst>
          </p:nvPr>
        </p:nvGraphicFramePr>
        <p:xfrm>
          <a:off x="9064539" y="92658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Waiting Time</a:t>
                      </a:r>
                    </a:p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(WT = TAT - 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5908146"/>
              </p:ext>
            </p:extLst>
          </p:nvPr>
        </p:nvGraphicFramePr>
        <p:xfrm>
          <a:off x="5012602" y="1753913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1629867"/>
              </p:ext>
            </p:extLst>
          </p:nvPr>
        </p:nvGraphicFramePr>
        <p:xfrm>
          <a:off x="5012602" y="2300432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21040"/>
              </p:ext>
            </p:extLst>
          </p:nvPr>
        </p:nvGraphicFramePr>
        <p:xfrm>
          <a:off x="5012602" y="2847911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8220210"/>
              </p:ext>
            </p:extLst>
          </p:nvPr>
        </p:nvGraphicFramePr>
        <p:xfrm>
          <a:off x="5012602" y="3395169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5725959"/>
              </p:ext>
            </p:extLst>
          </p:nvPr>
        </p:nvGraphicFramePr>
        <p:xfrm>
          <a:off x="6774090" y="175391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9794170"/>
              </p:ext>
            </p:extLst>
          </p:nvPr>
        </p:nvGraphicFramePr>
        <p:xfrm>
          <a:off x="6774090" y="230043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8855900"/>
              </p:ext>
            </p:extLst>
          </p:nvPr>
        </p:nvGraphicFramePr>
        <p:xfrm>
          <a:off x="6774090" y="284791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2777021"/>
              </p:ext>
            </p:extLst>
          </p:nvPr>
        </p:nvGraphicFramePr>
        <p:xfrm>
          <a:off x="6774090" y="339516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1120892"/>
              </p:ext>
            </p:extLst>
          </p:nvPr>
        </p:nvGraphicFramePr>
        <p:xfrm>
          <a:off x="9064539" y="175391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858405"/>
              </p:ext>
            </p:extLst>
          </p:nvPr>
        </p:nvGraphicFramePr>
        <p:xfrm>
          <a:off x="9064539" y="230043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4737228"/>
              </p:ext>
            </p:extLst>
          </p:nvPr>
        </p:nvGraphicFramePr>
        <p:xfrm>
          <a:off x="9064539" y="284791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097579"/>
              </p:ext>
            </p:extLst>
          </p:nvPr>
        </p:nvGraphicFramePr>
        <p:xfrm>
          <a:off x="9064539" y="339516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3258872" y="4276165"/>
            <a:ext cx="22860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40853" y="4276165"/>
            <a:ext cx="13716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8434" y="4276165"/>
            <a:ext cx="4572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61616" y="4276165"/>
            <a:ext cx="9144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7600" y="4733365"/>
            <a:ext cx="31844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16632" y="4733365"/>
            <a:ext cx="43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6061" y="4733365"/>
            <a:ext cx="43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43943" y="4733365"/>
            <a:ext cx="43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59488" y="4733365"/>
            <a:ext cx="44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22</a:t>
            </a:r>
          </a:p>
        </p:txBody>
      </p:sp>
      <p:cxnSp>
        <p:nvCxnSpPr>
          <p:cNvPr id="59" name="Straight Connector 58"/>
          <p:cNvCxnSpPr/>
          <p:nvPr/>
        </p:nvCxnSpPr>
        <p:spPr>
          <a:xfrm flipH="1">
            <a:off x="3258872" y="4276165"/>
            <a:ext cx="0" cy="4572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6162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/>
      <p:bldP spid="55" grpId="0"/>
      <p:bldP spid="56" grpId="0"/>
      <p:bldP spid="57" grpId="0"/>
      <p:bldP spid="5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Come First Served (FCFS)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Advantages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Simple</a:t>
            </a:r>
            <a:r>
              <a:rPr lang="en-US"/>
              <a:t> and </a:t>
            </a:r>
            <a:r>
              <a:rPr lang="en-US" b="1">
                <a:solidFill>
                  <a:schemeClr val="accent6"/>
                </a:solidFill>
              </a:rPr>
              <a:t>fair</a:t>
            </a:r>
            <a:r>
              <a:rPr lang="en-US"/>
              <a:t>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Easy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to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understand</a:t>
            </a:r>
            <a:r>
              <a:rPr lang="en-US"/>
              <a:t> and </a:t>
            </a:r>
            <a:r>
              <a:rPr lang="en-US" b="1">
                <a:solidFill>
                  <a:schemeClr val="accent6"/>
                </a:solidFill>
              </a:rPr>
              <a:t>implement</a:t>
            </a:r>
            <a:r>
              <a:rPr lang="en-US"/>
              <a:t>.</a:t>
            </a:r>
          </a:p>
          <a:p>
            <a:pPr lvl="1"/>
            <a:r>
              <a:rPr lang="en-US"/>
              <a:t>Every process will get a chance to run, so </a:t>
            </a:r>
            <a:r>
              <a:rPr lang="en-US" b="1">
                <a:solidFill>
                  <a:schemeClr val="accent6"/>
                </a:solidFill>
              </a:rPr>
              <a:t>starvation doesn't occur</a:t>
            </a:r>
            <a:r>
              <a:rPr lang="en-US"/>
              <a:t>.</a:t>
            </a:r>
          </a:p>
          <a:p>
            <a:pPr lvl="2"/>
            <a:r>
              <a:rPr lang="en-US"/>
              <a:t>Starvation is the </a:t>
            </a:r>
            <a:r>
              <a:rPr lang="en-US">
                <a:solidFill>
                  <a:schemeClr val="accent6"/>
                </a:solidFill>
              </a:rPr>
              <a:t>problem that occurs when high priority processes keep executing and low priority processes get blocked for indefinite time</a:t>
            </a:r>
            <a:r>
              <a:rPr lang="en-US"/>
              <a:t>.</a:t>
            </a:r>
          </a:p>
          <a:p>
            <a:r>
              <a:rPr lang="en-US"/>
              <a:t>Disadvantages 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Not efficient </a:t>
            </a:r>
            <a:r>
              <a:rPr lang="en-US"/>
              <a:t>because average waiting time is too high.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Convoy effect is possible</a:t>
            </a:r>
            <a:r>
              <a:rPr lang="en-US"/>
              <a:t>. All small I/O bound processes wait for one big CPU bound process to acquire CPU. </a:t>
            </a:r>
            <a:endParaRPr lang="en-US" b="1">
              <a:solidFill>
                <a:schemeClr val="accent6"/>
              </a:solidFill>
            </a:endParaRPr>
          </a:p>
          <a:p>
            <a:pPr lvl="1"/>
            <a:endParaRPr lang="en-US" b="1">
              <a:solidFill>
                <a:schemeClr val="accent6"/>
              </a:solidFill>
            </a:endParaRPr>
          </a:p>
          <a:p>
            <a:pPr lvl="1"/>
            <a:endParaRPr lang="en-US" b="1">
              <a:solidFill>
                <a:schemeClr val="accent6"/>
              </a:solidFill>
            </a:endParaRPr>
          </a:p>
          <a:p>
            <a:pPr lvl="1"/>
            <a:endParaRPr lang="en-US" b="1">
              <a:solidFill>
                <a:schemeClr val="accent6"/>
              </a:solidFill>
            </a:endParaRPr>
          </a:p>
          <a:p>
            <a:pPr lvl="1"/>
            <a:endParaRPr lang="en-US" b="1">
              <a:solidFill>
                <a:schemeClr val="accent6"/>
              </a:solidFill>
            </a:endParaRPr>
          </a:p>
          <a:p>
            <a:pPr lvl="1"/>
            <a:endParaRPr lang="en-US" b="1">
              <a:solidFill>
                <a:schemeClr val="accent6"/>
              </a:solidFill>
            </a:endParaRPr>
          </a:p>
          <a:p>
            <a:pPr lvl="1"/>
            <a:r>
              <a:rPr lang="en-US" b="1">
                <a:solidFill>
                  <a:schemeClr val="accent6"/>
                </a:solidFill>
              </a:rPr>
              <a:t>CPU utilization may be less efficient </a:t>
            </a:r>
            <a:r>
              <a:rPr lang="en-US"/>
              <a:t>especially when a CPU bound process is running with many I/O bound processes.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293" y="4161325"/>
            <a:ext cx="7849695" cy="16385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24855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774133"/>
            <a:ext cx="10515600" cy="2852737"/>
          </a:xfrm>
        </p:spPr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Shortest Job First (SJF)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4.2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169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Shortest Job First (SJF)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Selection criteria:</a:t>
            </a:r>
          </a:p>
          <a:p>
            <a:pPr lvl="1"/>
            <a:r>
              <a:rPr lang="en-US"/>
              <a:t>The process, that </a:t>
            </a:r>
            <a:r>
              <a:rPr lang="en-US" b="1">
                <a:solidFill>
                  <a:schemeClr val="accent6"/>
                </a:solidFill>
              </a:rPr>
              <a:t>requires shortest time to complete execution, is served first</a:t>
            </a:r>
            <a:r>
              <a:rPr lang="en-US"/>
              <a:t>.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Decision Mode: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Non preemptive</a:t>
            </a:r>
            <a:r>
              <a:rPr lang="en-US"/>
              <a:t>: </a:t>
            </a:r>
            <a:r>
              <a:rPr lang="en-US" b="1">
                <a:solidFill>
                  <a:schemeClr val="accent6"/>
                </a:solidFill>
              </a:rPr>
              <a:t>Once a process is selected, it runs until it is blocked </a:t>
            </a:r>
            <a:r>
              <a:rPr lang="en-US"/>
              <a:t>for an I/O or some other event or it is terminated.</a:t>
            </a:r>
          </a:p>
          <a:p>
            <a:r>
              <a:rPr lang="en-US"/>
              <a:t>Implementation:</a:t>
            </a:r>
          </a:p>
          <a:p>
            <a:pPr lvl="1"/>
            <a:r>
              <a:rPr lang="en-US"/>
              <a:t>This strategy can be easily </a:t>
            </a:r>
            <a:r>
              <a:rPr lang="en-US" b="1">
                <a:solidFill>
                  <a:schemeClr val="accent6"/>
                </a:solidFill>
              </a:rPr>
              <a:t>implemented by using sorted FIFO </a:t>
            </a:r>
            <a:r>
              <a:rPr lang="en-US"/>
              <a:t>(First In First Out) queue. </a:t>
            </a:r>
          </a:p>
          <a:p>
            <a:pPr lvl="1"/>
            <a:r>
              <a:rPr lang="en-US"/>
              <a:t>All processes in a queue are </a:t>
            </a:r>
            <a:r>
              <a:rPr lang="en-US" b="1">
                <a:solidFill>
                  <a:schemeClr val="accent6"/>
                </a:solidFill>
              </a:rPr>
              <a:t>sorted in ascending order based on their required CPU bursts</a:t>
            </a:r>
            <a:r>
              <a:rPr lang="en-US"/>
              <a:t>. </a:t>
            </a:r>
          </a:p>
          <a:p>
            <a:pPr lvl="1"/>
            <a:r>
              <a:rPr lang="en-US"/>
              <a:t>When CPU becomes free, a process from the first position in a queue is selected to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733800" y="2102225"/>
            <a:ext cx="3429000" cy="6858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453064" y="2102225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4572000" y="2102225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6324600" y="2102225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02281" y="2245070"/>
            <a:ext cx="731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0" y="2245070"/>
            <a:ext cx="64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8648" y="2252764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P1 </a:t>
            </a:r>
            <a:r>
              <a:rPr lang="en-US"/>
              <a:t>(2)</a:t>
            </a:r>
            <a:endParaRPr lang="en-US" sz="2000"/>
          </a:p>
        </p:txBody>
      </p:sp>
      <p:sp>
        <p:nvSpPr>
          <p:cNvPr id="11" name="TextBox 10"/>
          <p:cNvSpPr txBox="1"/>
          <p:nvPr/>
        </p:nvSpPr>
        <p:spPr>
          <a:xfrm>
            <a:off x="4613742" y="2252764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P2 </a:t>
            </a:r>
            <a:r>
              <a:rPr lang="en-US"/>
              <a:t>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5279" y="2260459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P3 </a:t>
            </a:r>
            <a:r>
              <a:rPr lang="en-US"/>
              <a:t>(3)</a:t>
            </a:r>
            <a:endParaRPr lang="en-US" sz="2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1" b="6234"/>
          <a:stretch>
            <a:fillRect/>
          </a:stretch>
        </p:blipFill>
        <p:spPr>
          <a:xfrm>
            <a:off x="1225296" y="2002536"/>
            <a:ext cx="1005155" cy="898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12016" y="1702115"/>
            <a:ext cx="146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Ready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5670" y="2245070"/>
            <a:ext cx="82296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P0 </a:t>
            </a:r>
            <a:r>
              <a:rPr lang="en-US"/>
              <a:t>(4)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23258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6 4.07407E-06 L 0.07031 -0.00139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07 3.7037E-06 L -0.27487 -0.00116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89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  <p:bldP spid="10" grpId="0"/>
      <p:bldP spid="11" grpId="0"/>
      <p:bldP spid="11" grpId="1"/>
      <p:bldP spid="12" grpId="0"/>
      <p:bldP spid="12" grpId="1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Shortest Job First (SJF)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858826"/>
            <a:ext cx="11929641" cy="5590565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Gantt Chart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Average Turnaround Time:	 (10+21+9+11)/4 	=	12.75 ms.</a:t>
            </a:r>
          </a:p>
          <a:p>
            <a:r>
              <a:rPr lang="en-US"/>
              <a:t>Average Waiting Time:	 (0+15+7+7)/4  	=	7.25 ms.</a:t>
            </a:r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7923777"/>
              </p:ext>
            </p:extLst>
          </p:nvPr>
        </p:nvGraphicFramePr>
        <p:xfrm>
          <a:off x="423222" y="925219"/>
          <a:ext cx="4585654" cy="3017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417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909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Arrival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(T0)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Burst Time</a:t>
                      </a:r>
                    </a:p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l-GR" sz="24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8615143"/>
              </p:ext>
            </p:extLst>
          </p:nvPr>
        </p:nvGraphicFramePr>
        <p:xfrm>
          <a:off x="5012602" y="926587"/>
          <a:ext cx="1752918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Finish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(T1)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070943"/>
              </p:ext>
            </p:extLst>
          </p:nvPr>
        </p:nvGraphicFramePr>
        <p:xfrm>
          <a:off x="6774090" y="92658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Turnaround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(TAT = T1 - T0)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6617641"/>
              </p:ext>
            </p:extLst>
          </p:nvPr>
        </p:nvGraphicFramePr>
        <p:xfrm>
          <a:off x="9064539" y="92658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Waiting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(WT = TAT - </a:t>
                      </a:r>
                      <a:r>
                        <a:rPr lang="el-GR" sz="24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5908146"/>
              </p:ext>
            </p:extLst>
          </p:nvPr>
        </p:nvGraphicFramePr>
        <p:xfrm>
          <a:off x="5012602" y="1753913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0862673"/>
              </p:ext>
            </p:extLst>
          </p:nvPr>
        </p:nvGraphicFramePr>
        <p:xfrm>
          <a:off x="5012602" y="2300432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1489461"/>
              </p:ext>
            </p:extLst>
          </p:nvPr>
        </p:nvGraphicFramePr>
        <p:xfrm>
          <a:off x="5012602" y="2847911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9979256"/>
              </p:ext>
            </p:extLst>
          </p:nvPr>
        </p:nvGraphicFramePr>
        <p:xfrm>
          <a:off x="5012602" y="3395169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906566"/>
              </p:ext>
            </p:extLst>
          </p:nvPr>
        </p:nvGraphicFramePr>
        <p:xfrm>
          <a:off x="6774090" y="175391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9967746"/>
              </p:ext>
            </p:extLst>
          </p:nvPr>
        </p:nvGraphicFramePr>
        <p:xfrm>
          <a:off x="6774090" y="230043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6308284"/>
              </p:ext>
            </p:extLst>
          </p:nvPr>
        </p:nvGraphicFramePr>
        <p:xfrm>
          <a:off x="6774090" y="284791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7182788"/>
              </p:ext>
            </p:extLst>
          </p:nvPr>
        </p:nvGraphicFramePr>
        <p:xfrm>
          <a:off x="6774090" y="339516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1120892"/>
              </p:ext>
            </p:extLst>
          </p:nvPr>
        </p:nvGraphicFramePr>
        <p:xfrm>
          <a:off x="9064539" y="175391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6217822"/>
              </p:ext>
            </p:extLst>
          </p:nvPr>
        </p:nvGraphicFramePr>
        <p:xfrm>
          <a:off x="9064539" y="230043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7350233"/>
              </p:ext>
            </p:extLst>
          </p:nvPr>
        </p:nvGraphicFramePr>
        <p:xfrm>
          <a:off x="9064539" y="284791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309323"/>
              </p:ext>
            </p:extLst>
          </p:nvPr>
        </p:nvGraphicFramePr>
        <p:xfrm>
          <a:off x="9064539" y="339516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264848" y="4279900"/>
            <a:ext cx="22860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12000" y="4277920"/>
            <a:ext cx="13716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47939" y="4279900"/>
            <a:ext cx="4572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97600" y="4279900"/>
            <a:ext cx="9144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34056" y="4737100"/>
            <a:ext cx="31844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6418" y="4737100"/>
            <a:ext cx="43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2512" y="4737100"/>
            <a:ext cx="43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5800" y="4737100"/>
            <a:ext cx="43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7369" y="4737100"/>
            <a:ext cx="44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22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H="1">
            <a:off x="3264848" y="4279900"/>
            <a:ext cx="0" cy="4572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4353925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 animBg="1"/>
      <p:bldP spid="38" grpId="0" animBg="1"/>
      <p:bldP spid="39" grpId="0" animBg="1"/>
      <p:bldP spid="40" grpId="0"/>
      <p:bldP spid="41" grpId="0"/>
      <p:bldP spid="42" grpId="0"/>
      <p:bldP spid="43" grpId="0"/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Shortest Job First (SJF)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Advantages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Less waiting time.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Good response for short processes.</a:t>
            </a:r>
            <a:endParaRPr lang="en-US"/>
          </a:p>
          <a:p>
            <a:r>
              <a:rPr lang="en-US"/>
              <a:t>Disadvantages </a:t>
            </a:r>
          </a:p>
          <a:p>
            <a:pPr lvl="1"/>
            <a:r>
              <a:rPr lang="en-US"/>
              <a:t>It is </a:t>
            </a:r>
            <a:r>
              <a:rPr lang="en-US" b="1">
                <a:solidFill>
                  <a:schemeClr val="accent6"/>
                </a:solidFill>
              </a:rPr>
              <a:t>difficult to estimate time required </a:t>
            </a:r>
            <a:r>
              <a:rPr lang="en-US"/>
              <a:t>to complete execution.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Starvation is possible for long process</a:t>
            </a:r>
            <a:r>
              <a:rPr lang="en-US"/>
              <a:t>. Long process may wait forever.</a:t>
            </a:r>
          </a:p>
          <a:p>
            <a:pPr lvl="2"/>
            <a:r>
              <a:rPr lang="en-US"/>
              <a:t>Starvation is the </a:t>
            </a:r>
            <a:r>
              <a:rPr lang="en-US">
                <a:solidFill>
                  <a:schemeClr val="accent6"/>
                </a:solidFill>
              </a:rPr>
              <a:t>problem that occurs when high priority processes keep executing and low priority processes get blocked for indefinite time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52311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Shortest Remaining Time Next (SRTN)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4.3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657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Shortest Remaining Time Next (SRTN)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Selection criteria:</a:t>
            </a:r>
          </a:p>
          <a:p>
            <a:pPr lvl="1"/>
            <a:r>
              <a:rPr lang="en-US"/>
              <a:t>The process, </a:t>
            </a:r>
            <a:r>
              <a:rPr lang="en-US" b="1">
                <a:solidFill>
                  <a:schemeClr val="accent6"/>
                </a:solidFill>
              </a:rPr>
              <a:t>whose remaining run time is shortest, is served first</a:t>
            </a:r>
            <a:r>
              <a:rPr lang="en-US"/>
              <a:t>. This is a </a:t>
            </a:r>
            <a:r>
              <a:rPr lang="en-US" b="1">
                <a:solidFill>
                  <a:schemeClr val="accent6"/>
                </a:solidFill>
              </a:rPr>
              <a:t>preemptive version of SJF </a:t>
            </a:r>
            <a:r>
              <a:rPr lang="en-US"/>
              <a:t>scheduling.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Decision Mode: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Preemptive</a:t>
            </a:r>
            <a:r>
              <a:rPr lang="en-US"/>
              <a:t>: </a:t>
            </a:r>
            <a:r>
              <a:rPr lang="en-US" b="1">
                <a:solidFill>
                  <a:schemeClr val="accent6"/>
                </a:solidFill>
              </a:rPr>
              <a:t>When a new process arrives, its total time is compared to the current process remaining run time</a:t>
            </a:r>
            <a:r>
              <a:rPr lang="en-US"/>
              <a:t>. </a:t>
            </a:r>
          </a:p>
          <a:p>
            <a:pPr lvl="1"/>
            <a:r>
              <a:rPr lang="en-US"/>
              <a:t>If the </a:t>
            </a:r>
            <a:r>
              <a:rPr lang="en-US" b="1">
                <a:solidFill>
                  <a:schemeClr val="accent6"/>
                </a:solidFill>
              </a:rPr>
              <a:t>new process needs less time to finish than the current process, the current process is suspended and the new job is started</a:t>
            </a:r>
            <a:r>
              <a:rPr lang="en-US"/>
              <a:t>.</a:t>
            </a:r>
          </a:p>
          <a:p>
            <a:r>
              <a:rPr lang="en-US"/>
              <a:t>Implementation:</a:t>
            </a:r>
          </a:p>
          <a:p>
            <a:pPr lvl="1"/>
            <a:r>
              <a:rPr lang="en-US"/>
              <a:t>This strategy can also be implemented by using </a:t>
            </a:r>
            <a:r>
              <a:rPr lang="en-US" b="1">
                <a:solidFill>
                  <a:schemeClr val="accent6"/>
                </a:solidFill>
              </a:rPr>
              <a:t>sorted FIFO queue</a:t>
            </a:r>
            <a:r>
              <a:rPr lang="en-US"/>
              <a:t>. </a:t>
            </a:r>
          </a:p>
          <a:p>
            <a:pPr lvl="1"/>
            <a:r>
              <a:rPr lang="en-US"/>
              <a:t>All processes in a queue are </a:t>
            </a:r>
            <a:r>
              <a:rPr lang="en-US" b="1">
                <a:solidFill>
                  <a:schemeClr val="accent6"/>
                </a:solidFill>
              </a:rPr>
              <a:t>sorted in ascending order on their remaining run time</a:t>
            </a:r>
            <a:r>
              <a:rPr lang="en-US"/>
              <a:t>. </a:t>
            </a:r>
          </a:p>
          <a:p>
            <a:pPr lvl="1"/>
            <a:r>
              <a:rPr lang="en-US"/>
              <a:t>When CPU becomes free, a process from the first position in a queue is selected to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733800" y="2303930"/>
            <a:ext cx="3429000" cy="6858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453064" y="230393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4572000" y="230393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6324600" y="230393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02281" y="2446775"/>
            <a:ext cx="731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0" y="2446775"/>
            <a:ext cx="64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8648" y="2454469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P1 </a:t>
            </a:r>
            <a:r>
              <a:rPr lang="en-US"/>
              <a:t>(2)</a:t>
            </a:r>
            <a:endParaRPr lang="en-US" sz="2000"/>
          </a:p>
        </p:txBody>
      </p:sp>
      <p:sp>
        <p:nvSpPr>
          <p:cNvPr id="11" name="TextBox 10"/>
          <p:cNvSpPr txBox="1"/>
          <p:nvPr/>
        </p:nvSpPr>
        <p:spPr>
          <a:xfrm>
            <a:off x="4613742" y="2454469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P2 </a:t>
            </a:r>
            <a:r>
              <a:rPr lang="en-US"/>
              <a:t>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5279" y="2462164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P3 </a:t>
            </a:r>
            <a:r>
              <a:rPr lang="en-US"/>
              <a:t>(1)</a:t>
            </a:r>
            <a:endParaRPr lang="en-US" sz="2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1" b="6234"/>
          <a:stretch>
            <a:fillRect/>
          </a:stretch>
        </p:blipFill>
        <p:spPr>
          <a:xfrm>
            <a:off x="1227957" y="2201848"/>
            <a:ext cx="1005155" cy="898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12016" y="1903820"/>
            <a:ext cx="146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Ready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5830" y="2444549"/>
            <a:ext cx="77724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P0 </a:t>
            </a:r>
            <a:r>
              <a:rPr lang="en-US"/>
              <a:t>(2)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969068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07 2.96296E-06 L 0.07031 -0.00139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06 1.85185E-06 L 0.20755 0.00139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6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07 -4.44444E-06 L -0.48542 -0.003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271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  <p:bldP spid="10" grpId="0"/>
      <p:bldP spid="11" grpId="0"/>
      <p:bldP spid="11" grpId="1"/>
      <p:bldP spid="12" grpId="0"/>
      <p:bldP spid="12" grpId="1"/>
      <p:bldP spid="14" grpId="0"/>
      <p:bldP spid="15" grpId="0"/>
      <p:bldP spid="1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Shortest Remaining Time Next (SRTN)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Gantt Chart</a:t>
            </a:r>
          </a:p>
          <a:p>
            <a:endParaRPr lang="en-US"/>
          </a:p>
          <a:p>
            <a:r>
              <a:rPr lang="en-US"/>
              <a:t>Average Turnaround Time:     10 ms</a:t>
            </a:r>
          </a:p>
          <a:p>
            <a:r>
              <a:rPr lang="en-US"/>
              <a:t>Average Waiting Time:            4.5 ms</a:t>
            </a:r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7923777"/>
              </p:ext>
            </p:extLst>
          </p:nvPr>
        </p:nvGraphicFramePr>
        <p:xfrm>
          <a:off x="423222" y="925219"/>
          <a:ext cx="4585654" cy="3017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417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909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Arrival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(T0)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Burst Time</a:t>
                      </a:r>
                    </a:p>
                    <a:p>
                      <a:pPr algn="ctr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l-GR" sz="2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8615143"/>
              </p:ext>
            </p:extLst>
          </p:nvPr>
        </p:nvGraphicFramePr>
        <p:xfrm>
          <a:off x="5012602" y="926587"/>
          <a:ext cx="1752918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Finish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(T1)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070943"/>
              </p:ext>
            </p:extLst>
          </p:nvPr>
        </p:nvGraphicFramePr>
        <p:xfrm>
          <a:off x="6774090" y="92658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Turnaround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(TAT = T1 - T0)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6617641"/>
              </p:ext>
            </p:extLst>
          </p:nvPr>
        </p:nvGraphicFramePr>
        <p:xfrm>
          <a:off x="9064539" y="92658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Waiting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(WT = TAT - </a:t>
                      </a:r>
                      <a:r>
                        <a:rPr lang="el-GR" sz="24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6475891"/>
              </p:ext>
            </p:extLst>
          </p:nvPr>
        </p:nvGraphicFramePr>
        <p:xfrm>
          <a:off x="5012602" y="1753913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8089157"/>
              </p:ext>
            </p:extLst>
          </p:nvPr>
        </p:nvGraphicFramePr>
        <p:xfrm>
          <a:off x="5012602" y="2300432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4620988"/>
              </p:ext>
            </p:extLst>
          </p:nvPr>
        </p:nvGraphicFramePr>
        <p:xfrm>
          <a:off x="5012602" y="2847911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9431693"/>
              </p:ext>
            </p:extLst>
          </p:nvPr>
        </p:nvGraphicFramePr>
        <p:xfrm>
          <a:off x="5012601" y="3395169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7150179"/>
              </p:ext>
            </p:extLst>
          </p:nvPr>
        </p:nvGraphicFramePr>
        <p:xfrm>
          <a:off x="6774090" y="175391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2695868"/>
              </p:ext>
            </p:extLst>
          </p:nvPr>
        </p:nvGraphicFramePr>
        <p:xfrm>
          <a:off x="6774090" y="230043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3586281"/>
              </p:ext>
            </p:extLst>
          </p:nvPr>
        </p:nvGraphicFramePr>
        <p:xfrm>
          <a:off x="6774090" y="284791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1695451"/>
              </p:ext>
            </p:extLst>
          </p:nvPr>
        </p:nvGraphicFramePr>
        <p:xfrm>
          <a:off x="6774090" y="339516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3324103"/>
              </p:ext>
            </p:extLst>
          </p:nvPr>
        </p:nvGraphicFramePr>
        <p:xfrm>
          <a:off x="9064539" y="175391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0591612"/>
              </p:ext>
            </p:extLst>
          </p:nvPr>
        </p:nvGraphicFramePr>
        <p:xfrm>
          <a:off x="9064539" y="230043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064342"/>
              </p:ext>
            </p:extLst>
          </p:nvPr>
        </p:nvGraphicFramePr>
        <p:xfrm>
          <a:off x="9064539" y="284791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6561367"/>
              </p:ext>
            </p:extLst>
          </p:nvPr>
        </p:nvGraphicFramePr>
        <p:xfrm>
          <a:off x="9064539" y="339516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9499809" y="4166994"/>
            <a:ext cx="1371600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94011" y="4166994"/>
            <a:ext cx="914400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1350" y="4615428"/>
            <a:ext cx="31844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9393" y="4621262"/>
            <a:ext cx="30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45655" y="4621262"/>
            <a:ext cx="44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34998" y="4163087"/>
            <a:ext cx="457200" cy="455074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9517" y="4621262"/>
            <a:ext cx="286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99198" y="4164941"/>
            <a:ext cx="547049" cy="451366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03065" y="4621262"/>
            <a:ext cx="286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46247" y="4164941"/>
            <a:ext cx="547049" cy="451366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56437" y="4621262"/>
            <a:ext cx="286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92200" y="4166994"/>
            <a:ext cx="914400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64389" y="4621262"/>
            <a:ext cx="48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13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143903"/>
              </p:ext>
            </p:extLst>
          </p:nvPr>
        </p:nvGraphicFramePr>
        <p:xfrm>
          <a:off x="5760644" y="4947834"/>
          <a:ext cx="249983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58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712544"/>
              </p:ext>
            </p:extLst>
          </p:nvPr>
        </p:nvGraphicFramePr>
        <p:xfrm>
          <a:off x="6299730" y="4966031"/>
          <a:ext cx="24998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58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576133"/>
              </p:ext>
            </p:extLst>
          </p:nvPr>
        </p:nvGraphicFramePr>
        <p:xfrm>
          <a:off x="6865127" y="4958069"/>
          <a:ext cx="24998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58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600634"/>
              </p:ext>
            </p:extLst>
          </p:nvPr>
        </p:nvGraphicFramePr>
        <p:xfrm>
          <a:off x="7747888" y="4977404"/>
          <a:ext cx="249983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58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69083"/>
              </p:ext>
            </p:extLst>
          </p:nvPr>
        </p:nvGraphicFramePr>
        <p:xfrm>
          <a:off x="8592200" y="4987639"/>
          <a:ext cx="24998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58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cxnSp>
        <p:nvCxnSpPr>
          <p:cNvPr id="65" name="Straight Connector 64"/>
          <p:cNvCxnSpPr/>
          <p:nvPr/>
        </p:nvCxnSpPr>
        <p:spPr>
          <a:xfrm flipH="1">
            <a:off x="6136161" y="4165600"/>
            <a:ext cx="0" cy="4572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41624538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/>
      <p:bldP spid="49" grpId="0"/>
      <p:bldP spid="50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Shortest Remaining Time Next (SRTN)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Advantages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Less waiting time.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Quite good response for short processes.</a:t>
            </a:r>
            <a:endParaRPr lang="en-US"/>
          </a:p>
          <a:p>
            <a:r>
              <a:rPr lang="en-US"/>
              <a:t>Disadvantages </a:t>
            </a:r>
          </a:p>
          <a:p>
            <a:pPr lvl="1"/>
            <a:r>
              <a:rPr lang="en-US"/>
              <a:t>It is </a:t>
            </a:r>
            <a:r>
              <a:rPr lang="en-US" b="1">
                <a:solidFill>
                  <a:schemeClr val="accent6"/>
                </a:solidFill>
              </a:rPr>
              <a:t>difficult to estimate time required </a:t>
            </a:r>
            <a:r>
              <a:rPr lang="en-US"/>
              <a:t>to complete execution.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Starvation is possible for long process</a:t>
            </a:r>
            <a:r>
              <a:rPr lang="en-US"/>
              <a:t>. Long process may wait forever.</a:t>
            </a:r>
          </a:p>
          <a:p>
            <a:pPr lvl="2"/>
            <a:r>
              <a:rPr lang="en-US"/>
              <a:t>Starvation is the </a:t>
            </a:r>
            <a:r>
              <a:rPr lang="en-US">
                <a:solidFill>
                  <a:schemeClr val="accent6"/>
                </a:solidFill>
              </a:rPr>
              <a:t>problem that occurs when high priority processes keep executing and low priority processes get blocked for indefinite time</a:t>
            </a:r>
            <a:r>
              <a:rPr lang="en-US"/>
              <a:t>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Context switch overhead is there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62305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Round Robin (RR)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4.4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91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Robin (RR)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Selection criteria:</a:t>
            </a:r>
          </a:p>
          <a:p>
            <a:pPr lvl="1"/>
            <a:r>
              <a:rPr lang="en-US" dirty="0"/>
              <a:t>Each selected process is </a:t>
            </a:r>
            <a:r>
              <a:rPr lang="en-US" b="1" dirty="0">
                <a:solidFill>
                  <a:schemeClr val="accent6"/>
                </a:solidFill>
              </a:rPr>
              <a:t>assigned a time interval, called time quantum or time slice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Process is </a:t>
            </a:r>
            <a:r>
              <a:rPr lang="en-US" b="1" dirty="0">
                <a:solidFill>
                  <a:schemeClr val="accent6"/>
                </a:solidFill>
              </a:rPr>
              <a:t>allowed to run only for this time interval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Here, two things are possible:  </a:t>
            </a:r>
          </a:p>
          <a:p>
            <a:pPr lvl="1"/>
            <a:r>
              <a:rPr lang="en-US" dirty="0"/>
              <a:t>First, </a:t>
            </a:r>
            <a:r>
              <a:rPr lang="en-US" b="1" dirty="0">
                <a:solidFill>
                  <a:schemeClr val="accent6"/>
                </a:solidFill>
              </a:rPr>
              <a:t>process is either blocked or terminated before the quantum has elapsed</a:t>
            </a:r>
            <a:r>
              <a:rPr lang="en-US" dirty="0"/>
              <a:t>. In this case the </a:t>
            </a:r>
            <a:r>
              <a:rPr lang="en-US" b="1" dirty="0">
                <a:solidFill>
                  <a:schemeClr val="accent6"/>
                </a:solidFill>
              </a:rPr>
              <a:t>CPU switching is done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another process is scheduled </a:t>
            </a:r>
            <a:r>
              <a:rPr lang="en-US" dirty="0"/>
              <a:t>to run.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Second, </a:t>
            </a:r>
            <a:r>
              <a:rPr lang="en-US" b="1" dirty="0">
                <a:solidFill>
                  <a:schemeClr val="accent6"/>
                </a:solidFill>
              </a:rPr>
              <a:t>process needs CPU burst longer than time quantum</a:t>
            </a:r>
            <a:r>
              <a:rPr lang="en-US" dirty="0"/>
              <a:t>. In this case, process is </a:t>
            </a:r>
            <a:r>
              <a:rPr lang="en-US" b="1" dirty="0">
                <a:solidFill>
                  <a:schemeClr val="accent6"/>
                </a:solidFill>
              </a:rPr>
              <a:t>running at the end of the time quantum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Now, it will be </a:t>
            </a:r>
            <a:r>
              <a:rPr lang="en-US" b="1" dirty="0">
                <a:solidFill>
                  <a:schemeClr val="accent6"/>
                </a:solidFill>
              </a:rPr>
              <a:t>preempted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moved to the end of the queue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CPU will be </a:t>
            </a:r>
            <a:r>
              <a:rPr lang="en-US" b="1" dirty="0">
                <a:solidFill>
                  <a:schemeClr val="accent6"/>
                </a:solidFill>
              </a:rPr>
              <a:t>allocated to another process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Here, </a:t>
            </a:r>
            <a:r>
              <a:rPr lang="en-US" b="1" dirty="0">
                <a:solidFill>
                  <a:schemeClr val="accent6"/>
                </a:solidFill>
              </a:rPr>
              <a:t>length of time quantum is critical to determine</a:t>
            </a:r>
            <a:r>
              <a:rPr lang="en-US"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89294" y="3191436"/>
            <a:ext cx="3429000" cy="6858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5708558" y="3191436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4827494" y="3191436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6580094" y="3191436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57775" y="3334281"/>
            <a:ext cx="731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8294" y="3334281"/>
            <a:ext cx="64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4142" y="3341975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P1 </a:t>
            </a:r>
            <a:r>
              <a:rPr lang="en-US"/>
              <a:t>(2)</a:t>
            </a:r>
            <a:endParaRPr lang="en-US" sz="2000"/>
          </a:p>
        </p:txBody>
      </p:sp>
      <p:sp>
        <p:nvSpPr>
          <p:cNvPr id="23" name="TextBox 22"/>
          <p:cNvSpPr txBox="1"/>
          <p:nvPr/>
        </p:nvSpPr>
        <p:spPr>
          <a:xfrm>
            <a:off x="4869236" y="3341975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P2 </a:t>
            </a:r>
            <a:r>
              <a:rPr lang="en-US"/>
              <a:t>(6)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773" y="3349670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P3 </a:t>
            </a:r>
            <a:r>
              <a:rPr lang="en-US"/>
              <a:t>(1)</a:t>
            </a:r>
            <a:endParaRPr lang="en-US" sz="200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1" b="6234"/>
          <a:stretch>
            <a:fillRect/>
          </a:stretch>
        </p:blipFill>
        <p:spPr>
          <a:xfrm>
            <a:off x="1483451" y="3089354"/>
            <a:ext cx="1005155" cy="8983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05884" y="2808150"/>
            <a:ext cx="301752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Ready queue &amp; Quantum =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61324" y="3332055"/>
            <a:ext cx="77724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P0 </a:t>
            </a:r>
            <a:r>
              <a:rPr lang="en-US"/>
              <a:t>(2)</a:t>
            </a:r>
            <a:endParaRPr lang="en-US" sz="2000"/>
          </a:p>
        </p:txBody>
      </p:sp>
      <p:sp>
        <p:nvSpPr>
          <p:cNvPr id="41" name="TextBox 40"/>
          <p:cNvSpPr txBox="1"/>
          <p:nvPr/>
        </p:nvSpPr>
        <p:spPr>
          <a:xfrm>
            <a:off x="4205884" y="5417278"/>
            <a:ext cx="301752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Ready queue &amp; Quantum =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89294" y="5802892"/>
            <a:ext cx="3429000" cy="6858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5708558" y="5802892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4827494" y="5802892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6580094" y="5802892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57775" y="5945737"/>
            <a:ext cx="731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Head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18294" y="5945737"/>
            <a:ext cx="64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04142" y="5953431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P1 </a:t>
            </a:r>
            <a:r>
              <a:rPr lang="en-US"/>
              <a:t>(2)</a:t>
            </a:r>
            <a:endParaRPr lang="en-US" sz="2000"/>
          </a:p>
        </p:txBody>
      </p:sp>
      <p:sp>
        <p:nvSpPr>
          <p:cNvPr id="49" name="TextBox 48"/>
          <p:cNvSpPr txBox="1"/>
          <p:nvPr/>
        </p:nvSpPr>
        <p:spPr>
          <a:xfrm>
            <a:off x="4869236" y="5953431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P2 </a:t>
            </a:r>
            <a:r>
              <a:rPr lang="en-US"/>
              <a:t>(6)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0773" y="5961126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P3 </a:t>
            </a:r>
            <a:r>
              <a:rPr lang="en-US"/>
              <a:t>(1)</a:t>
            </a:r>
            <a:endParaRPr lang="en-US" sz="2000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1" b="6234"/>
          <a:stretch>
            <a:fillRect/>
          </a:stretch>
        </p:blipFill>
        <p:spPr>
          <a:xfrm>
            <a:off x="1483451" y="5700810"/>
            <a:ext cx="1005155" cy="89837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205884" y="5419606"/>
            <a:ext cx="301752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Ready queue &amp; Quantum =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61324" y="5943511"/>
            <a:ext cx="77724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P0 </a:t>
            </a:r>
            <a:r>
              <a:rPr lang="en-US"/>
              <a:t>(1)</a:t>
            </a:r>
            <a:endParaRPr lang="en-US" sz="2000"/>
          </a:p>
        </p:txBody>
      </p:sp>
      <p:sp>
        <p:nvSpPr>
          <p:cNvPr id="54" name="TextBox 53"/>
          <p:cNvSpPr txBox="1"/>
          <p:nvPr/>
        </p:nvSpPr>
        <p:spPr>
          <a:xfrm>
            <a:off x="2359167" y="5953431"/>
            <a:ext cx="77724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P0 </a:t>
            </a:r>
            <a:r>
              <a:rPr lang="en-US"/>
              <a:t>(4)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796612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06 3.33333E-06 L -0.20364 -0.00278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56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07 3.33333E-06 L -0.13763 -0.00093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8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06 3.7037E-07 L -0.20364 -0.00278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8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07 -3.33333E-06 L 0.34896 0.00047" pathEditMode="relative" rAng="0" ptsTypes="AA">
                                      <p:cBhvr>
                                        <p:cTn id="161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48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07 -3.7037E-06 L -0.13763 -0.00092" pathEditMode="relative" rAng="0" ptsTypes="AA">
                                      <p:cBhvr>
                                        <p:cTn id="16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8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/>
      <p:bldP spid="21" grpId="0"/>
      <p:bldP spid="22" grpId="0"/>
      <p:bldP spid="22" grpId="1"/>
      <p:bldP spid="22" grpId="2"/>
      <p:bldP spid="23" grpId="0"/>
      <p:bldP spid="24" grpId="0"/>
      <p:bldP spid="24" grpId="1"/>
      <p:bldP spid="26" grpId="0"/>
      <p:bldP spid="27" grpId="0"/>
      <p:bldP spid="27" grpId="1"/>
      <p:bldP spid="41" grpId="0"/>
      <p:bldP spid="42" grpId="0" animBg="1"/>
      <p:bldP spid="46" grpId="0"/>
      <p:bldP spid="47" grpId="0"/>
      <p:bldP spid="48" grpId="0"/>
      <p:bldP spid="48" grpId="1"/>
      <p:bldP spid="48" grpId="2"/>
      <p:bldP spid="48" grpId="3"/>
      <p:bldP spid="49" grpId="0"/>
      <p:bldP spid="50" grpId="0"/>
      <p:bldP spid="50" grpId="1"/>
      <p:bldP spid="52" grpId="0"/>
      <p:bldP spid="53" grpId="0"/>
      <p:bldP spid="53" grpId="1"/>
      <p:bldP spid="54" grpId="0"/>
      <p:bldP spid="54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Robin (RR)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Decision Mode: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Preemptive</a:t>
            </a:r>
            <a:r>
              <a:rPr lang="en-US"/>
              <a:t>: </a:t>
            </a:r>
            <a:r>
              <a:rPr lang="en-US" b="1">
                <a:solidFill>
                  <a:schemeClr val="accent6"/>
                </a:solidFill>
              </a:rPr>
              <a:t>When a new process arrives, its total time is compared to the current process remaining run time</a:t>
            </a:r>
            <a:r>
              <a:rPr lang="en-US"/>
              <a:t>. 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Selection of new job is as per FCFS</a:t>
            </a:r>
            <a:r>
              <a:rPr lang="en-US"/>
              <a:t> scheduling algorithm.</a:t>
            </a:r>
          </a:p>
          <a:p>
            <a:r>
              <a:rPr lang="en-US"/>
              <a:t>Implementation:</a:t>
            </a:r>
          </a:p>
          <a:p>
            <a:pPr lvl="1"/>
            <a:r>
              <a:rPr lang="en-US"/>
              <a:t>This strategy can be implemented by using </a:t>
            </a:r>
            <a:r>
              <a:rPr lang="en-US" b="1">
                <a:solidFill>
                  <a:schemeClr val="accent6"/>
                </a:solidFill>
              </a:rPr>
              <a:t>circular FIFO queue</a:t>
            </a:r>
            <a:r>
              <a:rPr lang="en-US"/>
              <a:t>. </a:t>
            </a:r>
          </a:p>
          <a:p>
            <a:pPr lvl="1"/>
            <a:r>
              <a:rPr lang="en-US"/>
              <a:t>If any process comes, or process releases CPU, or process is preempted. It is moved to the end of the queue. </a:t>
            </a:r>
          </a:p>
          <a:p>
            <a:pPr lvl="1"/>
            <a:r>
              <a:rPr lang="en-US"/>
              <a:t>When CPU becomes free, a process from the first position in a queue is selected to run.</a:t>
            </a:r>
          </a:p>
        </p:txBody>
      </p:sp>
    </p:spTree>
    <p:extLst>
      <p:ext uri="{BB962C8B-B14F-4D97-AF65-F5344CB8AC3E}">
        <p14:creationId xmlns:p14="http://schemas.microsoft.com/office/powerpoint/2010/main" val="3455861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Robin (RR)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Gantt Chart </a:t>
            </a:r>
          </a:p>
          <a:p>
            <a:pPr marL="830262" lvl="1" indent="-285750">
              <a:buFont typeface="Wingdings" panose="05000000000000000000" pitchFamily="2" charset="2"/>
              <a:buChar char="§"/>
            </a:pPr>
            <a:r>
              <a:rPr lang="en-US" sz="1400"/>
              <a:t>Quantum time is 4 ms &amp; </a:t>
            </a:r>
          </a:p>
          <a:p>
            <a:pPr marL="830262" lvl="1" indent="-285750">
              <a:buFont typeface="Wingdings" panose="05000000000000000000" pitchFamily="2" charset="2"/>
              <a:buChar char="§"/>
            </a:pPr>
            <a:r>
              <a:rPr lang="en-US" sz="1400"/>
              <a:t>Context switch overhead is 1 </a:t>
            </a:r>
            <a:r>
              <a:rPr lang="en-US" sz="1400" err="1"/>
              <a:t>ms</a:t>
            </a:r>
            <a:endParaRPr lang="en-US" sz="1400"/>
          </a:p>
          <a:p>
            <a:r>
              <a:rPr lang="en-US"/>
              <a:t>Avg. Turnaround Time:  19.5 </a:t>
            </a:r>
            <a:r>
              <a:rPr lang="en-US" err="1"/>
              <a:t>ms</a:t>
            </a:r>
            <a:endParaRPr lang="en-US"/>
          </a:p>
          <a:p>
            <a:r>
              <a:rPr lang="en-US"/>
              <a:t>Avg. Waiting Time:         14 </a:t>
            </a:r>
            <a:r>
              <a:rPr lang="en-US" err="1"/>
              <a:t>ms</a:t>
            </a:r>
            <a:endParaRPr lang="en-US"/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7399544"/>
              </p:ext>
            </p:extLst>
          </p:nvPr>
        </p:nvGraphicFramePr>
        <p:xfrm>
          <a:off x="423222" y="850269"/>
          <a:ext cx="4585654" cy="3017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417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909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Arrival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(T0)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Burst Time</a:t>
                      </a:r>
                    </a:p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l-GR" sz="24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393457"/>
              </p:ext>
            </p:extLst>
          </p:nvPr>
        </p:nvGraphicFramePr>
        <p:xfrm>
          <a:off x="5012602" y="851637"/>
          <a:ext cx="1752918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Finish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(T1)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9228464"/>
              </p:ext>
            </p:extLst>
          </p:nvPr>
        </p:nvGraphicFramePr>
        <p:xfrm>
          <a:off x="6774090" y="85163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Turnaround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(TAT = T1 - T0)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4448279"/>
              </p:ext>
            </p:extLst>
          </p:nvPr>
        </p:nvGraphicFramePr>
        <p:xfrm>
          <a:off x="9064539" y="85163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Waiting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(WT = TAT - </a:t>
                      </a:r>
                      <a:r>
                        <a:rPr lang="el-GR" sz="24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2474540"/>
              </p:ext>
            </p:extLst>
          </p:nvPr>
        </p:nvGraphicFramePr>
        <p:xfrm>
          <a:off x="5012602" y="1678963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5583340"/>
              </p:ext>
            </p:extLst>
          </p:nvPr>
        </p:nvGraphicFramePr>
        <p:xfrm>
          <a:off x="5012602" y="2225482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3295922"/>
              </p:ext>
            </p:extLst>
          </p:nvPr>
        </p:nvGraphicFramePr>
        <p:xfrm>
          <a:off x="5012602" y="2772961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8028356"/>
              </p:ext>
            </p:extLst>
          </p:nvPr>
        </p:nvGraphicFramePr>
        <p:xfrm>
          <a:off x="5012601" y="3320219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5098281"/>
              </p:ext>
            </p:extLst>
          </p:nvPr>
        </p:nvGraphicFramePr>
        <p:xfrm>
          <a:off x="6774090" y="167896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9219925"/>
              </p:ext>
            </p:extLst>
          </p:nvPr>
        </p:nvGraphicFramePr>
        <p:xfrm>
          <a:off x="6774090" y="222548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7183391"/>
              </p:ext>
            </p:extLst>
          </p:nvPr>
        </p:nvGraphicFramePr>
        <p:xfrm>
          <a:off x="6774090" y="277296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6542569"/>
              </p:ext>
            </p:extLst>
          </p:nvPr>
        </p:nvGraphicFramePr>
        <p:xfrm>
          <a:off x="6774090" y="332021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0687537"/>
              </p:ext>
            </p:extLst>
          </p:nvPr>
        </p:nvGraphicFramePr>
        <p:xfrm>
          <a:off x="9064539" y="167896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8803559"/>
              </p:ext>
            </p:extLst>
          </p:nvPr>
        </p:nvGraphicFramePr>
        <p:xfrm>
          <a:off x="9064539" y="222548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296648"/>
              </p:ext>
            </p:extLst>
          </p:nvPr>
        </p:nvGraphicFramePr>
        <p:xfrm>
          <a:off x="9064539" y="277296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8065704"/>
              </p:ext>
            </p:extLst>
          </p:nvPr>
        </p:nvGraphicFramePr>
        <p:xfrm>
          <a:off x="9064539" y="332021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4392527" y="4419339"/>
            <a:ext cx="31844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cxnSp>
        <p:nvCxnSpPr>
          <p:cNvPr id="40" name="Straight Connector 39"/>
          <p:cNvCxnSpPr/>
          <p:nvPr/>
        </p:nvCxnSpPr>
        <p:spPr>
          <a:xfrm flipH="1">
            <a:off x="4552207" y="3969080"/>
            <a:ext cx="0" cy="4572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552185" y="3974050"/>
            <a:ext cx="914400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66563" y="3974050"/>
            <a:ext cx="288364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312279" y="4419339"/>
            <a:ext cx="30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6636" y="4419339"/>
            <a:ext cx="30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54905" y="3974050"/>
            <a:ext cx="914400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69283" y="3974096"/>
            <a:ext cx="288364" cy="447169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6517773" y="4419339"/>
            <a:ext cx="30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28361" y="4419339"/>
            <a:ext cx="463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57625" y="3974050"/>
            <a:ext cx="511624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69227" y="3974096"/>
            <a:ext cx="288364" cy="447169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7253136" y="4419339"/>
            <a:ext cx="42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8018" y="4419339"/>
            <a:ext cx="463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57569" y="3974050"/>
            <a:ext cx="914400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71947" y="3974096"/>
            <a:ext cx="288364" cy="447169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8445168" y="4419339"/>
            <a:ext cx="425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46076" y="4419339"/>
            <a:ext cx="463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60289" y="3974050"/>
            <a:ext cx="914400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74667" y="3974096"/>
            <a:ext cx="288364" cy="447169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9643556" y="4419339"/>
            <a:ext cx="425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50814" y="4419339"/>
            <a:ext cx="463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63009" y="3974050"/>
            <a:ext cx="511624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674611" y="3974096"/>
            <a:ext cx="288364" cy="447169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10444822" y="4419339"/>
            <a:ext cx="42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48274" y="4419339"/>
            <a:ext cx="463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962952" y="3974050"/>
            <a:ext cx="511624" cy="44726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68616" y="4419339"/>
            <a:ext cx="42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28</a:t>
            </a:r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97023"/>
              </p:ext>
            </p:extLst>
          </p:nvPr>
        </p:nvGraphicFramePr>
        <p:xfrm>
          <a:off x="4606799" y="4736768"/>
          <a:ext cx="24998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58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87" name="Table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712737"/>
              </p:ext>
            </p:extLst>
          </p:nvPr>
        </p:nvGraphicFramePr>
        <p:xfrm>
          <a:off x="5769132" y="4736768"/>
          <a:ext cx="249983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58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88" name="Table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962362"/>
              </p:ext>
            </p:extLst>
          </p:nvPr>
        </p:nvGraphicFramePr>
        <p:xfrm>
          <a:off x="6513982" y="4736768"/>
          <a:ext cx="24998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58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593619"/>
              </p:ext>
            </p:extLst>
          </p:nvPr>
        </p:nvGraphicFramePr>
        <p:xfrm>
          <a:off x="7752024" y="4736768"/>
          <a:ext cx="24998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58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751835"/>
              </p:ext>
            </p:extLst>
          </p:nvPr>
        </p:nvGraphicFramePr>
        <p:xfrm>
          <a:off x="8957795" y="4736768"/>
          <a:ext cx="249983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58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708552"/>
              </p:ext>
            </p:extLst>
          </p:nvPr>
        </p:nvGraphicFramePr>
        <p:xfrm>
          <a:off x="9722352" y="4736768"/>
          <a:ext cx="23905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465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2626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 nodeType="clickPar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 animBg="1"/>
      <p:bldP spid="42" grpId="0" animBg="1"/>
      <p:bldP spid="43" grpId="0"/>
      <p:bldP spid="44" grpId="0"/>
      <p:bldP spid="45" grpId="0" animBg="1"/>
      <p:bldP spid="51" grpId="0" animBg="1"/>
      <p:bldP spid="66" grpId="0"/>
      <p:bldP spid="67" grpId="0"/>
      <p:bldP spid="68" grpId="0" animBg="1"/>
      <p:bldP spid="69" grpId="0" animBg="1"/>
      <p:bldP spid="70" grpId="0"/>
      <p:bldP spid="71" grpId="0"/>
      <p:bldP spid="72" grpId="0" animBg="1"/>
      <p:bldP spid="73" grpId="0" animBg="1"/>
      <p:bldP spid="74" grpId="0"/>
      <p:bldP spid="75" grpId="0"/>
      <p:bldP spid="76" grpId="0" animBg="1"/>
      <p:bldP spid="77" grpId="0" animBg="1"/>
      <p:bldP spid="78" grpId="0"/>
      <p:bldP spid="79" grpId="0"/>
      <p:bldP spid="80" grpId="0" animBg="1"/>
      <p:bldP spid="81" grpId="0" animBg="1"/>
      <p:bldP spid="82" grpId="0"/>
      <p:bldP spid="83" grpId="0"/>
      <p:bldP spid="84" grpId="0" animBg="1"/>
      <p:bldP spid="8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Robin (RR)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Advantages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Simplest, fairest and most widely used algorithms.</a:t>
            </a:r>
          </a:p>
          <a:p>
            <a:r>
              <a:rPr lang="en-US"/>
              <a:t>Disadvantages 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Context switch overhead is there</a:t>
            </a:r>
            <a:r>
              <a:rPr lang="en-US"/>
              <a:t>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Determination of time quantum is too critical</a:t>
            </a:r>
            <a:r>
              <a:rPr lang="en-US"/>
              <a:t>. </a:t>
            </a:r>
          </a:p>
          <a:p>
            <a:pPr lvl="2"/>
            <a:r>
              <a:rPr lang="en-US"/>
              <a:t>If it is </a:t>
            </a:r>
            <a:r>
              <a:rPr lang="en-US">
                <a:solidFill>
                  <a:schemeClr val="accent6"/>
                </a:solidFill>
              </a:rPr>
              <a:t>too short</a:t>
            </a:r>
            <a:r>
              <a:rPr lang="en-US"/>
              <a:t>, it </a:t>
            </a:r>
            <a:r>
              <a:rPr lang="en-US">
                <a:solidFill>
                  <a:schemeClr val="accent6"/>
                </a:solidFill>
              </a:rPr>
              <a:t>causes frequent context switches </a:t>
            </a:r>
            <a:r>
              <a:rPr lang="en-US"/>
              <a:t>and </a:t>
            </a:r>
            <a:r>
              <a:rPr lang="en-US">
                <a:solidFill>
                  <a:schemeClr val="accent6"/>
                </a:solidFill>
              </a:rPr>
              <a:t>lowers CPU efficiency</a:t>
            </a:r>
            <a:r>
              <a:rPr lang="en-US"/>
              <a:t>. </a:t>
            </a:r>
          </a:p>
          <a:p>
            <a:pPr lvl="2"/>
            <a:r>
              <a:rPr lang="en-US"/>
              <a:t>If it is </a:t>
            </a:r>
            <a:r>
              <a:rPr lang="en-US">
                <a:solidFill>
                  <a:schemeClr val="accent6"/>
                </a:solidFill>
              </a:rPr>
              <a:t>too long</a:t>
            </a:r>
            <a:r>
              <a:rPr lang="en-US"/>
              <a:t>, it </a:t>
            </a:r>
            <a:r>
              <a:rPr lang="en-US">
                <a:solidFill>
                  <a:schemeClr val="accent6"/>
                </a:solidFill>
              </a:rPr>
              <a:t>causes poor response </a:t>
            </a:r>
            <a:r>
              <a:rPr lang="en-US"/>
              <a:t>for </a:t>
            </a:r>
            <a:r>
              <a:rPr lang="en-US">
                <a:solidFill>
                  <a:schemeClr val="accent6"/>
                </a:solidFill>
              </a:rPr>
              <a:t>short interactive process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6698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Priority </a:t>
            </a:r>
            <a:b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(Non-Preemptive Priority)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4.5.1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763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Non-Preemptive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Selection criteria:</a:t>
            </a:r>
          </a:p>
          <a:p>
            <a:pPr lvl="1"/>
            <a:r>
              <a:rPr lang="en-US"/>
              <a:t>The process, that </a:t>
            </a:r>
            <a:r>
              <a:rPr lang="en-US" b="1">
                <a:solidFill>
                  <a:schemeClr val="accent6"/>
                </a:solidFill>
              </a:rPr>
              <a:t>has highest priority, is served first</a:t>
            </a:r>
            <a:r>
              <a:rPr lang="en-US"/>
              <a:t>.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Decision Mode: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Non preemptive</a:t>
            </a:r>
            <a:r>
              <a:rPr lang="en-US"/>
              <a:t>: </a:t>
            </a:r>
            <a:r>
              <a:rPr lang="en-US" b="1">
                <a:solidFill>
                  <a:schemeClr val="accent6"/>
                </a:solidFill>
              </a:rPr>
              <a:t>Once a process is selected, it runs until it is blocked </a:t>
            </a:r>
            <a:r>
              <a:rPr lang="en-US"/>
              <a:t>for an I/O or some other event or it is terminated.</a:t>
            </a:r>
          </a:p>
          <a:p>
            <a:r>
              <a:rPr lang="en-US"/>
              <a:t>Implementation:</a:t>
            </a:r>
          </a:p>
          <a:p>
            <a:pPr lvl="1"/>
            <a:r>
              <a:rPr lang="en-US"/>
              <a:t>This strategy can also be implemented by using </a:t>
            </a:r>
            <a:r>
              <a:rPr lang="en-US" b="1">
                <a:solidFill>
                  <a:schemeClr val="accent6"/>
                </a:solidFill>
              </a:rPr>
              <a:t>sorted FIFO queue</a:t>
            </a:r>
            <a:r>
              <a:rPr lang="en-US"/>
              <a:t>. </a:t>
            </a:r>
          </a:p>
          <a:p>
            <a:pPr lvl="1"/>
            <a:r>
              <a:rPr lang="en-US"/>
              <a:t>All processes in a queue are </a:t>
            </a:r>
            <a:r>
              <a:rPr lang="en-US" b="1">
                <a:solidFill>
                  <a:schemeClr val="accent6"/>
                </a:solidFill>
              </a:rPr>
              <a:t>sorted based on their priority with highest priority process at front end</a:t>
            </a:r>
            <a:r>
              <a:rPr lang="en-US"/>
              <a:t>. </a:t>
            </a:r>
          </a:p>
          <a:p>
            <a:pPr lvl="1"/>
            <a:r>
              <a:rPr lang="en-US"/>
              <a:t>When CPU becomes free, a process from the first position in a queue is selected to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733800" y="2004130"/>
            <a:ext cx="3429000" cy="6858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453064" y="200413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4572000" y="200413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6324600" y="200413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02281" y="2146975"/>
            <a:ext cx="731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0" y="2146975"/>
            <a:ext cx="64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8648" y="2154669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P1 </a:t>
            </a:r>
            <a:r>
              <a:rPr lang="en-US"/>
              <a:t>(8)</a:t>
            </a:r>
            <a:endParaRPr lang="en-US" sz="2000"/>
          </a:p>
        </p:txBody>
      </p:sp>
      <p:sp>
        <p:nvSpPr>
          <p:cNvPr id="11" name="TextBox 10"/>
          <p:cNvSpPr txBox="1"/>
          <p:nvPr/>
        </p:nvSpPr>
        <p:spPr>
          <a:xfrm>
            <a:off x="4613742" y="2154669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P2 </a:t>
            </a:r>
            <a:r>
              <a:rPr lang="en-US"/>
              <a:t>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5279" y="2162364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P3 </a:t>
            </a:r>
            <a:r>
              <a:rPr lang="en-US"/>
              <a:t>(7)</a:t>
            </a:r>
            <a:endParaRPr lang="en-US" sz="2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1" b="6234"/>
          <a:stretch>
            <a:fillRect/>
          </a:stretch>
        </p:blipFill>
        <p:spPr>
          <a:xfrm>
            <a:off x="1227957" y="1902048"/>
            <a:ext cx="1005155" cy="898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12016" y="1604020"/>
            <a:ext cx="146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Ready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5830" y="2144749"/>
            <a:ext cx="77724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P0 </a:t>
            </a:r>
            <a:r>
              <a:rPr lang="en-US"/>
              <a:t>(2)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582754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07 2.96296E-06 L 0.07031 -0.00139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07 4.07407E-06 L -0.27487 -0.00139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24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6 1.48148E-06 L -0.13802 -0.00116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01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  <p:bldP spid="10" grpId="0"/>
      <p:bldP spid="10" grpId="1"/>
      <p:bldP spid="11" grpId="0"/>
      <p:bldP spid="11" grpId="1"/>
      <p:bldP spid="12" grpId="0"/>
      <p:bldP spid="12" grpId="1"/>
      <p:bldP spid="14" grpId="0"/>
      <p:bldP spid="15" grpId="0"/>
      <p:bldP spid="15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Non-Preemptive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Gantt Chart </a:t>
            </a:r>
            <a:r>
              <a:rPr lang="en-US">
                <a:solidFill>
                  <a:schemeClr val="tx2"/>
                </a:solidFill>
              </a:rPr>
              <a:t>(small values for priority means higher priority of a process)</a:t>
            </a:r>
          </a:p>
          <a:p>
            <a:endParaRPr lang="en-US"/>
          </a:p>
          <a:p>
            <a:r>
              <a:rPr lang="en-US"/>
              <a:t>Avg. Turnaround Time:  13.25 </a:t>
            </a:r>
            <a:r>
              <a:rPr lang="en-US" err="1"/>
              <a:t>ms</a:t>
            </a:r>
            <a:endParaRPr lang="en-US"/>
          </a:p>
          <a:p>
            <a:r>
              <a:rPr lang="en-US"/>
              <a:t>Avg. Waiting Time:         7.75 </a:t>
            </a:r>
            <a:r>
              <a:rPr lang="en-US" err="1"/>
              <a:t>ms</a:t>
            </a:r>
            <a:endParaRPr lang="en-US"/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4863408"/>
              </p:ext>
            </p:extLst>
          </p:nvPr>
        </p:nvGraphicFramePr>
        <p:xfrm>
          <a:off x="144255" y="850269"/>
          <a:ext cx="5582650" cy="3017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020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969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01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434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Arrival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(T0)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Burst Time</a:t>
                      </a:r>
                    </a:p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l-GR" sz="24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Priority</a:t>
                      </a:r>
                      <a:endParaRPr lang="en-US" sz="2400" b="1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5396281"/>
              </p:ext>
            </p:extLst>
          </p:nvPr>
        </p:nvGraphicFramePr>
        <p:xfrm>
          <a:off x="5725523" y="851637"/>
          <a:ext cx="1752918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Finish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(T1)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2135866"/>
              </p:ext>
            </p:extLst>
          </p:nvPr>
        </p:nvGraphicFramePr>
        <p:xfrm>
          <a:off x="7487011" y="85163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Turnaround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(TAT = T1 - T0)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652926"/>
              </p:ext>
            </p:extLst>
          </p:nvPr>
        </p:nvGraphicFramePr>
        <p:xfrm>
          <a:off x="9777460" y="85163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Waiting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(WT = TAT - </a:t>
                      </a:r>
                      <a:r>
                        <a:rPr lang="el-GR" sz="24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2052652"/>
              </p:ext>
            </p:extLst>
          </p:nvPr>
        </p:nvGraphicFramePr>
        <p:xfrm>
          <a:off x="5725523" y="1678963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5397145"/>
              </p:ext>
            </p:extLst>
          </p:nvPr>
        </p:nvGraphicFramePr>
        <p:xfrm>
          <a:off x="5725523" y="2225482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1704871"/>
              </p:ext>
            </p:extLst>
          </p:nvPr>
        </p:nvGraphicFramePr>
        <p:xfrm>
          <a:off x="5725523" y="2772961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2442899"/>
              </p:ext>
            </p:extLst>
          </p:nvPr>
        </p:nvGraphicFramePr>
        <p:xfrm>
          <a:off x="5725522" y="3320219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754486"/>
              </p:ext>
            </p:extLst>
          </p:nvPr>
        </p:nvGraphicFramePr>
        <p:xfrm>
          <a:off x="7487011" y="167896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2973938"/>
              </p:ext>
            </p:extLst>
          </p:nvPr>
        </p:nvGraphicFramePr>
        <p:xfrm>
          <a:off x="7487011" y="222548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6849284"/>
              </p:ext>
            </p:extLst>
          </p:nvPr>
        </p:nvGraphicFramePr>
        <p:xfrm>
          <a:off x="7487011" y="277296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0529223"/>
              </p:ext>
            </p:extLst>
          </p:nvPr>
        </p:nvGraphicFramePr>
        <p:xfrm>
          <a:off x="7487011" y="332021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7062656"/>
              </p:ext>
            </p:extLst>
          </p:nvPr>
        </p:nvGraphicFramePr>
        <p:xfrm>
          <a:off x="9777460" y="167896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6117500"/>
              </p:ext>
            </p:extLst>
          </p:nvPr>
        </p:nvGraphicFramePr>
        <p:xfrm>
          <a:off x="9777460" y="222548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0151843"/>
              </p:ext>
            </p:extLst>
          </p:nvPr>
        </p:nvGraphicFramePr>
        <p:xfrm>
          <a:off x="9777460" y="277296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0327743"/>
              </p:ext>
            </p:extLst>
          </p:nvPr>
        </p:nvGraphicFramePr>
        <p:xfrm>
          <a:off x="9777460" y="332021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5383026" y="4584771"/>
            <a:ext cx="22860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39182" y="4584771"/>
            <a:ext cx="13716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82464" y="4584771"/>
            <a:ext cx="4572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68545" y="4584771"/>
            <a:ext cx="9144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24137" y="5042647"/>
            <a:ext cx="31844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49842" y="5048481"/>
            <a:ext cx="43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5948" y="5048481"/>
            <a:ext cx="43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03622" y="5048481"/>
            <a:ext cx="452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0788" y="5048481"/>
            <a:ext cx="44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22</a:t>
            </a:r>
          </a:p>
        </p:txBody>
      </p:sp>
      <p:cxnSp>
        <p:nvCxnSpPr>
          <p:cNvPr id="63" name="Straight Connector 62"/>
          <p:cNvCxnSpPr/>
          <p:nvPr/>
        </p:nvCxnSpPr>
        <p:spPr>
          <a:xfrm flipH="1">
            <a:off x="5383507" y="4584771"/>
            <a:ext cx="0" cy="4572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0018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  <p:bldP spid="57" grpId="0" animBg="1"/>
      <p:bldP spid="58" grpId="0"/>
      <p:bldP spid="59" grpId="0"/>
      <p:bldP spid="60" grpId="0"/>
      <p:bldP spid="61" grpId="0"/>
      <p:bldP spid="6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Non-Preemptive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Advantages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Priority is considered so critical processes can get even better response time.</a:t>
            </a:r>
          </a:p>
          <a:p>
            <a:r>
              <a:rPr lang="en-US"/>
              <a:t>Disadvantages 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Starvation is possible for low priority processes. </a:t>
            </a:r>
            <a:r>
              <a:rPr lang="en-US"/>
              <a:t>It can </a:t>
            </a:r>
            <a:r>
              <a:rPr lang="en-US" b="1">
                <a:solidFill>
                  <a:schemeClr val="accent6"/>
                </a:solidFill>
              </a:rPr>
              <a:t>be overcome by using </a:t>
            </a:r>
            <a:r>
              <a:rPr lang="en-US"/>
              <a:t>technique</a:t>
            </a:r>
            <a:r>
              <a:rPr lang="en-US" b="1">
                <a:solidFill>
                  <a:schemeClr val="accent6"/>
                </a:solidFill>
              </a:rPr>
              <a:t> </a:t>
            </a:r>
            <a:r>
              <a:rPr lang="en-US"/>
              <a:t>called</a:t>
            </a:r>
            <a:r>
              <a:rPr lang="en-US" b="1">
                <a:solidFill>
                  <a:schemeClr val="accent6"/>
                </a:solidFill>
              </a:rPr>
              <a:t> ‘Aging’.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Aging: gradually increases the priority of processes that wait in the system for a long time.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362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Priority </a:t>
            </a:r>
            <a:b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(Preemptive Priority)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4.5.2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261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Preemptive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Selection criteria:</a:t>
            </a:r>
          </a:p>
          <a:p>
            <a:pPr lvl="1"/>
            <a:r>
              <a:rPr lang="en-US"/>
              <a:t>The process, that </a:t>
            </a:r>
            <a:r>
              <a:rPr lang="en-US" b="1">
                <a:solidFill>
                  <a:schemeClr val="accent6"/>
                </a:solidFill>
              </a:rPr>
              <a:t>has highest priority, is served first</a:t>
            </a:r>
            <a:r>
              <a:rPr lang="en-US"/>
              <a:t>.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Decision Mode: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Preemptive: When a new process arrives, its priority is compared with current process priority. </a:t>
            </a:r>
          </a:p>
          <a:p>
            <a:pPr lvl="1"/>
            <a:r>
              <a:rPr lang="en-US"/>
              <a:t>If the </a:t>
            </a:r>
            <a:r>
              <a:rPr lang="en-US" b="1">
                <a:solidFill>
                  <a:schemeClr val="accent6"/>
                </a:solidFill>
              </a:rPr>
              <a:t>new process has higher priority than the current, the current process is suspended and new job is started.</a:t>
            </a:r>
            <a:endParaRPr lang="en-US"/>
          </a:p>
          <a:p>
            <a:r>
              <a:rPr lang="en-US"/>
              <a:t>Implementation:</a:t>
            </a:r>
          </a:p>
          <a:p>
            <a:pPr lvl="1"/>
            <a:r>
              <a:rPr lang="en-US"/>
              <a:t>This strategy can also be implemented by using </a:t>
            </a:r>
            <a:r>
              <a:rPr lang="en-US" b="1">
                <a:solidFill>
                  <a:schemeClr val="accent6"/>
                </a:solidFill>
              </a:rPr>
              <a:t>sorted FIFO queue</a:t>
            </a:r>
            <a:r>
              <a:rPr lang="en-US"/>
              <a:t>. </a:t>
            </a:r>
          </a:p>
          <a:p>
            <a:pPr lvl="1"/>
            <a:r>
              <a:rPr lang="en-US"/>
              <a:t>All processes in a queue are </a:t>
            </a:r>
            <a:r>
              <a:rPr lang="en-US" b="1">
                <a:solidFill>
                  <a:schemeClr val="accent6"/>
                </a:solidFill>
              </a:rPr>
              <a:t>sorted based on their priority with highest priority process at front end</a:t>
            </a:r>
            <a:r>
              <a:rPr lang="en-US"/>
              <a:t>. </a:t>
            </a:r>
          </a:p>
          <a:p>
            <a:pPr lvl="1"/>
            <a:r>
              <a:rPr lang="en-US"/>
              <a:t>When CPU becomes free, a process from the first position in a queue is selected to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733800" y="2004130"/>
            <a:ext cx="3429000" cy="6858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5453064" y="200413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4572000" y="200413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6324600" y="2004130"/>
            <a:ext cx="0" cy="6858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02281" y="2146975"/>
            <a:ext cx="731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0" y="2146975"/>
            <a:ext cx="64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8648" y="2154669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P1 </a:t>
            </a:r>
            <a:r>
              <a:rPr lang="en-US"/>
              <a:t>(5)</a:t>
            </a:r>
            <a:endParaRPr lang="en-US" sz="2000"/>
          </a:p>
        </p:txBody>
      </p:sp>
      <p:sp>
        <p:nvSpPr>
          <p:cNvPr id="11" name="TextBox 10"/>
          <p:cNvSpPr txBox="1"/>
          <p:nvPr/>
        </p:nvSpPr>
        <p:spPr>
          <a:xfrm>
            <a:off x="4613742" y="2154669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P2 </a:t>
            </a:r>
            <a:r>
              <a:rPr lang="en-US"/>
              <a:t>(4)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5279" y="2162364"/>
            <a:ext cx="82296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P3 </a:t>
            </a:r>
            <a:r>
              <a:rPr lang="en-US"/>
              <a:t>(8)</a:t>
            </a:r>
            <a:endParaRPr lang="en-US" sz="2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1" b="6234"/>
          <a:stretch>
            <a:fillRect/>
          </a:stretch>
        </p:blipFill>
        <p:spPr>
          <a:xfrm>
            <a:off x="1227957" y="1902048"/>
            <a:ext cx="1005155" cy="898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12016" y="1604020"/>
            <a:ext cx="146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Ready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5830" y="2144749"/>
            <a:ext cx="77724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P0 </a:t>
            </a:r>
            <a:r>
              <a:rPr lang="en-US"/>
              <a:t>(7)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877437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07 4.07407E-06 L -0.48242 -0.00278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167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06 1.85185E-06 L 0.13984 0.00139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92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6 1.48148E-06 L 0.07083 -0.00093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07 2.96296E-06 L 0.0707 0.00023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  <p:bldP spid="10" grpId="0"/>
      <p:bldP spid="10" grpId="1"/>
      <p:bldP spid="11" grpId="0"/>
      <p:bldP spid="11" grpId="1"/>
      <p:bldP spid="12" grpId="0"/>
      <p:bldP spid="12" grpId="1"/>
      <p:bldP spid="14" grpId="0"/>
      <p:bldP spid="15" grpId="0"/>
      <p:bldP spid="15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Preemptive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Gantt Chart </a:t>
            </a:r>
          </a:p>
          <a:p>
            <a:pPr lvl="1"/>
            <a:r>
              <a:rPr lang="en-US">
                <a:solidFill>
                  <a:schemeClr val="tx2"/>
                </a:solidFill>
              </a:rPr>
              <a:t>small values means higher priority</a:t>
            </a:r>
          </a:p>
          <a:p>
            <a:r>
              <a:rPr lang="en-US"/>
              <a:t>Avg. Turnaround Time:  10 ms</a:t>
            </a:r>
          </a:p>
          <a:p>
            <a:r>
              <a:rPr lang="en-US"/>
              <a:t>Avg. Waiting Time:         4.5 </a:t>
            </a:r>
            <a:r>
              <a:rPr lang="en-US" err="1"/>
              <a:t>ms</a:t>
            </a:r>
            <a:endParaRPr lang="en-US"/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4863408"/>
              </p:ext>
            </p:extLst>
          </p:nvPr>
        </p:nvGraphicFramePr>
        <p:xfrm>
          <a:off x="144255" y="850269"/>
          <a:ext cx="5582650" cy="3017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020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969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01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434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Arrival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(T0)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Burst Time</a:t>
                      </a:r>
                    </a:p>
                    <a:p>
                      <a:pPr algn="ctr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l-GR" sz="24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Priority</a:t>
                      </a:r>
                      <a:endParaRPr lang="en-US" sz="2400" b="1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P3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5396281"/>
              </p:ext>
            </p:extLst>
          </p:nvPr>
        </p:nvGraphicFramePr>
        <p:xfrm>
          <a:off x="5725523" y="851637"/>
          <a:ext cx="1752918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Finish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(T1)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2135866"/>
              </p:ext>
            </p:extLst>
          </p:nvPr>
        </p:nvGraphicFramePr>
        <p:xfrm>
          <a:off x="7487011" y="85163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Turnaround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(TAT = T1 - T0)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652926"/>
              </p:ext>
            </p:extLst>
          </p:nvPr>
        </p:nvGraphicFramePr>
        <p:xfrm>
          <a:off x="9777460" y="851637"/>
          <a:ext cx="2286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Waiting Time</a:t>
                      </a:r>
                    </a:p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(WT = TAT - </a:t>
                      </a:r>
                      <a:r>
                        <a:rPr lang="el-GR" sz="24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T)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8725314"/>
              </p:ext>
            </p:extLst>
          </p:nvPr>
        </p:nvGraphicFramePr>
        <p:xfrm>
          <a:off x="5725523" y="1678963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552360"/>
              </p:ext>
            </p:extLst>
          </p:nvPr>
        </p:nvGraphicFramePr>
        <p:xfrm>
          <a:off x="5725523" y="2225482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4971056"/>
              </p:ext>
            </p:extLst>
          </p:nvPr>
        </p:nvGraphicFramePr>
        <p:xfrm>
          <a:off x="5725523" y="2772961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4263446"/>
              </p:ext>
            </p:extLst>
          </p:nvPr>
        </p:nvGraphicFramePr>
        <p:xfrm>
          <a:off x="5725522" y="3320219"/>
          <a:ext cx="1752918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529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7166499"/>
              </p:ext>
            </p:extLst>
          </p:nvPr>
        </p:nvGraphicFramePr>
        <p:xfrm>
          <a:off x="7487011" y="167896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4536310"/>
              </p:ext>
            </p:extLst>
          </p:nvPr>
        </p:nvGraphicFramePr>
        <p:xfrm>
          <a:off x="7487011" y="222548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3125234"/>
              </p:ext>
            </p:extLst>
          </p:nvPr>
        </p:nvGraphicFramePr>
        <p:xfrm>
          <a:off x="7487011" y="277296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1661043"/>
              </p:ext>
            </p:extLst>
          </p:nvPr>
        </p:nvGraphicFramePr>
        <p:xfrm>
          <a:off x="7487011" y="332021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9602677"/>
              </p:ext>
            </p:extLst>
          </p:nvPr>
        </p:nvGraphicFramePr>
        <p:xfrm>
          <a:off x="9777460" y="1678963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8958545"/>
              </p:ext>
            </p:extLst>
          </p:nvPr>
        </p:nvGraphicFramePr>
        <p:xfrm>
          <a:off x="9777460" y="2225482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9481585"/>
              </p:ext>
            </p:extLst>
          </p:nvPr>
        </p:nvGraphicFramePr>
        <p:xfrm>
          <a:off x="9777460" y="2772961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xmlns="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8877374"/>
              </p:ext>
            </p:extLst>
          </p:nvPr>
        </p:nvGraphicFramePr>
        <p:xfrm>
          <a:off x="9777460" y="3320219"/>
          <a:ext cx="2286000" cy="548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10073931" y="4127571"/>
            <a:ext cx="13716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49595" y="4127571"/>
            <a:ext cx="9144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4136" y="4582231"/>
            <a:ext cx="31844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42927" y="4582231"/>
            <a:ext cx="2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32957" y="4582231"/>
            <a:ext cx="26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55045" y="4582231"/>
            <a:ext cx="452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30304" y="4582231"/>
            <a:ext cx="44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22</a:t>
            </a:r>
          </a:p>
        </p:txBody>
      </p:sp>
      <p:cxnSp>
        <p:nvCxnSpPr>
          <p:cNvPr id="67" name="Straight Connector 66"/>
          <p:cNvCxnSpPr/>
          <p:nvPr/>
        </p:nvCxnSpPr>
        <p:spPr>
          <a:xfrm flipH="1">
            <a:off x="6475408" y="4127571"/>
            <a:ext cx="0" cy="4572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473177" y="4127571"/>
            <a:ext cx="4572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28146" y="4127571"/>
            <a:ext cx="662956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88871" y="4127571"/>
            <a:ext cx="662956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61763" y="4127571"/>
            <a:ext cx="914400" cy="457200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80895" y="4582231"/>
            <a:ext cx="2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25863" y="4582231"/>
            <a:ext cx="205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</a:t>
            </a:r>
          </a:p>
        </p:txBody>
      </p:sp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342356"/>
              </p:ext>
            </p:extLst>
          </p:nvPr>
        </p:nvGraphicFramePr>
        <p:xfrm>
          <a:off x="6098039" y="4932628"/>
          <a:ext cx="172377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2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315464"/>
              </p:ext>
            </p:extLst>
          </p:nvPr>
        </p:nvGraphicFramePr>
        <p:xfrm>
          <a:off x="6724136" y="4932628"/>
          <a:ext cx="17237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2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919282"/>
              </p:ext>
            </p:extLst>
          </p:nvPr>
        </p:nvGraphicFramePr>
        <p:xfrm>
          <a:off x="7371765" y="4932628"/>
          <a:ext cx="17237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2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587013"/>
              </p:ext>
            </p:extLst>
          </p:nvPr>
        </p:nvGraphicFramePr>
        <p:xfrm>
          <a:off x="8254460" y="4932628"/>
          <a:ext cx="172377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2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78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85407"/>
              </p:ext>
            </p:extLst>
          </p:nvPr>
        </p:nvGraphicFramePr>
        <p:xfrm>
          <a:off x="9137155" y="4932628"/>
          <a:ext cx="172377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2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0194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/>
      <p:bldP spid="53" grpId="0"/>
      <p:bldP spid="64" grpId="0"/>
      <p:bldP spid="65" grpId="0"/>
      <p:bldP spid="66" grpId="0"/>
      <p:bldP spid="68" grpId="0" animBg="1"/>
      <p:bldP spid="69" grpId="0" animBg="1"/>
      <p:bldP spid="70" grpId="0" animBg="1"/>
      <p:bldP spid="71" grpId="0" animBg="1"/>
      <p:bldP spid="72" grpId="0"/>
      <p:bldP spid="7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Preemptive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Advantages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Priority is considered so critical processes can get even better response time.</a:t>
            </a:r>
          </a:p>
          <a:p>
            <a:r>
              <a:rPr lang="en-US"/>
              <a:t>Disadvantages 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Starvation is possible for low priority processes. </a:t>
            </a:r>
            <a:r>
              <a:rPr lang="en-US"/>
              <a:t>It can </a:t>
            </a:r>
            <a:r>
              <a:rPr lang="en-US" b="1">
                <a:solidFill>
                  <a:schemeClr val="accent6"/>
                </a:solidFill>
              </a:rPr>
              <a:t>be overcome by using </a:t>
            </a:r>
            <a:r>
              <a:rPr lang="en-US"/>
              <a:t>technique</a:t>
            </a:r>
            <a:r>
              <a:rPr lang="en-US" b="1">
                <a:solidFill>
                  <a:schemeClr val="accent6"/>
                </a:solidFill>
              </a:rPr>
              <a:t> </a:t>
            </a:r>
            <a:r>
              <a:rPr lang="en-US"/>
              <a:t>called</a:t>
            </a:r>
            <a:r>
              <a:rPr lang="en-US" b="1">
                <a:solidFill>
                  <a:schemeClr val="accent6"/>
                </a:solidFill>
              </a:rPr>
              <a:t> ‘Aging’.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Aging: gradually increases the priority of processes that wait in the system for a long time.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Context switch overhead is there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46207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Guaranteed Scheduling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make real promises to user about performance and live up to those promises</a:t>
            </a:r>
          </a:p>
          <a:p>
            <a:r>
              <a:rPr lang="en-US" dirty="0" smtClean="0"/>
              <a:t>It attempts </a:t>
            </a:r>
            <a:r>
              <a:rPr lang="en-US" dirty="0"/>
              <a:t>to evenly split CPU time among </a:t>
            </a:r>
            <a:r>
              <a:rPr lang="en-US" dirty="0" smtClean="0"/>
              <a:t>‘n’ processes </a:t>
            </a:r>
            <a:r>
              <a:rPr lang="en-US" dirty="0"/>
              <a:t>to maximize </a:t>
            </a:r>
            <a:r>
              <a:rPr lang="en-US" dirty="0" smtClean="0"/>
              <a:t>fairness</a:t>
            </a:r>
          </a:p>
          <a:p>
            <a:r>
              <a:rPr lang="en-US" dirty="0" smtClean="0"/>
              <a:t>If </a:t>
            </a:r>
            <a:r>
              <a:rPr lang="en-US" dirty="0"/>
              <a:t>we have n processes, then we shouldn’t ever allow any process to exceed 1/n fraction of the total runtime.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i.e. each </a:t>
            </a:r>
            <a:r>
              <a:rPr lang="en-US" dirty="0"/>
              <a:t>process =1/n of CPU </a:t>
            </a:r>
            <a:r>
              <a:rPr lang="en-US" dirty="0" smtClean="0"/>
              <a:t>power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EXAMPLE p1=3ms</a:t>
            </a:r>
          </a:p>
          <a:p>
            <a:pPr marL="0" indent="0">
              <a:buNone/>
            </a:pPr>
            <a:r>
              <a:rPr lang="en-US" dirty="0" smtClean="0"/>
              <a:t>P2=4ms</a:t>
            </a:r>
          </a:p>
          <a:p>
            <a:pPr marL="0" indent="0">
              <a:buNone/>
            </a:pPr>
            <a:r>
              <a:rPr lang="en-US" dirty="0" smtClean="0"/>
              <a:t>P3=1ms</a:t>
            </a:r>
          </a:p>
          <a:p>
            <a:pPr marL="0" indent="0">
              <a:buNone/>
            </a:pPr>
            <a:r>
              <a:rPr lang="en-US" dirty="0" smtClean="0"/>
              <a:t>P4=2ms  </a:t>
            </a:r>
          </a:p>
          <a:p>
            <a:pPr marL="0" indent="0">
              <a:buNone/>
            </a:pPr>
            <a:r>
              <a:rPr lang="en-US" dirty="0" smtClean="0"/>
              <a:t>CPU </a:t>
            </a:r>
            <a:r>
              <a:rPr lang="en-US" dirty="0" err="1" smtClean="0"/>
              <a:t>tme</a:t>
            </a:r>
            <a:r>
              <a:rPr lang="en-US" dirty="0" smtClean="0"/>
              <a:t>=20ms ,each process will have 5ms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782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Lottery </a:t>
            </a:r>
            <a:r>
              <a:rPr lang="en-US" dirty="0" smtClean="0"/>
              <a:t>Scheduling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lottery scheduling, each process is allocated a certain number of virtual “tickets.” At set intervals, the scheduler will draw a ticket at random and allow the winning process to run on the CPU.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solves the problem of starvation: As long as we give at least one ticket to each process, then we’re able to guarantee a non-zero probability of selection.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idea here is that a process with a fraction </a:t>
            </a:r>
            <a:r>
              <a:rPr lang="en-US" b="1" dirty="0"/>
              <a:t>f</a:t>
            </a:r>
            <a:r>
              <a:rPr lang="en-US" dirty="0"/>
              <a:t> of the total tickets will get to use the CPU for a fraction f of the time. Notice that if we assign each process the same number of tickets, then we’re using guaranteed </a:t>
            </a:r>
            <a:r>
              <a:rPr lang="en-US" dirty="0" smtClean="0"/>
              <a:t>scheduling</a:t>
            </a:r>
          </a:p>
          <a:p>
            <a:r>
              <a:rPr lang="en-US" b="1" dirty="0"/>
              <a:t>Example </a:t>
            </a:r>
            <a:r>
              <a:rPr lang="en-US" dirty="0"/>
              <a:t>– If we have two processes A and B having 60 and 40 tickets respectively out of total of 100 tickets. CPU share of A is 60% and that of B is 40%. These shares are calculated probabilistically and not deterministically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Explanation:</a:t>
            </a:r>
          </a:p>
          <a:p>
            <a:pPr marL="0" indent="0">
              <a:buNone/>
            </a:pPr>
            <a:r>
              <a:rPr lang="en-US" dirty="0" smtClean="0"/>
              <a:t>     We </a:t>
            </a:r>
            <a:r>
              <a:rPr lang="en-US" dirty="0"/>
              <a:t>have two processes A and B. A has 60 tickets (ticket number 1 to 60) and B has 40 tickets </a:t>
            </a:r>
            <a:r>
              <a:rPr lang="en-US" dirty="0" smtClean="0"/>
              <a:t>  (</a:t>
            </a:r>
            <a:r>
              <a:rPr lang="en-US" dirty="0"/>
              <a:t>ticket no. 61 to 100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476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Scheduler picks a random number from 1 to 100. If the picked no. is from 1 to 60 then A is executed otherwise B is executed.</a:t>
            </a:r>
          </a:p>
          <a:p>
            <a:r>
              <a:rPr lang="en-US" dirty="0"/>
              <a:t>An example of 10 tickets picked by the Scheduler may look like this follows:</a:t>
            </a:r>
          </a:p>
          <a:p>
            <a:pPr marL="0" indent="0">
              <a:buNone/>
            </a:pPr>
            <a:r>
              <a:rPr lang="en-US" dirty="0" smtClean="0"/>
              <a:t>  Ticket </a:t>
            </a:r>
            <a:r>
              <a:rPr lang="en-US" dirty="0"/>
              <a:t>number -  </a:t>
            </a:r>
            <a:r>
              <a:rPr lang="en-US" dirty="0" smtClean="0"/>
              <a:t>        73 </a:t>
            </a:r>
            <a:r>
              <a:rPr lang="en-US" dirty="0"/>
              <a:t>82 23 45 32 87 49 39 12 </a:t>
            </a:r>
            <a:r>
              <a:rPr lang="en-US" dirty="0" smtClean="0"/>
              <a:t>09.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Resulting </a:t>
            </a:r>
            <a:r>
              <a:rPr lang="en-US" dirty="0"/>
              <a:t>Schedule -  B  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dirty="0" smtClean="0"/>
              <a:t>  </a:t>
            </a:r>
            <a:r>
              <a:rPr lang="en-US" dirty="0"/>
              <a:t>A </a:t>
            </a:r>
            <a:r>
              <a:rPr lang="en-US" dirty="0" smtClean="0"/>
              <a:t>  </a:t>
            </a:r>
            <a:r>
              <a:rPr lang="en-US" dirty="0" err="1"/>
              <a:t>A</a:t>
            </a:r>
            <a:r>
              <a:rPr lang="en-US" dirty="0"/>
              <a:t>  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dirty="0" smtClean="0"/>
              <a:t>   B   A   </a:t>
            </a:r>
            <a:r>
              <a:rPr lang="en-US" dirty="0" err="1" smtClean="0"/>
              <a:t>A</a:t>
            </a:r>
            <a:r>
              <a:rPr lang="en-US" dirty="0" smtClean="0"/>
              <a:t>   </a:t>
            </a:r>
            <a:r>
              <a:rPr lang="en-US" dirty="0" err="1" smtClean="0"/>
              <a:t>A</a:t>
            </a:r>
            <a:r>
              <a:rPr lang="en-US" dirty="0" smtClean="0"/>
              <a:t>  </a:t>
            </a:r>
            <a:r>
              <a:rPr lang="en-US" dirty="0" err="1"/>
              <a:t>A</a:t>
            </a:r>
            <a:r>
              <a:rPr lang="en-US" dirty="0" smtClean="0"/>
              <a:t>.        </a:t>
            </a:r>
          </a:p>
          <a:p>
            <a:pPr marL="0" indent="0">
              <a:buNone/>
            </a:pPr>
            <a:r>
              <a:rPr lang="en-US" b="1" dirty="0"/>
              <a:t>Advantages of Lottery Process Scheduling:</a:t>
            </a:r>
          </a:p>
          <a:p>
            <a:r>
              <a:rPr lang="en-US" dirty="0"/>
              <a:t>Fairness: Lottery process scheduling is designed to be fair because every process has a chance of being selected. </a:t>
            </a:r>
          </a:p>
          <a:p>
            <a:r>
              <a:rPr lang="en-US" dirty="0"/>
              <a:t>Flexibility: The lottery process scheduling algorithm is highly flexible and can be easily adapted to handle various scheduling requirements, such as real-time scheduling, multi-processor scheduling, and so on.</a:t>
            </a:r>
          </a:p>
          <a:p>
            <a:r>
              <a:rPr lang="en-US" dirty="0"/>
              <a:t>Simple implementation: </a:t>
            </a:r>
          </a:p>
          <a:p>
            <a:r>
              <a:rPr lang="en-US" dirty="0"/>
              <a:t>Combining with other scheduling algorithms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097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Fair Share Scheduling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CPU will be assigned fairly among process </a:t>
            </a:r>
          </a:p>
          <a:p>
            <a:r>
              <a:rPr lang="en-US" dirty="0" smtClean="0"/>
              <a:t>The CPU usage is equally distributed among system users.</a:t>
            </a:r>
          </a:p>
          <a:p>
            <a:r>
              <a:rPr lang="en-US" dirty="0" smtClean="0"/>
              <a:t>Each user is allocated some fraction of CPU time irrespective of how many processes it owns.</a:t>
            </a:r>
          </a:p>
          <a:p>
            <a:r>
              <a:rPr lang="en-US" dirty="0" smtClean="0"/>
              <a:t>Suppose user1=9 processes(90%)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use2=1 processes(10%)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Suppose  each user get 50% of CPU time.</a:t>
            </a:r>
          </a:p>
          <a:p>
            <a:pPr marL="0" indent="0">
              <a:buNone/>
            </a:pPr>
            <a:r>
              <a:rPr lang="en-US" dirty="0" smtClean="0"/>
              <a:t>Then user1=ABCD</a:t>
            </a:r>
          </a:p>
          <a:p>
            <a:pPr marL="0" indent="0">
              <a:buNone/>
            </a:pPr>
            <a:r>
              <a:rPr lang="en-US" dirty="0" smtClean="0"/>
              <a:t>User2=EF</a:t>
            </a:r>
          </a:p>
          <a:p>
            <a:pPr marL="0" indent="0" algn="l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sz="3200" b="1" spc="600" dirty="0" smtClean="0"/>
              <a:t>A</a:t>
            </a:r>
            <a:r>
              <a:rPr lang="en-US" sz="3200" b="1" spc="600" dirty="0" smtClean="0">
                <a:solidFill>
                  <a:srgbClr val="FF0000"/>
                </a:solidFill>
              </a:rPr>
              <a:t>E</a:t>
            </a:r>
            <a:r>
              <a:rPr lang="en-US" sz="3200" b="1" spc="600" dirty="0" smtClean="0"/>
              <a:t>B</a:t>
            </a:r>
            <a:r>
              <a:rPr lang="en-US" sz="3200" b="1" spc="600" dirty="0" smtClean="0">
                <a:solidFill>
                  <a:srgbClr val="FF0000"/>
                </a:solidFill>
              </a:rPr>
              <a:t>F</a:t>
            </a:r>
            <a:r>
              <a:rPr lang="en-US" sz="3200" b="1" spc="600" dirty="0" smtClean="0"/>
              <a:t>C</a:t>
            </a:r>
            <a:r>
              <a:rPr lang="en-US" sz="3200" b="1" spc="600" dirty="0" smtClean="0">
                <a:solidFill>
                  <a:srgbClr val="FF0000"/>
                </a:solidFill>
              </a:rPr>
              <a:t>E</a:t>
            </a:r>
            <a:r>
              <a:rPr lang="en-US" sz="3200" b="1" spc="600" dirty="0" smtClean="0"/>
              <a:t>D</a:t>
            </a:r>
            <a:r>
              <a:rPr lang="en-US" sz="3200" b="1" spc="600" dirty="0" smtClean="0">
                <a:solidFill>
                  <a:srgbClr val="FF0000"/>
                </a:solidFill>
              </a:rPr>
              <a:t>F</a:t>
            </a:r>
            <a:r>
              <a:rPr lang="en-US" sz="3200" b="1" spc="600" dirty="0" smtClean="0"/>
              <a:t>A</a:t>
            </a:r>
            <a:r>
              <a:rPr lang="en-US" sz="3200" b="1" spc="600" dirty="0" smtClean="0">
                <a:solidFill>
                  <a:srgbClr val="FF0000"/>
                </a:solidFill>
              </a:rPr>
              <a:t>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3041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Five batch jobs A to E arrive at same time. They have estimated running times 10,6,2,4 and 8 minutes. Their priorities are 3,5,2,1 and 4 respectively with 5 being highest priority. For each of the following algorithm determine mean process turnaround time. Ignore process swapping overhead. Quantum time is 2 minute. </a:t>
            </a:r>
          </a:p>
          <a:p>
            <a:pPr marL="1001712" lvl="1" indent="-457200">
              <a:buFont typeface="Wingdings" panose="05000000000000000000" pitchFamily="2" charset="2"/>
              <a:buChar char="§"/>
            </a:pPr>
            <a:r>
              <a:rPr lang="en-US"/>
              <a:t>Round Robin, Priority Scheduling, FCFS, SJF.</a:t>
            </a:r>
          </a:p>
          <a:p>
            <a:pPr marL="544512" lvl="1" indent="0">
              <a:buNone/>
            </a:pPr>
            <a:endParaRPr lang="en-GB"/>
          </a:p>
          <a:p>
            <a:pPr marL="457200" indent="-457200">
              <a:buFont typeface="+mj-lt"/>
              <a:buAutoNum type="arabicPeriod"/>
            </a:pPr>
            <a:r>
              <a:rPr lang="en-US"/>
              <a:t>Suppose that the following processes arrive for the execution at the times indicated. Each process will run the listed amount of time. Assume preemptive scheduling.</a:t>
            </a:r>
          </a:p>
          <a:p>
            <a:pPr marL="544512" lvl="1" indent="0">
              <a:buNone/>
            </a:pPr>
            <a:r>
              <a:rPr lang="en-US"/>
              <a:t>Process         Arrival Time (ms)           Burst Time (ms)</a:t>
            </a:r>
          </a:p>
          <a:p>
            <a:pPr marL="544512" lvl="1" indent="0">
              <a:buNone/>
            </a:pPr>
            <a:r>
              <a:rPr lang="en-US"/>
              <a:t>    P1                          0.0                                    8</a:t>
            </a:r>
          </a:p>
          <a:p>
            <a:pPr marL="544512" lvl="1" indent="0">
              <a:buNone/>
            </a:pPr>
            <a:r>
              <a:rPr lang="en-US"/>
              <a:t>    P2                          0.4                                    4</a:t>
            </a:r>
          </a:p>
          <a:p>
            <a:pPr marL="544512" lvl="1" indent="0">
              <a:buNone/>
            </a:pPr>
            <a:r>
              <a:rPr lang="en-US"/>
              <a:t>    P3                          1.0                                    1</a:t>
            </a:r>
          </a:p>
          <a:p>
            <a:pPr marL="968375" lvl="1" indent="-425450">
              <a:buFont typeface="Wingdings" panose="05000000000000000000" pitchFamily="2" charset="2"/>
              <a:buChar char="§"/>
            </a:pPr>
            <a:r>
              <a:rPr lang="en-US"/>
              <a:t>What is the turnaround time for these processes with Shortest Job First scheduling algorithm?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404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/>
              <a:t>Consider the following set of processes with length of CPU burst time given in milliseconds.</a:t>
            </a:r>
          </a:p>
          <a:p>
            <a:pPr marL="544512" lvl="1" indent="0">
              <a:buNone/>
            </a:pPr>
            <a:r>
              <a:rPr lang="en-US"/>
              <a:t>Process         Burst Time      Priority</a:t>
            </a:r>
          </a:p>
          <a:p>
            <a:pPr marL="544512" lvl="1" indent="0">
              <a:buNone/>
            </a:pPr>
            <a:r>
              <a:rPr lang="en-US"/>
              <a:t>    P1                   10                        3</a:t>
            </a:r>
          </a:p>
          <a:p>
            <a:pPr marL="544512" lvl="1" indent="0">
              <a:buNone/>
            </a:pPr>
            <a:r>
              <a:rPr lang="en-US"/>
              <a:t>    P2                    1       	   1</a:t>
            </a:r>
          </a:p>
          <a:p>
            <a:pPr marL="544512" lvl="1" indent="0">
              <a:buNone/>
            </a:pPr>
            <a:r>
              <a:rPr lang="en-US"/>
              <a:t>    P3                    2                         3</a:t>
            </a:r>
          </a:p>
          <a:p>
            <a:pPr marL="544512" lvl="1" indent="0">
              <a:buNone/>
            </a:pPr>
            <a:r>
              <a:rPr lang="en-US"/>
              <a:t>    P4                    1                         4</a:t>
            </a:r>
          </a:p>
          <a:p>
            <a:pPr marL="544512" lvl="1" indent="0">
              <a:buNone/>
            </a:pPr>
            <a:r>
              <a:rPr lang="en-US"/>
              <a:t>    P5                    5                         2</a:t>
            </a:r>
          </a:p>
          <a:p>
            <a:pPr marL="887412" lvl="1" indent="-342900">
              <a:buFont typeface="Wingdings" panose="05000000000000000000" pitchFamily="2" charset="2"/>
              <a:buChar char="§"/>
            </a:pPr>
            <a:r>
              <a:rPr lang="en-US"/>
              <a:t>Assume arrival order is: P1, P2, P3, P4, P5 all at time 0 and a smaller priority number implies a higher priority. Draw the Gantt charts illustrating the execution of these processes using preemptive priority scheduling.</a:t>
            </a:r>
          </a:p>
        </p:txBody>
      </p:sp>
    </p:spTree>
    <p:extLst>
      <p:ext uri="{BB962C8B-B14F-4D97-AF65-F5344CB8AC3E}">
        <p14:creationId xmlns:p14="http://schemas.microsoft.com/office/powerpoint/2010/main" val="39212168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Define term Scheduler, Scheduling and Scheduling Algorithm with example.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Define terms. 1) Throughput 2) Waiting Time 3) Turnaround Time 4) Response Time               5) Granularity 6) Short Term Scheduler 7) CPU Utilization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scheduler? Explain queuing diagram representation of process scheduler with figure.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Write various scheduling criteria.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Consider Five Processes P1 to P5 arrived at same time. They have estimated running time 10, 2, 6, 8 and 4 seconds, respectively. Their Priorities are 3, 2, 5, 4 and 1, respectively with 5 being highest Priority. Find the average turnaround time and average waiting time for Round Robin (quantum time=3) and Priority Scheduling algorithm.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Consider the processes P1, P2, P3, P4 with burst time is 21, 3, 6 and 2 respectively, arrives for execution in the same order, with arrival time 0, draw GANTT chart and find the average waiting time using the FCFS and SJF scheduling algorithm.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4771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5"/>
  <p:tag name="AS_OS" val="Unix 5.15.0.1049"/>
  <p:tag name="AS_RELEASE_DATE" val="2023.09.14"/>
  <p:tag name="AS_TITLE" val="Aspose.Slides for .NET6"/>
  <p:tag name="AS_VERSION" val="23.9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Roboto Condensed"/>
        <a:cs typeface="Arial"/>
      </a:majorFont>
      <a:minorFont>
        <a:latin typeface="Roboto Condensed"/>
        <a:ea typeface="Roboto Condensed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9976</TotalTime>
  <Words>3479</Words>
  <Application>Microsoft Office PowerPoint</Application>
  <PresentationFormat>Widescreen</PresentationFormat>
  <Paragraphs>843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Calibri</vt:lpstr>
      <vt:lpstr>Segoe UI Black</vt:lpstr>
      <vt:lpstr>Wingdings 2</vt:lpstr>
      <vt:lpstr>Roboto Condensed Light</vt:lpstr>
      <vt:lpstr>Times New Roman</vt:lpstr>
      <vt:lpstr>Arial</vt:lpstr>
      <vt:lpstr>Wingdings</vt:lpstr>
      <vt:lpstr>Roboto Condensed</vt:lpstr>
      <vt:lpstr>Wingdings 3</vt:lpstr>
      <vt:lpstr>Office Theme</vt:lpstr>
      <vt:lpstr>Unit-2  Process Scheduling Algorithms</vt:lpstr>
      <vt:lpstr>PowerPoint Presentation</vt:lpstr>
      <vt:lpstr>What is process scheduling?</vt:lpstr>
      <vt:lpstr>What is process scheduling?</vt:lpstr>
      <vt:lpstr>Objectives (goals) of scheduling</vt:lpstr>
      <vt:lpstr>Objectives (goals) of scheduling</vt:lpstr>
      <vt:lpstr>Types of schedulers</vt:lpstr>
      <vt:lpstr>Types of schedulers</vt:lpstr>
      <vt:lpstr>Types of schedulers</vt:lpstr>
      <vt:lpstr>Terms</vt:lpstr>
      <vt:lpstr>Scheduling algorithms</vt:lpstr>
      <vt:lpstr>Scheduling algorithms</vt:lpstr>
      <vt:lpstr>First Come First Served (FCFS)</vt:lpstr>
      <vt:lpstr>First Come First Served (FCFS)</vt:lpstr>
      <vt:lpstr>First Come First Served (FCFS)</vt:lpstr>
      <vt:lpstr>First Come First Served (FCFS)</vt:lpstr>
      <vt:lpstr>Shortest Job First (SJF)</vt:lpstr>
      <vt:lpstr>Shortest Job First (SJF)</vt:lpstr>
      <vt:lpstr>Shortest Job First (SJF)</vt:lpstr>
      <vt:lpstr>Shortest Job First (SJF)</vt:lpstr>
      <vt:lpstr>Shortest Remaining Time Next (SRTN)</vt:lpstr>
      <vt:lpstr>Shortest Remaining Time Next (SRTN)</vt:lpstr>
      <vt:lpstr>Shortest Remaining Time Next (SRTN)</vt:lpstr>
      <vt:lpstr>Shortest Remaining Time Next (SRTN)</vt:lpstr>
      <vt:lpstr>Round Robin (RR)</vt:lpstr>
      <vt:lpstr>Round Robin (RR)</vt:lpstr>
      <vt:lpstr>Round Robin (RR)</vt:lpstr>
      <vt:lpstr>Round Robin (RR)</vt:lpstr>
      <vt:lpstr>Round Robin (RR)</vt:lpstr>
      <vt:lpstr>Priority  (Non-Preemptive Priority)</vt:lpstr>
      <vt:lpstr>Non-Preemptive Priority</vt:lpstr>
      <vt:lpstr>Non-Preemptive Priority</vt:lpstr>
      <vt:lpstr>Non-Preemptive Priority</vt:lpstr>
      <vt:lpstr>Priority  (Preemptive Priority)</vt:lpstr>
      <vt:lpstr>Preemptive Priority</vt:lpstr>
      <vt:lpstr>Preemptive Priority</vt:lpstr>
      <vt:lpstr>Preemptive Priority</vt:lpstr>
      <vt:lpstr>Guaranteed Scheduling</vt:lpstr>
      <vt:lpstr>Lottery Scheduling</vt:lpstr>
      <vt:lpstr>PowerPoint Presentation</vt:lpstr>
      <vt:lpstr>Fair Share Scheduling</vt:lpstr>
      <vt:lpstr>Exercise</vt:lpstr>
      <vt:lpstr>Exercise</vt:lpstr>
      <vt:lpstr>Assignment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804</cp:revision>
  <cp:lastPrinted>2021-02-05T02:25:01Z</cp:lastPrinted>
  <dcterms:created xsi:type="dcterms:W3CDTF">2020-05-01T05:09:15Z</dcterms:created>
  <dcterms:modified xsi:type="dcterms:W3CDTF">2023-12-21T03:24:47Z</dcterms:modified>
</cp:coreProperties>
</file>