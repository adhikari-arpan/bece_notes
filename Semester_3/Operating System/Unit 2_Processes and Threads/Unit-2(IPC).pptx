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4"/>
  </p:notesMasterIdLst>
  <p:sldIdLst>
    <p:sldId id="309" r:id="rId2"/>
    <p:sldId id="292" r:id="rId3"/>
    <p:sldId id="310" r:id="rId4"/>
    <p:sldId id="489" r:id="rId5"/>
    <p:sldId id="349" r:id="rId6"/>
    <p:sldId id="490" r:id="rId7"/>
    <p:sldId id="491" r:id="rId8"/>
    <p:sldId id="492" r:id="rId9"/>
    <p:sldId id="493" r:id="rId10"/>
    <p:sldId id="494" r:id="rId11"/>
    <p:sldId id="487" r:id="rId12"/>
    <p:sldId id="466" r:id="rId13"/>
    <p:sldId id="472" r:id="rId14"/>
    <p:sldId id="504" r:id="rId15"/>
    <p:sldId id="482" r:id="rId16"/>
    <p:sldId id="473" r:id="rId17"/>
    <p:sldId id="502" r:id="rId18"/>
    <p:sldId id="495" r:id="rId19"/>
    <p:sldId id="503" r:id="rId20"/>
    <p:sldId id="501" r:id="rId21"/>
    <p:sldId id="496" r:id="rId22"/>
    <p:sldId id="505" r:id="rId23"/>
    <p:sldId id="506" r:id="rId24"/>
    <p:sldId id="508" r:id="rId25"/>
    <p:sldId id="507" r:id="rId26"/>
    <p:sldId id="497" r:id="rId27"/>
    <p:sldId id="509" r:id="rId28"/>
    <p:sldId id="510" r:id="rId29"/>
    <p:sldId id="498" r:id="rId30"/>
    <p:sldId id="511" r:id="rId31"/>
    <p:sldId id="499" r:id="rId32"/>
    <p:sldId id="512" r:id="rId33"/>
    <p:sldId id="513" r:id="rId34"/>
    <p:sldId id="514" r:id="rId35"/>
    <p:sldId id="500" r:id="rId36"/>
    <p:sldId id="515" r:id="rId37"/>
    <p:sldId id="518" r:id="rId38"/>
    <p:sldId id="520" r:id="rId39"/>
    <p:sldId id="483" r:id="rId40"/>
    <p:sldId id="479" r:id="rId41"/>
    <p:sldId id="521" r:id="rId42"/>
    <p:sldId id="522" r:id="rId43"/>
    <p:sldId id="523" r:id="rId44"/>
    <p:sldId id="524" r:id="rId45"/>
    <p:sldId id="525" r:id="rId46"/>
    <p:sldId id="529" r:id="rId47"/>
    <p:sldId id="526" r:id="rId48"/>
    <p:sldId id="527" r:id="rId49"/>
    <p:sldId id="528" r:id="rId50"/>
    <p:sldId id="530" r:id="rId51"/>
    <p:sldId id="531" r:id="rId52"/>
    <p:sldId id="532" r:id="rId53"/>
    <p:sldId id="538" r:id="rId54"/>
    <p:sldId id="539" r:id="rId55"/>
    <p:sldId id="564" r:id="rId56"/>
    <p:sldId id="541" r:id="rId57"/>
    <p:sldId id="533" r:id="rId58"/>
    <p:sldId id="542" r:id="rId59"/>
    <p:sldId id="543" r:id="rId60"/>
    <p:sldId id="545" r:id="rId61"/>
    <p:sldId id="565" r:id="rId62"/>
    <p:sldId id="534" r:id="rId63"/>
    <p:sldId id="547" r:id="rId64"/>
    <p:sldId id="548" r:id="rId65"/>
    <p:sldId id="549" r:id="rId66"/>
    <p:sldId id="550" r:id="rId67"/>
    <p:sldId id="535" r:id="rId68"/>
    <p:sldId id="546" r:id="rId69"/>
    <p:sldId id="536" r:id="rId70"/>
    <p:sldId id="561" r:id="rId71"/>
    <p:sldId id="562" r:id="rId72"/>
    <p:sldId id="346" r:id="rId73"/>
  </p:sldIdLst>
  <p:sldSz cx="12192000" cy="6858000"/>
  <p:notesSz cx="6954838" cy="9309100"/>
  <p:embeddedFontLst>
    <p:embeddedFont>
      <p:font typeface="Roboto Condensed Light" panose="020B0604020202020204" charset="0"/>
      <p:regular r:id="rId75"/>
      <p:italic r:id="rId76"/>
    </p:embeddedFont>
    <p:embeddedFont>
      <p:font typeface="Wingdings 3" panose="05040102010807070707" pitchFamily="18" charset="2"/>
      <p:regular r:id="rId77"/>
    </p:embeddedFont>
    <p:embeddedFont>
      <p:font typeface="Calibri" panose="020F0502020204030204" pitchFamily="34" charset="0"/>
      <p:regular r:id="rId78"/>
      <p:bold r:id="rId79"/>
      <p:italic r:id="rId80"/>
      <p:boldItalic r:id="rId81"/>
    </p:embeddedFont>
    <p:embeddedFont>
      <p:font typeface="Wingdings 2" panose="05020102010507070707" pitchFamily="18" charset="2"/>
      <p:regular r:id="rId82"/>
    </p:embeddedFont>
    <p:embeddedFont>
      <p:font typeface="Segoe UI Black" panose="020B0A02040204020203" pitchFamily="34" charset="0"/>
      <p:bold r:id="rId83"/>
      <p:boldItalic r:id="rId84"/>
    </p:embeddedFont>
    <p:embeddedFont>
      <p:font typeface="Roboto Condensed" panose="020B0604020202020204" charset="0"/>
      <p:regular r:id="rId85"/>
      <p:bold r:id="rId86"/>
      <p:italic r:id="rId87"/>
      <p:boldItalic r:id="rId88"/>
    </p:embeddedFont>
  </p:embeddedFontLst>
  <p:custDataLst>
    <p:tags r:id="rId8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/>
        <a:schemeClr val="dk1"/>
      </a:tcTxStyle>
      <a:tcStyle>
        <a:tcBdr/>
      </a:tcStyle>
    </a:seCell>
    <a:swCell>
      <a:tcTxStyle b="on">
        <a:fontRef idx="minor"/>
        <a:schemeClr val="dk1"/>
      </a:tcTxStyle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/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/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font" Target="fonts/font2.fntdata"/><Relationship Id="rId84" Type="http://schemas.openxmlformats.org/officeDocument/2006/relationships/font" Target="fonts/font10.fntdata"/><Relationship Id="rId89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font" Target="fonts/font5.fntdata"/><Relationship Id="rId87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8.fntdata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6.fntdata"/><Relationship Id="rId85" Type="http://schemas.openxmlformats.org/officeDocument/2006/relationships/font" Target="fonts/font11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font" Target="fonts/font9.fntdata"/><Relationship Id="rId88" Type="http://schemas.openxmlformats.org/officeDocument/2006/relationships/font" Target="fonts/font14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font" Target="fonts/font7.fntdata"/><Relationship Id="rId86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10" Type="http://schemas.openxmlformats.org/officeDocument/2006/relationships/image" Target="../media/image9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5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6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>
            <a:fillRect/>
          </a:stretch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=""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=""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011A27-9D50-4EB5-9A07-1B1C801DBAAB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66344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3,4 – Concurrency &amp; Inter Process Communication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80A0FC-C843-48BC-A688-B66B96D0C9C8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66344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Unit 3,4 – Concurrency &amp; Inter Process Communication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E47E2D-2E29-4678-B6D9-C72E944BEADA}" type="datetime4">
              <a:rPr lang="en-US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December 19, 2023</a:t>
            </a:fld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/>
          <p:nvPr userDrawn="1"/>
        </p:nvSpPr>
        <p:spPr>
          <a:xfrm>
            <a:off x="4038600" y="6604000"/>
            <a:ext cx="466344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 3,4 – Concurrency &amp; Inter Process Communication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" y="863444"/>
            <a:ext cx="11990483" cy="562527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>
            <a:fillRect/>
          </a:stretch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/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Dhamsaniya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/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/>
              <a:t>Thank</a:t>
            </a:r>
          </a:p>
          <a:p>
            <a:pPr algn="ctr"/>
            <a:r>
              <a:rPr lang="en-US" sz="6000" b="1" i="1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=""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=""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=""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=""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=""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=""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>
            <a:fillRect/>
          </a:stretch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302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Nepal Engineering College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789" y="1795212"/>
            <a:ext cx="2880360" cy="277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=""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here your Author Name (i.e. Prof. Jay R Dhamsaniya)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>
            <a:fillRect/>
          </a:stretch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Write Subject Name (Short Name)</a:t>
            </a:r>
          </a:p>
          <a:p>
            <a:pPr lvl="0"/>
            <a:r>
              <a:rPr lang="en-US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1.gif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5.jpeg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=""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315200" cy="3566160"/>
          </a:xfrm>
        </p:spPr>
        <p:txBody>
          <a:bodyPr/>
          <a:lstStyle/>
          <a:p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Concurrency &amp; </a:t>
            </a:r>
            <a:r>
              <a:rPr lang="en-US" dirty="0" err="1"/>
              <a:t>Interprocess</a:t>
            </a:r>
            <a:r>
              <a:rPr lang="en-US" dirty="0"/>
              <a:t> Communication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=""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Asst. Prof. </a:t>
            </a:r>
            <a:r>
              <a:rPr lang="en-US" dirty="0" err="1"/>
              <a:t>J</a:t>
            </a:r>
            <a:r>
              <a:rPr lang="en-US" dirty="0" err="1" smtClean="0"/>
              <a:t>humi</a:t>
            </a:r>
            <a:r>
              <a:rPr lang="en-US" dirty="0" smtClean="0"/>
              <a:t> </a:t>
            </a:r>
            <a:r>
              <a:rPr lang="en-US" dirty="0" err="1"/>
              <a:t>T</a:t>
            </a:r>
            <a:r>
              <a:rPr lang="en-US" dirty="0" err="1" smtClean="0"/>
              <a:t>hapa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Operating System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(OS)</a:t>
            </a:r>
          </a:p>
        </p:txBody>
      </p:sp>
    </p:spTree>
    <p:extLst>
      <p:ext uri="{BB962C8B-B14F-4D97-AF65-F5344CB8AC3E}">
        <p14:creationId xmlns:p14="http://schemas.microsoft.com/office/powerpoint/2010/main" val="16008347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D9EBF344-4A7B-4C4A-AF6D-6441BD040AB3}"/>
              </a:ext>
            </a:extLst>
          </p:cNvPr>
          <p:cNvCxnSpPr>
            <a:endCxn id="6" idx="0"/>
          </p:cNvCxnSpPr>
          <p:nvPr/>
        </p:nvCxnSpPr>
        <p:spPr>
          <a:xfrm flipH="1"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CA925EF2-D58F-4AC0-ACED-F747CC08D69F}"/>
              </a:ext>
            </a:extLst>
          </p:cNvPr>
          <p:cNvCxnSpPr/>
          <p:nvPr/>
        </p:nvCxnSpPr>
        <p:spPr>
          <a:xfrm flipH="1"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ym typeface="Wingdings 2" panose="05020102010507070707" pitchFamily="18" charset="2"/>
              </a:rPr>
              <a:t></a:t>
            </a:r>
            <a:endParaRPr lang="en-US" sz="280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F34260FD-CAA3-43A0-977C-7E4B57013872}"/>
              </a:ext>
            </a:extLst>
          </p:cNvPr>
          <p:cNvCxnSpPr/>
          <p:nvPr/>
        </p:nvCxnSpPr>
        <p:spPr>
          <a:xfrm flipH="1"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1" y="731706"/>
            <a:ext cx="881459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IPC, Race Conditions, Critical Section, Mutual Exclusion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Mutual exclusion with busy waiting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Disabling interrupts (Hardware approach)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Shared lock variable (Software approach)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Strict alteration (Software approach)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TSL (Test and Set Lock) instruction (Hardware approach)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Exchange instruction (Hardware approach)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Dekker’s solution (Software approach)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Peterson’s solution (Software approach)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The Producer Consumer Problem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Semaphores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Classical IPC Problems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Readers &amp; Writer Problem and Dinning Philosopher Problem</a:t>
            </a:r>
            <a:endParaRPr lang="en-US" sz="240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Monitor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>
                    <a:lumMod val="50000"/>
                  </a:schemeClr>
                </a:solidFill>
              </a:rPr>
              <a:t>Mutex</a:t>
            </a:r>
            <a:endParaRPr lang="en-US" sz="240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Pipes and Message Passing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Barrier and Signal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IPC, Race Conditions, Critical Section, Mutual Exclusion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375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Inter-process communication (IPC)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807502" cy="5590565"/>
          </a:xfrm>
        </p:spPr>
        <p:txBody>
          <a:bodyPr/>
          <a:lstStyle/>
          <a:p>
            <a:r>
              <a:rPr lang="en-US"/>
              <a:t>Inter-process communication is the </a:t>
            </a:r>
            <a:r>
              <a:rPr lang="en-US" b="1">
                <a:solidFill>
                  <a:schemeClr val="accent6"/>
                </a:solidFill>
              </a:rPr>
              <a:t>mechanism provided by the operating system that allows processes to communicate with each other</a:t>
            </a:r>
            <a:r>
              <a:rPr lang="en-US"/>
              <a:t>. </a:t>
            </a:r>
          </a:p>
          <a:p>
            <a:r>
              <a:rPr lang="en-US"/>
              <a:t>This communication could involve a process letting another process know that some event has occurred or transferring of data from one process to another.</a:t>
            </a:r>
          </a:p>
          <a:p>
            <a:r>
              <a:rPr lang="en-US"/>
              <a:t>Processes in a system can be independent or cooperating.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Independent process </a:t>
            </a:r>
            <a:r>
              <a:rPr lang="en-US"/>
              <a:t>cannot affect or be affected by the execution of another process.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Cooperating process </a:t>
            </a:r>
            <a:r>
              <a:rPr lang="en-US"/>
              <a:t>can affect or be affected by the execution of another process.</a:t>
            </a:r>
          </a:p>
          <a:p>
            <a:r>
              <a:rPr lang="en-US"/>
              <a:t>Cooperating processes need inter process communication mechanisms.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32813" y="4214876"/>
            <a:ext cx="1737360" cy="645459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Process - 1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4929" y="4214875"/>
            <a:ext cx="1737360" cy="645459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Process - 2</a:t>
            </a:r>
          </a:p>
        </p:txBody>
      </p:sp>
      <p:cxnSp>
        <p:nvCxnSpPr>
          <p:cNvPr id="9" name="Straight Connector 8"/>
          <p:cNvCxnSpPr>
            <a:stCxn id="4" idx="3"/>
            <a:endCxn id="5" idx="1"/>
          </p:cNvCxnSpPr>
          <p:nvPr/>
        </p:nvCxnSpPr>
        <p:spPr>
          <a:xfrm flipV="1">
            <a:off x="8770173" y="4537605"/>
            <a:ext cx="1534756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14591" y="3892144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Inter-process Communication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92344" y="6367376"/>
            <a:ext cx="5577840" cy="782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4">
            <a:extLst>
              <a:ext uri="{FF2B5EF4-FFF2-40B4-BE49-F238E27FC236}">
                <a16:creationId xmlns="" xmlns:a16="http://schemas.microsoft.com/office/drawing/2014/main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3898277"/>
              </p:ext>
            </p:extLst>
          </p:nvPr>
        </p:nvGraphicFramePr>
        <p:xfrm>
          <a:off x="492344" y="5979391"/>
          <a:ext cx="1100455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004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Content Placeholder 4">
            <a:extLst>
              <a:ext uri="{FF2B5EF4-FFF2-40B4-BE49-F238E27FC236}">
                <a16:creationId xmlns="" xmlns:a16="http://schemas.microsoft.com/office/drawing/2014/main" id="{26B864CA-85CD-4666-B9D1-870ED08B2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275673"/>
              </p:ext>
            </p:extLst>
          </p:nvPr>
        </p:nvGraphicFramePr>
        <p:xfrm>
          <a:off x="1591273" y="5970503"/>
          <a:ext cx="4754880" cy="3962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7548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Give an example of independent processes?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" t="4755" r="5412"/>
          <a:stretch>
            <a:fillRect/>
          </a:stretch>
        </p:blipFill>
        <p:spPr>
          <a:xfrm>
            <a:off x="7118315" y="1010148"/>
            <a:ext cx="4838472" cy="268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506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Inter-process communication (IPC)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Reasons of process cooperation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Information sharing</a:t>
            </a:r>
            <a:r>
              <a:rPr lang="en-US"/>
              <a:t>: Several processes may need to access the same data (such as stored in a file.)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Computation speed-up</a:t>
            </a:r>
            <a:r>
              <a:rPr lang="en-US"/>
              <a:t>: A task can often be run faster if it is broken into subtasks and distributed among different processes.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Modularity</a:t>
            </a:r>
            <a:r>
              <a:rPr lang="en-US"/>
              <a:t>: It may be easier to organize a complex task into separate subtasks, then have different processes or threads running each subtask.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Convenience</a:t>
            </a:r>
            <a:r>
              <a:rPr lang="en-US"/>
              <a:t>: An individual user can run several programs at the same time, to perform some task.</a:t>
            </a:r>
          </a:p>
          <a:p>
            <a:endParaRPr lang="en-US"/>
          </a:p>
          <a:p>
            <a:r>
              <a:rPr lang="en-US"/>
              <a:t>Issues of process cooperation</a:t>
            </a:r>
          </a:p>
          <a:p>
            <a:pPr lvl="1"/>
            <a:r>
              <a:rPr lang="en-US"/>
              <a:t>Data corruption, deadlocks, increased complexity</a:t>
            </a:r>
          </a:p>
          <a:p>
            <a:pPr lvl="1"/>
            <a:r>
              <a:rPr lang="en-US"/>
              <a:t>Requires processes to synchronize their processing</a:t>
            </a:r>
          </a:p>
        </p:txBody>
      </p:sp>
    </p:spTree>
    <p:extLst>
      <p:ext uri="{BB962C8B-B14F-4D97-AF65-F5344CB8AC3E}">
        <p14:creationId xmlns:p14="http://schemas.microsoft.com/office/powerpoint/2010/main" val="1487631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Models for Inter-process communication (IPC)</a:t>
            </a:r>
          </a:p>
        </p:txBody>
      </p:sp>
      <p:sp>
        <p:nvSpPr>
          <p:cNvPr id="6" name="Content Placeholder 2"/>
          <p:cNvSpPr txBox="1"/>
          <p:nvPr/>
        </p:nvSpPr>
        <p:spPr>
          <a:xfrm>
            <a:off x="121024" y="914402"/>
            <a:ext cx="5715000" cy="557784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6"/>
                </a:solidFill>
              </a:rPr>
              <a:t>Message Passing </a:t>
            </a:r>
          </a:p>
          <a:p>
            <a:pPr lvl="1"/>
            <a:r>
              <a:rPr lang="en-US"/>
              <a:t>Process A send the message to Kernel and then Kernel send that message to Process B</a:t>
            </a:r>
          </a:p>
        </p:txBody>
      </p:sp>
      <p:sp>
        <p:nvSpPr>
          <p:cNvPr id="7" name="Content Placeholder 2"/>
          <p:cNvSpPr txBox="1"/>
          <p:nvPr/>
        </p:nvSpPr>
        <p:spPr>
          <a:xfrm>
            <a:off x="6372715" y="909361"/>
            <a:ext cx="5715000" cy="557784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6"/>
                </a:solidFill>
              </a:rPr>
              <a:t>Shared Memory </a:t>
            </a:r>
          </a:p>
          <a:p>
            <a:pPr lvl="1"/>
            <a:r>
              <a:rPr lang="en-US"/>
              <a:t>Process A put the message into Shared Memory and then Process B read that message from Shared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3884" y="2220818"/>
            <a:ext cx="2837329" cy="42267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23884" y="2220818"/>
            <a:ext cx="2837329" cy="8229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Process -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3884" y="3043778"/>
            <a:ext cx="2837329" cy="822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Process -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25176" y="5328583"/>
            <a:ext cx="2837329" cy="11189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Kernel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76203" y="2447632"/>
            <a:ext cx="385010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2553" y="5735135"/>
            <a:ext cx="385010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331" y="2220818"/>
            <a:ext cx="2837329" cy="42267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33331" y="2220818"/>
            <a:ext cx="2837329" cy="8229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Process -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3331" y="3447188"/>
            <a:ext cx="2837329" cy="8229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Process -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3331" y="5328582"/>
            <a:ext cx="2837329" cy="111893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Kernel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33331" y="3043778"/>
            <a:ext cx="2837329" cy="403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Shared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5650" y="2447632"/>
            <a:ext cx="385010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253615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06 3.7037E-06 L 0.00104 0.48009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2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06 -4.44444E-06 L -0.00039 -0.35995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800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3.7037E-06 L 6.25E-07 0.08889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2" grpId="1" animBg="1"/>
      <p:bldP spid="12" grpId="2" animBg="1"/>
      <p:bldP spid="13" grpId="0" animBg="1"/>
      <p:bldP spid="13" grpId="1" animBg="1"/>
      <p:bldP spid="14" grpId="0" animBg="1"/>
      <p:bldP spid="15" grpId="0" animBg="1"/>
      <p:bldP spid="16" grpId="0" animBg="1"/>
      <p:bldP spid="17" grpId="0" animBg="1"/>
      <p:bldP spid="20" grpId="0" animBg="1"/>
      <p:bldP spid="18" grpId="0" animBg="1"/>
      <p:bldP spid="1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Race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646138" cy="5590565"/>
          </a:xfrm>
        </p:spPr>
        <p:txBody>
          <a:bodyPr/>
          <a:lstStyle/>
          <a:p>
            <a:r>
              <a:rPr lang="en-US"/>
              <a:t>The situation where </a:t>
            </a:r>
            <a:r>
              <a:rPr lang="en-US" b="1">
                <a:solidFill>
                  <a:schemeClr val="accent6"/>
                </a:solidFill>
              </a:rPr>
              <a:t>several processes access and manipulate shared data concurrently</a:t>
            </a:r>
            <a:r>
              <a:rPr lang="en-US"/>
              <a:t>. The </a:t>
            </a:r>
            <a:r>
              <a:rPr lang="en-US" b="1">
                <a:solidFill>
                  <a:schemeClr val="accent6"/>
                </a:solidFill>
              </a:rPr>
              <a:t>final value of the shared data depends upon which process finishes last</a:t>
            </a:r>
            <a:r>
              <a:rPr lang="en-US"/>
              <a:t>.</a:t>
            </a:r>
          </a:p>
          <a:p>
            <a:r>
              <a:rPr lang="en-US"/>
              <a:t>A race condition is an </a:t>
            </a:r>
            <a:r>
              <a:rPr lang="en-US" b="1">
                <a:solidFill>
                  <a:schemeClr val="accent6"/>
                </a:solidFill>
              </a:rPr>
              <a:t>undesirable situation </a:t>
            </a:r>
            <a:r>
              <a:rPr lang="en-US"/>
              <a:t>that </a:t>
            </a:r>
            <a:r>
              <a:rPr lang="en-US" b="1">
                <a:solidFill>
                  <a:schemeClr val="accent6"/>
                </a:solidFill>
              </a:rPr>
              <a:t>occurs when a device or system attempts to perform two or more operations at the same time</a:t>
            </a:r>
            <a:r>
              <a:rPr lang="en-US"/>
              <a:t>.</a:t>
            </a:r>
          </a:p>
          <a:p>
            <a:r>
              <a:rPr lang="en-US"/>
              <a:t>But, because of the nature of the device or system, the </a:t>
            </a:r>
            <a:r>
              <a:rPr lang="en-US" b="1">
                <a:solidFill>
                  <a:schemeClr val="accent6"/>
                </a:solidFill>
              </a:rPr>
              <a:t>operations must be done in the proper sequence </a:t>
            </a:r>
            <a:r>
              <a:rPr lang="en-US"/>
              <a:t>to be done correctly.</a:t>
            </a:r>
          </a:p>
          <a:p>
            <a:r>
              <a:rPr lang="en-US"/>
              <a:t>To prevent race conditions, </a:t>
            </a:r>
            <a:r>
              <a:rPr lang="en-US" b="1">
                <a:solidFill>
                  <a:schemeClr val="accent6"/>
                </a:solidFill>
              </a:rPr>
              <a:t>concurrent processes must be synchronized</a:t>
            </a:r>
            <a:r>
              <a:rPr lang="en-US"/>
              <a:t>.</a:t>
            </a:r>
          </a:p>
        </p:txBody>
      </p:sp>
      <p:pic>
        <p:nvPicPr>
          <p:cNvPr id="4" name="Picture 6" descr="D:\b\b4\IBM\02-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14570" y="2124631"/>
            <a:ext cx="5291070" cy="3886200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/>
          <p:nvPr/>
        </p:nvSpPr>
        <p:spPr>
          <a:xfrm>
            <a:off x="6814570" y="907894"/>
            <a:ext cx="5291070" cy="12133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2400">
                <a:solidFill>
                  <a:schemeClr val="accent6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>
                <a:solidFill>
                  <a:schemeClr val="tx1"/>
                </a:solidFill>
              </a:rPr>
              <a:t>Print spooler directory example : </a:t>
            </a:r>
          </a:p>
          <a:p>
            <a:r>
              <a:rPr lang="en-US">
                <a:solidFill>
                  <a:schemeClr val="tx1"/>
                </a:solidFill>
              </a:rPr>
              <a:t>Two processes want to access shared memory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3432459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Race Condition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1"/>
          <p:cNvSpPr txBox="1"/>
          <p:nvPr/>
        </p:nvSpPr>
        <p:spPr>
          <a:xfrm>
            <a:off x="147919" y="900954"/>
            <a:ext cx="36576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Process A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= in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Write file name at slot</a:t>
            </a:r>
            <a:r>
              <a:rPr lang="en-US">
                <a:solidFill>
                  <a:srgbClr val="C00000"/>
                </a:solidFill>
              </a:rPr>
              <a:t> (7)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+= 1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in = next_free_slot </a:t>
            </a:r>
            <a:r>
              <a:rPr lang="en-US">
                <a:solidFill>
                  <a:srgbClr val="C00000"/>
                </a:solidFill>
              </a:rPr>
              <a:t>(8)</a:t>
            </a:r>
          </a:p>
          <a:p>
            <a:pPr marL="45720" indent="0" algn="ctr">
              <a:buFont typeface="Arial" panose="020B0604020202020204" pitchFamily="34" charset="0"/>
              <a:buNone/>
            </a:pPr>
            <a:endParaRPr lang="en-US" b="1">
              <a:solidFill>
                <a:srgbClr val="0070C0"/>
              </a:solidFill>
            </a:endParaRPr>
          </a:p>
          <a:p>
            <a:pPr marL="45720" indent="0" algn="ctr">
              <a:buFont typeface="Arial" panose="020B0604020202020204" pitchFamily="34" charset="0"/>
              <a:buNone/>
            </a:pPr>
            <a:r>
              <a:rPr lang="en-US" b="1">
                <a:solidFill>
                  <a:srgbClr val="0070C0"/>
                </a:solidFill>
              </a:rPr>
              <a:t>Context Switch</a:t>
            </a:r>
          </a:p>
          <a:p>
            <a:pPr marL="331470" indent="-285750"/>
            <a:endParaRPr lang="en-US">
              <a:solidFill>
                <a:schemeClr val="tx1"/>
              </a:solidFill>
            </a:endParaRPr>
          </a:p>
          <a:p>
            <a:pPr marL="331470" indent="-285750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Process B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= in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Write file name at slot </a:t>
            </a:r>
            <a:r>
              <a:rPr lang="en-US">
                <a:solidFill>
                  <a:srgbClr val="C00000"/>
                </a:solidFill>
              </a:rPr>
              <a:t>(8)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+= 1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in = next_free_slot </a:t>
            </a:r>
            <a:r>
              <a:rPr lang="en-US">
                <a:solidFill>
                  <a:srgbClr val="C00000"/>
                </a:solidFill>
              </a:rPr>
              <a:t>(9)</a:t>
            </a:r>
          </a:p>
        </p:txBody>
      </p:sp>
      <p:sp>
        <p:nvSpPr>
          <p:cNvPr id="8" name="Content Placeholder 2"/>
          <p:cNvSpPr txBox="1"/>
          <p:nvPr/>
        </p:nvSpPr>
        <p:spPr>
          <a:xfrm>
            <a:off x="3975850" y="900954"/>
            <a:ext cx="36576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Process A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= in </a:t>
            </a:r>
            <a:r>
              <a:rPr lang="en-US">
                <a:solidFill>
                  <a:srgbClr val="C00000"/>
                </a:solidFill>
              </a:rPr>
              <a:t>(7)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0070C0"/>
                </a:solidFill>
              </a:rPr>
              <a:t> Context Switch</a:t>
            </a:r>
          </a:p>
          <a:p>
            <a:pPr marL="331470" indent="-285750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Process B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= in</a:t>
            </a:r>
            <a:r>
              <a:rPr lang="en-US">
                <a:solidFill>
                  <a:srgbClr val="C00000"/>
                </a:solidFill>
              </a:rPr>
              <a:t> (7)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Write file name at slot</a:t>
            </a:r>
            <a:r>
              <a:rPr lang="en-US">
                <a:solidFill>
                  <a:srgbClr val="C00000"/>
                </a:solidFill>
              </a:rPr>
              <a:t> (7)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+= 1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in = next_free_slot </a:t>
            </a:r>
            <a:r>
              <a:rPr lang="en-US">
                <a:solidFill>
                  <a:srgbClr val="C00000"/>
                </a:solidFill>
              </a:rPr>
              <a:t>(8)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b="1">
                <a:solidFill>
                  <a:srgbClr val="0070C0"/>
                </a:solidFill>
              </a:rPr>
              <a:t> Context Switch</a:t>
            </a:r>
          </a:p>
          <a:p>
            <a:pPr marL="331470" indent="-285750"/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Process A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Write file name at slot </a:t>
            </a:r>
            <a:r>
              <a:rPr lang="en-US">
                <a:solidFill>
                  <a:srgbClr val="C00000"/>
                </a:solidFill>
              </a:rPr>
              <a:t>(7)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 err="1"/>
              <a:t>next_free_slot += 1</a:t>
            </a:r>
          </a:p>
          <a:p>
            <a:pPr marL="594360" lvl="2" indent="0">
              <a:buFont typeface="Arial" panose="020B0604020202020204" pitchFamily="34" charset="0"/>
              <a:buNone/>
            </a:pPr>
            <a:r>
              <a:rPr lang="en-US"/>
              <a:t>in = next_free_slot </a:t>
            </a:r>
            <a:r>
              <a:rPr lang="en-US">
                <a:solidFill>
                  <a:srgbClr val="C00000"/>
                </a:solidFill>
              </a:rPr>
              <a:t>(8)</a:t>
            </a:r>
          </a:p>
          <a:p>
            <a:pPr marL="45720" indent="0" algn="ctr">
              <a:buFont typeface="Arial" panose="020B0604020202020204" pitchFamily="34" charset="0"/>
              <a:buNone/>
            </a:pP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47081" y="1755774"/>
            <a:ext cx="1828800" cy="35083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647081" y="4098271"/>
            <a:ext cx="1828800" cy="34747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rot="20000896">
            <a:off x="4290257" y="2398207"/>
            <a:ext cx="3061515" cy="14475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rgbClr val="C00000"/>
                </a:solidFill>
              </a:rPr>
              <a:t>Race Condition</a:t>
            </a:r>
          </a:p>
        </p:txBody>
      </p:sp>
      <p:pic>
        <p:nvPicPr>
          <p:cNvPr id="13" name="Picture 6" descr="D:\b\b4\IBM\02-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26693" y="914929"/>
            <a:ext cx="4334128" cy="3183342"/>
          </a:xfrm>
          <a:prstGeom prst="rect">
            <a:avLst/>
          </a:prstGeom>
          <a:noFill/>
          <a:ln w="9525">
            <a:solidFill>
              <a:schemeClr val="accent6">
                <a:lumMod val="75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4006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Section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527" y="902891"/>
            <a:ext cx="5652861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Connector 34"/>
          <p:cNvCxnSpPr/>
          <p:nvPr/>
        </p:nvCxnSpPr>
        <p:spPr>
          <a:xfrm>
            <a:off x="2463402" y="4993663"/>
            <a:ext cx="67056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463402" y="5831863"/>
            <a:ext cx="67056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3306364" y="4765063"/>
            <a:ext cx="0" cy="1295400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311837" y="4931860"/>
            <a:ext cx="2889847" cy="1357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6201685" y="4753340"/>
            <a:ext cx="0" cy="1295400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7954285" y="4726044"/>
            <a:ext cx="0" cy="1295400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4597002" y="4765063"/>
            <a:ext cx="0" cy="1295400"/>
          </a:xfrm>
          <a:prstGeom prst="line">
            <a:avLst/>
          </a:prstGeom>
          <a:ln w="19050">
            <a:solidFill>
              <a:srgbClr val="7030A0"/>
            </a:solidFill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078863" y="604874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1569" y="604874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73084" y="605647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5685" y="604609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8502" y="4818048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Process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029" y="5644123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Process 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1871" y="4510143"/>
            <a:ext cx="2531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enters in critical region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3301499" y="4714251"/>
            <a:ext cx="181533" cy="216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30620" y="5099932"/>
            <a:ext cx="145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 attempt to enter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4601701" y="5642283"/>
            <a:ext cx="155059" cy="1778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409018" y="4510143"/>
            <a:ext cx="2307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leaves critical region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6210653" y="4774200"/>
            <a:ext cx="181533" cy="216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206448" y="5749675"/>
            <a:ext cx="1743632" cy="16331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401717" y="5044643"/>
            <a:ext cx="1443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 enters in critical region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6201684" y="5538996"/>
            <a:ext cx="181533" cy="216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045065" y="5061486"/>
            <a:ext cx="1452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 leaves critical region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7957241" y="5614093"/>
            <a:ext cx="181533" cy="21687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9" name="Right Brace 58"/>
          <p:cNvSpPr/>
          <p:nvPr/>
        </p:nvSpPr>
        <p:spPr>
          <a:xfrm rot="5400000">
            <a:off x="5293397" y="5163038"/>
            <a:ext cx="197045" cy="1589836"/>
          </a:xfrm>
          <a:prstGeom prst="rightBrac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4827050" y="6056476"/>
            <a:ext cx="1131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 Blocked</a:t>
            </a:r>
          </a:p>
        </p:txBody>
      </p:sp>
      <p:pic>
        <p:nvPicPr>
          <p:cNvPr id="61" name="Picture 2" descr="Image result for printer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54843" y="5159127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Content Placeholder 2"/>
          <p:cNvSpPr txBox="1"/>
          <p:nvPr/>
        </p:nvSpPr>
        <p:spPr>
          <a:xfrm>
            <a:off x="5825727" y="902891"/>
            <a:ext cx="6235093" cy="12133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2400">
                <a:solidFill>
                  <a:schemeClr val="accent6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1">
                <a:solidFill>
                  <a:schemeClr val="tx2"/>
                </a:solidFill>
              </a:rPr>
              <a:t>Critical Section</a:t>
            </a:r>
            <a:r>
              <a:rPr lang="en-US">
                <a:solidFill>
                  <a:schemeClr val="tx1"/>
                </a:solidFill>
              </a:rPr>
              <a:t>: The </a:t>
            </a:r>
            <a:r>
              <a:rPr lang="en-US" b="1"/>
              <a:t>part of program where the shared resource is accessed </a:t>
            </a:r>
            <a:r>
              <a:rPr lang="en-US">
                <a:solidFill>
                  <a:schemeClr val="tx1"/>
                </a:solidFill>
              </a:rPr>
              <a:t>is called critical section or critical region.</a:t>
            </a:r>
          </a:p>
        </p:txBody>
      </p:sp>
    </p:spTree>
    <p:extLst>
      <p:ext uri="{BB962C8B-B14F-4D97-AF65-F5344CB8AC3E}">
        <p14:creationId xmlns:p14="http://schemas.microsoft.com/office/powerpoint/2010/main" val="24308543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50" grpId="0"/>
      <p:bldP spid="52" grpId="0"/>
      <p:bldP spid="54" grpId="0" animBg="1"/>
      <p:bldP spid="55" grpId="0"/>
      <p:bldP spid="57" grpId="0"/>
      <p:bldP spid="59" grpId="0" animBg="1"/>
      <p:bldP spid="60" grpId="0"/>
      <p:bldP spid="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Mutual Exclusion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2" name="Content Placeholder 2"/>
          <p:cNvSpPr txBox="1"/>
          <p:nvPr/>
        </p:nvSpPr>
        <p:spPr>
          <a:xfrm>
            <a:off x="5825726" y="902890"/>
            <a:ext cx="6217920" cy="1463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indent="0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None/>
              <a:defRPr sz="2400">
                <a:solidFill>
                  <a:schemeClr val="accent6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/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1">
                <a:solidFill>
                  <a:schemeClr val="tx2"/>
                </a:solidFill>
              </a:rPr>
              <a:t>Mutual Exclusion</a:t>
            </a:r>
            <a:r>
              <a:rPr lang="en-US">
                <a:solidFill>
                  <a:schemeClr val="tx1"/>
                </a:solidFill>
              </a:rPr>
              <a:t>: Way of making sure that if one process is using a shared variable or file; the other process will be excluded (stopped) from doing the same thing.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79" y="902891"/>
            <a:ext cx="5705233" cy="3566160"/>
          </a:xfrm>
          <a:prstGeom prst="rect">
            <a:avLst/>
          </a:prstGeom>
        </p:spPr>
      </p:pic>
      <p:pic>
        <p:nvPicPr>
          <p:cNvPr id="63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9129" y="1264023"/>
            <a:ext cx="1160930" cy="116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3717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6" t="2314" r="23856" b="11725"/>
          <a:stretch>
            <a:fillRect/>
          </a:stretch>
        </p:blipFill>
        <p:spPr>
          <a:xfrm>
            <a:off x="10095308" y="3891343"/>
            <a:ext cx="642749" cy="822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Solving Critical-Section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good solution to the problem must satisfy following four conditions:</a:t>
            </a:r>
          </a:p>
          <a:p>
            <a:r>
              <a:rPr lang="en-US"/>
              <a:t>Mutual Exclusion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No two processes </a:t>
            </a:r>
            <a:r>
              <a:rPr lang="en-US"/>
              <a:t>may be </a:t>
            </a:r>
            <a:r>
              <a:rPr lang="en-US">
                <a:solidFill>
                  <a:schemeClr val="accent6"/>
                </a:solidFill>
              </a:rPr>
              <a:t>simultaneously inside</a:t>
            </a:r>
            <a:r>
              <a:rPr lang="en-US"/>
              <a:t> the same critical section.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Bounded Waiting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No process should have to wait forever </a:t>
            </a:r>
            <a:r>
              <a:rPr lang="en-US"/>
              <a:t>to enter a critical section.</a:t>
            </a:r>
          </a:p>
          <a:p>
            <a:pPr marL="0" indent="-87312">
              <a:buNone/>
            </a:pPr>
            <a:endParaRPr lang="en-US"/>
          </a:p>
          <a:p>
            <a:r>
              <a:rPr lang="en-US"/>
              <a:t>Progress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No process running outside</a:t>
            </a:r>
            <a:r>
              <a:rPr lang="en-US"/>
              <a:t> its critical region </a:t>
            </a:r>
            <a:r>
              <a:rPr lang="en-US">
                <a:solidFill>
                  <a:schemeClr val="accent6"/>
                </a:solidFill>
              </a:rPr>
              <a:t>may block other </a:t>
            </a:r>
            <a:r>
              <a:rPr lang="en-US"/>
              <a:t>processes.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Arbitrary Speed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No assumption can be made </a:t>
            </a:r>
            <a:r>
              <a:rPr lang="en-US"/>
              <a:t>about the relative speed of different processes (though all processes have a non-zero speed).</a:t>
            </a:r>
          </a:p>
        </p:txBody>
      </p:sp>
      <p:sp>
        <p:nvSpPr>
          <p:cNvPr id="4" name="Oval 3"/>
          <p:cNvSpPr/>
          <p:nvPr/>
        </p:nvSpPr>
        <p:spPr>
          <a:xfrm>
            <a:off x="8803009" y="1403055"/>
            <a:ext cx="1264023" cy="1102659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5" t="2757" r="31066" b="1747"/>
          <a:stretch>
            <a:fillRect/>
          </a:stretch>
        </p:blipFill>
        <p:spPr>
          <a:xfrm>
            <a:off x="9116608" y="1542904"/>
            <a:ext cx="318412" cy="8229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0" r="29503"/>
          <a:stretch>
            <a:fillRect/>
          </a:stretch>
        </p:blipFill>
        <p:spPr>
          <a:xfrm>
            <a:off x="9507955" y="1542904"/>
            <a:ext cx="330476" cy="822960"/>
          </a:xfrm>
          <a:prstGeom prst="rect">
            <a:avLst/>
          </a:prstGeom>
        </p:spPr>
      </p:pic>
      <p:sp>
        <p:nvSpPr>
          <p:cNvPr id="7" name="Multiply 6"/>
          <p:cNvSpPr/>
          <p:nvPr/>
        </p:nvSpPr>
        <p:spPr>
          <a:xfrm>
            <a:off x="8897139" y="1403054"/>
            <a:ext cx="1169893" cy="1102659"/>
          </a:xfrm>
          <a:prstGeom prst="mathMultiply">
            <a:avLst>
              <a:gd name="adj1" fmla="val 8886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817058" y="2581836"/>
            <a:ext cx="1264023" cy="1102659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3" r="37409"/>
          <a:stretch>
            <a:fillRect/>
          </a:stretch>
        </p:blipFill>
        <p:spPr>
          <a:xfrm>
            <a:off x="9303944" y="2721685"/>
            <a:ext cx="408022" cy="822960"/>
          </a:xfrm>
          <a:prstGeom prst="rect">
            <a:avLst/>
          </a:prstGeom>
        </p:spPr>
      </p:pic>
      <p:sp>
        <p:nvSpPr>
          <p:cNvPr id="11" name="Multiply 10"/>
          <p:cNvSpPr/>
          <p:nvPr/>
        </p:nvSpPr>
        <p:spPr>
          <a:xfrm>
            <a:off x="8925415" y="2581835"/>
            <a:ext cx="1169893" cy="1102659"/>
          </a:xfrm>
          <a:prstGeom prst="mathMultiply">
            <a:avLst>
              <a:gd name="adj1" fmla="val 8886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8805953" y="3760616"/>
            <a:ext cx="1264023" cy="1102659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0" r="29503"/>
          <a:stretch>
            <a:fillRect/>
          </a:stretch>
        </p:blipFill>
        <p:spPr>
          <a:xfrm>
            <a:off x="10932401" y="3900465"/>
            <a:ext cx="330476" cy="822960"/>
          </a:xfrm>
          <a:prstGeom prst="rect">
            <a:avLst/>
          </a:prstGeom>
        </p:spPr>
      </p:pic>
      <p:sp>
        <p:nvSpPr>
          <p:cNvPr id="16" name="Multiply 15"/>
          <p:cNvSpPr/>
          <p:nvPr/>
        </p:nvSpPr>
        <p:spPr>
          <a:xfrm>
            <a:off x="9833616" y="3760615"/>
            <a:ext cx="1169893" cy="1102659"/>
          </a:xfrm>
          <a:prstGeom prst="mathMultiply">
            <a:avLst>
              <a:gd name="adj1" fmla="val 8886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71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1" grpId="0" animBg="1"/>
      <p:bldP spid="13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Mutual exclusion with busy waiting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7245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Mutual exclusion with busy waiting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Mechanisms for achieving mutual exclusion with busy waiting</a:t>
            </a:r>
          </a:p>
          <a:p>
            <a:pPr lvl="1"/>
            <a:r>
              <a:rPr lang="en-US" dirty="0"/>
              <a:t>Disabling interrupts (</a:t>
            </a:r>
            <a:r>
              <a:rPr lang="en-US" dirty="0">
                <a:solidFill>
                  <a:schemeClr val="tx2"/>
                </a:solidFill>
              </a:rPr>
              <a:t>Hardware approach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Shared lock variable (</a:t>
            </a:r>
            <a:r>
              <a:rPr lang="en-US" dirty="0">
                <a:solidFill>
                  <a:schemeClr val="tx2"/>
                </a:solidFill>
              </a:rPr>
              <a:t>Software approach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Strict alteration (</a:t>
            </a:r>
            <a:r>
              <a:rPr lang="en-US" dirty="0">
                <a:solidFill>
                  <a:schemeClr val="tx2"/>
                </a:solidFill>
              </a:rPr>
              <a:t>Software approach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TSL (Test and Set Lock) instruction (</a:t>
            </a:r>
            <a:r>
              <a:rPr lang="en-US" dirty="0">
                <a:solidFill>
                  <a:schemeClr val="tx2"/>
                </a:solidFill>
              </a:rPr>
              <a:t>Hardware approach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Dekker’s solution (</a:t>
            </a:r>
            <a:r>
              <a:rPr lang="en-US" dirty="0">
                <a:solidFill>
                  <a:schemeClr val="tx2"/>
                </a:solidFill>
              </a:rPr>
              <a:t>Software approach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Peterson’s solution (</a:t>
            </a:r>
            <a:r>
              <a:rPr lang="en-US" dirty="0">
                <a:solidFill>
                  <a:schemeClr val="tx2"/>
                </a:solidFill>
              </a:rPr>
              <a:t>Software approach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0228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500"/>
              <a:t>Real life example to explain mechanisms for achieving mutual exclusion with busy waiting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98" y="896839"/>
            <a:ext cx="4118089" cy="27432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98" y="3825677"/>
            <a:ext cx="4118089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587" y="896839"/>
            <a:ext cx="1242384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587" y="3816279"/>
            <a:ext cx="1242384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4" r="31206"/>
          <a:stretch>
            <a:fillRect/>
          </a:stretch>
        </p:blipFill>
        <p:spPr>
          <a:xfrm>
            <a:off x="5593971" y="1196877"/>
            <a:ext cx="767444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3" y="1087921"/>
            <a:ext cx="883892" cy="88389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3" y="4116317"/>
            <a:ext cx="855761" cy="85576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4" r="31206"/>
          <a:stretch>
            <a:fillRect/>
          </a:stretch>
        </p:blipFill>
        <p:spPr>
          <a:xfrm>
            <a:off x="5593971" y="4116317"/>
            <a:ext cx="767444" cy="2143125"/>
          </a:xfrm>
          <a:prstGeom prst="rect">
            <a:avLst/>
          </a:prstGeom>
        </p:spPr>
      </p:pic>
      <p:sp>
        <p:nvSpPr>
          <p:cNvPr id="3" name="Multiply 2"/>
          <p:cNvSpPr/>
          <p:nvPr/>
        </p:nvSpPr>
        <p:spPr>
          <a:xfrm>
            <a:off x="5386594" y="4143059"/>
            <a:ext cx="1080204" cy="1667436"/>
          </a:xfrm>
          <a:prstGeom prst="mathMultiply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83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06 2.96296E-06 L -0.16601 0.00046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0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Disabling interrupts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(Hardware approach)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2.1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671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Disabling interrupts (Hardware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while (true)</a:t>
            </a:r>
          </a:p>
          <a:p>
            <a:pPr marL="0" indent="0">
              <a:buNone/>
            </a:pPr>
            <a:r>
              <a:rPr lang="en-US"/>
              <a:t>	{</a:t>
            </a:r>
          </a:p>
          <a:p>
            <a:pPr marL="0" indent="0">
              <a:buNone/>
            </a:pPr>
            <a:r>
              <a:rPr lang="en-US"/>
              <a:t>		&lt; disable interrupts &gt;;</a:t>
            </a:r>
          </a:p>
          <a:p>
            <a:pPr marL="0" indent="0">
              <a:buNone/>
            </a:pPr>
            <a:r>
              <a:rPr lang="en-US"/>
              <a:t>		&lt; critical section &gt;;</a:t>
            </a:r>
          </a:p>
          <a:p>
            <a:pPr marL="0" indent="0">
              <a:buNone/>
            </a:pPr>
            <a:r>
              <a:rPr lang="en-US"/>
              <a:t>		&lt; enable interrupts &gt;;</a:t>
            </a:r>
          </a:p>
          <a:p>
            <a:pPr marL="0" indent="0">
              <a:buNone/>
            </a:pPr>
            <a:r>
              <a:rPr lang="en-US"/>
              <a:t>		&lt; remainder section &gt;;     </a:t>
            </a:r>
          </a:p>
          <a:p>
            <a:pPr marL="0" indent="0">
              <a:buNone/>
            </a:pPr>
            <a:r>
              <a:rPr lang="en-US"/>
              <a:t>	}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3272112" y="5145742"/>
            <a:ext cx="670560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" name="Straight Connector 4"/>
          <p:cNvCxnSpPr/>
          <p:nvPr/>
        </p:nvCxnSpPr>
        <p:spPr>
          <a:xfrm>
            <a:off x="3272112" y="5983942"/>
            <a:ext cx="670560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6" name="Straight Connector 5"/>
          <p:cNvCxnSpPr/>
          <p:nvPr/>
        </p:nvCxnSpPr>
        <p:spPr>
          <a:xfrm flipH="1">
            <a:off x="4115074" y="4917142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" name="Rectangle 6"/>
          <p:cNvSpPr/>
          <p:nvPr/>
        </p:nvSpPr>
        <p:spPr>
          <a:xfrm>
            <a:off x="4120547" y="5083939"/>
            <a:ext cx="2889847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7010395" y="4905419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9" name="Straight Connector 8"/>
          <p:cNvCxnSpPr/>
          <p:nvPr/>
        </p:nvCxnSpPr>
        <p:spPr>
          <a:xfrm flipH="1">
            <a:off x="8762995" y="4878123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0" name="TextBox 9"/>
          <p:cNvSpPr txBox="1"/>
          <p:nvPr/>
        </p:nvSpPr>
        <p:spPr>
          <a:xfrm>
            <a:off x="3887573" y="619817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794" y="619817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5" y="619817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212" y="4970127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+mj-lt"/>
              </a:rPr>
              <a:t>Process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1739" y="5796202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+mj-lt"/>
              </a:rPr>
              <a:t>Process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5158" y="5901754"/>
            <a:ext cx="1743632" cy="16331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3533771" y="4170454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 disable interrupts &gt;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6429371" y="4168458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 enable interrupts &gt;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4862509" y="3963929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 critical section &gt;</a:t>
            </a:r>
          </a:p>
        </p:txBody>
      </p:sp>
      <p:sp>
        <p:nvSpPr>
          <p:cNvPr id="19" name="Right Brace 18"/>
          <p:cNvSpPr/>
          <p:nvPr/>
        </p:nvSpPr>
        <p:spPr>
          <a:xfrm rot="16200000">
            <a:off x="5413652" y="3484532"/>
            <a:ext cx="298602" cy="2894883"/>
          </a:xfrm>
          <a:prstGeom prst="rightBrace">
            <a:avLst>
              <a:gd name="adj1" fmla="val 8333"/>
              <a:gd name="adj2" fmla="val 46052"/>
            </a:avLst>
          </a:prstGeom>
          <a:noFill/>
          <a:ln w="25400" cap="flat" cmpd="sng" algn="ctr">
            <a:solidFill>
              <a:srgbClr val="8064A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7773796" y="3961258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 remainder section &gt;</a:t>
            </a:r>
          </a:p>
        </p:txBody>
      </p:sp>
      <p:sp>
        <p:nvSpPr>
          <p:cNvPr id="21" name="Right Brace 20"/>
          <p:cNvSpPr/>
          <p:nvPr/>
        </p:nvSpPr>
        <p:spPr>
          <a:xfrm rot="16200000">
            <a:off x="8323383" y="3508339"/>
            <a:ext cx="298602" cy="2894883"/>
          </a:xfrm>
          <a:prstGeom prst="rightBrace">
            <a:avLst>
              <a:gd name="adj1" fmla="val 8333"/>
              <a:gd name="adj2" fmla="val 46052"/>
            </a:avLst>
          </a:prstGeom>
          <a:noFill/>
          <a:ln w="25400" cap="flat" cmpd="sng" algn="ctr">
            <a:solidFill>
              <a:srgbClr val="8064A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" r="64167" b="61899"/>
          <a:stretch>
            <a:fillRect/>
          </a:stretch>
        </p:blipFill>
        <p:spPr>
          <a:xfrm>
            <a:off x="3777786" y="3699374"/>
            <a:ext cx="674576" cy="360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" r="64167" b="61899"/>
          <a:stretch>
            <a:fillRect/>
          </a:stretch>
        </p:blipFill>
        <p:spPr>
          <a:xfrm>
            <a:off x="6716819" y="3674651"/>
            <a:ext cx="67457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867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in Disabling interrupts (Hardware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Unattractive or </a:t>
            </a:r>
            <a:r>
              <a:rPr lang="en-US" b="1">
                <a:solidFill>
                  <a:schemeClr val="accent6"/>
                </a:solidFill>
              </a:rPr>
              <a:t>unwise to give user processes the power to turn off interrupts</a:t>
            </a:r>
            <a:r>
              <a:rPr lang="en-US"/>
              <a:t>. </a:t>
            </a:r>
          </a:p>
          <a:p>
            <a:r>
              <a:rPr lang="en-US"/>
              <a:t>What if one of the </a:t>
            </a:r>
            <a:r>
              <a:rPr lang="en-US" b="1">
                <a:solidFill>
                  <a:schemeClr val="accent6"/>
                </a:solidFill>
              </a:rPr>
              <a:t>process</a:t>
            </a:r>
            <a:r>
              <a:rPr lang="en-US"/>
              <a:t> did it (</a:t>
            </a:r>
            <a:r>
              <a:rPr lang="en-US" b="1">
                <a:solidFill>
                  <a:schemeClr val="accent6"/>
                </a:solidFill>
              </a:rPr>
              <a:t>disable interrupt</a:t>
            </a:r>
            <a:r>
              <a:rPr lang="en-US"/>
              <a:t>) and </a:t>
            </a:r>
            <a:r>
              <a:rPr lang="en-US" b="1">
                <a:solidFill>
                  <a:schemeClr val="accent6"/>
                </a:solidFill>
              </a:rPr>
              <a:t>never</a:t>
            </a:r>
            <a:r>
              <a:rPr lang="en-US"/>
              <a:t> turned them on (</a:t>
            </a:r>
            <a:r>
              <a:rPr lang="en-US" b="1">
                <a:solidFill>
                  <a:schemeClr val="accent6"/>
                </a:solidFill>
              </a:rPr>
              <a:t>enable interrupt</a:t>
            </a:r>
            <a:r>
              <a:rPr lang="en-US"/>
              <a:t>) again? That could be the </a:t>
            </a:r>
            <a:r>
              <a:rPr lang="en-US" b="1">
                <a:solidFill>
                  <a:schemeClr val="accent6"/>
                </a:solidFill>
              </a:rPr>
              <a:t>end of the system</a:t>
            </a:r>
            <a:r>
              <a:rPr lang="en-US"/>
              <a:t>. </a:t>
            </a:r>
          </a:p>
          <a:p>
            <a:r>
              <a:rPr lang="en-US"/>
              <a:t>If the </a:t>
            </a:r>
            <a:r>
              <a:rPr lang="en-US" b="1">
                <a:solidFill>
                  <a:schemeClr val="accent6"/>
                </a:solidFill>
              </a:rPr>
              <a:t>system is a multiprocessor</a:t>
            </a:r>
            <a:r>
              <a:rPr lang="en-US"/>
              <a:t>, with two or more CPUs, </a:t>
            </a:r>
            <a:r>
              <a:rPr lang="en-US" b="1">
                <a:solidFill>
                  <a:schemeClr val="accent6"/>
                </a:solidFill>
              </a:rPr>
              <a:t>disabling interrupts affects only the CPU</a:t>
            </a:r>
            <a:r>
              <a:rPr lang="en-US"/>
              <a:t> that executed the disable instruction. The other ones will continue running and can access the shared memory.</a:t>
            </a:r>
          </a:p>
        </p:txBody>
      </p:sp>
    </p:spTree>
    <p:extLst>
      <p:ext uri="{BB962C8B-B14F-4D97-AF65-F5344CB8AC3E}">
        <p14:creationId xmlns:p14="http://schemas.microsoft.com/office/powerpoint/2010/main" val="667736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Shared lock variable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(Software approach)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2.2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135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Shared lock variable (Software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shared variable lock </a:t>
            </a:r>
            <a:r>
              <a:rPr lang="en-US" b="1">
                <a:solidFill>
                  <a:schemeClr val="accent6"/>
                </a:solidFill>
              </a:rPr>
              <a:t>having value 0 or 1</a:t>
            </a:r>
            <a:r>
              <a:rPr lang="en-US"/>
              <a:t>.</a:t>
            </a:r>
          </a:p>
          <a:p>
            <a:r>
              <a:rPr lang="en-US"/>
              <a:t>Before entering into critical region a process checks a shared variable lock’s value.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If the value of lock is 0 then set it to 1 </a:t>
            </a:r>
            <a:r>
              <a:rPr lang="en-US"/>
              <a:t>before entering the critical section and </a:t>
            </a:r>
            <a:r>
              <a:rPr lang="en-US" b="1">
                <a:solidFill>
                  <a:schemeClr val="accent6"/>
                </a:solidFill>
              </a:rPr>
              <a:t>enters into critical section </a:t>
            </a:r>
            <a:r>
              <a:rPr lang="en-US"/>
              <a:t>and </a:t>
            </a:r>
            <a:r>
              <a:rPr lang="en-US" b="1">
                <a:solidFill>
                  <a:schemeClr val="accent6"/>
                </a:solidFill>
              </a:rPr>
              <a:t>set it to 0 </a:t>
            </a:r>
            <a:r>
              <a:rPr lang="en-US"/>
              <a:t>immediately after leaving the critical section. 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If the value of lock is 1 then wait until it becomes 0 </a:t>
            </a:r>
            <a:r>
              <a:rPr lang="en-US"/>
              <a:t>by some other process which is in critical section.</a:t>
            </a:r>
          </a:p>
        </p:txBody>
      </p:sp>
    </p:spTree>
    <p:extLst>
      <p:ext uri="{BB962C8B-B14F-4D97-AF65-F5344CB8AC3E}">
        <p14:creationId xmlns:p14="http://schemas.microsoft.com/office/powerpoint/2010/main" val="1560458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Shared lock variable (Software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while (true)</a:t>
            </a:r>
          </a:p>
          <a:p>
            <a:pPr marL="0" indent="0">
              <a:buNone/>
            </a:pPr>
            <a:r>
              <a:rPr lang="en-US"/>
              <a:t>	{	 &lt; set shared variable to 1 &gt;;</a:t>
            </a:r>
          </a:p>
          <a:p>
            <a:pPr marL="0" indent="0">
              <a:buNone/>
            </a:pPr>
            <a:r>
              <a:rPr lang="en-US"/>
              <a:t>		&lt; critical section &gt;;</a:t>
            </a:r>
          </a:p>
          <a:p>
            <a:pPr marL="0" indent="0">
              <a:buNone/>
            </a:pPr>
            <a:r>
              <a:rPr lang="en-US"/>
              <a:t>		&lt; set shared variable to 0 &gt;;</a:t>
            </a:r>
          </a:p>
          <a:p>
            <a:pPr marL="0" indent="0">
              <a:buNone/>
            </a:pPr>
            <a:r>
              <a:rPr lang="en-US"/>
              <a:t>		&lt; remainder section &gt;;     </a:t>
            </a:r>
          </a:p>
          <a:p>
            <a:pPr marL="0" indent="0">
              <a:buNone/>
            </a:pPr>
            <a:r>
              <a:rPr lang="en-US"/>
              <a:t>	}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747679" y="5172636"/>
            <a:ext cx="670560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" name="Straight Connector 4"/>
          <p:cNvCxnSpPr/>
          <p:nvPr/>
        </p:nvCxnSpPr>
        <p:spPr>
          <a:xfrm>
            <a:off x="2747679" y="6010836"/>
            <a:ext cx="670560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6" name="Straight Connector 5"/>
          <p:cNvCxnSpPr/>
          <p:nvPr/>
        </p:nvCxnSpPr>
        <p:spPr>
          <a:xfrm flipH="1">
            <a:off x="3590641" y="494403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" name="Rectangle 6"/>
          <p:cNvSpPr/>
          <p:nvPr/>
        </p:nvSpPr>
        <p:spPr>
          <a:xfrm>
            <a:off x="3596114" y="5110833"/>
            <a:ext cx="2889847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485962" y="4932313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9" name="Straight Connector 8"/>
          <p:cNvCxnSpPr/>
          <p:nvPr/>
        </p:nvCxnSpPr>
        <p:spPr>
          <a:xfrm flipH="1">
            <a:off x="8238562" y="4905017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0" name="TextBox 9"/>
          <p:cNvSpPr txBox="1"/>
          <p:nvPr/>
        </p:nvSpPr>
        <p:spPr>
          <a:xfrm>
            <a:off x="3363140" y="62250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7361" y="62250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9962" y="62250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2779" y="4997021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+mj-lt"/>
              </a:rPr>
              <a:t>Process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7306" y="5823096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+mj-lt"/>
              </a:rPr>
              <a:t>Process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0725" y="5928648"/>
            <a:ext cx="1743632" cy="16331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3009338" y="4197348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IN" kern="0">
                <a:solidFill>
                  <a:prstClr val="white"/>
                </a:solidFill>
                <a:latin typeface="+mj-lt"/>
              </a:rPr>
              <a:t>&lt; set lock to 1 &gt;</a:t>
            </a: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" name="Rounded Rectangular Callout 16"/>
          <p:cNvSpPr/>
          <p:nvPr/>
        </p:nvSpPr>
        <p:spPr>
          <a:xfrm>
            <a:off x="5904938" y="4195352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IN" kern="0">
                <a:solidFill>
                  <a:prstClr val="white"/>
                </a:solidFill>
                <a:latin typeface="+mj-lt"/>
              </a:rPr>
              <a:t>&lt; set lock to 0 &gt;</a:t>
            </a: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4338076" y="3990823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 critical section &gt;</a:t>
            </a:r>
          </a:p>
        </p:txBody>
      </p:sp>
      <p:sp>
        <p:nvSpPr>
          <p:cNvPr id="19" name="Right Brace 18"/>
          <p:cNvSpPr/>
          <p:nvPr/>
        </p:nvSpPr>
        <p:spPr>
          <a:xfrm rot="16200000">
            <a:off x="4889219" y="3511426"/>
            <a:ext cx="298602" cy="2894883"/>
          </a:xfrm>
          <a:prstGeom prst="rightBrace">
            <a:avLst>
              <a:gd name="adj1" fmla="val 8333"/>
              <a:gd name="adj2" fmla="val 46052"/>
            </a:avLst>
          </a:prstGeom>
          <a:noFill/>
          <a:ln w="25400" cap="flat" cmpd="sng" algn="ctr">
            <a:solidFill>
              <a:srgbClr val="8064A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7075389" y="4012685"/>
            <a:ext cx="2218204" cy="488393"/>
          </a:xfrm>
          <a:prstGeom prst="wedgeRoundRectCallout">
            <a:avLst>
              <a:gd name="adj1" fmla="val -23512"/>
              <a:gd name="adj2" fmla="val 121008"/>
              <a:gd name="adj3" fmla="val 16667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 remainder section &gt;</a:t>
            </a:r>
          </a:p>
        </p:txBody>
      </p:sp>
      <p:sp>
        <p:nvSpPr>
          <p:cNvPr id="21" name="Right Brace 20"/>
          <p:cNvSpPr/>
          <p:nvPr/>
        </p:nvSpPr>
        <p:spPr>
          <a:xfrm rot="16200000">
            <a:off x="7798950" y="3535233"/>
            <a:ext cx="298602" cy="2894883"/>
          </a:xfrm>
          <a:prstGeom prst="rightBrace">
            <a:avLst>
              <a:gd name="adj1" fmla="val 8333"/>
              <a:gd name="adj2" fmla="val 46052"/>
            </a:avLst>
          </a:prstGeom>
          <a:noFill/>
          <a:ln w="25400" cap="flat" cmpd="sng" algn="ctr">
            <a:solidFill>
              <a:srgbClr val="8064A2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6" t="5503" r="20336"/>
          <a:stretch>
            <a:fillRect/>
          </a:stretch>
        </p:blipFill>
        <p:spPr>
          <a:xfrm>
            <a:off x="6257361" y="3403469"/>
            <a:ext cx="452045" cy="7200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5" t="5503" r="22330" b="3406"/>
          <a:stretch>
            <a:fillRect/>
          </a:stretch>
        </p:blipFill>
        <p:spPr>
          <a:xfrm>
            <a:off x="3377642" y="3403470"/>
            <a:ext cx="441325" cy="71599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7" t="3877" r="20465" b="3518"/>
          <a:stretch>
            <a:fillRect/>
          </a:stretch>
        </p:blipFill>
        <p:spPr>
          <a:xfrm>
            <a:off x="3377642" y="3400853"/>
            <a:ext cx="441325" cy="7199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53635" y="846976"/>
            <a:ext cx="6507186" cy="2585323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</a:t>
            </a:r>
            <a:r>
              <a:rPr lang="en-US">
                <a:solidFill>
                  <a:schemeClr val="accent6"/>
                </a:solidFill>
              </a:rPr>
              <a:t>process-A sees the value of lock variable 0 and before it can set it to 1 context switch occurs</a:t>
            </a:r>
            <a:r>
              <a:rPr lang="en-US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Now </a:t>
            </a:r>
            <a:r>
              <a:rPr lang="en-US">
                <a:solidFill>
                  <a:schemeClr val="accent6"/>
                </a:solidFill>
              </a:rPr>
              <a:t>process-B runs and finds value of lock variable 0</a:t>
            </a:r>
            <a:r>
              <a:rPr lang="en-US"/>
              <a:t>, so </a:t>
            </a:r>
            <a:r>
              <a:rPr lang="en-US">
                <a:solidFill>
                  <a:schemeClr val="accent6"/>
                </a:solidFill>
              </a:rPr>
              <a:t>it sets value to 1, enters critical region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At </a:t>
            </a:r>
            <a:r>
              <a:rPr lang="en-US">
                <a:solidFill>
                  <a:schemeClr val="accent6"/>
                </a:solidFill>
              </a:rPr>
              <a:t>some point of time process-A resumes,</a:t>
            </a:r>
            <a:r>
              <a:rPr lang="en-US"/>
              <a:t> </a:t>
            </a:r>
            <a:r>
              <a:rPr lang="en-US">
                <a:solidFill>
                  <a:schemeClr val="accent6"/>
                </a:solidFill>
              </a:rPr>
              <a:t>sets the value of lock variable to 1, enters critical region</a:t>
            </a:r>
            <a:r>
              <a:rPr lang="en-US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Now </a:t>
            </a:r>
            <a:r>
              <a:rPr lang="en-US">
                <a:solidFill>
                  <a:schemeClr val="accent6"/>
                </a:solidFill>
              </a:rPr>
              <a:t>two processes are in their critical regions </a:t>
            </a:r>
            <a:r>
              <a:rPr lang="en-US"/>
              <a:t>accessing the same shared memory, which violates the mutual exclusion condition.</a:t>
            </a:r>
          </a:p>
        </p:txBody>
      </p:sp>
    </p:spTree>
    <p:extLst>
      <p:ext uri="{BB962C8B-B14F-4D97-AF65-F5344CB8AC3E}">
        <p14:creationId xmlns:p14="http://schemas.microsoft.com/office/powerpoint/2010/main" val="23014928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06 3.7037E-07 L 0.23685 -0.00278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36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Strict alteration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(Software approach)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2.3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94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Strict alteration (Software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/>
                </a:solidFill>
              </a:rPr>
              <a:t>Integer </a:t>
            </a:r>
            <a:r>
              <a:rPr lang="en-US" b="1" dirty="0">
                <a:solidFill>
                  <a:schemeClr val="accent6"/>
                </a:solidFill>
              </a:rPr>
              <a:t>variable 'turn' keeps track of whose turn is</a:t>
            </a:r>
            <a:r>
              <a:rPr lang="en-US" dirty="0"/>
              <a:t> to enter the critical section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Initially turn=0</a:t>
            </a:r>
            <a:r>
              <a:rPr lang="en-US" dirty="0"/>
              <a:t>. </a:t>
            </a:r>
            <a:r>
              <a:rPr lang="en-US" b="1" dirty="0">
                <a:solidFill>
                  <a:schemeClr val="accent6"/>
                </a:solidFill>
              </a:rPr>
              <a:t>Process 0 inspects turn</a:t>
            </a:r>
            <a:r>
              <a:rPr lang="en-US" dirty="0"/>
              <a:t>, finds it to be 0, and </a:t>
            </a:r>
            <a:r>
              <a:rPr lang="en-US" b="1" dirty="0">
                <a:solidFill>
                  <a:schemeClr val="accent6"/>
                </a:solidFill>
              </a:rPr>
              <a:t>enters in its critical section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chemeClr val="accent6"/>
                </a:solidFill>
              </a:rPr>
              <a:t>Process 1 also finds it to be 0 and therefore sits in a loop </a:t>
            </a:r>
            <a:r>
              <a:rPr lang="en-US" dirty="0"/>
              <a:t>continually testing 'turn' to see when it becomes 1. </a:t>
            </a:r>
          </a:p>
          <a:p>
            <a:r>
              <a:rPr lang="en-US" dirty="0"/>
              <a:t>Continuously testing a variable waiting for some event to appear is called the </a:t>
            </a:r>
            <a:r>
              <a:rPr lang="en-US" b="1" dirty="0">
                <a:solidFill>
                  <a:schemeClr val="accent6"/>
                </a:solidFill>
              </a:rPr>
              <a:t>busy waiting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When process 0 exits </a:t>
            </a:r>
            <a:r>
              <a:rPr lang="en-US" dirty="0"/>
              <a:t>from critical region it </a:t>
            </a:r>
            <a:r>
              <a:rPr lang="en-US" b="1" dirty="0">
                <a:solidFill>
                  <a:schemeClr val="accent6"/>
                </a:solidFill>
              </a:rPr>
              <a:t>sets turn to 1 </a:t>
            </a:r>
            <a:r>
              <a:rPr lang="en-US" dirty="0"/>
              <a:t>and now </a:t>
            </a:r>
            <a:r>
              <a:rPr lang="en-US" b="1" dirty="0">
                <a:solidFill>
                  <a:schemeClr val="accent6"/>
                </a:solidFill>
              </a:rPr>
              <a:t>process 1 can find it to be 1 and enters in to critical region</a:t>
            </a:r>
            <a:r>
              <a:rPr lang="en-US" dirty="0"/>
              <a:t>.</a:t>
            </a:r>
          </a:p>
          <a:p>
            <a:r>
              <a:rPr lang="en-US" dirty="0"/>
              <a:t>In this way, </a:t>
            </a:r>
            <a:r>
              <a:rPr lang="en-US" b="1" dirty="0">
                <a:solidFill>
                  <a:schemeClr val="accent6"/>
                </a:solidFill>
              </a:rPr>
              <a:t>both the processes get alternate turn </a:t>
            </a:r>
            <a:r>
              <a:rPr lang="en-US" dirty="0"/>
              <a:t>to enter in critical region.</a:t>
            </a:r>
          </a:p>
        </p:txBody>
      </p:sp>
    </p:spTree>
    <p:extLst>
      <p:ext uri="{BB962C8B-B14F-4D97-AF65-F5344CB8AC3E}">
        <p14:creationId xmlns:p14="http://schemas.microsoft.com/office/powerpoint/2010/main" val="38993107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Strict alteration (Software approach)</a:t>
            </a:r>
          </a:p>
        </p:txBody>
      </p:sp>
      <p:cxnSp>
        <p:nvCxnSpPr>
          <p:cNvPr id="42" name="Straight Connector 41"/>
          <p:cNvCxnSpPr/>
          <p:nvPr/>
        </p:nvCxnSpPr>
        <p:spPr>
          <a:xfrm flipV="1">
            <a:off x="1483398" y="5008684"/>
            <a:ext cx="7238824" cy="53567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43" name="Straight Connector 42"/>
          <p:cNvCxnSpPr/>
          <p:nvPr/>
        </p:nvCxnSpPr>
        <p:spPr>
          <a:xfrm>
            <a:off x="1483398" y="5877041"/>
            <a:ext cx="7238824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44" name="Straight Connector 43"/>
          <p:cNvCxnSpPr/>
          <p:nvPr/>
        </p:nvCxnSpPr>
        <p:spPr>
          <a:xfrm flipH="1">
            <a:off x="1828801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45" name="Rectangle 44"/>
          <p:cNvSpPr/>
          <p:nvPr/>
        </p:nvSpPr>
        <p:spPr>
          <a:xfrm>
            <a:off x="1834274" y="4954230"/>
            <a:ext cx="2889847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727297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47" name="Straight Connector 46"/>
          <p:cNvCxnSpPr/>
          <p:nvPr/>
        </p:nvCxnSpPr>
        <p:spPr>
          <a:xfrm flipH="1">
            <a:off x="6476722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48" name="Straight Connector 47"/>
          <p:cNvCxnSpPr/>
          <p:nvPr/>
        </p:nvCxnSpPr>
        <p:spPr>
          <a:xfrm flipH="1">
            <a:off x="3119439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49" name="TextBox 48"/>
          <p:cNvSpPr txBox="1"/>
          <p:nvPr/>
        </p:nvSpPr>
        <p:spPr>
          <a:xfrm>
            <a:off x="1598125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10535" y="609984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1871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51297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8866" y="4835656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866" y="5661731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36983" y="4514673"/>
            <a:ext cx="256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 dirty="0" smtClean="0">
                <a:solidFill>
                  <a:prstClr val="black"/>
                </a:solidFill>
                <a:latin typeface="+mj-lt"/>
              </a:rPr>
              <a:t>p0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enters in critical region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1823936" y="4731859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7" name="TextBox 56"/>
          <p:cNvSpPr txBox="1"/>
          <p:nvPr/>
        </p:nvSpPr>
        <p:spPr>
          <a:xfrm>
            <a:off x="3153057" y="5117540"/>
            <a:ext cx="145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attempt to enter</a:t>
            </a:r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3124138" y="5659891"/>
            <a:ext cx="155059" cy="177857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9" name="TextBox 58"/>
          <p:cNvSpPr txBox="1"/>
          <p:nvPr/>
        </p:nvSpPr>
        <p:spPr>
          <a:xfrm>
            <a:off x="4846078" y="4527751"/>
            <a:ext cx="2392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 dirty="0" smtClean="0">
                <a:solidFill>
                  <a:prstClr val="black"/>
                </a:solidFill>
                <a:latin typeface="+mj-lt"/>
              </a:rPr>
              <a:t>p0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leaves critical region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 flipH="1">
            <a:off x="4733090" y="4791808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61" name="Rectangle 60"/>
          <p:cNvSpPr/>
          <p:nvPr/>
        </p:nvSpPr>
        <p:spPr>
          <a:xfrm>
            <a:off x="4728885" y="5783950"/>
            <a:ext cx="1743632" cy="16331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24154" y="5062251"/>
            <a:ext cx="1443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enters in critical region</a:t>
            </a:r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4724121" y="5556604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64" name="TextBox 63"/>
          <p:cNvSpPr txBox="1"/>
          <p:nvPr/>
        </p:nvSpPr>
        <p:spPr>
          <a:xfrm>
            <a:off x="6548716" y="5079094"/>
            <a:ext cx="1469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leaves critical region</a:t>
            </a:r>
          </a:p>
        </p:txBody>
      </p:sp>
      <p:cxnSp>
        <p:nvCxnSpPr>
          <p:cNvPr id="65" name="Straight Arrow Connector 64"/>
          <p:cNvCxnSpPr/>
          <p:nvPr/>
        </p:nvCxnSpPr>
        <p:spPr>
          <a:xfrm flipH="1">
            <a:off x="6479678" y="5631701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66" name="Right Brace 65"/>
          <p:cNvSpPr/>
          <p:nvPr/>
        </p:nvSpPr>
        <p:spPr>
          <a:xfrm rot="5400000">
            <a:off x="3815834" y="5180646"/>
            <a:ext cx="197045" cy="1589836"/>
          </a:xfrm>
          <a:prstGeom prst="rightBrac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276021" y="6074084"/>
            <a:ext cx="146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Busy Wait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5215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17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243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8516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715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cxnSp>
        <p:nvCxnSpPr>
          <p:cNvPr id="73" name="Straight Connector 72"/>
          <p:cNvCxnSpPr/>
          <p:nvPr/>
        </p:nvCxnSpPr>
        <p:spPr>
          <a:xfrm flipH="1">
            <a:off x="7691716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4" name="TextBox 73"/>
          <p:cNvSpPr txBox="1"/>
          <p:nvPr/>
        </p:nvSpPr>
        <p:spPr>
          <a:xfrm>
            <a:off x="7920316" y="5122012"/>
            <a:ext cx="1183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attempt to enter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7712310" y="5667533"/>
            <a:ext cx="226229" cy="209508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6" name="TextBox 75"/>
          <p:cNvSpPr txBox="1"/>
          <p:nvPr/>
        </p:nvSpPr>
        <p:spPr>
          <a:xfrm>
            <a:off x="7463116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39316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sp>
        <p:nvSpPr>
          <p:cNvPr id="78" name="Right Brace 77"/>
          <p:cNvSpPr/>
          <p:nvPr/>
        </p:nvSpPr>
        <p:spPr>
          <a:xfrm rot="5400000">
            <a:off x="8418801" y="5234526"/>
            <a:ext cx="197045" cy="1589836"/>
          </a:xfrm>
          <a:prstGeom prst="rightBrac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875813" y="612796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 Busy Wait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90094" y="4946588"/>
            <a:ext cx="2240280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19813" y="896582"/>
            <a:ext cx="5760720" cy="2554545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Process 0</a:t>
            </a:r>
          </a:p>
          <a:p>
            <a:r>
              <a:rPr lang="en-US" sz="2000"/>
              <a:t>while (TRUE) 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while (turn != 0) /* loop */ ;</a:t>
            </a:r>
          </a:p>
          <a:p>
            <a:r>
              <a:rPr lang="en-US" sz="2000"/>
              <a:t>	critical_region();</a:t>
            </a:r>
          </a:p>
          <a:p>
            <a:r>
              <a:rPr lang="en-US" sz="2000"/>
              <a:t>	turn = 1;</a:t>
            </a:r>
          </a:p>
          <a:p>
            <a:r>
              <a:rPr lang="en-US" sz="2000"/>
              <a:t>	noncritical_region();</a:t>
            </a:r>
          </a:p>
          <a:p>
            <a:r>
              <a:rPr lang="en-US" sz="2000"/>
              <a:t>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96000" y="896582"/>
            <a:ext cx="5760720" cy="2554545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Process 1</a:t>
            </a:r>
          </a:p>
          <a:p>
            <a:r>
              <a:rPr lang="en-US" sz="2000"/>
              <a:t>while (TRUE) </a:t>
            </a:r>
          </a:p>
          <a:p>
            <a:r>
              <a:rPr lang="en-US" sz="2000"/>
              <a:t>{</a:t>
            </a:r>
          </a:p>
          <a:p>
            <a:r>
              <a:rPr lang="en-US" sz="2000"/>
              <a:t>	while (turn != 1) /* loop */ ;</a:t>
            </a:r>
          </a:p>
          <a:p>
            <a:r>
              <a:rPr lang="en-US" sz="2000"/>
              <a:t>	critical_region();</a:t>
            </a:r>
          </a:p>
          <a:p>
            <a:r>
              <a:rPr lang="en-US" sz="2000"/>
              <a:t>	turn = 0;</a:t>
            </a:r>
          </a:p>
          <a:p>
            <a:r>
              <a:rPr lang="en-US" sz="2000"/>
              <a:t>	noncritical_region();</a:t>
            </a:r>
          </a:p>
          <a:p>
            <a:r>
              <a:rPr lang="en-US" sz="2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6996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7" grpId="0"/>
      <p:bldP spid="59" grpId="0"/>
      <p:bldP spid="61" grpId="0" animBg="1"/>
      <p:bldP spid="62" grpId="0"/>
      <p:bldP spid="64" grpId="0"/>
      <p:bldP spid="66" grpId="0" animBg="1"/>
      <p:bldP spid="67" grpId="0"/>
      <p:bldP spid="68" grpId="0" animBg="1"/>
      <p:bldP spid="69" grpId="0" animBg="1"/>
      <p:bldP spid="70" grpId="0" animBg="1"/>
      <p:bldP spid="71" grpId="0" animBg="1"/>
      <p:bldP spid="72" grpId="0" animBg="1"/>
      <p:bldP spid="74" grpId="0"/>
      <p:bldP spid="76" grpId="0"/>
      <p:bldP spid="77" grpId="0" animBg="1"/>
      <p:bldP spid="78" grpId="0" animBg="1"/>
      <p:bldP spid="79" grpId="0"/>
      <p:bldP spid="80" grpId="0" animBg="1"/>
      <p:bldP spid="81" grpId="0" animBg="1"/>
      <p:bldP spid="8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Disadvantages of Strict alteration (Software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Taking turns is not a good idea when one of the processes is much slower</a:t>
            </a:r>
            <a:r>
              <a:rPr lang="en-US" dirty="0"/>
              <a:t> than the other.</a:t>
            </a:r>
          </a:p>
          <a:p>
            <a:r>
              <a:rPr lang="en-US" dirty="0"/>
              <a:t>Consider the following situation for two processes P0 and P1.</a:t>
            </a:r>
          </a:p>
          <a:p>
            <a:pPr lvl="1"/>
            <a:r>
              <a:rPr lang="en-US" dirty="0"/>
              <a:t>P0 leaves its critical region, set turn to 1, enters non critical region.</a:t>
            </a:r>
          </a:p>
          <a:p>
            <a:pPr lvl="1"/>
            <a:r>
              <a:rPr lang="en-US" dirty="0"/>
              <a:t>P1 enters and finishes its critical region, set turn to 0.</a:t>
            </a:r>
          </a:p>
          <a:p>
            <a:pPr lvl="1"/>
            <a:r>
              <a:rPr lang="en-US" dirty="0"/>
              <a:t>Now both P0 and P1 in non-critical region.</a:t>
            </a:r>
          </a:p>
          <a:p>
            <a:pPr lvl="1"/>
            <a:r>
              <a:rPr lang="en-US" dirty="0"/>
              <a:t>P0 finishes non critical region, enters critical region again, and leaves this region, set turn to 1.</a:t>
            </a:r>
          </a:p>
          <a:p>
            <a:pPr lvl="1"/>
            <a:r>
              <a:rPr lang="en-US" dirty="0"/>
              <a:t>P0 and P1 are now in non-critical region.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483398" y="5008684"/>
            <a:ext cx="7589520" cy="53567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" name="Straight Connector 4"/>
          <p:cNvCxnSpPr/>
          <p:nvPr/>
        </p:nvCxnSpPr>
        <p:spPr>
          <a:xfrm>
            <a:off x="1483398" y="5877041"/>
            <a:ext cx="758952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6" name="Straight Connector 5"/>
          <p:cNvCxnSpPr/>
          <p:nvPr/>
        </p:nvCxnSpPr>
        <p:spPr>
          <a:xfrm flipH="1">
            <a:off x="1828801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" name="Rectangle 6"/>
          <p:cNvSpPr/>
          <p:nvPr/>
        </p:nvSpPr>
        <p:spPr>
          <a:xfrm>
            <a:off x="1834274" y="4954230"/>
            <a:ext cx="2889847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727297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9" name="Straight Connector 8"/>
          <p:cNvCxnSpPr/>
          <p:nvPr/>
        </p:nvCxnSpPr>
        <p:spPr>
          <a:xfrm flipH="1">
            <a:off x="6476722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10" name="Straight Connector 9"/>
          <p:cNvCxnSpPr/>
          <p:nvPr/>
        </p:nvCxnSpPr>
        <p:spPr>
          <a:xfrm flipH="1">
            <a:off x="3119439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1" name="TextBox 10"/>
          <p:cNvSpPr txBox="1"/>
          <p:nvPr/>
        </p:nvSpPr>
        <p:spPr>
          <a:xfrm>
            <a:off x="1598125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7656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71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297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866" y="4835656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866" y="5661731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7840" y="4527752"/>
            <a:ext cx="256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 dirty="0" smtClean="0">
                <a:solidFill>
                  <a:prstClr val="black"/>
                </a:solidFill>
                <a:latin typeface="+mj-lt"/>
              </a:rPr>
              <a:t>p0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enters in critical region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823936" y="4731859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9" name="TextBox 18"/>
          <p:cNvSpPr txBox="1"/>
          <p:nvPr/>
        </p:nvSpPr>
        <p:spPr>
          <a:xfrm>
            <a:off x="3153057" y="5117540"/>
            <a:ext cx="145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attempt to enter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124138" y="5659891"/>
            <a:ext cx="155059" cy="177857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1" name="TextBox 20"/>
          <p:cNvSpPr txBox="1"/>
          <p:nvPr/>
        </p:nvSpPr>
        <p:spPr>
          <a:xfrm>
            <a:off x="4931454" y="4527751"/>
            <a:ext cx="267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 dirty="0" smtClean="0">
                <a:solidFill>
                  <a:prstClr val="black"/>
                </a:solidFill>
                <a:latin typeface="+mj-lt"/>
              </a:rPr>
              <a:t>p0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leaves critical region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4733090" y="4791808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3" name="Rectangle 22"/>
          <p:cNvSpPr/>
          <p:nvPr/>
        </p:nvSpPr>
        <p:spPr>
          <a:xfrm>
            <a:off x="4728885" y="5783950"/>
            <a:ext cx="1743632" cy="16331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24154" y="5062251"/>
            <a:ext cx="1443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enters in critical region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4724121" y="5556604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6" name="TextBox 25"/>
          <p:cNvSpPr txBox="1"/>
          <p:nvPr/>
        </p:nvSpPr>
        <p:spPr>
          <a:xfrm>
            <a:off x="6548716" y="5079094"/>
            <a:ext cx="1469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 dirty="0" smtClean="0">
                <a:solidFill>
                  <a:prstClr val="black"/>
                </a:solidFill>
                <a:latin typeface="+mj-lt"/>
              </a:rPr>
              <a:t>p1 </a:t>
            </a:r>
            <a:r>
              <a:rPr lang="en-US" kern="0" dirty="0">
                <a:solidFill>
                  <a:prstClr val="black"/>
                </a:solidFill>
                <a:latin typeface="+mj-lt"/>
              </a:rPr>
              <a:t>leaves critical region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6479678" y="5631701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8" name="Right Brace 27"/>
          <p:cNvSpPr/>
          <p:nvPr/>
        </p:nvSpPr>
        <p:spPr>
          <a:xfrm rot="5400000">
            <a:off x="3815834" y="5180646"/>
            <a:ext cx="197045" cy="1589836"/>
          </a:xfrm>
          <a:prstGeom prst="rightBrac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76021" y="607408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 Busy Wait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215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7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3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516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5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7691716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38" name="TextBox 37"/>
          <p:cNvSpPr txBox="1"/>
          <p:nvPr/>
        </p:nvSpPr>
        <p:spPr>
          <a:xfrm>
            <a:off x="7463116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9316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8346199" y="4778684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44" name="TextBox 43"/>
          <p:cNvSpPr txBox="1"/>
          <p:nvPr/>
        </p:nvSpPr>
        <p:spPr>
          <a:xfrm>
            <a:off x="8117599" y="608064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T6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H="1">
            <a:off x="8745994" y="4766357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46" name="TextBox 45"/>
          <p:cNvSpPr txBox="1"/>
          <p:nvPr/>
        </p:nvSpPr>
        <p:spPr>
          <a:xfrm>
            <a:off x="8517394" y="60683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547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9769" y="4946588"/>
            <a:ext cx="640080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30910" y="3784040"/>
            <a:ext cx="605394" cy="26670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/>
          <p:cNvSpPr/>
          <p:nvPr/>
        </p:nvSpPr>
        <p:spPr>
          <a:xfrm>
            <a:off x="6191193" y="3784040"/>
            <a:ext cx="605394" cy="26670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/>
          <p:cNvSpPr/>
          <p:nvPr/>
        </p:nvSpPr>
        <p:spPr>
          <a:xfrm>
            <a:off x="8039814" y="3790138"/>
            <a:ext cx="605394" cy="26670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0862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1" grpId="0"/>
      <p:bldP spid="23" grpId="0" animBg="1"/>
      <p:bldP spid="24" grpId="0"/>
      <p:bldP spid="26" grpId="0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8" grpId="0"/>
      <p:bldP spid="39" grpId="0" animBg="1"/>
      <p:bldP spid="44" grpId="0"/>
      <p:bldP spid="46" grpId="0"/>
      <p:bldP spid="47" grpId="0" animBg="1"/>
      <p:bldP spid="42" grpId="0" animBg="1"/>
      <p:bldP spid="48" grpId="0" animBg="1"/>
      <p:bldP spid="49" grpId="0" animBg="1"/>
      <p:bldP spid="5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Disadvantages of Strict alteration (Software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chemeClr val="accent6"/>
                </a:solidFill>
              </a:rPr>
              <a:t>Taking turns is not a good idea when one of the processes is much slower</a:t>
            </a:r>
            <a:r>
              <a:rPr lang="en-US"/>
              <a:t> than the other.</a:t>
            </a:r>
          </a:p>
          <a:p>
            <a:r>
              <a:rPr lang="en-US"/>
              <a:t>Consider the following situation for two processes P0 and P1.</a:t>
            </a:r>
          </a:p>
          <a:p>
            <a:pPr lvl="1"/>
            <a:r>
              <a:rPr lang="en-US"/>
              <a:t>P0 finishes non critical region but cannot enter its critical region because turn = 1 and it is turn of P1 to enter the critical section.</a:t>
            </a:r>
          </a:p>
          <a:p>
            <a:pPr lvl="1"/>
            <a:r>
              <a:rPr lang="en-US"/>
              <a:t>Hence, P0 will be blocked by a process P1 which is not in critical region. This violates one of the conditions of mutual exclusion. </a:t>
            </a:r>
          </a:p>
          <a:p>
            <a:pPr lvl="1"/>
            <a:r>
              <a:rPr lang="en-US"/>
              <a:t>It wastes CPU time, so we should avoid busy waiting as much as we can. 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483398" y="5008684"/>
            <a:ext cx="7589520" cy="53567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" name="Straight Connector 4"/>
          <p:cNvCxnSpPr/>
          <p:nvPr/>
        </p:nvCxnSpPr>
        <p:spPr>
          <a:xfrm>
            <a:off x="1483398" y="5877041"/>
            <a:ext cx="758952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6" name="Straight Connector 5"/>
          <p:cNvCxnSpPr/>
          <p:nvPr/>
        </p:nvCxnSpPr>
        <p:spPr>
          <a:xfrm flipH="1">
            <a:off x="1828801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" name="Rectangle 6"/>
          <p:cNvSpPr/>
          <p:nvPr/>
        </p:nvSpPr>
        <p:spPr>
          <a:xfrm>
            <a:off x="1834274" y="4954230"/>
            <a:ext cx="2889847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727297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9" name="Straight Connector 8"/>
          <p:cNvCxnSpPr/>
          <p:nvPr/>
        </p:nvCxnSpPr>
        <p:spPr>
          <a:xfrm flipH="1">
            <a:off x="6476722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10" name="Straight Connector 9"/>
          <p:cNvCxnSpPr/>
          <p:nvPr/>
        </p:nvCxnSpPr>
        <p:spPr>
          <a:xfrm flipH="1">
            <a:off x="3119439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1" name="TextBox 10"/>
          <p:cNvSpPr txBox="1"/>
          <p:nvPr/>
        </p:nvSpPr>
        <p:spPr>
          <a:xfrm>
            <a:off x="1598125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7656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71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297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866" y="4835656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866" y="5661731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4308" y="4527751"/>
            <a:ext cx="2531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 enters in critical region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823936" y="4731859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9" name="TextBox 18"/>
          <p:cNvSpPr txBox="1"/>
          <p:nvPr/>
        </p:nvSpPr>
        <p:spPr>
          <a:xfrm>
            <a:off x="3153057" y="5117540"/>
            <a:ext cx="145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>
                <a:solidFill>
                  <a:prstClr val="black"/>
                </a:solidFill>
                <a:latin typeface="+mj-lt"/>
              </a:rPr>
              <a:t>1 attempt to enter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124138" y="5659891"/>
            <a:ext cx="155059" cy="177857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1" name="TextBox 20"/>
          <p:cNvSpPr txBox="1"/>
          <p:nvPr/>
        </p:nvSpPr>
        <p:spPr>
          <a:xfrm>
            <a:off x="4931455" y="4527751"/>
            <a:ext cx="2307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 leaves critical region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4733090" y="4791808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3" name="Rectangle 22"/>
          <p:cNvSpPr/>
          <p:nvPr/>
        </p:nvSpPr>
        <p:spPr>
          <a:xfrm>
            <a:off x="4728885" y="5783950"/>
            <a:ext cx="1743632" cy="16331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24154" y="5062251"/>
            <a:ext cx="1443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>
                <a:solidFill>
                  <a:prstClr val="black"/>
                </a:solidFill>
                <a:latin typeface="+mj-lt"/>
              </a:rPr>
              <a:t>1 enters in critical region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4724121" y="5556604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6" name="TextBox 25"/>
          <p:cNvSpPr txBox="1"/>
          <p:nvPr/>
        </p:nvSpPr>
        <p:spPr>
          <a:xfrm>
            <a:off x="6548716" y="5079094"/>
            <a:ext cx="1469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>
                <a:solidFill>
                  <a:prstClr val="black"/>
                </a:solidFill>
                <a:latin typeface="+mj-lt"/>
              </a:rPr>
              <a:t>1 leaves critical region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6479678" y="5631701"/>
            <a:ext cx="181533" cy="216876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8" name="Right Brace 27"/>
          <p:cNvSpPr/>
          <p:nvPr/>
        </p:nvSpPr>
        <p:spPr>
          <a:xfrm rot="5400000">
            <a:off x="3815834" y="5180646"/>
            <a:ext cx="197045" cy="1589836"/>
          </a:xfrm>
          <a:prstGeom prst="rightBrac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76021" y="6074084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 Busy Wait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215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7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3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516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522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7691716" y="4772126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38" name="TextBox 37"/>
          <p:cNvSpPr txBox="1"/>
          <p:nvPr/>
        </p:nvSpPr>
        <p:spPr>
          <a:xfrm>
            <a:off x="7463116" y="607408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39316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0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8346199" y="4778684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44" name="TextBox 43"/>
          <p:cNvSpPr txBox="1"/>
          <p:nvPr/>
        </p:nvSpPr>
        <p:spPr>
          <a:xfrm>
            <a:off x="8117599" y="608064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T6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H="1">
            <a:off x="8745994" y="4766357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46" name="TextBox 45"/>
          <p:cNvSpPr txBox="1"/>
          <p:nvPr/>
        </p:nvSpPr>
        <p:spPr>
          <a:xfrm>
            <a:off x="8517394" y="60683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prstClr val="black"/>
                </a:solidFill>
                <a:latin typeface="+mj-lt"/>
              </a:rPr>
              <a:t>T7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547" y="4185261"/>
            <a:ext cx="342847" cy="369332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99769" y="4946588"/>
            <a:ext cx="640080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30910" y="3784040"/>
            <a:ext cx="605394" cy="26670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/>
          <p:cNvSpPr/>
          <p:nvPr/>
        </p:nvSpPr>
        <p:spPr>
          <a:xfrm>
            <a:off x="6191193" y="3784040"/>
            <a:ext cx="605394" cy="26670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/>
          <p:cNvSpPr/>
          <p:nvPr/>
        </p:nvSpPr>
        <p:spPr>
          <a:xfrm>
            <a:off x="8039814" y="3790138"/>
            <a:ext cx="605394" cy="26670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8760513" y="4272465"/>
            <a:ext cx="1452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0">
                <a:solidFill>
                  <a:prstClr val="black"/>
                </a:solidFill>
                <a:latin typeface="+mj-lt"/>
              </a:rPr>
              <a:t>0 attempt to enter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8731594" y="4814816"/>
            <a:ext cx="155059" cy="177857"/>
          </a:xfrm>
          <a:prstGeom prst="straightConnector1">
            <a:avLst/>
          </a:prstGeom>
          <a:noFill/>
          <a:ln w="38100" cap="flat" cmpd="sng" algn="ctr">
            <a:solidFill>
              <a:srgbClr val="8064A2"/>
            </a:solidFill>
            <a:prstDash val="soli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3" name="TextBox 52"/>
          <p:cNvSpPr txBox="1"/>
          <p:nvPr/>
        </p:nvSpPr>
        <p:spPr>
          <a:xfrm>
            <a:off x="8883477" y="5229009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1 Busy Wait</a:t>
            </a:r>
          </a:p>
        </p:txBody>
      </p:sp>
      <p:sp>
        <p:nvSpPr>
          <p:cNvPr id="54" name="Right Brace 53"/>
          <p:cNvSpPr/>
          <p:nvPr/>
        </p:nvSpPr>
        <p:spPr>
          <a:xfrm rot="5400000">
            <a:off x="9453968" y="4304056"/>
            <a:ext cx="197045" cy="1589836"/>
          </a:xfrm>
          <a:prstGeom prst="rightBrace">
            <a:avLst/>
          </a:prstGeom>
          <a:noFill/>
          <a:ln w="25400" cap="flat" cmpd="sng" algn="ctr">
            <a:solidFill>
              <a:srgbClr val="4F81BD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7184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3" grpId="0"/>
      <p:bldP spid="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TSL (Test and Set Lock) instruction (Hardware approach)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2.4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585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TSL (Test and Set Lock) instruction (Hardware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Algorithm</a:t>
            </a:r>
          </a:p>
          <a:p>
            <a:pPr marL="0" indent="0">
              <a:buNone/>
            </a:pPr>
            <a:r>
              <a:rPr lang="en-US"/>
              <a:t>	enter_region:      </a:t>
            </a:r>
            <a:r>
              <a:rPr lang="en-US">
                <a:solidFill>
                  <a:schemeClr val="accent6"/>
                </a:solidFill>
              </a:rPr>
              <a:t>(Before entering its critical region, </a:t>
            </a:r>
            <a:r>
              <a:rPr lang="en-US">
                <a:solidFill>
                  <a:schemeClr val="tx2"/>
                </a:solidFill>
              </a:rPr>
              <a:t>process calls enter_region</a:t>
            </a:r>
            <a:r>
              <a:rPr lang="en-US">
                <a:solidFill>
                  <a:schemeClr val="accent6"/>
                </a:solidFill>
              </a:rPr>
              <a:t>)</a:t>
            </a:r>
          </a:p>
          <a:p>
            <a:pPr marL="876300" lvl="2" indent="1579563">
              <a:buNone/>
            </a:pPr>
            <a:r>
              <a:rPr lang="en-US"/>
              <a:t>TSL REGISTER, LOCK	|copy lock variable to register set lock to 1</a:t>
            </a:r>
          </a:p>
          <a:p>
            <a:pPr marL="876300" lvl="2" indent="1579563">
              <a:buNone/>
            </a:pPr>
            <a:r>
              <a:rPr lang="en-US"/>
              <a:t>CMP REGISTER, #0	|was register variable 0?</a:t>
            </a:r>
          </a:p>
          <a:p>
            <a:pPr marL="876300" lvl="2" indent="1579563">
              <a:buNone/>
            </a:pPr>
            <a:r>
              <a:rPr lang="en-US"/>
              <a:t>JNE </a:t>
            </a:r>
            <a:r>
              <a:rPr lang="en-US" err="1"/>
              <a:t>enter_region	|if it was nonzero, lock was set, so loop</a:t>
            </a:r>
          </a:p>
          <a:p>
            <a:pPr marL="876300" lvl="2" indent="1579563">
              <a:buNone/>
            </a:pPr>
            <a:r>
              <a:rPr lang="en-US"/>
              <a:t>RET		|return to caller: critical region entered</a:t>
            </a:r>
          </a:p>
          <a:p>
            <a:pPr marL="0" indent="0">
              <a:buNone/>
            </a:pPr>
            <a:r>
              <a:rPr lang="en-US"/>
              <a:t>	leave_region:      </a:t>
            </a:r>
            <a:r>
              <a:rPr lang="en-US">
                <a:solidFill>
                  <a:schemeClr val="accent6"/>
                </a:solidFill>
              </a:rPr>
              <a:t>(When process wants to leave critical region, </a:t>
            </a:r>
            <a:r>
              <a:rPr lang="en-US">
                <a:solidFill>
                  <a:schemeClr val="tx2"/>
                </a:solidFill>
              </a:rPr>
              <a:t>process calls </a:t>
            </a:r>
            <a:r>
              <a:rPr lang="en-US" err="1">
                <a:solidFill>
                  <a:schemeClr val="tx2"/>
                </a:solidFill>
              </a:rPr>
              <a:t>leave_region</a:t>
            </a:r>
            <a:r>
              <a:rPr lang="en-US">
                <a:solidFill>
                  <a:schemeClr val="accent6"/>
                </a:solidFill>
              </a:rPr>
              <a:t>)</a:t>
            </a:r>
          </a:p>
          <a:p>
            <a:pPr marL="876300" lvl="2" indent="1579563">
              <a:buNone/>
            </a:pPr>
            <a:r>
              <a:rPr lang="en-US"/>
              <a:t>MOVE LOCK, #0	|store 0 in lock variable</a:t>
            </a:r>
          </a:p>
          <a:p>
            <a:pPr marL="876300" lvl="2" indent="1579563">
              <a:buNone/>
            </a:pPr>
            <a:r>
              <a:rPr lang="en-US"/>
              <a:t>RET		|return to caller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483398" y="5102813"/>
            <a:ext cx="7589520" cy="53567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" name="Straight Connector 4"/>
          <p:cNvCxnSpPr/>
          <p:nvPr/>
        </p:nvCxnSpPr>
        <p:spPr>
          <a:xfrm>
            <a:off x="1483398" y="5971170"/>
            <a:ext cx="758952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6" name="Straight Connector 5"/>
          <p:cNvCxnSpPr/>
          <p:nvPr/>
        </p:nvCxnSpPr>
        <p:spPr>
          <a:xfrm flipH="1">
            <a:off x="1828801" y="4866255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" name="Rectangle 6"/>
          <p:cNvSpPr/>
          <p:nvPr/>
        </p:nvSpPr>
        <p:spPr>
          <a:xfrm>
            <a:off x="1834274" y="5048359"/>
            <a:ext cx="2889847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727297" y="4866255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9" name="Straight Connector 8"/>
          <p:cNvCxnSpPr/>
          <p:nvPr/>
        </p:nvCxnSpPr>
        <p:spPr>
          <a:xfrm flipH="1">
            <a:off x="6476722" y="4866255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1" name="TextBox 10"/>
          <p:cNvSpPr txBox="1"/>
          <p:nvPr/>
        </p:nvSpPr>
        <p:spPr>
          <a:xfrm>
            <a:off x="1598125" y="616821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71" y="616821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297" y="616821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866" y="4929785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866" y="5755860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8885" y="5878079"/>
            <a:ext cx="1743632" cy="16331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832540" y="4341798"/>
            <a:ext cx="1594759" cy="376762"/>
            <a:chOff x="3048000" y="4728638"/>
            <a:chExt cx="1594759" cy="376762"/>
          </a:xfrm>
        </p:grpSpPr>
        <p:sp>
          <p:nvSpPr>
            <p:cNvPr id="59" name="Rectangle 58"/>
            <p:cNvSpPr/>
            <p:nvPr/>
          </p:nvSpPr>
          <p:spPr>
            <a:xfrm>
              <a:off x="3048000" y="4728650"/>
              <a:ext cx="990600" cy="376750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Register</a:t>
              </a:r>
              <a:endParaRPr lang="en-IN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033159" y="4728638"/>
              <a:ext cx="609600" cy="376750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1" name="Rectangle 60"/>
          <p:cNvSpPr/>
          <p:nvPr/>
        </p:nvSpPr>
        <p:spPr>
          <a:xfrm>
            <a:off x="1817699" y="4341810"/>
            <a:ext cx="609599" cy="37675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  <a:endParaRPr lang="en-IN"/>
          </a:p>
        </p:txBody>
      </p:sp>
      <p:sp>
        <p:nvSpPr>
          <p:cNvPr id="62" name="Oval 61"/>
          <p:cNvSpPr/>
          <p:nvPr/>
        </p:nvSpPr>
        <p:spPr>
          <a:xfrm>
            <a:off x="1759475" y="4881594"/>
            <a:ext cx="150330" cy="46932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4655306" y="4888644"/>
            <a:ext cx="150330" cy="46932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endCxn id="60" idx="3"/>
          </p:cNvCxnSpPr>
          <p:nvPr/>
        </p:nvCxnSpPr>
        <p:spPr>
          <a:xfrm flipH="1">
            <a:off x="2427299" y="4525846"/>
            <a:ext cx="543833" cy="432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7" name="Picture 6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6" t="5503" r="20336"/>
          <a:stretch>
            <a:fillRect/>
          </a:stretch>
        </p:blipFill>
        <p:spPr>
          <a:xfrm>
            <a:off x="2962770" y="4018234"/>
            <a:ext cx="452045" cy="72000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7" t="3877" r="20465" b="3518"/>
          <a:stretch>
            <a:fillRect/>
          </a:stretch>
        </p:blipFill>
        <p:spPr>
          <a:xfrm>
            <a:off x="2971132" y="3995594"/>
            <a:ext cx="441325" cy="71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25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TSL (Test and Set Lock) instruction (Hardware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Test and Set Lock Instruction</a:t>
            </a:r>
          </a:p>
          <a:p>
            <a:pPr lvl="1"/>
            <a:r>
              <a:rPr lang="en-US"/>
              <a:t>TSL REGISTER, LOCK</a:t>
            </a:r>
          </a:p>
          <a:p>
            <a:pPr lvl="1"/>
            <a:r>
              <a:rPr lang="en-US"/>
              <a:t>It </a:t>
            </a:r>
            <a:r>
              <a:rPr lang="en-US">
                <a:solidFill>
                  <a:schemeClr val="accent6"/>
                </a:solidFill>
              </a:rPr>
              <a:t>reads the contents of the memory word lock into register RX </a:t>
            </a:r>
            <a:r>
              <a:rPr lang="en-US"/>
              <a:t>and then </a:t>
            </a:r>
            <a:r>
              <a:rPr lang="en-US">
                <a:solidFill>
                  <a:schemeClr val="accent6"/>
                </a:solidFill>
              </a:rPr>
              <a:t>stores a nonzero value at the memory address lock</a:t>
            </a:r>
            <a:r>
              <a:rPr lang="en-US"/>
              <a:t>.</a:t>
            </a:r>
          </a:p>
          <a:p>
            <a:pPr lvl="1"/>
            <a:r>
              <a:rPr lang="en-US"/>
              <a:t>The </a:t>
            </a:r>
            <a:r>
              <a:rPr lang="en-US">
                <a:solidFill>
                  <a:schemeClr val="accent6"/>
                </a:solidFill>
              </a:rPr>
              <a:t>operations of reading the word and storing into it are guaranteed to be indivisible</a:t>
            </a:r>
            <a:r>
              <a:rPr lang="en-US"/>
              <a:t>—no other processor can access the memory word until the instruction is finished. </a:t>
            </a:r>
          </a:p>
          <a:p>
            <a:pPr lvl="1"/>
            <a:r>
              <a:rPr lang="en-US"/>
              <a:t>The CPU executing the TSL instruction locks the memory bus to prohibit other CPUs from accessing memory until it is done.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483398" y="5102813"/>
            <a:ext cx="7589520" cy="53567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" name="Straight Connector 4"/>
          <p:cNvCxnSpPr/>
          <p:nvPr/>
        </p:nvCxnSpPr>
        <p:spPr>
          <a:xfrm>
            <a:off x="1483398" y="5971170"/>
            <a:ext cx="7589520" cy="0"/>
          </a:xfrm>
          <a:prstGeom prst="line">
            <a:avLst/>
          </a:prstGeom>
          <a:noFill/>
          <a:ln w="38100" cap="flat" cmpd="sng" algn="ctr">
            <a:solidFill>
              <a:srgbClr val="C0504D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6" name="Straight Connector 5"/>
          <p:cNvCxnSpPr/>
          <p:nvPr/>
        </p:nvCxnSpPr>
        <p:spPr>
          <a:xfrm flipH="1">
            <a:off x="1828801" y="4866255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7" name="Rectangle 6"/>
          <p:cNvSpPr/>
          <p:nvPr/>
        </p:nvSpPr>
        <p:spPr>
          <a:xfrm>
            <a:off x="1834274" y="5048359"/>
            <a:ext cx="2889847" cy="135796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4727297" y="4866255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9" name="Straight Connector 8"/>
          <p:cNvCxnSpPr/>
          <p:nvPr/>
        </p:nvCxnSpPr>
        <p:spPr>
          <a:xfrm flipH="1">
            <a:off x="6476722" y="4866255"/>
            <a:ext cx="0" cy="1295400"/>
          </a:xfrm>
          <a:prstGeom prst="line">
            <a:avLst/>
          </a:prstGeom>
          <a:noFill/>
          <a:ln w="19050" cap="flat" cmpd="sng" algn="ctr">
            <a:solidFill>
              <a:srgbClr val="C0504D"/>
            </a:solidFill>
            <a:prstDash val="sys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1" name="TextBox 10"/>
          <p:cNvSpPr txBox="1"/>
          <p:nvPr/>
        </p:nvSpPr>
        <p:spPr>
          <a:xfrm>
            <a:off x="1598125" y="616821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71" y="616821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297" y="616821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T3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866" y="4929785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866" y="5755860"/>
            <a:ext cx="1104900" cy="377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kern="0">
                <a:solidFill>
                  <a:prstClr val="black"/>
                </a:solidFill>
                <a:latin typeface="+mj-lt"/>
              </a:rPr>
              <a:t>Process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28885" y="5878079"/>
            <a:ext cx="1743632" cy="163317"/>
          </a:xfrm>
          <a:prstGeom prst="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832540" y="4341798"/>
            <a:ext cx="1594759" cy="376762"/>
            <a:chOff x="3048000" y="4728638"/>
            <a:chExt cx="1594759" cy="376762"/>
          </a:xfrm>
        </p:grpSpPr>
        <p:sp>
          <p:nvSpPr>
            <p:cNvPr id="59" name="Rectangle 58"/>
            <p:cNvSpPr/>
            <p:nvPr/>
          </p:nvSpPr>
          <p:spPr>
            <a:xfrm>
              <a:off x="3048000" y="4728650"/>
              <a:ext cx="990600" cy="376750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Register</a:t>
              </a:r>
              <a:endParaRPr lang="en-IN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033159" y="4728638"/>
              <a:ext cx="609600" cy="376750"/>
            </a:xfrm>
            <a:prstGeom prst="rect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1" name="Rectangle 60"/>
          <p:cNvSpPr/>
          <p:nvPr/>
        </p:nvSpPr>
        <p:spPr>
          <a:xfrm>
            <a:off x="1817699" y="4341810"/>
            <a:ext cx="609599" cy="37675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  <a:endParaRPr lang="en-IN"/>
          </a:p>
        </p:txBody>
      </p:sp>
      <p:sp>
        <p:nvSpPr>
          <p:cNvPr id="62" name="Oval 61"/>
          <p:cNvSpPr/>
          <p:nvPr/>
        </p:nvSpPr>
        <p:spPr>
          <a:xfrm>
            <a:off x="1759475" y="4881594"/>
            <a:ext cx="150330" cy="46932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4655306" y="4888644"/>
            <a:ext cx="150330" cy="469325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endCxn id="60" idx="3"/>
          </p:cNvCxnSpPr>
          <p:nvPr/>
        </p:nvCxnSpPr>
        <p:spPr>
          <a:xfrm flipH="1">
            <a:off x="2427299" y="4525846"/>
            <a:ext cx="543833" cy="4327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67" name="Picture 6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6" t="5503" r="20336"/>
          <a:stretch>
            <a:fillRect/>
          </a:stretch>
        </p:blipFill>
        <p:spPr>
          <a:xfrm>
            <a:off x="2962770" y="4018234"/>
            <a:ext cx="452045" cy="72000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7" t="3877" r="20465" b="3518"/>
          <a:stretch>
            <a:fillRect/>
          </a:stretch>
        </p:blipFill>
        <p:spPr>
          <a:xfrm>
            <a:off x="2971132" y="3995594"/>
            <a:ext cx="441325" cy="71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219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Exchange instruction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(Hardware approach)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2.5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707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Exchange instruction (Hardware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Algorithm</a:t>
            </a:r>
          </a:p>
          <a:p>
            <a:pPr marL="0" indent="0">
              <a:buNone/>
            </a:pPr>
            <a:r>
              <a:rPr lang="en-US"/>
              <a:t>	enter_region:      </a:t>
            </a:r>
            <a:r>
              <a:rPr lang="en-US">
                <a:solidFill>
                  <a:schemeClr val="accent6"/>
                </a:solidFill>
              </a:rPr>
              <a:t>(Before entering its critical region, </a:t>
            </a:r>
            <a:r>
              <a:rPr lang="en-US">
                <a:solidFill>
                  <a:schemeClr val="tx2"/>
                </a:solidFill>
              </a:rPr>
              <a:t>process calls enter_region</a:t>
            </a:r>
            <a:r>
              <a:rPr lang="en-US">
                <a:solidFill>
                  <a:schemeClr val="accent6"/>
                </a:solidFill>
              </a:rPr>
              <a:t>)</a:t>
            </a:r>
          </a:p>
          <a:p>
            <a:pPr marL="876300" lvl="2" indent="1579563">
              <a:buNone/>
            </a:pPr>
            <a:r>
              <a:rPr lang="en-US"/>
              <a:t>MOVE REGISTER, #1	|put 1 in the register</a:t>
            </a:r>
          </a:p>
          <a:p>
            <a:pPr marL="876300" lvl="2" indent="1579563">
              <a:buNone/>
            </a:pPr>
            <a:r>
              <a:rPr lang="en-US"/>
              <a:t>XCHG REGISTER ,LOCK	|swap content of register &amp; lock variable</a:t>
            </a:r>
          </a:p>
          <a:p>
            <a:pPr marL="876300" lvl="2" indent="1579563">
              <a:buNone/>
            </a:pPr>
            <a:r>
              <a:rPr lang="en-US"/>
              <a:t>CMP REGISTER, #0	|was register variable 0?</a:t>
            </a:r>
          </a:p>
          <a:p>
            <a:pPr marL="876300" lvl="2" indent="1579563">
              <a:buNone/>
            </a:pPr>
            <a:r>
              <a:rPr lang="en-US"/>
              <a:t>JNE </a:t>
            </a:r>
            <a:r>
              <a:rPr lang="en-US" err="1"/>
              <a:t>enter_region	|if it was nonzero, lock was set, so loop</a:t>
            </a:r>
          </a:p>
          <a:p>
            <a:pPr marL="876300" lvl="2" indent="1579563">
              <a:buNone/>
            </a:pPr>
            <a:r>
              <a:rPr lang="en-US"/>
              <a:t>RET		|return to caller: critical region entered</a:t>
            </a:r>
          </a:p>
          <a:p>
            <a:pPr marL="0" indent="0">
              <a:buNone/>
            </a:pPr>
            <a:r>
              <a:rPr lang="en-US"/>
              <a:t>	leave_region:      </a:t>
            </a:r>
            <a:r>
              <a:rPr lang="en-US">
                <a:solidFill>
                  <a:schemeClr val="accent6"/>
                </a:solidFill>
              </a:rPr>
              <a:t>(When process wants to leave critical region, </a:t>
            </a:r>
            <a:r>
              <a:rPr lang="en-US">
                <a:solidFill>
                  <a:schemeClr val="tx2"/>
                </a:solidFill>
              </a:rPr>
              <a:t>process calls </a:t>
            </a:r>
            <a:r>
              <a:rPr lang="en-US" err="1">
                <a:solidFill>
                  <a:schemeClr val="tx2"/>
                </a:solidFill>
              </a:rPr>
              <a:t>leave_region</a:t>
            </a:r>
            <a:r>
              <a:rPr lang="en-US">
                <a:solidFill>
                  <a:schemeClr val="accent6"/>
                </a:solidFill>
              </a:rPr>
              <a:t>)</a:t>
            </a:r>
          </a:p>
          <a:p>
            <a:pPr marL="876300" lvl="2" indent="1579563">
              <a:buNone/>
            </a:pPr>
            <a:r>
              <a:rPr lang="en-US"/>
              <a:t>MOVE LOCK, #0	|store 0 in lock variable 	</a:t>
            </a:r>
          </a:p>
          <a:p>
            <a:pPr marL="876300" lvl="2" indent="1579563">
              <a:buNone/>
            </a:pPr>
            <a:r>
              <a:rPr lang="en-US"/>
              <a:t>RET		|return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10526441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Dekker’s solution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(Software approach)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2.6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795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Dekker’s solution (Software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Algorithm</a:t>
            </a:r>
          </a:p>
          <a:p>
            <a:pPr marL="0" indent="0">
              <a:buNone/>
            </a:pPr>
            <a:r>
              <a:rPr lang="en-US"/>
              <a:t>	variables</a:t>
            </a:r>
          </a:p>
          <a:p>
            <a:pPr marL="0" indent="0">
              <a:buNone/>
              <a:tabLst>
                <a:tab pos="685800" algn="l"/>
                <a:tab pos="914400" algn="l"/>
                <a:tab pos="2057400" algn="l"/>
              </a:tabLst>
            </a:pPr>
            <a:r>
              <a:rPr lang="en-US"/>
              <a:t>        			wants_to_enter [2]	</a:t>
            </a:r>
            <a:r>
              <a:rPr lang="en-US">
                <a:solidFill>
                  <a:schemeClr val="tx2"/>
                </a:solidFill>
              </a:rPr>
              <a:t>//array of 2 booleans   </a:t>
            </a:r>
          </a:p>
          <a:p>
            <a:pPr marL="0" indent="0">
              <a:buNone/>
            </a:pPr>
            <a:r>
              <a:rPr lang="en-US"/>
              <a:t>       		    turn			</a:t>
            </a:r>
            <a:r>
              <a:rPr lang="en-US">
                <a:solidFill>
                  <a:schemeClr val="tx2"/>
                </a:solidFill>
              </a:rPr>
              <a:t>//integer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	   wants_to_enter[0] ← false</a:t>
            </a:r>
          </a:p>
          <a:p>
            <a:pPr marL="0" indent="0">
              <a:buNone/>
            </a:pPr>
            <a:r>
              <a:rPr lang="en-US"/>
              <a:t>		   wants_to_enter[1] ← false</a:t>
            </a:r>
          </a:p>
          <a:p>
            <a:pPr marL="0" indent="0">
              <a:buNone/>
            </a:pPr>
            <a:r>
              <a:rPr lang="en-US"/>
              <a:t>		   turn ← 0   		</a:t>
            </a:r>
            <a:r>
              <a:rPr lang="en-US">
                <a:solidFill>
                  <a:schemeClr val="tx2"/>
                </a:solidFill>
              </a:rPr>
              <a:t>// or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092389"/>
              </p:ext>
            </p:extLst>
          </p:nvPr>
        </p:nvGraphicFramePr>
        <p:xfrm>
          <a:off x="7673788" y="1828800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92836" y="151084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P0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148133" y="151084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957633" y="2198010"/>
            <a:ext cx="381000" cy="369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IN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560060"/>
              </p:ext>
            </p:extLst>
          </p:nvPr>
        </p:nvGraphicFramePr>
        <p:xfrm>
          <a:off x="7673788" y="3530650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92840" y="321269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P0</a:t>
            </a:r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148137" y="321269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7957637" y="3890334"/>
            <a:ext cx="381000" cy="369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0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34169435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/>
      <p:bldP spid="10" grpId="0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Dekker’s solution (Software approach)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6025" y="896582"/>
            <a:ext cx="4572000" cy="470898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Process 0</a:t>
            </a:r>
          </a:p>
          <a:p>
            <a:r>
              <a:rPr lang="en-US" sz="2000" err="1"/>
              <a:t>wants_to_enter[0] ← true</a:t>
            </a:r>
          </a:p>
          <a:p>
            <a:r>
              <a:rPr lang="en-US" sz="2000"/>
              <a:t>   while (wants_to_enter[1]) </a:t>
            </a:r>
          </a:p>
          <a:p>
            <a:r>
              <a:rPr lang="en-US" sz="2000"/>
              <a:t>      {if (turn == 1)</a:t>
            </a:r>
          </a:p>
          <a:p>
            <a:r>
              <a:rPr lang="en-US" sz="2000"/>
              <a:t>         {wants_to_enter[0] ← false</a:t>
            </a:r>
          </a:p>
          <a:p>
            <a:r>
              <a:rPr lang="en-US" sz="2000"/>
              <a:t>         		while (turn == 1)</a:t>
            </a:r>
          </a:p>
          <a:p>
            <a:r>
              <a:rPr lang="en-US" sz="2000"/>
              <a:t>          	{// busy wait}</a:t>
            </a:r>
          </a:p>
          <a:p>
            <a:r>
              <a:rPr lang="en-US" sz="2000"/>
              <a:t>         wants_to_enter[0] ← true</a:t>
            </a:r>
          </a:p>
          <a:p>
            <a:r>
              <a:rPr lang="en-US" sz="2000"/>
              <a:t>         } </a:t>
            </a:r>
          </a:p>
          <a:p>
            <a:r>
              <a:rPr lang="en-US" sz="2000"/>
              <a:t>      }</a:t>
            </a:r>
          </a:p>
          <a:p>
            <a:r>
              <a:rPr lang="en-US" sz="2000"/>
              <a:t>   // critical section</a:t>
            </a:r>
          </a:p>
          <a:p>
            <a:r>
              <a:rPr lang="en-US" sz="2000"/>
              <a:t>   ...</a:t>
            </a:r>
          </a:p>
          <a:p>
            <a:r>
              <a:rPr lang="en-US" sz="2000"/>
              <a:t>   turn ← 1</a:t>
            </a:r>
          </a:p>
          <a:p>
            <a:r>
              <a:rPr lang="en-US" sz="2000"/>
              <a:t>   wants_to_enter[0] ← false</a:t>
            </a:r>
          </a:p>
          <a:p>
            <a:r>
              <a:rPr lang="en-US" sz="2000"/>
              <a:t>   // remainder section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46571" y="896582"/>
            <a:ext cx="4572000" cy="470898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Process 1</a:t>
            </a:r>
          </a:p>
          <a:p>
            <a:r>
              <a:rPr lang="en-US" sz="2000"/>
              <a:t> wants_to_enter[1] ← true</a:t>
            </a:r>
          </a:p>
          <a:p>
            <a:r>
              <a:rPr lang="en-US" sz="2000"/>
              <a:t>   while (wants_to_enter[0]) </a:t>
            </a:r>
          </a:p>
          <a:p>
            <a:r>
              <a:rPr lang="en-US" sz="2000"/>
              <a:t>      {if (turn == 0)</a:t>
            </a:r>
          </a:p>
          <a:p>
            <a:r>
              <a:rPr lang="en-US" sz="2000"/>
              <a:t>         {wants_to_enter[1] ← false</a:t>
            </a:r>
          </a:p>
          <a:p>
            <a:r>
              <a:rPr lang="en-US" sz="2000"/>
              <a:t>         		while (turn == 0)</a:t>
            </a:r>
          </a:p>
          <a:p>
            <a:r>
              <a:rPr lang="en-US" sz="2000"/>
              <a:t>          	{// busy wait}</a:t>
            </a:r>
          </a:p>
          <a:p>
            <a:r>
              <a:rPr lang="en-US" sz="2000"/>
              <a:t>         wants_to_enter[1] ← true</a:t>
            </a:r>
          </a:p>
          <a:p>
            <a:r>
              <a:rPr lang="en-US" sz="2000"/>
              <a:t>         } </a:t>
            </a:r>
          </a:p>
          <a:p>
            <a:r>
              <a:rPr lang="en-US" sz="2000"/>
              <a:t>      }</a:t>
            </a:r>
          </a:p>
          <a:p>
            <a:r>
              <a:rPr lang="en-US" sz="2000"/>
              <a:t>   // critical section</a:t>
            </a:r>
          </a:p>
          <a:p>
            <a:r>
              <a:rPr lang="en-US" sz="2000"/>
              <a:t>   ...</a:t>
            </a:r>
          </a:p>
          <a:p>
            <a:r>
              <a:rPr lang="en-US" sz="2000"/>
              <a:t>   turn ← 0</a:t>
            </a:r>
          </a:p>
          <a:p>
            <a:r>
              <a:rPr lang="en-US" sz="2000"/>
              <a:t>   wants_to_enter[1] ← false</a:t>
            </a:r>
          </a:p>
          <a:p>
            <a:r>
              <a:rPr lang="en-US" sz="2000"/>
              <a:t>   // remainder section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38025" y="896582"/>
            <a:ext cx="2508546" cy="4709160"/>
          </a:xfrm>
          <a:prstGeom prst="rect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endParaRPr lang="en-US" sz="200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18405"/>
              </p:ext>
            </p:extLst>
          </p:nvPr>
        </p:nvGraphicFramePr>
        <p:xfrm>
          <a:off x="5632118" y="1216740"/>
          <a:ext cx="94911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5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45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51299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51874" y="896582"/>
            <a:ext cx="4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P0</a:t>
            </a:r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107171" y="896582"/>
            <a:ext cx="4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23341"/>
              </p:ext>
            </p:extLst>
          </p:nvPr>
        </p:nvGraphicFramePr>
        <p:xfrm>
          <a:off x="5632118" y="1216740"/>
          <a:ext cx="94911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5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45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5129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>
            <a:endCxn id="11" idx="3"/>
          </p:cNvCxnSpPr>
          <p:nvPr/>
        </p:nvCxnSpPr>
        <p:spPr>
          <a:xfrm flipV="1">
            <a:off x="3100113" y="1399620"/>
            <a:ext cx="3481115" cy="273549"/>
          </a:xfrm>
          <a:prstGeom prst="bentConnector3">
            <a:avLst>
              <a:gd name="adj1" fmla="val 106567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5400000">
            <a:off x="-758293" y="2864269"/>
            <a:ext cx="2377440" cy="1"/>
          </a:xfrm>
          <a:prstGeom prst="curvedConnector3">
            <a:avLst>
              <a:gd name="adj1" fmla="val 54402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054938"/>
              </p:ext>
            </p:extLst>
          </p:nvPr>
        </p:nvGraphicFramePr>
        <p:xfrm>
          <a:off x="5622392" y="5039804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41444" y="472184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P0</a:t>
            </a:r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6096741" y="472184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  <a:endParaRPr lang="en-IN"/>
          </a:p>
        </p:txBody>
      </p:sp>
      <p:sp>
        <p:nvSpPr>
          <p:cNvPr id="19" name="TextBox 18"/>
          <p:cNvSpPr txBox="1"/>
          <p:nvPr/>
        </p:nvSpPr>
        <p:spPr>
          <a:xfrm>
            <a:off x="5903973" y="4352514"/>
            <a:ext cx="381000" cy="369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1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14820010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000" fill="hold"/>
                                        <p:tgtEl>
                                          <p:spTgt spid="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2000" fill="hold"/>
                                        <p:tgtEl>
                                          <p:spTgt spid="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7" grpId="0"/>
      <p:bldP spid="18" grpId="0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Dekker’s solution (Software approach)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6025" y="896582"/>
            <a:ext cx="4572000" cy="470898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Process 0</a:t>
            </a:r>
          </a:p>
          <a:p>
            <a:r>
              <a:rPr lang="en-US" sz="2000" err="1"/>
              <a:t>wants_to_enter[0] ← true</a:t>
            </a:r>
          </a:p>
          <a:p>
            <a:r>
              <a:rPr lang="en-US" sz="2000"/>
              <a:t>   while (wants_to_enter[1]) </a:t>
            </a:r>
          </a:p>
          <a:p>
            <a:r>
              <a:rPr lang="en-US" sz="2000"/>
              <a:t>      {if (turn == 1)</a:t>
            </a:r>
          </a:p>
          <a:p>
            <a:r>
              <a:rPr lang="en-US" sz="2000"/>
              <a:t>         {wants_to_enter[0] ← false</a:t>
            </a:r>
          </a:p>
          <a:p>
            <a:r>
              <a:rPr lang="en-US" sz="2000"/>
              <a:t>         		while (turn == 1)</a:t>
            </a:r>
          </a:p>
          <a:p>
            <a:r>
              <a:rPr lang="en-US" sz="2000"/>
              <a:t>          	{// busy wait}</a:t>
            </a:r>
          </a:p>
          <a:p>
            <a:r>
              <a:rPr lang="en-US" sz="2000"/>
              <a:t>         wants_to_enter[0] ← true</a:t>
            </a:r>
          </a:p>
          <a:p>
            <a:r>
              <a:rPr lang="en-US" sz="2000"/>
              <a:t>         } </a:t>
            </a:r>
          </a:p>
          <a:p>
            <a:r>
              <a:rPr lang="en-US" sz="2000"/>
              <a:t>      }</a:t>
            </a:r>
          </a:p>
          <a:p>
            <a:r>
              <a:rPr lang="en-US" sz="2000"/>
              <a:t>   // critical section</a:t>
            </a:r>
          </a:p>
          <a:p>
            <a:r>
              <a:rPr lang="en-US" sz="2000"/>
              <a:t>   ...</a:t>
            </a:r>
          </a:p>
          <a:p>
            <a:r>
              <a:rPr lang="en-US" sz="2000"/>
              <a:t>   turn ← 1</a:t>
            </a:r>
          </a:p>
          <a:p>
            <a:r>
              <a:rPr lang="en-US" sz="2000"/>
              <a:t>   wants_to_enter[0] ← false</a:t>
            </a:r>
          </a:p>
          <a:p>
            <a:r>
              <a:rPr lang="en-US" sz="2000"/>
              <a:t>   // remainder section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46571" y="896582"/>
            <a:ext cx="4572000" cy="4708981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accent6"/>
                </a:solidFill>
              </a:rPr>
              <a:t>Process 1</a:t>
            </a:r>
          </a:p>
          <a:p>
            <a:r>
              <a:rPr lang="en-US" sz="2000"/>
              <a:t> wants_to_enter[1] ← true</a:t>
            </a:r>
          </a:p>
          <a:p>
            <a:r>
              <a:rPr lang="en-US" sz="2000"/>
              <a:t>   while (wants_to_enter[0]) </a:t>
            </a:r>
          </a:p>
          <a:p>
            <a:r>
              <a:rPr lang="en-US" sz="2000"/>
              <a:t>      {if (turn == 0)</a:t>
            </a:r>
          </a:p>
          <a:p>
            <a:r>
              <a:rPr lang="en-US" sz="2000"/>
              <a:t>         {wants_to_enter[1] ← false</a:t>
            </a:r>
          </a:p>
          <a:p>
            <a:r>
              <a:rPr lang="en-US" sz="2000"/>
              <a:t>         		while (turn == 0)</a:t>
            </a:r>
          </a:p>
          <a:p>
            <a:r>
              <a:rPr lang="en-US" sz="2000"/>
              <a:t>          	{// busy wait}</a:t>
            </a:r>
          </a:p>
          <a:p>
            <a:r>
              <a:rPr lang="en-US" sz="2000"/>
              <a:t>         wants_to_enter[1] ← true</a:t>
            </a:r>
          </a:p>
          <a:p>
            <a:r>
              <a:rPr lang="en-US" sz="2000"/>
              <a:t>         } </a:t>
            </a:r>
          </a:p>
          <a:p>
            <a:r>
              <a:rPr lang="en-US" sz="2000"/>
              <a:t>      }</a:t>
            </a:r>
          </a:p>
          <a:p>
            <a:r>
              <a:rPr lang="en-US" sz="2000"/>
              <a:t>   // critical section</a:t>
            </a:r>
          </a:p>
          <a:p>
            <a:r>
              <a:rPr lang="en-US" sz="2000"/>
              <a:t>   ...</a:t>
            </a:r>
          </a:p>
          <a:p>
            <a:r>
              <a:rPr lang="en-US" sz="2000"/>
              <a:t>   turn ← 0</a:t>
            </a:r>
          </a:p>
          <a:p>
            <a:r>
              <a:rPr lang="en-US" sz="2000"/>
              <a:t>   wants_to_enter[1] ← false</a:t>
            </a:r>
          </a:p>
          <a:p>
            <a:r>
              <a:rPr lang="en-US" sz="2000"/>
              <a:t>   // remainder section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38025" y="896582"/>
            <a:ext cx="2508546" cy="4709160"/>
          </a:xfrm>
          <a:prstGeom prst="rect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endParaRPr lang="en-US" sz="200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0278"/>
              </p:ext>
            </p:extLst>
          </p:nvPr>
        </p:nvGraphicFramePr>
        <p:xfrm>
          <a:off x="5631620" y="1214398"/>
          <a:ext cx="94911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5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45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51299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51874" y="896582"/>
            <a:ext cx="4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P0</a:t>
            </a:r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107171" y="896582"/>
            <a:ext cx="4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060497"/>
              </p:ext>
            </p:extLst>
          </p:nvPr>
        </p:nvGraphicFramePr>
        <p:xfrm>
          <a:off x="5632616" y="1221464"/>
          <a:ext cx="94911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5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45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5129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>
            <a:endCxn id="11" idx="3"/>
          </p:cNvCxnSpPr>
          <p:nvPr/>
        </p:nvCxnSpPr>
        <p:spPr>
          <a:xfrm flipV="1">
            <a:off x="3100113" y="1404344"/>
            <a:ext cx="3481613" cy="271206"/>
          </a:xfrm>
          <a:prstGeom prst="bentConnector3">
            <a:avLst>
              <a:gd name="adj1" fmla="val 106566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005035"/>
              </p:ext>
            </p:extLst>
          </p:nvPr>
        </p:nvGraphicFramePr>
        <p:xfrm>
          <a:off x="5622392" y="2269833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903973" y="2698158"/>
            <a:ext cx="381000" cy="369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1</a:t>
            </a:r>
            <a:endParaRPr lang="en-IN" b="1"/>
          </a:p>
        </p:txBody>
      </p:sp>
      <p:sp>
        <p:nvSpPr>
          <p:cNvPr id="20" name="TextBox 19"/>
          <p:cNvSpPr txBox="1"/>
          <p:nvPr/>
        </p:nvSpPr>
        <p:spPr>
          <a:xfrm>
            <a:off x="5903973" y="1837936"/>
            <a:ext cx="381000" cy="369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1</a:t>
            </a:r>
            <a:endParaRPr lang="en-IN" b="1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263781"/>
              </p:ext>
            </p:extLst>
          </p:nvPr>
        </p:nvGraphicFramePr>
        <p:xfrm>
          <a:off x="5629151" y="3130055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IN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2280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000" fill="hold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000" fill="hold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000" fill="hold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000" fill="hold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000" fill="hold"/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9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Peterson’s solution 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(Software approach)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2.7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2437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Peterson’s solution (Software 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1800"/>
              <a:t>#define FALSE 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#define TRUE 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#define N 2			</a:t>
            </a:r>
            <a:r>
              <a:rPr lang="en-US" sz="1800">
                <a:solidFill>
                  <a:schemeClr val="accent6"/>
                </a:solidFill>
              </a:rPr>
              <a:t>//number of processes</a:t>
            </a:r>
            <a:r>
              <a:rPr lang="en-US" sz="1800"/>
              <a:t>		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err="1"/>
              <a:t>int turn;		 		</a:t>
            </a:r>
            <a:r>
              <a:rPr lang="en-US" sz="1800">
                <a:solidFill>
                  <a:schemeClr val="accent6"/>
                </a:solidFill>
              </a:rPr>
              <a:t>//whose turn is it?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err="1"/>
              <a:t>int interested[N];	 		</a:t>
            </a:r>
            <a:r>
              <a:rPr lang="en-US" sz="1800">
                <a:solidFill>
                  <a:schemeClr val="accent6"/>
                </a:solidFill>
              </a:rPr>
              <a:t>//all values initially 0 (FALSE)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void enter_region(int process)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err="1"/>
              <a:t>int other; 			</a:t>
            </a:r>
            <a:r>
              <a:rPr lang="en-US" sz="1800"/>
              <a:t>	</a:t>
            </a:r>
            <a:r>
              <a:rPr lang="en-US" sz="1800">
                <a:solidFill>
                  <a:schemeClr val="accent6"/>
                </a:solidFill>
              </a:rPr>
              <a:t>// number of the other process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other = 1 - process; 			</a:t>
            </a:r>
            <a:r>
              <a:rPr lang="en-US" sz="1800">
                <a:solidFill>
                  <a:schemeClr val="accent6"/>
                </a:solidFill>
              </a:rPr>
              <a:t>// the opposite process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interested[process] = TRUE; 		</a:t>
            </a:r>
            <a:r>
              <a:rPr lang="en-US" sz="1800">
                <a:solidFill>
                  <a:schemeClr val="accent6"/>
                </a:solidFill>
              </a:rPr>
              <a:t>// this process is interested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turn = process; 			</a:t>
            </a:r>
            <a:r>
              <a:rPr lang="en-US" sz="1800">
                <a:solidFill>
                  <a:schemeClr val="accent6"/>
                </a:solidFill>
              </a:rPr>
              <a:t>// set flag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while(turn == process &amp;&amp; interested[other] == TRUE); </a:t>
            </a:r>
            <a:r>
              <a:rPr lang="en-US" sz="1800">
                <a:solidFill>
                  <a:schemeClr val="accent6"/>
                </a:solidFill>
              </a:rPr>
              <a:t>// wait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void leave_region(int process)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interested[process] = FALSE; 		</a:t>
            </a:r>
            <a:r>
              <a:rPr lang="en-US" sz="1800">
                <a:solidFill>
                  <a:schemeClr val="accent6"/>
                </a:solidFill>
              </a:rPr>
              <a:t>// process leaves critical region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/>
              <a:t>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691879"/>
              </p:ext>
            </p:extLst>
          </p:nvPr>
        </p:nvGraphicFramePr>
        <p:xfrm>
          <a:off x="6978014" y="2072640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ounded Rectangular Callout 4"/>
          <p:cNvSpPr/>
          <p:nvPr/>
        </p:nvSpPr>
        <p:spPr>
          <a:xfrm>
            <a:off x="1752600" y="1828800"/>
            <a:ext cx="685800" cy="457200"/>
          </a:xfrm>
          <a:prstGeom prst="wedgeRoundRectCallout">
            <a:avLst>
              <a:gd name="adj1" fmla="val -20833"/>
              <a:gd name="adj2" fmla="val 96875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0</a:t>
            </a:r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66623" y="3424399"/>
            <a:ext cx="38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b="1"/>
              <a:t>1</a:t>
            </a:r>
            <a:endParaRPr lang="en-IN" b="1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487871"/>
              </p:ext>
            </p:extLst>
          </p:nvPr>
        </p:nvGraphicFramePr>
        <p:xfrm>
          <a:off x="6978014" y="3810000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92302" y="175468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P0</a:t>
            </a:r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7447599" y="175468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7255195" y="4175760"/>
            <a:ext cx="38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b="1"/>
              <a:t>0</a:t>
            </a:r>
            <a:endParaRPr lang="en-IN" b="1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579314"/>
              </p:ext>
            </p:extLst>
          </p:nvPr>
        </p:nvGraphicFramePr>
        <p:xfrm>
          <a:off x="8061004" y="2072640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349613" y="3424399"/>
            <a:ext cx="38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b="1"/>
              <a:t>0</a:t>
            </a:r>
            <a:endParaRPr lang="en-IN" b="1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383213"/>
              </p:ext>
            </p:extLst>
          </p:nvPr>
        </p:nvGraphicFramePr>
        <p:xfrm>
          <a:off x="8061004" y="3810000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338185" y="4175760"/>
            <a:ext cx="38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b="1"/>
              <a:t>1</a:t>
            </a:r>
            <a:endParaRPr lang="en-IN" b="1"/>
          </a:p>
        </p:txBody>
      </p:sp>
      <p:sp>
        <p:nvSpPr>
          <p:cNvPr id="15" name="TextBox 14"/>
          <p:cNvSpPr txBox="1"/>
          <p:nvPr/>
        </p:nvSpPr>
        <p:spPr>
          <a:xfrm>
            <a:off x="8061004" y="175468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P0</a:t>
            </a:r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8516301" y="175468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P1</a:t>
            </a:r>
            <a:endParaRPr lang="en-IN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7795260" y="2428876"/>
            <a:ext cx="305753" cy="13648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029607"/>
              </p:ext>
            </p:extLst>
          </p:nvPr>
        </p:nvGraphicFramePr>
        <p:xfrm>
          <a:off x="8077200" y="5638800"/>
          <a:ext cx="9467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39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7339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Rounded Rectangular Callout 18"/>
          <p:cNvSpPr/>
          <p:nvPr/>
        </p:nvSpPr>
        <p:spPr>
          <a:xfrm>
            <a:off x="2448401" y="1828800"/>
            <a:ext cx="685800" cy="457200"/>
          </a:xfrm>
          <a:prstGeom prst="wedgeRoundRectCallout">
            <a:avLst>
              <a:gd name="adj1" fmla="val -20833"/>
              <a:gd name="adj2" fmla="val 96875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1</a:t>
            </a:r>
            <a:endParaRPr lang="en-IN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0327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8" grpId="0"/>
      <p:bldP spid="9" grpId="0"/>
      <p:bldP spid="10" grpId="0" animBg="1"/>
      <p:bldP spid="12" grpId="0" animBg="1"/>
      <p:bldP spid="14" grpId="0" animBg="1"/>
      <p:bldP spid="15" grpId="0"/>
      <p:bldP spid="16" grpId="0"/>
      <p:bldP spid="19" grpId="0" animBg="1"/>
      <p:bldP spid="19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Mutual Exclusion with Busy Waiting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Disabling Interrupts</a:t>
            </a:r>
          </a:p>
          <a:p>
            <a:pPr lvl="1"/>
            <a:r>
              <a:rPr lang="en-US" dirty="0"/>
              <a:t>is </a:t>
            </a:r>
            <a:r>
              <a:rPr lang="en-US" dirty="0">
                <a:solidFill>
                  <a:schemeClr val="accent6"/>
                </a:solidFill>
              </a:rPr>
              <a:t>not appropriate </a:t>
            </a:r>
            <a:r>
              <a:rPr lang="en-US" dirty="0"/>
              <a:t>as a general mutual exclusion mechanism </a:t>
            </a:r>
            <a:r>
              <a:rPr lang="en-US" dirty="0">
                <a:solidFill>
                  <a:schemeClr val="accent6"/>
                </a:solidFill>
              </a:rPr>
              <a:t>for user processes</a:t>
            </a:r>
          </a:p>
          <a:p>
            <a:r>
              <a:rPr lang="en-US" dirty="0"/>
              <a:t>Lock Variables</a:t>
            </a:r>
          </a:p>
          <a:p>
            <a:pPr lvl="1"/>
            <a:r>
              <a:rPr lang="en-US" dirty="0"/>
              <a:t>contains </a:t>
            </a:r>
            <a:r>
              <a:rPr lang="en-US" dirty="0">
                <a:solidFill>
                  <a:schemeClr val="accent6"/>
                </a:solidFill>
              </a:rPr>
              <a:t>exactly the same fatal flaw </a:t>
            </a:r>
            <a:r>
              <a:rPr lang="en-US" dirty="0"/>
              <a:t>that we </a:t>
            </a:r>
            <a:r>
              <a:rPr lang="en-US" dirty="0">
                <a:solidFill>
                  <a:schemeClr val="accent6"/>
                </a:solidFill>
              </a:rPr>
              <a:t>saw in the spooler </a:t>
            </a:r>
            <a:r>
              <a:rPr lang="en-US" dirty="0" smtClean="0">
                <a:solidFill>
                  <a:schemeClr val="accent6"/>
                </a:solidFill>
              </a:rPr>
              <a:t>directory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Strict Alternation</a:t>
            </a:r>
          </a:p>
          <a:p>
            <a:pPr lvl="1"/>
            <a:r>
              <a:rPr lang="en-US" dirty="0"/>
              <a:t>process running </a:t>
            </a:r>
            <a:r>
              <a:rPr lang="en-US" dirty="0">
                <a:solidFill>
                  <a:schemeClr val="accent6"/>
                </a:solidFill>
              </a:rPr>
              <a:t>outside its critical region blocks other processes</a:t>
            </a:r>
            <a:r>
              <a:rPr lang="en-US" dirty="0"/>
              <a:t>.</a:t>
            </a:r>
          </a:p>
          <a:p>
            <a:r>
              <a:rPr lang="en-US" dirty="0"/>
              <a:t>Peterson's Solution</a:t>
            </a:r>
          </a:p>
          <a:p>
            <a:r>
              <a:rPr lang="en-US" dirty="0"/>
              <a:t>The TSL/XCHG instruction</a:t>
            </a:r>
          </a:p>
          <a:p>
            <a:pPr lvl="1"/>
            <a:r>
              <a:rPr lang="en-US" dirty="0"/>
              <a:t>Both </a:t>
            </a:r>
            <a:r>
              <a:rPr lang="en-US" dirty="0">
                <a:solidFill>
                  <a:schemeClr val="accent6"/>
                </a:solidFill>
              </a:rPr>
              <a:t>Peterson’s solution and the solutions using TSL or XCHG are correct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Limitations:</a:t>
            </a:r>
          </a:p>
          <a:p>
            <a:pPr lvl="2"/>
            <a:r>
              <a:rPr lang="en-US" dirty="0">
                <a:solidFill>
                  <a:schemeClr val="accent6"/>
                </a:solidFill>
              </a:rPr>
              <a:t>Busy Waiting</a:t>
            </a:r>
            <a:r>
              <a:rPr lang="en-US" dirty="0"/>
              <a:t>: this approach </a:t>
            </a:r>
            <a:r>
              <a:rPr lang="en-US" dirty="0">
                <a:solidFill>
                  <a:schemeClr val="accent6"/>
                </a:solidFill>
              </a:rPr>
              <a:t>waste CPU time</a:t>
            </a:r>
          </a:p>
          <a:p>
            <a:pPr lvl="2"/>
            <a:r>
              <a:rPr lang="en-US" dirty="0">
                <a:solidFill>
                  <a:schemeClr val="accent6"/>
                </a:solidFill>
              </a:rPr>
              <a:t>Priority Inversion Problem</a:t>
            </a:r>
            <a:r>
              <a:rPr lang="en-US" dirty="0"/>
              <a:t>: a </a:t>
            </a:r>
            <a:r>
              <a:rPr lang="en-US" dirty="0">
                <a:solidFill>
                  <a:schemeClr val="accent6"/>
                </a:solidFill>
              </a:rPr>
              <a:t>low-priority process blocks a higher-priority one</a:t>
            </a:r>
          </a:p>
        </p:txBody>
      </p:sp>
    </p:spTree>
    <p:extLst>
      <p:ext uri="{BB962C8B-B14F-4D97-AF65-F5344CB8AC3E}">
        <p14:creationId xmlns:p14="http://schemas.microsoft.com/office/powerpoint/2010/main" val="4246083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Busy Waiting (Sleep and Wakeup)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Peterson’s solution and solution using TSL and XCHG have the limitation of requiring </a:t>
            </a:r>
            <a:r>
              <a:rPr lang="en-US" b="1">
                <a:solidFill>
                  <a:schemeClr val="accent6"/>
                </a:solidFill>
              </a:rPr>
              <a:t>busy waiting</a:t>
            </a:r>
            <a:r>
              <a:rPr lang="en-US"/>
              <a:t>.</a:t>
            </a:r>
          </a:p>
          <a:p>
            <a:pPr lvl="1"/>
            <a:r>
              <a:rPr lang="en-US"/>
              <a:t>when a processes </a:t>
            </a:r>
            <a:r>
              <a:rPr lang="en-US" b="1">
                <a:solidFill>
                  <a:schemeClr val="accent6"/>
                </a:solidFill>
              </a:rPr>
              <a:t>wants to enter</a:t>
            </a:r>
            <a:r>
              <a:rPr lang="en-US"/>
              <a:t> in its critical section, it </a:t>
            </a:r>
            <a:r>
              <a:rPr lang="en-US" b="1">
                <a:solidFill>
                  <a:schemeClr val="accent6"/>
                </a:solidFill>
              </a:rPr>
              <a:t>checks</a:t>
            </a:r>
            <a:r>
              <a:rPr lang="en-US"/>
              <a:t> to see if the entry is allowed. </a:t>
            </a:r>
          </a:p>
          <a:p>
            <a:pPr lvl="1"/>
            <a:r>
              <a:rPr lang="en-US"/>
              <a:t>If it is </a:t>
            </a:r>
            <a:r>
              <a:rPr lang="en-US" b="1">
                <a:solidFill>
                  <a:schemeClr val="accent6"/>
                </a:solidFill>
              </a:rPr>
              <a:t>not allowed</a:t>
            </a:r>
            <a:r>
              <a:rPr lang="en-US"/>
              <a:t>, the process </a:t>
            </a:r>
            <a:r>
              <a:rPr lang="en-US" b="1">
                <a:solidFill>
                  <a:schemeClr val="accent6"/>
                </a:solidFill>
              </a:rPr>
              <a:t>goes into a loop and waits </a:t>
            </a:r>
            <a:r>
              <a:rPr lang="en-US"/>
              <a:t>(i.e., </a:t>
            </a:r>
            <a:r>
              <a:rPr lang="en-US" b="1">
                <a:solidFill>
                  <a:schemeClr val="accent6"/>
                </a:solidFill>
              </a:rPr>
              <a:t>start busy waiting</a:t>
            </a:r>
            <a:r>
              <a:rPr lang="en-US"/>
              <a:t>) until it is allowed to enter. </a:t>
            </a:r>
          </a:p>
          <a:p>
            <a:pPr lvl="1"/>
            <a:r>
              <a:rPr lang="en-US"/>
              <a:t>This approach </a:t>
            </a:r>
            <a:r>
              <a:rPr lang="en-US" b="1">
                <a:solidFill>
                  <a:schemeClr val="accent6"/>
                </a:solidFill>
              </a:rPr>
              <a:t>waste CPU-time</a:t>
            </a:r>
            <a:r>
              <a:rPr lang="en-US"/>
              <a:t>.</a:t>
            </a:r>
          </a:p>
          <a:p>
            <a:endParaRPr lang="en-US">
              <a:solidFill>
                <a:schemeClr val="accent6"/>
              </a:solidFill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8252009" y="3908050"/>
            <a:ext cx="3657600" cy="0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8252009" y="4365250"/>
            <a:ext cx="3657600" cy="0"/>
          </a:xfrm>
          <a:prstGeom prst="line">
            <a:avLst/>
          </a:prstGeom>
          <a:ln w="762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97788" y="3908050"/>
            <a:ext cx="1927412" cy="45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Image result for printer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22302" y="394489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948" y="4460502"/>
            <a:ext cx="556708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135" y="2907925"/>
            <a:ext cx="540084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57412" y="3822325"/>
            <a:ext cx="695526" cy="158255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2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4" t="9399" r="17869" b="10098"/>
          <a:stretch>
            <a:fillRect/>
          </a:stretch>
        </p:blipFill>
        <p:spPr bwMode="auto">
          <a:xfrm>
            <a:off x="9459427" y="2917529"/>
            <a:ext cx="5715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/>
          <p:cNvSpPr txBox="1"/>
          <p:nvPr/>
        </p:nvSpPr>
        <p:spPr>
          <a:xfrm>
            <a:off x="131180" y="2724709"/>
            <a:ext cx="7838437" cy="32810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But we have interprocess communication primitives (the </a:t>
            </a:r>
            <a:r>
              <a:rPr lang="en-US" b="1">
                <a:solidFill>
                  <a:schemeClr val="accent6"/>
                </a:solidFill>
              </a:rPr>
              <a:t>pair of sleep &amp; wakeup</a:t>
            </a:r>
            <a:r>
              <a:rPr lang="en-US"/>
              <a:t>).</a:t>
            </a:r>
          </a:p>
          <a:p>
            <a:r>
              <a:rPr lang="en-US" b="1">
                <a:solidFill>
                  <a:schemeClr val="tx2"/>
                </a:solidFill>
              </a:rPr>
              <a:t>Sleep</a:t>
            </a:r>
            <a:r>
              <a:rPr lang="en-US"/>
              <a:t>: It is a system call that </a:t>
            </a:r>
            <a:r>
              <a:rPr lang="en-US" b="1">
                <a:solidFill>
                  <a:schemeClr val="accent6"/>
                </a:solidFill>
              </a:rPr>
              <a:t>causes the caller to be blocked </a:t>
            </a:r>
            <a:r>
              <a:rPr lang="en-US"/>
              <a:t>(</a:t>
            </a:r>
            <a:r>
              <a:rPr lang="en-US" b="1">
                <a:solidFill>
                  <a:schemeClr val="accent6"/>
                </a:solidFill>
              </a:rPr>
              <a:t>suspended</a:t>
            </a:r>
            <a:r>
              <a:rPr lang="en-US"/>
              <a:t>) until some other process wakes it up.</a:t>
            </a:r>
          </a:p>
          <a:p>
            <a:r>
              <a:rPr lang="en-US" b="1">
                <a:solidFill>
                  <a:schemeClr val="tx2"/>
                </a:solidFill>
              </a:rPr>
              <a:t>Wakeup</a:t>
            </a:r>
            <a:r>
              <a:rPr lang="en-US"/>
              <a:t>: It is a system call that </a:t>
            </a:r>
            <a:r>
              <a:rPr lang="en-US" b="1">
                <a:solidFill>
                  <a:schemeClr val="accent6"/>
                </a:solidFill>
              </a:rPr>
              <a:t>wakes up</a:t>
            </a:r>
            <a:r>
              <a:rPr lang="en-US"/>
              <a:t> the process.</a:t>
            </a:r>
          </a:p>
          <a:p>
            <a:r>
              <a:rPr lang="en-US"/>
              <a:t>Both 'sleep' and 'wakeup' system calls have one parameter that represents a memory address used to match up 'sleeps' and 'wakeups'.</a:t>
            </a: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04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06 3.7037E-07 L 0.06211 -0.00046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-2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06 4.81481E-06 L 0.06185 0.00138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6" y="6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06 1.11111E-06 L 0.05925 0.00417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6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06 3.7037E-07 L 0.11732 -0.00208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59" y="-11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25 0.00417 L 0.19063 0.00579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62" y="6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11 -0.00047 L 0.19297 -0.00324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36" y="-347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85 0.00138 L 0.19505 -0.00186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4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0" grpId="1" animBg="1"/>
      <p:bldP spid="10" grpId="2" animBg="1"/>
      <p:bldP spid="10" grpId="3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The Producer Consumer Problem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793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972" r="8995" b="1943"/>
          <a:stretch>
            <a:fillRect/>
          </a:stretch>
        </p:blipFill>
        <p:spPr>
          <a:xfrm>
            <a:off x="10633409" y="1146813"/>
            <a:ext cx="970128" cy="1097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Producer Consumer Problem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" t="3056" r="2328" b="6111"/>
          <a:stretch>
            <a:fillRect/>
          </a:stretch>
        </p:blipFill>
        <p:spPr>
          <a:xfrm>
            <a:off x="7668011" y="1238253"/>
            <a:ext cx="1033524" cy="1005840"/>
          </a:xfrm>
        </p:spPr>
      </p:pic>
      <p:sp>
        <p:nvSpPr>
          <p:cNvPr id="4" name="Content Placeholder 2"/>
          <p:cNvSpPr txBox="1"/>
          <p:nvPr/>
        </p:nvSpPr>
        <p:spPr>
          <a:xfrm>
            <a:off x="128016" y="859536"/>
            <a:ext cx="66178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It is </a:t>
            </a:r>
            <a:r>
              <a:rPr lang="en-US" b="1">
                <a:solidFill>
                  <a:schemeClr val="accent6"/>
                </a:solidFill>
              </a:rPr>
              <a:t>multi-process synchronization </a:t>
            </a:r>
            <a:r>
              <a:rPr lang="en-US"/>
              <a:t>problem.</a:t>
            </a:r>
          </a:p>
          <a:p>
            <a:r>
              <a:rPr lang="en-US"/>
              <a:t>It is also known as </a:t>
            </a:r>
            <a:r>
              <a:rPr lang="en-US" b="1">
                <a:solidFill>
                  <a:schemeClr val="accent6"/>
                </a:solidFill>
              </a:rPr>
              <a:t>bounded buffer problem</a:t>
            </a:r>
            <a:r>
              <a:rPr lang="en-US"/>
              <a:t>.</a:t>
            </a:r>
          </a:p>
          <a:p>
            <a:r>
              <a:rPr lang="en-US"/>
              <a:t>This problem describes two processes producer and consumer, who share common, fixed size buffer.</a:t>
            </a:r>
          </a:p>
          <a:p>
            <a:r>
              <a:rPr lang="en-US"/>
              <a:t>Producer process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Produce some information </a:t>
            </a:r>
            <a:r>
              <a:rPr lang="en-US"/>
              <a:t>and put it into buffer</a:t>
            </a:r>
          </a:p>
          <a:p>
            <a:r>
              <a:rPr lang="en-US"/>
              <a:t>Consumer process</a:t>
            </a:r>
          </a:p>
          <a:p>
            <a:pPr lvl="1"/>
            <a:r>
              <a:rPr lang="en-US">
                <a:solidFill>
                  <a:schemeClr val="accent6"/>
                </a:solidFill>
              </a:rPr>
              <a:t>Consume this information </a:t>
            </a:r>
            <a:r>
              <a:rPr lang="en-US"/>
              <a:t>(remove it from the buffer)</a:t>
            </a:r>
          </a:p>
        </p:txBody>
      </p:sp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3480906608"/>
              </p:ext>
            </p:extLst>
          </p:nvPr>
        </p:nvGraphicFramePr>
        <p:xfrm>
          <a:off x="8946773" y="2260600"/>
          <a:ext cx="13716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51373" y="2248647"/>
            <a:ext cx="10668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6973" y="2248647"/>
            <a:ext cx="11430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973" y="2617979"/>
            <a:ext cx="1371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946776" y="3744301"/>
            <a:ext cx="1371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31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06 0.00625 L 0.11875 0.16436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98" y="791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06 -2.59259E-06 L 0.12201 -0.16481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94" y="-8241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972" r="8995" b="1943"/>
          <a:stretch>
            <a:fillRect/>
          </a:stretch>
        </p:blipFill>
        <p:spPr>
          <a:xfrm>
            <a:off x="10633409" y="1146813"/>
            <a:ext cx="970128" cy="1097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Producer Consumer problem is?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" t="3056" r="2328" b="6111"/>
          <a:stretch>
            <a:fillRect/>
          </a:stretch>
        </p:blipFill>
        <p:spPr>
          <a:xfrm>
            <a:off x="7668011" y="1238253"/>
            <a:ext cx="1033524" cy="1005840"/>
          </a:xfrm>
        </p:spPr>
      </p:pic>
      <p:sp>
        <p:nvSpPr>
          <p:cNvPr id="4" name="Content Placeholder 2"/>
          <p:cNvSpPr txBox="1"/>
          <p:nvPr/>
        </p:nvSpPr>
        <p:spPr>
          <a:xfrm>
            <a:off x="128016" y="859536"/>
            <a:ext cx="66178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Buffer is </a:t>
            </a:r>
            <a:r>
              <a:rPr lang="en-US" b="1">
                <a:solidFill>
                  <a:schemeClr val="tx2"/>
                </a:solidFill>
              </a:rPr>
              <a:t>empty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Producer</a:t>
            </a:r>
            <a:r>
              <a:rPr lang="en-US"/>
              <a:t> want to </a:t>
            </a:r>
            <a:r>
              <a:rPr lang="en-US" b="1">
                <a:solidFill>
                  <a:schemeClr val="accent6"/>
                </a:solidFill>
              </a:rPr>
              <a:t>produce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Consumer</a:t>
            </a:r>
            <a:r>
              <a:rPr lang="en-US"/>
              <a:t> want to </a:t>
            </a:r>
            <a:r>
              <a:rPr lang="en-US" b="1">
                <a:solidFill>
                  <a:schemeClr val="accent6"/>
                </a:solidFill>
              </a:rPr>
              <a:t>consume</a:t>
            </a:r>
          </a:p>
          <a:p>
            <a:r>
              <a:rPr lang="en-US"/>
              <a:t>Buffer is </a:t>
            </a:r>
            <a:r>
              <a:rPr lang="en-US" b="1">
                <a:solidFill>
                  <a:schemeClr val="tx2"/>
                </a:solidFill>
              </a:rPr>
              <a:t>full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Producer</a:t>
            </a:r>
            <a:r>
              <a:rPr lang="en-US"/>
              <a:t> want to </a:t>
            </a:r>
            <a:r>
              <a:rPr lang="en-US" b="1">
                <a:solidFill>
                  <a:schemeClr val="accent6"/>
                </a:solidFill>
              </a:rPr>
              <a:t>produce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Consumer</a:t>
            </a:r>
            <a:r>
              <a:rPr lang="en-US"/>
              <a:t> want to </a:t>
            </a:r>
            <a:r>
              <a:rPr lang="en-US" b="1">
                <a:solidFill>
                  <a:schemeClr val="accent6"/>
                </a:solidFill>
              </a:rPr>
              <a:t>consume</a:t>
            </a:r>
          </a:p>
          <a:p>
            <a:r>
              <a:rPr lang="en-US"/>
              <a:t>Buffer is </a:t>
            </a:r>
            <a:r>
              <a:rPr lang="en-US" b="1">
                <a:solidFill>
                  <a:schemeClr val="tx2"/>
                </a:solidFill>
              </a:rPr>
              <a:t>partial filled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Producer</a:t>
            </a:r>
            <a:r>
              <a:rPr lang="en-US"/>
              <a:t> want to </a:t>
            </a:r>
            <a:r>
              <a:rPr lang="en-US" b="1">
                <a:solidFill>
                  <a:schemeClr val="accent6"/>
                </a:solidFill>
              </a:rPr>
              <a:t>produce</a:t>
            </a:r>
          </a:p>
          <a:p>
            <a:pPr lvl="1"/>
            <a:r>
              <a:rPr lang="en-US" b="1">
                <a:solidFill>
                  <a:schemeClr val="accent6"/>
                </a:solidFill>
              </a:rPr>
              <a:t>Consumer</a:t>
            </a:r>
            <a:r>
              <a:rPr lang="en-US"/>
              <a:t> want to </a:t>
            </a:r>
            <a:r>
              <a:rPr lang="en-US" b="1">
                <a:solidFill>
                  <a:schemeClr val="accent6"/>
                </a:solidFill>
              </a:rPr>
              <a:t>consume</a:t>
            </a:r>
          </a:p>
        </p:txBody>
      </p:sp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3480906608"/>
              </p:ext>
            </p:extLst>
          </p:nvPr>
        </p:nvGraphicFramePr>
        <p:xfrm>
          <a:off x="8946773" y="2260600"/>
          <a:ext cx="13716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51373" y="2248647"/>
            <a:ext cx="10668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6973" y="2248647"/>
            <a:ext cx="11430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946776" y="3744301"/>
            <a:ext cx="1371600" cy="3749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946776" y="2617979"/>
            <a:ext cx="1371600" cy="3749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46776" y="2993420"/>
            <a:ext cx="1371600" cy="3749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46776" y="3368861"/>
            <a:ext cx="1371600" cy="37490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" name="TextBox 15"/>
          <p:cNvSpPr txBox="1"/>
          <p:nvPr/>
        </p:nvSpPr>
        <p:spPr>
          <a:xfrm>
            <a:off x="3656797" y="1182896"/>
            <a:ext cx="41782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>
                <a:solidFill>
                  <a:srgbClr val="00B050"/>
                </a:solidFill>
              </a:rPr>
              <a:t>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0770" y="1554369"/>
            <a:ext cx="36195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>
                <a:solidFill>
                  <a:srgbClr val="E40524"/>
                </a:solidFill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5679" y="2328768"/>
            <a:ext cx="36195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>
                <a:solidFill>
                  <a:srgbClr val="E40524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8406" y="2631488"/>
            <a:ext cx="41782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>
                <a:solidFill>
                  <a:srgbClr val="00B050"/>
                </a:solidFill>
              </a:rPr>
              <a:t>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6795" y="3458451"/>
            <a:ext cx="41782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>
                <a:solidFill>
                  <a:srgbClr val="00B050"/>
                </a:solidFill>
              </a:rPr>
              <a:t>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6654" y="3773550"/>
            <a:ext cx="41782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>
                <a:solidFill>
                  <a:srgbClr val="00B050"/>
                </a:solidFill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2017480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/>
      <p:bldP spid="17" grpId="0"/>
      <p:bldP spid="18" grpId="0"/>
      <p:bldP spid="20" grpId="0"/>
      <p:bldP spid="21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Sleep &amp; Wakeup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66178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#define N 4</a:t>
            </a:r>
          </a:p>
          <a:p>
            <a:pPr marL="0" indent="0">
              <a:buNone/>
            </a:pPr>
            <a:r>
              <a:rPr lang="en-US" err="1"/>
              <a:t>int count=0;</a:t>
            </a:r>
          </a:p>
          <a:p>
            <a:pPr marL="0" indent="0">
              <a:buNone/>
            </a:pPr>
            <a:r>
              <a:rPr lang="en-US"/>
              <a:t>void producer (void)</a:t>
            </a:r>
          </a:p>
          <a:p>
            <a:pPr marL="0" indent="0" defTabSz="542925">
              <a:buNone/>
            </a:pPr>
            <a:r>
              <a:rPr lang="en-US"/>
              <a:t>{	int item;</a:t>
            </a:r>
          </a:p>
          <a:p>
            <a:pPr marL="0" indent="0" defTabSz="542925">
              <a:buNone/>
            </a:pPr>
            <a:r>
              <a:rPr lang="en-US"/>
              <a:t>	while (true) </a:t>
            </a:r>
          </a:p>
          <a:p>
            <a:pPr marL="0" indent="0" defTabSz="542925">
              <a:buNone/>
            </a:pPr>
            <a:r>
              <a:rPr lang="en-US"/>
              <a:t>	{	item=produce_item();</a:t>
            </a:r>
          </a:p>
          <a:p>
            <a:pPr marL="0" indent="0" defTabSz="542925">
              <a:buNone/>
            </a:pPr>
            <a:r>
              <a:rPr lang="en-US"/>
              <a:t>		if (count==N) sleep();</a:t>
            </a:r>
          </a:p>
          <a:p>
            <a:pPr marL="0" indent="0" defTabSz="542925">
              <a:buNone/>
            </a:pPr>
            <a:r>
              <a:rPr lang="en-US"/>
              <a:t>		insert_item(item);</a:t>
            </a:r>
          </a:p>
          <a:p>
            <a:pPr marL="0" indent="0" defTabSz="542925">
              <a:buNone/>
            </a:pPr>
            <a:r>
              <a:rPr lang="en-US"/>
              <a:t>		count=count+1;</a:t>
            </a:r>
          </a:p>
          <a:p>
            <a:pPr marL="0" indent="0" defTabSz="542925">
              <a:buNone/>
            </a:pPr>
            <a:r>
              <a:rPr lang="en-US"/>
              <a:t>		if(count==1) wakeup(consumer);</a:t>
            </a:r>
          </a:p>
          <a:p>
            <a:pPr marL="0" indent="0" defTabSz="542925">
              <a:buNone/>
            </a:pPr>
            <a:r>
              <a:rPr lang="en-US"/>
              <a:t>	}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US" b="1">
              <a:solidFill>
                <a:schemeClr val="accent6"/>
              </a:solidFill>
            </a:endParaRPr>
          </a:p>
        </p:txBody>
      </p:sp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3480906608"/>
              </p:ext>
            </p:extLst>
          </p:nvPr>
        </p:nvGraphicFramePr>
        <p:xfrm>
          <a:off x="8946773" y="2260600"/>
          <a:ext cx="13716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51373" y="2248647"/>
            <a:ext cx="10668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6973" y="2248647"/>
            <a:ext cx="11430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71550" y="90783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52400" y="93607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1550" y="151743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352400" y="154567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0600" y="15613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8626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8626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4832" y="2637031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IN" sz="1600"/>
          </a:p>
        </p:txBody>
      </p:sp>
      <p:sp>
        <p:nvSpPr>
          <p:cNvPr id="31" name="TextBox 30"/>
          <p:cNvSpPr txBox="1"/>
          <p:nvPr/>
        </p:nvSpPr>
        <p:spPr>
          <a:xfrm>
            <a:off x="8684832" y="3014006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IN" sz="1600"/>
          </a:p>
        </p:txBody>
      </p:sp>
      <p:sp>
        <p:nvSpPr>
          <p:cNvPr id="32" name="TextBox 31"/>
          <p:cNvSpPr txBox="1"/>
          <p:nvPr/>
        </p:nvSpPr>
        <p:spPr>
          <a:xfrm>
            <a:off x="8684832" y="3390981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  <a:endParaRPr lang="en-IN" sz="1600"/>
          </a:p>
        </p:txBody>
      </p:sp>
      <p:sp>
        <p:nvSpPr>
          <p:cNvPr id="33" name="TextBox 32"/>
          <p:cNvSpPr txBox="1"/>
          <p:nvPr/>
        </p:nvSpPr>
        <p:spPr>
          <a:xfrm>
            <a:off x="8684832" y="3767956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9716264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4 0.00023 L 0.00026 0.15486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3" grpId="0" animBg="1"/>
      <p:bldP spid="24" grpId="0"/>
      <p:bldP spid="25" grpId="0" animBg="1"/>
      <p:bldP spid="26" grpId="0"/>
      <p:bldP spid="27" grpId="0"/>
      <p:bldP spid="27" grpId="1"/>
      <p:bldP spid="28" grpId="0" animBg="1"/>
      <p:bldP spid="28" grpId="1" animBg="1"/>
      <p:bldP spid="29" grpId="0" animBg="1"/>
      <p:bldP spid="30" grpId="0"/>
      <p:bldP spid="31" grpId="0"/>
      <p:bldP spid="32" grpId="0"/>
      <p:bldP spid="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Sleep &amp; Wakeup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66178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void consumer (void)</a:t>
            </a:r>
          </a:p>
          <a:p>
            <a:pPr marL="0" indent="0">
              <a:buNone/>
            </a:pPr>
            <a:r>
              <a:rPr lang="en-US"/>
              <a:t>{	int item;</a:t>
            </a:r>
          </a:p>
          <a:p>
            <a:pPr marL="0" indent="0">
              <a:buNone/>
            </a:pPr>
            <a:r>
              <a:rPr lang="en-US"/>
              <a:t>	while (true) </a:t>
            </a:r>
          </a:p>
          <a:p>
            <a:pPr marL="0" indent="0">
              <a:buNone/>
            </a:pPr>
            <a:r>
              <a:rPr lang="en-US"/>
              <a:t>	{	if (count==0) sleep();</a:t>
            </a:r>
          </a:p>
          <a:p>
            <a:pPr marL="0" indent="0">
              <a:buNone/>
            </a:pPr>
            <a:r>
              <a:rPr lang="en-US"/>
              <a:t>		item=remove_item();</a:t>
            </a:r>
          </a:p>
          <a:p>
            <a:pPr marL="0" indent="0">
              <a:buNone/>
            </a:pPr>
            <a:r>
              <a:rPr lang="en-US"/>
              <a:t>		count=count-1;</a:t>
            </a:r>
          </a:p>
          <a:p>
            <a:pPr marL="0" indent="0">
              <a:buNone/>
            </a:pPr>
            <a:r>
              <a:rPr lang="en-US"/>
              <a:t>		if(count==N-1) 	</a:t>
            </a:r>
          </a:p>
          <a:p>
            <a:pPr marL="0" indent="0">
              <a:buNone/>
            </a:pPr>
            <a:r>
              <a:rPr lang="en-US"/>
              <a:t>			wakeup(producer);</a:t>
            </a:r>
          </a:p>
          <a:p>
            <a:pPr marL="0" indent="0">
              <a:buNone/>
            </a:pPr>
            <a:r>
              <a:rPr lang="en-US"/>
              <a:t>		consume_item(item);</a:t>
            </a:r>
          </a:p>
          <a:p>
            <a:pPr marL="0" indent="0">
              <a:buNone/>
            </a:pPr>
            <a:r>
              <a:rPr lang="en-US"/>
              <a:t>	}</a:t>
            </a:r>
          </a:p>
          <a:p>
            <a:pPr marL="0" indent="0">
              <a:buNone/>
            </a:pPr>
            <a:r>
              <a:rPr lang="en-US"/>
              <a:t>}</a:t>
            </a:r>
            <a:endParaRPr lang="en-US" b="1">
              <a:solidFill>
                <a:schemeClr val="accent6"/>
              </a:solidFill>
            </a:endParaRPr>
          </a:p>
        </p:txBody>
      </p:sp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3480906608"/>
              </p:ext>
            </p:extLst>
          </p:nvPr>
        </p:nvGraphicFramePr>
        <p:xfrm>
          <a:off x="8946773" y="2260600"/>
          <a:ext cx="13716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51373" y="2248647"/>
            <a:ext cx="10668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6973" y="2248647"/>
            <a:ext cx="11430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71550" y="90783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52400" y="93607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71550" y="151743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352400" y="154567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0600" y="26281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8626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8626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4832" y="2637031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IN" sz="1600"/>
          </a:p>
        </p:txBody>
      </p:sp>
      <p:sp>
        <p:nvSpPr>
          <p:cNvPr id="15" name="TextBox 14"/>
          <p:cNvSpPr txBox="1"/>
          <p:nvPr/>
        </p:nvSpPr>
        <p:spPr>
          <a:xfrm>
            <a:off x="8684832" y="3014006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IN" sz="1600"/>
          </a:p>
        </p:txBody>
      </p:sp>
      <p:sp>
        <p:nvSpPr>
          <p:cNvPr id="16" name="TextBox 15"/>
          <p:cNvSpPr txBox="1"/>
          <p:nvPr/>
        </p:nvSpPr>
        <p:spPr>
          <a:xfrm>
            <a:off x="8684832" y="3390981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  <a:endParaRPr lang="en-IN" sz="1600"/>
          </a:p>
        </p:txBody>
      </p:sp>
      <p:sp>
        <p:nvSpPr>
          <p:cNvPr id="17" name="TextBox 16"/>
          <p:cNvSpPr txBox="1"/>
          <p:nvPr/>
        </p:nvSpPr>
        <p:spPr>
          <a:xfrm>
            <a:off x="8684832" y="3767956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78184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4 0.00023 L -0.00196 -0.15463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7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in Sleep &amp; Wakeup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Problem with this solution is that it </a:t>
            </a:r>
            <a:r>
              <a:rPr lang="en-US" b="1">
                <a:solidFill>
                  <a:schemeClr val="accent6"/>
                </a:solidFill>
              </a:rPr>
              <a:t>contains a race condition that can lead to a deadlock</a:t>
            </a:r>
            <a:r>
              <a:rPr lang="en-US"/>
              <a:t>. (How???)</a:t>
            </a:r>
          </a:p>
          <a:p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Content Placeholder 2"/>
          <p:cNvSpPr txBox="1"/>
          <p:nvPr/>
        </p:nvSpPr>
        <p:spPr>
          <a:xfrm>
            <a:off x="128017" y="1627094"/>
            <a:ext cx="4645689" cy="48230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#define N 4</a:t>
            </a:r>
          </a:p>
          <a:p>
            <a:pPr marL="0" indent="0">
              <a:buNone/>
            </a:pPr>
            <a:r>
              <a:rPr lang="en-US" sz="2000" err="1"/>
              <a:t>int count=0;</a:t>
            </a:r>
          </a:p>
          <a:p>
            <a:pPr marL="0" indent="0">
              <a:buNone/>
            </a:pPr>
            <a:r>
              <a:rPr lang="en-US" sz="2000"/>
              <a:t>void producer (void)</a:t>
            </a:r>
          </a:p>
          <a:p>
            <a:pPr marL="0" indent="0" defTabSz="542925">
              <a:buNone/>
            </a:pPr>
            <a:r>
              <a:rPr lang="en-US" sz="2000"/>
              <a:t>{	int item;</a:t>
            </a:r>
          </a:p>
          <a:p>
            <a:pPr marL="0" indent="0" defTabSz="542925">
              <a:buNone/>
            </a:pPr>
            <a:r>
              <a:rPr lang="en-US" sz="2000"/>
              <a:t>	while (true) </a:t>
            </a:r>
          </a:p>
          <a:p>
            <a:pPr marL="0" indent="0" defTabSz="542925">
              <a:buNone/>
            </a:pPr>
            <a:r>
              <a:rPr lang="en-US" sz="2000"/>
              <a:t>	{	item=produce_item();</a:t>
            </a:r>
          </a:p>
          <a:p>
            <a:pPr marL="0" indent="0" defTabSz="542925">
              <a:buNone/>
            </a:pPr>
            <a:r>
              <a:rPr lang="en-US" sz="2000"/>
              <a:t>		if (count==N) sleep();</a:t>
            </a:r>
          </a:p>
          <a:p>
            <a:pPr marL="0" indent="0" defTabSz="542925">
              <a:buNone/>
            </a:pPr>
            <a:r>
              <a:rPr lang="en-US" sz="2000"/>
              <a:t>		insert_item(item);</a:t>
            </a:r>
          </a:p>
          <a:p>
            <a:pPr marL="0" indent="0" defTabSz="542925">
              <a:buNone/>
            </a:pPr>
            <a:r>
              <a:rPr lang="en-US" sz="2000"/>
              <a:t>		count=count+1;</a:t>
            </a:r>
          </a:p>
          <a:p>
            <a:pPr marL="0" indent="0" defTabSz="542925">
              <a:buNone/>
            </a:pPr>
            <a:r>
              <a:rPr lang="en-US" sz="2000"/>
              <a:t>		if(count==1) wakeup(consumer);</a:t>
            </a:r>
          </a:p>
          <a:p>
            <a:pPr marL="0" indent="0" defTabSz="542925">
              <a:buNone/>
            </a:pPr>
            <a:r>
              <a:rPr lang="en-US" sz="2000"/>
              <a:t>	}</a:t>
            </a:r>
          </a:p>
          <a:p>
            <a:pPr marL="0" indent="0">
              <a:buNone/>
            </a:pPr>
            <a:r>
              <a:rPr lang="en-US" sz="2000"/>
              <a:t>}</a:t>
            </a:r>
            <a:endParaRPr lang="en-US" b="1">
              <a:solidFill>
                <a:schemeClr val="accent6"/>
              </a:solidFill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7268403" y="1627094"/>
            <a:ext cx="4807054" cy="48230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void consumer (void)</a:t>
            </a:r>
          </a:p>
          <a:p>
            <a:pPr marL="0" indent="0">
              <a:buNone/>
            </a:pPr>
            <a:r>
              <a:rPr lang="en-US" sz="2000"/>
              <a:t>{	int item;</a:t>
            </a:r>
          </a:p>
          <a:p>
            <a:pPr marL="0" indent="0">
              <a:buNone/>
            </a:pPr>
            <a:r>
              <a:rPr lang="en-US" sz="2000"/>
              <a:t>	while (true) </a:t>
            </a:r>
          </a:p>
          <a:p>
            <a:pPr marL="0" indent="0">
              <a:buNone/>
            </a:pPr>
            <a:r>
              <a:rPr lang="en-US" sz="2000"/>
              <a:t>	{	if (count==0)       sleep();</a:t>
            </a:r>
          </a:p>
          <a:p>
            <a:pPr marL="0" indent="0">
              <a:buNone/>
            </a:pPr>
            <a:r>
              <a:rPr lang="en-US" sz="2000"/>
              <a:t>		item=remove_item();</a:t>
            </a:r>
          </a:p>
          <a:p>
            <a:pPr marL="0" indent="0">
              <a:buNone/>
            </a:pPr>
            <a:r>
              <a:rPr lang="en-US" sz="2000"/>
              <a:t>		count=count-1;</a:t>
            </a:r>
          </a:p>
          <a:p>
            <a:pPr marL="0" indent="0">
              <a:buNone/>
            </a:pPr>
            <a:r>
              <a:rPr lang="en-US" sz="2000"/>
              <a:t>		if(count==N-1) 	</a:t>
            </a:r>
          </a:p>
          <a:p>
            <a:pPr marL="0" indent="0">
              <a:buNone/>
            </a:pPr>
            <a:r>
              <a:rPr lang="en-US" sz="2000"/>
              <a:t>			wakeup(producer);</a:t>
            </a:r>
          </a:p>
          <a:p>
            <a:pPr marL="0" indent="0">
              <a:buNone/>
            </a:pPr>
            <a:r>
              <a:rPr lang="en-US" sz="2000"/>
              <a:t>		consume_item(item);</a:t>
            </a:r>
          </a:p>
          <a:p>
            <a:pPr marL="0" indent="0">
              <a:buNone/>
            </a:pPr>
            <a:r>
              <a:rPr lang="en-US" sz="2000"/>
              <a:t>	}</a:t>
            </a:r>
          </a:p>
          <a:p>
            <a:pPr marL="0" indent="0">
              <a:buNone/>
            </a:pPr>
            <a:r>
              <a:rPr lang="en-US" sz="2000"/>
              <a:t>}</a:t>
            </a:r>
            <a:endParaRPr lang="en-US" b="1">
              <a:solidFill>
                <a:schemeClr val="accent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6906" y="1623186"/>
            <a:ext cx="10668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2457" y="1623186"/>
            <a:ext cx="1143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graphicFrame>
        <p:nvGraphicFramePr>
          <p:cNvPr id="17" name="Content Placeholder 3"/>
          <p:cNvGraphicFramePr/>
          <p:nvPr>
            <p:extLst>
              <p:ext uri="{D42A27DB-BD31-4B8C-83A1-F6EECF244321}">
                <p14:modId xmlns:p14="http://schemas.microsoft.com/office/powerpoint/2010/main" val="3298066381"/>
              </p:ext>
            </p:extLst>
          </p:nvPr>
        </p:nvGraphicFramePr>
        <p:xfrm>
          <a:off x="5531220" y="3578412"/>
          <a:ext cx="13716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755997" y="2225646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936847" y="225389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5997" y="2835246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936847" y="286349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8380" y="287918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3073" y="2269580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3073" y="2269580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9279" y="3954843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IN" sz="1600"/>
          </a:p>
        </p:txBody>
      </p:sp>
      <p:sp>
        <p:nvSpPr>
          <p:cNvPr id="26" name="TextBox 25"/>
          <p:cNvSpPr txBox="1"/>
          <p:nvPr/>
        </p:nvSpPr>
        <p:spPr>
          <a:xfrm>
            <a:off x="5269279" y="4331818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IN" sz="1600"/>
          </a:p>
        </p:txBody>
      </p:sp>
      <p:sp>
        <p:nvSpPr>
          <p:cNvPr id="27" name="TextBox 26"/>
          <p:cNvSpPr txBox="1"/>
          <p:nvPr/>
        </p:nvSpPr>
        <p:spPr>
          <a:xfrm>
            <a:off x="5269279" y="4708793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  <a:endParaRPr lang="en-IN" sz="1600"/>
          </a:p>
        </p:txBody>
      </p:sp>
      <p:sp>
        <p:nvSpPr>
          <p:cNvPr id="28" name="TextBox 27"/>
          <p:cNvSpPr txBox="1"/>
          <p:nvPr/>
        </p:nvSpPr>
        <p:spPr>
          <a:xfrm>
            <a:off x="5269279" y="5085768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  <a:endParaRPr lang="en-IN" sz="1600"/>
          </a:p>
        </p:txBody>
      </p:sp>
      <p:sp>
        <p:nvSpPr>
          <p:cNvPr id="29" name="Rectangle 28"/>
          <p:cNvSpPr/>
          <p:nvPr/>
        </p:nvSpPr>
        <p:spPr>
          <a:xfrm>
            <a:off x="9146044" y="2793942"/>
            <a:ext cx="1350506" cy="397576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rved Right Arrow 29"/>
          <p:cNvSpPr/>
          <p:nvPr/>
        </p:nvSpPr>
        <p:spPr>
          <a:xfrm rot="6167594">
            <a:off x="6792485" y="-1890485"/>
            <a:ext cx="1397000" cy="7044428"/>
          </a:xfrm>
          <a:prstGeom prst="curvedRightArrow">
            <a:avLst>
              <a:gd name="adj1" fmla="val 12886"/>
              <a:gd name="adj2" fmla="val 28041"/>
              <a:gd name="adj3" fmla="val 266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223682" y="5198640"/>
            <a:ext cx="3402106" cy="397576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0648370" y="2076062"/>
            <a:ext cx="1330612" cy="64633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Context 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Switching</a:t>
            </a:r>
          </a:p>
        </p:txBody>
      </p:sp>
      <p:sp>
        <p:nvSpPr>
          <p:cNvPr id="33" name="Curved Right Arrow 32"/>
          <p:cNvSpPr/>
          <p:nvPr/>
        </p:nvSpPr>
        <p:spPr>
          <a:xfrm rot="14916236">
            <a:off x="7223752" y="1292963"/>
            <a:ext cx="1053830" cy="7127493"/>
          </a:xfrm>
          <a:prstGeom prst="curvedRightArrow">
            <a:avLst>
              <a:gd name="adj1" fmla="val 12886"/>
              <a:gd name="adj2" fmla="val 28041"/>
              <a:gd name="adj3" fmla="val 2660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41600" y="5748459"/>
            <a:ext cx="1330612" cy="64633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Wakeup 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Signal</a:t>
            </a:r>
          </a:p>
        </p:txBody>
      </p:sp>
      <p:sp>
        <p:nvSpPr>
          <p:cNvPr id="35" name="Multiply 34"/>
          <p:cNvSpPr/>
          <p:nvPr/>
        </p:nvSpPr>
        <p:spPr>
          <a:xfrm>
            <a:off x="5694827" y="5526096"/>
            <a:ext cx="652455" cy="808917"/>
          </a:xfrm>
          <a:prstGeom prst="mathMultiply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55323" r="18953" b="14917"/>
          <a:stretch>
            <a:fillRect/>
          </a:stretch>
        </p:blipFill>
        <p:spPr>
          <a:xfrm>
            <a:off x="7490985" y="3376714"/>
            <a:ext cx="1638300" cy="95952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32" t="55323" r="18953" b="14917"/>
          <a:stretch>
            <a:fillRect/>
          </a:stretch>
        </p:blipFill>
        <p:spPr>
          <a:xfrm>
            <a:off x="2807402" y="2364854"/>
            <a:ext cx="1638300" cy="95952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70754" y="431804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0754" y="468999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0754" y="506195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4</a:t>
            </a:r>
          </a:p>
        </p:txBody>
      </p:sp>
    </p:spTree>
    <p:extLst>
      <p:ext uri="{BB962C8B-B14F-4D97-AF65-F5344CB8AC3E}">
        <p14:creationId xmlns:p14="http://schemas.microsoft.com/office/powerpoint/2010/main" val="18481660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4 -0.0007 L -0.00026 0.15625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8" grpId="0" animBg="1"/>
      <p:bldP spid="19" grpId="0"/>
      <p:bldP spid="20" grpId="0" animBg="1"/>
      <p:bldP spid="21" grpId="0"/>
      <p:bldP spid="22" grpId="0"/>
      <p:bldP spid="22" grpId="1"/>
      <p:bldP spid="23" grpId="0" animBg="1"/>
      <p:bldP spid="24" grpId="0" animBg="1"/>
      <p:bldP spid="25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8" grpId="0"/>
      <p:bldP spid="39" grpId="0"/>
      <p:bldP spid="4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in Sleep &amp; Wakeup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consumer</a:t>
            </a:r>
            <a:r>
              <a:rPr lang="en-US"/>
              <a:t> has just </a:t>
            </a:r>
            <a:r>
              <a:rPr lang="en-US" b="1">
                <a:solidFill>
                  <a:schemeClr val="accent6"/>
                </a:solidFill>
              </a:rPr>
              <a:t>read the variable count</a:t>
            </a:r>
            <a:r>
              <a:rPr lang="en-US"/>
              <a:t>, noticed </a:t>
            </a:r>
            <a:r>
              <a:rPr lang="en-US" b="1">
                <a:solidFill>
                  <a:schemeClr val="accent6"/>
                </a:solidFill>
              </a:rPr>
              <a:t>it's zero </a:t>
            </a:r>
            <a:r>
              <a:rPr lang="en-US"/>
              <a:t>and is just about to move inside the if block.</a:t>
            </a:r>
          </a:p>
          <a:p>
            <a:r>
              <a:rPr lang="en-US"/>
              <a:t>Just </a:t>
            </a:r>
            <a:r>
              <a:rPr lang="en-US" b="1">
                <a:solidFill>
                  <a:schemeClr val="accent6"/>
                </a:solidFill>
              </a:rPr>
              <a:t>before calling sleep</a:t>
            </a:r>
            <a:r>
              <a:rPr lang="en-US"/>
              <a:t>, the </a:t>
            </a:r>
            <a:r>
              <a:rPr lang="en-US" b="1">
                <a:solidFill>
                  <a:schemeClr val="accent6"/>
                </a:solidFill>
              </a:rPr>
              <a:t>consumer is suspended </a:t>
            </a:r>
            <a:r>
              <a:rPr lang="en-US"/>
              <a:t>and the </a:t>
            </a:r>
            <a:r>
              <a:rPr lang="en-US" b="1">
                <a:solidFill>
                  <a:schemeClr val="accent6"/>
                </a:solidFill>
              </a:rPr>
              <a:t>producer is resumed</a:t>
            </a:r>
            <a:r>
              <a:rPr lang="en-US"/>
              <a:t>.</a:t>
            </a:r>
          </a:p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producer creates an item</a:t>
            </a:r>
            <a:r>
              <a:rPr lang="en-US"/>
              <a:t>, </a:t>
            </a:r>
            <a:r>
              <a:rPr lang="en-US" b="1">
                <a:solidFill>
                  <a:schemeClr val="accent6"/>
                </a:solidFill>
              </a:rPr>
              <a:t>puts it into the buffer</a:t>
            </a:r>
            <a:r>
              <a:rPr lang="en-US"/>
              <a:t>, and </a:t>
            </a:r>
            <a:r>
              <a:rPr lang="en-US" b="1">
                <a:solidFill>
                  <a:schemeClr val="accent6"/>
                </a:solidFill>
              </a:rPr>
              <a:t>increases count</a:t>
            </a:r>
            <a:r>
              <a:rPr lang="en-US"/>
              <a:t>.</a:t>
            </a:r>
          </a:p>
          <a:p>
            <a:r>
              <a:rPr lang="en-US"/>
              <a:t>Because the </a:t>
            </a:r>
            <a:r>
              <a:rPr lang="en-US" b="1">
                <a:solidFill>
                  <a:schemeClr val="accent6"/>
                </a:solidFill>
              </a:rPr>
              <a:t>buffer was empty prior to the last addition</a:t>
            </a:r>
            <a:r>
              <a:rPr lang="en-US"/>
              <a:t>, the </a:t>
            </a:r>
            <a:r>
              <a:rPr lang="en-US" b="1">
                <a:solidFill>
                  <a:schemeClr val="accent6"/>
                </a:solidFill>
              </a:rPr>
              <a:t>producer tries to wake up </a:t>
            </a:r>
            <a:r>
              <a:rPr lang="en-US"/>
              <a:t>the consumer.</a:t>
            </a:r>
          </a:p>
          <a:p>
            <a:r>
              <a:rPr lang="en-US"/>
              <a:t>Unfortunately the </a:t>
            </a:r>
            <a:r>
              <a:rPr lang="en-US" b="1">
                <a:solidFill>
                  <a:schemeClr val="accent6"/>
                </a:solidFill>
              </a:rPr>
              <a:t>consumer wasn't yet sleeping</a:t>
            </a:r>
            <a:r>
              <a:rPr lang="en-US"/>
              <a:t>, and the </a:t>
            </a:r>
            <a:r>
              <a:rPr lang="en-US" b="1">
                <a:solidFill>
                  <a:schemeClr val="accent6"/>
                </a:solidFill>
              </a:rPr>
              <a:t>wakeup call is lost</a:t>
            </a:r>
            <a:r>
              <a:rPr lang="en-US"/>
              <a:t>. </a:t>
            </a:r>
          </a:p>
          <a:p>
            <a:r>
              <a:rPr lang="en-US"/>
              <a:t>When the </a:t>
            </a:r>
            <a:r>
              <a:rPr lang="en-US" b="1">
                <a:solidFill>
                  <a:schemeClr val="accent6"/>
                </a:solidFill>
              </a:rPr>
              <a:t>consumer resumes</a:t>
            </a:r>
            <a:r>
              <a:rPr lang="en-US"/>
              <a:t>, it </a:t>
            </a:r>
            <a:r>
              <a:rPr lang="en-US" b="1">
                <a:solidFill>
                  <a:schemeClr val="accent6"/>
                </a:solidFill>
              </a:rPr>
              <a:t>goes to sleep </a:t>
            </a:r>
            <a:r>
              <a:rPr lang="en-US"/>
              <a:t>and will </a:t>
            </a:r>
            <a:r>
              <a:rPr lang="en-US" b="1">
                <a:solidFill>
                  <a:schemeClr val="accent6"/>
                </a:solidFill>
              </a:rPr>
              <a:t>never be awakened again</a:t>
            </a:r>
            <a:r>
              <a:rPr lang="en-US"/>
              <a:t>. This is because the </a:t>
            </a:r>
            <a:r>
              <a:rPr lang="en-US" b="1">
                <a:solidFill>
                  <a:schemeClr val="accent6"/>
                </a:solidFill>
              </a:rPr>
              <a:t>consumer is only awakened </a:t>
            </a:r>
            <a:r>
              <a:rPr lang="en-US"/>
              <a:t>by the producer when </a:t>
            </a:r>
            <a:r>
              <a:rPr lang="en-US" b="1">
                <a:solidFill>
                  <a:schemeClr val="accent6"/>
                </a:solidFill>
              </a:rPr>
              <a:t>count is equal to 1</a:t>
            </a:r>
            <a:r>
              <a:rPr lang="en-US"/>
              <a:t>.</a:t>
            </a:r>
          </a:p>
          <a:p>
            <a:r>
              <a:rPr lang="en-US"/>
              <a:t>The </a:t>
            </a:r>
            <a:r>
              <a:rPr lang="en-US" b="1">
                <a:solidFill>
                  <a:schemeClr val="accent6"/>
                </a:solidFill>
              </a:rPr>
              <a:t>producer will loop until the buffer is full</a:t>
            </a:r>
            <a:r>
              <a:rPr lang="en-US"/>
              <a:t>, after which it will also go to sleep.</a:t>
            </a:r>
          </a:p>
          <a:p>
            <a:r>
              <a:rPr lang="en-US"/>
              <a:t>Finally, </a:t>
            </a:r>
            <a:r>
              <a:rPr lang="en-US" b="1">
                <a:solidFill>
                  <a:schemeClr val="accent6"/>
                </a:solidFill>
              </a:rPr>
              <a:t>both the processes will sleep forever</a:t>
            </a:r>
            <a:r>
              <a:rPr lang="en-US"/>
              <a:t>. This solution therefore is unsatisfactory.</a:t>
            </a: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5779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Semaphore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- 4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749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semaphore is a </a:t>
            </a:r>
            <a:r>
              <a:rPr lang="en-US" b="1">
                <a:solidFill>
                  <a:schemeClr val="accent6"/>
                </a:solidFill>
              </a:rPr>
              <a:t>variable that provides an abstraction for controlling the access of a shared resource</a:t>
            </a:r>
            <a:r>
              <a:rPr lang="en-US"/>
              <a:t> by multiple processes in a parallel programming environment.</a:t>
            </a:r>
          </a:p>
          <a:p>
            <a:r>
              <a:rPr lang="en-US"/>
              <a:t>There are 2 types of semaphores: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Binary semaphores </a:t>
            </a:r>
            <a:r>
              <a:rPr lang="en-US"/>
              <a:t>:- </a:t>
            </a:r>
          </a:p>
          <a:p>
            <a:pPr lvl="2"/>
            <a:r>
              <a:rPr lang="en-US"/>
              <a:t>Binary semaphores can </a:t>
            </a:r>
            <a:r>
              <a:rPr lang="en-US">
                <a:solidFill>
                  <a:schemeClr val="accent6"/>
                </a:solidFill>
              </a:rPr>
              <a:t>take only 2 values (0/1)</a:t>
            </a:r>
            <a:r>
              <a:rPr lang="en-US"/>
              <a:t>. </a:t>
            </a:r>
          </a:p>
          <a:p>
            <a:pPr lvl="2"/>
            <a:r>
              <a:rPr lang="en-US"/>
              <a:t>Binary semaphores </a:t>
            </a:r>
            <a:r>
              <a:rPr lang="en-US">
                <a:solidFill>
                  <a:schemeClr val="accent6"/>
                </a:solidFill>
              </a:rPr>
              <a:t>have 2 methods </a:t>
            </a:r>
            <a:r>
              <a:rPr lang="en-US"/>
              <a:t>associated with it (</a:t>
            </a:r>
            <a:r>
              <a:rPr lang="en-US">
                <a:solidFill>
                  <a:schemeClr val="accent6"/>
                </a:solidFill>
              </a:rPr>
              <a:t>up, down / lock, unlock</a:t>
            </a:r>
            <a:r>
              <a:rPr lang="en-US"/>
              <a:t>). </a:t>
            </a:r>
          </a:p>
          <a:p>
            <a:pPr lvl="2"/>
            <a:r>
              <a:rPr lang="en-US"/>
              <a:t>They are </a:t>
            </a:r>
            <a:r>
              <a:rPr lang="en-US">
                <a:solidFill>
                  <a:schemeClr val="accent6"/>
                </a:solidFill>
              </a:rPr>
              <a:t>used to acquire locks</a:t>
            </a:r>
            <a:r>
              <a:rPr lang="en-US"/>
              <a:t>. 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Counting semaphores </a:t>
            </a:r>
            <a:r>
              <a:rPr lang="en-US"/>
              <a:t>:- </a:t>
            </a:r>
          </a:p>
          <a:p>
            <a:pPr lvl="2"/>
            <a:r>
              <a:rPr lang="en-US"/>
              <a:t>Counting semaphore can </a:t>
            </a:r>
            <a:r>
              <a:rPr lang="en-US">
                <a:solidFill>
                  <a:schemeClr val="accent6"/>
                </a:solidFill>
              </a:rPr>
              <a:t>have possible values more than two</a:t>
            </a:r>
            <a:r>
              <a:rPr lang="en-US"/>
              <a:t>.</a:t>
            </a: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8826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want functions insert _item and remove_item such that the following hold: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Mutually exclusive access to buffer</a:t>
            </a:r>
            <a:r>
              <a:rPr lang="en-US"/>
              <a:t>: </a:t>
            </a:r>
            <a:r>
              <a:rPr lang="en-US">
                <a:solidFill>
                  <a:schemeClr val="accent6"/>
                </a:solidFill>
              </a:rPr>
              <a:t>At any time only one process should be executing </a:t>
            </a:r>
            <a:r>
              <a:rPr lang="en-US"/>
              <a:t>(either insert_item or remove_item). 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No buffer overflow</a:t>
            </a:r>
            <a:r>
              <a:rPr lang="en-US"/>
              <a:t>: A process executes </a:t>
            </a:r>
            <a:r>
              <a:rPr lang="en-US" err="1">
                <a:solidFill>
                  <a:schemeClr val="accent6"/>
                </a:solidFill>
              </a:rPr>
              <a:t>insert_item only when the buffer is not full </a:t>
            </a:r>
            <a:r>
              <a:rPr lang="en-US"/>
              <a:t>(i.e., the process is blocked if the buffer is full). 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No buffer underflow</a:t>
            </a:r>
            <a:r>
              <a:rPr lang="en-US"/>
              <a:t>: A process executes </a:t>
            </a:r>
            <a:r>
              <a:rPr lang="en-US" err="1">
                <a:solidFill>
                  <a:schemeClr val="accent6"/>
                </a:solidFill>
              </a:rPr>
              <a:t>remove_item only when the buffer is not empty </a:t>
            </a:r>
            <a:r>
              <a:rPr lang="en-US"/>
              <a:t>(i.e., the process is blocked if the buffer is empty).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No busy waiting</a:t>
            </a:r>
            <a:r>
              <a:rPr lang="en-US"/>
              <a:t>. 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No producer starvation</a:t>
            </a:r>
            <a:r>
              <a:rPr lang="en-US"/>
              <a:t>: A process </a:t>
            </a:r>
            <a:r>
              <a:rPr lang="en-US">
                <a:solidFill>
                  <a:schemeClr val="accent6"/>
                </a:solidFill>
              </a:rPr>
              <a:t>does not wait forever at insert_item() </a:t>
            </a:r>
            <a:r>
              <a:rPr lang="en-US"/>
              <a:t>provided the buffer repeatedly becomes full. </a:t>
            </a:r>
          </a:p>
          <a:p>
            <a:pPr lvl="1"/>
            <a:r>
              <a:rPr lang="en-US" b="1">
                <a:solidFill>
                  <a:schemeClr val="tx2"/>
                </a:solidFill>
              </a:rPr>
              <a:t>No consumer starvation</a:t>
            </a:r>
            <a:r>
              <a:rPr lang="en-US"/>
              <a:t>: A process </a:t>
            </a:r>
            <a:r>
              <a:rPr lang="en-US">
                <a:solidFill>
                  <a:schemeClr val="accent6"/>
                </a:solidFill>
              </a:rPr>
              <a:t>does not wait forever at remove_item() </a:t>
            </a:r>
            <a:r>
              <a:rPr lang="en-US"/>
              <a:t>provided the buffer repeatedly becomes empty.</a:t>
            </a: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9086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on Semaphore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Wait(): a process performs a wait operation to </a:t>
            </a:r>
            <a:r>
              <a:rPr lang="en-US" b="1">
                <a:solidFill>
                  <a:schemeClr val="accent6"/>
                </a:solidFill>
              </a:rPr>
              <a:t>tell the semaphore that it wants exclusive access to the shared resource</a:t>
            </a:r>
            <a:r>
              <a:rPr lang="en-US"/>
              <a:t>.</a:t>
            </a:r>
          </a:p>
          <a:p>
            <a:pPr lvl="1"/>
            <a:r>
              <a:rPr lang="en-US"/>
              <a:t>If the </a:t>
            </a:r>
            <a:r>
              <a:rPr lang="en-US">
                <a:solidFill>
                  <a:schemeClr val="accent6"/>
                </a:solidFill>
              </a:rPr>
              <a:t>semaphore is empty</a:t>
            </a:r>
            <a:r>
              <a:rPr lang="en-US"/>
              <a:t>, then the </a:t>
            </a:r>
            <a:r>
              <a:rPr lang="en-US">
                <a:solidFill>
                  <a:schemeClr val="accent6"/>
                </a:solidFill>
              </a:rPr>
              <a:t>semaphore enters the full state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allows the process to continue </a:t>
            </a:r>
            <a:r>
              <a:rPr lang="en-US"/>
              <a:t>its execution immediately.</a:t>
            </a:r>
          </a:p>
          <a:p>
            <a:pPr lvl="1"/>
            <a:r>
              <a:rPr lang="en-US"/>
              <a:t>If the </a:t>
            </a:r>
            <a:r>
              <a:rPr lang="en-US">
                <a:solidFill>
                  <a:schemeClr val="accent6"/>
                </a:solidFill>
              </a:rPr>
              <a:t>semaphore is full</a:t>
            </a:r>
            <a:r>
              <a:rPr lang="en-US"/>
              <a:t>, then the </a:t>
            </a:r>
            <a:r>
              <a:rPr lang="en-US">
                <a:solidFill>
                  <a:schemeClr val="accent6"/>
                </a:solidFill>
              </a:rPr>
              <a:t>semaphore suspends the process </a:t>
            </a:r>
            <a:r>
              <a:rPr lang="en-US"/>
              <a:t>(and remembers that the process is suspended).</a:t>
            </a:r>
          </a:p>
          <a:p>
            <a:r>
              <a:rPr lang="en-US"/>
              <a:t>Signal(): a process performs a signal operation to </a:t>
            </a:r>
            <a:r>
              <a:rPr lang="en-US" b="1">
                <a:solidFill>
                  <a:schemeClr val="accent6"/>
                </a:solidFill>
              </a:rPr>
              <a:t>inform the semaphore that it is finished using the shared resource</a:t>
            </a:r>
            <a:r>
              <a:rPr lang="en-US"/>
              <a:t>.</a:t>
            </a:r>
          </a:p>
          <a:p>
            <a:pPr lvl="1"/>
            <a:r>
              <a:rPr lang="en-US"/>
              <a:t>If there are </a:t>
            </a:r>
            <a:r>
              <a:rPr lang="en-US">
                <a:solidFill>
                  <a:schemeClr val="accent6"/>
                </a:solidFill>
              </a:rPr>
              <a:t>processes suspended on the semaphore</a:t>
            </a:r>
            <a:r>
              <a:rPr lang="en-US"/>
              <a:t>, the </a:t>
            </a:r>
            <a:r>
              <a:rPr lang="en-US">
                <a:solidFill>
                  <a:schemeClr val="accent6"/>
                </a:solidFill>
              </a:rPr>
              <a:t>semaphore wakes one of the up</a:t>
            </a:r>
            <a:r>
              <a:rPr lang="en-US"/>
              <a:t>.</a:t>
            </a:r>
          </a:p>
          <a:p>
            <a:pPr lvl="1"/>
            <a:r>
              <a:rPr lang="en-US"/>
              <a:t>If there are </a:t>
            </a:r>
            <a:r>
              <a:rPr lang="en-US">
                <a:solidFill>
                  <a:schemeClr val="accent6"/>
                </a:solidFill>
              </a:rPr>
              <a:t>no processes suspended on the semaphore</a:t>
            </a:r>
            <a:r>
              <a:rPr lang="en-US"/>
              <a:t>,	the </a:t>
            </a:r>
            <a:r>
              <a:rPr lang="en-US">
                <a:solidFill>
                  <a:schemeClr val="accent6"/>
                </a:solidFill>
              </a:rPr>
              <a:t>semaphore goes into the empty state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96494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Semaphore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66178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#define N 4</a:t>
            </a:r>
          </a:p>
          <a:p>
            <a:pPr marL="0" indent="0">
              <a:buNone/>
            </a:pPr>
            <a:r>
              <a:rPr lang="en-US" sz="1800" err="1"/>
              <a:t>typedef int semaphore;</a:t>
            </a:r>
          </a:p>
          <a:p>
            <a:pPr marL="0" indent="0">
              <a:buNone/>
            </a:pPr>
            <a:r>
              <a:rPr lang="en-US" sz="1800"/>
              <a:t>semaphore mutex=1; </a:t>
            </a:r>
          </a:p>
          <a:p>
            <a:pPr marL="0" indent="0">
              <a:buNone/>
            </a:pPr>
            <a:r>
              <a:rPr lang="en-US" sz="1800"/>
              <a:t>semaphore empty=N;</a:t>
            </a:r>
          </a:p>
          <a:p>
            <a:pPr marL="0" indent="0">
              <a:buNone/>
            </a:pPr>
            <a:r>
              <a:rPr lang="en-US" sz="1800"/>
              <a:t>semaphore full=0;</a:t>
            </a:r>
          </a:p>
          <a:p>
            <a:pPr marL="0" indent="0">
              <a:buNone/>
            </a:pPr>
            <a:r>
              <a:rPr lang="en-US" sz="1800"/>
              <a:t>void producer (void)</a:t>
            </a:r>
          </a:p>
          <a:p>
            <a:pPr marL="0" indent="0">
              <a:buNone/>
            </a:pPr>
            <a:r>
              <a:rPr lang="en-US" sz="1800"/>
              <a:t>{	int item;</a:t>
            </a:r>
          </a:p>
          <a:p>
            <a:pPr marL="0" indent="0">
              <a:buNone/>
            </a:pPr>
            <a:r>
              <a:rPr lang="en-US" sz="1800"/>
              <a:t>	while (true) </a:t>
            </a:r>
          </a:p>
          <a:p>
            <a:pPr marL="0" indent="0">
              <a:buNone/>
            </a:pPr>
            <a:r>
              <a:rPr lang="en-US" sz="1800"/>
              <a:t>	{	 item=produce_item();</a:t>
            </a:r>
          </a:p>
          <a:p>
            <a:pPr marL="0" indent="0">
              <a:buNone/>
            </a:pPr>
            <a:r>
              <a:rPr lang="en-US" sz="1800"/>
              <a:t>		 down(&amp;empty);</a:t>
            </a:r>
          </a:p>
          <a:p>
            <a:pPr marL="0" indent="0">
              <a:buNone/>
            </a:pPr>
            <a:r>
              <a:rPr lang="en-US" sz="1800"/>
              <a:t>		 down(&amp;mutex);</a:t>
            </a:r>
          </a:p>
          <a:p>
            <a:pPr marL="0" indent="0">
              <a:buNone/>
            </a:pPr>
            <a:r>
              <a:rPr lang="en-US" sz="1800"/>
              <a:t>		 insert_item(item);</a:t>
            </a:r>
          </a:p>
          <a:p>
            <a:pPr marL="0" indent="0">
              <a:buNone/>
            </a:pPr>
            <a:r>
              <a:rPr lang="en-US" sz="1800"/>
              <a:t>		 up(&amp;mutex);</a:t>
            </a:r>
          </a:p>
          <a:p>
            <a:pPr marL="0" indent="0">
              <a:buNone/>
            </a:pPr>
            <a:r>
              <a:rPr lang="en-US" sz="1800"/>
              <a:t>		 up(&amp;full);		}</a:t>
            </a:r>
          </a:p>
          <a:p>
            <a:pPr marL="0" indent="0">
              <a:buNone/>
            </a:pPr>
            <a:r>
              <a:rPr lang="en-US" sz="1800"/>
              <a:t>}</a:t>
            </a:r>
            <a:endParaRPr lang="en-US" sz="1800" b="1">
              <a:solidFill>
                <a:schemeClr val="accent6"/>
              </a:solidFill>
            </a:endParaRPr>
          </a:p>
        </p:txBody>
      </p:sp>
      <p:graphicFrame>
        <p:nvGraphicFramePr>
          <p:cNvPr id="5" name="Content Placeholder 3"/>
          <p:cNvGraphicFramePr/>
          <p:nvPr>
            <p:extLst>
              <p:ext uri="{D42A27DB-BD31-4B8C-83A1-F6EECF244321}">
                <p14:modId xmlns:p14="http://schemas.microsoft.com/office/powerpoint/2010/main" val="4079785383"/>
              </p:ext>
            </p:extLst>
          </p:nvPr>
        </p:nvGraphicFramePr>
        <p:xfrm>
          <a:off x="8946773" y="3591853"/>
          <a:ext cx="13716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51373" y="3579900"/>
            <a:ext cx="10668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6973" y="3579900"/>
            <a:ext cx="11430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1075" y="90783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61925" y="93607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mutex</a:t>
            </a: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181075" y="2915922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361925" y="29441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1075" y="295985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8151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8151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4832" y="3968284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IN" sz="1600"/>
          </a:p>
        </p:txBody>
      </p:sp>
      <p:sp>
        <p:nvSpPr>
          <p:cNvPr id="31" name="TextBox 30"/>
          <p:cNvSpPr txBox="1"/>
          <p:nvPr/>
        </p:nvSpPr>
        <p:spPr>
          <a:xfrm>
            <a:off x="8684832" y="4345259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IN" sz="1600"/>
          </a:p>
        </p:txBody>
      </p:sp>
      <p:sp>
        <p:nvSpPr>
          <p:cNvPr id="32" name="TextBox 31"/>
          <p:cNvSpPr txBox="1"/>
          <p:nvPr/>
        </p:nvSpPr>
        <p:spPr>
          <a:xfrm>
            <a:off x="8684832" y="4722234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  <a:endParaRPr lang="en-IN" sz="1600"/>
          </a:p>
        </p:txBody>
      </p:sp>
      <p:sp>
        <p:nvSpPr>
          <p:cNvPr id="33" name="TextBox 32"/>
          <p:cNvSpPr txBox="1"/>
          <p:nvPr/>
        </p:nvSpPr>
        <p:spPr>
          <a:xfrm>
            <a:off x="8684832" y="5099209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  <a:endParaRPr lang="en-IN" sz="1600"/>
          </a:p>
        </p:txBody>
      </p:sp>
      <p:sp>
        <p:nvSpPr>
          <p:cNvPr id="18" name="Rectangle 17"/>
          <p:cNvSpPr/>
          <p:nvPr/>
        </p:nvSpPr>
        <p:spPr>
          <a:xfrm>
            <a:off x="9181075" y="1625877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361925" y="16541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empty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8151" y="1669811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8151" y="1669811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1075" y="218135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361925" y="22095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8151" y="222528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8151" y="222528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2206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06 -3.33333E-06 L 0.00079 0.14699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3" grpId="0" animBg="1"/>
      <p:bldP spid="24" grpId="0"/>
      <p:bldP spid="25" grpId="0" animBg="1"/>
      <p:bldP spid="26" grpId="0"/>
      <p:bldP spid="27" grpId="0"/>
      <p:bldP spid="27" grpId="1"/>
      <p:bldP spid="28" grpId="0" animBg="1"/>
      <p:bldP spid="28" grpId="1" animBg="1"/>
      <p:bldP spid="29" grpId="0" animBg="1"/>
      <p:bldP spid="29" grpId="1" animBg="1"/>
      <p:bldP spid="29" grpId="2" animBg="1"/>
      <p:bldP spid="30" grpId="0"/>
      <p:bldP spid="31" grpId="0"/>
      <p:bldP spid="32" grpId="0"/>
      <p:bldP spid="33" grpId="0"/>
      <p:bldP spid="18" grpId="0" animBg="1"/>
      <p:bldP spid="19" grpId="0"/>
      <p:bldP spid="20" grpId="0" animBg="1"/>
      <p:bldP spid="20" grpId="1" animBg="1"/>
      <p:bldP spid="21" grpId="0" animBg="1"/>
      <p:bldP spid="22" grpId="0" animBg="1"/>
      <p:bldP spid="34" grpId="0"/>
      <p:bldP spid="35" grpId="0" animBg="1"/>
      <p:bldP spid="35" grpId="1" animBg="1"/>
      <p:bldP spid="3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Semaphore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661784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void consumer (void)</a:t>
            </a:r>
          </a:p>
          <a:p>
            <a:pPr marL="0" indent="0">
              <a:buNone/>
            </a:pPr>
            <a:r>
              <a:rPr lang="en-US" sz="1800"/>
              <a:t>{	int item;</a:t>
            </a:r>
          </a:p>
          <a:p>
            <a:pPr marL="0" indent="0">
              <a:buNone/>
            </a:pPr>
            <a:r>
              <a:rPr lang="en-US" sz="1800"/>
              <a:t>	while (true) </a:t>
            </a:r>
          </a:p>
          <a:p>
            <a:pPr marL="0" indent="0">
              <a:buNone/>
            </a:pPr>
            <a:r>
              <a:rPr lang="en-US" sz="1800"/>
              <a:t>	{</a:t>
            </a:r>
          </a:p>
          <a:p>
            <a:pPr marL="0" indent="0">
              <a:buNone/>
            </a:pPr>
            <a:r>
              <a:rPr lang="en-US" sz="1800"/>
              <a:t>	 	down(&amp;full);</a:t>
            </a:r>
          </a:p>
          <a:p>
            <a:pPr marL="0" indent="0">
              <a:buNone/>
            </a:pPr>
            <a:r>
              <a:rPr lang="en-US" sz="1800"/>
              <a:t>	 	down(&amp;mutex);</a:t>
            </a:r>
          </a:p>
          <a:p>
            <a:pPr marL="0" indent="0">
              <a:buNone/>
            </a:pPr>
            <a:r>
              <a:rPr lang="en-US" sz="1800"/>
              <a:t>	 	item=remove_item(item);</a:t>
            </a:r>
          </a:p>
          <a:p>
            <a:pPr marL="0" indent="0">
              <a:buNone/>
            </a:pPr>
            <a:r>
              <a:rPr lang="en-US" sz="1800"/>
              <a:t>		up(&amp;mutex);</a:t>
            </a:r>
          </a:p>
          <a:p>
            <a:pPr marL="0" indent="0">
              <a:buNone/>
            </a:pPr>
            <a:r>
              <a:rPr lang="en-US" sz="1800"/>
              <a:t>	 	up(&amp;empty);</a:t>
            </a:r>
          </a:p>
          <a:p>
            <a:pPr marL="0" indent="0">
              <a:buNone/>
            </a:pPr>
            <a:r>
              <a:rPr lang="en-US" sz="1800"/>
              <a:t>	 	consume_item(item);</a:t>
            </a:r>
          </a:p>
          <a:p>
            <a:pPr marL="0" indent="0">
              <a:buNone/>
            </a:pPr>
            <a:r>
              <a:rPr lang="en-US" sz="1800"/>
              <a:t>	}</a:t>
            </a:r>
          </a:p>
          <a:p>
            <a:pPr marL="0" indent="0">
              <a:buNone/>
            </a:pPr>
            <a:r>
              <a:rPr lang="en-US" sz="1800"/>
              <a:t>}</a:t>
            </a:r>
            <a:endParaRPr lang="en-US" sz="1800" b="1">
              <a:solidFill>
                <a:schemeClr val="accent6"/>
              </a:solidFill>
            </a:endParaRPr>
          </a:p>
        </p:txBody>
      </p:sp>
      <p:graphicFrame>
        <p:nvGraphicFramePr>
          <p:cNvPr id="18" name="Content Placeholder 3"/>
          <p:cNvGraphicFramePr/>
          <p:nvPr>
            <p:extLst>
              <p:ext uri="{D42A27DB-BD31-4B8C-83A1-F6EECF244321}">
                <p14:modId xmlns:p14="http://schemas.microsoft.com/office/powerpoint/2010/main" val="1635271883"/>
              </p:ext>
            </p:extLst>
          </p:nvPr>
        </p:nvGraphicFramePr>
        <p:xfrm>
          <a:off x="8946773" y="3591853"/>
          <a:ext cx="1371600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71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51373" y="3579900"/>
            <a:ext cx="10668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6973" y="3579900"/>
            <a:ext cx="11430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73808" y="90783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361925" y="93607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mutex</a:t>
            </a: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9181075" y="2915922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361925" y="29441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1075" y="394148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Item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80884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0884" y="95176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4832" y="3968284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IN" sz="1600"/>
          </a:p>
        </p:txBody>
      </p:sp>
      <p:sp>
        <p:nvSpPr>
          <p:cNvPr id="36" name="TextBox 35"/>
          <p:cNvSpPr txBox="1"/>
          <p:nvPr/>
        </p:nvSpPr>
        <p:spPr>
          <a:xfrm>
            <a:off x="8684832" y="4345259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IN" sz="1600"/>
          </a:p>
        </p:txBody>
      </p:sp>
      <p:sp>
        <p:nvSpPr>
          <p:cNvPr id="37" name="TextBox 36"/>
          <p:cNvSpPr txBox="1"/>
          <p:nvPr/>
        </p:nvSpPr>
        <p:spPr>
          <a:xfrm>
            <a:off x="8684832" y="4722234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3</a:t>
            </a:r>
            <a:endParaRPr lang="en-IN" sz="1600"/>
          </a:p>
        </p:txBody>
      </p:sp>
      <p:sp>
        <p:nvSpPr>
          <p:cNvPr id="38" name="TextBox 37"/>
          <p:cNvSpPr txBox="1"/>
          <p:nvPr/>
        </p:nvSpPr>
        <p:spPr>
          <a:xfrm>
            <a:off x="8684832" y="5099209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4</a:t>
            </a:r>
            <a:endParaRPr lang="en-IN" sz="1600"/>
          </a:p>
        </p:txBody>
      </p:sp>
      <p:sp>
        <p:nvSpPr>
          <p:cNvPr id="39" name="Rectangle 38"/>
          <p:cNvSpPr/>
          <p:nvPr/>
        </p:nvSpPr>
        <p:spPr>
          <a:xfrm>
            <a:off x="9181075" y="1625877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361925" y="165412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empty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8151" y="1669811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8151" y="1669811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1075" y="2181354"/>
            <a:ext cx="914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8361925" y="22095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full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8151" y="222528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8151" y="2225288"/>
            <a:ext cx="300249" cy="36933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87174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06 -3.7037E-07 L 0.00053 -0.14306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/>
      <p:bldP spid="33" grpId="0" animBg="1"/>
      <p:bldP spid="33" grpId="1" animBg="1"/>
      <p:bldP spid="34" grpId="0" animBg="1"/>
      <p:bldP spid="34" grpId="1" animBg="1"/>
      <p:bldP spid="41" grpId="0" animBg="1"/>
      <p:bldP spid="42" grpId="0" animBg="1"/>
      <p:bldP spid="45" grpId="0" animBg="1"/>
      <p:bldP spid="4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Classical IPC Problems</a:t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Readers &amp; Writer Problem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5.1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098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Readers &amp; Writer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database is to be shared among several concurrent processes.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In the readers and writers problem, </a:t>
            </a:r>
            <a:r>
              <a:rPr lang="en-US" b="1" dirty="0">
                <a:solidFill>
                  <a:schemeClr val="accent6"/>
                </a:solidFill>
              </a:rPr>
              <a:t>many competing processes are wishing to perform reading and writing operations</a:t>
            </a:r>
            <a:r>
              <a:rPr lang="en-US" dirty="0"/>
              <a:t> in a database.</a:t>
            </a:r>
          </a:p>
          <a:p>
            <a:pPr marL="0" indent="0">
              <a:buNone/>
            </a:pPr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b="1" dirty="0">
                <a:solidFill>
                  <a:schemeClr val="accent6"/>
                </a:solidFill>
              </a:rPr>
              <a:t>acceptable to have multiple processes reading the database at the same time</a:t>
            </a:r>
            <a:r>
              <a:rPr lang="en-US" dirty="0"/>
              <a:t>, but </a:t>
            </a:r>
            <a:r>
              <a:rPr lang="en-US" b="1" dirty="0">
                <a:solidFill>
                  <a:schemeClr val="accent6"/>
                </a:solidFill>
              </a:rPr>
              <a:t>if one process is updating (writing) the database, no other processes may have access to the database</a:t>
            </a:r>
            <a:r>
              <a:rPr lang="en-US" dirty="0"/>
              <a:t>, not even readers.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1681256" y="1913964"/>
            <a:ext cx="609600" cy="60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P1</a:t>
            </a:r>
          </a:p>
        </p:txBody>
      </p:sp>
      <p:sp>
        <p:nvSpPr>
          <p:cNvPr id="5" name="Oval 4"/>
          <p:cNvSpPr/>
          <p:nvPr/>
        </p:nvSpPr>
        <p:spPr>
          <a:xfrm>
            <a:off x="2552113" y="1913964"/>
            <a:ext cx="609600" cy="60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P2</a:t>
            </a:r>
          </a:p>
        </p:txBody>
      </p:sp>
      <p:sp>
        <p:nvSpPr>
          <p:cNvPr id="6" name="Oval 5"/>
          <p:cNvSpPr/>
          <p:nvPr/>
        </p:nvSpPr>
        <p:spPr>
          <a:xfrm>
            <a:off x="3422970" y="1913964"/>
            <a:ext cx="609600" cy="60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7334" y="4123764"/>
            <a:ext cx="1219200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DATABASE</a:t>
            </a:r>
          </a:p>
        </p:txBody>
      </p:sp>
      <p:cxnSp>
        <p:nvCxnSpPr>
          <p:cNvPr id="8" name="Straight Arrow Connector 7"/>
          <p:cNvCxnSpPr>
            <a:stCxn id="4" idx="4"/>
          </p:cNvCxnSpPr>
          <p:nvPr/>
        </p:nvCxnSpPr>
        <p:spPr>
          <a:xfrm>
            <a:off x="1986056" y="2523564"/>
            <a:ext cx="292101" cy="16002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7" idx="0"/>
          </p:cNvCxnSpPr>
          <p:nvPr/>
        </p:nvCxnSpPr>
        <p:spPr>
          <a:xfrm flipH="1">
            <a:off x="2846934" y="2523564"/>
            <a:ext cx="7115" cy="16002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03391" y="2840032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</a:t>
            </a:r>
          </a:p>
        </p:txBody>
      </p:sp>
      <p:cxnSp>
        <p:nvCxnSpPr>
          <p:cNvPr id="11" name="Straight Arrow Connector 10"/>
          <p:cNvCxnSpPr>
            <a:stCxn id="6" idx="4"/>
          </p:cNvCxnSpPr>
          <p:nvPr/>
        </p:nvCxnSpPr>
        <p:spPr>
          <a:xfrm flipH="1">
            <a:off x="3441113" y="2523564"/>
            <a:ext cx="286657" cy="16002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07023" y="2840032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1708" y="329723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3391" y="329723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023" y="329723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4796" y="348189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1194" y="348189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855" y="284003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433" y="283419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2" name="Oval 21"/>
          <p:cNvSpPr/>
          <p:nvPr/>
        </p:nvSpPr>
        <p:spPr>
          <a:xfrm>
            <a:off x="5747734" y="1913964"/>
            <a:ext cx="609600" cy="60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P1</a:t>
            </a:r>
          </a:p>
        </p:txBody>
      </p:sp>
      <p:sp>
        <p:nvSpPr>
          <p:cNvPr id="23" name="Oval 22"/>
          <p:cNvSpPr/>
          <p:nvPr/>
        </p:nvSpPr>
        <p:spPr>
          <a:xfrm>
            <a:off x="6618591" y="1913964"/>
            <a:ext cx="609600" cy="60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P2</a:t>
            </a:r>
          </a:p>
        </p:txBody>
      </p:sp>
      <p:sp>
        <p:nvSpPr>
          <p:cNvPr id="24" name="Oval 23"/>
          <p:cNvSpPr/>
          <p:nvPr/>
        </p:nvSpPr>
        <p:spPr>
          <a:xfrm>
            <a:off x="7489448" y="1913964"/>
            <a:ext cx="609600" cy="60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3812" y="4123764"/>
            <a:ext cx="1219200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DATABASE</a:t>
            </a:r>
          </a:p>
        </p:txBody>
      </p:sp>
      <p:cxnSp>
        <p:nvCxnSpPr>
          <p:cNvPr id="26" name="Straight Arrow Connector 25"/>
          <p:cNvCxnSpPr>
            <a:stCxn id="22" idx="4"/>
          </p:cNvCxnSpPr>
          <p:nvPr/>
        </p:nvCxnSpPr>
        <p:spPr>
          <a:xfrm>
            <a:off x="6052534" y="2523564"/>
            <a:ext cx="292101" cy="16002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5" idx="0"/>
          </p:cNvCxnSpPr>
          <p:nvPr/>
        </p:nvCxnSpPr>
        <p:spPr>
          <a:xfrm flipH="1">
            <a:off x="6913412" y="2523564"/>
            <a:ext cx="7115" cy="16002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69869" y="2840032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</a:t>
            </a:r>
          </a:p>
        </p:txBody>
      </p:sp>
      <p:cxnSp>
        <p:nvCxnSpPr>
          <p:cNvPr id="29" name="Straight Arrow Connector 28"/>
          <p:cNvCxnSpPr>
            <a:stCxn id="24" idx="4"/>
          </p:cNvCxnSpPr>
          <p:nvPr/>
        </p:nvCxnSpPr>
        <p:spPr>
          <a:xfrm flipH="1">
            <a:off x="7507591" y="2523564"/>
            <a:ext cx="286657" cy="160020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73501" y="2840032"/>
            <a:ext cx="64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7300" y="2836296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9869" y="329723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Write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3501" y="329723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1274" y="348189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7672" y="348189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612" y="283419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4244" y="283419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0218" y="2853003"/>
            <a:ext cx="284940" cy="36933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4139" y="2853003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Reader_count</a:t>
            </a:r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134386" y="2742596"/>
            <a:ext cx="3572281" cy="53340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ular Callout 42"/>
          <p:cNvSpPr/>
          <p:nvPr/>
        </p:nvSpPr>
        <p:spPr>
          <a:xfrm>
            <a:off x="8414468" y="1708062"/>
            <a:ext cx="2342340" cy="920234"/>
          </a:xfrm>
          <a:prstGeom prst="wedgeRoundRectCallout">
            <a:avLst>
              <a:gd name="adj1" fmla="val -41379"/>
              <a:gd name="adj2" fmla="val 79496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Need to keep track of read of more than one process at a time</a:t>
            </a:r>
          </a:p>
        </p:txBody>
      </p:sp>
    </p:spTree>
    <p:extLst>
      <p:ext uri="{BB962C8B-B14F-4D97-AF65-F5344CB8AC3E}">
        <p14:creationId xmlns:p14="http://schemas.microsoft.com/office/powerpoint/2010/main" val="3393925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2" grpId="0" animBg="1"/>
      <p:bldP spid="23" grpId="0" animBg="1"/>
      <p:bldP spid="24" grpId="0" animBg="1"/>
      <p:bldP spid="25" grpId="0" animBg="1"/>
      <p:bldP spid="28" grpId="0"/>
      <p:bldP spid="30" grpId="0"/>
      <p:bldP spid="31" grpId="0"/>
      <p:bldP spid="32" grpId="0"/>
      <p:bldP spid="33" grpId="0"/>
      <p:bldP spid="34" grpId="0"/>
      <p:bldP spid="35" grpId="0"/>
      <p:bldP spid="38" grpId="0"/>
      <p:bldP spid="39" grpId="0"/>
      <p:bldP spid="40" grpId="0" animBg="1"/>
      <p:bldP spid="41" grpId="0"/>
      <p:bldP spid="42" grpId="0" animBg="1"/>
      <p:bldP spid="4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Readers &amp; Writer Problem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1194744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To ensure that these difficulties do not arise, we require that the writers have exclusive access to the shared database.</a:t>
            </a:r>
          </a:p>
          <a:p>
            <a:pPr marL="0" indent="0">
              <a:buNone/>
            </a:pPr>
            <a:r>
              <a:rPr lang="en-US" sz="1800" dirty="0" smtClean="0"/>
              <a:t>This synchronization problem is referred to as </a:t>
            </a:r>
            <a:r>
              <a:rPr lang="en-US" sz="1800" b="1" dirty="0" smtClean="0"/>
              <a:t>readers-writers problem</a:t>
            </a:r>
            <a:endParaRPr lang="en-US" sz="1800" b="1" dirty="0"/>
          </a:p>
          <a:p>
            <a:r>
              <a:rPr lang="en-US" sz="1800" dirty="0"/>
              <a:t>Three variables are used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        1. </a:t>
            </a:r>
            <a:r>
              <a:rPr lang="en-US" sz="1800" b="1" dirty="0" smtClean="0"/>
              <a:t>semaphore</a:t>
            </a:r>
            <a:r>
              <a:rPr lang="en-US" sz="1800" dirty="0"/>
              <a:t> </a:t>
            </a:r>
            <a:r>
              <a:rPr lang="en-US" sz="1800" dirty="0" err="1" smtClean="0"/>
              <a:t>mutex</a:t>
            </a:r>
            <a:r>
              <a:rPr lang="en-US" sz="1800" dirty="0" smtClean="0"/>
              <a:t>=1, </a:t>
            </a:r>
            <a:r>
              <a:rPr lang="en-US" sz="1800" dirty="0" err="1" smtClean="0"/>
              <a:t>wrt</a:t>
            </a:r>
            <a:r>
              <a:rPr lang="en-US" sz="1800" dirty="0" smtClean="0"/>
              <a:t> =1;  // </a:t>
            </a:r>
            <a:r>
              <a:rPr lang="en-US" sz="1800" dirty="0"/>
              <a:t>semaphore </a:t>
            </a:r>
            <a:r>
              <a:rPr lang="en-US" sz="1800" b="1" dirty="0" err="1"/>
              <a:t>mutex</a:t>
            </a:r>
            <a:r>
              <a:rPr lang="en-US" sz="1800" dirty="0"/>
              <a:t> is used to ensure mutual exclusion when </a:t>
            </a:r>
            <a:r>
              <a:rPr lang="en-US" sz="1800" b="1" dirty="0" err="1"/>
              <a:t>readcnt</a:t>
            </a:r>
            <a:r>
              <a:rPr lang="en-US" sz="1800" dirty="0"/>
              <a:t> is updated i.e. when </a:t>
            </a:r>
            <a:r>
              <a:rPr lang="en-US" sz="1800" dirty="0" smtClean="0"/>
              <a:t>			   //  any reader enters </a:t>
            </a:r>
            <a:r>
              <a:rPr lang="en-US" sz="1800" dirty="0"/>
              <a:t>or exit from the critical section and semaphore </a:t>
            </a:r>
            <a:r>
              <a:rPr lang="en-US" sz="1800" b="1" dirty="0" err="1"/>
              <a:t>wrt</a:t>
            </a:r>
            <a:r>
              <a:rPr lang="en-US" sz="1800" dirty="0"/>
              <a:t> is used by both </a:t>
            </a:r>
            <a:r>
              <a:rPr lang="en-US" sz="1800" dirty="0" smtClean="0"/>
              <a:t>readers  			   // and writers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b="1" dirty="0" smtClean="0"/>
              <a:t>         2.  </a:t>
            </a:r>
            <a:r>
              <a:rPr lang="en-US" sz="1800" b="1" dirty="0" err="1" smtClean="0"/>
              <a:t>int</a:t>
            </a:r>
            <a:r>
              <a:rPr lang="en-US" sz="1800" dirty="0"/>
              <a:t> </a:t>
            </a:r>
            <a:r>
              <a:rPr lang="en-US" sz="1800" dirty="0" err="1" smtClean="0"/>
              <a:t>readcnt</a:t>
            </a:r>
            <a:r>
              <a:rPr lang="en-US" sz="1800" dirty="0" smtClean="0"/>
              <a:t>=0; </a:t>
            </a:r>
            <a:r>
              <a:rPr lang="en-US" sz="1800" dirty="0"/>
              <a:t> </a:t>
            </a:r>
            <a:r>
              <a:rPr lang="en-US" sz="1800" dirty="0" smtClean="0"/>
              <a:t>                   //</a:t>
            </a:r>
            <a:r>
              <a:rPr lang="en-US" sz="1800" dirty="0"/>
              <a:t>    </a:t>
            </a:r>
            <a:r>
              <a:rPr lang="en-US" sz="1800" b="1" dirty="0" err="1"/>
              <a:t>readcnt</a:t>
            </a:r>
            <a:r>
              <a:rPr lang="en-US" sz="1800" dirty="0"/>
              <a:t> tells the number of processes performing read in the critical </a:t>
            </a:r>
            <a:r>
              <a:rPr lang="en-US" sz="1800" dirty="0" smtClean="0"/>
              <a:t>section/database,                                        				//initially </a:t>
            </a:r>
            <a:r>
              <a:rPr lang="en-US" sz="1800" dirty="0"/>
              <a:t>0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029306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Reader process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do {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</a:t>
            </a:r>
            <a:r>
              <a:rPr lang="en-US" sz="2000" dirty="0"/>
              <a:t>wait(</a:t>
            </a:r>
            <a:r>
              <a:rPr lang="en-US" sz="2000" dirty="0" err="1"/>
              <a:t>mutex</a:t>
            </a:r>
            <a:r>
              <a:rPr lang="en-US" sz="2000" dirty="0" smtClean="0"/>
              <a:t>);                              //readers wants to enter the </a:t>
            </a:r>
            <a:r>
              <a:rPr lang="en-US" sz="2000" dirty="0" err="1" smtClean="0"/>
              <a:t>c.s</a:t>
            </a:r>
            <a:r>
              <a:rPr lang="en-US" sz="2000" dirty="0" smtClean="0"/>
              <a:t> so acquire a lock               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</a:t>
            </a:r>
            <a:r>
              <a:rPr lang="en-US" sz="2000" dirty="0" err="1"/>
              <a:t>readcnt</a:t>
            </a:r>
            <a:r>
              <a:rPr lang="en-US" sz="2000" dirty="0"/>
              <a:t>++;                </a:t>
            </a:r>
            <a:r>
              <a:rPr lang="en-US" sz="2000" dirty="0" smtClean="0"/>
              <a:t>  	// </a:t>
            </a:r>
            <a:r>
              <a:rPr lang="en-US" sz="2000" dirty="0"/>
              <a:t>The number of readers has now increased by 1</a:t>
            </a:r>
          </a:p>
          <a:p>
            <a:pPr marL="0" indent="0">
              <a:buNone/>
            </a:pPr>
            <a:r>
              <a:rPr lang="en-US" sz="2000" dirty="0" smtClean="0"/>
              <a:t>           </a:t>
            </a:r>
            <a:r>
              <a:rPr lang="en-US" sz="2000" b="1" dirty="0" smtClean="0"/>
              <a:t>   </a:t>
            </a:r>
            <a:r>
              <a:rPr lang="en-US" sz="2000" b="1" dirty="0"/>
              <a:t> if (</a:t>
            </a:r>
            <a:r>
              <a:rPr lang="en-US" sz="2000" b="1" dirty="0" err="1"/>
              <a:t>readcnt</a:t>
            </a:r>
            <a:r>
              <a:rPr lang="en-US" sz="2000" b="1" dirty="0"/>
              <a:t>==1)                       </a:t>
            </a:r>
            <a:r>
              <a:rPr lang="en-US" sz="2000" dirty="0" smtClean="0"/>
              <a:t>// there is at least one reader in the critical section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r>
              <a:rPr lang="en-US" sz="2000" b="1" dirty="0" smtClean="0"/>
              <a:t>wait(</a:t>
            </a:r>
            <a:r>
              <a:rPr lang="en-US" sz="2000" b="1" dirty="0" err="1" smtClean="0"/>
              <a:t>wrt</a:t>
            </a:r>
            <a:r>
              <a:rPr lang="en-US" sz="2000" b="1" dirty="0"/>
              <a:t>);                      </a:t>
            </a:r>
            <a:r>
              <a:rPr lang="en-US" sz="2000" b="1" dirty="0" smtClean="0"/>
              <a:t>   </a:t>
            </a:r>
            <a:r>
              <a:rPr lang="en-US" sz="2000" dirty="0" smtClean="0"/>
              <a:t>//this </a:t>
            </a:r>
            <a:r>
              <a:rPr lang="en-US" sz="2000" dirty="0"/>
              <a:t>ensure no writer can enter if there is even one reader</a:t>
            </a:r>
          </a:p>
          <a:p>
            <a:pPr marL="0" indent="0">
              <a:buNone/>
            </a:pPr>
            <a:r>
              <a:rPr lang="en-US" sz="2000" dirty="0" smtClean="0"/>
              <a:t>                                                               </a:t>
            </a:r>
            <a:r>
              <a:rPr lang="en-US" sz="2000" dirty="0"/>
              <a:t>// thus we give preference to readers </a:t>
            </a:r>
            <a:r>
              <a:rPr lang="en-US" sz="2000" dirty="0" smtClean="0"/>
              <a:t>here</a:t>
            </a:r>
          </a:p>
          <a:p>
            <a:pPr marL="0" indent="0">
              <a:buNone/>
            </a:pPr>
            <a:r>
              <a:rPr lang="en-US" sz="2000" dirty="0" smtClean="0"/>
              <a:t>               signal(</a:t>
            </a:r>
            <a:r>
              <a:rPr lang="en-US" sz="2000" dirty="0" err="1" smtClean="0"/>
              <a:t>mutex</a:t>
            </a:r>
            <a:r>
              <a:rPr lang="en-US" sz="2000" dirty="0" smtClean="0"/>
              <a:t>);		 </a:t>
            </a:r>
            <a:r>
              <a:rPr lang="en-US" sz="2000" dirty="0"/>
              <a:t>// other readers can enter while this current reader is inside </a:t>
            </a:r>
            <a:r>
              <a:rPr lang="en-US" sz="2000" dirty="0" smtClean="0"/>
              <a:t>the </a:t>
            </a:r>
            <a:r>
              <a:rPr lang="en-US" sz="2000" dirty="0"/>
              <a:t>critical </a:t>
            </a:r>
            <a:r>
              <a:rPr lang="en-US" sz="2000" dirty="0" smtClean="0"/>
              <a:t>section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b="1" dirty="0" smtClean="0"/>
              <a:t>/* </a:t>
            </a:r>
            <a:r>
              <a:rPr lang="en-US" sz="2000" b="1" dirty="0"/>
              <a:t>current reader performs reading </a:t>
            </a:r>
            <a:r>
              <a:rPr lang="en-US" sz="2000" b="1" dirty="0" smtClean="0"/>
              <a:t>here*/</a:t>
            </a: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smtClean="0"/>
              <a:t>      </a:t>
            </a:r>
            <a:r>
              <a:rPr lang="en-US" sz="2000" dirty="0"/>
              <a:t>wait(</a:t>
            </a:r>
            <a:r>
              <a:rPr lang="en-US" sz="2000" dirty="0" err="1"/>
              <a:t>mutex</a:t>
            </a:r>
            <a:r>
              <a:rPr lang="en-US" sz="2000" dirty="0"/>
              <a:t>); </a:t>
            </a:r>
            <a:r>
              <a:rPr lang="en-US" sz="2000" dirty="0" smtClean="0"/>
              <a:t>			//acquire the lock to modify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readcnt</a:t>
            </a:r>
            <a:r>
              <a:rPr lang="en-US" sz="2000" b="1" dirty="0" smtClean="0"/>
              <a:t> </a:t>
            </a:r>
            <a:r>
              <a:rPr lang="en-US" sz="2000" dirty="0" smtClean="0"/>
              <a:t>variable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</a:t>
            </a:r>
            <a:r>
              <a:rPr lang="en-US" sz="2000" dirty="0" err="1" smtClean="0"/>
              <a:t>readcnt</a:t>
            </a:r>
            <a:r>
              <a:rPr lang="en-US" sz="2000" dirty="0" smtClean="0"/>
              <a:t>-</a:t>
            </a:r>
            <a:r>
              <a:rPr lang="en-US" sz="2000" dirty="0"/>
              <a:t>-;	</a:t>
            </a:r>
            <a:r>
              <a:rPr lang="en-US" sz="2000" dirty="0" smtClean="0"/>
              <a:t>		</a:t>
            </a:r>
            <a:r>
              <a:rPr lang="en-US" sz="2000" dirty="0"/>
              <a:t>//readers wants to </a:t>
            </a:r>
            <a:r>
              <a:rPr lang="en-US" sz="2000" dirty="0" smtClean="0"/>
              <a:t>leave</a:t>
            </a:r>
          </a:p>
          <a:p>
            <a:pPr marL="0" indent="0">
              <a:buNone/>
            </a:pPr>
            <a:r>
              <a:rPr lang="en-US" sz="2000" dirty="0" smtClean="0"/>
              <a:t>        if (</a:t>
            </a:r>
            <a:r>
              <a:rPr lang="en-US" sz="2000" dirty="0" err="1" smtClean="0"/>
              <a:t>readcnt</a:t>
            </a:r>
            <a:r>
              <a:rPr lang="en-US" sz="2000" dirty="0" smtClean="0"/>
              <a:t> == 0) 			// that is, no reader is left in the critical section,</a:t>
            </a:r>
          </a:p>
          <a:p>
            <a:pPr marL="0" indent="0">
              <a:buNone/>
            </a:pPr>
            <a:r>
              <a:rPr lang="en-US" sz="2000" dirty="0" smtClean="0"/>
              <a:t>         signal(</a:t>
            </a:r>
            <a:r>
              <a:rPr lang="en-US" sz="2000" dirty="0" err="1" smtClean="0"/>
              <a:t>wrt</a:t>
            </a:r>
            <a:r>
              <a:rPr lang="en-US" sz="2000" dirty="0"/>
              <a:t>);        </a:t>
            </a:r>
            <a:r>
              <a:rPr lang="en-US" sz="2000" dirty="0" smtClean="0"/>
              <a:t> 			 </a:t>
            </a:r>
            <a:r>
              <a:rPr lang="en-US" sz="2000" dirty="0"/>
              <a:t>// writers can enter</a:t>
            </a:r>
          </a:p>
          <a:p>
            <a:pPr marL="0" indent="0">
              <a:buNone/>
            </a:pPr>
            <a:r>
              <a:rPr lang="en-US" sz="2000" dirty="0" smtClean="0"/>
              <a:t>       signal(</a:t>
            </a:r>
            <a:r>
              <a:rPr lang="en-US" sz="2000" dirty="0" err="1" smtClean="0"/>
              <a:t>mutex</a:t>
            </a:r>
            <a:r>
              <a:rPr lang="en-US" sz="2000" dirty="0"/>
              <a:t>); </a:t>
            </a:r>
            <a:r>
              <a:rPr lang="en-US" sz="2000" dirty="0" smtClean="0"/>
              <a:t>			// </a:t>
            </a:r>
            <a:r>
              <a:rPr lang="en-US" sz="2000" dirty="0"/>
              <a:t>reader leaves</a:t>
            </a:r>
          </a:p>
          <a:p>
            <a:pPr marL="0" indent="0">
              <a:buNone/>
            </a:pPr>
            <a:r>
              <a:rPr lang="en-US" sz="2000" dirty="0" smtClean="0"/>
              <a:t>} </a:t>
            </a:r>
            <a:r>
              <a:rPr lang="en-US" sz="2000" dirty="0"/>
              <a:t>while(true);</a:t>
            </a:r>
          </a:p>
        </p:txBody>
      </p:sp>
    </p:spTree>
    <p:extLst>
      <p:ext uri="{BB962C8B-B14F-4D97-AF65-F5344CB8AC3E}">
        <p14:creationId xmlns:p14="http://schemas.microsoft.com/office/powerpoint/2010/main" val="2186801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Writers Process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1194744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1800" dirty="0" smtClean="0">
                <a:solidFill>
                  <a:srgbClr val="273239"/>
                </a:solidFill>
                <a:latin typeface="Nunito"/>
              </a:rPr>
              <a:t>Writer </a:t>
            </a:r>
            <a:r>
              <a:rPr lang="en-US" altLang="en-US" sz="1800" dirty="0">
                <a:solidFill>
                  <a:srgbClr val="273239"/>
                </a:solidFill>
                <a:latin typeface="Nunito"/>
              </a:rPr>
              <a:t>requests the entry to critical section.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sz="1800" dirty="0" smtClean="0">
                <a:solidFill>
                  <a:srgbClr val="273239"/>
                </a:solidFill>
                <a:latin typeface="Nunito"/>
              </a:rPr>
              <a:t>If </a:t>
            </a:r>
            <a:r>
              <a:rPr lang="en-US" altLang="en-US" sz="1800" dirty="0">
                <a:solidFill>
                  <a:srgbClr val="273239"/>
                </a:solidFill>
                <a:latin typeface="Nunito"/>
              </a:rPr>
              <a:t>allowed i.e. wait() gives a true value, it enters and performs the write. If not allowed, it keeps on waiting</a:t>
            </a:r>
            <a:r>
              <a:rPr lang="en-US" altLang="en-US" sz="1800" dirty="0" smtClean="0">
                <a:solidFill>
                  <a:srgbClr val="273239"/>
                </a:solidFill>
                <a:latin typeface="Nunito"/>
              </a:rPr>
              <a:t>.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sz="1800" dirty="0">
                <a:solidFill>
                  <a:srgbClr val="273239"/>
                </a:solidFill>
                <a:latin typeface="Nunito"/>
              </a:rPr>
              <a:t>It exits the critical section</a:t>
            </a:r>
            <a:r>
              <a:rPr lang="en-US" altLang="en-US" sz="1800" dirty="0" smtClean="0">
                <a:solidFill>
                  <a:srgbClr val="273239"/>
                </a:solidFill>
                <a:latin typeface="Nunito"/>
              </a:rPr>
              <a:t>.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solidFill>
                <a:srgbClr val="273239"/>
              </a:solidFill>
              <a:latin typeface="Nunito"/>
            </a:endParaRPr>
          </a:p>
          <a:p>
            <a:pPr marL="0" lvl="0" indent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solidFill>
                  <a:srgbClr val="273239"/>
                </a:solidFill>
              </a:rPr>
              <a:t>do { </a:t>
            </a:r>
            <a:endParaRPr lang="en-US" altLang="en-US" sz="1800" b="1" dirty="0" smtClean="0">
              <a:solidFill>
                <a:srgbClr val="273239"/>
              </a:solidFill>
            </a:endParaRPr>
          </a:p>
          <a:p>
            <a:pPr marL="0" lvl="0" indent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solidFill>
                  <a:srgbClr val="273239"/>
                </a:solidFill>
              </a:rPr>
              <a:t>// writer </a:t>
            </a:r>
            <a:r>
              <a:rPr lang="en-US" altLang="en-US" sz="1800" b="1" dirty="0">
                <a:solidFill>
                  <a:srgbClr val="273239"/>
                </a:solidFill>
              </a:rPr>
              <a:t>requests for critical section </a:t>
            </a:r>
            <a:endParaRPr lang="en-US" altLang="en-US" sz="1800" b="1" dirty="0" smtClean="0">
              <a:solidFill>
                <a:srgbClr val="273239"/>
              </a:solidFill>
            </a:endParaRPr>
          </a:p>
          <a:p>
            <a:pPr marL="0" lvl="0" indent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solidFill>
                  <a:srgbClr val="273239"/>
                </a:solidFill>
              </a:rPr>
              <a:t>wait(</a:t>
            </a:r>
            <a:r>
              <a:rPr lang="en-US" altLang="en-US" sz="1800" b="1" dirty="0" err="1" smtClean="0">
                <a:solidFill>
                  <a:srgbClr val="273239"/>
                </a:solidFill>
              </a:rPr>
              <a:t>wrt</a:t>
            </a:r>
            <a:r>
              <a:rPr lang="en-US" altLang="en-US" sz="1800" b="1" dirty="0" smtClean="0">
                <a:solidFill>
                  <a:srgbClr val="273239"/>
                </a:solidFill>
              </a:rPr>
              <a:t>);</a:t>
            </a:r>
          </a:p>
          <a:p>
            <a:pPr marL="0" lvl="0" indent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solidFill>
                  <a:srgbClr val="FF0000"/>
                </a:solidFill>
              </a:rPr>
              <a:t>  /* </a:t>
            </a:r>
            <a:r>
              <a:rPr lang="en-US" altLang="en-US" sz="1800" b="1" dirty="0">
                <a:solidFill>
                  <a:srgbClr val="FF0000"/>
                </a:solidFill>
              </a:rPr>
              <a:t>performs the </a:t>
            </a:r>
            <a:r>
              <a:rPr lang="en-US" altLang="en-US" sz="1800" b="1" dirty="0" smtClean="0">
                <a:solidFill>
                  <a:srgbClr val="FF0000"/>
                </a:solidFill>
              </a:rPr>
              <a:t>write */</a:t>
            </a:r>
          </a:p>
          <a:p>
            <a:pPr marL="0" lvl="0" indent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solidFill>
                  <a:srgbClr val="273239"/>
                </a:solidFill>
              </a:rPr>
              <a:t>signal(</a:t>
            </a:r>
            <a:r>
              <a:rPr lang="en-US" altLang="en-US" sz="1800" b="1" dirty="0" err="1" smtClean="0">
                <a:solidFill>
                  <a:srgbClr val="273239"/>
                </a:solidFill>
              </a:rPr>
              <a:t>wrt</a:t>
            </a:r>
            <a:r>
              <a:rPr lang="en-US" altLang="en-US" sz="1800" b="1" dirty="0">
                <a:solidFill>
                  <a:srgbClr val="273239"/>
                </a:solidFill>
              </a:rPr>
              <a:t>); // leaves the critical section </a:t>
            </a:r>
            <a:endParaRPr lang="en-US" altLang="en-US" sz="1800" b="1" dirty="0" smtClean="0">
              <a:solidFill>
                <a:srgbClr val="273239"/>
              </a:solidFill>
            </a:endParaRPr>
          </a:p>
          <a:p>
            <a:pPr marL="0" lvl="0" indent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solidFill>
                  <a:srgbClr val="273239"/>
                </a:solidFill>
              </a:rPr>
              <a:t>} while(true</a:t>
            </a:r>
            <a:r>
              <a:rPr lang="en-US" altLang="en-US" sz="1800" b="1" dirty="0">
                <a:solidFill>
                  <a:srgbClr val="273239"/>
                </a:solidFill>
              </a:rPr>
              <a:t>);</a:t>
            </a:r>
            <a:r>
              <a:rPr lang="en-US" altLang="en-US" sz="1600" b="1" dirty="0"/>
              <a:t> 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endParaRPr lang="en-US" altLang="en-US" sz="1800" dirty="0">
              <a:solidFill>
                <a:srgbClr val="273239"/>
              </a:solidFill>
              <a:latin typeface="Nunito"/>
            </a:endParaRP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3369"/>
            <a:ext cx="65" cy="366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477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Classical IPC Problems</a:t>
            </a:r>
            <a:b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</a:br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Dinning Philosopher Problem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5.2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91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Dinning Philosopher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7224362" cy="5590565"/>
          </a:xfrm>
        </p:spPr>
        <p:txBody>
          <a:bodyPr/>
          <a:lstStyle/>
          <a:p>
            <a:r>
              <a:rPr lang="en-US" dirty="0"/>
              <a:t>In this problem </a:t>
            </a:r>
            <a:r>
              <a:rPr lang="en-US" b="1" dirty="0">
                <a:solidFill>
                  <a:schemeClr val="accent6"/>
                </a:solidFill>
              </a:rPr>
              <a:t>5 philosophers sitting at a round table doing 2 things eating and thinking</a:t>
            </a:r>
            <a:r>
              <a:rPr lang="en-US" dirty="0"/>
              <a:t>. </a:t>
            </a:r>
          </a:p>
          <a:p>
            <a:r>
              <a:rPr lang="en-US" dirty="0"/>
              <a:t>While </a:t>
            </a:r>
            <a:r>
              <a:rPr lang="en-US" b="1" dirty="0">
                <a:solidFill>
                  <a:schemeClr val="accent6"/>
                </a:solidFill>
              </a:rPr>
              <a:t>eating</a:t>
            </a:r>
            <a:r>
              <a:rPr lang="en-US" dirty="0"/>
              <a:t> they are </a:t>
            </a:r>
            <a:r>
              <a:rPr lang="en-US" b="1" dirty="0">
                <a:solidFill>
                  <a:schemeClr val="accent6"/>
                </a:solidFill>
              </a:rPr>
              <a:t>not thinking </a:t>
            </a:r>
            <a:r>
              <a:rPr lang="en-US" dirty="0"/>
              <a:t>and while </a:t>
            </a:r>
            <a:r>
              <a:rPr lang="en-US" b="1" dirty="0">
                <a:solidFill>
                  <a:schemeClr val="accent6"/>
                </a:solidFill>
              </a:rPr>
              <a:t>thinking</a:t>
            </a:r>
            <a:r>
              <a:rPr lang="en-US" dirty="0"/>
              <a:t> they are </a:t>
            </a:r>
            <a:r>
              <a:rPr lang="en-US" b="1" dirty="0">
                <a:solidFill>
                  <a:schemeClr val="accent6"/>
                </a:solidFill>
              </a:rPr>
              <a:t>not eating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chemeClr val="accent6"/>
                </a:solidFill>
              </a:rPr>
              <a:t>Each philosopher has plates </a:t>
            </a:r>
            <a:r>
              <a:rPr lang="en-US" dirty="0"/>
              <a:t>that is total of </a:t>
            </a:r>
            <a:r>
              <a:rPr lang="en-US" b="1" dirty="0">
                <a:solidFill>
                  <a:schemeClr val="accent6"/>
                </a:solidFill>
              </a:rPr>
              <a:t>5 plates</a:t>
            </a:r>
            <a:r>
              <a:rPr lang="en-US" dirty="0"/>
              <a:t>. </a:t>
            </a:r>
          </a:p>
          <a:p>
            <a:r>
              <a:rPr lang="en-US" dirty="0"/>
              <a:t>And there is a </a:t>
            </a:r>
            <a:r>
              <a:rPr lang="en-US" b="1" dirty="0">
                <a:solidFill>
                  <a:schemeClr val="accent6"/>
                </a:solidFill>
              </a:rPr>
              <a:t>fork place between each pair </a:t>
            </a:r>
            <a:r>
              <a:rPr lang="en-US" dirty="0"/>
              <a:t>of adjacent philosophers that is </a:t>
            </a:r>
            <a:r>
              <a:rPr lang="en-US" b="1" dirty="0">
                <a:solidFill>
                  <a:schemeClr val="accent6"/>
                </a:solidFill>
              </a:rPr>
              <a:t>total of 5 forks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chemeClr val="accent6"/>
                </a:solidFill>
              </a:rPr>
              <a:t>Each philosopher needs 2 forks to eat </a:t>
            </a:r>
            <a:r>
              <a:rPr lang="en-US" dirty="0"/>
              <a:t>and each </a:t>
            </a:r>
            <a:r>
              <a:rPr lang="en-US" b="1" dirty="0">
                <a:solidFill>
                  <a:schemeClr val="accent6"/>
                </a:solidFill>
              </a:rPr>
              <a:t>philosopher can only use the forks on his immediate left and immediate right</a:t>
            </a:r>
            <a:r>
              <a:rPr lang="en-US" dirty="0"/>
              <a:t>.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4" name="Picture 2" descr="Image result for dining philosophers proble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80512" y="863444"/>
            <a:ext cx="4305300" cy="4465320"/>
          </a:xfrm>
          <a:prstGeom prst="rect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5049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Dinning Philosopher Problem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1194744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smtClean="0"/>
              <a:t>One simple solution is to represent each fork/chopstick with a semaphore.</a:t>
            </a:r>
          </a:p>
          <a:p>
            <a:r>
              <a:rPr lang="en-US" sz="1800" dirty="0" smtClean="0">
                <a:solidFill>
                  <a:schemeClr val="accent6"/>
                </a:solidFill>
              </a:rPr>
              <a:t>A philosopher tries to grab a fork/chopstick by executing a wait() operation on that semaphore</a:t>
            </a:r>
          </a:p>
          <a:p>
            <a:r>
              <a:rPr lang="en-US" sz="1800" dirty="0" smtClean="0">
                <a:solidFill>
                  <a:schemeClr val="accent6"/>
                </a:solidFill>
              </a:rPr>
              <a:t>He releases his fork or chopstick by executing the signal() operation on the appropriate semaphores.</a:t>
            </a:r>
          </a:p>
          <a:p>
            <a:r>
              <a:rPr lang="en-US" sz="1800" dirty="0" smtClean="0">
                <a:solidFill>
                  <a:schemeClr val="accent6"/>
                </a:solidFill>
              </a:rPr>
              <a:t>Thus the shares data are  semaphore </a:t>
            </a:r>
            <a:r>
              <a:rPr lang="en-US" sz="1800" b="1" dirty="0" smtClean="0">
                <a:solidFill>
                  <a:schemeClr val="accent6"/>
                </a:solidFill>
              </a:rPr>
              <a:t>chopstick[5];</a:t>
            </a:r>
          </a:p>
          <a:p>
            <a:r>
              <a:rPr lang="en-US" sz="1800" dirty="0" smtClean="0">
                <a:solidFill>
                  <a:schemeClr val="accent6"/>
                </a:solidFill>
              </a:rPr>
              <a:t>Where all the elements of chopstick are initialize to 1(binary semaphore means lock is free)</a:t>
            </a:r>
            <a:endParaRPr lang="en-US" sz="1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412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Dinning Philosopher Problem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1194744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The structure of </a:t>
            </a:r>
            <a:r>
              <a:rPr lang="en-US" sz="1800" dirty="0"/>
              <a:t>philosopher </a:t>
            </a:r>
            <a:r>
              <a:rPr lang="en-US" sz="1800" dirty="0" err="1" smtClean="0"/>
              <a:t>i</a:t>
            </a:r>
            <a:r>
              <a:rPr lang="en-US" sz="1800" dirty="0" smtClean="0"/>
              <a:t>  {</a:t>
            </a:r>
            <a:r>
              <a:rPr lang="en-US" sz="1800" dirty="0"/>
              <a:t>	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dirty="0" smtClean="0"/>
              <a:t>       do   </a:t>
            </a: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wait(chopstick[</a:t>
            </a:r>
            <a:r>
              <a:rPr lang="en-US" sz="1800" dirty="0" err="1" smtClean="0"/>
              <a:t>i</a:t>
            </a:r>
            <a:r>
              <a:rPr lang="en-US" sz="1800" dirty="0" smtClean="0"/>
              <a:t>]);</a:t>
            </a:r>
            <a:r>
              <a:rPr lang="en-US" sz="1800" dirty="0"/>
              <a:t>	</a:t>
            </a:r>
            <a:endParaRPr lang="en-US" sz="18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wait(chopstick[(i+1)%5]);</a:t>
            </a:r>
            <a:r>
              <a:rPr lang="en-US" sz="1800" dirty="0"/>
              <a:t>	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//  eat</a:t>
            </a:r>
            <a:r>
              <a:rPr lang="en-US" sz="1800" dirty="0"/>
              <a:t>	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Signal(chopstick[</a:t>
            </a:r>
            <a:r>
              <a:rPr lang="en-US" sz="1800" dirty="0" err="1" smtClean="0"/>
              <a:t>i</a:t>
            </a:r>
            <a:r>
              <a:rPr lang="en-US" sz="1800" dirty="0"/>
              <a:t>]);	</a:t>
            </a:r>
            <a:endParaRPr lang="en-US" sz="18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800" dirty="0" smtClean="0"/>
              <a:t>signal(chopstick</a:t>
            </a:r>
            <a:r>
              <a:rPr lang="en-US" sz="1800" dirty="0"/>
              <a:t>[(i+1)%5]);      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//think</a:t>
            </a:r>
          </a:p>
          <a:p>
            <a:pPr marL="0" indent="0">
              <a:buNone/>
            </a:pPr>
            <a:r>
              <a:rPr lang="en-US" sz="1800" dirty="0" smtClean="0"/>
              <a:t>  </a:t>
            </a:r>
            <a:r>
              <a:rPr lang="en-US" sz="1800" dirty="0"/>
              <a:t>} while (true</a:t>
            </a:r>
            <a:r>
              <a:rPr lang="en-US" sz="1800" dirty="0" smtClean="0"/>
              <a:t>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chemeClr val="accent6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1" y="859536"/>
            <a:ext cx="6589058" cy="33572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Although this solution guarantees that no two neighbors are eating simultaneously, </a:t>
            </a:r>
            <a:r>
              <a:rPr lang="en-US" b="1" dirty="0" smtClean="0">
                <a:solidFill>
                  <a:schemeClr val="tx1"/>
                </a:solidFill>
              </a:rPr>
              <a:t>it could still create a deadlock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Suppose that all 5 philosophers become hungry simultaneously and each grabs their left chopstick. </a:t>
            </a:r>
            <a:r>
              <a:rPr lang="en-US" b="1" dirty="0" smtClean="0">
                <a:solidFill>
                  <a:schemeClr val="tx1"/>
                </a:solidFill>
              </a:rPr>
              <a:t>All the elements of chopstick will now be equal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When each philosopher tries to grab his right chopstick, he will be delayed forever.(deadlock)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2862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possible remedies to avoid deadlocks: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 at most 4 philosophers to be sitting simultaneously at the table.</a:t>
            </a:r>
          </a:p>
          <a:p>
            <a:r>
              <a:rPr lang="en-US" dirty="0" smtClean="0"/>
              <a:t>Allow a philosopher to pick up his chopsticks only if both chopsticks are available(to do this he must pick them up in a critical section).</a:t>
            </a:r>
          </a:p>
          <a:p>
            <a:r>
              <a:rPr lang="en-US" dirty="0" smtClean="0"/>
              <a:t>Use an asymmetric solution; that is , an odd philosopher picks up first his left chopstick and then his right chopstick, whereas an even philosopher picks up his right chopstick and then his left chopstick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623575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Monitor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640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higher-level </a:t>
            </a:r>
            <a:r>
              <a:rPr lang="en-US" b="1">
                <a:solidFill>
                  <a:schemeClr val="accent6"/>
                </a:solidFill>
              </a:rPr>
              <a:t>synchronization primitive</a:t>
            </a:r>
            <a:r>
              <a:rPr lang="en-US"/>
              <a:t>.</a:t>
            </a:r>
          </a:p>
          <a:p>
            <a:r>
              <a:rPr lang="en-US"/>
              <a:t>A monitor is a </a:t>
            </a:r>
            <a:r>
              <a:rPr lang="en-US" b="1">
                <a:solidFill>
                  <a:schemeClr val="accent6"/>
                </a:solidFill>
              </a:rPr>
              <a:t>collection of procedures, variables, and data structures </a:t>
            </a:r>
            <a:r>
              <a:rPr lang="en-US"/>
              <a:t>that are all </a:t>
            </a:r>
            <a:r>
              <a:rPr lang="en-US" b="1">
                <a:solidFill>
                  <a:schemeClr val="accent6"/>
                </a:solidFill>
              </a:rPr>
              <a:t>grouped together in a special kind of module or package</a:t>
            </a:r>
            <a:r>
              <a:rPr lang="en-US"/>
              <a:t>. </a:t>
            </a:r>
          </a:p>
          <a:p>
            <a:r>
              <a:rPr lang="en-US" b="1">
                <a:solidFill>
                  <a:schemeClr val="accent6"/>
                </a:solidFill>
              </a:rPr>
              <a:t>Processes may call the procedures </a:t>
            </a:r>
            <a:r>
              <a:rPr lang="en-US"/>
              <a:t>in a monitor whenever they want to, but they </a:t>
            </a:r>
            <a:r>
              <a:rPr lang="en-US" b="1">
                <a:solidFill>
                  <a:schemeClr val="accent6"/>
                </a:solidFill>
              </a:rPr>
              <a:t>cannot directly access the monitor’s internal data structures </a:t>
            </a:r>
            <a:r>
              <a:rPr lang="en-US"/>
              <a:t>from procedures declared outside the monitor.</a:t>
            </a:r>
          </a:p>
          <a:p>
            <a:r>
              <a:rPr lang="en-US"/>
              <a:t>Monitors have an important property for achieving mutual exclusion: </a:t>
            </a:r>
            <a:r>
              <a:rPr lang="en-US" b="1">
                <a:solidFill>
                  <a:schemeClr val="accent6"/>
                </a:solidFill>
              </a:rPr>
              <a:t>only one process can be active in a monitor at any instant</a:t>
            </a:r>
            <a:r>
              <a:rPr lang="en-US"/>
              <a:t>.</a:t>
            </a:r>
          </a:p>
          <a:p>
            <a:r>
              <a:rPr lang="en-US"/>
              <a:t>When a process calls a monitor procedure, the </a:t>
            </a:r>
            <a:r>
              <a:rPr lang="en-US" b="1">
                <a:solidFill>
                  <a:schemeClr val="accent6"/>
                </a:solidFill>
              </a:rPr>
              <a:t>first few instructions of the procedure will check to see if any other process is currently active within the monitor</a:t>
            </a:r>
            <a:r>
              <a:rPr lang="en-US"/>
              <a:t>. </a:t>
            </a:r>
          </a:p>
          <a:p>
            <a:r>
              <a:rPr lang="en-US"/>
              <a:t>If so, the </a:t>
            </a:r>
            <a:r>
              <a:rPr lang="en-US" b="1">
                <a:solidFill>
                  <a:schemeClr val="accent6"/>
                </a:solidFill>
              </a:rPr>
              <a:t>calling process will be suspended </a:t>
            </a:r>
            <a:r>
              <a:rPr lang="en-US"/>
              <a:t>until the other process has left the monitor. If no other process is using the monitor, the calling process may enter.</a:t>
            </a: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7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Monitor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solution proposes condition variables, along with two operations on them, </a:t>
            </a:r>
            <a:r>
              <a:rPr lang="en-US" b="1">
                <a:solidFill>
                  <a:schemeClr val="accent6"/>
                </a:solidFill>
              </a:rPr>
              <a:t>wait and signal</a:t>
            </a:r>
            <a:r>
              <a:rPr lang="en-US"/>
              <a:t>. </a:t>
            </a:r>
          </a:p>
          <a:p>
            <a:r>
              <a:rPr lang="en-US"/>
              <a:t>When a monitor procedure discovers that it cannot continue (e.g., the </a:t>
            </a:r>
            <a:r>
              <a:rPr lang="en-US" b="1">
                <a:solidFill>
                  <a:schemeClr val="accent6"/>
                </a:solidFill>
              </a:rPr>
              <a:t>producer finds the buffer full</a:t>
            </a:r>
            <a:r>
              <a:rPr lang="en-US"/>
              <a:t>), it does a </a:t>
            </a:r>
            <a:r>
              <a:rPr lang="en-US" b="1">
                <a:solidFill>
                  <a:schemeClr val="accent6"/>
                </a:solidFill>
              </a:rPr>
              <a:t>wait on some condition variable, full</a:t>
            </a:r>
            <a:r>
              <a:rPr lang="en-US"/>
              <a:t>. </a:t>
            </a:r>
          </a:p>
          <a:p>
            <a:r>
              <a:rPr lang="en-US"/>
              <a:t>This action causes the </a:t>
            </a:r>
            <a:r>
              <a:rPr lang="en-US" b="1">
                <a:solidFill>
                  <a:schemeClr val="accent6"/>
                </a:solidFill>
              </a:rPr>
              <a:t>calling process to block</a:t>
            </a:r>
            <a:r>
              <a:rPr lang="en-US"/>
              <a:t>. It also allows another process that had been previously prohibited from entering the monitor to enter now.</a:t>
            </a:r>
          </a:p>
          <a:p>
            <a:r>
              <a:rPr lang="en-US"/>
              <a:t>This other process the consumer, can wake up its sleeping partner by doing a signal on the condition variable that its partner is waiting on. </a:t>
            </a:r>
          </a:p>
          <a:p>
            <a:r>
              <a:rPr lang="en-US"/>
              <a:t>To avoid having two active processes in the monitor at the same time a signal statement may appear only as the final statement in a monitor procedure. </a:t>
            </a:r>
          </a:p>
          <a:p>
            <a:r>
              <a:rPr lang="en-US"/>
              <a:t>If a signal is done on a condition variable on which several processes are waiting, only one of them, determined by the system scheduler, is revived.</a:t>
            </a:r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6281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Monitor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1194744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monitor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 err="1"/>
              <a:t>ProducerConsumer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condition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/>
              <a:t>full, empty;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integer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/>
              <a:t>count;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procedure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/>
              <a:t>producer;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while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/>
              <a:t>true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 b="1">
                <a:solidFill>
                  <a:schemeClr val="accent6"/>
                </a:solidFill>
              </a:rPr>
              <a:t>do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	</a:t>
            </a:r>
            <a:r>
              <a:rPr lang="en-US" sz="1800"/>
              <a:t>item=produce_item;</a:t>
            </a:r>
          </a:p>
          <a:p>
            <a:pPr marL="0" indent="0">
              <a:buNone/>
            </a:pPr>
            <a:r>
              <a:rPr lang="en-US" sz="1800"/>
              <a:t>		ProducerConsumer.insert(item);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end</a:t>
            </a:r>
            <a:r>
              <a:rPr lang="en-US" sz="1800">
                <a:solidFill>
                  <a:schemeClr val="accent6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end</a:t>
            </a:r>
            <a:r>
              <a:rPr lang="en-US" sz="1800">
                <a:solidFill>
                  <a:schemeClr val="accent6"/>
                </a:solidFill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9816" y="4185463"/>
            <a:ext cx="6675120" cy="2011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6"/>
                </a:solidFill>
              </a:rPr>
              <a:t>procedure</a:t>
            </a:r>
            <a:r>
              <a:rPr lang="en-US"/>
              <a:t> </a:t>
            </a:r>
            <a:r>
              <a:rPr lang="en-US">
                <a:solidFill>
                  <a:schemeClr val="tx1"/>
                </a:solidFill>
              </a:rPr>
              <a:t>insert (item:integer);</a:t>
            </a:r>
          </a:p>
          <a:p>
            <a:r>
              <a:rPr lang="en-US"/>
              <a:t>	</a:t>
            </a:r>
            <a:r>
              <a:rPr lang="en-US" b="1">
                <a:solidFill>
                  <a:schemeClr val="accent6"/>
                </a:solidFill>
              </a:rPr>
              <a:t>begin</a:t>
            </a:r>
          </a:p>
          <a:p>
            <a:r>
              <a:rPr lang="en-US"/>
              <a:t>		</a:t>
            </a:r>
            <a:r>
              <a:rPr lang="en-US" b="1">
                <a:solidFill>
                  <a:schemeClr val="accent6"/>
                </a:solidFill>
              </a:rPr>
              <a:t>if</a:t>
            </a:r>
            <a:r>
              <a:rPr lang="en-US"/>
              <a:t> </a:t>
            </a:r>
            <a:r>
              <a:rPr lang="en-US">
                <a:solidFill>
                  <a:schemeClr val="tx1"/>
                </a:solidFill>
              </a:rPr>
              <a:t>count=N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then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wait</a:t>
            </a:r>
            <a:r>
              <a:rPr lang="en-US"/>
              <a:t> </a:t>
            </a:r>
            <a:r>
              <a:rPr lang="en-US">
                <a:solidFill>
                  <a:schemeClr val="tx1"/>
                </a:solidFill>
              </a:rPr>
              <a:t>(full);</a:t>
            </a:r>
          </a:p>
          <a:p>
            <a:r>
              <a:rPr lang="en-US"/>
              <a:t>		</a:t>
            </a:r>
            <a:r>
              <a:rPr lang="en-US" err="1">
                <a:solidFill>
                  <a:schemeClr val="tx1"/>
                </a:solidFill>
              </a:rPr>
              <a:t>insert_item(item);</a:t>
            </a:r>
          </a:p>
          <a:p>
            <a:r>
              <a:rPr lang="en-US">
                <a:solidFill>
                  <a:schemeClr val="tx1"/>
                </a:solidFill>
              </a:rPr>
              <a:t>		count=count+1;</a:t>
            </a:r>
          </a:p>
          <a:p>
            <a:r>
              <a:rPr lang="en-US"/>
              <a:t>		</a:t>
            </a:r>
            <a:r>
              <a:rPr lang="en-US" b="1">
                <a:solidFill>
                  <a:schemeClr val="accent6"/>
                </a:solidFill>
              </a:rPr>
              <a:t>if</a:t>
            </a:r>
            <a:r>
              <a:rPr lang="en-US"/>
              <a:t> </a:t>
            </a:r>
            <a:r>
              <a:rPr lang="en-US">
                <a:solidFill>
                  <a:schemeClr val="tx1"/>
                </a:solidFill>
              </a:rPr>
              <a:t>count=1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then</a:t>
            </a:r>
            <a:r>
              <a:rPr lang="en-US"/>
              <a:t> </a:t>
            </a:r>
            <a:r>
              <a:rPr lang="en-US" b="1">
                <a:solidFill>
                  <a:schemeClr val="accent6"/>
                </a:solidFill>
              </a:rPr>
              <a:t>signal</a:t>
            </a:r>
            <a:r>
              <a:rPr lang="en-US"/>
              <a:t> </a:t>
            </a:r>
            <a:r>
              <a:rPr lang="en-US">
                <a:solidFill>
                  <a:schemeClr val="tx1"/>
                </a:solidFill>
              </a:rPr>
              <a:t>(empty);</a:t>
            </a:r>
          </a:p>
          <a:p>
            <a:r>
              <a:rPr lang="en-US"/>
              <a:t>	</a:t>
            </a:r>
            <a:r>
              <a:rPr lang="en-US" b="1">
                <a:solidFill>
                  <a:schemeClr val="accent6"/>
                </a:solidFill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2009101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Monitor</a:t>
            </a:r>
          </a:p>
        </p:txBody>
      </p:sp>
      <p:sp>
        <p:nvSpPr>
          <p:cNvPr id="4" name="Content Placeholder 2"/>
          <p:cNvSpPr txBox="1"/>
          <p:nvPr/>
        </p:nvSpPr>
        <p:spPr>
          <a:xfrm>
            <a:off x="128016" y="859536"/>
            <a:ext cx="11947443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procedure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/>
              <a:t>consumer</a:t>
            </a:r>
            <a:r>
              <a:rPr lang="en-US" sz="1800">
                <a:solidFill>
                  <a:schemeClr val="accent6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while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/>
              <a:t>true</a:t>
            </a:r>
            <a:r>
              <a:rPr lang="en-US" sz="1800">
                <a:solidFill>
                  <a:schemeClr val="accent6"/>
                </a:solidFill>
              </a:rPr>
              <a:t> </a:t>
            </a:r>
            <a:r>
              <a:rPr lang="en-US" sz="1800" b="1">
                <a:solidFill>
                  <a:schemeClr val="accent6"/>
                </a:solidFill>
              </a:rPr>
              <a:t>do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	</a:t>
            </a:r>
            <a:r>
              <a:rPr lang="en-US" sz="1800"/>
              <a:t>item=ProducerConsumer.remove;</a:t>
            </a:r>
          </a:p>
          <a:p>
            <a:pPr marL="0" indent="0">
              <a:buNone/>
            </a:pPr>
            <a:r>
              <a:rPr lang="en-US" sz="1800"/>
              <a:t>		Consume_insert(item);</a:t>
            </a:r>
          </a:p>
          <a:p>
            <a:pPr marL="0" indent="0">
              <a:buNone/>
            </a:pPr>
            <a:r>
              <a:rPr lang="en-US" sz="1800">
                <a:solidFill>
                  <a:schemeClr val="accent6"/>
                </a:solidFill>
              </a:rPr>
              <a:t>	</a:t>
            </a:r>
            <a:r>
              <a:rPr lang="en-US" sz="1800" b="1">
                <a:solidFill>
                  <a:schemeClr val="accent6"/>
                </a:solidFill>
              </a:rPr>
              <a:t>end</a:t>
            </a:r>
            <a:r>
              <a:rPr lang="en-US" sz="1800">
                <a:solidFill>
                  <a:schemeClr val="accent6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end</a:t>
            </a:r>
            <a:r>
              <a:rPr lang="en-US" sz="1800">
                <a:solidFill>
                  <a:schemeClr val="accent6"/>
                </a:solidFill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2039816" y="3002686"/>
            <a:ext cx="6675120" cy="2560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accent6"/>
                </a:solidFill>
              </a:rPr>
              <a:t>function</a:t>
            </a:r>
            <a:r>
              <a:rPr lang="en-US">
                <a:solidFill>
                  <a:schemeClr val="tx1"/>
                </a:solidFill>
              </a:rPr>
              <a:t> remove:integer;</a:t>
            </a:r>
          </a:p>
          <a:p>
            <a:r>
              <a:rPr lang="en-US">
                <a:solidFill>
                  <a:schemeClr val="tx1"/>
                </a:solidFill>
              </a:rPr>
              <a:t>	</a:t>
            </a:r>
            <a:r>
              <a:rPr lang="en-US" b="1">
                <a:solidFill>
                  <a:schemeClr val="accent6"/>
                </a:solidFill>
              </a:rPr>
              <a:t>begin</a:t>
            </a:r>
          </a:p>
          <a:p>
            <a:r>
              <a:rPr lang="en-US">
                <a:solidFill>
                  <a:schemeClr val="tx1"/>
                </a:solidFill>
              </a:rPr>
              <a:t>		 </a:t>
            </a:r>
            <a:r>
              <a:rPr lang="en-US" b="1">
                <a:solidFill>
                  <a:schemeClr val="accent6"/>
                </a:solidFill>
              </a:rPr>
              <a:t>if</a:t>
            </a:r>
            <a:r>
              <a:rPr lang="en-US">
                <a:solidFill>
                  <a:schemeClr val="tx1"/>
                </a:solidFill>
              </a:rPr>
              <a:t> count=0 </a:t>
            </a:r>
            <a:r>
              <a:rPr lang="en-US" b="1">
                <a:solidFill>
                  <a:schemeClr val="accent6"/>
                </a:solidFill>
              </a:rPr>
              <a:t>then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1">
                <a:solidFill>
                  <a:schemeClr val="accent6"/>
                </a:solidFill>
              </a:rPr>
              <a:t>wait</a:t>
            </a:r>
            <a:r>
              <a:rPr lang="en-US">
                <a:solidFill>
                  <a:schemeClr val="tx1"/>
                </a:solidFill>
              </a:rPr>
              <a:t> (empty);</a:t>
            </a:r>
          </a:p>
          <a:p>
            <a:r>
              <a:rPr lang="en-US">
                <a:solidFill>
                  <a:schemeClr val="tx1"/>
                </a:solidFill>
              </a:rPr>
              <a:t>		remove=remove_item;</a:t>
            </a:r>
          </a:p>
          <a:p>
            <a:r>
              <a:rPr lang="en-US">
                <a:solidFill>
                  <a:schemeClr val="tx1"/>
                </a:solidFill>
              </a:rPr>
              <a:t>		count=count-1;</a:t>
            </a:r>
          </a:p>
          <a:p>
            <a:r>
              <a:rPr lang="en-US">
                <a:solidFill>
                  <a:schemeClr val="tx1"/>
                </a:solidFill>
              </a:rPr>
              <a:t>		</a:t>
            </a:r>
            <a:r>
              <a:rPr lang="en-US" b="1">
                <a:solidFill>
                  <a:schemeClr val="accent6"/>
                </a:solidFill>
              </a:rPr>
              <a:t>if</a:t>
            </a:r>
            <a:r>
              <a:rPr lang="en-US">
                <a:solidFill>
                  <a:schemeClr val="tx1"/>
                </a:solidFill>
              </a:rPr>
              <a:t> count=N-1 </a:t>
            </a:r>
            <a:r>
              <a:rPr lang="en-US" b="1">
                <a:solidFill>
                  <a:schemeClr val="accent6"/>
                </a:solidFill>
              </a:rPr>
              <a:t>then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1">
                <a:solidFill>
                  <a:schemeClr val="accent6"/>
                </a:solidFill>
              </a:rPr>
              <a:t>signal</a:t>
            </a:r>
            <a:r>
              <a:rPr lang="en-US">
                <a:solidFill>
                  <a:schemeClr val="tx1"/>
                </a:solidFill>
              </a:rPr>
              <a:t> (full);</a:t>
            </a:r>
          </a:p>
          <a:p>
            <a:r>
              <a:rPr lang="en-US">
                <a:solidFill>
                  <a:schemeClr val="tx1"/>
                </a:solidFill>
              </a:rPr>
              <a:t>	</a:t>
            </a:r>
            <a:r>
              <a:rPr lang="en-US" b="1">
                <a:solidFill>
                  <a:schemeClr val="accent6"/>
                </a:solidFill>
              </a:rPr>
              <a:t>end;</a:t>
            </a:r>
          </a:p>
          <a:p>
            <a:r>
              <a:rPr lang="en-US">
                <a:solidFill>
                  <a:schemeClr val="tx1"/>
                </a:solidFill>
              </a:rPr>
              <a:t>	count=0;</a:t>
            </a:r>
          </a:p>
          <a:p>
            <a:r>
              <a:rPr lang="en-US" b="1">
                <a:solidFill>
                  <a:schemeClr val="accent6"/>
                </a:solidFill>
              </a:rPr>
              <a:t>end monitor;</a:t>
            </a:r>
          </a:p>
        </p:txBody>
      </p:sp>
    </p:spTree>
    <p:extLst>
      <p:ext uri="{BB962C8B-B14F-4D97-AF65-F5344CB8AC3E}">
        <p14:creationId xmlns:p14="http://schemas.microsoft.com/office/powerpoint/2010/main" val="22460383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err="1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Mutex</a:t>
            </a:r>
            <a:endParaRPr lang="en-US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– 7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71896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Mutex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Mutex </a:t>
            </a:r>
            <a:r>
              <a:rPr lang="en-US"/>
              <a:t>is the short form for ‘</a:t>
            </a:r>
            <a:r>
              <a:rPr lang="en-US" b="1">
                <a:solidFill>
                  <a:schemeClr val="accent6"/>
                </a:solidFill>
              </a:rPr>
              <a:t>Mutual Exclusion Object</a:t>
            </a:r>
            <a:r>
              <a:rPr lang="en-US"/>
              <a:t>’. </a:t>
            </a:r>
          </a:p>
          <a:p>
            <a:r>
              <a:rPr lang="en-US"/>
              <a:t>A Mutex and the binary semaphore are essentially the same. </a:t>
            </a:r>
          </a:p>
          <a:p>
            <a:r>
              <a:rPr lang="en-US"/>
              <a:t>Both </a:t>
            </a:r>
            <a:r>
              <a:rPr lang="en-US" b="1" err="1">
                <a:solidFill>
                  <a:schemeClr val="accent6"/>
                </a:solidFill>
              </a:rPr>
              <a:t>Mutex and the binary semaphore can take values: 0 or 1</a:t>
            </a:r>
            <a:r>
              <a:rPr lang="en-US"/>
              <a:t>.</a:t>
            </a:r>
          </a:p>
          <a:p>
            <a:pPr marL="544512" lvl="1" indent="0">
              <a:buNone/>
            </a:pPr>
            <a:endParaRPr lang="en-US"/>
          </a:p>
          <a:p>
            <a:pPr marL="544512" lvl="1" indent="0">
              <a:buNone/>
            </a:pPr>
            <a:r>
              <a:rPr lang="en-US" err="1"/>
              <a:t>mutex_lock</a:t>
            </a:r>
            <a:r>
              <a:rPr lang="en-US"/>
              <a:t>:</a:t>
            </a:r>
          </a:p>
          <a:p>
            <a:pPr marL="544512" lvl="1" indent="0">
              <a:buNone/>
            </a:pPr>
            <a:r>
              <a:rPr lang="en-US"/>
              <a:t>	TSL REGISTER,MUTEX        </a:t>
            </a:r>
            <a:r>
              <a:rPr lang="en-US">
                <a:solidFill>
                  <a:schemeClr val="accent6"/>
                </a:solidFill>
              </a:rPr>
              <a:t>|copy Mutex to register and set Mutex to 1</a:t>
            </a:r>
          </a:p>
          <a:p>
            <a:pPr marL="544512" lvl="1" indent="0">
              <a:buNone/>
            </a:pPr>
            <a:r>
              <a:rPr lang="en-US"/>
              <a:t>	CMP REGISTERS, #0           </a:t>
            </a:r>
            <a:r>
              <a:rPr lang="en-US">
                <a:solidFill>
                  <a:schemeClr val="accent6"/>
                </a:solidFill>
              </a:rPr>
              <a:t>|was Mutex zero?</a:t>
            </a:r>
          </a:p>
          <a:p>
            <a:pPr marL="544512" lvl="1" indent="0">
              <a:buNone/>
            </a:pPr>
            <a:r>
              <a:rPr lang="en-US"/>
              <a:t>	JZE ok                                  </a:t>
            </a:r>
            <a:r>
              <a:rPr lang="en-US">
                <a:solidFill>
                  <a:schemeClr val="accent6"/>
                </a:solidFill>
              </a:rPr>
              <a:t>|if it was zero, Mutex was unlocked, so return</a:t>
            </a:r>
          </a:p>
          <a:p>
            <a:pPr marL="544512" lvl="1" indent="0">
              <a:buNone/>
            </a:pPr>
            <a:r>
              <a:rPr lang="en-US"/>
              <a:t>	CALL thread_yield               </a:t>
            </a:r>
            <a:r>
              <a:rPr lang="en-US">
                <a:solidFill>
                  <a:schemeClr val="accent6"/>
                </a:solidFill>
              </a:rPr>
              <a:t>|</a:t>
            </a:r>
            <a:r>
              <a:rPr lang="en-US" err="1">
                <a:solidFill>
                  <a:schemeClr val="accent6"/>
                </a:solidFill>
              </a:rPr>
              <a:t>Mutex is busy; schedule another thread</a:t>
            </a:r>
          </a:p>
          <a:p>
            <a:pPr marL="544512" lvl="1" indent="0">
              <a:buNone/>
            </a:pPr>
            <a:r>
              <a:rPr lang="en-US"/>
              <a:t>	JMP mutex_lock                  </a:t>
            </a:r>
            <a:r>
              <a:rPr lang="en-US">
                <a:solidFill>
                  <a:schemeClr val="accent6"/>
                </a:solidFill>
              </a:rPr>
              <a:t>|try again later</a:t>
            </a:r>
          </a:p>
          <a:p>
            <a:pPr marL="544512" lvl="1" indent="0">
              <a:buNone/>
            </a:pPr>
            <a:r>
              <a:rPr lang="en-US"/>
              <a:t>ok:       	RET                        </a:t>
            </a:r>
            <a:r>
              <a:rPr lang="en-US">
                <a:solidFill>
                  <a:schemeClr val="accent6"/>
                </a:solidFill>
              </a:rPr>
              <a:t>|return to caller; critical region entered</a:t>
            </a:r>
          </a:p>
          <a:p>
            <a:pPr lvl="1"/>
            <a:endParaRPr lang="en-US"/>
          </a:p>
          <a:p>
            <a:pPr marL="544512" lvl="1" indent="0">
              <a:buNone/>
            </a:pPr>
            <a:r>
              <a:rPr lang="en-US" err="1"/>
              <a:t>mutex_unlock:</a:t>
            </a:r>
          </a:p>
          <a:p>
            <a:pPr marL="544512" lvl="1" indent="0">
              <a:buNone/>
            </a:pPr>
            <a:r>
              <a:rPr lang="en-US"/>
              <a:t>	MOVE MUTEX,#0                </a:t>
            </a:r>
            <a:r>
              <a:rPr lang="en-US">
                <a:solidFill>
                  <a:schemeClr val="accent6"/>
                </a:solidFill>
              </a:rPr>
              <a:t>|store a 0 in Mutex</a:t>
            </a:r>
          </a:p>
          <a:p>
            <a:pPr marL="544512" lvl="1" indent="0">
              <a:buNone/>
            </a:pPr>
            <a:r>
              <a:rPr lang="en-US"/>
              <a:t>	RET                                      </a:t>
            </a:r>
            <a:r>
              <a:rPr lang="en-US">
                <a:solidFill>
                  <a:schemeClr val="accent6"/>
                </a:solidFill>
              </a:rPr>
              <a:t> |return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20155849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Message </a:t>
            </a:r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</a:rPr>
              <a:t>Passing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963341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method will use </a:t>
            </a:r>
            <a:r>
              <a:rPr lang="en-US" b="1">
                <a:solidFill>
                  <a:schemeClr val="accent6"/>
                </a:solidFill>
              </a:rPr>
              <a:t>two primitives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>
                <a:solidFill>
                  <a:schemeClr val="tx2"/>
                </a:solidFill>
              </a:rPr>
              <a:t>Send</a:t>
            </a:r>
            <a:r>
              <a:rPr lang="en-US"/>
              <a:t>:  It is used to </a:t>
            </a:r>
            <a:r>
              <a:rPr lang="en-US" b="1">
                <a:solidFill>
                  <a:schemeClr val="accent6"/>
                </a:solidFill>
              </a:rPr>
              <a:t>send message</a:t>
            </a:r>
            <a:r>
              <a:rPr lang="en-US"/>
              <a:t>.</a:t>
            </a:r>
          </a:p>
          <a:p>
            <a:pPr lvl="2"/>
            <a:r>
              <a:rPr lang="en-US"/>
              <a:t>Send (destination, &amp;message)</a:t>
            </a:r>
          </a:p>
          <a:p>
            <a:pPr lvl="2"/>
            <a:r>
              <a:rPr lang="en-US"/>
              <a:t>In above syntax </a:t>
            </a:r>
            <a:r>
              <a:rPr lang="en-US">
                <a:solidFill>
                  <a:schemeClr val="accent6"/>
                </a:solidFill>
              </a:rPr>
              <a:t>destination is the process to which sender want to send message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message is what the sender wants to send</a:t>
            </a:r>
            <a:r>
              <a:rPr lang="en-US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>
                <a:solidFill>
                  <a:schemeClr val="tx2"/>
                </a:solidFill>
              </a:rPr>
              <a:t>Receive</a:t>
            </a:r>
            <a:r>
              <a:rPr lang="en-US"/>
              <a:t>: It is used to receive message.</a:t>
            </a:r>
          </a:p>
          <a:p>
            <a:pPr lvl="2"/>
            <a:r>
              <a:rPr lang="en-US"/>
              <a:t>Receive (source, &amp;message)</a:t>
            </a:r>
          </a:p>
          <a:p>
            <a:pPr lvl="2"/>
            <a:r>
              <a:rPr lang="en-US"/>
              <a:t>In above syntax </a:t>
            </a:r>
            <a:r>
              <a:rPr lang="en-US">
                <a:solidFill>
                  <a:schemeClr val="accent6"/>
                </a:solidFill>
              </a:rPr>
              <a:t>source is the process that has send message </a:t>
            </a:r>
            <a:r>
              <a:rPr lang="en-US"/>
              <a:t>and </a:t>
            </a:r>
            <a:r>
              <a:rPr lang="en-US">
                <a:solidFill>
                  <a:schemeClr val="accent6"/>
                </a:solidFill>
              </a:rPr>
              <a:t>message is what the sender has sent</a:t>
            </a:r>
            <a:r>
              <a:rPr lang="en-US"/>
              <a:t>.</a:t>
            </a:r>
          </a:p>
          <a:p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521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Producer Consumer problem using message passing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34100" y="838489"/>
            <a:ext cx="5943600" cy="4247317"/>
          </a:xfrm>
          <a:prstGeom prst="roundRect">
            <a:avLst>
              <a:gd name="adj" fmla="val 126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/>
          </a:p>
          <a:p>
            <a:endParaRPr lang="en-IN"/>
          </a:p>
          <a:p>
            <a:r>
              <a:rPr lang="en-IN"/>
              <a:t>void consumer (void)</a:t>
            </a:r>
          </a:p>
          <a:p>
            <a:r>
              <a:rPr lang="en-IN"/>
              <a:t>{</a:t>
            </a:r>
          </a:p>
          <a:p>
            <a:r>
              <a:rPr lang="en-IN"/>
              <a:t>    int item, i;		</a:t>
            </a:r>
          </a:p>
          <a:p>
            <a:r>
              <a:rPr lang="en-IN"/>
              <a:t>    message m;</a:t>
            </a:r>
          </a:p>
          <a:p>
            <a:r>
              <a:rPr lang="en-IN"/>
              <a:t>    for (i=0; i&lt;N; i++) send (producer, &amp;m);    </a:t>
            </a:r>
            <a:r>
              <a:rPr lang="en-IN">
                <a:solidFill>
                  <a:schemeClr val="accent6"/>
                </a:solidFill>
              </a:rPr>
              <a:t>//send N empties</a:t>
            </a:r>
          </a:p>
          <a:p>
            <a:r>
              <a:rPr lang="en-IN"/>
              <a:t>    while (true)			</a:t>
            </a:r>
          </a:p>
          <a:p>
            <a:r>
              <a:rPr lang="en-IN"/>
              <a:t>    {</a:t>
            </a:r>
          </a:p>
          <a:p>
            <a:r>
              <a:rPr lang="en-IN"/>
              <a:t>      receive (producer, &amp;m);	</a:t>
            </a:r>
            <a:r>
              <a:rPr lang="en-IN">
                <a:solidFill>
                  <a:schemeClr val="accent6"/>
                </a:solidFill>
              </a:rPr>
              <a:t>//get message containing item</a:t>
            </a:r>
          </a:p>
          <a:p>
            <a:r>
              <a:rPr lang="en-IN"/>
              <a:t>      item=extract_item(&amp;m);	</a:t>
            </a:r>
            <a:r>
              <a:rPr lang="en-IN">
                <a:solidFill>
                  <a:schemeClr val="accent6"/>
                </a:solidFill>
              </a:rPr>
              <a:t>//extract item from message</a:t>
            </a:r>
          </a:p>
          <a:p>
            <a:r>
              <a:rPr lang="en-IN"/>
              <a:t>      send (producer, &amp;m);	</a:t>
            </a:r>
            <a:r>
              <a:rPr lang="en-IN">
                <a:solidFill>
                  <a:schemeClr val="accent6"/>
                </a:solidFill>
              </a:rPr>
              <a:t>//send back empty reply</a:t>
            </a:r>
          </a:p>
          <a:p>
            <a:r>
              <a:rPr lang="en-IN"/>
              <a:t>      consume_item (item);	</a:t>
            </a:r>
            <a:r>
              <a:rPr lang="en-IN">
                <a:solidFill>
                  <a:schemeClr val="accent6"/>
                </a:solidFill>
              </a:rPr>
              <a:t>//do something with the item</a:t>
            </a:r>
          </a:p>
          <a:p>
            <a:r>
              <a:rPr lang="en-IN"/>
              <a:t>    }</a:t>
            </a:r>
          </a:p>
          <a:p>
            <a:r>
              <a:rPr lang="en-IN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" y="838488"/>
            <a:ext cx="5943600" cy="4247317"/>
          </a:xfrm>
          <a:prstGeom prst="roundRect">
            <a:avLst>
              <a:gd name="adj" fmla="val 10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  <a:p>
            <a:endParaRPr lang="en-US"/>
          </a:p>
          <a:p>
            <a:r>
              <a:rPr lang="en-US"/>
              <a:t>#define N 100		</a:t>
            </a:r>
            <a:r>
              <a:rPr lang="en-US">
                <a:solidFill>
                  <a:schemeClr val="accent6"/>
                </a:solidFill>
              </a:rPr>
              <a:t>//number of slots in buffer</a:t>
            </a:r>
          </a:p>
          <a:p>
            <a:r>
              <a:rPr lang="en-US"/>
              <a:t>void producer (void)</a:t>
            </a:r>
          </a:p>
          <a:p>
            <a:r>
              <a:rPr lang="en-US"/>
              <a:t>{</a:t>
            </a:r>
          </a:p>
          <a:p>
            <a:r>
              <a:rPr lang="en-US"/>
              <a:t>    int item;		</a:t>
            </a:r>
          </a:p>
          <a:p>
            <a:r>
              <a:rPr lang="en-US"/>
              <a:t>    message m;		</a:t>
            </a:r>
            <a:r>
              <a:rPr lang="en-US">
                <a:solidFill>
                  <a:schemeClr val="accent6"/>
                </a:solidFill>
              </a:rPr>
              <a:t>//message buffer</a:t>
            </a:r>
          </a:p>
          <a:p>
            <a:r>
              <a:rPr lang="en-US"/>
              <a:t>    while (true)</a:t>
            </a:r>
          </a:p>
          <a:p>
            <a:r>
              <a:rPr lang="en-US"/>
              <a:t>    {</a:t>
            </a:r>
          </a:p>
          <a:p>
            <a:r>
              <a:rPr lang="en-US"/>
              <a:t>      item=produce_item();  </a:t>
            </a:r>
            <a:r>
              <a:rPr lang="en-US">
                <a:solidFill>
                  <a:schemeClr val="accent6"/>
                </a:solidFill>
              </a:rPr>
              <a:t>//generate something to put in buffer</a:t>
            </a:r>
          </a:p>
          <a:p>
            <a:r>
              <a:rPr lang="en-US"/>
              <a:t>      receive(consumer, &amp;m);	</a:t>
            </a:r>
            <a:r>
              <a:rPr lang="en-US">
                <a:solidFill>
                  <a:schemeClr val="accent6"/>
                </a:solidFill>
              </a:rPr>
              <a:t>//wait for an empty to arrive</a:t>
            </a:r>
          </a:p>
          <a:p>
            <a:r>
              <a:rPr lang="en-US"/>
              <a:t>      build_message(&amp;m, item);	</a:t>
            </a:r>
            <a:r>
              <a:rPr lang="en-US">
                <a:solidFill>
                  <a:schemeClr val="accent6"/>
                </a:solidFill>
              </a:rPr>
              <a:t>//construct a message to send</a:t>
            </a:r>
          </a:p>
          <a:p>
            <a:r>
              <a:rPr lang="en-US"/>
              <a:t>      send(consumer, &amp;m);	</a:t>
            </a:r>
            <a:r>
              <a:rPr lang="en-US">
                <a:solidFill>
                  <a:schemeClr val="accent6"/>
                </a:solidFill>
              </a:rPr>
              <a:t>//send item to consumer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4885690" y="955567"/>
            <a:ext cx="1005840" cy="3744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/>
              <a:t>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9600" y="955946"/>
            <a:ext cx="1188720" cy="3744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/>
              <a:t>Consumer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972" r="8995" b="1943"/>
          <a:stretch>
            <a:fillRect/>
          </a:stretch>
        </p:blipFill>
        <p:spPr>
          <a:xfrm>
            <a:off x="7711298" y="5177245"/>
            <a:ext cx="889284" cy="1005840"/>
          </a:xfrm>
          <a:prstGeom prst="rect">
            <a:avLst/>
          </a:prstGeom>
        </p:spPr>
      </p:pic>
      <p:pic>
        <p:nvPicPr>
          <p:cNvPr id="27" name="Content Placeholder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" t="3056" r="2328" b="6111"/>
          <a:stretch>
            <a:fillRect/>
          </a:stretch>
        </p:blipFill>
        <p:spPr>
          <a:xfrm>
            <a:off x="3663938" y="5177245"/>
            <a:ext cx="1033524" cy="1005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47300" y="6187639"/>
            <a:ext cx="10668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/>
              <a:t>Producer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4440" y="6187639"/>
            <a:ext cx="1143000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Consumer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2077" y="5257361"/>
            <a:ext cx="106680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855210" y="5257361"/>
            <a:ext cx="1066800" cy="3657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 sz="1600"/>
              <a:t>Message 1</a:t>
            </a:r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402077" y="5714561"/>
            <a:ext cx="106680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855210" y="5714561"/>
            <a:ext cx="1066800" cy="3657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 sz="1600"/>
              <a:t>Message 2</a:t>
            </a:r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6402077" y="6171761"/>
            <a:ext cx="106680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855210" y="6171761"/>
            <a:ext cx="1066800" cy="3657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pPr algn="ctr"/>
            <a:r>
              <a:rPr lang="en-US" sz="1600"/>
              <a:t>Message 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03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07 1.48148E-06 L -0.12695 -0.00023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28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06 2.96296E-06 L 0.12695 0.00023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23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07 4.81481E-06 L -0.12695 -0.00024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5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06 -3.7037E-06 L 0.12695 0.00024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41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07 -1.85185E-06 L -0.12695 -0.00023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5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06 -3.7037E-07 L 0.12695 0.00023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41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28" grpId="0" animBg="1"/>
      <p:bldP spid="29" grpId="0" animBg="1"/>
      <p:bldP spid="31" grpId="0" animBg="1"/>
      <p:bldP spid="31" grpId="1" animBg="1"/>
      <p:bldP spid="31" grpId="2" animBg="1"/>
      <p:bldP spid="35" grpId="0" animBg="1"/>
      <p:bldP spid="35" grpId="1" animBg="1"/>
      <p:bldP spid="36" grpId="0" animBg="1"/>
      <p:bldP spid="36" grpId="1" animBg="1"/>
      <p:bldP spid="36" grpId="2" animBg="1"/>
      <p:bldP spid="37" grpId="0" animBg="1"/>
      <p:bldP spid="37" grpId="1" animBg="1"/>
      <p:bldP spid="38" grpId="0" animBg="1"/>
      <p:bldP spid="38" grpId="1" animBg="1"/>
      <p:bldP spid="38" grpId="2" animBg="1"/>
      <p:bldP spid="39" grpId="0" animBg="1"/>
      <p:bldP spid="39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Define following Terms: Mutual Exclusion, Critical Section, Race Condition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What is Semaphore? Give the implementation of Readers-Writers Problem using Semaphore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What is Semaphore? Give the implementation of Bounded Buffer Producer Consumer Problem using Semaphore.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Explain Dining philosopher solution using Semaphore.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What Critical section Problem and list the requirements to solve it. Write Peterson’s Solution for the same.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Write short note on message passing.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Explain monitor with algorithm.</a:t>
            </a:r>
          </a:p>
        </p:txBody>
      </p:sp>
    </p:spTree>
    <p:extLst>
      <p:ext uri="{BB962C8B-B14F-4D97-AF65-F5344CB8AC3E}">
        <p14:creationId xmlns:p14="http://schemas.microsoft.com/office/powerpoint/2010/main" val="1610840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5"/>
  <p:tag name="AS_OS" val="Unix 5.4.0.1103"/>
  <p:tag name="AS_RELEASE_DATE" val="2023.09.14"/>
  <p:tag name="AS_TITLE" val="Aspose.Slides for .NET6"/>
  <p:tag name="AS_VERSION" val="23.9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Roboto Condensed"/>
        <a:cs typeface="Arial"/>
      </a:majorFont>
      <a:minorFont>
        <a:latin typeface="Roboto Condensed"/>
        <a:ea typeface="Roboto Condensed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9480</TotalTime>
  <Words>4252</Words>
  <Application>Microsoft Office PowerPoint</Application>
  <PresentationFormat>Widescreen</PresentationFormat>
  <Paragraphs>967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2" baseType="lpstr">
      <vt:lpstr>Roboto Condensed Light</vt:lpstr>
      <vt:lpstr>Wingdings</vt:lpstr>
      <vt:lpstr>Arial</vt:lpstr>
      <vt:lpstr>Wingdings 3</vt:lpstr>
      <vt:lpstr>Calibri</vt:lpstr>
      <vt:lpstr>Wingdings 2</vt:lpstr>
      <vt:lpstr>Segoe UI Black</vt:lpstr>
      <vt:lpstr>Roboto Condensed</vt:lpstr>
      <vt:lpstr>Nunito</vt:lpstr>
      <vt:lpstr>Office Theme</vt:lpstr>
      <vt:lpstr>Unit-2  Concurrency &amp; Interprocess Communication</vt:lpstr>
      <vt:lpstr>PowerPoint Presentation</vt:lpstr>
      <vt:lpstr>IPC, Race Conditions, Critical Section, Mutual Exclusion</vt:lpstr>
      <vt:lpstr>Inter-process communication (IPC)</vt:lpstr>
      <vt:lpstr>Inter-process communication (IPC)</vt:lpstr>
      <vt:lpstr>Models for Inter-process communication (IPC)</vt:lpstr>
      <vt:lpstr>Race Condition</vt:lpstr>
      <vt:lpstr>Example of Race Condition</vt:lpstr>
      <vt:lpstr>Critical Section</vt:lpstr>
      <vt:lpstr>Mutual Exclusion</vt:lpstr>
      <vt:lpstr>Solving Critical-Section Problem</vt:lpstr>
      <vt:lpstr>Mutual exclusion with busy waiting</vt:lpstr>
      <vt:lpstr>Mutual exclusion with busy waiting</vt:lpstr>
      <vt:lpstr>Real life example to explain mechanisms for achieving mutual exclusion with busy waiting</vt:lpstr>
      <vt:lpstr>Disabling interrupts  (Hardware approach)</vt:lpstr>
      <vt:lpstr>Disabling interrupts (Hardware approach)</vt:lpstr>
      <vt:lpstr>Problems in Disabling interrupts (Hardware approach)</vt:lpstr>
      <vt:lpstr>Shared lock variable  (Software approach)</vt:lpstr>
      <vt:lpstr>Shared lock variable (Software approach)</vt:lpstr>
      <vt:lpstr>Shared lock variable (Software approach)</vt:lpstr>
      <vt:lpstr>Strict alteration  (Software approach)</vt:lpstr>
      <vt:lpstr>Strict alteration (Software approach)</vt:lpstr>
      <vt:lpstr>Strict alteration (Software approach)</vt:lpstr>
      <vt:lpstr>Disadvantages of Strict alteration (Software approach)</vt:lpstr>
      <vt:lpstr>Disadvantages of Strict alteration (Software approach)</vt:lpstr>
      <vt:lpstr>TSL (Test and Set Lock) instruction (Hardware approach)</vt:lpstr>
      <vt:lpstr>TSL (Test and Set Lock) instruction (Hardware approach)</vt:lpstr>
      <vt:lpstr>TSL (Test and Set Lock) instruction (Hardware approach)</vt:lpstr>
      <vt:lpstr>Exchange instruction  (Hardware approach)</vt:lpstr>
      <vt:lpstr>Exchange instruction (Hardware approach)</vt:lpstr>
      <vt:lpstr>Dekker’s solution  (Software approach)</vt:lpstr>
      <vt:lpstr>Dekker’s solution (Software approach)</vt:lpstr>
      <vt:lpstr>Dekker’s solution (Software approach)</vt:lpstr>
      <vt:lpstr>Dekker’s solution (Software approach)</vt:lpstr>
      <vt:lpstr>Peterson’s solution  (Software approach)</vt:lpstr>
      <vt:lpstr>Peterson’s solution (Software approach)</vt:lpstr>
      <vt:lpstr>Mutual Exclusion with Busy Waiting</vt:lpstr>
      <vt:lpstr>Busy Waiting (Sleep and Wakeup)</vt:lpstr>
      <vt:lpstr>The Producer Consumer Problem</vt:lpstr>
      <vt:lpstr>The Producer Consumer Problem</vt:lpstr>
      <vt:lpstr>What Producer Consumer problem is?</vt:lpstr>
      <vt:lpstr>Producer Consumer problem using Sleep &amp; Wakeup</vt:lpstr>
      <vt:lpstr>Producer Consumer problem using Sleep &amp; Wakeup</vt:lpstr>
      <vt:lpstr>Problem in Sleep &amp; Wakeup</vt:lpstr>
      <vt:lpstr>Problem in Sleep &amp; Wakeup</vt:lpstr>
      <vt:lpstr>Semaphore</vt:lpstr>
      <vt:lpstr>Semaphore</vt:lpstr>
      <vt:lpstr>Semaphore</vt:lpstr>
      <vt:lpstr>Operations on Semaphore</vt:lpstr>
      <vt:lpstr>Producer Consumer problem using Semaphore</vt:lpstr>
      <vt:lpstr>Producer Consumer problem using Semaphore</vt:lpstr>
      <vt:lpstr>Classical IPC Problems Readers &amp; Writer Problem</vt:lpstr>
      <vt:lpstr>Readers &amp; Writer Problem</vt:lpstr>
      <vt:lpstr>Readers &amp; Writer Problem</vt:lpstr>
      <vt:lpstr>Reader process </vt:lpstr>
      <vt:lpstr>Writers Process</vt:lpstr>
      <vt:lpstr>Classical IPC Problems Dinning Philosopher Problem</vt:lpstr>
      <vt:lpstr>Dinning Philosopher Problem</vt:lpstr>
      <vt:lpstr>Dinning Philosopher Problem</vt:lpstr>
      <vt:lpstr>Dinning Philosopher Problem</vt:lpstr>
      <vt:lpstr>Some possible remedies to avoid deadlocks:</vt:lpstr>
      <vt:lpstr>Monitor</vt:lpstr>
      <vt:lpstr>Monitor</vt:lpstr>
      <vt:lpstr>Producer Consumer problem using Monitor</vt:lpstr>
      <vt:lpstr>Producer Consumer problem using Monitor</vt:lpstr>
      <vt:lpstr>Producer Consumer problem using Monitor</vt:lpstr>
      <vt:lpstr>Mutex</vt:lpstr>
      <vt:lpstr>Mutex</vt:lpstr>
      <vt:lpstr>Message Passing</vt:lpstr>
      <vt:lpstr>Message Passing</vt:lpstr>
      <vt:lpstr>Producer Consumer problem using message passing</vt:lpstr>
      <vt:lpstr>Assignment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982</cp:revision>
  <cp:lastPrinted>2021-03-04T06:44:00Z</cp:lastPrinted>
  <dcterms:created xsi:type="dcterms:W3CDTF">2020-05-01T05:09:15Z</dcterms:created>
  <dcterms:modified xsi:type="dcterms:W3CDTF">2023-12-19T01:24:12Z</dcterms:modified>
</cp:coreProperties>
</file>