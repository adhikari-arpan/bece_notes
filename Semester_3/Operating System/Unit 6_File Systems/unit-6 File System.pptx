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309" r:id="rId2"/>
    <p:sldId id="702" r:id="rId3"/>
    <p:sldId id="703" r:id="rId4"/>
    <p:sldId id="712" r:id="rId5"/>
    <p:sldId id="704" r:id="rId6"/>
    <p:sldId id="705" r:id="rId7"/>
    <p:sldId id="738" r:id="rId8"/>
    <p:sldId id="739" r:id="rId9"/>
    <p:sldId id="708" r:id="rId10"/>
    <p:sldId id="706" r:id="rId11"/>
    <p:sldId id="707" r:id="rId12"/>
    <p:sldId id="710" r:id="rId13"/>
    <p:sldId id="719" r:id="rId14"/>
    <p:sldId id="718" r:id="rId15"/>
    <p:sldId id="715" r:id="rId16"/>
    <p:sldId id="716" r:id="rId17"/>
    <p:sldId id="720" r:id="rId18"/>
    <p:sldId id="740" r:id="rId19"/>
    <p:sldId id="717" r:id="rId20"/>
    <p:sldId id="721" r:id="rId21"/>
    <p:sldId id="711" r:id="rId22"/>
    <p:sldId id="729" r:id="rId23"/>
    <p:sldId id="727" r:id="rId24"/>
    <p:sldId id="722" r:id="rId25"/>
    <p:sldId id="723" r:id="rId26"/>
    <p:sldId id="724" r:id="rId27"/>
    <p:sldId id="734" r:id="rId28"/>
    <p:sldId id="725" r:id="rId29"/>
    <p:sldId id="735" r:id="rId30"/>
    <p:sldId id="726" r:id="rId31"/>
    <p:sldId id="730" r:id="rId32"/>
    <p:sldId id="736" r:id="rId33"/>
    <p:sldId id="737" r:id="rId34"/>
    <p:sldId id="731" r:id="rId35"/>
  </p:sldIdLst>
  <p:sldSz cx="12192000" cy="6858000"/>
  <p:notesSz cx="6954838" cy="9309100"/>
  <p:embeddedFontLst>
    <p:embeddedFont>
      <p:font typeface="Roboto Condensed" panose="020B0604020202020204" charset="0"/>
      <p:regular r:id="rId37"/>
      <p:bold r:id="rId38"/>
      <p:italic r:id="rId39"/>
      <p:boldItalic r:id="rId40"/>
    </p:embeddedFont>
    <p:embeddedFont>
      <p:font typeface="Wingdings 3" panose="05040102010807070707" pitchFamily="18" charset="2"/>
      <p:regular r:id="rId41"/>
    </p:embeddedFont>
    <p:embeddedFont>
      <p:font typeface="Calibri" panose="020F0502020204030204" pitchFamily="34" charset="0"/>
      <p:regular r:id="rId42"/>
      <p:bold r:id="rId43"/>
      <p:italic r:id="rId44"/>
      <p:boldItalic r:id="rId45"/>
    </p:embeddedFont>
    <p:embeddedFont>
      <p:font typeface="Segoe UI Black" panose="020B0A02040204020203" pitchFamily="34" charset="0"/>
      <p:bold r:id="rId46"/>
      <p:boldItalic r:id="rId47"/>
    </p:embeddedFont>
    <p:embeddedFont>
      <p:font typeface="Yu Gothic" panose="020B0400000000000000" pitchFamily="34" charset="-128"/>
      <p:regular r:id="rId48"/>
      <p:bold r:id="rId49"/>
    </p:embeddedFont>
    <p:embeddedFont>
      <p:font typeface="Roboto Condensed Light" panose="020B0604020202020204" charset="0"/>
      <p:regular r:id="rId50"/>
      <p:italic r:id="rId51"/>
    </p:embeddedFont>
  </p:embeddedFontLst>
  <p:custDataLst>
    <p:tags r:id="rId5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86" autoAdjust="0"/>
    <p:restoredTop sz="94434" autoAdjust="0"/>
  </p:normalViewPr>
  <p:slideViewPr>
    <p:cSldViewPr snapToGrid="0">
      <p:cViewPr>
        <p:scale>
          <a:sx n="66" d="100"/>
          <a:sy n="66" d="100"/>
        </p:scale>
        <p:origin x="72" y="162"/>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D648E3F3-8B31-41D2-AA9B-9796555DB866}" type="datetimeFigureOut">
              <a:rPr lang="en-US" smtClean="0"/>
              <a:t>2/7/2024</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t>30</a:t>
            </a:fld>
            <a:endParaRPr lang="en-US"/>
          </a:p>
        </p:txBody>
      </p:sp>
    </p:spTree>
    <p:extLst>
      <p:ext uri="{BB962C8B-B14F-4D97-AF65-F5344CB8AC3E}">
        <p14:creationId xmlns:p14="http://schemas.microsoft.com/office/powerpoint/2010/main" val="135704701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jpe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12.png"/><Relationship Id="rId10" Type="http://schemas.openxmlformats.org/officeDocument/2006/relationships/image" Target="../media/image9.jpeg"/><Relationship Id="rId4" Type="http://schemas.openxmlformats.org/officeDocument/2006/relationships/image" Target="../media/image6.png"/><Relationship Id="rId9" Type="http://schemas.openxmlformats.org/officeDocument/2006/relationships/image" Target="../media/image13.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png"/><Relationship Id="rId7" Type="http://schemas.microsoft.com/office/2007/relationships/hdphoto" Target="../media/hdphoto1.wdp"/><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6.jpeg"/><Relationship Id="rId4" Type="http://schemas.openxmlformats.org/officeDocument/2006/relationships/image" Target="../media/image3.png"/><Relationship Id="rId9" Type="http://schemas.microsoft.com/office/2007/relationships/hdphoto" Target="../media/hdphoto1.wdp"/></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0">
                      <a:srgbClr val="1D3064"/>
                    </a:gs>
                    <a:gs pos="100000">
                      <a:schemeClr val="tx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a:extLst>
              <a:ext uri="{FF2B5EF4-FFF2-40B4-BE49-F238E27FC236}">
                <a16:creationId xmlns:a16="http://schemas.microsoft.com/office/drawing/2014/main" xmlns="" id="{E0042908-6588-4C7A-9615-8D5899E8A9FA}"/>
              </a:ext>
            </a:extLst>
          </p:cNvPr>
          <p:cNvPicPr>
            <a:picLocks noChangeAspect="1"/>
          </p:cNvPicPr>
          <p:nvPr userDrawn="1"/>
        </p:nvPicPr>
        <p:blipFill>
          <a:blip r:embed="rId10">
            <a:extLst>
              <a:ext uri="{28A0092B-C50C-407E-A947-70E740481C1C}">
                <a14:useLocalDpi xmlns:a14="http://schemas.microsoft.com/office/drawing/2010/main" val="0"/>
              </a:ext>
            </a:extLst>
          </a:blip>
          <a:srcRect l="144383" t="-16142" r="-144383" b="22103"/>
          <a:stretch>
            <a:fillRect/>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964DB9-DCC1-4D88-B646-1C14CD19C75D}"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February 7,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6: Input-Output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
        <p:nvSpPr>
          <p:cNvPr id="23" name="Slide Number Placeholder 3">
            <a:extLst>
              <a:ext uri="{FF2B5EF4-FFF2-40B4-BE49-F238E27FC236}">
                <a16:creationId xmlns:a16="http://schemas.microsoft.com/office/drawing/2014/main" xmlns=""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60962" y="773725"/>
            <a:ext cx="11993292" cy="577594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2E11A7A-0D2C-4BD2-BF3B-9DD41892ADF4}"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February 7,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7: File Systems</a:t>
            </a:r>
          </a:p>
        </p:txBody>
      </p:sp>
      <p:sp>
        <p:nvSpPr>
          <p:cNvPr id="23" name="Slide Number Placeholder 3">
            <a:extLst>
              <a:ext uri="{FF2B5EF4-FFF2-40B4-BE49-F238E27FC236}">
                <a16:creationId xmlns:a16="http://schemas.microsoft.com/office/drawing/2014/main" xmlns=""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Firoz A Sherasiya</a:t>
            </a:r>
          </a:p>
        </p:txBody>
      </p:sp>
      <p:sp>
        <p:nvSpPr>
          <p:cNvPr id="22" name="Footer Placeholder 2">
            <a:extLst>
              <a:ext uri="{FF2B5EF4-FFF2-40B4-BE49-F238E27FC236}">
                <a16:creationId xmlns:a16="http://schemas.microsoft.com/office/drawing/2014/main" xmlns=""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#3140702 (OS)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7 – I/O Management &amp; Disk Scheduling</a:t>
            </a:r>
          </a:p>
        </p:txBody>
      </p:sp>
      <p:sp>
        <p:nvSpPr>
          <p:cNvPr id="23" name="Slide Number Placeholder 3">
            <a:extLst>
              <a:ext uri="{FF2B5EF4-FFF2-40B4-BE49-F238E27FC236}">
                <a16:creationId xmlns:a16="http://schemas.microsoft.com/office/drawing/2014/main" xmlns=""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a:blip r:embed="rId3">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07171932-FFF4-4D27-9425-8CB5D27A92F2}"/>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a:fill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xmlns="" id="{1639DF2A-5426-428D-B32D-78E9191D8A0C}"/>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a:fillRect/>
          </a:stretch>
        </p:blipFill>
        <p:spPr>
          <a:xfrm>
            <a:off x="0" y="401568"/>
            <a:ext cx="543946" cy="772151"/>
          </a:xfrm>
          <a:prstGeom prst="rect">
            <a:avLst/>
          </a:prstGeom>
        </p:spPr>
      </p:pic>
      <p:sp>
        <p:nvSpPr>
          <p:cNvPr id="2" name="Title 1">
            <a:extLst>
              <a:ext uri="{FF2B5EF4-FFF2-40B4-BE49-F238E27FC236}">
                <a16:creationId xmlns:a16="http://schemas.microsoft.com/office/drawing/2014/main" xmlns=""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a:gradFill flip="none" rotWithShape="1">
                  <a:gsLst>
                    <a:gs pos="0">
                      <a:srgbClr val="1D3064"/>
                    </a:gs>
                    <a:gs pos="100000">
                      <a:schemeClr val="tx2"/>
                    </a:gs>
                  </a:gsLst>
                  <a:lin ang="0" scaled="1"/>
                </a:gradFill>
                <a:effectLst/>
                <a:latin typeface="+mn-lt"/>
                <a:ea typeface="+mn-ea"/>
                <a:cs typeface="+mn-cs"/>
              </a:defRPr>
            </a:lvl1pPr>
          </a:lstStyle>
          <a:p>
            <a:r>
              <a:rPr lang="en-US"/>
              <a:t>Write here Section Title</a:t>
            </a:r>
          </a:p>
        </p:txBody>
      </p:sp>
      <p:sp>
        <p:nvSpPr>
          <p:cNvPr id="3" name="Text Placeholder 2">
            <a:extLst>
              <a:ext uri="{FF2B5EF4-FFF2-40B4-BE49-F238E27FC236}">
                <a16:creationId xmlns:a16="http://schemas.microsoft.com/office/drawing/2014/main" xmlns=""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Write here Section Subtitle</a:t>
            </a:r>
          </a:p>
        </p:txBody>
      </p:sp>
      <p:sp>
        <p:nvSpPr>
          <p:cNvPr id="10"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a16="http://schemas.microsoft.com/office/drawing/2014/main" xmlns=""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xmlns=""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xmlns=""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a16="http://schemas.microsoft.com/office/drawing/2014/main" xmlns=""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xmlns=""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xmlns=""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a16="http://schemas.microsoft.com/office/drawing/2014/main" xmlns=""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xmlns=""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xmlns=""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80BF4AFD-B365-46D4-AAC5-485DFA5A7D42}"/>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a:t>Thank</a:t>
            </a:r>
          </a:p>
          <a:p>
            <a:pPr algn="ctr"/>
            <a:r>
              <a:rPr lang="en-US" sz="6000" b="1" i="1"/>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003829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a:t>Thank</a:t>
            </a:r>
          </a:p>
          <a:p>
            <a:pPr algn="ctr"/>
            <a:r>
              <a:rPr lang="en-US" sz="6000" b="1" i="1"/>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47"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xmlns=""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xmlns="" id="{9812EDA6-C656-492A-A9CA-44B03C639132}"/>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xmlns="" id="{627AEF91-6492-4B0C-A844-2296473B58D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xmlns=""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52" name="Text Placeholder 2">
            <a:extLst>
              <a:ext uri="{FF2B5EF4-FFF2-40B4-BE49-F238E27FC236}">
                <a16:creationId xmlns:a16="http://schemas.microsoft.com/office/drawing/2014/main" xmlns=""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56"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7"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8" name="Picture 57">
            <a:extLst>
              <a:ext uri="{FF2B5EF4-FFF2-40B4-BE49-F238E27FC236}">
                <a16:creationId xmlns:a16="http://schemas.microsoft.com/office/drawing/2014/main" xmlns="" id="{77B7B864-C091-4493-B14B-F5B61B586EED}"/>
              </a:ext>
            </a:extLst>
          </p:cNvPr>
          <p:cNvPicPr>
            <a:picLocks noChangeAspect="1"/>
          </p:cNvPicPr>
          <p:nvPr userDrawn="1"/>
        </p:nvPicPr>
        <p:blipFill>
          <a:blip r:embed="rId9">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94182793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a:solidFill>
                  <a:srgbClr val="FF0000"/>
                </a:solidFill>
              </a:rPr>
              <a:t>How to Crop Circular Photo?</a:t>
            </a:r>
          </a:p>
        </p:txBody>
      </p:sp>
      <p:sp>
        <p:nvSpPr>
          <p:cNvPr id="11" name="Picture Placeholder 10">
            <a:extLst>
              <a:ext uri="{FF2B5EF4-FFF2-40B4-BE49-F238E27FC236}">
                <a16:creationId xmlns:a16="http://schemas.microsoft.com/office/drawing/2014/main" xmlns=""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4">
                        <a:lumMod val="50000"/>
                      </a:schemeClr>
                    </a:gs>
                    <a:gs pos="100000">
                      <a:srgbClr val="009788"/>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descr="User icon Royalty Free Vector Image - VectorStock">
            <a:extLst>
              <a:ext uri="{FF2B5EF4-FFF2-40B4-BE49-F238E27FC236}">
                <a16:creationId xmlns:a16="http://schemas.microsoft.com/office/drawing/2014/main" xmlns=""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xmlns=""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2">
                        <a:lumMod val="50000"/>
                      </a:schemeClr>
                    </a:gs>
                    <a:gs pos="100000">
                      <a:schemeClr val="accent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0" name="Picture 29" descr="User icon Royalty Free Vector Image - VectorStock">
            <a:extLst>
              <a:ext uri="{FF2B5EF4-FFF2-40B4-BE49-F238E27FC236}">
                <a16:creationId xmlns:a16="http://schemas.microsoft.com/office/drawing/2014/main" xmlns=""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xmlns=""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3">
                        <a:lumMod val="50000"/>
                      </a:schemeClr>
                    </a:gs>
                    <a:gs pos="100000">
                      <a:schemeClr val="accent3"/>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5">
                        <a:lumMod val="75000"/>
                      </a:schemeClr>
                    </a:gs>
                    <a:gs pos="100000">
                      <a:schemeClr val="accent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a:blip r:embed="rId2">
            <a:extLst>
              <a:ext uri="{28A0092B-C50C-407E-A947-70E740481C1C}">
                <a14:useLocalDpi xmlns:a14="http://schemas.microsoft.com/office/drawing/2010/main" val="0"/>
              </a:ext>
            </a:extLst>
          </a:blip>
          <a:srcRect l="6294" t="9689" r="5315" b="18089"/>
          <a:stretch>
            <a:fillRect/>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2302233" cy="338554"/>
          </a:xfrm>
          <a:prstGeom prst="rect">
            <a:avLst/>
          </a:prstGeom>
          <a:noFill/>
        </p:spPr>
        <p:txBody>
          <a:bodyPr wrap="none" rtlCol="0">
            <a:spAutoFit/>
          </a:bodyPr>
          <a:lstStyle/>
          <a:p>
            <a:r>
              <a:rPr lang="en-US" sz="1600" dirty="0"/>
              <a:t>Nepal Engineering College</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454789" y="1795212"/>
            <a:ext cx="2880360" cy="2774747"/>
          </a:xfrm>
          <a:prstGeom prst="rect">
            <a:avLst/>
          </a:prstGeom>
        </p:spPr>
      </p:pic>
    </p:spTree>
    <p:extLst>
      <p:ext uri="{BB962C8B-B14F-4D97-AF65-F5344CB8AC3E}">
        <p14:creationId xmlns:p14="http://schemas.microsoft.com/office/powerpoint/2010/main" val="273162591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273238"/>
                    </a:gs>
                    <a:gs pos="100000">
                      <a:srgbClr val="607D8B"/>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AEB45C91-0DA6-4973-9AEA-FF1388508ACC}"/>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E2622"/>
                    </a:gs>
                    <a:gs pos="100000">
                      <a:srgbClr val="79554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01B92"/>
                    </a:gs>
                    <a:gs pos="100000">
                      <a:srgbClr val="673BB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0E47A1"/>
                    </a:gs>
                    <a:gs pos="100000">
                      <a:srgbClr val="03A9F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a:extLst>
              <a:ext uri="{FF2B5EF4-FFF2-40B4-BE49-F238E27FC236}">
                <a16:creationId xmlns:a16="http://schemas.microsoft.com/office/drawing/2014/main" xmlns=""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A2F1AAAC-C051-4A31-837B-4A9977722A4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2/7/2024</a:t>
            </a:fld>
            <a:endParaRPr lang="en-US"/>
          </a:p>
        </p:txBody>
      </p:sp>
      <p:sp>
        <p:nvSpPr>
          <p:cNvPr id="5" name="Footer Placeholder 4">
            <a:extLst>
              <a:ext uri="{FF2B5EF4-FFF2-40B4-BE49-F238E27FC236}">
                <a16:creationId xmlns:a16="http://schemas.microsoft.com/office/drawing/2014/main" xmlns=""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3" r:id="rId10"/>
    <p:sldLayoutId id="2147483692" r:id="rId11"/>
    <p:sldLayoutId id="2147483691" r:id="rId12"/>
    <p:sldLayoutId id="2147483674" r:id="rId13"/>
    <p:sldLayoutId id="2147483676" r:id="rId14"/>
    <p:sldLayoutId id="2147483677" r:id="rId15"/>
    <p:sldLayoutId id="2147483678" r:id="rId16"/>
    <p:sldLayoutId id="2147483679" r:id="rId17"/>
    <p:sldLayoutId id="2147483681" r:id="rId18"/>
    <p:sldLayoutId id="2147483683" r:id="rId19"/>
    <p:sldLayoutId id="2147483682" r:id="rId20"/>
    <p:sldLayoutId id="2147483684" r:id="rId21"/>
    <p:sldLayoutId id="2147483685" r:id="rId22"/>
    <p:sldLayoutId id="2147483686" r:id="rId23"/>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03F305CB-DBE2-45D5-8D0B-92106F27C4BB}"/>
              </a:ext>
            </a:extLst>
          </p:cNvPr>
          <p:cNvSpPr>
            <a:spLocks noGrp="1"/>
          </p:cNvSpPr>
          <p:nvPr>
            <p:ph type="ctrTitle"/>
          </p:nvPr>
        </p:nvSpPr>
        <p:spPr>
          <a:xfrm>
            <a:off x="559490" y="1122364"/>
            <a:ext cx="7315200" cy="3566160"/>
          </a:xfrm>
        </p:spPr>
        <p:txBody>
          <a:bodyPr/>
          <a:lstStyle/>
          <a:p>
            <a:r>
              <a:rPr lang="en-US" sz="4800" b="0" dirty="0" smtClean="0">
                <a:latin typeface="Roboto Condensed Light" panose="02000000000000000000" pitchFamily="2" charset="0"/>
                <a:ea typeface="Roboto Condensed Light" panose="02000000000000000000" pitchFamily="2" charset="0"/>
              </a:rPr>
              <a:t>Unit :6</a:t>
            </a:r>
            <a:r>
              <a:rPr lang="en-US" dirty="0"/>
              <a:t/>
            </a:r>
            <a:br>
              <a:rPr lang="en-US" dirty="0"/>
            </a:br>
            <a:r>
              <a:rPr lang="en-US" dirty="0"/>
              <a:t>File System</a:t>
            </a:r>
          </a:p>
        </p:txBody>
      </p:sp>
      <p:sp>
        <p:nvSpPr>
          <p:cNvPr id="12" name="Text Placeholder 11">
            <a:extLst>
              <a:ext uri="{FF2B5EF4-FFF2-40B4-BE49-F238E27FC236}">
                <a16:creationId xmlns:a16="http://schemas.microsoft.com/office/drawing/2014/main" xmlns="" id="{915CF252-06A8-43C0-BB69-DA7109EA62D1}"/>
              </a:ext>
            </a:extLst>
          </p:cNvPr>
          <p:cNvSpPr>
            <a:spLocks noGrp="1"/>
          </p:cNvSpPr>
          <p:nvPr>
            <p:ph type="body" sz="quarter" idx="13"/>
          </p:nvPr>
        </p:nvSpPr>
        <p:spPr/>
        <p:txBody>
          <a:bodyPr/>
          <a:lstStyle/>
          <a:p>
            <a:r>
              <a:rPr lang="en-US" dirty="0"/>
              <a:t>Computer Engineering Department</a:t>
            </a:r>
          </a:p>
        </p:txBody>
      </p:sp>
      <p:sp>
        <p:nvSpPr>
          <p:cNvPr id="13" name="Text Placeholder 12">
            <a:extLst>
              <a:ext uri="{FF2B5EF4-FFF2-40B4-BE49-F238E27FC236}">
                <a16:creationId xmlns:a16="http://schemas.microsoft.com/office/drawing/2014/main" xmlns="" id="{89F5B5F8-350F-4941-B9DE-36BF8B014803}"/>
              </a:ext>
            </a:extLst>
          </p:cNvPr>
          <p:cNvSpPr>
            <a:spLocks noGrp="1"/>
          </p:cNvSpPr>
          <p:nvPr>
            <p:ph type="body" sz="quarter" idx="14"/>
          </p:nvPr>
        </p:nvSpPr>
        <p:spPr/>
        <p:txBody>
          <a:bodyPr/>
          <a:lstStyle/>
          <a:p>
            <a:r>
              <a:rPr lang="en-US" dirty="0"/>
              <a:t>Asst. Prof. </a:t>
            </a:r>
            <a:r>
              <a:rPr lang="en-US" dirty="0" err="1" smtClean="0"/>
              <a:t>Jhumi</a:t>
            </a:r>
            <a:r>
              <a:rPr lang="en-US" dirty="0" smtClean="0"/>
              <a:t> </a:t>
            </a:r>
            <a:r>
              <a:rPr lang="en-US" dirty="0" err="1" smtClean="0"/>
              <a:t>Thapa</a:t>
            </a:r>
            <a:endParaRPr lang="en-US" dirty="0"/>
          </a:p>
        </p:txBody>
      </p:sp>
      <p:sp>
        <p:nvSpPr>
          <p:cNvPr id="14" name="Text Placeholder 13">
            <a:extLst>
              <a:ext uri="{FF2B5EF4-FFF2-40B4-BE49-F238E27FC236}">
                <a16:creationId xmlns:a16="http://schemas.microsoft.com/office/drawing/2014/main" xmlns="" id="{E2AD8B6E-51EA-4A15-8752-4F221E5E02C5}"/>
              </a:ext>
            </a:extLst>
          </p:cNvPr>
          <p:cNvSpPr>
            <a:spLocks noGrp="1"/>
          </p:cNvSpPr>
          <p:nvPr>
            <p:ph type="body" sz="quarter" idx="16"/>
          </p:nvPr>
        </p:nvSpPr>
        <p:spPr/>
        <p:txBody>
          <a:bodyPr/>
          <a:lstStyle/>
          <a:p>
            <a:r>
              <a:rPr lang="en-US" b="1" dirty="0"/>
              <a:t>Operating System </a:t>
            </a:r>
            <a:r>
              <a:rPr lang="en-US" dirty="0">
                <a:latin typeface="Roboto Condensed Light" panose="02000000000000000000" pitchFamily="2" charset="0"/>
                <a:ea typeface="Roboto Condensed Light" panose="02000000000000000000" pitchFamily="2" charset="0"/>
              </a:rPr>
              <a:t>(OS)</a:t>
            </a:r>
          </a:p>
        </p:txBody>
      </p:sp>
    </p:spTree>
    <p:extLst>
      <p:ext uri="{BB962C8B-B14F-4D97-AF65-F5344CB8AC3E}">
        <p14:creationId xmlns:p14="http://schemas.microsoft.com/office/powerpoint/2010/main" val="160083476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smtClean="0"/>
              <a:t>A </a:t>
            </a:r>
            <a:r>
              <a:rPr lang="en-US" dirty="0"/>
              <a:t>file is sequence of logical records i.e. a sequence of bits and bytes</a:t>
            </a:r>
            <a:r>
              <a:rPr lang="en-US" dirty="0" smtClean="0"/>
              <a:t>.</a:t>
            </a:r>
            <a:endParaRPr lang="en-US" dirty="0"/>
          </a:p>
          <a:p>
            <a:r>
              <a:rPr lang="en-US" dirty="0" smtClean="0"/>
              <a:t>A </a:t>
            </a:r>
            <a:r>
              <a:rPr lang="en-US" dirty="0"/>
              <a:t>file is a named collection of related information that is recorded on secondary storage such as magnetic disks, magnetic tapes and optical disks</a:t>
            </a:r>
            <a:r>
              <a:rPr lang="en-US" dirty="0" smtClean="0"/>
              <a:t>.</a:t>
            </a:r>
            <a:endParaRPr lang="en-US" dirty="0"/>
          </a:p>
          <a:p>
            <a:r>
              <a:rPr lang="en-US" dirty="0" smtClean="0"/>
              <a:t> </a:t>
            </a:r>
            <a:r>
              <a:rPr lang="en-US" dirty="0"/>
              <a:t>In general, a file is a sequence of bits, bytes, lines or records whose meaning is defined by the files creator and user.</a:t>
            </a:r>
          </a:p>
        </p:txBody>
      </p:sp>
    </p:spTree>
    <p:extLst>
      <p:ext uri="{BB962C8B-B14F-4D97-AF65-F5344CB8AC3E}">
        <p14:creationId xmlns:p14="http://schemas.microsoft.com/office/powerpoint/2010/main" val="7670753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System</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smtClean="0"/>
              <a:t>Module of OS which manages, control and organizes files and related structures</a:t>
            </a:r>
          </a:p>
          <a:p>
            <a:r>
              <a:rPr lang="en-US" dirty="0" smtClean="0"/>
              <a:t>A </a:t>
            </a:r>
            <a:r>
              <a:rPr lang="en-US" dirty="0"/>
              <a:t>file system is the methods and data structures that an operating system uses to keep track of files on a disk or partition; that is, the way the files are organized on the disk.</a:t>
            </a:r>
          </a:p>
          <a:p>
            <a:r>
              <a:rPr lang="en-US" dirty="0" smtClean="0"/>
              <a:t>File system provides the view of data in secondary memory in the form of files.</a:t>
            </a:r>
            <a:endParaRPr lang="en-US" dirty="0"/>
          </a:p>
          <a:p>
            <a:endParaRPr lang="en-US" dirty="0"/>
          </a:p>
        </p:txBody>
      </p:sp>
    </p:spTree>
    <p:extLst>
      <p:ext uri="{BB962C8B-B14F-4D97-AF65-F5344CB8AC3E}">
        <p14:creationId xmlns:p14="http://schemas.microsoft.com/office/powerpoint/2010/main" val="46775229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Descriptor</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A file descriptor or file control block is a control block containing information the system needs to manage a file. It is a highly system-dependent structure. A typical file descriptor might include</a:t>
            </a:r>
          </a:p>
          <a:p>
            <a:pPr lvl="1"/>
            <a:r>
              <a:rPr lang="en-US" dirty="0"/>
              <a:t>Symbolic file name, location of file in secondary storage, file organization, access control data, type, disposition(permanent vs. temporary), creation date and time, destroy date, date and time last modified, access activity counts(number of reads, for example)</a:t>
            </a:r>
          </a:p>
          <a:p>
            <a:r>
              <a:rPr lang="en-US" dirty="0"/>
              <a:t>Ordinarily, file descriptor are maintained on secondary storage. They are brought to primary storage when a file is opened and is controlled by the operating system</a:t>
            </a:r>
          </a:p>
          <a:p>
            <a:endParaRPr lang="en-US" dirty="0"/>
          </a:p>
        </p:txBody>
      </p:sp>
    </p:spTree>
    <p:extLst>
      <p:ext uri="{BB962C8B-B14F-4D97-AF65-F5344CB8AC3E}">
        <p14:creationId xmlns:p14="http://schemas.microsoft.com/office/powerpoint/2010/main" val="421735981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Naming</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When a process creates a file, it gives the file a name. When the process terminates, the file continues to exist and can be accessed by other processes using its name.</a:t>
            </a:r>
          </a:p>
          <a:p>
            <a:r>
              <a:rPr lang="en-US" dirty="0"/>
              <a:t>File naming = File name + File extension</a:t>
            </a:r>
          </a:p>
          <a:p>
            <a:r>
              <a:rPr lang="en-US" dirty="0"/>
              <a:t>E.g. bcabit.doc In this example the </a:t>
            </a:r>
            <a:r>
              <a:rPr lang="en-US" dirty="0" err="1"/>
              <a:t>bcabit</a:t>
            </a:r>
            <a:r>
              <a:rPr lang="en-US" dirty="0"/>
              <a:t> is the file name and doc is the file</a:t>
            </a:r>
          </a:p>
          <a:p>
            <a:r>
              <a:rPr lang="en-US" dirty="0"/>
              <a:t>Some common file extension are: DOC and DOCX, .HTML and .HTM,.ODT,.PDF,.XLS and XLSX, .ODS, .PPT and .PPTX ,.TXT </a:t>
            </a:r>
            <a:r>
              <a:rPr lang="en-US" dirty="0" err="1"/>
              <a:t>etc</a:t>
            </a:r>
            <a:endParaRPr lang="en-US" dirty="0"/>
          </a:p>
        </p:txBody>
      </p:sp>
    </p:spTree>
    <p:extLst>
      <p:ext uri="{BB962C8B-B14F-4D97-AF65-F5344CB8AC3E}">
        <p14:creationId xmlns:p14="http://schemas.microsoft.com/office/powerpoint/2010/main" val="1085241919"/>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Structure</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None -sequence of words, bytes</a:t>
            </a:r>
          </a:p>
          <a:p>
            <a:r>
              <a:rPr lang="en-US" dirty="0"/>
              <a:t>Simple record structure</a:t>
            </a:r>
          </a:p>
          <a:p>
            <a:pPr lvl="1"/>
            <a:r>
              <a:rPr lang="en-US" dirty="0"/>
              <a:t>Lines</a:t>
            </a:r>
          </a:p>
          <a:p>
            <a:pPr lvl="1"/>
            <a:r>
              <a:rPr lang="en-US" dirty="0"/>
              <a:t>Fixed length</a:t>
            </a:r>
          </a:p>
          <a:p>
            <a:pPr lvl="1"/>
            <a:r>
              <a:rPr lang="en-US" dirty="0"/>
              <a:t>Variable length</a:t>
            </a:r>
          </a:p>
          <a:p>
            <a:r>
              <a:rPr lang="en-US" dirty="0"/>
              <a:t>Complex Structures</a:t>
            </a:r>
          </a:p>
          <a:p>
            <a:pPr lvl="1"/>
            <a:r>
              <a:rPr lang="en-US" dirty="0"/>
              <a:t>Formatted document</a:t>
            </a:r>
          </a:p>
          <a:p>
            <a:pPr lvl="1"/>
            <a:r>
              <a:rPr lang="en-US" dirty="0"/>
              <a:t>Relocatable load file</a:t>
            </a:r>
          </a:p>
          <a:p>
            <a:r>
              <a:rPr lang="en-US" dirty="0"/>
              <a:t>Can simulate last two with first method by inserting appropriate control characters</a:t>
            </a:r>
          </a:p>
          <a:p>
            <a:r>
              <a:rPr lang="en-US" dirty="0"/>
              <a:t>Who decides:</a:t>
            </a:r>
          </a:p>
          <a:p>
            <a:pPr lvl="1"/>
            <a:r>
              <a:rPr lang="en-US" dirty="0"/>
              <a:t>Operating system</a:t>
            </a:r>
          </a:p>
          <a:p>
            <a:pPr lvl="1"/>
            <a:r>
              <a:rPr lang="en-US" dirty="0"/>
              <a:t>Program</a:t>
            </a:r>
          </a:p>
          <a:p>
            <a:pPr marL="0" indent="0">
              <a:buNone/>
            </a:pPr>
            <a:endParaRPr lang="en-US" dirty="0"/>
          </a:p>
        </p:txBody>
      </p:sp>
    </p:spTree>
    <p:extLst>
      <p:ext uri="{BB962C8B-B14F-4D97-AF65-F5344CB8AC3E}">
        <p14:creationId xmlns:p14="http://schemas.microsoft.com/office/powerpoint/2010/main" val="369107282"/>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File </a:t>
            </a:r>
            <a:r>
              <a:rPr lang="en-US" dirty="0"/>
              <a:t>Type </a:t>
            </a:r>
            <a:br>
              <a:rPr lang="en-US" dirty="0"/>
            </a:br>
            <a:endParaRPr lang="en-US" dirty="0"/>
          </a:p>
        </p:txBody>
      </p:sp>
      <p:sp>
        <p:nvSpPr>
          <p:cNvPr id="3" name="Content Placeholder 2"/>
          <p:cNvSpPr>
            <a:spLocks noGrp="1"/>
          </p:cNvSpPr>
          <p:nvPr>
            <p:ph idx="1"/>
          </p:nvPr>
        </p:nvSpPr>
        <p:spPr/>
        <p:txBody>
          <a:bodyPr/>
          <a:lstStyle/>
          <a:p>
            <a:r>
              <a:rPr lang="en-US" dirty="0" smtClean="0"/>
              <a:t>File </a:t>
            </a:r>
            <a:r>
              <a:rPr lang="en-US" dirty="0"/>
              <a:t>type refers to the ability of the operating system to distinguish different types of file such as text files source files and binary files etc. Many operating systems support many types of files. Operating system like MS-DOS and UNIX have the following types of files − </a:t>
            </a:r>
          </a:p>
          <a:p>
            <a:pPr marL="0" indent="0">
              <a:buNone/>
            </a:pPr>
            <a:r>
              <a:rPr lang="en-US" b="1" dirty="0"/>
              <a:t>1. Ordinary files </a:t>
            </a:r>
            <a:endParaRPr lang="en-US" dirty="0"/>
          </a:p>
          <a:p>
            <a:r>
              <a:rPr lang="en-US" dirty="0" smtClean="0"/>
              <a:t>These </a:t>
            </a:r>
            <a:r>
              <a:rPr lang="en-US" dirty="0"/>
              <a:t>are the files that contain user information</a:t>
            </a:r>
            <a:r>
              <a:rPr lang="en-US" dirty="0" smtClean="0"/>
              <a:t>.</a:t>
            </a:r>
            <a:endParaRPr lang="en-US" dirty="0"/>
          </a:p>
          <a:p>
            <a:r>
              <a:rPr lang="en-US" dirty="0" smtClean="0"/>
              <a:t> </a:t>
            </a:r>
            <a:r>
              <a:rPr lang="en-US" dirty="0"/>
              <a:t>These may have text, databases or executable program</a:t>
            </a:r>
            <a:r>
              <a:rPr lang="en-US" dirty="0" smtClean="0"/>
              <a:t>.</a:t>
            </a:r>
            <a:endParaRPr lang="en-US" dirty="0"/>
          </a:p>
          <a:p>
            <a:r>
              <a:rPr lang="en-US" dirty="0" smtClean="0"/>
              <a:t>The </a:t>
            </a:r>
            <a:r>
              <a:rPr lang="en-US" dirty="0"/>
              <a:t>user can apply various operations on such files like add, modify, delete or even remove the entire file</a:t>
            </a:r>
            <a:r>
              <a:rPr lang="en-US" dirty="0" smtClean="0"/>
              <a:t>.</a:t>
            </a:r>
            <a:endParaRPr lang="en-US" dirty="0"/>
          </a:p>
          <a:p>
            <a:pPr marL="0" indent="0">
              <a:buNone/>
            </a:pPr>
            <a:r>
              <a:rPr lang="en-US" b="1" dirty="0" smtClean="0"/>
              <a:t>2</a:t>
            </a:r>
            <a:r>
              <a:rPr lang="en-US" b="1" dirty="0"/>
              <a:t>. Directory files </a:t>
            </a:r>
            <a:endParaRPr lang="en-US" dirty="0"/>
          </a:p>
          <a:p>
            <a:r>
              <a:rPr lang="en-US" dirty="0" smtClean="0"/>
              <a:t> </a:t>
            </a:r>
            <a:r>
              <a:rPr lang="en-US" dirty="0"/>
              <a:t>These files contain list of file names and other information related to these files</a:t>
            </a:r>
            <a:r>
              <a:rPr lang="en-US" dirty="0" smtClean="0"/>
              <a:t>.</a:t>
            </a:r>
            <a:endParaRPr lang="en-US" dirty="0"/>
          </a:p>
          <a:p>
            <a:pPr marL="0" indent="0">
              <a:buNone/>
            </a:pPr>
            <a:r>
              <a:rPr lang="en-US" b="1" dirty="0" smtClean="0"/>
              <a:t>3</a:t>
            </a:r>
            <a:r>
              <a:rPr lang="en-US" b="1" dirty="0"/>
              <a:t>. Special files </a:t>
            </a:r>
            <a:endParaRPr lang="en-US" dirty="0"/>
          </a:p>
          <a:p>
            <a:r>
              <a:rPr lang="en-US" dirty="0" smtClean="0"/>
              <a:t> </a:t>
            </a:r>
            <a:r>
              <a:rPr lang="en-US" dirty="0"/>
              <a:t>These files are also known as device files</a:t>
            </a:r>
            <a:r>
              <a:rPr lang="en-US" dirty="0" smtClean="0"/>
              <a:t>.</a:t>
            </a:r>
            <a:endParaRPr lang="en-US" dirty="0"/>
          </a:p>
          <a:p>
            <a:r>
              <a:rPr lang="en-US" dirty="0" smtClean="0"/>
              <a:t>These </a:t>
            </a:r>
            <a:r>
              <a:rPr lang="en-US" dirty="0"/>
              <a:t>files represent physical device like disks, terminals, printers, network, tape drive etc. </a:t>
            </a:r>
            <a:endParaRPr lang="en-US" dirty="0"/>
          </a:p>
        </p:txBody>
      </p:sp>
    </p:spTree>
    <p:extLst>
      <p:ext uri="{BB962C8B-B14F-4D97-AF65-F5344CB8AC3E}">
        <p14:creationId xmlns:p14="http://schemas.microsoft.com/office/powerpoint/2010/main" val="354791636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Type</a:t>
            </a:r>
            <a:endParaRPr lang="en-US" dirty="0"/>
          </a:p>
        </p:txBody>
      </p:sp>
      <p:sp>
        <p:nvSpPr>
          <p:cNvPr id="3" name="Content Placeholder 2"/>
          <p:cNvSpPr>
            <a:spLocks noGrp="1"/>
          </p:cNvSpPr>
          <p:nvPr>
            <p:ph idx="1"/>
          </p:nvPr>
        </p:nvSpPr>
        <p:spPr/>
        <p:txBody>
          <a:bodyPr/>
          <a:lstStyle/>
          <a:p>
            <a:r>
              <a:rPr lang="en-US" dirty="0"/>
              <a:t>These files are of two types </a:t>
            </a:r>
            <a:r>
              <a:rPr lang="en-US" dirty="0" smtClean="0"/>
              <a:t>−</a:t>
            </a:r>
            <a:endParaRPr lang="en-US" dirty="0"/>
          </a:p>
          <a:p>
            <a:r>
              <a:rPr lang="en-US" b="1" dirty="0" smtClean="0"/>
              <a:t>Character </a:t>
            </a:r>
            <a:r>
              <a:rPr lang="en-US" b="1" dirty="0"/>
              <a:t>special files </a:t>
            </a:r>
            <a:r>
              <a:rPr lang="en-US" dirty="0"/>
              <a:t>− data is handled character by character as in case of terminals or printers. </a:t>
            </a:r>
          </a:p>
          <a:p>
            <a:r>
              <a:rPr lang="en-US" b="1" dirty="0" smtClean="0"/>
              <a:t>Block </a:t>
            </a:r>
            <a:r>
              <a:rPr lang="en-US" b="1" dirty="0"/>
              <a:t>special files </a:t>
            </a:r>
            <a:r>
              <a:rPr lang="en-US" dirty="0"/>
              <a:t>− data is handled in blocks as in the case of disks and tapes. </a:t>
            </a:r>
          </a:p>
          <a:p>
            <a:endParaRPr lang="en-US" dirty="0"/>
          </a:p>
          <a:p>
            <a:endParaRPr lang="en-US" dirty="0"/>
          </a:p>
        </p:txBody>
      </p:sp>
    </p:spTree>
    <p:extLst>
      <p:ext uri="{BB962C8B-B14F-4D97-AF65-F5344CB8AC3E}">
        <p14:creationId xmlns:p14="http://schemas.microsoft.com/office/powerpoint/2010/main" val="3302480872"/>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Typed – Name, Extensions</a:t>
            </a:r>
          </a:p>
        </p:txBody>
      </p:sp>
      <p:pic>
        <p:nvPicPr>
          <p:cNvPr id="4" name="object 3">
            <a:extLst>
              <a:ext uri="{FF2B5EF4-FFF2-40B4-BE49-F238E27FC236}">
                <a16:creationId xmlns:a16="http://schemas.microsoft.com/office/drawing/2014/main" xmlns="" id="{99EB592E-D32B-E2E7-29F9-098E06F79A4C}"/>
              </a:ext>
            </a:extLst>
          </p:cNvPr>
          <p:cNvPicPr>
            <a:picLocks noGrp="1"/>
          </p:cNvPicPr>
          <p:nvPr>
            <p:ph idx="1"/>
          </p:nvPr>
        </p:nvPicPr>
        <p:blipFill>
          <a:blip r:embed="rId2" cstate="print"/>
          <a:stretch>
            <a:fillRect/>
          </a:stretch>
        </p:blipFill>
        <p:spPr>
          <a:xfrm>
            <a:off x="1776047" y="851878"/>
            <a:ext cx="8387862" cy="5713046"/>
          </a:xfrm>
          <a:prstGeom prst="rect">
            <a:avLst/>
          </a:prstGeom>
        </p:spPr>
      </p:pic>
    </p:spTree>
    <p:extLst>
      <p:ext uri="{BB962C8B-B14F-4D97-AF65-F5344CB8AC3E}">
        <p14:creationId xmlns:p14="http://schemas.microsoft.com/office/powerpoint/2010/main" val="574317019"/>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a:t>
            </a:r>
            <a:r>
              <a:rPr lang="en-US" dirty="0" smtClean="0"/>
              <a:t>Attributes(Metadata)</a:t>
            </a:r>
            <a:endParaRPr lang="en-US" dirty="0"/>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a:xfrm>
            <a:off x="131180" y="711202"/>
            <a:ext cx="11929641" cy="5847860"/>
          </a:xfrm>
        </p:spPr>
        <p:txBody>
          <a:bodyPr/>
          <a:lstStyle/>
          <a:p>
            <a:r>
              <a:rPr lang="en-US" dirty="0"/>
              <a:t>A file has a name and data. Other than this, it contains information like date and time of file creation, file‘s current size etc. with a file. These are known as attributes of a file. The lists of file attributes are:</a:t>
            </a:r>
          </a:p>
          <a:p>
            <a:r>
              <a:rPr lang="en-US" b="1" dirty="0"/>
              <a:t>Name: </a:t>
            </a:r>
            <a:r>
              <a:rPr lang="en-US" dirty="0"/>
              <a:t>The symbolic file name is the only information kept in human readable form.</a:t>
            </a:r>
          </a:p>
          <a:p>
            <a:r>
              <a:rPr lang="en-US" b="1" dirty="0"/>
              <a:t>Identifier:</a:t>
            </a:r>
            <a:r>
              <a:rPr lang="en-US" dirty="0"/>
              <a:t> This unique tag, usually a number, identifies the file within the file system; it is the non-human-readable name for the file.</a:t>
            </a:r>
          </a:p>
          <a:p>
            <a:r>
              <a:rPr lang="en-US" b="1" dirty="0"/>
              <a:t>Type:</a:t>
            </a:r>
            <a:r>
              <a:rPr lang="en-US" dirty="0"/>
              <a:t> This information is needed for systems that support different types of files.</a:t>
            </a:r>
          </a:p>
          <a:p>
            <a:r>
              <a:rPr lang="en-US" b="1" dirty="0"/>
              <a:t>Location:</a:t>
            </a:r>
            <a:r>
              <a:rPr lang="en-US" dirty="0"/>
              <a:t> This information is a pointer to a device and to the location of the file on that device.</a:t>
            </a:r>
          </a:p>
          <a:p>
            <a:r>
              <a:rPr lang="en-US" b="1" dirty="0"/>
              <a:t>Size:</a:t>
            </a:r>
            <a:r>
              <a:rPr lang="en-US" dirty="0"/>
              <a:t> The current size of the file (in bytes, words, or blocks) and possibly the maximum allowed size are included in this attribute.</a:t>
            </a:r>
          </a:p>
          <a:p>
            <a:r>
              <a:rPr lang="en-US" b="1" dirty="0" smtClean="0"/>
              <a:t>Permission/Protection</a:t>
            </a:r>
            <a:r>
              <a:rPr lang="en-US" b="1" dirty="0"/>
              <a:t>:</a:t>
            </a:r>
            <a:r>
              <a:rPr lang="en-US" dirty="0"/>
              <a:t> Access-control information determines who can do reading, writing, executing, and so on.</a:t>
            </a:r>
          </a:p>
          <a:p>
            <a:r>
              <a:rPr lang="en-US" b="1" dirty="0"/>
              <a:t>Time, date, and user identification:</a:t>
            </a:r>
            <a:r>
              <a:rPr lang="en-US" dirty="0"/>
              <a:t> This information may be kept for creation, last modification, and last use. These data can be useful for protection, security, and usage monitoring.</a:t>
            </a:r>
          </a:p>
          <a:p>
            <a:endParaRPr lang="en-US" dirty="0"/>
          </a:p>
        </p:txBody>
      </p:sp>
    </p:spTree>
    <p:extLst>
      <p:ext uri="{BB962C8B-B14F-4D97-AF65-F5344CB8AC3E}">
        <p14:creationId xmlns:p14="http://schemas.microsoft.com/office/powerpoint/2010/main" val="2340890070"/>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Operations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b="1" dirty="0"/>
              <a:t>CREATE:</a:t>
            </a:r>
            <a:r>
              <a:rPr lang="en-US" dirty="0"/>
              <a:t> A blank file is created.</a:t>
            </a:r>
          </a:p>
          <a:p>
            <a:r>
              <a:rPr lang="en-US" b="1" dirty="0"/>
              <a:t>DELETE: </a:t>
            </a:r>
            <a:r>
              <a:rPr lang="en-US" dirty="0"/>
              <a:t>The purpose of this system call is to delete this file</a:t>
            </a:r>
          </a:p>
          <a:p>
            <a:r>
              <a:rPr lang="en-US" b="1" dirty="0"/>
              <a:t>OPEN: </a:t>
            </a:r>
            <a:r>
              <a:rPr lang="en-US" dirty="0"/>
              <a:t>Open a file either for reading or writing.</a:t>
            </a:r>
          </a:p>
          <a:p>
            <a:r>
              <a:rPr lang="en-US" b="1" dirty="0"/>
              <a:t>CLOSE: </a:t>
            </a:r>
            <a:r>
              <a:rPr lang="en-US" dirty="0"/>
              <a:t>When a file is no longer accessed.</a:t>
            </a:r>
          </a:p>
          <a:p>
            <a:r>
              <a:rPr lang="en-US" b="1" dirty="0"/>
              <a:t>READ: </a:t>
            </a:r>
            <a:r>
              <a:rPr lang="en-US" dirty="0"/>
              <a:t>When a file is only to be read.</a:t>
            </a:r>
          </a:p>
          <a:p>
            <a:r>
              <a:rPr lang="en-US" b="1" dirty="0"/>
              <a:t>WRITE: </a:t>
            </a:r>
            <a:r>
              <a:rPr lang="en-US" dirty="0"/>
              <a:t>To write some data on file.</a:t>
            </a:r>
          </a:p>
          <a:p>
            <a:r>
              <a:rPr lang="en-US" b="1" dirty="0"/>
              <a:t>APPEND: </a:t>
            </a:r>
            <a:r>
              <a:rPr lang="en-US" dirty="0"/>
              <a:t>To add some data to the end of the file.</a:t>
            </a:r>
          </a:p>
          <a:p>
            <a:r>
              <a:rPr lang="en-US" b="1" dirty="0"/>
              <a:t>RENAME: </a:t>
            </a:r>
            <a:r>
              <a:rPr lang="en-US" dirty="0"/>
              <a:t>To rename the file.</a:t>
            </a:r>
          </a:p>
          <a:p>
            <a:endParaRPr lang="en-US" dirty="0"/>
          </a:p>
          <a:p>
            <a:endParaRPr lang="en-US" dirty="0"/>
          </a:p>
          <a:p>
            <a:endParaRPr lang="en-US" dirty="0"/>
          </a:p>
        </p:txBody>
      </p:sp>
    </p:spTree>
    <p:extLst>
      <p:ext uri="{BB962C8B-B14F-4D97-AF65-F5344CB8AC3E}">
        <p14:creationId xmlns:p14="http://schemas.microsoft.com/office/powerpoint/2010/main" val="1364145809"/>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Access Methods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a:xfrm>
            <a:off x="0" y="711201"/>
            <a:ext cx="12060822" cy="5918199"/>
          </a:xfrm>
        </p:spPr>
        <p:txBody>
          <a:bodyPr/>
          <a:lstStyle/>
          <a:p>
            <a:r>
              <a:rPr lang="en-US" dirty="0"/>
              <a:t>File access mechanism refers to the manner in which the records of a file may be accessed. There are several ways to access files −</a:t>
            </a:r>
          </a:p>
          <a:p>
            <a:pPr lvl="1"/>
            <a:r>
              <a:rPr lang="en-US" dirty="0"/>
              <a:t>Sequential access</a:t>
            </a:r>
          </a:p>
          <a:p>
            <a:pPr lvl="1"/>
            <a:r>
              <a:rPr lang="en-US" dirty="0"/>
              <a:t>Direct/Random access</a:t>
            </a:r>
          </a:p>
          <a:p>
            <a:pPr lvl="1"/>
            <a:r>
              <a:rPr lang="en-US" dirty="0"/>
              <a:t>Indexed sequential access</a:t>
            </a:r>
          </a:p>
          <a:p>
            <a:r>
              <a:rPr lang="en-US" b="1" dirty="0"/>
              <a:t>Sequential access</a:t>
            </a:r>
          </a:p>
          <a:p>
            <a:pPr lvl="1"/>
            <a:r>
              <a:rPr lang="en-US" dirty="0"/>
              <a:t>A sequential access is that in which the records are accessed in some sequence, i.e., the information in the file is processed in order, one record after the other.</a:t>
            </a:r>
          </a:p>
          <a:p>
            <a:pPr lvl="1"/>
            <a:r>
              <a:rPr lang="en-US" dirty="0"/>
              <a:t>This access method is the most primitive one.</a:t>
            </a:r>
          </a:p>
          <a:p>
            <a:pPr lvl="1"/>
            <a:r>
              <a:rPr lang="en-US" dirty="0"/>
              <a:t>Example: Compilers usually access files in this fashion.</a:t>
            </a:r>
          </a:p>
          <a:p>
            <a:pPr marL="0" indent="0">
              <a:buNone/>
            </a:pPr>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xmlns="" id="{1540A0C4-E356-7BBB-6189-BF824988C5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0157" y="4397911"/>
            <a:ext cx="8138809" cy="1528103"/>
          </a:xfrm>
          <a:prstGeom prst="rect">
            <a:avLst/>
          </a:prstGeom>
        </p:spPr>
      </p:pic>
    </p:spTree>
    <p:extLst>
      <p:ext uri="{BB962C8B-B14F-4D97-AF65-F5344CB8AC3E}">
        <p14:creationId xmlns:p14="http://schemas.microsoft.com/office/powerpoint/2010/main" val="154198541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Access Methods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a:xfrm>
            <a:off x="0" y="711201"/>
            <a:ext cx="12060822" cy="5918199"/>
          </a:xfrm>
        </p:spPr>
        <p:txBody>
          <a:bodyPr/>
          <a:lstStyle/>
          <a:p>
            <a:r>
              <a:rPr lang="en-US" b="1" dirty="0"/>
              <a:t>Direct/Random access</a:t>
            </a:r>
          </a:p>
          <a:p>
            <a:pPr lvl="1"/>
            <a:r>
              <a:rPr lang="en-US" dirty="0"/>
              <a:t>Random access file organization provides, accessing the records directly.</a:t>
            </a:r>
          </a:p>
          <a:p>
            <a:pPr lvl="1"/>
            <a:r>
              <a:rPr lang="en-US" dirty="0"/>
              <a:t>Each record has its own address on the file with by the help of which it can be directly accessed for reading or writing.</a:t>
            </a:r>
          </a:p>
          <a:p>
            <a:pPr lvl="1"/>
            <a:r>
              <a:rPr lang="en-US" dirty="0"/>
              <a:t>The records need not be in any sequence within the file and they need not be in adjacent locations on the storage medium.</a:t>
            </a:r>
          </a:p>
          <a:p>
            <a:pPr lvl="1"/>
            <a:r>
              <a:rPr lang="en-US" dirty="0"/>
              <a:t>Example: Accessing file in hard disk</a:t>
            </a:r>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xmlns="" id="{AAF89951-41FA-E1A8-9E6E-B9A5C8E587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2587" y="3239965"/>
            <a:ext cx="9165847" cy="2264019"/>
          </a:xfrm>
          <a:prstGeom prst="rect">
            <a:avLst/>
          </a:prstGeom>
        </p:spPr>
      </p:pic>
    </p:spTree>
    <p:extLst>
      <p:ext uri="{BB962C8B-B14F-4D97-AF65-F5344CB8AC3E}">
        <p14:creationId xmlns:p14="http://schemas.microsoft.com/office/powerpoint/2010/main" val="427942940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Access Methods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b="1" dirty="0"/>
              <a:t>Indexed sequential access (I-nodes)</a:t>
            </a:r>
          </a:p>
          <a:p>
            <a:pPr lvl="1"/>
            <a:r>
              <a:rPr lang="en-US" dirty="0"/>
              <a:t>This mechanism is built up on base of sequential access.</a:t>
            </a:r>
          </a:p>
          <a:p>
            <a:pPr lvl="1"/>
            <a:r>
              <a:rPr lang="en-US" dirty="0"/>
              <a:t>An index is created for each file which </a:t>
            </a:r>
            <a:r>
              <a:rPr lang="en-US" dirty="0" smtClean="0"/>
              <a:t>contains key field and  </a:t>
            </a:r>
            <a:r>
              <a:rPr lang="en-US" dirty="0"/>
              <a:t>pointers to various blocks.</a:t>
            </a:r>
          </a:p>
          <a:p>
            <a:pPr lvl="1"/>
            <a:r>
              <a:rPr lang="en-US" dirty="0"/>
              <a:t>Index is searched sequentially and its pointer is used to access the file directly.</a:t>
            </a:r>
          </a:p>
          <a:p>
            <a:pPr lvl="1"/>
            <a:r>
              <a:rPr lang="en-US" dirty="0"/>
              <a:t>Example: Accessing files in payroll system</a:t>
            </a:r>
          </a:p>
          <a:p>
            <a:endParaRPr lang="en-US" dirty="0"/>
          </a:p>
          <a:p>
            <a:endParaRPr lang="en-US" dirty="0"/>
          </a:p>
          <a:p>
            <a:endParaRPr lang="en-US" dirty="0"/>
          </a:p>
          <a:p>
            <a:endParaRPr lang="en-US" dirty="0"/>
          </a:p>
        </p:txBody>
      </p:sp>
      <p:pic>
        <p:nvPicPr>
          <p:cNvPr id="4" name="image85.png">
            <a:extLst>
              <a:ext uri="{FF2B5EF4-FFF2-40B4-BE49-F238E27FC236}">
                <a16:creationId xmlns:a16="http://schemas.microsoft.com/office/drawing/2014/main" xmlns="" id="{B376F5B4-9719-34D1-8DE5-1D835A7C58F6}"/>
              </a:ext>
            </a:extLst>
          </p:cNvPr>
          <p:cNvPicPr>
            <a:picLocks noChangeAspect="1"/>
          </p:cNvPicPr>
          <p:nvPr/>
        </p:nvPicPr>
        <p:blipFill>
          <a:blip r:embed="rId2" cstate="print"/>
          <a:stretch>
            <a:fillRect/>
          </a:stretch>
        </p:blipFill>
        <p:spPr>
          <a:xfrm>
            <a:off x="1694885" y="2971799"/>
            <a:ext cx="8786337" cy="2497016"/>
          </a:xfrm>
          <a:prstGeom prst="rect">
            <a:avLst/>
          </a:prstGeom>
        </p:spPr>
      </p:pic>
    </p:spTree>
    <p:extLst>
      <p:ext uri="{BB962C8B-B14F-4D97-AF65-F5344CB8AC3E}">
        <p14:creationId xmlns:p14="http://schemas.microsoft.com/office/powerpoint/2010/main" val="39216139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Sharing</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When several users are working together sharing of files takes place. In such a case it is convenient for a file to appear simultaneously in different directories belonging to different users. Sharing files is convenient but also introduces problems like if the original file or the shared file are appended with new features then it will not be updated in both the copies of the file, it is updated only at its original location. This way the purpose of file sharing is defeated. This problem can be solved by two ways:</a:t>
            </a:r>
          </a:p>
          <a:p>
            <a:pPr lvl="1"/>
            <a:r>
              <a:rPr lang="en-US" dirty="0" err="1"/>
              <a:t>i</a:t>
            </a:r>
            <a:r>
              <a:rPr lang="en-US" dirty="0"/>
              <a:t>-node</a:t>
            </a:r>
          </a:p>
          <a:p>
            <a:pPr lvl="1"/>
            <a:r>
              <a:rPr lang="en-US" dirty="0"/>
              <a:t>Symbolic linking</a:t>
            </a:r>
          </a:p>
          <a:p>
            <a:endParaRPr lang="en-US" dirty="0"/>
          </a:p>
        </p:txBody>
      </p:sp>
    </p:spTree>
    <p:extLst>
      <p:ext uri="{BB962C8B-B14F-4D97-AF65-F5344CB8AC3E}">
        <p14:creationId xmlns:p14="http://schemas.microsoft.com/office/powerpoint/2010/main" val="379319230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Access Control List (ACL)</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An access control list (ACL) is a table that tells a computer operating system which access rights each user has to a particular system object, such as a file directory or individual file.</a:t>
            </a:r>
          </a:p>
          <a:p>
            <a:r>
              <a:rPr lang="en-US" dirty="0"/>
              <a:t>When a user requests access to a particular file, the operating system checks the access list associated with that file. If that user is listed for the requested access, the access is allowed. Otherwise, a protection violation occurs, and the user job is denied access to the file</a:t>
            </a:r>
            <a:r>
              <a:rPr lang="en-US" dirty="0" smtClean="0"/>
              <a:t>.</a:t>
            </a:r>
          </a:p>
          <a:p>
            <a:pPr marL="0" indent="0">
              <a:buNone/>
            </a:pPr>
            <a:endParaRPr lang="en-US" dirty="0"/>
          </a:p>
          <a:p>
            <a:endParaRPr lang="en-US" dirty="0"/>
          </a:p>
          <a:p>
            <a:endParaRPr lang="en-US" dirty="0"/>
          </a:p>
          <a:p>
            <a:endParaRPr lang="en-US" dirty="0"/>
          </a:p>
          <a:p>
            <a:endParaRPr lang="en-US" dirty="0"/>
          </a:p>
          <a:p>
            <a:pPr lvl="3"/>
            <a:endParaRPr lang="en-US" b="1" spc="120" dirty="0">
              <a:latin typeface="Yu Gothic"/>
              <a:cs typeface="Yu Gothic"/>
            </a:endParaRPr>
          </a:p>
          <a:p>
            <a:pPr lvl="4"/>
            <a:endParaRPr lang="en-US" b="1" spc="120" dirty="0">
              <a:latin typeface="Yu Gothic"/>
              <a:cs typeface="Yu Gothic"/>
            </a:endParaRPr>
          </a:p>
          <a:p>
            <a:pPr lvl="4"/>
            <a:endParaRPr lang="en-US" b="1" spc="120" dirty="0">
              <a:latin typeface="Yu Gothic"/>
              <a:cs typeface="Yu Gothic"/>
            </a:endParaRPr>
          </a:p>
          <a:p>
            <a:pPr marL="1828800" lvl="4" indent="0">
              <a:buNone/>
            </a:pPr>
            <a:endParaRPr lang="en-US" b="1" spc="120" dirty="0">
              <a:latin typeface="Yu Gothic"/>
              <a:cs typeface="Yu Gothic"/>
            </a:endParaRPr>
          </a:p>
          <a:p>
            <a:pPr marL="1828800" lvl="4" indent="0">
              <a:buNone/>
            </a:pPr>
            <a:r>
              <a:rPr lang="en-US" b="1" spc="120" dirty="0">
                <a:latin typeface="Yu Gothic"/>
                <a:cs typeface="Yu Gothic"/>
              </a:rPr>
              <a:t>	</a:t>
            </a:r>
            <a:endParaRPr lang="en-US" dirty="0"/>
          </a:p>
        </p:txBody>
      </p:sp>
      <p:pic>
        <p:nvPicPr>
          <p:cNvPr id="5" name="Picture 4"/>
          <p:cNvPicPr>
            <a:picLocks noChangeAspect="1"/>
          </p:cNvPicPr>
          <p:nvPr/>
        </p:nvPicPr>
        <p:blipFill>
          <a:blip r:embed="rId2"/>
          <a:stretch>
            <a:fillRect/>
          </a:stretch>
        </p:blipFill>
        <p:spPr>
          <a:xfrm>
            <a:off x="1803801" y="3478632"/>
            <a:ext cx="7067244" cy="801319"/>
          </a:xfrm>
          <a:prstGeom prst="rect">
            <a:avLst/>
          </a:prstGeom>
        </p:spPr>
      </p:pic>
    </p:spTree>
    <p:extLst>
      <p:ext uri="{BB962C8B-B14F-4D97-AF65-F5344CB8AC3E}">
        <p14:creationId xmlns:p14="http://schemas.microsoft.com/office/powerpoint/2010/main" val="3270915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Access Control List (ACL)</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a:xfrm>
            <a:off x="131180" y="863444"/>
            <a:ext cx="11929641" cy="5836901"/>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Here </a:t>
            </a:r>
            <a:r>
              <a:rPr lang="en-US" dirty="0"/>
              <a:t>we see three processes, each belonging to a different domain. A, B, and C, and three files F1, F2, and F3</a:t>
            </a:r>
            <a:r>
              <a:rPr lang="en-US" dirty="0" smtClean="0"/>
              <a:t>.</a:t>
            </a:r>
          </a:p>
          <a:p>
            <a:r>
              <a:rPr lang="en-US" dirty="0" smtClean="0"/>
              <a:t> </a:t>
            </a:r>
            <a:r>
              <a:rPr lang="en-US" dirty="0"/>
              <a:t>For simplicity, we will assume that each domain corresponds to exactly one user, in this case, users A, B, and C. Often in the security literature, the users are called subjects or principals, to contrast them with the things owned, the objects, such as files</a:t>
            </a:r>
            <a:r>
              <a:rPr lang="en-US" dirty="0" smtClean="0"/>
              <a:t>.</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3750" y="711201"/>
            <a:ext cx="8736592" cy="3906740"/>
          </a:xfrm>
          <a:prstGeom prst="rect">
            <a:avLst/>
          </a:prstGeom>
        </p:spPr>
      </p:pic>
    </p:spTree>
    <p:extLst>
      <p:ext uri="{BB962C8B-B14F-4D97-AF65-F5344CB8AC3E}">
        <p14:creationId xmlns:p14="http://schemas.microsoft.com/office/powerpoint/2010/main" val="189886104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Control List (ACL)</a:t>
            </a:r>
          </a:p>
        </p:txBody>
      </p:sp>
      <p:sp>
        <p:nvSpPr>
          <p:cNvPr id="3" name="Content Placeholder 2"/>
          <p:cNvSpPr>
            <a:spLocks noGrp="1"/>
          </p:cNvSpPr>
          <p:nvPr>
            <p:ph idx="1"/>
          </p:nvPr>
        </p:nvSpPr>
        <p:spPr/>
        <p:txBody>
          <a:bodyPr/>
          <a:lstStyle/>
          <a:p>
            <a:r>
              <a:rPr lang="en-US" dirty="0"/>
              <a:t>Each file has an ACL associated with it. File F1 has two entries in its ACL (separated by a semicolon</a:t>
            </a:r>
            <a:r>
              <a:rPr lang="en-US" dirty="0" smtClean="0"/>
              <a:t>).</a:t>
            </a:r>
          </a:p>
          <a:p>
            <a:r>
              <a:rPr lang="en-US" dirty="0" smtClean="0"/>
              <a:t>The </a:t>
            </a:r>
            <a:r>
              <a:rPr lang="en-US" dirty="0"/>
              <a:t>first entry says that any process owned by user A may read and write the file. The second entry says that any process owned by user B may read the file. </a:t>
            </a:r>
          </a:p>
          <a:p>
            <a:r>
              <a:rPr lang="en-US" dirty="0"/>
              <a:t>All other accesses by these users and all accesses by other users are forbidden.</a:t>
            </a:r>
          </a:p>
          <a:p>
            <a:r>
              <a:rPr lang="en-US" dirty="0"/>
              <a:t>Note that the rights are granted by user, not by process. As far as the protection system goes, any process owned by user A can read and write file F1. It does not matter if there is one such process or 100 of them. It is the owner, not the process ID, that matters. File F2 has three entries in its ACL: A, B, and C can all read the file, and in addition B can also write it. No other accesses are allowed. File F3 is apparently an executable program, since B and C can both read and execute it. B can also write it.</a:t>
            </a:r>
          </a:p>
          <a:p>
            <a:endParaRPr lang="en-US" dirty="0"/>
          </a:p>
          <a:p>
            <a:endParaRPr lang="en-US" dirty="0"/>
          </a:p>
        </p:txBody>
      </p:sp>
    </p:spTree>
    <p:extLst>
      <p:ext uri="{BB962C8B-B14F-4D97-AF65-F5344CB8AC3E}">
        <p14:creationId xmlns:p14="http://schemas.microsoft.com/office/powerpoint/2010/main" val="266281596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Directories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Directory is the collection of files. The directory contains information about the files, including attributes, location and ownership.</a:t>
            </a:r>
          </a:p>
          <a:p>
            <a:r>
              <a:rPr lang="en-US" dirty="0"/>
              <a:t>The directory is itself a file, accessible by various file management routines.</a:t>
            </a:r>
          </a:p>
          <a:p>
            <a:r>
              <a:rPr lang="en-US" dirty="0"/>
              <a:t>Information contained in a device directory</a:t>
            </a:r>
          </a:p>
          <a:p>
            <a:pPr lvl="1"/>
            <a:r>
              <a:rPr lang="en-US" dirty="0"/>
              <a:t>Name</a:t>
            </a:r>
          </a:p>
          <a:p>
            <a:pPr lvl="1"/>
            <a:r>
              <a:rPr lang="en-US" dirty="0"/>
              <a:t>Type</a:t>
            </a:r>
          </a:p>
          <a:p>
            <a:pPr lvl="1"/>
            <a:r>
              <a:rPr lang="en-US" dirty="0"/>
              <a:t>Address</a:t>
            </a:r>
          </a:p>
          <a:p>
            <a:pPr lvl="1"/>
            <a:r>
              <a:rPr lang="en-US" dirty="0"/>
              <a:t>Current length</a:t>
            </a:r>
          </a:p>
          <a:p>
            <a:pPr lvl="1"/>
            <a:r>
              <a:rPr lang="en-US" dirty="0"/>
              <a:t>Maximum length</a:t>
            </a:r>
          </a:p>
          <a:p>
            <a:pPr lvl="1"/>
            <a:r>
              <a:rPr lang="en-US" dirty="0"/>
              <a:t>Date last accessed</a:t>
            </a:r>
          </a:p>
          <a:p>
            <a:pPr lvl="1"/>
            <a:r>
              <a:rPr lang="en-US" dirty="0"/>
              <a:t>Date last updated</a:t>
            </a:r>
          </a:p>
          <a:p>
            <a:pPr lvl="1"/>
            <a:r>
              <a:rPr lang="en-US" dirty="0"/>
              <a:t>Owner id</a:t>
            </a:r>
          </a:p>
          <a:p>
            <a:pPr lvl="1"/>
            <a:r>
              <a:rPr lang="en-US" dirty="0"/>
              <a:t>Protection information</a:t>
            </a:r>
          </a:p>
          <a:p>
            <a:endParaRPr lang="en-US" dirty="0"/>
          </a:p>
          <a:p>
            <a:endParaRPr lang="en-US" dirty="0"/>
          </a:p>
        </p:txBody>
      </p:sp>
    </p:spTree>
    <p:extLst>
      <p:ext uri="{BB962C8B-B14F-4D97-AF65-F5344CB8AC3E}">
        <p14:creationId xmlns:p14="http://schemas.microsoft.com/office/powerpoint/2010/main" val="397513754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Directories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Directory Operations</a:t>
            </a:r>
            <a:endParaRPr lang="en-US" b="1" dirty="0"/>
          </a:p>
          <a:p>
            <a:r>
              <a:rPr lang="en-US" b="1" dirty="0"/>
              <a:t>CREATE: </a:t>
            </a:r>
            <a:r>
              <a:rPr lang="en-US" dirty="0"/>
              <a:t>A directory is created.</a:t>
            </a:r>
          </a:p>
          <a:p>
            <a:r>
              <a:rPr lang="en-US" b="1" dirty="0"/>
              <a:t>DELETE: </a:t>
            </a:r>
            <a:r>
              <a:rPr lang="en-US" dirty="0"/>
              <a:t>A directory is deleted.</a:t>
            </a:r>
          </a:p>
          <a:p>
            <a:r>
              <a:rPr lang="en-US" b="1" dirty="0"/>
              <a:t>OPENDIR: </a:t>
            </a:r>
            <a:r>
              <a:rPr lang="en-US" dirty="0"/>
              <a:t>Directories can be opened for reading it.</a:t>
            </a:r>
          </a:p>
          <a:p>
            <a:r>
              <a:rPr lang="en-US" b="1" dirty="0"/>
              <a:t>CLOSEDIR: </a:t>
            </a:r>
            <a:r>
              <a:rPr lang="en-US" dirty="0"/>
              <a:t>When a directory has been read, it should be closed to free up internal table space in main memory.</a:t>
            </a:r>
          </a:p>
          <a:p>
            <a:r>
              <a:rPr lang="en-US" b="1" dirty="0"/>
              <a:t>RENAME: </a:t>
            </a:r>
            <a:r>
              <a:rPr lang="en-US" dirty="0"/>
              <a:t>Directories can be renamed just like files.</a:t>
            </a:r>
          </a:p>
          <a:p>
            <a:pPr marL="0" indent="0">
              <a:buNone/>
            </a:pPr>
            <a:endParaRPr lang="en-US" b="1" dirty="0"/>
          </a:p>
          <a:p>
            <a:pPr marL="0" indent="0">
              <a:buNone/>
            </a:pPr>
            <a:r>
              <a:rPr lang="en-US" b="1" dirty="0"/>
              <a:t>Advantages of maintaining directories</a:t>
            </a:r>
          </a:p>
          <a:p>
            <a:pPr lvl="1"/>
            <a:r>
              <a:rPr lang="en-US" dirty="0"/>
              <a:t>Efficiency: A file can be located more quickly.</a:t>
            </a:r>
          </a:p>
          <a:p>
            <a:pPr lvl="1"/>
            <a:r>
              <a:rPr lang="en-US" dirty="0"/>
              <a:t>Naming: It becomes convenient for users as two users can have same name for different files or may have different name for same file.</a:t>
            </a:r>
          </a:p>
          <a:p>
            <a:pPr lvl="1"/>
            <a:r>
              <a:rPr lang="en-US" dirty="0"/>
              <a:t>Grouping: Logical grouping of files can be done by properties e.g. all java programs, all games etc.</a:t>
            </a:r>
          </a:p>
          <a:p>
            <a:endParaRPr lang="en-US" dirty="0"/>
          </a:p>
          <a:p>
            <a:endParaRPr lang="en-US" dirty="0"/>
          </a:p>
        </p:txBody>
      </p:sp>
    </p:spTree>
    <p:extLst>
      <p:ext uri="{BB962C8B-B14F-4D97-AF65-F5344CB8AC3E}">
        <p14:creationId xmlns:p14="http://schemas.microsoft.com/office/powerpoint/2010/main" val="171916886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Types of Directories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b="1" dirty="0"/>
              <a:t>Single Level Directory System</a:t>
            </a:r>
          </a:p>
          <a:p>
            <a:pPr lvl="1"/>
            <a:r>
              <a:rPr lang="en-US" dirty="0"/>
              <a:t>In this type of directory system, there is a root directory which has all files.</a:t>
            </a:r>
          </a:p>
          <a:p>
            <a:pPr lvl="1"/>
            <a:r>
              <a:rPr lang="en-US" dirty="0"/>
              <a:t>It has a simple architecture and there are no sub directories.</a:t>
            </a:r>
          </a:p>
          <a:p>
            <a:pPr lvl="1"/>
            <a:r>
              <a:rPr lang="en-US" dirty="0"/>
              <a:t>Advantage of single level directory system is that it is easy to find a file in the directory.</a:t>
            </a:r>
          </a:p>
          <a:p>
            <a:pPr lvl="1"/>
            <a:r>
              <a:rPr lang="en-US" dirty="0"/>
              <a:t>This type of directory system is used in cameras and phones</a:t>
            </a:r>
            <a:r>
              <a:rPr lang="en-US" dirty="0" smtClean="0"/>
              <a:t>.</a:t>
            </a:r>
          </a:p>
          <a:p>
            <a:pPr lvl="1"/>
            <a:r>
              <a:rPr lang="en-US" dirty="0" smtClean="0"/>
              <a:t>ALL file should have unique name.</a:t>
            </a:r>
          </a:p>
          <a:p>
            <a:pPr lvl="1"/>
            <a:r>
              <a:rPr lang="en-US" dirty="0" smtClean="0"/>
              <a:t>File is not distinguished by users.</a:t>
            </a:r>
          </a:p>
          <a:p>
            <a:pPr lvl="1"/>
            <a:endParaRPr lang="en-US" dirty="0" smtClean="0"/>
          </a:p>
          <a:p>
            <a:pPr lvl="1"/>
            <a:endParaRPr lang="en-US" dirty="0"/>
          </a:p>
          <a:p>
            <a:endParaRPr lang="en-US" dirty="0"/>
          </a:p>
          <a:p>
            <a:endParaRPr lang="en-US" dirty="0"/>
          </a:p>
        </p:txBody>
      </p:sp>
      <p:pic>
        <p:nvPicPr>
          <p:cNvPr id="4" name="image88.jpeg">
            <a:extLst>
              <a:ext uri="{FF2B5EF4-FFF2-40B4-BE49-F238E27FC236}">
                <a16:creationId xmlns:a16="http://schemas.microsoft.com/office/drawing/2014/main" xmlns="" id="{BD4FCA43-491B-ECF3-C440-DC44F07070E7}"/>
              </a:ext>
            </a:extLst>
          </p:cNvPr>
          <p:cNvPicPr>
            <a:picLocks noChangeAspect="1"/>
          </p:cNvPicPr>
          <p:nvPr/>
        </p:nvPicPr>
        <p:blipFill>
          <a:blip r:embed="rId2" cstate="print"/>
          <a:stretch>
            <a:fillRect/>
          </a:stretch>
        </p:blipFill>
        <p:spPr>
          <a:xfrm>
            <a:off x="4339773" y="3806121"/>
            <a:ext cx="4683608" cy="2261052"/>
          </a:xfrm>
          <a:prstGeom prst="rect">
            <a:avLst/>
          </a:prstGeom>
        </p:spPr>
      </p:pic>
    </p:spTree>
    <p:extLst>
      <p:ext uri="{BB962C8B-B14F-4D97-AF65-F5344CB8AC3E}">
        <p14:creationId xmlns:p14="http://schemas.microsoft.com/office/powerpoint/2010/main" val="324241352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Types of Directories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b="1" dirty="0"/>
              <a:t>Two-Level Directory</a:t>
            </a:r>
          </a:p>
          <a:p>
            <a:pPr lvl="1"/>
            <a:r>
              <a:rPr lang="en-US" dirty="0"/>
              <a:t>Each user gets their own directory space.</a:t>
            </a:r>
          </a:p>
          <a:p>
            <a:pPr lvl="1"/>
            <a:r>
              <a:rPr lang="en-US" dirty="0"/>
              <a:t>File names only need to be unique within a given user's directory.</a:t>
            </a:r>
          </a:p>
          <a:p>
            <a:pPr lvl="1"/>
            <a:r>
              <a:rPr lang="en-US" dirty="0"/>
              <a:t>A master file directory is used to keep track of each users directory, and must be maintained when users are added to or removed from the system.</a:t>
            </a:r>
          </a:p>
          <a:p>
            <a:pPr lvl="1"/>
            <a:r>
              <a:rPr lang="en-US" dirty="0"/>
              <a:t>A separate directory is generally needed for system ( executable ) files.</a:t>
            </a:r>
          </a:p>
          <a:p>
            <a:pPr lvl="1"/>
            <a:r>
              <a:rPr lang="en-US" dirty="0"/>
              <a:t>Systems may or may not allow users to access other directories besides their own</a:t>
            </a:r>
          </a:p>
          <a:p>
            <a:pPr lvl="2"/>
            <a:r>
              <a:rPr lang="en-US" dirty="0"/>
              <a:t>If access to other directories is allowed, then provision must be made to specify the directory being accessed.</a:t>
            </a:r>
          </a:p>
          <a:p>
            <a:pPr lvl="2"/>
            <a:r>
              <a:rPr lang="en-US" dirty="0"/>
              <a:t>If access is denied, then special consideration must be made for users to run programs located in system directories. A search path is the list of directories in which to search for executable programs, and can be set uniquely for each user.</a:t>
            </a:r>
          </a:p>
          <a:p>
            <a:endParaRPr lang="en-US" dirty="0"/>
          </a:p>
          <a:p>
            <a:endParaRPr lang="en-US" dirty="0"/>
          </a:p>
        </p:txBody>
      </p:sp>
      <p:pic>
        <p:nvPicPr>
          <p:cNvPr id="5" name="image89.jpeg">
            <a:extLst>
              <a:ext uri="{FF2B5EF4-FFF2-40B4-BE49-F238E27FC236}">
                <a16:creationId xmlns:a16="http://schemas.microsoft.com/office/drawing/2014/main" xmlns="" id="{6672AD34-EC3C-E6F1-FF07-47F30994CDAC}"/>
              </a:ext>
            </a:extLst>
          </p:cNvPr>
          <p:cNvPicPr>
            <a:picLocks noChangeAspect="1"/>
          </p:cNvPicPr>
          <p:nvPr/>
        </p:nvPicPr>
        <p:blipFill>
          <a:blip r:embed="rId2" cstate="print"/>
          <a:stretch>
            <a:fillRect/>
          </a:stretch>
        </p:blipFill>
        <p:spPr>
          <a:xfrm>
            <a:off x="2380594" y="4346156"/>
            <a:ext cx="6660854" cy="1990286"/>
          </a:xfrm>
          <a:prstGeom prst="rect">
            <a:avLst/>
          </a:prstGeom>
        </p:spPr>
      </p:pic>
    </p:spTree>
    <p:extLst>
      <p:ext uri="{BB962C8B-B14F-4D97-AF65-F5344CB8AC3E}">
        <p14:creationId xmlns:p14="http://schemas.microsoft.com/office/powerpoint/2010/main" val="167112378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Types of Directories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b="1" dirty="0"/>
              <a:t>Hierarchical Directory or Tree Directory</a:t>
            </a:r>
          </a:p>
          <a:p>
            <a:pPr lvl="1"/>
            <a:r>
              <a:rPr lang="en-US" dirty="0"/>
              <a:t>In a hierarchical directory system, files are grouped together to form a sub directory.</a:t>
            </a:r>
          </a:p>
          <a:p>
            <a:pPr lvl="1"/>
            <a:r>
              <a:rPr lang="en-US" dirty="0"/>
              <a:t>At the top of the hierarchy is the root directory and then there are sub directories which has files.</a:t>
            </a:r>
          </a:p>
          <a:p>
            <a:pPr lvl="1"/>
            <a:r>
              <a:rPr lang="en-US" dirty="0"/>
              <a:t>Advantage of hierarchical directory system is that users can be provided access to a sub directory rather than the entire directory. It provides a better structure to file system. Also, managing millions of files is easy with this architecture.</a:t>
            </a:r>
          </a:p>
          <a:p>
            <a:pPr lvl="1"/>
            <a:r>
              <a:rPr lang="en-US" dirty="0"/>
              <a:t>Personal computers use hierarchical directory system for managing files.</a:t>
            </a:r>
          </a:p>
          <a:p>
            <a:endParaRPr lang="en-US" dirty="0"/>
          </a:p>
          <a:p>
            <a:endParaRPr lang="en-US" dirty="0"/>
          </a:p>
        </p:txBody>
      </p:sp>
      <p:pic>
        <p:nvPicPr>
          <p:cNvPr id="4" name="image90.jpeg" descr="Hierarchical directory system">
            <a:extLst>
              <a:ext uri="{FF2B5EF4-FFF2-40B4-BE49-F238E27FC236}">
                <a16:creationId xmlns:a16="http://schemas.microsoft.com/office/drawing/2014/main" xmlns="" id="{822786D5-9950-6BDA-62FB-3576ED0A47A4}"/>
              </a:ext>
            </a:extLst>
          </p:cNvPr>
          <p:cNvPicPr>
            <a:picLocks noChangeAspect="1"/>
          </p:cNvPicPr>
          <p:nvPr/>
        </p:nvPicPr>
        <p:blipFill>
          <a:blip r:embed="rId2" cstate="print"/>
          <a:stretch>
            <a:fillRect/>
          </a:stretch>
        </p:blipFill>
        <p:spPr>
          <a:xfrm>
            <a:off x="2855206" y="3192517"/>
            <a:ext cx="6481587" cy="3104842"/>
          </a:xfrm>
          <a:prstGeom prst="rect">
            <a:avLst/>
          </a:prstGeom>
        </p:spPr>
      </p:pic>
    </p:spTree>
    <p:extLst>
      <p:ext uri="{BB962C8B-B14F-4D97-AF65-F5344CB8AC3E}">
        <p14:creationId xmlns:p14="http://schemas.microsoft.com/office/powerpoint/2010/main" val="117457337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Path</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A path is a unique location to a file or a folder in a file system of an OS.A path to a file is a combination of / and alpha-numeric characters.</a:t>
            </a:r>
          </a:p>
          <a:p>
            <a:r>
              <a:rPr lang="en-US" dirty="0"/>
              <a:t>Absolute Path-name:</a:t>
            </a:r>
          </a:p>
          <a:p>
            <a:r>
              <a:rPr lang="en-US" dirty="0"/>
              <a:t>An absolute path is defined as the specifying the location of a file or directory from the root directory(/).</a:t>
            </a:r>
          </a:p>
          <a:p>
            <a:pPr lvl="1"/>
            <a:r>
              <a:rPr lang="en-US" dirty="0"/>
              <a:t>To write an absolute path-name:</a:t>
            </a:r>
          </a:p>
          <a:p>
            <a:pPr lvl="1"/>
            <a:r>
              <a:rPr lang="en-US" dirty="0"/>
              <a:t>Start at the root directory ( / ) and work down.</a:t>
            </a:r>
          </a:p>
          <a:p>
            <a:pPr lvl="1"/>
            <a:r>
              <a:rPr lang="en-US" dirty="0"/>
              <a:t>Write a slash ( / ) after every directory name (last one is optional) For example:</a:t>
            </a:r>
          </a:p>
          <a:p>
            <a:pPr lvl="1"/>
            <a:r>
              <a:rPr lang="en-US" dirty="0"/>
              <a:t>grace /home/</a:t>
            </a:r>
            <a:r>
              <a:rPr lang="en-US" dirty="0" err="1"/>
              <a:t>os</a:t>
            </a:r>
            <a:r>
              <a:rPr lang="en-US" dirty="0"/>
              <a:t>/process.pdf </a:t>
            </a:r>
          </a:p>
          <a:p>
            <a:r>
              <a:rPr lang="en-US" dirty="0"/>
              <a:t>Relative path-name:</a:t>
            </a:r>
          </a:p>
          <a:p>
            <a:r>
              <a:rPr lang="en-US" dirty="0"/>
              <a:t>Relative path is defined as the path related to the present working directly. It starts at your current directory and never starts with a /.</a:t>
            </a:r>
          </a:p>
          <a:p>
            <a:pPr lvl="1"/>
            <a:r>
              <a:rPr lang="en-US" dirty="0"/>
              <a:t>For example:</a:t>
            </a:r>
          </a:p>
          <a:p>
            <a:pPr lvl="1"/>
            <a:r>
              <a:rPr lang="en-US" dirty="0"/>
              <a:t>If we are currently in home then, home/</a:t>
            </a:r>
            <a:r>
              <a:rPr lang="en-US" dirty="0" err="1"/>
              <a:t>os</a:t>
            </a:r>
            <a:r>
              <a:rPr lang="en-US" dirty="0"/>
              <a:t>/process.pdf is a relative path.</a:t>
            </a:r>
          </a:p>
          <a:p>
            <a:endParaRPr lang="en-US" dirty="0"/>
          </a:p>
        </p:txBody>
      </p:sp>
    </p:spTree>
    <p:extLst>
      <p:ext uri="{BB962C8B-B14F-4D97-AF65-F5344CB8AC3E}">
        <p14:creationId xmlns:p14="http://schemas.microsoft.com/office/powerpoint/2010/main" val="148358960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File System Implementation/Allocation</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The allocation methods define how the files are stored in the disk blocks. There are three main disk space or file allocation methods.</a:t>
            </a:r>
          </a:p>
          <a:p>
            <a:pPr marL="0" indent="0">
              <a:buNone/>
            </a:pPr>
            <a:r>
              <a:rPr lang="en-US" dirty="0" err="1"/>
              <a:t>i</a:t>
            </a:r>
            <a:r>
              <a:rPr lang="en-US" dirty="0"/>
              <a:t>. Contiguous Allocation</a:t>
            </a:r>
          </a:p>
          <a:p>
            <a:pPr marL="0" indent="0">
              <a:buNone/>
            </a:pPr>
            <a:r>
              <a:rPr lang="en-US" dirty="0"/>
              <a:t>ii. Linked Allocation</a:t>
            </a:r>
          </a:p>
          <a:p>
            <a:pPr marL="0" indent="0">
              <a:buNone/>
            </a:pPr>
            <a:r>
              <a:rPr lang="en-US" dirty="0"/>
              <a:t>iii. Indexed Allocation</a:t>
            </a:r>
          </a:p>
          <a:p>
            <a:r>
              <a:rPr lang="en-US" dirty="0"/>
              <a:t>The main idea behind these methods is to provide:</a:t>
            </a:r>
          </a:p>
          <a:p>
            <a:pPr lvl="1"/>
            <a:r>
              <a:rPr lang="en-US" dirty="0"/>
              <a:t>Efficient disk space utilization.</a:t>
            </a:r>
          </a:p>
          <a:p>
            <a:pPr lvl="1"/>
            <a:r>
              <a:rPr lang="en-US" dirty="0"/>
              <a:t>Fast access to the file blocks</a:t>
            </a:r>
          </a:p>
          <a:p>
            <a:endParaRPr lang="en-US" dirty="0"/>
          </a:p>
        </p:txBody>
      </p:sp>
    </p:spTree>
    <p:extLst>
      <p:ext uri="{BB962C8B-B14F-4D97-AF65-F5344CB8AC3E}">
        <p14:creationId xmlns:p14="http://schemas.microsoft.com/office/powerpoint/2010/main" val="2337976537"/>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pPr marL="0" indent="0">
              <a:buNone/>
            </a:pPr>
            <a:r>
              <a:rPr lang="en-US" b="1" dirty="0"/>
              <a:t>Contiguous Allocation</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a:xfrm>
            <a:off x="131181" y="863444"/>
            <a:ext cx="7570099" cy="5590565"/>
          </a:xfrm>
        </p:spPr>
        <p:txBody>
          <a:bodyPr/>
          <a:lstStyle/>
          <a:p>
            <a:r>
              <a:rPr lang="en-US" dirty="0"/>
              <a:t>In this scheme, each file occupies a contiguous set of blocks on the disk. For example, if a file requires n blocks and is given a block b as the starting location, then the blocks assigned to the file will be: b, b+1, b+2,……b+n-1. This means that given the starting block address and the length of the file (in terms of blocks required), we can determine the blocks occupied by the file.</a:t>
            </a:r>
          </a:p>
          <a:p>
            <a:r>
              <a:rPr lang="en-US" dirty="0"/>
              <a:t>For example, If we have a disk with 1 KB blocks, then for storing a 50 KB file, we will require 50 consecutive blocks.</a:t>
            </a:r>
          </a:p>
          <a:p>
            <a:r>
              <a:rPr lang="en-US" dirty="0"/>
              <a:t>The file allocation table in contiguous allocation contains</a:t>
            </a:r>
          </a:p>
          <a:p>
            <a:pPr lvl="1"/>
            <a:r>
              <a:rPr lang="en-US" dirty="0"/>
              <a:t>Address of starting block</a:t>
            </a:r>
          </a:p>
          <a:p>
            <a:pPr lvl="1"/>
            <a:r>
              <a:rPr lang="en-US" dirty="0"/>
              <a:t>Length of the allocated portion.</a:t>
            </a:r>
          </a:p>
          <a:p>
            <a:r>
              <a:rPr lang="en-US" i="1" dirty="0">
                <a:solidFill>
                  <a:srgbClr val="C00000"/>
                </a:solidFill>
              </a:rPr>
              <a:t>The file ‘File A’ in the above figure starts from the block 2 with length = 3 blocks. Therefore, it occupies 2,3 and 4 blocks.</a:t>
            </a:r>
          </a:p>
          <a:p>
            <a:endParaRPr lang="en-US" dirty="0"/>
          </a:p>
        </p:txBody>
      </p:sp>
      <p:pic>
        <p:nvPicPr>
          <p:cNvPr id="4" name="image91.jpeg">
            <a:extLst>
              <a:ext uri="{FF2B5EF4-FFF2-40B4-BE49-F238E27FC236}">
                <a16:creationId xmlns:a16="http://schemas.microsoft.com/office/drawing/2014/main" xmlns="" id="{59B90605-CE6A-3118-043C-59B41CC14453}"/>
              </a:ext>
            </a:extLst>
          </p:cNvPr>
          <p:cNvPicPr>
            <a:picLocks noChangeAspect="1"/>
          </p:cNvPicPr>
          <p:nvPr/>
        </p:nvPicPr>
        <p:blipFill>
          <a:blip r:embed="rId2" cstate="print"/>
          <a:stretch>
            <a:fillRect/>
          </a:stretch>
        </p:blipFill>
        <p:spPr>
          <a:xfrm>
            <a:off x="7930056" y="769257"/>
            <a:ext cx="4125510" cy="5387615"/>
          </a:xfrm>
          <a:prstGeom prst="rect">
            <a:avLst/>
          </a:prstGeom>
        </p:spPr>
      </p:pic>
    </p:spTree>
    <p:extLst>
      <p:ext uri="{BB962C8B-B14F-4D97-AF65-F5344CB8AC3E}">
        <p14:creationId xmlns:p14="http://schemas.microsoft.com/office/powerpoint/2010/main" val="1742275449"/>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pPr marL="0" indent="0">
              <a:buNone/>
            </a:pPr>
            <a:r>
              <a:rPr lang="en-US" b="1" dirty="0"/>
              <a:t>Contiguous Allocation</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a:xfrm>
            <a:off x="131180" y="863444"/>
            <a:ext cx="11786500" cy="5590565"/>
          </a:xfrm>
        </p:spPr>
        <p:txBody>
          <a:bodyPr/>
          <a:lstStyle/>
          <a:p>
            <a:r>
              <a:rPr lang="en-US" dirty="0"/>
              <a:t>Advantages:</a:t>
            </a:r>
          </a:p>
          <a:p>
            <a:pPr lvl="1"/>
            <a:r>
              <a:rPr lang="en-US" dirty="0"/>
              <a:t>Both the Sequential and Direct Accesses are supported by this.</a:t>
            </a:r>
          </a:p>
          <a:p>
            <a:pPr lvl="1"/>
            <a:r>
              <a:rPr lang="en-US" dirty="0"/>
              <a:t>This is extremely fast since the number of seeks are minimal because of contiguous allocation of file blocks.</a:t>
            </a:r>
          </a:p>
          <a:p>
            <a:r>
              <a:rPr lang="en-US" dirty="0"/>
              <a:t>Disadvantages:</a:t>
            </a:r>
          </a:p>
          <a:p>
            <a:pPr lvl="1"/>
            <a:r>
              <a:rPr lang="en-US" dirty="0"/>
              <a:t>This method suffers from both internal and external fragmentation. This makes it inefficient in terms of memory utilization.</a:t>
            </a:r>
          </a:p>
          <a:p>
            <a:pPr lvl="1"/>
            <a:r>
              <a:rPr lang="en-US" dirty="0"/>
              <a:t>Increasing file size is difficult because it depends on the availability of contiguous memory at a particular instance.</a:t>
            </a:r>
          </a:p>
          <a:p>
            <a:pPr marL="0" indent="0">
              <a:buNone/>
            </a:pPr>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059926810"/>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pPr marL="0" indent="0">
              <a:buNone/>
            </a:pPr>
            <a:r>
              <a:rPr lang="en-US" b="1" dirty="0"/>
              <a:t>Linked Allocation (Non-contiguous allocation)</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a:xfrm>
            <a:off x="131181" y="863444"/>
            <a:ext cx="6808100" cy="5590565"/>
          </a:xfrm>
        </p:spPr>
        <p:txBody>
          <a:bodyPr/>
          <a:lstStyle/>
          <a:p>
            <a:r>
              <a:rPr lang="en-US" dirty="0"/>
              <a:t>In this scheme, each file is a linked list of disk blocks which need not be contiguous. </a:t>
            </a:r>
          </a:p>
          <a:p>
            <a:r>
              <a:rPr lang="en-US" dirty="0"/>
              <a:t>The disk blocks can be scattered anywhere on the disk.</a:t>
            </a:r>
          </a:p>
          <a:p>
            <a:r>
              <a:rPr lang="en-US" dirty="0"/>
              <a:t>The file allocation table contains a pointer to the starting and the ending file block. </a:t>
            </a:r>
          </a:p>
          <a:p>
            <a:r>
              <a:rPr lang="en-US" dirty="0"/>
              <a:t>Each block contains a pointer to the next block occupied by the file.</a:t>
            </a:r>
          </a:p>
          <a:p>
            <a:r>
              <a:rPr lang="en-US" dirty="0"/>
              <a:t>The file ‗jeep‘ in following image shows how the blocks are randomly distributed. </a:t>
            </a:r>
          </a:p>
          <a:p>
            <a:r>
              <a:rPr lang="en-US" dirty="0"/>
              <a:t>The last block (25) contains -1 indicating a null pointer and does not point to any other block.</a:t>
            </a:r>
          </a:p>
          <a:p>
            <a:endParaRPr lang="en-US" dirty="0"/>
          </a:p>
          <a:p>
            <a:endParaRPr lang="en-US" dirty="0"/>
          </a:p>
        </p:txBody>
      </p:sp>
      <p:pic>
        <p:nvPicPr>
          <p:cNvPr id="4" name="image92.jpeg" descr="linked">
            <a:extLst>
              <a:ext uri="{FF2B5EF4-FFF2-40B4-BE49-F238E27FC236}">
                <a16:creationId xmlns:a16="http://schemas.microsoft.com/office/drawing/2014/main" xmlns="" id="{D2A19AE7-A00E-4AA7-C22B-6257B135E9AC}"/>
              </a:ext>
            </a:extLst>
          </p:cNvPr>
          <p:cNvPicPr>
            <a:picLocks noChangeAspect="1"/>
          </p:cNvPicPr>
          <p:nvPr/>
        </p:nvPicPr>
        <p:blipFill>
          <a:blip r:embed="rId2" cstate="print"/>
          <a:stretch>
            <a:fillRect/>
          </a:stretch>
        </p:blipFill>
        <p:spPr>
          <a:xfrm>
            <a:off x="7346892" y="863444"/>
            <a:ext cx="4713927" cy="4216556"/>
          </a:xfrm>
          <a:prstGeom prst="rect">
            <a:avLst/>
          </a:prstGeom>
        </p:spPr>
      </p:pic>
    </p:spTree>
    <p:extLst>
      <p:ext uri="{BB962C8B-B14F-4D97-AF65-F5344CB8AC3E}">
        <p14:creationId xmlns:p14="http://schemas.microsoft.com/office/powerpoint/2010/main" val="4086134562"/>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pPr marL="0" indent="0">
              <a:buNone/>
            </a:pPr>
            <a:r>
              <a:rPr lang="en-US" b="1" dirty="0"/>
              <a:t>Linked Allocation (Non-contiguous allocation)</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a:xfrm>
            <a:off x="131181" y="863444"/>
            <a:ext cx="11786499" cy="5590565"/>
          </a:xfrm>
        </p:spPr>
        <p:txBody>
          <a:bodyPr/>
          <a:lstStyle/>
          <a:p>
            <a:r>
              <a:rPr lang="en-US" b="1" dirty="0"/>
              <a:t>Advantages:</a:t>
            </a:r>
          </a:p>
          <a:p>
            <a:pPr lvl="1"/>
            <a:r>
              <a:rPr lang="en-US" dirty="0"/>
              <a:t>This is very flexible in terms of file size..</a:t>
            </a:r>
          </a:p>
          <a:p>
            <a:pPr lvl="1"/>
            <a:r>
              <a:rPr lang="en-US" dirty="0"/>
              <a:t>Better in terms of memory utilization.</a:t>
            </a:r>
          </a:p>
          <a:p>
            <a:r>
              <a:rPr lang="en-US" b="1" dirty="0"/>
              <a:t>Disadvantages:</a:t>
            </a:r>
          </a:p>
          <a:p>
            <a:pPr lvl="1"/>
            <a:r>
              <a:rPr lang="en-US" dirty="0"/>
              <a:t>Linked allocation are slower.</a:t>
            </a:r>
          </a:p>
          <a:p>
            <a:pPr lvl="1"/>
            <a:r>
              <a:rPr lang="en-US" dirty="0"/>
              <a:t>It does not support random or direct access. </a:t>
            </a:r>
          </a:p>
          <a:p>
            <a:pPr lvl="1"/>
            <a:r>
              <a:rPr lang="en-US" dirty="0"/>
              <a:t>Pointers required in the linked allocation incur some extra overhead.</a:t>
            </a:r>
          </a:p>
          <a:p>
            <a:endParaRPr lang="en-US" dirty="0"/>
          </a:p>
        </p:txBody>
      </p:sp>
    </p:spTree>
    <p:extLst>
      <p:ext uri="{BB962C8B-B14F-4D97-AF65-F5344CB8AC3E}">
        <p14:creationId xmlns:p14="http://schemas.microsoft.com/office/powerpoint/2010/main" val="2908332563"/>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Indexed Allocation (</a:t>
            </a:r>
            <a:r>
              <a:rPr lang="en-US" dirty="0" err="1"/>
              <a:t>i</a:t>
            </a:r>
            <a:r>
              <a:rPr lang="en-US" dirty="0"/>
              <a:t>-nodes)</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a:xfrm>
            <a:off x="131180" y="863444"/>
            <a:ext cx="7651379" cy="5590565"/>
          </a:xfrm>
        </p:spPr>
        <p:txBody>
          <a:bodyPr/>
          <a:lstStyle/>
          <a:p>
            <a:r>
              <a:rPr lang="en-US" dirty="0"/>
              <a:t>In this scheme, a special block known as the Index block contains the pointers to all the blocks occupied by a file.</a:t>
            </a:r>
          </a:p>
          <a:p>
            <a:r>
              <a:rPr lang="en-US" dirty="0"/>
              <a:t>Each file has its own index block. </a:t>
            </a:r>
          </a:p>
          <a:p>
            <a:r>
              <a:rPr lang="en-US" dirty="0"/>
              <a:t>The </a:t>
            </a:r>
            <a:r>
              <a:rPr lang="en-US" dirty="0" err="1"/>
              <a:t>ith</a:t>
            </a:r>
            <a:r>
              <a:rPr lang="en-US" dirty="0"/>
              <a:t> entry in the index block contains the disk address of the </a:t>
            </a:r>
            <a:r>
              <a:rPr lang="en-US" dirty="0" err="1"/>
              <a:t>ith</a:t>
            </a:r>
            <a:r>
              <a:rPr lang="en-US" dirty="0"/>
              <a:t> file block. </a:t>
            </a:r>
          </a:p>
          <a:p>
            <a:r>
              <a:rPr lang="en-US" dirty="0"/>
              <a:t>The directory entry contains the address of the index block as shown below:</a:t>
            </a:r>
          </a:p>
          <a:p>
            <a:endParaRPr lang="en-US" dirty="0"/>
          </a:p>
          <a:p>
            <a:endParaRPr lang="en-US" dirty="0"/>
          </a:p>
          <a:p>
            <a:endParaRPr lang="en-US" dirty="0"/>
          </a:p>
          <a:p>
            <a:endParaRPr lang="en-US" dirty="0"/>
          </a:p>
          <a:p>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image93.jpeg">
            <a:extLst>
              <a:ext uri="{FF2B5EF4-FFF2-40B4-BE49-F238E27FC236}">
                <a16:creationId xmlns:a16="http://schemas.microsoft.com/office/drawing/2014/main" xmlns="" id="{E9E026E3-9BF1-5E87-6F00-C76A9B1B13F8}"/>
              </a:ext>
            </a:extLst>
          </p:cNvPr>
          <p:cNvPicPr>
            <a:picLocks noChangeAspect="1"/>
          </p:cNvPicPr>
          <p:nvPr/>
        </p:nvPicPr>
        <p:blipFill>
          <a:blip r:embed="rId3" cstate="print"/>
          <a:stretch>
            <a:fillRect/>
          </a:stretch>
        </p:blipFill>
        <p:spPr>
          <a:xfrm>
            <a:off x="412839" y="3658726"/>
            <a:ext cx="5156025" cy="2669154"/>
          </a:xfrm>
          <a:prstGeom prst="rect">
            <a:avLst/>
          </a:prstGeom>
        </p:spPr>
      </p:pic>
      <p:sp>
        <p:nvSpPr>
          <p:cNvPr id="6" name="Content Placeholder 2">
            <a:extLst>
              <a:ext uri="{FF2B5EF4-FFF2-40B4-BE49-F238E27FC236}">
                <a16:creationId xmlns:a16="http://schemas.microsoft.com/office/drawing/2014/main" xmlns="" id="{070F98F1-99E6-9D85-8885-DCA09D8F5FBF}"/>
              </a:ext>
            </a:extLst>
          </p:cNvPr>
          <p:cNvSpPr txBox="1">
            <a:spLocks/>
          </p:cNvSpPr>
          <p:nvPr/>
        </p:nvSpPr>
        <p:spPr>
          <a:xfrm>
            <a:off x="8174795" y="863444"/>
            <a:ext cx="3886024" cy="535641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 nodes can point directly or indirectly as follows:</a:t>
            </a:r>
          </a:p>
          <a:p>
            <a:endParaRPr lang="en-US" dirty="0"/>
          </a:p>
          <a:p>
            <a:endParaRPr lang="en-US" dirty="0"/>
          </a:p>
          <a:p>
            <a:endParaRPr lang="en-US" dirty="0"/>
          </a:p>
          <a:p>
            <a:endParaRPr lang="en-US" dirty="0"/>
          </a:p>
          <a:p>
            <a:endParaRPr lang="en-US" dirty="0"/>
          </a:p>
          <a:p>
            <a:endParaRPr lang="en-US" dirty="0"/>
          </a:p>
          <a:p>
            <a:endParaRPr lang="en-US" dirty="0"/>
          </a:p>
          <a:p>
            <a:pPr lvl="1"/>
            <a:endParaRPr lang="en-US" dirty="0"/>
          </a:p>
          <a:p>
            <a:endParaRPr lang="en-US" dirty="0"/>
          </a:p>
        </p:txBody>
      </p:sp>
      <p:pic>
        <p:nvPicPr>
          <p:cNvPr id="7" name="image94.png">
            <a:extLst>
              <a:ext uri="{FF2B5EF4-FFF2-40B4-BE49-F238E27FC236}">
                <a16:creationId xmlns:a16="http://schemas.microsoft.com/office/drawing/2014/main" xmlns="" id="{00ECC7F1-43E2-377E-26AC-B0CC72C58F59}"/>
              </a:ext>
            </a:extLst>
          </p:cNvPr>
          <p:cNvPicPr>
            <a:picLocks noChangeAspect="1"/>
          </p:cNvPicPr>
          <p:nvPr/>
        </p:nvPicPr>
        <p:blipFill>
          <a:blip r:embed="rId4" cstate="print"/>
          <a:stretch>
            <a:fillRect/>
          </a:stretch>
        </p:blipFill>
        <p:spPr>
          <a:xfrm>
            <a:off x="8401137" y="1671232"/>
            <a:ext cx="3582408" cy="3055420"/>
          </a:xfrm>
          <a:prstGeom prst="rect">
            <a:avLst/>
          </a:prstGeom>
        </p:spPr>
      </p:pic>
    </p:spTree>
    <p:extLst>
      <p:ext uri="{BB962C8B-B14F-4D97-AF65-F5344CB8AC3E}">
        <p14:creationId xmlns:p14="http://schemas.microsoft.com/office/powerpoint/2010/main" val="3107196697"/>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0A1BB8-6BA4-BC4D-54CC-9818253796E7}"/>
              </a:ext>
            </a:extLst>
          </p:cNvPr>
          <p:cNvSpPr>
            <a:spLocks noGrp="1"/>
          </p:cNvSpPr>
          <p:nvPr>
            <p:ph type="title"/>
          </p:nvPr>
        </p:nvSpPr>
        <p:spPr/>
        <p:txBody>
          <a:bodyPr/>
          <a:lstStyle/>
          <a:p>
            <a:r>
              <a:rPr lang="en-US" dirty="0"/>
              <a:t>Indexed Allocation (</a:t>
            </a:r>
            <a:r>
              <a:rPr lang="en-US" dirty="0" err="1"/>
              <a:t>i</a:t>
            </a:r>
            <a:r>
              <a:rPr lang="en-US" dirty="0"/>
              <a:t>-nodes)</a:t>
            </a:r>
          </a:p>
        </p:txBody>
      </p:sp>
      <p:sp>
        <p:nvSpPr>
          <p:cNvPr id="3" name="Content Placeholder 2">
            <a:extLst>
              <a:ext uri="{FF2B5EF4-FFF2-40B4-BE49-F238E27FC236}">
                <a16:creationId xmlns:a16="http://schemas.microsoft.com/office/drawing/2014/main" xmlns="" id="{3700374C-A11B-C62F-FAE7-52B3FEE1E0D1}"/>
              </a:ext>
            </a:extLst>
          </p:cNvPr>
          <p:cNvSpPr>
            <a:spLocks noGrp="1"/>
          </p:cNvSpPr>
          <p:nvPr>
            <p:ph idx="1"/>
          </p:nvPr>
        </p:nvSpPr>
        <p:spPr>
          <a:xfrm>
            <a:off x="152400" y="830785"/>
            <a:ext cx="11734800" cy="5590565"/>
          </a:xfrm>
        </p:spPr>
        <p:txBody>
          <a:bodyPr/>
          <a:lstStyle/>
          <a:p>
            <a:pPr marL="0" indent="0">
              <a:buNone/>
            </a:pPr>
            <a:r>
              <a:rPr lang="en-US" b="1" dirty="0"/>
              <a:t>Advantages:</a:t>
            </a:r>
          </a:p>
          <a:p>
            <a:r>
              <a:rPr lang="en-US" dirty="0"/>
              <a:t>This supports direct access to the blocks occupied by the file and therefore provides fast access to the file blocks.</a:t>
            </a:r>
          </a:p>
          <a:p>
            <a:r>
              <a:rPr lang="en-US" dirty="0"/>
              <a:t>It overcomes the problem of external fragmentation.</a:t>
            </a:r>
          </a:p>
          <a:p>
            <a:pPr marL="0" indent="0">
              <a:buNone/>
            </a:pPr>
            <a:r>
              <a:rPr lang="en-US" b="1" dirty="0"/>
              <a:t>Disadvantages:</a:t>
            </a:r>
          </a:p>
          <a:p>
            <a:r>
              <a:rPr lang="en-US" dirty="0"/>
              <a:t>The pointer overhead for indexed allocation is greater than linked allocation.</a:t>
            </a:r>
          </a:p>
          <a:p>
            <a:r>
              <a:rPr lang="en-US" dirty="0"/>
              <a:t>For very small files, say files that expand only 2-3 blocks, the indexed allocation would keep one entire block (index block) for the pointers which is inefficient in terms of memory utilization. However, in linked allocation we lose the space of only 1 pointer per block.</a:t>
            </a:r>
          </a:p>
          <a:p>
            <a:endParaRPr lang="en-US" dirty="0"/>
          </a:p>
        </p:txBody>
      </p:sp>
    </p:spTree>
    <p:extLst>
      <p:ext uri="{BB962C8B-B14F-4D97-AF65-F5344CB8AC3E}">
        <p14:creationId xmlns:p14="http://schemas.microsoft.com/office/powerpoint/2010/main" val="4005062955"/>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Blocking And Buffering</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A physical record or block is the unit of information actually read from or written to a device. A logical record is a collection of data treated as a unit from the user’s standpoint. When each physical record contains exactly one logical record, the file is said to consist of unblocked records. </a:t>
            </a:r>
          </a:p>
          <a:p>
            <a:r>
              <a:rPr lang="en-US" dirty="0"/>
              <a:t>When each physical record may contain several logical records, the file is said to consist of blocked records. In a file with fixed-length records, all records are the same length; the block size is ordinarily an integral multiple of the record size. In a file with variable- length records, records may vary in size up to the block size.</a:t>
            </a:r>
          </a:p>
        </p:txBody>
      </p:sp>
    </p:spTree>
    <p:extLst>
      <p:ext uri="{BB962C8B-B14F-4D97-AF65-F5344CB8AC3E}">
        <p14:creationId xmlns:p14="http://schemas.microsoft.com/office/powerpoint/2010/main" val="3689441485"/>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Blocking And Buffering</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Buffering allows computation to proceed in parallel with input/output. Spaces are provided in primary storage to hold several physical blocks of a file at once – each of these space is called buffer. </a:t>
            </a:r>
          </a:p>
          <a:p>
            <a:r>
              <a:rPr lang="en-US" dirty="0"/>
              <a:t>The most common scheme is called double buffering and it operates as follows(for output). There are two buffers. Initially, records generated by a running process are deposited in the first buffer until it is full. </a:t>
            </a:r>
          </a:p>
          <a:p>
            <a:r>
              <a:rPr lang="en-US" dirty="0"/>
              <a:t>The transfer of block in the first buffer to secondary storage is then initiated. While this transfer is in progress, the process continues generating records, that are deposited in the second buffer. </a:t>
            </a:r>
          </a:p>
          <a:p>
            <a:r>
              <a:rPr lang="en-US" dirty="0"/>
              <a:t>When the second buffer is full, and when the transfer from first buffer is complete, transfer from second buffer is initiated. </a:t>
            </a:r>
          </a:p>
          <a:p>
            <a:r>
              <a:rPr lang="en-US" dirty="0"/>
              <a:t>The process continues generating records that are now deposited in the first buffer. This alternation between the buffers allows input/output to occur in parallel with a process’s computations.</a:t>
            </a:r>
          </a:p>
          <a:p>
            <a:endParaRPr lang="en-US" dirty="0"/>
          </a:p>
        </p:txBody>
      </p:sp>
    </p:spTree>
    <p:extLst>
      <p:ext uri="{BB962C8B-B14F-4D97-AF65-F5344CB8AC3E}">
        <p14:creationId xmlns:p14="http://schemas.microsoft.com/office/powerpoint/2010/main" val="755004532"/>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0A1BB8-6BA4-BC4D-54CC-9818253796E7}"/>
              </a:ext>
            </a:extLst>
          </p:cNvPr>
          <p:cNvSpPr>
            <a:spLocks noGrp="1"/>
          </p:cNvSpPr>
          <p:nvPr>
            <p:ph type="title"/>
          </p:nvPr>
        </p:nvSpPr>
        <p:spPr/>
        <p:txBody>
          <a:bodyPr/>
          <a:lstStyle/>
          <a:p>
            <a:r>
              <a:rPr lang="en-US" dirty="0"/>
              <a:t>Security and Multi-media files</a:t>
            </a:r>
          </a:p>
        </p:txBody>
      </p:sp>
      <p:sp>
        <p:nvSpPr>
          <p:cNvPr id="3" name="Content Placeholder 2">
            <a:extLst>
              <a:ext uri="{FF2B5EF4-FFF2-40B4-BE49-F238E27FC236}">
                <a16:creationId xmlns:a16="http://schemas.microsoft.com/office/drawing/2014/main" xmlns="" id="{3700374C-A11B-C62F-FAE7-52B3FEE1E0D1}"/>
              </a:ext>
            </a:extLst>
          </p:cNvPr>
          <p:cNvSpPr>
            <a:spLocks noGrp="1"/>
          </p:cNvSpPr>
          <p:nvPr>
            <p:ph idx="1"/>
          </p:nvPr>
        </p:nvSpPr>
        <p:spPr/>
        <p:txBody>
          <a:bodyPr/>
          <a:lstStyle/>
          <a:p>
            <a:pPr marL="0" indent="0">
              <a:buNone/>
            </a:pPr>
            <a:r>
              <a:rPr lang="en-US" b="1" dirty="0"/>
              <a:t>Security:</a:t>
            </a:r>
          </a:p>
          <a:p>
            <a:r>
              <a:rPr lang="en-US" dirty="0"/>
              <a:t>Security refers to providing a protection system to computer system resources such as CPU, memory, disk, software programs and most importantly data/information stored in the computer system. If a computer program is run by an unauthorized user, then he/she may cause severe damage to computer or data stored in it. So a computer system must be protected against unauthorized access, malicious access to system memory, viruses, worms etc.</a:t>
            </a:r>
          </a:p>
          <a:p>
            <a:pPr marL="0" indent="0">
              <a:buNone/>
            </a:pPr>
            <a:r>
              <a:rPr lang="en-US" b="1" dirty="0"/>
              <a:t>Multi-media files:</a:t>
            </a:r>
          </a:p>
          <a:p>
            <a:r>
              <a:rPr lang="en-US" dirty="0"/>
              <a:t>A file that is capable of holding two or more multimedia elements (text, images, audio, video and animations) is known as multimedia files.</a:t>
            </a:r>
          </a:p>
          <a:p>
            <a:r>
              <a:rPr lang="en-US" dirty="0"/>
              <a:t>Although still images are a different medium than text, multimedia is typically used to mean the combination of text, sound, and/or motion video. </a:t>
            </a:r>
          </a:p>
        </p:txBody>
      </p:sp>
    </p:spTree>
    <p:extLst>
      <p:ext uri="{BB962C8B-B14F-4D97-AF65-F5344CB8AC3E}">
        <p14:creationId xmlns:p14="http://schemas.microsoft.com/office/powerpoint/2010/main" val="3179368861"/>
      </p:ext>
    </p:ext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6.0.25"/>
  <p:tag name="AS_OS" val="Unix 5.4.0.1103"/>
  <p:tag name="AS_RELEASE_DATE" val="2023.09.14"/>
  <p:tag name="AS_TITLE" val="Aspose.Slides for .NET6"/>
  <p:tag name="AS_VERSION" val="23.9"/>
</p:tagLst>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Roboto Condensed"/>
        <a:cs typeface="Arial"/>
      </a:majorFont>
      <a:minorFont>
        <a:latin typeface="Roboto Condensed"/>
        <a:ea typeface="Roboto Condensed"/>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15258</TotalTime>
  <Words>3339</Words>
  <Application>Microsoft Office PowerPoint</Application>
  <PresentationFormat>Widescreen</PresentationFormat>
  <Paragraphs>282</Paragraphs>
  <Slides>34</Slides>
  <Notes>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Roboto Condensed</vt:lpstr>
      <vt:lpstr>Wingdings 3</vt:lpstr>
      <vt:lpstr>Calibri</vt:lpstr>
      <vt:lpstr>Segoe UI Black</vt:lpstr>
      <vt:lpstr>Yu Gothic</vt:lpstr>
      <vt:lpstr>Roboto Condensed Light</vt:lpstr>
      <vt:lpstr>Wingdings</vt:lpstr>
      <vt:lpstr>Arial</vt:lpstr>
      <vt:lpstr>Office Theme</vt:lpstr>
      <vt:lpstr>Unit :6 File System</vt:lpstr>
      <vt:lpstr>File</vt:lpstr>
      <vt:lpstr>File System</vt:lpstr>
      <vt:lpstr>File Descriptor</vt:lpstr>
      <vt:lpstr>File Naming</vt:lpstr>
      <vt:lpstr>File Structure</vt:lpstr>
      <vt:lpstr> File Type  </vt:lpstr>
      <vt:lpstr>File Type</vt:lpstr>
      <vt:lpstr>File Typed – Name, Extensions</vt:lpstr>
      <vt:lpstr>File Attributes(Metadata)</vt:lpstr>
      <vt:lpstr>File Operations</vt:lpstr>
      <vt:lpstr>File Access Methods</vt:lpstr>
      <vt:lpstr>File Access Methods</vt:lpstr>
      <vt:lpstr>File Access Methods</vt:lpstr>
      <vt:lpstr>Sharing</vt:lpstr>
      <vt:lpstr>Access Control List (ACL)</vt:lpstr>
      <vt:lpstr>Access Control List (ACL)</vt:lpstr>
      <vt:lpstr>Access Control List (ACL)</vt:lpstr>
      <vt:lpstr>Directories</vt:lpstr>
      <vt:lpstr>Directories</vt:lpstr>
      <vt:lpstr>Types of Directories</vt:lpstr>
      <vt:lpstr>Types of Directories</vt:lpstr>
      <vt:lpstr>Types of Directories</vt:lpstr>
      <vt:lpstr>Path</vt:lpstr>
      <vt:lpstr>File System Implementation/Allocation</vt:lpstr>
      <vt:lpstr>Contiguous Allocation</vt:lpstr>
      <vt:lpstr>Contiguous Allocation</vt:lpstr>
      <vt:lpstr>Linked Allocation (Non-contiguous allocation)</vt:lpstr>
      <vt:lpstr>Linked Allocation (Non-contiguous allocation)</vt:lpstr>
      <vt:lpstr>Indexed Allocation (i-nodes)</vt:lpstr>
      <vt:lpstr>Indexed Allocation (i-nodes)</vt:lpstr>
      <vt:lpstr>Blocking And Buffering</vt:lpstr>
      <vt:lpstr>Blocking And Buffering</vt:lpstr>
      <vt:lpstr>Security and Multi-media files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1670</cp:revision>
  <cp:lastPrinted>2021-03-25T03:24:31Z</cp:lastPrinted>
  <dcterms:created xsi:type="dcterms:W3CDTF">2020-05-01T05:09:15Z</dcterms:created>
  <dcterms:modified xsi:type="dcterms:W3CDTF">2024-02-08T03:19:27Z</dcterms:modified>
</cp:coreProperties>
</file>