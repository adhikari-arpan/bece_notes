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Default Extension="wdp" ContentType="image/vnd.ms-photo"/>
  <Default Extension="jpg" ContentType="image/jp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media/image34.jpg" ContentType="image/jpeg"/>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59"/>
  </p:notesMasterIdLst>
  <p:sldIdLst>
    <p:sldId id="309" r:id="rId2"/>
    <p:sldId id="702" r:id="rId3"/>
    <p:sldId id="724" r:id="rId4"/>
    <p:sldId id="725" r:id="rId5"/>
    <p:sldId id="673" r:id="rId6"/>
    <p:sldId id="703" r:id="rId7"/>
    <p:sldId id="704" r:id="rId8"/>
    <p:sldId id="705" r:id="rId9"/>
    <p:sldId id="726" r:id="rId10"/>
    <p:sldId id="706" r:id="rId11"/>
    <p:sldId id="727" r:id="rId12"/>
    <p:sldId id="723" r:id="rId13"/>
    <p:sldId id="349" r:id="rId14"/>
    <p:sldId id="676" r:id="rId15"/>
    <p:sldId id="677" r:id="rId16"/>
    <p:sldId id="678" r:id="rId17"/>
    <p:sldId id="679" r:id="rId18"/>
    <p:sldId id="680" r:id="rId19"/>
    <p:sldId id="681" r:id="rId20"/>
    <p:sldId id="707" r:id="rId21"/>
    <p:sldId id="711" r:id="rId22"/>
    <p:sldId id="712" r:id="rId23"/>
    <p:sldId id="728" r:id="rId24"/>
    <p:sldId id="714" r:id="rId25"/>
    <p:sldId id="715" r:id="rId26"/>
    <p:sldId id="716" r:id="rId27"/>
    <p:sldId id="708" r:id="rId28"/>
    <p:sldId id="709" r:id="rId29"/>
    <p:sldId id="710" r:id="rId30"/>
    <p:sldId id="717" r:id="rId31"/>
    <p:sldId id="619" r:id="rId32"/>
    <p:sldId id="718" r:id="rId33"/>
    <p:sldId id="654" r:id="rId34"/>
    <p:sldId id="655" r:id="rId35"/>
    <p:sldId id="683" r:id="rId36"/>
    <p:sldId id="684" r:id="rId37"/>
    <p:sldId id="688" r:id="rId38"/>
    <p:sldId id="689" r:id="rId39"/>
    <p:sldId id="690" r:id="rId40"/>
    <p:sldId id="691" r:id="rId41"/>
    <p:sldId id="657" r:id="rId42"/>
    <p:sldId id="685" r:id="rId43"/>
    <p:sldId id="686" r:id="rId44"/>
    <p:sldId id="687" r:id="rId45"/>
    <p:sldId id="700" r:id="rId46"/>
    <p:sldId id="671" r:id="rId47"/>
    <p:sldId id="693" r:id="rId48"/>
    <p:sldId id="694" r:id="rId49"/>
    <p:sldId id="695" r:id="rId50"/>
    <p:sldId id="696" r:id="rId51"/>
    <p:sldId id="697" r:id="rId52"/>
    <p:sldId id="698" r:id="rId53"/>
    <p:sldId id="699" r:id="rId54"/>
    <p:sldId id="721" r:id="rId55"/>
    <p:sldId id="722" r:id="rId56"/>
    <p:sldId id="346" r:id="rId57"/>
    <p:sldId id="669" r:id="rId58"/>
  </p:sldIdLst>
  <p:sldSz cx="12192000" cy="6858000"/>
  <p:notesSz cx="6954838" cy="9309100"/>
  <p:embeddedFontLst>
    <p:embeddedFont>
      <p:font typeface="Roboto Condensed" panose="020B0604020202020204" charset="0"/>
      <p:regular r:id="rId60"/>
      <p:bold r:id="rId61"/>
      <p:italic r:id="rId62"/>
      <p:boldItalic r:id="rId63"/>
    </p:embeddedFont>
    <p:embeddedFont>
      <p:font typeface="Wingdings 3" panose="05040102010807070707" pitchFamily="18" charset="2"/>
      <p:regular r:id="rId64"/>
    </p:embeddedFont>
    <p:embeddedFont>
      <p:font typeface="Calibri" panose="020F0502020204030204" pitchFamily="34" charset="0"/>
      <p:regular r:id="rId65"/>
      <p:bold r:id="rId66"/>
      <p:italic r:id="rId67"/>
      <p:boldItalic r:id="rId68"/>
    </p:embeddedFont>
    <p:embeddedFont>
      <p:font typeface="Segoe UI Black" panose="020B0A02040204020203" pitchFamily="34" charset="0"/>
      <p:bold r:id="rId69"/>
      <p:boldItalic r:id="rId70"/>
    </p:embeddedFont>
    <p:embeddedFont>
      <p:font typeface="Roboto Condensed Light" panose="020B0604020202020204" charset="0"/>
      <p:regular r:id="rId71"/>
      <p:italic r:id="rId72"/>
    </p:embeddedFont>
  </p:embeddedFontLst>
  <p:custDataLst>
    <p:tags r:id="rId73"/>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286" autoAdjust="0"/>
    <p:restoredTop sz="94434" autoAdjust="0"/>
  </p:normalViewPr>
  <p:slideViewPr>
    <p:cSldViewPr snapToGrid="0">
      <p:cViewPr varScale="1">
        <p:scale>
          <a:sx n="70" d="100"/>
          <a:sy n="70" d="100"/>
        </p:scale>
        <p:origin x="768" y="72"/>
      </p:cViewPr>
      <p:guideLst/>
    </p:cSldViewPr>
  </p:slideViewPr>
  <p:notesTextViewPr>
    <p:cViewPr>
      <p:scale>
        <a:sx n="1" d="1"/>
        <a:sy n="1" d="1"/>
      </p:scale>
      <p:origin x="0" y="0"/>
    </p:cViewPr>
  </p:notesTextViewPr>
  <p:notesViewPr>
    <p:cSldViewPr>
      <p:cViewPr>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font" Target="fonts/font4.fntdata"/><Relationship Id="rId68" Type="http://schemas.openxmlformats.org/officeDocument/2006/relationships/font" Target="fonts/font9.fntdata"/><Relationship Id="rId76"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font" Target="fonts/font12.fntdata"/><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font" Target="fonts/font7.fntdata"/><Relationship Id="rId7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font" Target="fonts/font1.fntdata"/><Relationship Id="rId65" Type="http://schemas.openxmlformats.org/officeDocument/2006/relationships/font" Target="fonts/font6.fntdata"/><Relationship Id="rId73" Type="http://schemas.openxmlformats.org/officeDocument/2006/relationships/tags" Target="tags/tag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font" Target="fonts/font5.fntdata"/><Relationship Id="rId69" Type="http://schemas.openxmlformats.org/officeDocument/2006/relationships/font" Target="fonts/font10.fntdata"/><Relationship Id="rId77"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font" Target="fonts/font13.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notesMaster" Target="notesMasters/notesMaster1.xml"/><Relationship Id="rId67" Type="http://schemas.openxmlformats.org/officeDocument/2006/relationships/font" Target="fonts/font8.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font" Target="fonts/font3.fntdata"/><Relationship Id="rId70" Type="http://schemas.openxmlformats.org/officeDocument/2006/relationships/font" Target="fonts/font11.fntdata"/><Relationship Id="rId75"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13763" cy="467072"/>
          </a:xfrm>
          <a:prstGeom prst="rect">
            <a:avLst/>
          </a:prstGeom>
        </p:spPr>
        <p:txBody>
          <a:bodyPr vert="horz" lIns="92930" tIns="46465" rIns="92930" bIns="46465" rtlCol="0"/>
          <a:lstStyle>
            <a:lvl1pPr algn="l">
              <a:defRPr sz="1200"/>
            </a:lvl1pPr>
          </a:lstStyle>
          <a:p>
            <a:endParaRPr lang="en-US"/>
          </a:p>
        </p:txBody>
      </p:sp>
      <p:sp>
        <p:nvSpPr>
          <p:cNvPr id="3" name="Date Placeholder 2"/>
          <p:cNvSpPr>
            <a:spLocks noGrp="1"/>
          </p:cNvSpPr>
          <p:nvPr>
            <p:ph type="dt" idx="1"/>
          </p:nvPr>
        </p:nvSpPr>
        <p:spPr>
          <a:xfrm>
            <a:off x="3939466" y="0"/>
            <a:ext cx="3013763" cy="467072"/>
          </a:xfrm>
          <a:prstGeom prst="rect">
            <a:avLst/>
          </a:prstGeom>
        </p:spPr>
        <p:txBody>
          <a:bodyPr vert="horz" lIns="92930" tIns="46465" rIns="92930" bIns="46465" rtlCol="0"/>
          <a:lstStyle>
            <a:lvl1pPr algn="r">
              <a:defRPr sz="1200"/>
            </a:lvl1pPr>
          </a:lstStyle>
          <a:p>
            <a:fld id="{D648E3F3-8B31-41D2-AA9B-9796555DB866}" type="datetimeFigureOut">
              <a:rPr lang="en-US" smtClean="0"/>
              <a:t>2/8/2024</a:t>
            </a:fld>
            <a:endParaRPr lang="en-US"/>
          </a:p>
        </p:txBody>
      </p:sp>
      <p:sp>
        <p:nvSpPr>
          <p:cNvPr id="4" name="Slide Image Placeholder 3"/>
          <p:cNvSpPr>
            <a:spLocks noGrp="1" noRot="1" noChangeAspect="1"/>
          </p:cNvSpPr>
          <p:nvPr>
            <p:ph type="sldImg" idx="2"/>
          </p:nvPr>
        </p:nvSpPr>
        <p:spPr>
          <a:xfrm>
            <a:off x="685800" y="1163638"/>
            <a:ext cx="5583238" cy="3141662"/>
          </a:xfrm>
          <a:prstGeom prst="rect">
            <a:avLst/>
          </a:prstGeom>
          <a:noFill/>
          <a:ln w="12700">
            <a:solidFill>
              <a:prstClr val="black"/>
            </a:solidFill>
          </a:ln>
        </p:spPr>
      </p:sp>
      <p:sp>
        <p:nvSpPr>
          <p:cNvPr id="5" name="Notes Placeholder 4"/>
          <p:cNvSpPr>
            <a:spLocks noGrp="1"/>
          </p:cNvSpPr>
          <p:nvPr>
            <p:ph type="body" sz="quarter" idx="3"/>
          </p:nvPr>
        </p:nvSpPr>
        <p:spPr>
          <a:xfrm>
            <a:off x="695484" y="4480004"/>
            <a:ext cx="5563870" cy="3665458"/>
          </a:xfrm>
          <a:prstGeom prst="rect">
            <a:avLst/>
          </a:prstGeom>
        </p:spPr>
        <p:txBody>
          <a:bodyPr vert="horz" lIns="92930" tIns="46465" rIns="92930" bIns="46465"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42030"/>
            <a:ext cx="3013763" cy="467071"/>
          </a:xfrm>
          <a:prstGeom prst="rect">
            <a:avLst/>
          </a:prstGeom>
        </p:spPr>
        <p:txBody>
          <a:bodyPr vert="horz" lIns="92930" tIns="46465" rIns="92930" bIns="46465" rtlCol="0" anchor="b"/>
          <a:lstStyle>
            <a:lvl1pPr algn="l">
              <a:defRPr sz="1200"/>
            </a:lvl1pPr>
          </a:lstStyle>
          <a:p>
            <a:endParaRPr lang="en-US"/>
          </a:p>
        </p:txBody>
      </p:sp>
      <p:sp>
        <p:nvSpPr>
          <p:cNvPr id="7" name="Slide Number Placeholder 6"/>
          <p:cNvSpPr>
            <a:spLocks noGrp="1"/>
          </p:cNvSpPr>
          <p:nvPr>
            <p:ph type="sldNum" sz="quarter" idx="5"/>
          </p:nvPr>
        </p:nvSpPr>
        <p:spPr>
          <a:xfrm>
            <a:off x="3939466" y="8842030"/>
            <a:ext cx="3013763" cy="467071"/>
          </a:xfrm>
          <a:prstGeom prst="rect">
            <a:avLst/>
          </a:prstGeom>
        </p:spPr>
        <p:txBody>
          <a:bodyPr vert="horz" lIns="92930" tIns="46465" rIns="92930" bIns="46465" rtlCol="0" anchor="b"/>
          <a:lstStyle>
            <a:lvl1pPr algn="r">
              <a:defRPr sz="1200"/>
            </a:lvl1pPr>
          </a:lstStyle>
          <a:p>
            <a:fld id="{BC79BDEF-6165-4E72-B1A6-6E8034CEC248}" type="slidenum">
              <a:rPr lang="en-US" smtClean="0"/>
              <a:t>‹#›</a:t>
            </a:fld>
            <a:endParaRPr lang="en-US"/>
          </a:p>
        </p:txBody>
      </p:sp>
    </p:spTree>
    <p:extLst>
      <p:ext uri="{BB962C8B-B14F-4D97-AF65-F5344CB8AC3E}">
        <p14:creationId xmlns:p14="http://schemas.microsoft.com/office/powerpoint/2010/main" val="17660139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11" Type="http://schemas.openxmlformats.org/officeDocument/2006/relationships/image" Target="../media/image9.jpeg"/><Relationship Id="rId5" Type="http://schemas.openxmlformats.org/officeDocument/2006/relationships/image" Target="../media/image4.png"/><Relationship Id="rId10" Type="http://schemas.openxmlformats.org/officeDocument/2006/relationships/image" Target="../media/image8.png"/><Relationship Id="rId4" Type="http://schemas.openxmlformats.org/officeDocument/2006/relationships/image" Target="../media/image3.png"/><Relationship Id="rId9" Type="http://schemas.microsoft.com/office/2007/relationships/hdphoto" Target="../media/hdphoto1.wdp"/></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2.png"/><Relationship Id="rId1" Type="http://schemas.openxmlformats.org/officeDocument/2006/relationships/slideMaster" Target="../slideMasters/slideMaster1.xml"/><Relationship Id="rId4" Type="http://schemas.microsoft.com/office/2007/relationships/hdphoto" Target="../media/hdphoto2.wdp"/></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image" Target="../media/image2.png"/><Relationship Id="rId7"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 Id="rId9" Type="http://schemas.openxmlformats.org/officeDocument/2006/relationships/image" Target="../media/image9.jpeg"/></Relationships>
</file>

<file path=ppt/slideLayouts/_rels/slideLayout11.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2.png"/><Relationship Id="rId7"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1.xml"/><Relationship Id="rId6" Type="http://schemas.microsoft.com/office/2007/relationships/hdphoto" Target="../media/hdphoto3.wdp"/><Relationship Id="rId5" Type="http://schemas.openxmlformats.org/officeDocument/2006/relationships/image" Target="../media/image12.png"/><Relationship Id="rId10" Type="http://schemas.openxmlformats.org/officeDocument/2006/relationships/image" Target="../media/image9.jpeg"/><Relationship Id="rId4" Type="http://schemas.openxmlformats.org/officeDocument/2006/relationships/image" Target="../media/image6.png"/><Relationship Id="rId9" Type="http://schemas.openxmlformats.org/officeDocument/2006/relationships/image" Target="../media/image13.jpe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14.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15.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16.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17.xml.rels><?xml version="1.0" encoding="UTF-8" standalone="yes"?>
<Relationships xmlns="http://schemas.openxmlformats.org/package/2006/relationships"><Relationship Id="rId8" Type="http://schemas.openxmlformats.org/officeDocument/2006/relationships/image" Target="../media/image15.jpeg"/><Relationship Id="rId3" Type="http://schemas.openxmlformats.org/officeDocument/2006/relationships/image" Target="../media/image1.png"/><Relationship Id="rId7" Type="http://schemas.microsoft.com/office/2007/relationships/hdphoto" Target="../media/hdphoto1.wdp"/><Relationship Id="rId2" Type="http://schemas.openxmlformats.org/officeDocument/2006/relationships/image" Target="../media/image14.jpeg"/><Relationship Id="rId1" Type="http://schemas.openxmlformats.org/officeDocument/2006/relationships/slideMaster" Target="../slideMasters/slideMaster1.xml"/><Relationship Id="rId6" Type="http://schemas.openxmlformats.org/officeDocument/2006/relationships/image" Target="../media/image7.png"/><Relationship Id="rId5" Type="http://schemas.openxmlformats.org/officeDocument/2006/relationships/image" Target="../media/image4.png"/><Relationship Id="rId4" Type="http://schemas.openxmlformats.org/officeDocument/2006/relationships/image" Target="../media/image2.png"/></Relationships>
</file>

<file path=ppt/slideLayouts/_rels/slideLayout18.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19.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20.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2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_rels/slideLayout2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11" Type="http://schemas.openxmlformats.org/officeDocument/2006/relationships/image" Target="../media/image9.jpeg"/><Relationship Id="rId5" Type="http://schemas.openxmlformats.org/officeDocument/2006/relationships/image" Target="../media/image4.png"/><Relationship Id="rId10" Type="http://schemas.openxmlformats.org/officeDocument/2006/relationships/image" Target="../media/image16.jpeg"/><Relationship Id="rId4" Type="http://schemas.openxmlformats.org/officeDocument/2006/relationships/image" Target="../media/image3.png"/><Relationship Id="rId9" Type="http://schemas.microsoft.com/office/2007/relationships/hdphoto" Target="../media/hdphoto1.wdp"/></Relationships>
</file>

<file path=ppt/slideLayouts/_rels/slideLayout23.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microsoft.com/office/2007/relationships/hdphoto" Target="../media/hdphoto1.wdp"/></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 Default Color">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xmlns="" id="{292D9CA8-FA74-4E19-A847-B04F90FC15AC}"/>
              </a:ext>
            </a:extLst>
          </p:cNvPr>
          <p:cNvPicPr>
            <a:picLocks noChangeAspect="1"/>
          </p:cNvPicPr>
          <p:nvPr userDrawn="1"/>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a:fillRect/>
          </a:stretch>
        </p:blipFill>
        <p:spPr>
          <a:xfrm>
            <a:off x="0" y="0"/>
            <a:ext cx="12192000" cy="6858000"/>
          </a:xfrm>
          <a:prstGeom prst="rect">
            <a:avLst/>
          </a:prstGeom>
        </p:spPr>
      </p:pic>
      <p:sp>
        <p:nvSpPr>
          <p:cNvPr id="3" name="TextBox 2">
            <a:extLst>
              <a:ext uri="{FF2B5EF4-FFF2-40B4-BE49-F238E27FC236}">
                <a16:creationId xmlns:a16="http://schemas.microsoft.com/office/drawing/2014/main" xmlns=""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a:t>Darshan Institute of Engineering &amp; Technology, Rajkot</a:t>
            </a:r>
          </a:p>
        </p:txBody>
      </p:sp>
      <p:sp>
        <p:nvSpPr>
          <p:cNvPr id="22" name="Freeform 13">
            <a:extLst>
              <a:ext uri="{FF2B5EF4-FFF2-40B4-BE49-F238E27FC236}">
                <a16:creationId xmlns:a16="http://schemas.microsoft.com/office/drawing/2014/main" xmlns="" id="{EB889181-F145-4E62-A282-E5B77978D1F3}"/>
              </a:ext>
            </a:extLst>
          </p:cNvPr>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0">
                <a:srgbClr val="1D3064"/>
              </a:gs>
              <a:gs pos="50000">
                <a:srgbClr val="1D3064"/>
              </a:gs>
              <a:gs pos="100000">
                <a:schemeClr val="tx2"/>
              </a:gs>
            </a:gsLst>
            <a:lin ang="10800000" scaled="1"/>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17">
            <a:extLst>
              <a:ext uri="{FF2B5EF4-FFF2-40B4-BE49-F238E27FC236}">
                <a16:creationId xmlns:a16="http://schemas.microsoft.com/office/drawing/2014/main" xmlns="" id="{5E9DA42E-B221-4BBE-B651-F7171591BCD7}"/>
              </a:ext>
            </a:extLst>
          </p:cNvPr>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0">
                <a:srgbClr val="1D3064"/>
              </a:gs>
              <a:gs pos="50000">
                <a:srgbClr val="1D3064"/>
              </a:gs>
              <a:gs pos="100000">
                <a:schemeClr val="tx2"/>
              </a:gs>
            </a:gsLst>
            <a:lin ang="10800000" scaled="1"/>
          </a:gradFill>
          <a:ln>
            <a:noFill/>
          </a:ln>
        </p:spPr>
        <p:txBody>
          <a:bodyPr vert="horz" wrap="square" lIns="91440" tIns="45720" rIns="91440" bIns="45720" numCol="1" anchor="t" anchorCtr="0" compatLnSpc="1">
            <a:prstTxWarp prst="textNoShape">
              <a:avLst/>
            </a:prstTxWarp>
          </a:bodyPr>
          <a:lstStyle/>
          <a:p>
            <a:endParaRPr lang="en-US"/>
          </a:p>
        </p:txBody>
      </p:sp>
      <p:pic>
        <p:nvPicPr>
          <p:cNvPr id="32" name="Picture 31">
            <a:extLst>
              <a:ext uri="{FF2B5EF4-FFF2-40B4-BE49-F238E27FC236}">
                <a16:creationId xmlns:a16="http://schemas.microsoft.com/office/drawing/2014/main" xmlns="" id="{73D6466C-3EE8-434C-B5AB-98205AEEA67D}"/>
              </a:ext>
            </a:extLst>
          </p:cNvPr>
          <p:cNvPicPr>
            <a:picLocks noChangeAspect="1"/>
          </p:cNvPicPr>
          <p:nvPr userDrawn="1"/>
        </p:nvPicPr>
        <p:blipFill>
          <a:blip r:embed="rId3">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xmlns="" id="{3CAA64A4-91BA-448F-9474-7895F9C6DBD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xmlns=""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xmlns=""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a:t>Click to edit Master title style</a:t>
            </a:r>
          </a:p>
        </p:txBody>
      </p:sp>
      <p:pic>
        <p:nvPicPr>
          <p:cNvPr id="26" name="Picture 25">
            <a:extLst>
              <a:ext uri="{FF2B5EF4-FFF2-40B4-BE49-F238E27FC236}">
                <a16:creationId xmlns:a16="http://schemas.microsoft.com/office/drawing/2014/main" xmlns="" id="{9812EDA6-C656-492A-A9CA-44B03C639132}"/>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xmlns="" id="{627AEF91-6492-4B0C-A844-2296473B58DE}"/>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xmlns=""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a:t>Click to edit Email Address</a:t>
            </a:r>
          </a:p>
        </p:txBody>
      </p:sp>
      <p:sp>
        <p:nvSpPr>
          <p:cNvPr id="29" name="Text Placeholder 2">
            <a:extLst>
              <a:ext uri="{FF2B5EF4-FFF2-40B4-BE49-F238E27FC236}">
                <a16:creationId xmlns:a16="http://schemas.microsoft.com/office/drawing/2014/main" xmlns=""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a:t>Click to edit Phone No.</a:t>
            </a:r>
          </a:p>
        </p:txBody>
      </p:sp>
      <p:sp>
        <p:nvSpPr>
          <p:cNvPr id="40" name="Text Placeholder 2">
            <a:extLst>
              <a:ext uri="{FF2B5EF4-FFF2-40B4-BE49-F238E27FC236}">
                <a16:creationId xmlns:a16="http://schemas.microsoft.com/office/drawing/2014/main" xmlns=""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a:solidFill>
                  <a:schemeClr val="tx1"/>
                </a:solidFill>
                <a:latin typeface="+mn-lt"/>
                <a:ea typeface="+mn-ea"/>
                <a:cs typeface="+mn-cs"/>
              </a:defRPr>
            </a:lvl1pPr>
          </a:lstStyle>
          <a:p>
            <a:pPr lvl="0"/>
            <a:r>
              <a:rPr lang="en-US"/>
              <a:t>Write here Department Name</a:t>
            </a:r>
          </a:p>
        </p:txBody>
      </p:sp>
      <p:sp>
        <p:nvSpPr>
          <p:cNvPr id="53" name="Text Placeholder 2">
            <a:extLst>
              <a:ext uri="{FF2B5EF4-FFF2-40B4-BE49-F238E27FC236}">
                <a16:creationId xmlns:a16="http://schemas.microsoft.com/office/drawing/2014/main" xmlns=""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a:gradFill flip="none" rotWithShape="1">
                  <a:gsLst>
                    <a:gs pos="0">
                      <a:srgbClr val="1D3064"/>
                    </a:gs>
                    <a:gs pos="100000">
                      <a:schemeClr val="tx2"/>
                    </a:gs>
                  </a:gsLst>
                  <a:lin ang="0" scaled="1"/>
                </a:gradFill>
                <a:effectLst/>
                <a:latin typeface="+mn-lt"/>
                <a:ea typeface="+mn-ea"/>
                <a:cs typeface="+mn-cs"/>
              </a:defRPr>
            </a:lvl1pPr>
          </a:lstStyle>
          <a:p>
            <a:pPr lvl="0"/>
            <a:r>
              <a:rPr lang="en-US"/>
              <a:t>Write here your Author Name (i.e. Prof. Jay R Dhamsaniya)</a:t>
            </a:r>
          </a:p>
        </p:txBody>
      </p:sp>
      <p:pic>
        <p:nvPicPr>
          <p:cNvPr id="54" name="Picture 53">
            <a:extLst>
              <a:ext uri="{FF2B5EF4-FFF2-40B4-BE49-F238E27FC236}">
                <a16:creationId xmlns:a16="http://schemas.microsoft.com/office/drawing/2014/main" xmlns=""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xmlns="" id="{34C1356C-E4AA-4B27-A93C-BE84F5D9C601}"/>
              </a:ext>
            </a:extLst>
          </p:cNvPr>
          <p:cNvPicPr>
            <a:picLocks noChangeAspect="1"/>
          </p:cNvPicPr>
          <p:nvPr userDrawn="1"/>
        </p:nvPicPr>
        <p:blipFill>
          <a:blip r:embed="rId8">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a:fillRect/>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xmlns=""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a:solidFill>
                  <a:schemeClr val="lt1"/>
                </a:solidFill>
                <a:latin typeface="+mn-lt"/>
                <a:ea typeface="+mn-ea"/>
                <a:cs typeface="+mn-cs"/>
              </a:defRPr>
            </a:lvl1pPr>
          </a:lstStyle>
          <a:p>
            <a:pPr lvl="0"/>
            <a:r>
              <a:rPr lang="en-US"/>
              <a:t>Write Subject Name (Short Name)</a:t>
            </a:r>
          </a:p>
          <a:p>
            <a:pPr lvl="0"/>
            <a:r>
              <a:rPr lang="en-US"/>
              <a:t>GTU # Subject Code</a:t>
            </a:r>
          </a:p>
        </p:txBody>
      </p:sp>
      <p:pic>
        <p:nvPicPr>
          <p:cNvPr id="20" name="Picture 19">
            <a:extLst>
              <a:ext uri="{FF2B5EF4-FFF2-40B4-BE49-F238E27FC236}">
                <a16:creationId xmlns:a16="http://schemas.microsoft.com/office/drawing/2014/main" xmlns="" id="{E0042908-6588-4C7A-9615-8D5899E8A9FA}"/>
              </a:ext>
            </a:extLst>
          </p:cNvPr>
          <p:cNvPicPr>
            <a:picLocks noChangeAspect="1"/>
          </p:cNvPicPr>
          <p:nvPr userDrawn="1"/>
        </p:nvPicPr>
        <p:blipFill>
          <a:blip r:embed="rId10">
            <a:extLst>
              <a:ext uri="{28A0092B-C50C-407E-A947-70E740481C1C}">
                <a14:useLocalDpi xmlns:a14="http://schemas.microsoft.com/office/drawing/2010/main" val="0"/>
              </a:ext>
            </a:extLst>
          </a:blip>
          <a:srcRect l="144383" t="-16142" r="-144383" b="22103"/>
          <a:stretch>
            <a:fillRect/>
          </a:stretch>
        </p:blipFill>
        <p:spPr>
          <a:xfrm>
            <a:off x="1834747" y="3985791"/>
            <a:ext cx="3075940" cy="2892592"/>
          </a:xfrm>
          <a:prstGeom prst="rect">
            <a:avLst/>
          </a:prstGeom>
        </p:spPr>
      </p:pic>
      <p:pic>
        <p:nvPicPr>
          <p:cNvPr id="36" name="Picture 35" descr="User icon Royalty Free Vector Image - VectorStock">
            <a:extLst>
              <a:ext uri="{FF2B5EF4-FFF2-40B4-BE49-F238E27FC236}">
                <a16:creationId xmlns:a16="http://schemas.microsoft.com/office/drawing/2014/main" xmlns="" id="{3C805A05-DDF6-4BA6-8EDB-D97128A43BFF}"/>
              </a:ext>
            </a:extLst>
          </p:cNvPr>
          <p:cNvPicPr>
            <a:picLocks noChangeAspect="1" noChangeArrowheads="1"/>
          </p:cNvPicPr>
          <p:nvPr userDrawn="1"/>
        </p:nvPicPr>
        <p:blipFill>
          <a:blip r:embed="rId11">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7" name="Picture Placeholder 36">
            <a:extLst>
              <a:ext uri="{FF2B5EF4-FFF2-40B4-BE49-F238E27FC236}">
                <a16:creationId xmlns:a16="http://schemas.microsoft.com/office/drawing/2014/main" xmlns="" id="{C4AACC20-C1A0-45ED-8640-28D84A9F84E1}"/>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3570593266"/>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 Logo on TR">
    <p:spTree>
      <p:nvGrpSpPr>
        <p:cNvPr id="1" name=""/>
        <p:cNvGrpSpPr/>
        <p:nvPr/>
      </p:nvGrpSpPr>
      <p:grpSpPr>
        <a:xfrm>
          <a:off x="0" y="0"/>
          <a:ext cx="0" cy="0"/>
          <a:chOff x="0" y="0"/>
          <a:chExt cx="0" cy="0"/>
        </a:xfrm>
      </p:grpSpPr>
      <p:sp>
        <p:nvSpPr>
          <p:cNvPr id="17" name="Rectangle: Rounded Corners 16">
            <a:extLst>
              <a:ext uri="{FF2B5EF4-FFF2-40B4-BE49-F238E27FC236}">
                <a16:creationId xmlns:a16="http://schemas.microsoft.com/office/drawing/2014/main" xmlns=""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ate Placeholder 1">
            <a:extLst>
              <a:ext uri="{FF2B5EF4-FFF2-40B4-BE49-F238E27FC236}">
                <a16:creationId xmlns:a16="http://schemas.microsoft.com/office/drawing/2014/main" xmlns="" id="{CA463A36-7025-4394-9467-8A3EC3425B00}"/>
              </a:ext>
            </a:extLst>
          </p:cNvPr>
          <p:cNvSpPr txBox="1"/>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0964DB9-DCC1-4D88-B646-1C14CD19C75D}" type="datetime4">
              <a:rPr lang="en-US" smtClean="0">
                <a:solidFill>
                  <a:schemeClr val="tx1">
                    <a:lumMod val="90000"/>
                    <a:lumOff val="10000"/>
                  </a:schemeClr>
                </a:solidFill>
                <a:latin typeface="Roboto Condensed Light" panose="02000000000000000000" pitchFamily="2" charset="0"/>
                <a:ea typeface="Roboto Condensed Light" panose="02000000000000000000" pitchFamily="2" charset="0"/>
              </a:rPr>
              <a:t>February 8, 2024</a:t>
            </a:fld>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22" name="Footer Placeholder 2">
            <a:extLst>
              <a:ext uri="{FF2B5EF4-FFF2-40B4-BE49-F238E27FC236}">
                <a16:creationId xmlns:a16="http://schemas.microsoft.com/office/drawing/2014/main" xmlns="" id="{BF2BE79E-EA17-4AB9-8CB5-714A52A6B2F5}"/>
              </a:ext>
            </a:extLst>
          </p:cNvPr>
          <p:cNvSpPr txBox="1"/>
          <p:nvPr userDrawn="1"/>
        </p:nvSpPr>
        <p:spPr>
          <a:xfrm>
            <a:off x="4038600" y="6604000"/>
            <a:ext cx="466344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Unit 6: Input-Output</a:t>
            </a:r>
            <a:endParaRPr lang="en-US" sz="1200" kern="1200" dirty="0">
              <a:solidFill>
                <a:schemeClr val="tx1">
                  <a:lumMod val="90000"/>
                  <a:lumOff val="10000"/>
                </a:schemeClr>
              </a:solidFill>
              <a:latin typeface="Roboto Condensed Light" panose="02000000000000000000" pitchFamily="2" charset="0"/>
              <a:ea typeface="Roboto Condensed Light" panose="02000000000000000000" pitchFamily="2" charset="0"/>
              <a:cs typeface="+mn-cs"/>
            </a:endParaRPr>
          </a:p>
        </p:txBody>
      </p:sp>
      <p:sp>
        <p:nvSpPr>
          <p:cNvPr id="23" name="Slide Number Placeholder 3">
            <a:extLst>
              <a:ext uri="{FF2B5EF4-FFF2-40B4-BE49-F238E27FC236}">
                <a16:creationId xmlns:a16="http://schemas.microsoft.com/office/drawing/2014/main" xmlns="" id="{FE084249-8DB7-4B0A-AA7A-A1A407FC0773}"/>
              </a:ext>
            </a:extLst>
          </p:cNvPr>
          <p:cNvSpPr txBox="1"/>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t>‹#›</a:t>
            </a:fld>
            <a:endParaRPr lang="en-US" b="1">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xmlns="" id="{ACB01872-4321-4181-A609-1C503C074C10}"/>
              </a:ext>
            </a:extLst>
          </p:cNvPr>
          <p:cNvPicPr preferRelativeResize="0"/>
          <p:nvPr userDrawn="1"/>
        </p:nvPicPr>
        <p:blipFill>
          <a:blip r:embed="rId2">
            <a:alphaModFix/>
          </a:blip>
          <a:srcRect t="86739" r="1768" b="3535"/>
          <a:stretch>
            <a:fillRect/>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xmlns=""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a:solidFill>
                  <a:schemeClr val="tx1">
                    <a:lumMod val="90000"/>
                    <a:lumOff val="10000"/>
                  </a:schemeClr>
                </a:solidFill>
                <a:effectLst/>
                <a:latin typeface="+mj-lt"/>
                <a:ea typeface="+mj-ea"/>
                <a:cs typeface="+mj-cs"/>
              </a:defRPr>
            </a:lvl1pPr>
          </a:lstStyle>
          <a:p>
            <a:r>
              <a:rPr lang="en-US"/>
              <a:t>Click to edit Master title style</a:t>
            </a:r>
          </a:p>
        </p:txBody>
      </p:sp>
      <p:sp>
        <p:nvSpPr>
          <p:cNvPr id="3" name="Content Placeholder 2">
            <a:extLst>
              <a:ext uri="{FF2B5EF4-FFF2-40B4-BE49-F238E27FC236}">
                <a16:creationId xmlns:a16="http://schemas.microsoft.com/office/drawing/2014/main" xmlns="" id="{DC6F4971-704E-42EF-A852-52D75741FB7C}"/>
              </a:ext>
            </a:extLst>
          </p:cNvPr>
          <p:cNvSpPr>
            <a:spLocks noGrp="1"/>
          </p:cNvSpPr>
          <p:nvPr>
            <p:ph idx="1"/>
          </p:nvPr>
        </p:nvSpPr>
        <p:spPr>
          <a:xfrm>
            <a:off x="60962" y="773725"/>
            <a:ext cx="11993292" cy="5775942"/>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20" name="Straight Connector 19">
            <a:extLst>
              <a:ext uri="{FF2B5EF4-FFF2-40B4-BE49-F238E27FC236}">
                <a16:creationId xmlns:a16="http://schemas.microsoft.com/office/drawing/2014/main" xmlns=""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xmlns="" id="{F86BF578-C91A-4942-95D5-11408C3CCACF}"/>
              </a:ext>
            </a:extLst>
          </p:cNvPr>
          <p:cNvCxnSpPr/>
          <p:nvPr userDrawn="1"/>
        </p:nvCxnSpPr>
        <p:spPr>
          <a:xfrm>
            <a:off x="131180" y="6604000"/>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66633316"/>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 Logo on BR">
    <p:spTree>
      <p:nvGrpSpPr>
        <p:cNvPr id="1" name=""/>
        <p:cNvGrpSpPr/>
        <p:nvPr/>
      </p:nvGrpSpPr>
      <p:grpSpPr>
        <a:xfrm>
          <a:off x="0" y="0"/>
          <a:ext cx="0" cy="0"/>
          <a:chOff x="0" y="0"/>
          <a:chExt cx="0" cy="0"/>
        </a:xfrm>
      </p:grpSpPr>
      <p:sp>
        <p:nvSpPr>
          <p:cNvPr id="17" name="Rectangle: Rounded Corners 16">
            <a:extLst>
              <a:ext uri="{FF2B5EF4-FFF2-40B4-BE49-F238E27FC236}">
                <a16:creationId xmlns:a16="http://schemas.microsoft.com/office/drawing/2014/main" xmlns=""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ate Placeholder 1">
            <a:extLst>
              <a:ext uri="{FF2B5EF4-FFF2-40B4-BE49-F238E27FC236}">
                <a16:creationId xmlns:a16="http://schemas.microsoft.com/office/drawing/2014/main" xmlns="" id="{CA463A36-7025-4394-9467-8A3EC3425B00}"/>
              </a:ext>
            </a:extLst>
          </p:cNvPr>
          <p:cNvSpPr txBox="1"/>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2E11A7A-0D2C-4BD2-BF3B-9DD41892ADF4}" type="datetime4">
              <a:rPr lang="en-US" smtClean="0">
                <a:solidFill>
                  <a:schemeClr val="tx1">
                    <a:lumMod val="90000"/>
                    <a:lumOff val="10000"/>
                  </a:schemeClr>
                </a:solidFill>
                <a:latin typeface="Roboto Condensed Light" panose="02000000000000000000" pitchFamily="2" charset="0"/>
                <a:ea typeface="Roboto Condensed Light" panose="02000000000000000000" pitchFamily="2" charset="0"/>
              </a:rPr>
              <a:t>February 8, 2024</a:t>
            </a:fld>
            <a:endParaRPr lang="en-US" dirty="0">
              <a:solidFill>
                <a:schemeClr val="tx1">
                  <a:lumMod val="90000"/>
                  <a:lumOff val="10000"/>
                </a:schemeClr>
              </a:solidFill>
              <a:latin typeface="Roboto Condensed Light" panose="02000000000000000000" pitchFamily="2" charset="0"/>
              <a:ea typeface="Roboto Condensed Light" panose="02000000000000000000" pitchFamily="2" charset="0"/>
            </a:endParaRPr>
          </a:p>
        </p:txBody>
      </p:sp>
      <p:sp>
        <p:nvSpPr>
          <p:cNvPr id="22" name="Footer Placeholder 2">
            <a:extLst>
              <a:ext uri="{FF2B5EF4-FFF2-40B4-BE49-F238E27FC236}">
                <a16:creationId xmlns:a16="http://schemas.microsoft.com/office/drawing/2014/main" xmlns="" id="{BF2BE79E-EA17-4AB9-8CB5-714A52A6B2F5}"/>
              </a:ext>
            </a:extLst>
          </p:cNvPr>
          <p:cNvSpPr txBox="1"/>
          <p:nvPr userDrawn="1"/>
        </p:nvSpPr>
        <p:spPr>
          <a:xfrm>
            <a:off x="4038600" y="6604000"/>
            <a:ext cx="466344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tx1">
                    <a:lumMod val="90000"/>
                    <a:lumOff val="10000"/>
                  </a:schemeClr>
                </a:solidFill>
                <a:latin typeface="Wingdings" panose="05000000000000000000" pitchFamily="2" charset="2"/>
                <a:ea typeface="Roboto Condensed Light" panose="02000000000000000000" pitchFamily="2" charset="0"/>
              </a:rPr>
              <a:t></a:t>
            </a:r>
            <a:r>
              <a:rPr lang="en-US" dirty="0">
                <a:solidFill>
                  <a:schemeClr val="tx1">
                    <a:lumMod val="90000"/>
                    <a:lumOff val="10000"/>
                  </a:schemeClr>
                </a:solidFill>
                <a:latin typeface="Roboto Condensed Light" panose="02000000000000000000" pitchFamily="2" charset="0"/>
                <a:ea typeface="Roboto Condensed Light" panose="02000000000000000000" pitchFamily="2" charset="0"/>
              </a:rPr>
              <a:t> Unit 6 – Input/Output</a:t>
            </a:r>
          </a:p>
        </p:txBody>
      </p:sp>
      <p:sp>
        <p:nvSpPr>
          <p:cNvPr id="23" name="Slide Number Placeholder 3">
            <a:extLst>
              <a:ext uri="{FF2B5EF4-FFF2-40B4-BE49-F238E27FC236}">
                <a16:creationId xmlns:a16="http://schemas.microsoft.com/office/drawing/2014/main" xmlns="" id="{FE084249-8DB7-4B0A-AA7A-A1A407FC0773}"/>
              </a:ext>
            </a:extLst>
          </p:cNvPr>
          <p:cNvSpPr txBox="1"/>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t>‹#›</a:t>
            </a:fld>
            <a:endParaRPr lang="en-US" b="1">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xmlns="" id="{ACB01872-4321-4181-A609-1C503C074C10}"/>
              </a:ext>
            </a:extLst>
          </p:cNvPr>
          <p:cNvPicPr preferRelativeResize="0"/>
          <p:nvPr userDrawn="1"/>
        </p:nvPicPr>
        <p:blipFill>
          <a:blip r:embed="rId2">
            <a:alphaModFix/>
          </a:blip>
          <a:srcRect t="86739" r="1768" b="3535"/>
          <a:stretch>
            <a:fillRect/>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xmlns=""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a:solidFill>
                  <a:schemeClr val="tx1">
                    <a:lumMod val="90000"/>
                    <a:lumOff val="10000"/>
                  </a:schemeClr>
                </a:solidFill>
                <a:effectLst/>
                <a:latin typeface="+mj-lt"/>
                <a:ea typeface="+mj-ea"/>
                <a:cs typeface="+mj-cs"/>
              </a:defRPr>
            </a:lvl1pPr>
          </a:lstStyle>
          <a:p>
            <a:r>
              <a:rPr lang="en-US"/>
              <a:t>Click to edit Master title style</a:t>
            </a:r>
          </a:p>
        </p:txBody>
      </p:sp>
      <p:sp>
        <p:nvSpPr>
          <p:cNvPr id="3" name="Content Placeholder 2">
            <a:extLst>
              <a:ext uri="{FF2B5EF4-FFF2-40B4-BE49-F238E27FC236}">
                <a16:creationId xmlns:a16="http://schemas.microsoft.com/office/drawing/2014/main" xmlns="" id="{DC6F4971-704E-42EF-A852-52D75741FB7C}"/>
              </a:ext>
            </a:extLst>
          </p:cNvPr>
          <p:cNvSpPr>
            <a:spLocks noGrp="1"/>
          </p:cNvSpPr>
          <p:nvPr>
            <p:ph idx="1"/>
          </p:nvPr>
        </p:nvSpPr>
        <p:spPr>
          <a:xfrm>
            <a:off x="131180" y="863444"/>
            <a:ext cx="11929641" cy="5590565"/>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20" name="Straight Connector 19">
            <a:extLst>
              <a:ext uri="{FF2B5EF4-FFF2-40B4-BE49-F238E27FC236}">
                <a16:creationId xmlns:a16="http://schemas.microsoft.com/office/drawing/2014/main" xmlns=""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xmlns=""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02761244"/>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 Logo on BL">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xmlns="" id="{2967F7A9-F404-4412-B868-8EB67A41E2A4}"/>
              </a:ext>
            </a:extLst>
          </p:cNvPr>
          <p:cNvGrpSpPr/>
          <p:nvPr userDrawn="1"/>
        </p:nvGrpSpPr>
        <p:grpSpPr>
          <a:xfrm>
            <a:off x="128095" y="5890392"/>
            <a:ext cx="2554143" cy="587454"/>
            <a:chOff x="131177" y="5775962"/>
            <a:chExt cx="2530239" cy="581956"/>
          </a:xfrm>
        </p:grpSpPr>
        <p:pic>
          <p:nvPicPr>
            <p:cNvPr id="16" name="Picture 15">
              <a:extLst>
                <a:ext uri="{FF2B5EF4-FFF2-40B4-BE49-F238E27FC236}">
                  <a16:creationId xmlns:a16="http://schemas.microsoft.com/office/drawing/2014/main" xmlns="" id="{23F8D339-A0AA-4150-B7E8-C84E7F2AB7D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31177" y="5775962"/>
              <a:ext cx="2530238" cy="581955"/>
            </a:xfrm>
            <a:prstGeom prst="rect">
              <a:avLst/>
            </a:prstGeom>
          </p:spPr>
        </p:pic>
        <p:sp>
          <p:nvSpPr>
            <p:cNvPr id="5" name="Rectangle 4">
              <a:extLst>
                <a:ext uri="{FF2B5EF4-FFF2-40B4-BE49-F238E27FC236}">
                  <a16:creationId xmlns:a16="http://schemas.microsoft.com/office/drawing/2014/main" xmlns="" id="{6112BAB0-1CB8-413D-970D-4F482F1A0EDB}"/>
                </a:ext>
              </a:extLst>
            </p:cNvPr>
            <p:cNvSpPr/>
            <p:nvPr userDrawn="1"/>
          </p:nvSpPr>
          <p:spPr>
            <a:xfrm>
              <a:off x="131178" y="5775962"/>
              <a:ext cx="2530238" cy="581956"/>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Rounded Corners 16">
            <a:extLst>
              <a:ext uri="{FF2B5EF4-FFF2-40B4-BE49-F238E27FC236}">
                <a16:creationId xmlns:a16="http://schemas.microsoft.com/office/drawing/2014/main" xmlns=""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ate Placeholder 1">
            <a:extLst>
              <a:ext uri="{FF2B5EF4-FFF2-40B4-BE49-F238E27FC236}">
                <a16:creationId xmlns:a16="http://schemas.microsoft.com/office/drawing/2014/main" xmlns="" id="{CA463A36-7025-4394-9467-8A3EC3425B00}"/>
              </a:ext>
            </a:extLst>
          </p:cNvPr>
          <p:cNvSpPr txBox="1"/>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schemeClr val="tx1">
                    <a:lumMod val="90000"/>
                    <a:lumOff val="10000"/>
                  </a:schemeClr>
                </a:solidFill>
                <a:latin typeface="Roboto Condensed Light" panose="02000000000000000000" pitchFamily="2" charset="0"/>
                <a:ea typeface="Roboto Condensed Light" panose="02000000000000000000" pitchFamily="2" charset="0"/>
              </a:rPr>
              <a:t>Prof. Firoz A Sherasiya</a:t>
            </a:r>
          </a:p>
        </p:txBody>
      </p:sp>
      <p:sp>
        <p:nvSpPr>
          <p:cNvPr id="22" name="Footer Placeholder 2">
            <a:extLst>
              <a:ext uri="{FF2B5EF4-FFF2-40B4-BE49-F238E27FC236}">
                <a16:creationId xmlns:a16="http://schemas.microsoft.com/office/drawing/2014/main" xmlns="" id="{BF2BE79E-EA17-4AB9-8CB5-714A52A6B2F5}"/>
              </a:ext>
            </a:extLst>
          </p:cNvPr>
          <p:cNvSpPr txBox="1"/>
          <p:nvPr userDrawn="1"/>
        </p:nvSpPr>
        <p:spPr>
          <a:xfrm>
            <a:off x="4038600" y="6604000"/>
            <a:ext cx="466344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schemeClr val="tx1">
                    <a:lumMod val="90000"/>
                    <a:lumOff val="10000"/>
                  </a:schemeClr>
                </a:solidFill>
                <a:latin typeface="Roboto Condensed Light" panose="02000000000000000000" pitchFamily="2" charset="0"/>
                <a:ea typeface="Roboto Condensed Light" panose="02000000000000000000" pitchFamily="2" charset="0"/>
              </a:rPr>
              <a:t>#3140702 (OS)   </a:t>
            </a:r>
            <a:r>
              <a:rPr lang="en-US">
                <a:solidFill>
                  <a:schemeClr val="tx1">
                    <a:lumMod val="90000"/>
                    <a:lumOff val="10000"/>
                  </a:schemeClr>
                </a:solidFill>
                <a:latin typeface="Wingdings" panose="05000000000000000000" pitchFamily="2" charset="2"/>
                <a:ea typeface="Roboto Condensed Light" panose="02000000000000000000" pitchFamily="2" charset="0"/>
              </a:rPr>
              <a:t></a:t>
            </a:r>
            <a:r>
              <a:rPr lang="en-US">
                <a:solidFill>
                  <a:schemeClr val="tx1">
                    <a:lumMod val="90000"/>
                    <a:lumOff val="10000"/>
                  </a:schemeClr>
                </a:solidFill>
                <a:latin typeface="Roboto Condensed Light" panose="02000000000000000000" pitchFamily="2" charset="0"/>
                <a:ea typeface="Roboto Condensed Light" panose="02000000000000000000" pitchFamily="2" charset="0"/>
              </a:rPr>
              <a:t> Unit 7 – I/O Management &amp; Disk Scheduling</a:t>
            </a:r>
          </a:p>
        </p:txBody>
      </p:sp>
      <p:sp>
        <p:nvSpPr>
          <p:cNvPr id="23" name="Slide Number Placeholder 3">
            <a:extLst>
              <a:ext uri="{FF2B5EF4-FFF2-40B4-BE49-F238E27FC236}">
                <a16:creationId xmlns:a16="http://schemas.microsoft.com/office/drawing/2014/main" xmlns="" id="{FE084249-8DB7-4B0A-AA7A-A1A407FC0773}"/>
              </a:ext>
            </a:extLst>
          </p:cNvPr>
          <p:cNvSpPr txBox="1"/>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t>‹#›</a:t>
            </a:fld>
            <a:endParaRPr lang="en-US" b="1">
              <a:solidFill>
                <a:schemeClr val="tx1">
                  <a:lumMod val="90000"/>
                  <a:lumOff val="10000"/>
                </a:schemeClr>
              </a:solidFill>
              <a:latin typeface="+mn-lt"/>
            </a:endParaRPr>
          </a:p>
        </p:txBody>
      </p:sp>
      <p:pic>
        <p:nvPicPr>
          <p:cNvPr id="18" name="Shape 56">
            <a:extLst>
              <a:ext uri="{FF2B5EF4-FFF2-40B4-BE49-F238E27FC236}">
                <a16:creationId xmlns:a16="http://schemas.microsoft.com/office/drawing/2014/main" xmlns="" id="{ACB01872-4321-4181-A609-1C503C074C10}"/>
              </a:ext>
            </a:extLst>
          </p:cNvPr>
          <p:cNvPicPr preferRelativeResize="0"/>
          <p:nvPr userDrawn="1"/>
        </p:nvPicPr>
        <p:blipFill>
          <a:blip r:embed="rId3">
            <a:alphaModFix/>
          </a:blip>
          <a:srcRect t="86739" r="1768" b="3535"/>
          <a:stretch>
            <a:fillRect/>
          </a:stretch>
        </p:blipFill>
        <p:spPr>
          <a:xfrm>
            <a:off x="0" y="0"/>
            <a:ext cx="12192000" cy="711201"/>
          </a:xfrm>
          <a:prstGeom prst="rect">
            <a:avLst/>
          </a:prstGeom>
          <a:noFill/>
          <a:ln>
            <a:noFill/>
          </a:ln>
          <a:effectLst/>
        </p:spPr>
      </p:pic>
      <p:sp>
        <p:nvSpPr>
          <p:cNvPr id="2" name="Title 1">
            <a:extLst>
              <a:ext uri="{FF2B5EF4-FFF2-40B4-BE49-F238E27FC236}">
                <a16:creationId xmlns:a16="http://schemas.microsoft.com/office/drawing/2014/main" xmlns=""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a:solidFill>
                  <a:schemeClr val="tx1">
                    <a:lumMod val="90000"/>
                    <a:lumOff val="10000"/>
                  </a:schemeClr>
                </a:solidFill>
                <a:effectLst/>
                <a:latin typeface="+mj-lt"/>
                <a:ea typeface="+mj-ea"/>
                <a:cs typeface="+mj-cs"/>
              </a:defRPr>
            </a:lvl1pPr>
          </a:lstStyle>
          <a:p>
            <a:r>
              <a:rPr lang="en-US"/>
              <a:t>Click to edit Master title style</a:t>
            </a:r>
          </a:p>
        </p:txBody>
      </p:sp>
      <p:sp>
        <p:nvSpPr>
          <p:cNvPr id="3" name="Content Placeholder 2">
            <a:extLst>
              <a:ext uri="{FF2B5EF4-FFF2-40B4-BE49-F238E27FC236}">
                <a16:creationId xmlns:a16="http://schemas.microsoft.com/office/drawing/2014/main" xmlns="" id="{DC6F4971-704E-42EF-A852-52D75741FB7C}"/>
              </a:ext>
            </a:extLst>
          </p:cNvPr>
          <p:cNvSpPr>
            <a:spLocks noGrp="1"/>
          </p:cNvSpPr>
          <p:nvPr>
            <p:ph idx="1"/>
          </p:nvPr>
        </p:nvSpPr>
        <p:spPr>
          <a:xfrm>
            <a:off x="131180" y="863444"/>
            <a:ext cx="11929641" cy="5590565"/>
          </a:xfrm>
        </p:spPr>
        <p:txBody>
          <a:bodyPr>
            <a:noAutofit/>
          </a:bodyPr>
          <a:lstStyle>
            <a:lvl1pPr marL="265113" indent="-265113" algn="just">
              <a:buClr>
                <a:schemeClr val="accent6"/>
              </a:buClr>
              <a:buFont typeface="Wingdings 3" panose="05040102010807070707" pitchFamily="18" charset="2"/>
              <a:buChar char=""/>
              <a:defRPr sz="2400">
                <a:solidFill>
                  <a:schemeClr val="tx1"/>
                </a:solidFill>
              </a:defRPr>
            </a:lvl1pPr>
            <a:lvl2pPr marL="809625" indent="-352425" algn="just">
              <a:buClr>
                <a:schemeClr val="accent6"/>
              </a:buClr>
              <a:buFont typeface="Wingdings 3" panose="05040102010807070707" pitchFamily="18" charset="2"/>
              <a:buChar char=""/>
              <a:defRPr sz="2000">
                <a:solidFill>
                  <a:schemeClr val="tx1"/>
                </a:solidFill>
              </a:defRPr>
            </a:lvl2pPr>
            <a:lvl3pPr marL="1143000" indent="-228600" algn="just">
              <a:buClr>
                <a:schemeClr val="accent6"/>
              </a:buClr>
              <a:buFont typeface="Wingdings" panose="05000000000000000000" pitchFamily="2" charset="2"/>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20" name="Straight Connector 19">
            <a:extLst>
              <a:ext uri="{FF2B5EF4-FFF2-40B4-BE49-F238E27FC236}">
                <a16:creationId xmlns:a16="http://schemas.microsoft.com/office/drawing/2014/main" xmlns=""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xmlns=""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6862853"/>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xmlns="" id="{07171932-FFF4-4D27-9425-8CB5D27A92F2}"/>
              </a:ext>
            </a:extLst>
          </p:cNvPr>
          <p:cNvPicPr>
            <a:picLocks noChangeAspect="1"/>
          </p:cNvPicPr>
          <p:nvPr userDrawn="1"/>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r="11581" b="21180"/>
          <a:stretch>
            <a:fillRect/>
          </a:stretch>
        </p:blipFill>
        <p:spPr>
          <a:xfrm rot="16200000">
            <a:off x="9807099" y="606901"/>
            <a:ext cx="2991808" cy="1778000"/>
          </a:xfrm>
          <a:prstGeom prst="rect">
            <a:avLst/>
          </a:prstGeom>
        </p:spPr>
      </p:pic>
      <p:pic>
        <p:nvPicPr>
          <p:cNvPr id="12" name="Picture 11">
            <a:extLst>
              <a:ext uri="{FF2B5EF4-FFF2-40B4-BE49-F238E27FC236}">
                <a16:creationId xmlns:a16="http://schemas.microsoft.com/office/drawing/2014/main" xmlns="" id="{1639DF2A-5426-428D-B32D-78E9191D8A0C}"/>
              </a:ext>
            </a:extLst>
          </p:cNvPr>
          <p:cNvPicPr>
            <a:picLocks noChangeAspect="1"/>
          </p:cNvPicPr>
          <p:nvPr userDrawn="1"/>
        </p:nvPicPr>
        <p:blipFill>
          <a:blip r:embed="rId3">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rcRect l="79646" t="18062" r="2731" b="17724"/>
          <a:stretch>
            <a:fillRect/>
          </a:stretch>
        </p:blipFill>
        <p:spPr>
          <a:xfrm>
            <a:off x="0" y="401568"/>
            <a:ext cx="543946" cy="772151"/>
          </a:xfrm>
          <a:prstGeom prst="rect">
            <a:avLst/>
          </a:prstGeom>
        </p:spPr>
      </p:pic>
      <p:sp>
        <p:nvSpPr>
          <p:cNvPr id="2" name="Title 1">
            <a:extLst>
              <a:ext uri="{FF2B5EF4-FFF2-40B4-BE49-F238E27FC236}">
                <a16:creationId xmlns:a16="http://schemas.microsoft.com/office/drawing/2014/main" xmlns="" id="{6B8C6168-C8A4-4660-9D38-045657B80D09}"/>
              </a:ext>
            </a:extLst>
          </p:cNvPr>
          <p:cNvSpPr>
            <a:spLocks noGrp="1"/>
          </p:cNvSpPr>
          <p:nvPr>
            <p:ph type="title" hasCustomPrompt="1"/>
          </p:nvPr>
        </p:nvSpPr>
        <p:spPr>
          <a:xfrm>
            <a:off x="831850" y="1709738"/>
            <a:ext cx="10515600" cy="2852737"/>
          </a:xfrm>
        </p:spPr>
        <p:txBody>
          <a:bodyPr anchor="b">
            <a:normAutofit/>
          </a:bodyPr>
          <a:lstStyle>
            <a:lvl1pPr>
              <a:defRPr lang="en-US" sz="6000" b="1" kern="1200">
                <a:gradFill flip="none" rotWithShape="1">
                  <a:gsLst>
                    <a:gs pos="0">
                      <a:srgbClr val="1D3064"/>
                    </a:gs>
                    <a:gs pos="100000">
                      <a:schemeClr val="tx2"/>
                    </a:gs>
                  </a:gsLst>
                  <a:lin ang="0" scaled="1"/>
                </a:gradFill>
                <a:effectLst/>
                <a:latin typeface="+mn-lt"/>
                <a:ea typeface="+mn-ea"/>
                <a:cs typeface="+mn-cs"/>
              </a:defRPr>
            </a:lvl1pPr>
          </a:lstStyle>
          <a:p>
            <a:r>
              <a:rPr lang="en-US"/>
              <a:t>Write here Section Title</a:t>
            </a:r>
          </a:p>
        </p:txBody>
      </p:sp>
      <p:sp>
        <p:nvSpPr>
          <p:cNvPr id="3" name="Text Placeholder 2">
            <a:extLst>
              <a:ext uri="{FF2B5EF4-FFF2-40B4-BE49-F238E27FC236}">
                <a16:creationId xmlns:a16="http://schemas.microsoft.com/office/drawing/2014/main" xmlns="" id="{566C89DA-344D-4448-822C-2826084EF127}"/>
              </a:ext>
            </a:extLst>
          </p:cNvPr>
          <p:cNvSpPr>
            <a:spLocks noGrp="1"/>
          </p:cNvSpPr>
          <p:nvPr>
            <p:ph type="body" idx="1" hasCustomPrompt="1"/>
          </p:nvPr>
        </p:nvSpPr>
        <p:spPr>
          <a:xfrm>
            <a:off x="831850" y="4589463"/>
            <a:ext cx="105156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Write here Section Subtitle</a:t>
            </a:r>
          </a:p>
        </p:txBody>
      </p:sp>
      <p:sp>
        <p:nvSpPr>
          <p:cNvPr id="10" name="Freeform 17">
            <a:extLst>
              <a:ext uri="{FF2B5EF4-FFF2-40B4-BE49-F238E27FC236}">
                <a16:creationId xmlns:a16="http://schemas.microsoft.com/office/drawing/2014/main" xmlns="" id="{5E9DA42E-B221-4BBE-B651-F7171591BCD7}"/>
              </a:ext>
            </a:extLst>
          </p:cNvPr>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6">
                  <a:lumMod val="50000"/>
                </a:schemeClr>
              </a:gs>
              <a:gs pos="100000">
                <a:schemeClr val="accent6"/>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Tree>
    <p:extLst>
      <p:ext uri="{BB962C8B-B14F-4D97-AF65-F5344CB8AC3E}">
        <p14:creationId xmlns:p14="http://schemas.microsoft.com/office/powerpoint/2010/main" val="2001692949"/>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Blanck - Logo on TR">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xmlns=""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Date Placeholder 1">
            <a:extLst>
              <a:ext uri="{FF2B5EF4-FFF2-40B4-BE49-F238E27FC236}">
                <a16:creationId xmlns:a16="http://schemas.microsoft.com/office/drawing/2014/main" xmlns="" id="{F2FD45BD-9964-4102-8DE9-72CDDDD20A49}"/>
              </a:ext>
            </a:extLst>
          </p:cNvPr>
          <p:cNvSpPr txBox="1"/>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schemeClr val="tx1">
                    <a:lumMod val="90000"/>
                    <a:lumOff val="10000"/>
                  </a:schemeClr>
                </a:solidFill>
                <a:latin typeface="Roboto Condensed Light" panose="02000000000000000000" pitchFamily="2" charset="0"/>
                <a:ea typeface="Roboto Condensed Light" panose="02000000000000000000" pitchFamily="2" charset="0"/>
              </a:rPr>
              <a:t>Prof. Jay R Dhamsaniya</a:t>
            </a:r>
          </a:p>
        </p:txBody>
      </p:sp>
      <p:sp>
        <p:nvSpPr>
          <p:cNvPr id="17" name="Footer Placeholder 2">
            <a:extLst>
              <a:ext uri="{FF2B5EF4-FFF2-40B4-BE49-F238E27FC236}">
                <a16:creationId xmlns:a16="http://schemas.microsoft.com/office/drawing/2014/main" xmlns="" id="{59055D82-7978-44A5-82D1-0A4E00B382BF}"/>
              </a:ext>
            </a:extLst>
          </p:cNvPr>
          <p:cNvSpPr txBox="1"/>
          <p:nvPr userDrawn="1"/>
        </p:nvSpPr>
        <p:spPr>
          <a:xfrm>
            <a:off x="4038600" y="6604000"/>
            <a:ext cx="4114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schemeClr val="tx1">
                    <a:lumMod val="90000"/>
                    <a:lumOff val="10000"/>
                  </a:schemeClr>
                </a:solidFill>
                <a:latin typeface="Roboto Condensed Light" panose="02000000000000000000" pitchFamily="2" charset="0"/>
                <a:ea typeface="Roboto Condensed Light" panose="02000000000000000000" pitchFamily="2" charset="0"/>
              </a:rPr>
              <a:t>#3130006 (PS)   </a:t>
            </a:r>
            <a:r>
              <a:rPr lang="en-US">
                <a:solidFill>
                  <a:schemeClr val="tx1">
                    <a:lumMod val="90000"/>
                    <a:lumOff val="10000"/>
                  </a:schemeClr>
                </a:solidFill>
                <a:latin typeface="Wingdings" panose="05000000000000000000" pitchFamily="2" charset="2"/>
                <a:ea typeface="Roboto Condensed Light" panose="02000000000000000000" pitchFamily="2" charset="0"/>
              </a:rPr>
              <a:t></a:t>
            </a:r>
            <a:r>
              <a:rPr lang="en-US">
                <a:solidFill>
                  <a:schemeClr val="tx1">
                    <a:lumMod val="90000"/>
                    <a:lumOff val="10000"/>
                  </a:schemeClr>
                </a:solidFill>
                <a:latin typeface="Roboto Condensed Light" panose="02000000000000000000" pitchFamily="2" charset="0"/>
                <a:ea typeface="Roboto Condensed Light" panose="02000000000000000000" pitchFamily="2" charset="0"/>
              </a:rPr>
              <a:t>   Unit 1 – Basic Probability</a:t>
            </a:r>
          </a:p>
        </p:txBody>
      </p:sp>
      <p:sp>
        <p:nvSpPr>
          <p:cNvPr id="18" name="Slide Number Placeholder 3">
            <a:extLst>
              <a:ext uri="{FF2B5EF4-FFF2-40B4-BE49-F238E27FC236}">
                <a16:creationId xmlns:a16="http://schemas.microsoft.com/office/drawing/2014/main" xmlns="" id="{32768103-D8F5-4649-8107-E4B3B8C554BB}"/>
              </a:ext>
            </a:extLst>
          </p:cNvPr>
          <p:cNvSpPr txBox="1"/>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t>‹#›</a:t>
            </a:fld>
            <a:endParaRPr lang="en-US" b="1">
              <a:solidFill>
                <a:schemeClr val="tx1">
                  <a:lumMod val="90000"/>
                  <a:lumOff val="10000"/>
                </a:schemeClr>
              </a:solidFill>
              <a:latin typeface="+mn-lt"/>
            </a:endParaRPr>
          </a:p>
        </p:txBody>
      </p:sp>
      <p:cxnSp>
        <p:nvCxnSpPr>
          <p:cNvPr id="22" name="Straight Connector 21">
            <a:extLst>
              <a:ext uri="{FF2B5EF4-FFF2-40B4-BE49-F238E27FC236}">
                <a16:creationId xmlns:a16="http://schemas.microsoft.com/office/drawing/2014/main" xmlns=""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0" name="Group 9">
            <a:extLst>
              <a:ext uri="{FF2B5EF4-FFF2-40B4-BE49-F238E27FC236}">
                <a16:creationId xmlns:a16="http://schemas.microsoft.com/office/drawing/2014/main" xmlns="" id="{FE191CF5-3D57-422B-B2EB-FF235E30DB22}"/>
              </a:ext>
            </a:extLst>
          </p:cNvPr>
          <p:cNvGrpSpPr/>
          <p:nvPr userDrawn="1"/>
        </p:nvGrpSpPr>
        <p:grpSpPr>
          <a:xfrm>
            <a:off x="9576895" y="99192"/>
            <a:ext cx="2554143" cy="587454"/>
            <a:chOff x="131177" y="5775962"/>
            <a:chExt cx="2530239" cy="581956"/>
          </a:xfrm>
        </p:grpSpPr>
        <p:pic>
          <p:nvPicPr>
            <p:cNvPr id="12" name="Picture 11">
              <a:extLst>
                <a:ext uri="{FF2B5EF4-FFF2-40B4-BE49-F238E27FC236}">
                  <a16:creationId xmlns:a16="http://schemas.microsoft.com/office/drawing/2014/main" xmlns="" id="{C9B183D5-5DE8-48E7-85E7-60CE9D0FD2D8}"/>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31177" y="5775962"/>
              <a:ext cx="2530238" cy="581955"/>
            </a:xfrm>
            <a:prstGeom prst="rect">
              <a:avLst/>
            </a:prstGeom>
          </p:spPr>
        </p:pic>
        <p:sp>
          <p:nvSpPr>
            <p:cNvPr id="13" name="Rectangle 12">
              <a:extLst>
                <a:ext uri="{FF2B5EF4-FFF2-40B4-BE49-F238E27FC236}">
                  <a16:creationId xmlns:a16="http://schemas.microsoft.com/office/drawing/2014/main" xmlns="" id="{62445F4B-50F2-4CA0-A5C5-6D690A29F3F2}"/>
                </a:ext>
              </a:extLst>
            </p:cNvPr>
            <p:cNvSpPr/>
            <p:nvPr userDrawn="1"/>
          </p:nvSpPr>
          <p:spPr>
            <a:xfrm>
              <a:off x="131178" y="5775962"/>
              <a:ext cx="2530238" cy="581956"/>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971972502"/>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ck - Logo on BR">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xmlns=""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Date Placeholder 1">
            <a:extLst>
              <a:ext uri="{FF2B5EF4-FFF2-40B4-BE49-F238E27FC236}">
                <a16:creationId xmlns:a16="http://schemas.microsoft.com/office/drawing/2014/main" xmlns="" id="{F2FD45BD-9964-4102-8DE9-72CDDDD20A49}"/>
              </a:ext>
            </a:extLst>
          </p:cNvPr>
          <p:cNvSpPr txBox="1"/>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schemeClr val="tx1">
                    <a:lumMod val="90000"/>
                    <a:lumOff val="10000"/>
                  </a:schemeClr>
                </a:solidFill>
                <a:latin typeface="Roboto Condensed Light" panose="02000000000000000000" pitchFamily="2" charset="0"/>
                <a:ea typeface="Roboto Condensed Light" panose="02000000000000000000" pitchFamily="2" charset="0"/>
              </a:rPr>
              <a:t>Prof. Jay R Dhamsaniya</a:t>
            </a:r>
          </a:p>
        </p:txBody>
      </p:sp>
      <p:sp>
        <p:nvSpPr>
          <p:cNvPr id="17" name="Footer Placeholder 2">
            <a:extLst>
              <a:ext uri="{FF2B5EF4-FFF2-40B4-BE49-F238E27FC236}">
                <a16:creationId xmlns:a16="http://schemas.microsoft.com/office/drawing/2014/main" xmlns="" id="{59055D82-7978-44A5-82D1-0A4E00B382BF}"/>
              </a:ext>
            </a:extLst>
          </p:cNvPr>
          <p:cNvSpPr txBox="1"/>
          <p:nvPr userDrawn="1"/>
        </p:nvSpPr>
        <p:spPr>
          <a:xfrm>
            <a:off x="4038600" y="6604000"/>
            <a:ext cx="4114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schemeClr val="tx1">
                    <a:lumMod val="90000"/>
                    <a:lumOff val="10000"/>
                  </a:schemeClr>
                </a:solidFill>
                <a:latin typeface="Roboto Condensed Light" panose="02000000000000000000" pitchFamily="2" charset="0"/>
                <a:ea typeface="Roboto Condensed Light" panose="02000000000000000000" pitchFamily="2" charset="0"/>
              </a:rPr>
              <a:t>#3130006 (PS)   </a:t>
            </a:r>
            <a:r>
              <a:rPr lang="en-US">
                <a:solidFill>
                  <a:schemeClr val="tx1">
                    <a:lumMod val="90000"/>
                    <a:lumOff val="10000"/>
                  </a:schemeClr>
                </a:solidFill>
                <a:latin typeface="Wingdings" panose="05000000000000000000" pitchFamily="2" charset="2"/>
                <a:ea typeface="Roboto Condensed Light" panose="02000000000000000000" pitchFamily="2" charset="0"/>
              </a:rPr>
              <a:t></a:t>
            </a:r>
            <a:r>
              <a:rPr lang="en-US">
                <a:solidFill>
                  <a:schemeClr val="tx1">
                    <a:lumMod val="90000"/>
                    <a:lumOff val="10000"/>
                  </a:schemeClr>
                </a:solidFill>
                <a:latin typeface="Roboto Condensed Light" panose="02000000000000000000" pitchFamily="2" charset="0"/>
                <a:ea typeface="Roboto Condensed Light" panose="02000000000000000000" pitchFamily="2" charset="0"/>
              </a:rPr>
              <a:t>   Unit 1 – Basic Probability</a:t>
            </a:r>
          </a:p>
        </p:txBody>
      </p:sp>
      <p:sp>
        <p:nvSpPr>
          <p:cNvPr id="18" name="Slide Number Placeholder 3">
            <a:extLst>
              <a:ext uri="{FF2B5EF4-FFF2-40B4-BE49-F238E27FC236}">
                <a16:creationId xmlns:a16="http://schemas.microsoft.com/office/drawing/2014/main" xmlns="" id="{32768103-D8F5-4649-8107-E4B3B8C554BB}"/>
              </a:ext>
            </a:extLst>
          </p:cNvPr>
          <p:cNvSpPr txBox="1"/>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t>‹#›</a:t>
            </a:fld>
            <a:endParaRPr lang="en-US" b="1">
              <a:solidFill>
                <a:schemeClr val="tx1">
                  <a:lumMod val="90000"/>
                  <a:lumOff val="10000"/>
                </a:schemeClr>
              </a:solidFill>
              <a:latin typeface="+mn-lt"/>
            </a:endParaRPr>
          </a:p>
        </p:txBody>
      </p:sp>
      <p:cxnSp>
        <p:nvCxnSpPr>
          <p:cNvPr id="22" name="Straight Connector 21">
            <a:extLst>
              <a:ext uri="{FF2B5EF4-FFF2-40B4-BE49-F238E27FC236}">
                <a16:creationId xmlns:a16="http://schemas.microsoft.com/office/drawing/2014/main" xmlns=""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0" name="Group 9">
            <a:extLst>
              <a:ext uri="{FF2B5EF4-FFF2-40B4-BE49-F238E27FC236}">
                <a16:creationId xmlns:a16="http://schemas.microsoft.com/office/drawing/2014/main" xmlns="" id="{913602D2-CAF0-4790-95E8-87990761ED0C}"/>
              </a:ext>
            </a:extLst>
          </p:cNvPr>
          <p:cNvGrpSpPr/>
          <p:nvPr userDrawn="1"/>
        </p:nvGrpSpPr>
        <p:grpSpPr>
          <a:xfrm>
            <a:off x="9576895" y="5890392"/>
            <a:ext cx="2554143" cy="587454"/>
            <a:chOff x="131177" y="5775962"/>
            <a:chExt cx="2530239" cy="581956"/>
          </a:xfrm>
        </p:grpSpPr>
        <p:pic>
          <p:nvPicPr>
            <p:cNvPr id="12" name="Picture 11">
              <a:extLst>
                <a:ext uri="{FF2B5EF4-FFF2-40B4-BE49-F238E27FC236}">
                  <a16:creationId xmlns:a16="http://schemas.microsoft.com/office/drawing/2014/main" xmlns="" id="{A378A2C8-EF9C-479C-ACF0-D9819B46DF5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31177" y="5775962"/>
              <a:ext cx="2530238" cy="581955"/>
            </a:xfrm>
            <a:prstGeom prst="rect">
              <a:avLst/>
            </a:prstGeom>
          </p:spPr>
        </p:pic>
        <p:sp>
          <p:nvSpPr>
            <p:cNvPr id="13" name="Rectangle 12">
              <a:extLst>
                <a:ext uri="{FF2B5EF4-FFF2-40B4-BE49-F238E27FC236}">
                  <a16:creationId xmlns:a16="http://schemas.microsoft.com/office/drawing/2014/main" xmlns="" id="{61DE4F58-7D48-453D-89E1-B25767150977}"/>
                </a:ext>
              </a:extLst>
            </p:cNvPr>
            <p:cNvSpPr/>
            <p:nvPr userDrawn="1"/>
          </p:nvSpPr>
          <p:spPr>
            <a:xfrm>
              <a:off x="131178" y="5775962"/>
              <a:ext cx="2530238" cy="581956"/>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206247808"/>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lanck - Logo on BL">
    <p:spTree>
      <p:nvGrpSpPr>
        <p:cNvPr id="1" name=""/>
        <p:cNvGrpSpPr/>
        <p:nvPr/>
      </p:nvGrpSpPr>
      <p:grpSpPr>
        <a:xfrm>
          <a:off x="0" y="0"/>
          <a:ext cx="0" cy="0"/>
          <a:chOff x="0" y="0"/>
          <a:chExt cx="0" cy="0"/>
        </a:xfrm>
      </p:grpSpPr>
      <p:sp>
        <p:nvSpPr>
          <p:cNvPr id="11" name="Rectangle: Rounded Corners 10">
            <a:extLst>
              <a:ext uri="{FF2B5EF4-FFF2-40B4-BE49-F238E27FC236}">
                <a16:creationId xmlns:a16="http://schemas.microsoft.com/office/drawing/2014/main" xmlns="" id="{5D17CCA1-DDAA-4D6C-AAE4-2ECFF46CFEAB}"/>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Date Placeholder 1">
            <a:extLst>
              <a:ext uri="{FF2B5EF4-FFF2-40B4-BE49-F238E27FC236}">
                <a16:creationId xmlns:a16="http://schemas.microsoft.com/office/drawing/2014/main" xmlns="" id="{F2FD45BD-9964-4102-8DE9-72CDDDD20A49}"/>
              </a:ext>
            </a:extLst>
          </p:cNvPr>
          <p:cNvSpPr txBox="1"/>
          <p:nvPr userDrawn="1"/>
        </p:nvSpPr>
        <p:spPr>
          <a:xfrm>
            <a:off x="838200" y="6604000"/>
            <a:ext cx="2743200" cy="255126"/>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schemeClr val="tx1">
                    <a:lumMod val="90000"/>
                    <a:lumOff val="10000"/>
                  </a:schemeClr>
                </a:solidFill>
                <a:latin typeface="Roboto Condensed Light" panose="02000000000000000000" pitchFamily="2" charset="0"/>
                <a:ea typeface="Roboto Condensed Light" panose="02000000000000000000" pitchFamily="2" charset="0"/>
              </a:rPr>
              <a:t>Prof. Jay R Dhamsaniya</a:t>
            </a:r>
          </a:p>
        </p:txBody>
      </p:sp>
      <p:sp>
        <p:nvSpPr>
          <p:cNvPr id="17" name="Footer Placeholder 2">
            <a:extLst>
              <a:ext uri="{FF2B5EF4-FFF2-40B4-BE49-F238E27FC236}">
                <a16:creationId xmlns:a16="http://schemas.microsoft.com/office/drawing/2014/main" xmlns="" id="{59055D82-7978-44A5-82D1-0A4E00B382BF}"/>
              </a:ext>
            </a:extLst>
          </p:cNvPr>
          <p:cNvSpPr txBox="1"/>
          <p:nvPr userDrawn="1"/>
        </p:nvSpPr>
        <p:spPr>
          <a:xfrm>
            <a:off x="4038600" y="6604000"/>
            <a:ext cx="4114800" cy="255126"/>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solidFill>
                  <a:schemeClr val="tx1">
                    <a:lumMod val="90000"/>
                    <a:lumOff val="10000"/>
                  </a:schemeClr>
                </a:solidFill>
                <a:latin typeface="Roboto Condensed Light" panose="02000000000000000000" pitchFamily="2" charset="0"/>
                <a:ea typeface="Roboto Condensed Light" panose="02000000000000000000" pitchFamily="2" charset="0"/>
              </a:rPr>
              <a:t>#3130006 (PS)   </a:t>
            </a:r>
            <a:r>
              <a:rPr lang="en-US">
                <a:solidFill>
                  <a:schemeClr val="tx1">
                    <a:lumMod val="90000"/>
                    <a:lumOff val="10000"/>
                  </a:schemeClr>
                </a:solidFill>
                <a:latin typeface="Wingdings" panose="05000000000000000000" pitchFamily="2" charset="2"/>
                <a:ea typeface="Roboto Condensed Light" panose="02000000000000000000" pitchFamily="2" charset="0"/>
              </a:rPr>
              <a:t></a:t>
            </a:r>
            <a:r>
              <a:rPr lang="en-US">
                <a:solidFill>
                  <a:schemeClr val="tx1">
                    <a:lumMod val="90000"/>
                    <a:lumOff val="10000"/>
                  </a:schemeClr>
                </a:solidFill>
                <a:latin typeface="Roboto Condensed Light" panose="02000000000000000000" pitchFamily="2" charset="0"/>
                <a:ea typeface="Roboto Condensed Light" panose="02000000000000000000" pitchFamily="2" charset="0"/>
              </a:rPr>
              <a:t>   Unit 1 – Basic Probability</a:t>
            </a:r>
          </a:p>
        </p:txBody>
      </p:sp>
      <p:sp>
        <p:nvSpPr>
          <p:cNvPr id="18" name="Slide Number Placeholder 3">
            <a:extLst>
              <a:ext uri="{FF2B5EF4-FFF2-40B4-BE49-F238E27FC236}">
                <a16:creationId xmlns:a16="http://schemas.microsoft.com/office/drawing/2014/main" xmlns="" id="{32768103-D8F5-4649-8107-E4B3B8C554BB}"/>
              </a:ext>
            </a:extLst>
          </p:cNvPr>
          <p:cNvSpPr txBox="1"/>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t>‹#›</a:t>
            </a:fld>
            <a:endParaRPr lang="en-US" b="1">
              <a:solidFill>
                <a:schemeClr val="tx1">
                  <a:lumMod val="90000"/>
                  <a:lumOff val="10000"/>
                </a:schemeClr>
              </a:solidFill>
              <a:latin typeface="+mn-lt"/>
            </a:endParaRPr>
          </a:p>
        </p:txBody>
      </p:sp>
      <p:cxnSp>
        <p:nvCxnSpPr>
          <p:cNvPr id="22" name="Straight Connector 21">
            <a:extLst>
              <a:ext uri="{FF2B5EF4-FFF2-40B4-BE49-F238E27FC236}">
                <a16:creationId xmlns:a16="http://schemas.microsoft.com/office/drawing/2014/main" xmlns="" id="{86C86632-7EFD-4A64-85B1-0CE7D13E0C97}"/>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grpSp>
        <p:nvGrpSpPr>
          <p:cNvPr id="10" name="Group 9">
            <a:extLst>
              <a:ext uri="{FF2B5EF4-FFF2-40B4-BE49-F238E27FC236}">
                <a16:creationId xmlns:a16="http://schemas.microsoft.com/office/drawing/2014/main" xmlns="" id="{15C60ED7-12D4-496E-AF73-0995BE8C12FD}"/>
              </a:ext>
            </a:extLst>
          </p:cNvPr>
          <p:cNvGrpSpPr/>
          <p:nvPr userDrawn="1"/>
        </p:nvGrpSpPr>
        <p:grpSpPr>
          <a:xfrm>
            <a:off x="128095" y="5890392"/>
            <a:ext cx="2554143" cy="587454"/>
            <a:chOff x="131177" y="5775962"/>
            <a:chExt cx="2530239" cy="581956"/>
          </a:xfrm>
        </p:grpSpPr>
        <p:pic>
          <p:nvPicPr>
            <p:cNvPr id="12" name="Picture 11">
              <a:extLst>
                <a:ext uri="{FF2B5EF4-FFF2-40B4-BE49-F238E27FC236}">
                  <a16:creationId xmlns:a16="http://schemas.microsoft.com/office/drawing/2014/main" xmlns="" id="{30CB04CE-0025-4B1F-B962-A759D179D84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31177" y="5775962"/>
              <a:ext cx="2530238" cy="581955"/>
            </a:xfrm>
            <a:prstGeom prst="rect">
              <a:avLst/>
            </a:prstGeom>
          </p:spPr>
        </p:pic>
        <p:sp>
          <p:nvSpPr>
            <p:cNvPr id="13" name="Rectangle 12">
              <a:extLst>
                <a:ext uri="{FF2B5EF4-FFF2-40B4-BE49-F238E27FC236}">
                  <a16:creationId xmlns:a16="http://schemas.microsoft.com/office/drawing/2014/main" xmlns="" id="{43F480CB-A4AF-424E-90DB-5B677403441A}"/>
                </a:ext>
              </a:extLst>
            </p:cNvPr>
            <p:cNvSpPr/>
            <p:nvPr userDrawn="1"/>
          </p:nvSpPr>
          <p:spPr>
            <a:xfrm>
              <a:off x="131178" y="5775962"/>
              <a:ext cx="2530238" cy="581956"/>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4243314523"/>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mplete Blanck">
    <p:spTree>
      <p:nvGrpSpPr>
        <p:cNvPr id="1" name=""/>
        <p:cNvGrpSpPr/>
        <p:nvPr/>
      </p:nvGrpSpPr>
      <p:grpSpPr>
        <a:xfrm>
          <a:off x="0" y="0"/>
          <a:ext cx="0" cy="0"/>
          <a:chOff x="0" y="0"/>
          <a:chExt cx="0" cy="0"/>
        </a:xfrm>
      </p:grpSpPr>
    </p:spTree>
    <p:extLst>
      <p:ext uri="{BB962C8B-B14F-4D97-AF65-F5344CB8AC3E}">
        <p14:creationId xmlns:p14="http://schemas.microsoft.com/office/powerpoint/2010/main" val="3312311614"/>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Title Slide - Maroo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xmlns="" id="{292D9CA8-FA74-4E19-A847-B04F90FC15AC}"/>
              </a:ext>
            </a:extLst>
          </p:cNvPr>
          <p:cNvPicPr>
            <a:picLocks noChangeAspect="1"/>
          </p:cNvPicPr>
          <p:nvPr userDrawn="1"/>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a:fillRect/>
          </a:stretch>
        </p:blipFill>
        <p:spPr>
          <a:xfrm>
            <a:off x="0" y="0"/>
            <a:ext cx="12192000" cy="6858000"/>
          </a:xfrm>
          <a:prstGeom prst="rect">
            <a:avLst/>
          </a:prstGeom>
        </p:spPr>
      </p:pic>
      <p:sp>
        <p:nvSpPr>
          <p:cNvPr id="3" name="TextBox 2">
            <a:extLst>
              <a:ext uri="{FF2B5EF4-FFF2-40B4-BE49-F238E27FC236}">
                <a16:creationId xmlns:a16="http://schemas.microsoft.com/office/drawing/2014/main" xmlns=""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a:t>Darshan Institute of Engineering &amp; Technology, Rajkot</a:t>
            </a:r>
          </a:p>
        </p:txBody>
      </p:sp>
      <p:sp>
        <p:nvSpPr>
          <p:cNvPr id="22" name="Freeform 13">
            <a:extLst>
              <a:ext uri="{FF2B5EF4-FFF2-40B4-BE49-F238E27FC236}">
                <a16:creationId xmlns:a16="http://schemas.microsoft.com/office/drawing/2014/main" xmlns="" id="{EB889181-F145-4E62-A282-E5B77978D1F3}"/>
              </a:ext>
            </a:extLst>
          </p:cNvPr>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6">
                  <a:lumMod val="50000"/>
                </a:schemeClr>
              </a:gs>
              <a:gs pos="100000">
                <a:schemeClr val="accent6"/>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xmlns="" id="{5E9DA42E-B221-4BBE-B651-F7171591BCD7}"/>
              </a:ext>
            </a:extLst>
          </p:cNvPr>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6">
                  <a:lumMod val="50000"/>
                </a:schemeClr>
              </a:gs>
              <a:gs pos="100000">
                <a:schemeClr val="accent6"/>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xmlns="" id="{73D6466C-3EE8-434C-B5AB-98205AEEA67D}"/>
              </a:ext>
            </a:extLst>
          </p:cNvPr>
          <p:cNvPicPr>
            <a:picLocks noChangeAspect="1"/>
          </p:cNvPicPr>
          <p:nvPr userDrawn="1"/>
        </p:nvPicPr>
        <p:blipFill>
          <a:blip r:embed="rId3">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cxnSp>
        <p:nvCxnSpPr>
          <p:cNvPr id="45" name="Straight Connector 44">
            <a:extLst>
              <a:ext uri="{FF2B5EF4-FFF2-40B4-BE49-F238E27FC236}">
                <a16:creationId xmlns:a16="http://schemas.microsoft.com/office/drawing/2014/main" xmlns=""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26" name="Picture 25">
            <a:extLst>
              <a:ext uri="{FF2B5EF4-FFF2-40B4-BE49-F238E27FC236}">
                <a16:creationId xmlns:a16="http://schemas.microsoft.com/office/drawing/2014/main" xmlns="" id="{9812EDA6-C656-492A-A9CA-44B03C639132}"/>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xmlns="" id="{627AEF91-6492-4B0C-A844-2296473B58DE}"/>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xmlns=""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a:t>Click to edit Email Address</a:t>
            </a:r>
          </a:p>
        </p:txBody>
      </p:sp>
      <p:sp>
        <p:nvSpPr>
          <p:cNvPr id="29" name="Text Placeholder 2">
            <a:extLst>
              <a:ext uri="{FF2B5EF4-FFF2-40B4-BE49-F238E27FC236}">
                <a16:creationId xmlns:a16="http://schemas.microsoft.com/office/drawing/2014/main" xmlns=""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a:t>Click to edit Phone No.</a:t>
            </a:r>
          </a:p>
        </p:txBody>
      </p:sp>
      <p:sp>
        <p:nvSpPr>
          <p:cNvPr id="40" name="Text Placeholder 2">
            <a:extLst>
              <a:ext uri="{FF2B5EF4-FFF2-40B4-BE49-F238E27FC236}">
                <a16:creationId xmlns:a16="http://schemas.microsoft.com/office/drawing/2014/main" xmlns=""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a:solidFill>
                  <a:schemeClr val="tx1"/>
                </a:solidFill>
                <a:latin typeface="+mn-lt"/>
                <a:ea typeface="+mn-ea"/>
                <a:cs typeface="+mn-cs"/>
              </a:defRPr>
            </a:lvl1pPr>
          </a:lstStyle>
          <a:p>
            <a:pPr lvl="0"/>
            <a:r>
              <a:rPr lang="en-US"/>
              <a:t>Write here Department Name</a:t>
            </a:r>
          </a:p>
        </p:txBody>
      </p:sp>
      <p:sp>
        <p:nvSpPr>
          <p:cNvPr id="53" name="Text Placeholder 2">
            <a:extLst>
              <a:ext uri="{FF2B5EF4-FFF2-40B4-BE49-F238E27FC236}">
                <a16:creationId xmlns:a16="http://schemas.microsoft.com/office/drawing/2014/main" xmlns=""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a:gradFill flip="none" rotWithShape="1">
                  <a:gsLst>
                    <a:gs pos="10000">
                      <a:schemeClr val="accent6">
                        <a:lumMod val="50000"/>
                      </a:schemeClr>
                    </a:gs>
                    <a:gs pos="100000">
                      <a:schemeClr val="accent6"/>
                    </a:gs>
                  </a:gsLst>
                  <a:lin ang="0" scaled="1"/>
                </a:gradFill>
                <a:effectLst/>
                <a:latin typeface="+mn-lt"/>
                <a:ea typeface="+mn-ea"/>
                <a:cs typeface="+mn-cs"/>
              </a:defRPr>
            </a:lvl1pPr>
          </a:lstStyle>
          <a:p>
            <a:pPr lvl="0"/>
            <a:r>
              <a:rPr lang="en-US"/>
              <a:t>Write here your Author Name (i.e. Prof. Jay R Dhamsaniya)</a:t>
            </a:r>
          </a:p>
        </p:txBody>
      </p:sp>
      <p:pic>
        <p:nvPicPr>
          <p:cNvPr id="54" name="Picture 53">
            <a:extLst>
              <a:ext uri="{FF2B5EF4-FFF2-40B4-BE49-F238E27FC236}">
                <a16:creationId xmlns:a16="http://schemas.microsoft.com/office/drawing/2014/main" xmlns="" id="{1917B14A-5130-41DB-8F00-6C6611C994DF}"/>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xmlns="" id="{34C1356C-E4AA-4B27-A93C-BE84F5D9C601}"/>
              </a:ext>
            </a:extLst>
          </p:cNvPr>
          <p:cNvPicPr>
            <a:picLocks noChangeAspect="1"/>
          </p:cNvPicPr>
          <p:nvPr userDrawn="1"/>
        </p:nvPicPr>
        <p:blipFill>
          <a:blip r:embed="rId7">
            <a:extLst>
              <a:ext uri="{BEBA8EAE-BF5A-486C-A8C5-ECC9F3942E4B}">
                <a14:imgProps xmlns:a14="http://schemas.microsoft.com/office/drawing/2010/main">
                  <a14:imgLayer r:embed="rId8">
                    <a14:imgEffect>
                      <a14:brightnessContrast contrast="-40000"/>
                    </a14:imgEffect>
                  </a14:imgLayer>
                </a14:imgProps>
              </a:ext>
              <a:ext uri="{28A0092B-C50C-407E-A947-70E740481C1C}">
                <a14:useLocalDpi xmlns:a14="http://schemas.microsoft.com/office/drawing/2010/main" val="0"/>
              </a:ext>
            </a:extLst>
          </a:blip>
          <a:srcRect l="62023" t="18062" r="2731" b="17724"/>
          <a:stretch>
            <a:fillRect/>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xmlns=""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a:solidFill>
                  <a:schemeClr val="lt1"/>
                </a:solidFill>
                <a:latin typeface="+mn-lt"/>
                <a:ea typeface="+mn-ea"/>
                <a:cs typeface="+mn-cs"/>
              </a:defRPr>
            </a:lvl1pPr>
          </a:lstStyle>
          <a:p>
            <a:pPr lvl="0"/>
            <a:r>
              <a:rPr lang="en-US"/>
              <a:t>Write Subject Name (Short Name)</a:t>
            </a:r>
          </a:p>
          <a:p>
            <a:pPr lvl="0"/>
            <a:r>
              <a:rPr lang="en-US"/>
              <a:t>GTU # Subject Code</a:t>
            </a:r>
          </a:p>
        </p:txBody>
      </p:sp>
      <p:pic>
        <p:nvPicPr>
          <p:cNvPr id="21" name="Picture 20" descr="User icon Royalty Free Vector Image - VectorStock">
            <a:extLst>
              <a:ext uri="{FF2B5EF4-FFF2-40B4-BE49-F238E27FC236}">
                <a16:creationId xmlns:a16="http://schemas.microsoft.com/office/drawing/2014/main" xmlns="" id="{80BF4AFD-B365-46D4-AAC5-485DFA5A7D42}"/>
              </a:ext>
            </a:extLst>
          </p:cNvPr>
          <p:cNvPicPr>
            <a:picLocks noChangeAspect="1" noChangeArrowheads="1"/>
          </p:cNvPicPr>
          <p:nvPr userDrawn="1"/>
        </p:nvPicPr>
        <p:blipFill>
          <a:blip r:embed="rId9">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xmlns="" id="{2BC70C35-8BA7-4D49-9AF7-DC36FAB8FDA3}"/>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
        <p:nvSpPr>
          <p:cNvPr id="38" name="Hexagon 37"/>
          <p:cNvSpPr/>
          <p:nvPr userDrawn="1"/>
        </p:nvSpPr>
        <p:spPr>
          <a:xfrm rot="5400000">
            <a:off x="4309292" y="1717040"/>
            <a:ext cx="3461658" cy="2984188"/>
          </a:xfrm>
          <a:prstGeom prst="hexagon">
            <a:avLst/>
          </a:prstGeom>
          <a:solidFill>
            <a:schemeClr val="bg1">
              <a:lumMod val="95000"/>
            </a:schemeClr>
          </a:solidFill>
          <a:ln w="57150">
            <a:solidFill>
              <a:schemeClr val="accent6"/>
            </a:solidFill>
            <a:prstDash val="lgDash"/>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39" name="TextBox 38"/>
          <p:cNvSpPr txBox="1"/>
          <p:nvPr userDrawn="1"/>
        </p:nvSpPr>
        <p:spPr>
          <a:xfrm>
            <a:off x="5014038" y="2239638"/>
            <a:ext cx="2052165" cy="1938992"/>
          </a:xfrm>
          <a:prstGeom prst="rect">
            <a:avLst/>
          </a:prstGeom>
          <a:noFill/>
        </p:spPr>
        <p:txBody>
          <a:bodyPr wrap="none" rtlCol="0">
            <a:spAutoFit/>
          </a:bodyPr>
          <a:lstStyle/>
          <a:p>
            <a:pPr algn="ctr"/>
            <a:r>
              <a:rPr lang="en-US" sz="6000" b="1" i="1"/>
              <a:t>Thank</a:t>
            </a:r>
          </a:p>
          <a:p>
            <a:pPr algn="ctr"/>
            <a:r>
              <a:rPr lang="en-US" sz="6000" b="1" i="1"/>
              <a:t>You</a:t>
            </a:r>
          </a:p>
        </p:txBody>
      </p:sp>
      <p:sp>
        <p:nvSpPr>
          <p:cNvPr id="41" name="Rectangle 40"/>
          <p:cNvSpPr/>
          <p:nvPr userDrawn="1"/>
        </p:nvSpPr>
        <p:spPr>
          <a:xfrm>
            <a:off x="7678346" y="2221532"/>
            <a:ext cx="4513654" cy="1951692"/>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42" name="Rectangle 41"/>
          <p:cNvSpPr/>
          <p:nvPr userDrawn="1"/>
        </p:nvSpPr>
        <p:spPr>
          <a:xfrm>
            <a:off x="0" y="2221532"/>
            <a:ext cx="4402106" cy="1951692"/>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80038297"/>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Title Slide - Red">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xmlns="" id="{292D9CA8-FA74-4E19-A847-B04F90FC15AC}"/>
              </a:ext>
            </a:extLst>
          </p:cNvPr>
          <p:cNvPicPr>
            <a:picLocks noChangeAspect="1"/>
          </p:cNvPicPr>
          <p:nvPr userDrawn="1"/>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a:fillRect/>
          </a:stretch>
        </p:blipFill>
        <p:spPr>
          <a:xfrm>
            <a:off x="0" y="0"/>
            <a:ext cx="12192000" cy="6858000"/>
          </a:xfrm>
          <a:prstGeom prst="rect">
            <a:avLst/>
          </a:prstGeom>
        </p:spPr>
      </p:pic>
      <p:sp>
        <p:nvSpPr>
          <p:cNvPr id="22" name="Freeform 13">
            <a:extLst>
              <a:ext uri="{FF2B5EF4-FFF2-40B4-BE49-F238E27FC236}">
                <a16:creationId xmlns:a16="http://schemas.microsoft.com/office/drawing/2014/main" xmlns="" id="{EB889181-F145-4E62-A282-E5B77978D1F3}"/>
              </a:ext>
            </a:extLst>
          </p:cNvPr>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xmlns="" id="{73D6466C-3EE8-434C-B5AB-98205AEEA67D}"/>
              </a:ext>
            </a:extLst>
          </p:cNvPr>
          <p:cNvPicPr>
            <a:picLocks noChangeAspect="1"/>
          </p:cNvPicPr>
          <p:nvPr userDrawn="1"/>
        </p:nvPicPr>
        <p:blipFill>
          <a:blip r:embed="rId3">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54" name="Picture 53">
            <a:extLst>
              <a:ext uri="{FF2B5EF4-FFF2-40B4-BE49-F238E27FC236}">
                <a16:creationId xmlns:a16="http://schemas.microsoft.com/office/drawing/2014/main" xmlns="" id="{1917B14A-5130-41DB-8F00-6C6611C994DF}"/>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xmlns="" id="{34C1356C-E4AA-4B27-A93C-BE84F5D9C601}"/>
              </a:ext>
            </a:extLst>
          </p:cNvPr>
          <p:cNvPicPr>
            <a:picLocks noChangeAspect="1"/>
          </p:cNvPicPr>
          <p:nvPr userDrawn="1"/>
        </p:nvPicPr>
        <p:blipFill>
          <a:blip r:embed="rId5" cstate="print">
            <a:extLst>
              <a:ext uri="{BEBA8EAE-BF5A-486C-A8C5-ECC9F3942E4B}">
                <a14:imgProps xmlns:a14="http://schemas.microsoft.com/office/drawing/2010/main">
                  <a14:imgLayer r:embed="rId6">
                    <a14:imgEffect>
                      <a14:brightnessContrast contrast="-40000"/>
                    </a14:imgEffect>
                  </a14:imgLayer>
                </a14:imgProps>
              </a:ext>
              <a:ext uri="{28A0092B-C50C-407E-A947-70E740481C1C}">
                <a14:useLocalDpi xmlns:a14="http://schemas.microsoft.com/office/drawing/2010/main" val="0"/>
              </a:ext>
            </a:extLst>
          </a:blip>
          <a:srcRect l="62023" t="18062" r="2731" b="17724"/>
          <a:stretch>
            <a:fillRect/>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xmlns=""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a:solidFill>
                  <a:schemeClr val="lt1"/>
                </a:solidFill>
                <a:latin typeface="+mn-lt"/>
                <a:ea typeface="+mn-ea"/>
                <a:cs typeface="+mn-cs"/>
              </a:defRPr>
            </a:lvl1pPr>
          </a:lstStyle>
          <a:p>
            <a:pPr lvl="0"/>
            <a:r>
              <a:rPr lang="en-US"/>
              <a:t>Write Subject Name (Short Name)</a:t>
            </a:r>
          </a:p>
          <a:p>
            <a:pPr lvl="0"/>
            <a:r>
              <a:rPr lang="en-US"/>
              <a:t>GTU # Subject Code</a:t>
            </a:r>
          </a:p>
        </p:txBody>
      </p:sp>
      <p:sp>
        <p:nvSpPr>
          <p:cNvPr id="41" name="Hexagon 40"/>
          <p:cNvSpPr/>
          <p:nvPr userDrawn="1"/>
        </p:nvSpPr>
        <p:spPr>
          <a:xfrm rot="5400000">
            <a:off x="4309292" y="1717040"/>
            <a:ext cx="3461658" cy="2984188"/>
          </a:xfrm>
          <a:prstGeom prst="hexagon">
            <a:avLst/>
          </a:prstGeom>
          <a:solidFill>
            <a:schemeClr val="bg1">
              <a:lumMod val="95000"/>
            </a:schemeClr>
          </a:solidFill>
          <a:ln w="57150">
            <a:solidFill>
              <a:schemeClr val="accent6"/>
            </a:solidFill>
            <a:prstDash val="lgDash"/>
          </a:ln>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42" name="TextBox 41"/>
          <p:cNvSpPr txBox="1"/>
          <p:nvPr userDrawn="1"/>
        </p:nvSpPr>
        <p:spPr>
          <a:xfrm>
            <a:off x="5014038" y="2239638"/>
            <a:ext cx="2052165" cy="1938992"/>
          </a:xfrm>
          <a:prstGeom prst="rect">
            <a:avLst/>
          </a:prstGeom>
          <a:noFill/>
        </p:spPr>
        <p:txBody>
          <a:bodyPr wrap="none" rtlCol="0">
            <a:spAutoFit/>
          </a:bodyPr>
          <a:lstStyle/>
          <a:p>
            <a:pPr algn="ctr"/>
            <a:r>
              <a:rPr lang="en-US" sz="6000" b="1" i="1"/>
              <a:t>Thank</a:t>
            </a:r>
          </a:p>
          <a:p>
            <a:pPr algn="ctr"/>
            <a:r>
              <a:rPr lang="en-US" sz="6000" b="1" i="1"/>
              <a:t>You</a:t>
            </a:r>
          </a:p>
        </p:txBody>
      </p:sp>
      <p:sp>
        <p:nvSpPr>
          <p:cNvPr id="43" name="Rectangle 42"/>
          <p:cNvSpPr/>
          <p:nvPr userDrawn="1"/>
        </p:nvSpPr>
        <p:spPr>
          <a:xfrm>
            <a:off x="7678346" y="2221532"/>
            <a:ext cx="4513654" cy="1951692"/>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44" name="Rectangle 43"/>
          <p:cNvSpPr/>
          <p:nvPr userDrawn="1"/>
        </p:nvSpPr>
        <p:spPr>
          <a:xfrm>
            <a:off x="0" y="2221532"/>
            <a:ext cx="4402106" cy="1951692"/>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46" name="TextBox 45">
            <a:extLst>
              <a:ext uri="{FF2B5EF4-FFF2-40B4-BE49-F238E27FC236}">
                <a16:creationId xmlns:a16="http://schemas.microsoft.com/office/drawing/2014/main" xmlns=""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a:t>Darshan Institute of Engineering &amp; Technology, Rajkot</a:t>
            </a:r>
          </a:p>
        </p:txBody>
      </p:sp>
      <p:sp>
        <p:nvSpPr>
          <p:cNvPr id="47" name="Freeform 17">
            <a:extLst>
              <a:ext uri="{FF2B5EF4-FFF2-40B4-BE49-F238E27FC236}">
                <a16:creationId xmlns:a16="http://schemas.microsoft.com/office/drawing/2014/main" xmlns="" id="{5E9DA42E-B221-4BBE-B651-F7171591BCD7}"/>
              </a:ext>
            </a:extLst>
          </p:cNvPr>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cxnSp>
        <p:nvCxnSpPr>
          <p:cNvPr id="48" name="Straight Connector 47">
            <a:extLst>
              <a:ext uri="{FF2B5EF4-FFF2-40B4-BE49-F238E27FC236}">
                <a16:creationId xmlns:a16="http://schemas.microsoft.com/office/drawing/2014/main" xmlns="" id="{E79C5D16-8087-4587-9A0A-A0570C73E0E7}"/>
              </a:ext>
            </a:extLst>
          </p:cNvPr>
          <p:cNvCxnSpPr/>
          <p:nvPr userDrawn="1"/>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49" name="Picture 48">
            <a:extLst>
              <a:ext uri="{FF2B5EF4-FFF2-40B4-BE49-F238E27FC236}">
                <a16:creationId xmlns:a16="http://schemas.microsoft.com/office/drawing/2014/main" xmlns="" id="{9812EDA6-C656-492A-A9CA-44B03C639132}"/>
              </a:ext>
            </a:extLst>
          </p:cNvPr>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50" name="Picture 49">
            <a:extLst>
              <a:ext uri="{FF2B5EF4-FFF2-40B4-BE49-F238E27FC236}">
                <a16:creationId xmlns:a16="http://schemas.microsoft.com/office/drawing/2014/main" xmlns="" id="{627AEF91-6492-4B0C-A844-2296473B58DE}"/>
              </a:ext>
            </a:extLst>
          </p:cNvPr>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51" name="Text Placeholder 2">
            <a:extLst>
              <a:ext uri="{FF2B5EF4-FFF2-40B4-BE49-F238E27FC236}">
                <a16:creationId xmlns:a16="http://schemas.microsoft.com/office/drawing/2014/main" xmlns="" id="{828AA7FF-D902-41DB-A12A-45135201E8C2}"/>
              </a:ext>
            </a:extLst>
          </p:cNvPr>
          <p:cNvSpPr>
            <a:spLocks noGrp="1"/>
          </p:cNvSpPr>
          <p:nvPr>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a:t>Click to edit Email Address</a:t>
            </a:r>
          </a:p>
        </p:txBody>
      </p:sp>
      <p:sp>
        <p:nvSpPr>
          <p:cNvPr id="52" name="Text Placeholder 2">
            <a:extLst>
              <a:ext uri="{FF2B5EF4-FFF2-40B4-BE49-F238E27FC236}">
                <a16:creationId xmlns:a16="http://schemas.microsoft.com/office/drawing/2014/main" xmlns="" id="{F1EDDD62-43C6-4DEE-BBD9-CD0004E7EB03}"/>
              </a:ext>
            </a:extLst>
          </p:cNvPr>
          <p:cNvSpPr>
            <a:spLocks noGrp="1"/>
          </p:cNvSpPr>
          <p:nvPr>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a:t>Click to edit Phone No.</a:t>
            </a:r>
          </a:p>
        </p:txBody>
      </p:sp>
      <p:sp>
        <p:nvSpPr>
          <p:cNvPr id="56" name="Text Placeholder 2">
            <a:extLst>
              <a:ext uri="{FF2B5EF4-FFF2-40B4-BE49-F238E27FC236}">
                <a16:creationId xmlns:a16="http://schemas.microsoft.com/office/drawing/2014/main" xmlns=""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a:solidFill>
                  <a:schemeClr val="tx1"/>
                </a:solidFill>
                <a:latin typeface="+mn-lt"/>
                <a:ea typeface="+mn-ea"/>
                <a:cs typeface="+mn-cs"/>
              </a:defRPr>
            </a:lvl1pPr>
          </a:lstStyle>
          <a:p>
            <a:pPr lvl="0"/>
            <a:r>
              <a:rPr lang="en-US"/>
              <a:t>Write here Department Name</a:t>
            </a:r>
          </a:p>
        </p:txBody>
      </p:sp>
      <p:sp>
        <p:nvSpPr>
          <p:cNvPr id="57" name="Text Placeholder 2">
            <a:extLst>
              <a:ext uri="{FF2B5EF4-FFF2-40B4-BE49-F238E27FC236}">
                <a16:creationId xmlns:a16="http://schemas.microsoft.com/office/drawing/2014/main" xmlns=""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a:gradFill flip="none" rotWithShape="1">
                  <a:gsLst>
                    <a:gs pos="10000">
                      <a:srgbClr val="B71B1C"/>
                    </a:gs>
                    <a:gs pos="100000">
                      <a:srgbClr val="ED524F"/>
                    </a:gs>
                  </a:gsLst>
                  <a:lin ang="0" scaled="1"/>
                </a:gradFill>
                <a:effectLst/>
                <a:latin typeface="+mn-lt"/>
                <a:ea typeface="+mn-ea"/>
                <a:cs typeface="+mn-cs"/>
              </a:defRPr>
            </a:lvl1pPr>
          </a:lstStyle>
          <a:p>
            <a:pPr lvl="0"/>
            <a:r>
              <a:rPr lang="en-US"/>
              <a:t>Write here your Author Name (i.e. Prof. Jay R Dhamsaniya)</a:t>
            </a:r>
          </a:p>
        </p:txBody>
      </p:sp>
      <p:pic>
        <p:nvPicPr>
          <p:cNvPr id="58" name="Picture 57">
            <a:extLst>
              <a:ext uri="{FF2B5EF4-FFF2-40B4-BE49-F238E27FC236}">
                <a16:creationId xmlns:a16="http://schemas.microsoft.com/office/drawing/2014/main" xmlns="" id="{77B7B864-C091-4493-B14B-F5B61B586EED}"/>
              </a:ext>
            </a:extLst>
          </p:cNvPr>
          <p:cNvPicPr>
            <a:picLocks noChangeAspect="1"/>
          </p:cNvPicPr>
          <p:nvPr userDrawn="1"/>
        </p:nvPicPr>
        <p:blipFill>
          <a:blip r:embed="rId9">
            <a:extLst>
              <a:ext uri="{28A0092B-C50C-407E-A947-70E740481C1C}">
                <a14:useLocalDpi xmlns:a14="http://schemas.microsoft.com/office/drawing/2010/main" val="0"/>
              </a:ext>
            </a:extLst>
          </a:blip>
          <a:srcRect l="24746" t="7575" r="25761" b="18186"/>
          <a:stretch>
            <a:fillRect/>
          </a:stretch>
        </p:blipFill>
        <p:spPr>
          <a:xfrm>
            <a:off x="356499" y="5214354"/>
            <a:ext cx="1354234" cy="1354234"/>
          </a:xfrm>
          <a:custGeom>
            <a:avLst/>
            <a:gdLst>
              <a:gd name="connsiteX0" fmla="*/ 2286000 w 4572000"/>
              <a:gd name="connsiteY0" fmla="*/ 0 h 4572000"/>
              <a:gd name="connsiteX1" fmla="*/ 4572000 w 4572000"/>
              <a:gd name="connsiteY1" fmla="*/ 2286000 h 4572000"/>
              <a:gd name="connsiteX2" fmla="*/ 2286000 w 4572000"/>
              <a:gd name="connsiteY2" fmla="*/ 4572000 h 4572000"/>
              <a:gd name="connsiteX3" fmla="*/ 0 w 4572000"/>
              <a:gd name="connsiteY3" fmla="*/ 2286000 h 4572000"/>
              <a:gd name="connsiteX4" fmla="*/ 2286000 w 4572000"/>
              <a:gd name="connsiteY4" fmla="*/ 0 h 4572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72000" h="4572000">
                <a:moveTo>
                  <a:pt x="2286000" y="0"/>
                </a:moveTo>
                <a:cubicBezTo>
                  <a:pt x="3548523" y="0"/>
                  <a:pt x="4572000" y="1023477"/>
                  <a:pt x="4572000" y="2286000"/>
                </a:cubicBezTo>
                <a:cubicBezTo>
                  <a:pt x="4572000" y="3548523"/>
                  <a:pt x="3548523" y="4572000"/>
                  <a:pt x="2286000" y="4572000"/>
                </a:cubicBezTo>
                <a:cubicBezTo>
                  <a:pt x="1023477" y="4572000"/>
                  <a:pt x="0" y="3548523"/>
                  <a:pt x="0" y="2286000"/>
                </a:cubicBezTo>
                <a:cubicBezTo>
                  <a:pt x="0" y="1023477"/>
                  <a:pt x="1023477" y="0"/>
                  <a:pt x="2286000" y="0"/>
                </a:cubicBezTo>
                <a:close/>
              </a:path>
            </a:pathLst>
          </a:custGeom>
          <a:noFill/>
          <a:ln w="6350">
            <a:solidFill>
              <a:schemeClr val="bg1">
                <a:lumMod val="65000"/>
              </a:schemeClr>
            </a:solidFill>
          </a:ln>
          <a:effectLst/>
        </p:spPr>
      </p:pic>
      <p:pic>
        <p:nvPicPr>
          <p:cNvPr id="59" name="Picture 58" descr="User icon Royalty Free Vector Image - VectorStock">
            <a:extLst>
              <a:ext uri="{FF2B5EF4-FFF2-40B4-BE49-F238E27FC236}">
                <a16:creationId xmlns:a16="http://schemas.microsoft.com/office/drawing/2014/main" xmlns="" id="{177B86E9-222D-4757-BE64-59540DB794E6}"/>
              </a:ext>
            </a:extLst>
          </p:cNvPr>
          <p:cNvPicPr>
            <a:picLocks noChangeAspect="1" noChangeArrowheads="1"/>
          </p:cNvPicPr>
          <p:nvPr userDrawn="1"/>
        </p:nvPicPr>
        <p:blipFill>
          <a:blip r:embed="rId10">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60" name="Picture Placeholder 29">
            <a:extLst>
              <a:ext uri="{FF2B5EF4-FFF2-40B4-BE49-F238E27FC236}">
                <a16:creationId xmlns:a16="http://schemas.microsoft.com/office/drawing/2014/main" xmlns="" id="{8ABCD18B-D4E0-41E4-8162-7E83CB11DAE0}"/>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2941827939"/>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Complete Blanck">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xmlns="" id="{9D71C1D1-D056-4C60-9F03-E6291617B71F}"/>
              </a:ext>
            </a:extLst>
          </p:cNvPr>
          <p:cNvSpPr txBox="1"/>
          <p:nvPr userDrawn="1"/>
        </p:nvSpPr>
        <p:spPr>
          <a:xfrm>
            <a:off x="375920" y="457200"/>
            <a:ext cx="4185761" cy="523220"/>
          </a:xfrm>
          <a:prstGeom prst="rect">
            <a:avLst/>
          </a:prstGeom>
          <a:noFill/>
        </p:spPr>
        <p:txBody>
          <a:bodyPr wrap="none" rtlCol="0">
            <a:spAutoFit/>
          </a:bodyPr>
          <a:lstStyle/>
          <a:p>
            <a:r>
              <a:rPr lang="en-US" sz="2800">
                <a:solidFill>
                  <a:srgbClr val="FF0000"/>
                </a:solidFill>
              </a:rPr>
              <a:t>How to Crop Circular Photo?</a:t>
            </a:r>
          </a:p>
        </p:txBody>
      </p:sp>
      <p:sp>
        <p:nvSpPr>
          <p:cNvPr id="11" name="Picture Placeholder 10">
            <a:extLst>
              <a:ext uri="{FF2B5EF4-FFF2-40B4-BE49-F238E27FC236}">
                <a16:creationId xmlns:a16="http://schemas.microsoft.com/office/drawing/2014/main" xmlns="" id="{E0451329-7800-417A-9D19-D93464C6306C}"/>
              </a:ext>
            </a:extLst>
          </p:cNvPr>
          <p:cNvSpPr>
            <a:spLocks noGrp="1"/>
          </p:cNvSpPr>
          <p:nvPr>
            <p:ph type="pic" sz="quarter" idx="10"/>
          </p:nvPr>
        </p:nvSpPr>
        <p:spPr>
          <a:xfrm>
            <a:off x="4013200" y="1808163"/>
            <a:ext cx="3890962" cy="3890962"/>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p:spPr>
        <p:txBody>
          <a:bodyPr wrap="square">
            <a:noAutofit/>
          </a:bodyPr>
          <a:lstStyle/>
          <a:p>
            <a:endParaRPr lang="en-US"/>
          </a:p>
        </p:txBody>
      </p:sp>
    </p:spTree>
    <p:extLst>
      <p:ext uri="{BB962C8B-B14F-4D97-AF65-F5344CB8AC3E}">
        <p14:creationId xmlns:p14="http://schemas.microsoft.com/office/powerpoint/2010/main" val="4003312012"/>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Slide - Teal">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xmlns="" id="{292D9CA8-FA74-4E19-A847-B04F90FC15AC}"/>
              </a:ext>
            </a:extLst>
          </p:cNvPr>
          <p:cNvPicPr>
            <a:picLocks noChangeAspect="1"/>
          </p:cNvPicPr>
          <p:nvPr userDrawn="1"/>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a:fillRect/>
          </a:stretch>
        </p:blipFill>
        <p:spPr>
          <a:xfrm>
            <a:off x="0" y="0"/>
            <a:ext cx="12192000" cy="6858000"/>
          </a:xfrm>
          <a:prstGeom prst="rect">
            <a:avLst/>
          </a:prstGeom>
        </p:spPr>
      </p:pic>
      <p:sp>
        <p:nvSpPr>
          <p:cNvPr id="3" name="TextBox 2">
            <a:extLst>
              <a:ext uri="{FF2B5EF4-FFF2-40B4-BE49-F238E27FC236}">
                <a16:creationId xmlns:a16="http://schemas.microsoft.com/office/drawing/2014/main" xmlns=""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a:t>Darshan Institute of Engineering &amp; Technology, Rajkot</a:t>
            </a:r>
          </a:p>
        </p:txBody>
      </p:sp>
      <p:sp>
        <p:nvSpPr>
          <p:cNvPr id="22" name="Freeform 13">
            <a:extLst>
              <a:ext uri="{FF2B5EF4-FFF2-40B4-BE49-F238E27FC236}">
                <a16:creationId xmlns:a16="http://schemas.microsoft.com/office/drawing/2014/main" xmlns="" id="{EB889181-F145-4E62-A282-E5B77978D1F3}"/>
              </a:ext>
            </a:extLst>
          </p:cNvPr>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4">
                  <a:lumMod val="50000"/>
                </a:schemeClr>
              </a:gs>
              <a:gs pos="100000">
                <a:srgbClr val="009788"/>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xmlns="" id="{5E9DA42E-B221-4BBE-B651-F7171591BCD7}"/>
              </a:ext>
            </a:extLst>
          </p:cNvPr>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4">
                  <a:lumMod val="50000"/>
                </a:schemeClr>
              </a:gs>
              <a:gs pos="100000">
                <a:srgbClr val="009788"/>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xmlns="" id="{73D6466C-3EE8-434C-B5AB-98205AEEA67D}"/>
              </a:ext>
            </a:extLst>
          </p:cNvPr>
          <p:cNvPicPr>
            <a:picLocks noChangeAspect="1"/>
          </p:cNvPicPr>
          <p:nvPr userDrawn="1"/>
        </p:nvPicPr>
        <p:blipFill>
          <a:blip r:embed="rId3">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xmlns="" id="{3CAA64A4-91BA-448F-9474-7895F9C6DBD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xmlns=""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xmlns=""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a:t>Click to edit Master title style</a:t>
            </a:r>
          </a:p>
        </p:txBody>
      </p:sp>
      <p:pic>
        <p:nvPicPr>
          <p:cNvPr id="26" name="Picture 25">
            <a:extLst>
              <a:ext uri="{FF2B5EF4-FFF2-40B4-BE49-F238E27FC236}">
                <a16:creationId xmlns:a16="http://schemas.microsoft.com/office/drawing/2014/main" xmlns="" id="{9812EDA6-C656-492A-A9CA-44B03C639132}"/>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xmlns="" id="{627AEF91-6492-4B0C-A844-2296473B58DE}"/>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xmlns=""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a:t>Click to edit Email Address</a:t>
            </a:r>
          </a:p>
        </p:txBody>
      </p:sp>
      <p:sp>
        <p:nvSpPr>
          <p:cNvPr id="29" name="Text Placeholder 2">
            <a:extLst>
              <a:ext uri="{FF2B5EF4-FFF2-40B4-BE49-F238E27FC236}">
                <a16:creationId xmlns:a16="http://schemas.microsoft.com/office/drawing/2014/main" xmlns=""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a:t>Click to edit Phone No.</a:t>
            </a:r>
          </a:p>
        </p:txBody>
      </p:sp>
      <p:sp>
        <p:nvSpPr>
          <p:cNvPr id="40" name="Text Placeholder 2">
            <a:extLst>
              <a:ext uri="{FF2B5EF4-FFF2-40B4-BE49-F238E27FC236}">
                <a16:creationId xmlns:a16="http://schemas.microsoft.com/office/drawing/2014/main" xmlns=""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a:solidFill>
                  <a:schemeClr val="tx1"/>
                </a:solidFill>
                <a:latin typeface="+mn-lt"/>
                <a:ea typeface="+mn-ea"/>
                <a:cs typeface="+mn-cs"/>
              </a:defRPr>
            </a:lvl1pPr>
          </a:lstStyle>
          <a:p>
            <a:pPr lvl="0"/>
            <a:r>
              <a:rPr lang="en-US"/>
              <a:t>Write here Department Name</a:t>
            </a:r>
          </a:p>
        </p:txBody>
      </p:sp>
      <p:sp>
        <p:nvSpPr>
          <p:cNvPr id="53" name="Text Placeholder 2">
            <a:extLst>
              <a:ext uri="{FF2B5EF4-FFF2-40B4-BE49-F238E27FC236}">
                <a16:creationId xmlns:a16="http://schemas.microsoft.com/office/drawing/2014/main" xmlns=""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a:gradFill flip="none" rotWithShape="1">
                  <a:gsLst>
                    <a:gs pos="10000">
                      <a:schemeClr val="accent4">
                        <a:lumMod val="50000"/>
                      </a:schemeClr>
                    </a:gs>
                    <a:gs pos="100000">
                      <a:srgbClr val="009788"/>
                    </a:gs>
                  </a:gsLst>
                  <a:lin ang="0" scaled="1"/>
                </a:gradFill>
                <a:effectLst/>
                <a:latin typeface="+mn-lt"/>
                <a:ea typeface="+mn-ea"/>
                <a:cs typeface="+mn-cs"/>
              </a:defRPr>
            </a:lvl1pPr>
          </a:lstStyle>
          <a:p>
            <a:pPr lvl="0"/>
            <a:r>
              <a:rPr lang="en-US"/>
              <a:t>Write here your Author Name (i.e. Prof. Jay R Dhamsaniya)</a:t>
            </a:r>
          </a:p>
        </p:txBody>
      </p:sp>
      <p:pic>
        <p:nvPicPr>
          <p:cNvPr id="54" name="Picture 53">
            <a:extLst>
              <a:ext uri="{FF2B5EF4-FFF2-40B4-BE49-F238E27FC236}">
                <a16:creationId xmlns:a16="http://schemas.microsoft.com/office/drawing/2014/main" xmlns=""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xmlns="" id="{34C1356C-E4AA-4B27-A93C-BE84F5D9C601}"/>
              </a:ext>
            </a:extLst>
          </p:cNvPr>
          <p:cNvPicPr>
            <a:picLocks noChangeAspect="1"/>
          </p:cNvPicPr>
          <p:nvPr userDrawn="1"/>
        </p:nvPicPr>
        <p:blipFill>
          <a:blip r:embed="rId8">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a:fillRect/>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xmlns=""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a:solidFill>
                  <a:schemeClr val="lt1"/>
                </a:solidFill>
                <a:latin typeface="+mn-lt"/>
                <a:ea typeface="+mn-ea"/>
                <a:cs typeface="+mn-cs"/>
              </a:defRPr>
            </a:lvl1pPr>
          </a:lstStyle>
          <a:p>
            <a:pPr lvl="0"/>
            <a:r>
              <a:rPr lang="en-US"/>
              <a:t>Write Subject Name (Short Name)</a:t>
            </a:r>
          </a:p>
          <a:p>
            <a:pPr lvl="0"/>
            <a:r>
              <a:rPr lang="en-US"/>
              <a:t>GTU # Subject Code</a:t>
            </a:r>
          </a:p>
        </p:txBody>
      </p:sp>
      <p:pic>
        <p:nvPicPr>
          <p:cNvPr id="20" name="Picture 19" descr="User icon Royalty Free Vector Image - VectorStock">
            <a:extLst>
              <a:ext uri="{FF2B5EF4-FFF2-40B4-BE49-F238E27FC236}">
                <a16:creationId xmlns:a16="http://schemas.microsoft.com/office/drawing/2014/main" xmlns="" id="{4A8E0F54-DC01-449D-B951-DC7CBAFD9546}"/>
              </a:ext>
            </a:extLst>
          </p:cNvPr>
          <p:cNvPicPr>
            <a:picLocks noChangeAspect="1" noChangeArrowheads="1"/>
          </p:cNvPicPr>
          <p:nvPr userDrawn="1"/>
        </p:nvPicPr>
        <p:blipFill>
          <a:blip r:embed="rId10">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21" name="Picture Placeholder 20">
            <a:extLst>
              <a:ext uri="{FF2B5EF4-FFF2-40B4-BE49-F238E27FC236}">
                <a16:creationId xmlns:a16="http://schemas.microsoft.com/office/drawing/2014/main" xmlns="" id="{65D60AFC-04BC-4FCA-A89D-6FCD04B6DC35}"/>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2708880835"/>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Slide - Cya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xmlns="" id="{292D9CA8-FA74-4E19-A847-B04F90FC15AC}"/>
              </a:ext>
            </a:extLst>
          </p:cNvPr>
          <p:cNvPicPr>
            <a:picLocks noChangeAspect="1"/>
          </p:cNvPicPr>
          <p:nvPr userDrawn="1"/>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a:fillRect/>
          </a:stretch>
        </p:blipFill>
        <p:spPr>
          <a:xfrm>
            <a:off x="0" y="0"/>
            <a:ext cx="12192000" cy="6858000"/>
          </a:xfrm>
          <a:prstGeom prst="rect">
            <a:avLst/>
          </a:prstGeom>
        </p:spPr>
      </p:pic>
      <p:sp>
        <p:nvSpPr>
          <p:cNvPr id="3" name="TextBox 2">
            <a:extLst>
              <a:ext uri="{FF2B5EF4-FFF2-40B4-BE49-F238E27FC236}">
                <a16:creationId xmlns:a16="http://schemas.microsoft.com/office/drawing/2014/main" xmlns=""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a:t>Darshan Institute of Engineering &amp; Technology, Rajkot</a:t>
            </a:r>
          </a:p>
        </p:txBody>
      </p:sp>
      <p:sp>
        <p:nvSpPr>
          <p:cNvPr id="22" name="Freeform 13">
            <a:extLst>
              <a:ext uri="{FF2B5EF4-FFF2-40B4-BE49-F238E27FC236}">
                <a16:creationId xmlns:a16="http://schemas.microsoft.com/office/drawing/2014/main" xmlns="" id="{EB889181-F145-4E62-A282-E5B77978D1F3}"/>
              </a:ext>
            </a:extLst>
          </p:cNvPr>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2">
                  <a:lumMod val="50000"/>
                </a:schemeClr>
              </a:gs>
              <a:gs pos="100000">
                <a:schemeClr val="accent2"/>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xmlns="" id="{5E9DA42E-B221-4BBE-B651-F7171591BCD7}"/>
              </a:ext>
            </a:extLst>
          </p:cNvPr>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2">
                  <a:lumMod val="50000"/>
                </a:schemeClr>
              </a:gs>
              <a:gs pos="100000">
                <a:schemeClr val="accent2"/>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xmlns="" id="{73D6466C-3EE8-434C-B5AB-98205AEEA67D}"/>
              </a:ext>
            </a:extLst>
          </p:cNvPr>
          <p:cNvPicPr>
            <a:picLocks noChangeAspect="1"/>
          </p:cNvPicPr>
          <p:nvPr userDrawn="1"/>
        </p:nvPicPr>
        <p:blipFill>
          <a:blip r:embed="rId3">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xmlns="" id="{3CAA64A4-91BA-448F-9474-7895F9C6DBD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xmlns=""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xmlns=""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a:t>Click to edit Master title style</a:t>
            </a:r>
          </a:p>
        </p:txBody>
      </p:sp>
      <p:pic>
        <p:nvPicPr>
          <p:cNvPr id="26" name="Picture 25">
            <a:extLst>
              <a:ext uri="{FF2B5EF4-FFF2-40B4-BE49-F238E27FC236}">
                <a16:creationId xmlns:a16="http://schemas.microsoft.com/office/drawing/2014/main" xmlns="" id="{9812EDA6-C656-492A-A9CA-44B03C639132}"/>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xmlns="" id="{627AEF91-6492-4B0C-A844-2296473B58DE}"/>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xmlns=""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a:t>Click to edit Email Address</a:t>
            </a:r>
          </a:p>
        </p:txBody>
      </p:sp>
      <p:sp>
        <p:nvSpPr>
          <p:cNvPr id="29" name="Text Placeholder 2">
            <a:extLst>
              <a:ext uri="{FF2B5EF4-FFF2-40B4-BE49-F238E27FC236}">
                <a16:creationId xmlns:a16="http://schemas.microsoft.com/office/drawing/2014/main" xmlns=""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a:t>Click to edit Phone No.</a:t>
            </a:r>
          </a:p>
        </p:txBody>
      </p:sp>
      <p:sp>
        <p:nvSpPr>
          <p:cNvPr id="40" name="Text Placeholder 2">
            <a:extLst>
              <a:ext uri="{FF2B5EF4-FFF2-40B4-BE49-F238E27FC236}">
                <a16:creationId xmlns:a16="http://schemas.microsoft.com/office/drawing/2014/main" xmlns=""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a:solidFill>
                  <a:schemeClr val="tx1"/>
                </a:solidFill>
                <a:latin typeface="+mn-lt"/>
                <a:ea typeface="+mn-ea"/>
                <a:cs typeface="+mn-cs"/>
              </a:defRPr>
            </a:lvl1pPr>
          </a:lstStyle>
          <a:p>
            <a:pPr lvl="0"/>
            <a:r>
              <a:rPr lang="en-US"/>
              <a:t>Write here Department Name</a:t>
            </a:r>
          </a:p>
        </p:txBody>
      </p:sp>
      <p:sp>
        <p:nvSpPr>
          <p:cNvPr id="53" name="Text Placeholder 2">
            <a:extLst>
              <a:ext uri="{FF2B5EF4-FFF2-40B4-BE49-F238E27FC236}">
                <a16:creationId xmlns:a16="http://schemas.microsoft.com/office/drawing/2014/main" xmlns=""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a:gradFill flip="none" rotWithShape="1">
                  <a:gsLst>
                    <a:gs pos="10000">
                      <a:schemeClr val="accent2">
                        <a:lumMod val="50000"/>
                      </a:schemeClr>
                    </a:gs>
                    <a:gs pos="100000">
                      <a:schemeClr val="accent2"/>
                    </a:gs>
                  </a:gsLst>
                  <a:lin ang="0" scaled="1"/>
                </a:gradFill>
                <a:effectLst/>
                <a:latin typeface="+mn-lt"/>
                <a:ea typeface="+mn-ea"/>
                <a:cs typeface="+mn-cs"/>
              </a:defRPr>
            </a:lvl1pPr>
          </a:lstStyle>
          <a:p>
            <a:pPr lvl="0"/>
            <a:r>
              <a:rPr lang="en-US"/>
              <a:t>Write here your Author Name (i.e. Prof. Jay R Dhamsaniya)</a:t>
            </a:r>
          </a:p>
        </p:txBody>
      </p:sp>
      <p:pic>
        <p:nvPicPr>
          <p:cNvPr id="54" name="Picture 53">
            <a:extLst>
              <a:ext uri="{FF2B5EF4-FFF2-40B4-BE49-F238E27FC236}">
                <a16:creationId xmlns:a16="http://schemas.microsoft.com/office/drawing/2014/main" xmlns=""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xmlns="" id="{34C1356C-E4AA-4B27-A93C-BE84F5D9C601}"/>
              </a:ext>
            </a:extLst>
          </p:cNvPr>
          <p:cNvPicPr>
            <a:picLocks noChangeAspect="1"/>
          </p:cNvPicPr>
          <p:nvPr userDrawn="1"/>
        </p:nvPicPr>
        <p:blipFill>
          <a:blip r:embed="rId8">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a:fillRect/>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xmlns=""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a:solidFill>
                  <a:schemeClr val="lt1"/>
                </a:solidFill>
                <a:latin typeface="+mn-lt"/>
                <a:ea typeface="+mn-ea"/>
                <a:cs typeface="+mn-cs"/>
              </a:defRPr>
            </a:lvl1pPr>
          </a:lstStyle>
          <a:p>
            <a:pPr lvl="0"/>
            <a:r>
              <a:rPr lang="en-US"/>
              <a:t>Write Subject Name (Short Name)</a:t>
            </a:r>
          </a:p>
          <a:p>
            <a:pPr lvl="0"/>
            <a:r>
              <a:rPr lang="en-US"/>
              <a:t>GTU # Subject Code</a:t>
            </a:r>
          </a:p>
        </p:txBody>
      </p:sp>
      <p:pic>
        <p:nvPicPr>
          <p:cNvPr id="30" name="Picture 29" descr="User icon Royalty Free Vector Image - VectorStock">
            <a:extLst>
              <a:ext uri="{FF2B5EF4-FFF2-40B4-BE49-F238E27FC236}">
                <a16:creationId xmlns:a16="http://schemas.microsoft.com/office/drawing/2014/main" xmlns="" id="{5F55812D-505A-4B1A-9EB5-16DCD08F2B82}"/>
              </a:ext>
            </a:extLst>
          </p:cNvPr>
          <p:cNvPicPr>
            <a:picLocks noChangeAspect="1" noChangeArrowheads="1"/>
          </p:cNvPicPr>
          <p:nvPr userDrawn="1"/>
        </p:nvPicPr>
        <p:blipFill>
          <a:blip r:embed="rId10">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4" name="Picture Placeholder 33">
            <a:extLst>
              <a:ext uri="{FF2B5EF4-FFF2-40B4-BE49-F238E27FC236}">
                <a16:creationId xmlns:a16="http://schemas.microsoft.com/office/drawing/2014/main" xmlns="" id="{0974588E-8956-4BF5-BF58-B7E42070A56A}"/>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764570402"/>
      </p:ext>
    </p:extLst>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Slide - Light Gree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xmlns="" id="{292D9CA8-FA74-4E19-A847-B04F90FC15AC}"/>
              </a:ext>
            </a:extLst>
          </p:cNvPr>
          <p:cNvPicPr>
            <a:picLocks noChangeAspect="1"/>
          </p:cNvPicPr>
          <p:nvPr userDrawn="1"/>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a:fillRect/>
          </a:stretch>
        </p:blipFill>
        <p:spPr>
          <a:xfrm>
            <a:off x="0" y="0"/>
            <a:ext cx="12192000" cy="6858000"/>
          </a:xfrm>
          <a:prstGeom prst="rect">
            <a:avLst/>
          </a:prstGeom>
        </p:spPr>
      </p:pic>
      <p:sp>
        <p:nvSpPr>
          <p:cNvPr id="3" name="TextBox 2">
            <a:extLst>
              <a:ext uri="{FF2B5EF4-FFF2-40B4-BE49-F238E27FC236}">
                <a16:creationId xmlns:a16="http://schemas.microsoft.com/office/drawing/2014/main" xmlns=""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a:t>Darshan Institute of Engineering &amp; Technology, Rajkot</a:t>
            </a:r>
          </a:p>
        </p:txBody>
      </p:sp>
      <p:sp>
        <p:nvSpPr>
          <p:cNvPr id="22" name="Freeform 13">
            <a:extLst>
              <a:ext uri="{FF2B5EF4-FFF2-40B4-BE49-F238E27FC236}">
                <a16:creationId xmlns:a16="http://schemas.microsoft.com/office/drawing/2014/main" xmlns="" id="{EB889181-F145-4E62-A282-E5B77978D1F3}"/>
              </a:ext>
            </a:extLst>
          </p:cNvPr>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3">
                  <a:lumMod val="50000"/>
                </a:schemeClr>
              </a:gs>
              <a:gs pos="100000">
                <a:schemeClr val="accent3"/>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xmlns="" id="{5E9DA42E-B221-4BBE-B651-F7171591BCD7}"/>
              </a:ext>
            </a:extLst>
          </p:cNvPr>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3">
                  <a:lumMod val="50000"/>
                </a:schemeClr>
              </a:gs>
              <a:gs pos="100000">
                <a:schemeClr val="accent3"/>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xmlns="" id="{73D6466C-3EE8-434C-B5AB-98205AEEA67D}"/>
              </a:ext>
            </a:extLst>
          </p:cNvPr>
          <p:cNvPicPr>
            <a:picLocks noChangeAspect="1"/>
          </p:cNvPicPr>
          <p:nvPr userDrawn="1"/>
        </p:nvPicPr>
        <p:blipFill>
          <a:blip r:embed="rId3">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xmlns="" id="{3CAA64A4-91BA-448F-9474-7895F9C6DBD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xmlns=""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xmlns=""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a:t>Click to edit Master title style</a:t>
            </a:r>
          </a:p>
        </p:txBody>
      </p:sp>
      <p:pic>
        <p:nvPicPr>
          <p:cNvPr id="26" name="Picture 25">
            <a:extLst>
              <a:ext uri="{FF2B5EF4-FFF2-40B4-BE49-F238E27FC236}">
                <a16:creationId xmlns:a16="http://schemas.microsoft.com/office/drawing/2014/main" xmlns="" id="{9812EDA6-C656-492A-A9CA-44B03C639132}"/>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xmlns="" id="{627AEF91-6492-4B0C-A844-2296473B58DE}"/>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xmlns=""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a:t>Click to edit Email Address</a:t>
            </a:r>
          </a:p>
        </p:txBody>
      </p:sp>
      <p:sp>
        <p:nvSpPr>
          <p:cNvPr id="29" name="Text Placeholder 2">
            <a:extLst>
              <a:ext uri="{FF2B5EF4-FFF2-40B4-BE49-F238E27FC236}">
                <a16:creationId xmlns:a16="http://schemas.microsoft.com/office/drawing/2014/main" xmlns=""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a:t>Click to edit Phone No.</a:t>
            </a:r>
          </a:p>
        </p:txBody>
      </p:sp>
      <p:sp>
        <p:nvSpPr>
          <p:cNvPr id="40" name="Text Placeholder 2">
            <a:extLst>
              <a:ext uri="{FF2B5EF4-FFF2-40B4-BE49-F238E27FC236}">
                <a16:creationId xmlns:a16="http://schemas.microsoft.com/office/drawing/2014/main" xmlns=""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a:solidFill>
                  <a:schemeClr val="tx1"/>
                </a:solidFill>
                <a:latin typeface="+mn-lt"/>
                <a:ea typeface="+mn-ea"/>
                <a:cs typeface="+mn-cs"/>
              </a:defRPr>
            </a:lvl1pPr>
          </a:lstStyle>
          <a:p>
            <a:pPr lvl="0"/>
            <a:r>
              <a:rPr lang="en-US"/>
              <a:t>Write here Department Name</a:t>
            </a:r>
          </a:p>
        </p:txBody>
      </p:sp>
      <p:sp>
        <p:nvSpPr>
          <p:cNvPr id="53" name="Text Placeholder 2">
            <a:extLst>
              <a:ext uri="{FF2B5EF4-FFF2-40B4-BE49-F238E27FC236}">
                <a16:creationId xmlns:a16="http://schemas.microsoft.com/office/drawing/2014/main" xmlns=""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a:gradFill flip="none" rotWithShape="1">
                  <a:gsLst>
                    <a:gs pos="10000">
                      <a:schemeClr val="accent3">
                        <a:lumMod val="50000"/>
                      </a:schemeClr>
                    </a:gs>
                    <a:gs pos="100000">
                      <a:schemeClr val="accent3"/>
                    </a:gs>
                  </a:gsLst>
                  <a:lin ang="0" scaled="1"/>
                </a:gradFill>
                <a:effectLst/>
                <a:latin typeface="+mn-lt"/>
                <a:ea typeface="+mn-ea"/>
                <a:cs typeface="+mn-cs"/>
              </a:defRPr>
            </a:lvl1pPr>
          </a:lstStyle>
          <a:p>
            <a:pPr lvl="0"/>
            <a:r>
              <a:rPr lang="en-US"/>
              <a:t>Write here your Author Name (i.e. Prof. Jay R Dhamsaniya)</a:t>
            </a:r>
          </a:p>
        </p:txBody>
      </p:sp>
      <p:pic>
        <p:nvPicPr>
          <p:cNvPr id="54" name="Picture 53">
            <a:extLst>
              <a:ext uri="{FF2B5EF4-FFF2-40B4-BE49-F238E27FC236}">
                <a16:creationId xmlns:a16="http://schemas.microsoft.com/office/drawing/2014/main" xmlns=""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xmlns="" id="{34C1356C-E4AA-4B27-A93C-BE84F5D9C601}"/>
              </a:ext>
            </a:extLst>
          </p:cNvPr>
          <p:cNvPicPr>
            <a:picLocks noChangeAspect="1"/>
          </p:cNvPicPr>
          <p:nvPr userDrawn="1"/>
        </p:nvPicPr>
        <p:blipFill>
          <a:blip r:embed="rId8">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a:fillRect/>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xmlns=""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a:solidFill>
                  <a:schemeClr val="lt1"/>
                </a:solidFill>
                <a:latin typeface="+mn-lt"/>
                <a:ea typeface="+mn-ea"/>
                <a:cs typeface="+mn-cs"/>
              </a:defRPr>
            </a:lvl1pPr>
          </a:lstStyle>
          <a:p>
            <a:pPr lvl="0"/>
            <a:r>
              <a:rPr lang="en-US"/>
              <a:t>Write Subject Name (Short Name)</a:t>
            </a:r>
          </a:p>
          <a:p>
            <a:pPr lvl="0"/>
            <a:r>
              <a:rPr lang="en-US"/>
              <a:t>GTU # Subject Code</a:t>
            </a:r>
          </a:p>
        </p:txBody>
      </p:sp>
      <p:pic>
        <p:nvPicPr>
          <p:cNvPr id="21" name="Picture 20" descr="User icon Royalty Free Vector Image - VectorStock">
            <a:extLst>
              <a:ext uri="{FF2B5EF4-FFF2-40B4-BE49-F238E27FC236}">
                <a16:creationId xmlns:a16="http://schemas.microsoft.com/office/drawing/2014/main" xmlns="" id="{AE6570A8-081D-45CE-A0DD-F78F5EDB0F9B}"/>
              </a:ext>
            </a:extLst>
          </p:cNvPr>
          <p:cNvPicPr>
            <a:picLocks noChangeAspect="1" noChangeArrowheads="1"/>
          </p:cNvPicPr>
          <p:nvPr userDrawn="1"/>
        </p:nvPicPr>
        <p:blipFill>
          <a:blip r:embed="rId10">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xmlns="" id="{0B000B32-CB56-440D-9FAE-7DE703A93A02}"/>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785033946"/>
      </p:ext>
    </p:extLst>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Slide - Amber">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xmlns="" id="{292D9CA8-FA74-4E19-A847-B04F90FC15AC}"/>
              </a:ext>
            </a:extLst>
          </p:cNvPr>
          <p:cNvPicPr>
            <a:picLocks noChangeAspect="1"/>
          </p:cNvPicPr>
          <p:nvPr userDrawn="1"/>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a:fillRect/>
          </a:stretch>
        </p:blipFill>
        <p:spPr>
          <a:xfrm>
            <a:off x="0" y="0"/>
            <a:ext cx="12192000" cy="6858000"/>
          </a:xfrm>
          <a:prstGeom prst="rect">
            <a:avLst/>
          </a:prstGeom>
        </p:spPr>
      </p:pic>
      <p:sp>
        <p:nvSpPr>
          <p:cNvPr id="3" name="TextBox 2">
            <a:extLst>
              <a:ext uri="{FF2B5EF4-FFF2-40B4-BE49-F238E27FC236}">
                <a16:creationId xmlns:a16="http://schemas.microsoft.com/office/drawing/2014/main" xmlns=""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a:t>Darshan Institute of Engineering &amp; Technology, Rajkot</a:t>
            </a:r>
          </a:p>
        </p:txBody>
      </p:sp>
      <p:sp>
        <p:nvSpPr>
          <p:cNvPr id="22" name="Freeform 13">
            <a:extLst>
              <a:ext uri="{FF2B5EF4-FFF2-40B4-BE49-F238E27FC236}">
                <a16:creationId xmlns:a16="http://schemas.microsoft.com/office/drawing/2014/main" xmlns="" id="{EB889181-F145-4E62-A282-E5B77978D1F3}"/>
              </a:ext>
            </a:extLst>
          </p:cNvPr>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5">
                  <a:lumMod val="50000"/>
                </a:schemeClr>
              </a:gs>
              <a:gs pos="100000">
                <a:schemeClr val="accent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xmlns="" id="{5E9DA42E-B221-4BBE-B651-F7171591BCD7}"/>
              </a:ext>
            </a:extLst>
          </p:cNvPr>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5">
                  <a:lumMod val="50000"/>
                </a:schemeClr>
              </a:gs>
              <a:gs pos="100000">
                <a:schemeClr val="accent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xmlns="" id="{73D6466C-3EE8-434C-B5AB-98205AEEA67D}"/>
              </a:ext>
            </a:extLst>
          </p:cNvPr>
          <p:cNvPicPr>
            <a:picLocks noChangeAspect="1"/>
          </p:cNvPicPr>
          <p:nvPr userDrawn="1"/>
        </p:nvPicPr>
        <p:blipFill>
          <a:blip r:embed="rId3">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xmlns="" id="{3CAA64A4-91BA-448F-9474-7895F9C6DBD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xmlns=""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xmlns=""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a:t>Click to edit Master title style</a:t>
            </a:r>
          </a:p>
        </p:txBody>
      </p:sp>
      <p:pic>
        <p:nvPicPr>
          <p:cNvPr id="26" name="Picture 25">
            <a:extLst>
              <a:ext uri="{FF2B5EF4-FFF2-40B4-BE49-F238E27FC236}">
                <a16:creationId xmlns:a16="http://schemas.microsoft.com/office/drawing/2014/main" xmlns="" id="{9812EDA6-C656-492A-A9CA-44B03C639132}"/>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xmlns="" id="{627AEF91-6492-4B0C-A844-2296473B58DE}"/>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xmlns=""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a:t>Click to edit Email Address</a:t>
            </a:r>
          </a:p>
        </p:txBody>
      </p:sp>
      <p:sp>
        <p:nvSpPr>
          <p:cNvPr id="29" name="Text Placeholder 2">
            <a:extLst>
              <a:ext uri="{FF2B5EF4-FFF2-40B4-BE49-F238E27FC236}">
                <a16:creationId xmlns:a16="http://schemas.microsoft.com/office/drawing/2014/main" xmlns=""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a:t>Click to edit Phone No.</a:t>
            </a:r>
          </a:p>
        </p:txBody>
      </p:sp>
      <p:sp>
        <p:nvSpPr>
          <p:cNvPr id="40" name="Text Placeholder 2">
            <a:extLst>
              <a:ext uri="{FF2B5EF4-FFF2-40B4-BE49-F238E27FC236}">
                <a16:creationId xmlns:a16="http://schemas.microsoft.com/office/drawing/2014/main" xmlns=""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a:solidFill>
                  <a:schemeClr val="tx1"/>
                </a:solidFill>
                <a:latin typeface="+mn-lt"/>
                <a:ea typeface="+mn-ea"/>
                <a:cs typeface="+mn-cs"/>
              </a:defRPr>
            </a:lvl1pPr>
          </a:lstStyle>
          <a:p>
            <a:pPr lvl="0"/>
            <a:r>
              <a:rPr lang="en-US"/>
              <a:t>Write here Department Name</a:t>
            </a:r>
          </a:p>
        </p:txBody>
      </p:sp>
      <p:sp>
        <p:nvSpPr>
          <p:cNvPr id="53" name="Text Placeholder 2">
            <a:extLst>
              <a:ext uri="{FF2B5EF4-FFF2-40B4-BE49-F238E27FC236}">
                <a16:creationId xmlns:a16="http://schemas.microsoft.com/office/drawing/2014/main" xmlns=""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a:gradFill flip="none" rotWithShape="1">
                  <a:gsLst>
                    <a:gs pos="10000">
                      <a:schemeClr val="accent5">
                        <a:lumMod val="75000"/>
                      </a:schemeClr>
                    </a:gs>
                    <a:gs pos="100000">
                      <a:schemeClr val="accent5"/>
                    </a:gs>
                  </a:gsLst>
                  <a:lin ang="0" scaled="1"/>
                </a:gradFill>
                <a:effectLst/>
                <a:latin typeface="+mn-lt"/>
                <a:ea typeface="+mn-ea"/>
                <a:cs typeface="+mn-cs"/>
              </a:defRPr>
            </a:lvl1pPr>
          </a:lstStyle>
          <a:p>
            <a:pPr lvl="0"/>
            <a:r>
              <a:rPr lang="en-US"/>
              <a:t>Write here your Author Name (i.e. Prof. Jay R Dhamsaniya)</a:t>
            </a:r>
          </a:p>
        </p:txBody>
      </p:sp>
      <p:pic>
        <p:nvPicPr>
          <p:cNvPr id="54" name="Picture 53">
            <a:extLst>
              <a:ext uri="{FF2B5EF4-FFF2-40B4-BE49-F238E27FC236}">
                <a16:creationId xmlns:a16="http://schemas.microsoft.com/office/drawing/2014/main" xmlns=""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xmlns="" id="{34C1356C-E4AA-4B27-A93C-BE84F5D9C601}"/>
              </a:ext>
            </a:extLst>
          </p:cNvPr>
          <p:cNvPicPr>
            <a:picLocks noChangeAspect="1"/>
          </p:cNvPicPr>
          <p:nvPr userDrawn="1"/>
        </p:nvPicPr>
        <p:blipFill>
          <a:blip r:embed="rId8">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a:fillRect/>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xmlns=""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a:solidFill>
                  <a:schemeClr val="lt1"/>
                </a:solidFill>
                <a:latin typeface="+mn-lt"/>
                <a:ea typeface="+mn-ea"/>
                <a:cs typeface="+mn-cs"/>
              </a:defRPr>
            </a:lvl1pPr>
          </a:lstStyle>
          <a:p>
            <a:pPr lvl="0"/>
            <a:r>
              <a:rPr lang="en-US"/>
              <a:t>Write Subject Name (Short Name)</a:t>
            </a:r>
          </a:p>
          <a:p>
            <a:pPr lvl="0"/>
            <a:r>
              <a:rPr lang="en-US"/>
              <a:t>GTU # Subject Code</a:t>
            </a:r>
          </a:p>
        </p:txBody>
      </p:sp>
      <p:pic>
        <p:nvPicPr>
          <p:cNvPr id="21" name="Picture 20" descr="User icon Royalty Free Vector Image - VectorStock">
            <a:extLst>
              <a:ext uri="{FF2B5EF4-FFF2-40B4-BE49-F238E27FC236}">
                <a16:creationId xmlns:a16="http://schemas.microsoft.com/office/drawing/2014/main" xmlns="" id="{00C9ED70-1CC8-4EF2-BE10-AAFE24AAC5D7}"/>
              </a:ext>
            </a:extLst>
          </p:cNvPr>
          <p:cNvPicPr>
            <a:picLocks noChangeAspect="1" noChangeArrowheads="1"/>
          </p:cNvPicPr>
          <p:nvPr userDrawn="1"/>
        </p:nvPicPr>
        <p:blipFill>
          <a:blip r:embed="rId10">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xmlns="" id="{7FD1CDD6-829C-4C5B-BFB7-74153A66FF24}"/>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615859789"/>
      </p:ext>
    </p:extLst>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Slide - Maroon">
    <p:spTree>
      <p:nvGrpSpPr>
        <p:cNvPr id="1" name=""/>
        <p:cNvGrpSpPr/>
        <p:nvPr/>
      </p:nvGrpSpPr>
      <p:grpSpPr>
        <a:xfrm>
          <a:off x="0" y="0"/>
          <a:ext cx="0" cy="0"/>
          <a:chOff x="0" y="0"/>
          <a:chExt cx="0" cy="0"/>
        </a:xfrm>
      </p:grpSpPr>
      <p:pic>
        <p:nvPicPr>
          <p:cNvPr id="34" name="Picture 4" descr="https://cdn5.vectorstock.com/i/1000x1000/21/59/dbms-database-management-system-computer-data-vector-8212159.jpg"/>
          <p:cNvPicPr>
            <a:picLocks noChangeAspect="1" noChangeArrowheads="1"/>
          </p:cNvPicPr>
          <p:nvPr userDrawn="1"/>
        </p:nvPicPr>
        <p:blipFill>
          <a:blip r:embed="rId2">
            <a:extLst>
              <a:ext uri="{28A0092B-C50C-407E-A947-70E740481C1C}">
                <a14:useLocalDpi xmlns:a14="http://schemas.microsoft.com/office/drawing/2010/main" val="0"/>
              </a:ext>
            </a:extLst>
          </a:blip>
          <a:srcRect l="6294" t="9689" r="5315" b="18089"/>
          <a:stretch>
            <a:fillRect/>
          </a:stretch>
        </p:blipFill>
        <p:spPr bwMode="auto">
          <a:xfrm>
            <a:off x="8407803" y="2089594"/>
            <a:ext cx="2880000" cy="2678811"/>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24">
            <a:extLst>
              <a:ext uri="{FF2B5EF4-FFF2-40B4-BE49-F238E27FC236}">
                <a16:creationId xmlns:a16="http://schemas.microsoft.com/office/drawing/2014/main" xmlns="" id="{292D9CA8-FA74-4E19-A847-B04F90FC15AC}"/>
              </a:ext>
            </a:extLst>
          </p:cNvPr>
          <p:cNvPicPr>
            <a:picLocks noChangeAspect="1"/>
          </p:cNvPicPr>
          <p:nvPr userDrawn="1"/>
        </p:nvPicPr>
        <p:blipFill>
          <a:blip r:embed="rId3">
            <a:duotone>
              <a:schemeClr val="accent1">
                <a:shade val="45000"/>
                <a:satMod val="135000"/>
              </a:schemeClr>
              <a:prstClr val="white"/>
            </a:duotone>
            <a:extLst>
              <a:ext uri="{28A0092B-C50C-407E-A947-70E740481C1C}">
                <a14:useLocalDpi xmlns:a14="http://schemas.microsoft.com/office/drawing/2010/main" val="0"/>
              </a:ext>
            </a:extLst>
          </a:blip>
          <a:srcRect t="18750" b="25000"/>
          <a:stretch>
            <a:fillRect/>
          </a:stretch>
        </p:blipFill>
        <p:spPr>
          <a:xfrm>
            <a:off x="0" y="0"/>
            <a:ext cx="12192000" cy="6858000"/>
          </a:xfrm>
          <a:prstGeom prst="rect">
            <a:avLst/>
          </a:prstGeom>
        </p:spPr>
      </p:pic>
      <p:sp>
        <p:nvSpPr>
          <p:cNvPr id="3" name="TextBox 2">
            <a:extLst>
              <a:ext uri="{FF2B5EF4-FFF2-40B4-BE49-F238E27FC236}">
                <a16:creationId xmlns:a16="http://schemas.microsoft.com/office/drawing/2014/main" xmlns="" id="{66A9211E-289E-4822-AE7F-7B95A873EBBD}"/>
              </a:ext>
            </a:extLst>
          </p:cNvPr>
          <p:cNvSpPr txBox="1"/>
          <p:nvPr userDrawn="1"/>
        </p:nvSpPr>
        <p:spPr>
          <a:xfrm>
            <a:off x="1837677" y="5802204"/>
            <a:ext cx="2302233" cy="338554"/>
          </a:xfrm>
          <a:prstGeom prst="rect">
            <a:avLst/>
          </a:prstGeom>
          <a:noFill/>
        </p:spPr>
        <p:txBody>
          <a:bodyPr wrap="none" rtlCol="0">
            <a:spAutoFit/>
          </a:bodyPr>
          <a:lstStyle/>
          <a:p>
            <a:r>
              <a:rPr lang="en-US" sz="1600" dirty="0"/>
              <a:t>Nepal Engineering College</a:t>
            </a:r>
          </a:p>
        </p:txBody>
      </p:sp>
      <p:sp>
        <p:nvSpPr>
          <p:cNvPr id="22" name="Freeform 13">
            <a:extLst>
              <a:ext uri="{FF2B5EF4-FFF2-40B4-BE49-F238E27FC236}">
                <a16:creationId xmlns:a16="http://schemas.microsoft.com/office/drawing/2014/main" xmlns="" id="{EB889181-F145-4E62-A282-E5B77978D1F3}"/>
              </a:ext>
            </a:extLst>
          </p:cNvPr>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chemeClr val="accent6">
                  <a:lumMod val="50000"/>
                </a:schemeClr>
              </a:gs>
              <a:gs pos="100000">
                <a:schemeClr val="accent6"/>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xmlns="" id="{5E9DA42E-B221-4BBE-B651-F7171591BCD7}"/>
              </a:ext>
            </a:extLst>
          </p:cNvPr>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6">
                  <a:lumMod val="50000"/>
                </a:schemeClr>
              </a:gs>
              <a:gs pos="100000">
                <a:schemeClr val="accent6"/>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xmlns="" id="{73D6466C-3EE8-434C-B5AB-98205AEEA67D}"/>
              </a:ext>
            </a:extLst>
          </p:cNvPr>
          <p:cNvPicPr>
            <a:picLocks noChangeAspect="1"/>
          </p:cNvPicPr>
          <p:nvPr userDrawn="1"/>
        </p:nvPicPr>
        <p:blipFill>
          <a:blip r:embed="rId4">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cxnSp>
        <p:nvCxnSpPr>
          <p:cNvPr id="45" name="Straight Connector 44">
            <a:extLst>
              <a:ext uri="{FF2B5EF4-FFF2-40B4-BE49-F238E27FC236}">
                <a16:creationId xmlns:a16="http://schemas.microsoft.com/office/drawing/2014/main" xmlns=""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xmlns=""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a:t>Click to edit Master title style</a:t>
            </a:r>
          </a:p>
        </p:txBody>
      </p:sp>
      <p:pic>
        <p:nvPicPr>
          <p:cNvPr id="26" name="Picture 25">
            <a:extLst>
              <a:ext uri="{FF2B5EF4-FFF2-40B4-BE49-F238E27FC236}">
                <a16:creationId xmlns:a16="http://schemas.microsoft.com/office/drawing/2014/main" xmlns="" id="{9812EDA6-C656-492A-A9CA-44B03C639132}"/>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sp>
        <p:nvSpPr>
          <p:cNvPr id="28" name="Text Placeholder 2">
            <a:extLst>
              <a:ext uri="{FF2B5EF4-FFF2-40B4-BE49-F238E27FC236}">
                <a16:creationId xmlns:a16="http://schemas.microsoft.com/office/drawing/2014/main" xmlns=""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a:t>Click to edit Email Address</a:t>
            </a:r>
          </a:p>
        </p:txBody>
      </p:sp>
      <p:sp>
        <p:nvSpPr>
          <p:cNvPr id="40" name="Text Placeholder 2">
            <a:extLst>
              <a:ext uri="{FF2B5EF4-FFF2-40B4-BE49-F238E27FC236}">
                <a16:creationId xmlns:a16="http://schemas.microsoft.com/office/drawing/2014/main" xmlns=""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a:solidFill>
                  <a:schemeClr val="tx1"/>
                </a:solidFill>
                <a:latin typeface="+mn-lt"/>
                <a:ea typeface="+mn-ea"/>
                <a:cs typeface="+mn-cs"/>
              </a:defRPr>
            </a:lvl1pPr>
          </a:lstStyle>
          <a:p>
            <a:pPr lvl="0"/>
            <a:r>
              <a:rPr lang="en-US"/>
              <a:t>Write here Department Name</a:t>
            </a:r>
          </a:p>
        </p:txBody>
      </p:sp>
      <p:sp>
        <p:nvSpPr>
          <p:cNvPr id="53" name="Text Placeholder 2">
            <a:extLst>
              <a:ext uri="{FF2B5EF4-FFF2-40B4-BE49-F238E27FC236}">
                <a16:creationId xmlns:a16="http://schemas.microsoft.com/office/drawing/2014/main" xmlns=""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a:gradFill flip="none" rotWithShape="1">
                  <a:gsLst>
                    <a:gs pos="10000">
                      <a:schemeClr val="accent6">
                        <a:lumMod val="50000"/>
                      </a:schemeClr>
                    </a:gs>
                    <a:gs pos="100000">
                      <a:schemeClr val="accent6"/>
                    </a:gs>
                  </a:gsLst>
                  <a:lin ang="0" scaled="1"/>
                </a:gradFill>
                <a:effectLst/>
                <a:latin typeface="+mn-lt"/>
                <a:ea typeface="+mn-ea"/>
                <a:cs typeface="+mn-cs"/>
              </a:defRPr>
            </a:lvl1pPr>
          </a:lstStyle>
          <a:p>
            <a:pPr lvl="0"/>
            <a:r>
              <a:rPr lang="en-US"/>
              <a:t>Write here your Author Name (i.e. Prof. Jay R Dhamsaniya)</a:t>
            </a:r>
          </a:p>
        </p:txBody>
      </p:sp>
      <p:pic>
        <p:nvPicPr>
          <p:cNvPr id="55" name="Picture 54">
            <a:extLst>
              <a:ext uri="{FF2B5EF4-FFF2-40B4-BE49-F238E27FC236}">
                <a16:creationId xmlns:a16="http://schemas.microsoft.com/office/drawing/2014/main" xmlns="" id="{34C1356C-E4AA-4B27-A93C-BE84F5D9C601}"/>
              </a:ext>
            </a:extLst>
          </p:cNvPr>
          <p:cNvPicPr>
            <a:picLocks noChangeAspect="1"/>
          </p:cNvPicPr>
          <p:nvPr userDrawn="1"/>
        </p:nvPicPr>
        <p:blipFill>
          <a:blip r:embed="rId6">
            <a:extLst>
              <a:ext uri="{BEBA8EAE-BF5A-486C-A8C5-ECC9F3942E4B}">
                <a14:imgProps xmlns:a14="http://schemas.microsoft.com/office/drawing/2010/main">
                  <a14:imgLayer r:embed="rId7">
                    <a14:imgEffect>
                      <a14:brightnessContrast contrast="-40000"/>
                    </a14:imgEffect>
                  </a14:imgLayer>
                </a14:imgProps>
              </a:ext>
              <a:ext uri="{28A0092B-C50C-407E-A947-70E740481C1C}">
                <a14:useLocalDpi xmlns:a14="http://schemas.microsoft.com/office/drawing/2010/main" val="0"/>
              </a:ext>
            </a:extLst>
          </a:blip>
          <a:srcRect l="62023" t="18062" r="2731" b="17724"/>
          <a:stretch>
            <a:fillRect/>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xmlns=""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a:solidFill>
                  <a:schemeClr val="lt1"/>
                </a:solidFill>
                <a:latin typeface="+mn-lt"/>
                <a:ea typeface="+mn-ea"/>
                <a:cs typeface="+mn-cs"/>
              </a:defRPr>
            </a:lvl1pPr>
          </a:lstStyle>
          <a:p>
            <a:pPr lvl="0"/>
            <a:r>
              <a:rPr lang="en-US"/>
              <a:t>Write Subject Name (Short Name)</a:t>
            </a:r>
          </a:p>
          <a:p>
            <a:pPr lvl="0"/>
            <a:r>
              <a:rPr lang="en-US"/>
              <a:t>GTU # Subject Code</a:t>
            </a:r>
          </a:p>
        </p:txBody>
      </p:sp>
      <p:pic>
        <p:nvPicPr>
          <p:cNvPr id="31" name="Picture 30"/>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a:xfrm>
            <a:off x="8454789" y="1795212"/>
            <a:ext cx="2880360" cy="2774747"/>
          </a:xfrm>
          <a:prstGeom prst="rect">
            <a:avLst/>
          </a:prstGeom>
        </p:spPr>
      </p:pic>
    </p:spTree>
    <p:extLst>
      <p:ext uri="{BB962C8B-B14F-4D97-AF65-F5344CB8AC3E}">
        <p14:creationId xmlns:p14="http://schemas.microsoft.com/office/powerpoint/2010/main" val="2731625911"/>
      </p:ext>
    </p:extLst>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Slide - Blue Gray">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xmlns="" id="{292D9CA8-FA74-4E19-A847-B04F90FC15AC}"/>
              </a:ext>
            </a:extLst>
          </p:cNvPr>
          <p:cNvPicPr>
            <a:picLocks noChangeAspect="1"/>
          </p:cNvPicPr>
          <p:nvPr userDrawn="1"/>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a:fillRect/>
          </a:stretch>
        </p:blipFill>
        <p:spPr>
          <a:xfrm>
            <a:off x="0" y="0"/>
            <a:ext cx="12192000" cy="6858000"/>
          </a:xfrm>
          <a:prstGeom prst="rect">
            <a:avLst/>
          </a:prstGeom>
        </p:spPr>
      </p:pic>
      <p:sp>
        <p:nvSpPr>
          <p:cNvPr id="3" name="TextBox 2">
            <a:extLst>
              <a:ext uri="{FF2B5EF4-FFF2-40B4-BE49-F238E27FC236}">
                <a16:creationId xmlns:a16="http://schemas.microsoft.com/office/drawing/2014/main" xmlns=""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a:t>Darshan Institute of Engineering &amp; Technology, Rajkot</a:t>
            </a:r>
          </a:p>
        </p:txBody>
      </p:sp>
      <p:sp>
        <p:nvSpPr>
          <p:cNvPr id="22" name="Freeform 13">
            <a:extLst>
              <a:ext uri="{FF2B5EF4-FFF2-40B4-BE49-F238E27FC236}">
                <a16:creationId xmlns:a16="http://schemas.microsoft.com/office/drawing/2014/main" xmlns="" id="{EB889181-F145-4E62-A282-E5B77978D1F3}"/>
              </a:ext>
            </a:extLst>
          </p:cNvPr>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xmlns="" id="{5E9DA42E-B221-4BBE-B651-F7171591BCD7}"/>
              </a:ext>
            </a:extLst>
          </p:cNvPr>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xmlns="" id="{73D6466C-3EE8-434C-B5AB-98205AEEA67D}"/>
              </a:ext>
            </a:extLst>
          </p:cNvPr>
          <p:cNvPicPr>
            <a:picLocks noChangeAspect="1"/>
          </p:cNvPicPr>
          <p:nvPr userDrawn="1"/>
        </p:nvPicPr>
        <p:blipFill>
          <a:blip r:embed="rId3">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xmlns="" id="{3CAA64A4-91BA-448F-9474-7895F9C6DBD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xmlns=""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xmlns=""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a:t>Click to edit Master title style</a:t>
            </a:r>
          </a:p>
        </p:txBody>
      </p:sp>
      <p:pic>
        <p:nvPicPr>
          <p:cNvPr id="26" name="Picture 25">
            <a:extLst>
              <a:ext uri="{FF2B5EF4-FFF2-40B4-BE49-F238E27FC236}">
                <a16:creationId xmlns:a16="http://schemas.microsoft.com/office/drawing/2014/main" xmlns="" id="{9812EDA6-C656-492A-A9CA-44B03C639132}"/>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xmlns="" id="{627AEF91-6492-4B0C-A844-2296473B58DE}"/>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xmlns=""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a:t>Click to edit Email Address</a:t>
            </a:r>
          </a:p>
        </p:txBody>
      </p:sp>
      <p:sp>
        <p:nvSpPr>
          <p:cNvPr id="29" name="Text Placeholder 2">
            <a:extLst>
              <a:ext uri="{FF2B5EF4-FFF2-40B4-BE49-F238E27FC236}">
                <a16:creationId xmlns:a16="http://schemas.microsoft.com/office/drawing/2014/main" xmlns=""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a:t>Click to edit Phone No.</a:t>
            </a:r>
          </a:p>
        </p:txBody>
      </p:sp>
      <p:sp>
        <p:nvSpPr>
          <p:cNvPr id="40" name="Text Placeholder 2">
            <a:extLst>
              <a:ext uri="{FF2B5EF4-FFF2-40B4-BE49-F238E27FC236}">
                <a16:creationId xmlns:a16="http://schemas.microsoft.com/office/drawing/2014/main" xmlns=""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a:solidFill>
                  <a:schemeClr val="tx1"/>
                </a:solidFill>
                <a:latin typeface="+mn-lt"/>
                <a:ea typeface="+mn-ea"/>
                <a:cs typeface="+mn-cs"/>
              </a:defRPr>
            </a:lvl1pPr>
          </a:lstStyle>
          <a:p>
            <a:pPr lvl="0"/>
            <a:r>
              <a:rPr lang="en-US"/>
              <a:t>Write here Department Name</a:t>
            </a:r>
          </a:p>
        </p:txBody>
      </p:sp>
      <p:sp>
        <p:nvSpPr>
          <p:cNvPr id="53" name="Text Placeholder 2">
            <a:extLst>
              <a:ext uri="{FF2B5EF4-FFF2-40B4-BE49-F238E27FC236}">
                <a16:creationId xmlns:a16="http://schemas.microsoft.com/office/drawing/2014/main" xmlns=""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a:gradFill flip="none" rotWithShape="1">
                  <a:gsLst>
                    <a:gs pos="10000">
                      <a:srgbClr val="273238"/>
                    </a:gs>
                    <a:gs pos="100000">
                      <a:srgbClr val="607D8B"/>
                    </a:gs>
                  </a:gsLst>
                  <a:lin ang="0" scaled="1"/>
                </a:gradFill>
                <a:effectLst/>
                <a:latin typeface="+mn-lt"/>
                <a:ea typeface="+mn-ea"/>
                <a:cs typeface="+mn-cs"/>
              </a:defRPr>
            </a:lvl1pPr>
          </a:lstStyle>
          <a:p>
            <a:pPr lvl="0"/>
            <a:r>
              <a:rPr lang="en-US"/>
              <a:t>Write here your Author Name (i.e. Prof. Jay R Dhamsaniya)</a:t>
            </a:r>
          </a:p>
        </p:txBody>
      </p:sp>
      <p:pic>
        <p:nvPicPr>
          <p:cNvPr id="54" name="Picture 53">
            <a:extLst>
              <a:ext uri="{FF2B5EF4-FFF2-40B4-BE49-F238E27FC236}">
                <a16:creationId xmlns:a16="http://schemas.microsoft.com/office/drawing/2014/main" xmlns=""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xmlns="" id="{34C1356C-E4AA-4B27-A93C-BE84F5D9C601}"/>
              </a:ext>
            </a:extLst>
          </p:cNvPr>
          <p:cNvPicPr>
            <a:picLocks noChangeAspect="1"/>
          </p:cNvPicPr>
          <p:nvPr userDrawn="1"/>
        </p:nvPicPr>
        <p:blipFill>
          <a:blip r:embed="rId8">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a:fillRect/>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xmlns=""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a:solidFill>
                  <a:schemeClr val="lt1"/>
                </a:solidFill>
                <a:latin typeface="+mn-lt"/>
                <a:ea typeface="+mn-ea"/>
                <a:cs typeface="+mn-cs"/>
              </a:defRPr>
            </a:lvl1pPr>
          </a:lstStyle>
          <a:p>
            <a:pPr lvl="0"/>
            <a:r>
              <a:rPr lang="en-US"/>
              <a:t>Write Subject Name (Short Name)</a:t>
            </a:r>
          </a:p>
          <a:p>
            <a:pPr lvl="0"/>
            <a:r>
              <a:rPr lang="en-US"/>
              <a:t>GTU # Subject Code</a:t>
            </a:r>
          </a:p>
        </p:txBody>
      </p:sp>
      <p:pic>
        <p:nvPicPr>
          <p:cNvPr id="21" name="Picture 20" descr="User icon Royalty Free Vector Image - VectorStock">
            <a:extLst>
              <a:ext uri="{FF2B5EF4-FFF2-40B4-BE49-F238E27FC236}">
                <a16:creationId xmlns:a16="http://schemas.microsoft.com/office/drawing/2014/main" xmlns="" id="{AEB45C91-0DA6-4973-9AEA-FF1388508ACC}"/>
              </a:ext>
            </a:extLst>
          </p:cNvPr>
          <p:cNvPicPr>
            <a:picLocks noChangeAspect="1" noChangeArrowheads="1"/>
          </p:cNvPicPr>
          <p:nvPr userDrawn="1"/>
        </p:nvPicPr>
        <p:blipFill>
          <a:blip r:embed="rId10">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xmlns="" id="{F70CF6D9-DDB4-41AA-BB82-F8ED04AD8BC1}"/>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3751881638"/>
      </p:ext>
    </p:extLst>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Slide - Brown">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xmlns="" id="{292D9CA8-FA74-4E19-A847-B04F90FC15AC}"/>
              </a:ext>
            </a:extLst>
          </p:cNvPr>
          <p:cNvPicPr>
            <a:picLocks noChangeAspect="1"/>
          </p:cNvPicPr>
          <p:nvPr userDrawn="1"/>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a:fillRect/>
          </a:stretch>
        </p:blipFill>
        <p:spPr>
          <a:xfrm>
            <a:off x="0" y="0"/>
            <a:ext cx="12192000" cy="6858000"/>
          </a:xfrm>
          <a:prstGeom prst="rect">
            <a:avLst/>
          </a:prstGeom>
        </p:spPr>
      </p:pic>
      <p:sp>
        <p:nvSpPr>
          <p:cNvPr id="3" name="TextBox 2">
            <a:extLst>
              <a:ext uri="{FF2B5EF4-FFF2-40B4-BE49-F238E27FC236}">
                <a16:creationId xmlns:a16="http://schemas.microsoft.com/office/drawing/2014/main" xmlns=""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a:t>Darshan Institute of Engineering &amp; Technology, Rajkot</a:t>
            </a:r>
          </a:p>
        </p:txBody>
      </p:sp>
      <p:sp>
        <p:nvSpPr>
          <p:cNvPr id="22" name="Freeform 13">
            <a:extLst>
              <a:ext uri="{FF2B5EF4-FFF2-40B4-BE49-F238E27FC236}">
                <a16:creationId xmlns:a16="http://schemas.microsoft.com/office/drawing/2014/main" xmlns="" id="{EB889181-F145-4E62-A282-E5B77978D1F3}"/>
              </a:ext>
            </a:extLst>
          </p:cNvPr>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3E2622"/>
              </a:gs>
              <a:gs pos="100000">
                <a:srgbClr val="79554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xmlns="" id="{5E9DA42E-B221-4BBE-B651-F7171591BCD7}"/>
              </a:ext>
            </a:extLst>
          </p:cNvPr>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3E2622"/>
              </a:gs>
              <a:gs pos="100000">
                <a:srgbClr val="79554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xmlns="" id="{73D6466C-3EE8-434C-B5AB-98205AEEA67D}"/>
              </a:ext>
            </a:extLst>
          </p:cNvPr>
          <p:cNvPicPr>
            <a:picLocks noChangeAspect="1"/>
          </p:cNvPicPr>
          <p:nvPr userDrawn="1"/>
        </p:nvPicPr>
        <p:blipFill>
          <a:blip r:embed="rId3">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xmlns="" id="{3CAA64A4-91BA-448F-9474-7895F9C6DBD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xmlns=""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xmlns=""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a:t>Click to edit Master title style</a:t>
            </a:r>
          </a:p>
        </p:txBody>
      </p:sp>
      <p:pic>
        <p:nvPicPr>
          <p:cNvPr id="26" name="Picture 25">
            <a:extLst>
              <a:ext uri="{FF2B5EF4-FFF2-40B4-BE49-F238E27FC236}">
                <a16:creationId xmlns:a16="http://schemas.microsoft.com/office/drawing/2014/main" xmlns="" id="{9812EDA6-C656-492A-A9CA-44B03C639132}"/>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xmlns="" id="{627AEF91-6492-4B0C-A844-2296473B58DE}"/>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xmlns=""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a:t>Click to edit Email Address</a:t>
            </a:r>
          </a:p>
        </p:txBody>
      </p:sp>
      <p:sp>
        <p:nvSpPr>
          <p:cNvPr id="29" name="Text Placeholder 2">
            <a:extLst>
              <a:ext uri="{FF2B5EF4-FFF2-40B4-BE49-F238E27FC236}">
                <a16:creationId xmlns:a16="http://schemas.microsoft.com/office/drawing/2014/main" xmlns=""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a:t>Click to edit Phone No.</a:t>
            </a:r>
          </a:p>
        </p:txBody>
      </p:sp>
      <p:sp>
        <p:nvSpPr>
          <p:cNvPr id="40" name="Text Placeholder 2">
            <a:extLst>
              <a:ext uri="{FF2B5EF4-FFF2-40B4-BE49-F238E27FC236}">
                <a16:creationId xmlns:a16="http://schemas.microsoft.com/office/drawing/2014/main" xmlns=""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a:solidFill>
                  <a:schemeClr val="tx1"/>
                </a:solidFill>
                <a:latin typeface="+mn-lt"/>
                <a:ea typeface="+mn-ea"/>
                <a:cs typeface="+mn-cs"/>
              </a:defRPr>
            </a:lvl1pPr>
          </a:lstStyle>
          <a:p>
            <a:pPr lvl="0"/>
            <a:r>
              <a:rPr lang="en-US"/>
              <a:t>Write here Department Name</a:t>
            </a:r>
          </a:p>
        </p:txBody>
      </p:sp>
      <p:sp>
        <p:nvSpPr>
          <p:cNvPr id="53" name="Text Placeholder 2">
            <a:extLst>
              <a:ext uri="{FF2B5EF4-FFF2-40B4-BE49-F238E27FC236}">
                <a16:creationId xmlns:a16="http://schemas.microsoft.com/office/drawing/2014/main" xmlns=""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a:gradFill flip="none" rotWithShape="1">
                  <a:gsLst>
                    <a:gs pos="10000">
                      <a:srgbClr val="3E2622"/>
                    </a:gs>
                    <a:gs pos="100000">
                      <a:srgbClr val="795547"/>
                    </a:gs>
                  </a:gsLst>
                  <a:lin ang="0" scaled="1"/>
                </a:gradFill>
                <a:effectLst/>
                <a:latin typeface="+mn-lt"/>
                <a:ea typeface="+mn-ea"/>
                <a:cs typeface="+mn-cs"/>
              </a:defRPr>
            </a:lvl1pPr>
          </a:lstStyle>
          <a:p>
            <a:pPr lvl="0"/>
            <a:r>
              <a:rPr lang="en-US"/>
              <a:t>Write here your Author Name (i.e. Prof. Jay R Dhamsaniya)</a:t>
            </a:r>
          </a:p>
        </p:txBody>
      </p:sp>
      <p:pic>
        <p:nvPicPr>
          <p:cNvPr id="54" name="Picture 53">
            <a:extLst>
              <a:ext uri="{FF2B5EF4-FFF2-40B4-BE49-F238E27FC236}">
                <a16:creationId xmlns:a16="http://schemas.microsoft.com/office/drawing/2014/main" xmlns=""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xmlns="" id="{34C1356C-E4AA-4B27-A93C-BE84F5D9C601}"/>
              </a:ext>
            </a:extLst>
          </p:cNvPr>
          <p:cNvPicPr>
            <a:picLocks noChangeAspect="1"/>
          </p:cNvPicPr>
          <p:nvPr userDrawn="1"/>
        </p:nvPicPr>
        <p:blipFill>
          <a:blip r:embed="rId8">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a:fillRect/>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xmlns=""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a:solidFill>
                  <a:schemeClr val="lt1"/>
                </a:solidFill>
                <a:latin typeface="+mn-lt"/>
                <a:ea typeface="+mn-ea"/>
                <a:cs typeface="+mn-cs"/>
              </a:defRPr>
            </a:lvl1pPr>
          </a:lstStyle>
          <a:p>
            <a:pPr lvl="0"/>
            <a:r>
              <a:rPr lang="en-US"/>
              <a:t>Write Subject Name (Short Name)</a:t>
            </a:r>
          </a:p>
          <a:p>
            <a:pPr lvl="0"/>
            <a:r>
              <a:rPr lang="en-US"/>
              <a:t>GTU # Subject Code</a:t>
            </a:r>
          </a:p>
        </p:txBody>
      </p:sp>
      <p:pic>
        <p:nvPicPr>
          <p:cNvPr id="21" name="Picture 20" descr="User icon Royalty Free Vector Image - VectorStock">
            <a:extLst>
              <a:ext uri="{FF2B5EF4-FFF2-40B4-BE49-F238E27FC236}">
                <a16:creationId xmlns:a16="http://schemas.microsoft.com/office/drawing/2014/main" xmlns="" id="{7E386D9D-B92A-4F40-9089-A1FD00CD3874}"/>
              </a:ext>
            </a:extLst>
          </p:cNvPr>
          <p:cNvPicPr>
            <a:picLocks noChangeAspect="1" noChangeArrowheads="1"/>
          </p:cNvPicPr>
          <p:nvPr userDrawn="1"/>
        </p:nvPicPr>
        <p:blipFill>
          <a:blip r:embed="rId10">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xmlns="" id="{DA295F85-D43D-42E5-9539-A471116A43B0}"/>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1806526240"/>
      </p:ext>
    </p:extLst>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Slide - Deep Puple">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xmlns="" id="{292D9CA8-FA74-4E19-A847-B04F90FC15AC}"/>
              </a:ext>
            </a:extLst>
          </p:cNvPr>
          <p:cNvPicPr>
            <a:picLocks noChangeAspect="1"/>
          </p:cNvPicPr>
          <p:nvPr userDrawn="1"/>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a:fillRect/>
          </a:stretch>
        </p:blipFill>
        <p:spPr>
          <a:xfrm>
            <a:off x="0" y="0"/>
            <a:ext cx="12192000" cy="6858000"/>
          </a:xfrm>
          <a:prstGeom prst="rect">
            <a:avLst/>
          </a:prstGeom>
        </p:spPr>
      </p:pic>
      <p:sp>
        <p:nvSpPr>
          <p:cNvPr id="3" name="TextBox 2">
            <a:extLst>
              <a:ext uri="{FF2B5EF4-FFF2-40B4-BE49-F238E27FC236}">
                <a16:creationId xmlns:a16="http://schemas.microsoft.com/office/drawing/2014/main" xmlns=""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a:t>Darshan Institute of Engineering &amp; Technology, Rajkot</a:t>
            </a:r>
          </a:p>
        </p:txBody>
      </p:sp>
      <p:sp>
        <p:nvSpPr>
          <p:cNvPr id="22" name="Freeform 13">
            <a:extLst>
              <a:ext uri="{FF2B5EF4-FFF2-40B4-BE49-F238E27FC236}">
                <a16:creationId xmlns:a16="http://schemas.microsoft.com/office/drawing/2014/main" xmlns="" id="{EB889181-F145-4E62-A282-E5B77978D1F3}"/>
              </a:ext>
            </a:extLst>
          </p:cNvPr>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301B92"/>
              </a:gs>
              <a:gs pos="100000">
                <a:srgbClr val="673BB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xmlns="" id="{5E9DA42E-B221-4BBE-B651-F7171591BCD7}"/>
              </a:ext>
            </a:extLst>
          </p:cNvPr>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301B92"/>
              </a:gs>
              <a:gs pos="100000">
                <a:srgbClr val="673BB7"/>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xmlns="" id="{73D6466C-3EE8-434C-B5AB-98205AEEA67D}"/>
              </a:ext>
            </a:extLst>
          </p:cNvPr>
          <p:cNvPicPr>
            <a:picLocks noChangeAspect="1"/>
          </p:cNvPicPr>
          <p:nvPr userDrawn="1"/>
        </p:nvPicPr>
        <p:blipFill>
          <a:blip r:embed="rId3">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xmlns="" id="{3CAA64A4-91BA-448F-9474-7895F9C6DBD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xmlns=""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xmlns=""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a:t>Click to edit Master title style</a:t>
            </a:r>
          </a:p>
        </p:txBody>
      </p:sp>
      <p:pic>
        <p:nvPicPr>
          <p:cNvPr id="26" name="Picture 25">
            <a:extLst>
              <a:ext uri="{FF2B5EF4-FFF2-40B4-BE49-F238E27FC236}">
                <a16:creationId xmlns:a16="http://schemas.microsoft.com/office/drawing/2014/main" xmlns="" id="{9812EDA6-C656-492A-A9CA-44B03C639132}"/>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xmlns="" id="{627AEF91-6492-4B0C-A844-2296473B58DE}"/>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xmlns=""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a:t>Click to edit Email Address</a:t>
            </a:r>
          </a:p>
        </p:txBody>
      </p:sp>
      <p:sp>
        <p:nvSpPr>
          <p:cNvPr id="29" name="Text Placeholder 2">
            <a:extLst>
              <a:ext uri="{FF2B5EF4-FFF2-40B4-BE49-F238E27FC236}">
                <a16:creationId xmlns:a16="http://schemas.microsoft.com/office/drawing/2014/main" xmlns=""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a:t>Click to edit Phone No.</a:t>
            </a:r>
          </a:p>
        </p:txBody>
      </p:sp>
      <p:sp>
        <p:nvSpPr>
          <p:cNvPr id="40" name="Text Placeholder 2">
            <a:extLst>
              <a:ext uri="{FF2B5EF4-FFF2-40B4-BE49-F238E27FC236}">
                <a16:creationId xmlns:a16="http://schemas.microsoft.com/office/drawing/2014/main" xmlns=""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a:solidFill>
                  <a:schemeClr val="tx1"/>
                </a:solidFill>
                <a:latin typeface="+mn-lt"/>
                <a:ea typeface="+mn-ea"/>
                <a:cs typeface="+mn-cs"/>
              </a:defRPr>
            </a:lvl1pPr>
          </a:lstStyle>
          <a:p>
            <a:pPr lvl="0"/>
            <a:r>
              <a:rPr lang="en-US"/>
              <a:t>Write here Department Name</a:t>
            </a:r>
          </a:p>
        </p:txBody>
      </p:sp>
      <p:sp>
        <p:nvSpPr>
          <p:cNvPr id="53" name="Text Placeholder 2">
            <a:extLst>
              <a:ext uri="{FF2B5EF4-FFF2-40B4-BE49-F238E27FC236}">
                <a16:creationId xmlns:a16="http://schemas.microsoft.com/office/drawing/2014/main" xmlns=""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a:gradFill flip="none" rotWithShape="1">
                  <a:gsLst>
                    <a:gs pos="10000">
                      <a:srgbClr val="301B92"/>
                    </a:gs>
                    <a:gs pos="100000">
                      <a:srgbClr val="673BB7"/>
                    </a:gs>
                  </a:gsLst>
                  <a:lin ang="0" scaled="1"/>
                </a:gradFill>
                <a:effectLst/>
                <a:latin typeface="+mn-lt"/>
                <a:ea typeface="+mn-ea"/>
                <a:cs typeface="+mn-cs"/>
              </a:defRPr>
            </a:lvl1pPr>
          </a:lstStyle>
          <a:p>
            <a:pPr lvl="0"/>
            <a:r>
              <a:rPr lang="en-US"/>
              <a:t>Write here your Author Name (i.e. Prof. Jay R Dhamsaniya)</a:t>
            </a:r>
          </a:p>
        </p:txBody>
      </p:sp>
      <p:pic>
        <p:nvPicPr>
          <p:cNvPr id="54" name="Picture 53">
            <a:extLst>
              <a:ext uri="{FF2B5EF4-FFF2-40B4-BE49-F238E27FC236}">
                <a16:creationId xmlns:a16="http://schemas.microsoft.com/office/drawing/2014/main" xmlns=""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xmlns="" id="{34C1356C-E4AA-4B27-A93C-BE84F5D9C601}"/>
              </a:ext>
            </a:extLst>
          </p:cNvPr>
          <p:cNvPicPr>
            <a:picLocks noChangeAspect="1"/>
          </p:cNvPicPr>
          <p:nvPr userDrawn="1"/>
        </p:nvPicPr>
        <p:blipFill>
          <a:blip r:embed="rId8">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a:fillRect/>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xmlns=""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a:solidFill>
                  <a:schemeClr val="lt1"/>
                </a:solidFill>
                <a:latin typeface="+mn-lt"/>
                <a:ea typeface="+mn-ea"/>
                <a:cs typeface="+mn-cs"/>
              </a:defRPr>
            </a:lvl1pPr>
          </a:lstStyle>
          <a:p>
            <a:pPr lvl="0"/>
            <a:r>
              <a:rPr lang="en-US"/>
              <a:t>Write Subject Name (Short Name)</a:t>
            </a:r>
          </a:p>
          <a:p>
            <a:pPr lvl="0"/>
            <a:r>
              <a:rPr lang="en-US"/>
              <a:t>GTU # Subject Code</a:t>
            </a:r>
          </a:p>
        </p:txBody>
      </p:sp>
      <p:pic>
        <p:nvPicPr>
          <p:cNvPr id="21" name="Picture 20" descr="User icon Royalty Free Vector Image - VectorStock">
            <a:extLst>
              <a:ext uri="{FF2B5EF4-FFF2-40B4-BE49-F238E27FC236}">
                <a16:creationId xmlns:a16="http://schemas.microsoft.com/office/drawing/2014/main" xmlns="" id="{BE300026-40E8-4FB1-998A-9CEB5F7A1B84}"/>
              </a:ext>
            </a:extLst>
          </p:cNvPr>
          <p:cNvPicPr>
            <a:picLocks noChangeAspect="1" noChangeArrowheads="1"/>
          </p:cNvPicPr>
          <p:nvPr userDrawn="1"/>
        </p:nvPicPr>
        <p:blipFill>
          <a:blip r:embed="rId10">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xmlns="" id="{DB3B5E9B-B4F0-4E85-954A-F7CC04BBF24C}"/>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4012280991"/>
      </p:ext>
    </p:extLst>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Slide - Blue">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xmlns="" id="{292D9CA8-FA74-4E19-A847-B04F90FC15AC}"/>
              </a:ext>
            </a:extLst>
          </p:cNvPr>
          <p:cNvPicPr>
            <a:picLocks noChangeAspect="1"/>
          </p:cNvPicPr>
          <p:nvPr userDrawn="1"/>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a:fillRect/>
          </a:stretch>
        </p:blipFill>
        <p:spPr>
          <a:xfrm>
            <a:off x="0" y="0"/>
            <a:ext cx="12192000" cy="6858000"/>
          </a:xfrm>
          <a:prstGeom prst="rect">
            <a:avLst/>
          </a:prstGeom>
        </p:spPr>
      </p:pic>
      <p:sp>
        <p:nvSpPr>
          <p:cNvPr id="3" name="TextBox 2">
            <a:extLst>
              <a:ext uri="{FF2B5EF4-FFF2-40B4-BE49-F238E27FC236}">
                <a16:creationId xmlns:a16="http://schemas.microsoft.com/office/drawing/2014/main" xmlns=""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a:t>Darshan Institute of Engineering &amp; Technology, Rajkot</a:t>
            </a:r>
          </a:p>
        </p:txBody>
      </p:sp>
      <p:sp>
        <p:nvSpPr>
          <p:cNvPr id="22" name="Freeform 13">
            <a:extLst>
              <a:ext uri="{FF2B5EF4-FFF2-40B4-BE49-F238E27FC236}">
                <a16:creationId xmlns:a16="http://schemas.microsoft.com/office/drawing/2014/main" xmlns="" id="{EB889181-F145-4E62-A282-E5B77978D1F3}"/>
              </a:ext>
            </a:extLst>
          </p:cNvPr>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0E47A1"/>
              </a:gs>
              <a:gs pos="100000">
                <a:srgbClr val="03A9F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xmlns="" id="{5E9DA42E-B221-4BBE-B651-F7171591BCD7}"/>
              </a:ext>
            </a:extLst>
          </p:cNvPr>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0E47A1"/>
              </a:gs>
              <a:gs pos="100000">
                <a:srgbClr val="03A9F5"/>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xmlns="" id="{73D6466C-3EE8-434C-B5AB-98205AEEA67D}"/>
              </a:ext>
            </a:extLst>
          </p:cNvPr>
          <p:cNvPicPr>
            <a:picLocks noChangeAspect="1"/>
          </p:cNvPicPr>
          <p:nvPr userDrawn="1"/>
        </p:nvPicPr>
        <p:blipFill>
          <a:blip r:embed="rId3">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xmlns="" id="{3CAA64A4-91BA-448F-9474-7895F9C6DBD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xmlns=""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xmlns=""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a:t>Click to edit Master title style</a:t>
            </a:r>
          </a:p>
        </p:txBody>
      </p:sp>
      <p:pic>
        <p:nvPicPr>
          <p:cNvPr id="26" name="Picture 25">
            <a:extLst>
              <a:ext uri="{FF2B5EF4-FFF2-40B4-BE49-F238E27FC236}">
                <a16:creationId xmlns:a16="http://schemas.microsoft.com/office/drawing/2014/main" xmlns="" id="{9812EDA6-C656-492A-A9CA-44B03C639132}"/>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xmlns="" id="{627AEF91-6492-4B0C-A844-2296473B58DE}"/>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xmlns=""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a:t>Click to edit Email Address</a:t>
            </a:r>
          </a:p>
        </p:txBody>
      </p:sp>
      <p:sp>
        <p:nvSpPr>
          <p:cNvPr id="29" name="Text Placeholder 2">
            <a:extLst>
              <a:ext uri="{FF2B5EF4-FFF2-40B4-BE49-F238E27FC236}">
                <a16:creationId xmlns:a16="http://schemas.microsoft.com/office/drawing/2014/main" xmlns=""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a:t>Click to edit Phone No.</a:t>
            </a:r>
          </a:p>
        </p:txBody>
      </p:sp>
      <p:sp>
        <p:nvSpPr>
          <p:cNvPr id="40" name="Text Placeholder 2">
            <a:extLst>
              <a:ext uri="{FF2B5EF4-FFF2-40B4-BE49-F238E27FC236}">
                <a16:creationId xmlns:a16="http://schemas.microsoft.com/office/drawing/2014/main" xmlns=""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a:solidFill>
                  <a:schemeClr val="tx1"/>
                </a:solidFill>
                <a:latin typeface="+mn-lt"/>
                <a:ea typeface="+mn-ea"/>
                <a:cs typeface="+mn-cs"/>
              </a:defRPr>
            </a:lvl1pPr>
          </a:lstStyle>
          <a:p>
            <a:pPr lvl="0"/>
            <a:r>
              <a:rPr lang="en-US"/>
              <a:t>Write here Department Name</a:t>
            </a:r>
          </a:p>
        </p:txBody>
      </p:sp>
      <p:sp>
        <p:nvSpPr>
          <p:cNvPr id="53" name="Text Placeholder 2">
            <a:extLst>
              <a:ext uri="{FF2B5EF4-FFF2-40B4-BE49-F238E27FC236}">
                <a16:creationId xmlns:a16="http://schemas.microsoft.com/office/drawing/2014/main" xmlns=""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a:gradFill flip="none" rotWithShape="1">
                  <a:gsLst>
                    <a:gs pos="10000">
                      <a:srgbClr val="0E47A1"/>
                    </a:gs>
                    <a:gs pos="100000">
                      <a:srgbClr val="03A9F5"/>
                    </a:gs>
                  </a:gsLst>
                  <a:lin ang="0" scaled="1"/>
                </a:gradFill>
                <a:effectLst/>
                <a:latin typeface="+mn-lt"/>
                <a:ea typeface="+mn-ea"/>
                <a:cs typeface="+mn-cs"/>
              </a:defRPr>
            </a:lvl1pPr>
          </a:lstStyle>
          <a:p>
            <a:pPr lvl="0"/>
            <a:r>
              <a:rPr lang="en-US"/>
              <a:t>Write here your Author Name (i.e. Prof. Jay R Dhamsaniya)</a:t>
            </a:r>
          </a:p>
        </p:txBody>
      </p:sp>
      <p:pic>
        <p:nvPicPr>
          <p:cNvPr id="54" name="Picture 53">
            <a:extLst>
              <a:ext uri="{FF2B5EF4-FFF2-40B4-BE49-F238E27FC236}">
                <a16:creationId xmlns:a16="http://schemas.microsoft.com/office/drawing/2014/main" xmlns=""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xmlns="" id="{34C1356C-E4AA-4B27-A93C-BE84F5D9C601}"/>
              </a:ext>
            </a:extLst>
          </p:cNvPr>
          <p:cNvPicPr>
            <a:picLocks noChangeAspect="1"/>
          </p:cNvPicPr>
          <p:nvPr userDrawn="1"/>
        </p:nvPicPr>
        <p:blipFill>
          <a:blip r:embed="rId8">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a:fillRect/>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xmlns=""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a:solidFill>
                  <a:schemeClr val="lt1"/>
                </a:solidFill>
                <a:latin typeface="+mn-lt"/>
                <a:ea typeface="+mn-ea"/>
                <a:cs typeface="+mn-cs"/>
              </a:defRPr>
            </a:lvl1pPr>
          </a:lstStyle>
          <a:p>
            <a:pPr lvl="0"/>
            <a:r>
              <a:rPr lang="en-US"/>
              <a:t>Write Subject Name (Short Name)</a:t>
            </a:r>
          </a:p>
          <a:p>
            <a:pPr lvl="0"/>
            <a:r>
              <a:rPr lang="en-US"/>
              <a:t>GTU # Subject Code</a:t>
            </a:r>
          </a:p>
        </p:txBody>
      </p:sp>
      <p:pic>
        <p:nvPicPr>
          <p:cNvPr id="21" name="Picture 20" descr="User icon Royalty Free Vector Image - VectorStock">
            <a:extLst>
              <a:ext uri="{FF2B5EF4-FFF2-40B4-BE49-F238E27FC236}">
                <a16:creationId xmlns:a16="http://schemas.microsoft.com/office/drawing/2014/main" xmlns="" id="{C3A13D11-EC6C-4E81-AD83-7AC73D273FD4}"/>
              </a:ext>
            </a:extLst>
          </p:cNvPr>
          <p:cNvPicPr>
            <a:picLocks noChangeAspect="1" noChangeArrowheads="1"/>
          </p:cNvPicPr>
          <p:nvPr userDrawn="1"/>
        </p:nvPicPr>
        <p:blipFill>
          <a:blip r:embed="rId10">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xmlns="" id="{85035EF3-F5FB-41C2-A0BE-B3AEF7556ABD}"/>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2532807558"/>
      </p:ext>
    </p:extLst>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Slide - Red">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xmlns="" id="{292D9CA8-FA74-4E19-A847-B04F90FC15AC}"/>
              </a:ext>
            </a:extLst>
          </p:cNvPr>
          <p:cNvPicPr>
            <a:picLocks noChangeAspect="1"/>
          </p:cNvPicPr>
          <p:nvPr userDrawn="1"/>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a:fillRect/>
          </a:stretch>
        </p:blipFill>
        <p:spPr>
          <a:xfrm>
            <a:off x="0" y="0"/>
            <a:ext cx="12192000" cy="6858000"/>
          </a:xfrm>
          <a:prstGeom prst="rect">
            <a:avLst/>
          </a:prstGeom>
        </p:spPr>
      </p:pic>
      <p:sp>
        <p:nvSpPr>
          <p:cNvPr id="3" name="TextBox 2">
            <a:extLst>
              <a:ext uri="{FF2B5EF4-FFF2-40B4-BE49-F238E27FC236}">
                <a16:creationId xmlns:a16="http://schemas.microsoft.com/office/drawing/2014/main" xmlns=""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a:t>Darshan Institute of Engineering &amp; Technology, Rajkot</a:t>
            </a:r>
          </a:p>
        </p:txBody>
      </p:sp>
      <p:sp>
        <p:nvSpPr>
          <p:cNvPr id="22" name="Freeform 13">
            <a:extLst>
              <a:ext uri="{FF2B5EF4-FFF2-40B4-BE49-F238E27FC236}">
                <a16:creationId xmlns:a16="http://schemas.microsoft.com/office/drawing/2014/main" xmlns="" id="{EB889181-F145-4E62-A282-E5B77978D1F3}"/>
              </a:ext>
            </a:extLst>
          </p:cNvPr>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xmlns="" id="{5E9DA42E-B221-4BBE-B651-F7171591BCD7}"/>
              </a:ext>
            </a:extLst>
          </p:cNvPr>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xmlns="" id="{73D6466C-3EE8-434C-B5AB-98205AEEA67D}"/>
              </a:ext>
            </a:extLst>
          </p:cNvPr>
          <p:cNvPicPr>
            <a:picLocks noChangeAspect="1"/>
          </p:cNvPicPr>
          <p:nvPr userDrawn="1"/>
        </p:nvPicPr>
        <p:blipFill>
          <a:blip r:embed="rId3">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xmlns="" id="{3CAA64A4-91BA-448F-9474-7895F9C6DBD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xmlns=""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xmlns=""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a:t>Click to edit Master title style</a:t>
            </a:r>
          </a:p>
        </p:txBody>
      </p:sp>
      <p:pic>
        <p:nvPicPr>
          <p:cNvPr id="26" name="Picture 25">
            <a:extLst>
              <a:ext uri="{FF2B5EF4-FFF2-40B4-BE49-F238E27FC236}">
                <a16:creationId xmlns:a16="http://schemas.microsoft.com/office/drawing/2014/main" xmlns="" id="{9812EDA6-C656-492A-A9CA-44B03C639132}"/>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xmlns="" id="{627AEF91-6492-4B0C-A844-2296473B58DE}"/>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xmlns=""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a:t>Click to edit Email Address</a:t>
            </a:r>
          </a:p>
        </p:txBody>
      </p:sp>
      <p:sp>
        <p:nvSpPr>
          <p:cNvPr id="29" name="Text Placeholder 2">
            <a:extLst>
              <a:ext uri="{FF2B5EF4-FFF2-40B4-BE49-F238E27FC236}">
                <a16:creationId xmlns:a16="http://schemas.microsoft.com/office/drawing/2014/main" xmlns=""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a:t>Click to edit Phone No.</a:t>
            </a:r>
          </a:p>
        </p:txBody>
      </p:sp>
      <p:sp>
        <p:nvSpPr>
          <p:cNvPr id="40" name="Text Placeholder 2">
            <a:extLst>
              <a:ext uri="{FF2B5EF4-FFF2-40B4-BE49-F238E27FC236}">
                <a16:creationId xmlns:a16="http://schemas.microsoft.com/office/drawing/2014/main" xmlns=""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a:solidFill>
                  <a:schemeClr val="tx1"/>
                </a:solidFill>
                <a:latin typeface="+mn-lt"/>
                <a:ea typeface="+mn-ea"/>
                <a:cs typeface="+mn-cs"/>
              </a:defRPr>
            </a:lvl1pPr>
          </a:lstStyle>
          <a:p>
            <a:pPr lvl="0"/>
            <a:r>
              <a:rPr lang="en-US"/>
              <a:t>Write here Department Name</a:t>
            </a:r>
          </a:p>
        </p:txBody>
      </p:sp>
      <p:sp>
        <p:nvSpPr>
          <p:cNvPr id="53" name="Text Placeholder 2">
            <a:extLst>
              <a:ext uri="{FF2B5EF4-FFF2-40B4-BE49-F238E27FC236}">
                <a16:creationId xmlns:a16="http://schemas.microsoft.com/office/drawing/2014/main" xmlns=""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a:gradFill flip="none" rotWithShape="1">
                  <a:gsLst>
                    <a:gs pos="10000">
                      <a:srgbClr val="B71B1C"/>
                    </a:gs>
                    <a:gs pos="100000">
                      <a:srgbClr val="ED524F"/>
                    </a:gs>
                  </a:gsLst>
                  <a:lin ang="0" scaled="1"/>
                </a:gradFill>
                <a:effectLst/>
                <a:latin typeface="+mn-lt"/>
                <a:ea typeface="+mn-ea"/>
                <a:cs typeface="+mn-cs"/>
              </a:defRPr>
            </a:lvl1pPr>
          </a:lstStyle>
          <a:p>
            <a:pPr lvl="0"/>
            <a:r>
              <a:rPr lang="en-US"/>
              <a:t>Write here your Author Name (i.e. Prof. Jay R Dhamsaniya)</a:t>
            </a:r>
          </a:p>
        </p:txBody>
      </p:sp>
      <p:pic>
        <p:nvPicPr>
          <p:cNvPr id="54" name="Picture 53">
            <a:extLst>
              <a:ext uri="{FF2B5EF4-FFF2-40B4-BE49-F238E27FC236}">
                <a16:creationId xmlns:a16="http://schemas.microsoft.com/office/drawing/2014/main" xmlns=""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xmlns="" id="{34C1356C-E4AA-4B27-A93C-BE84F5D9C601}"/>
              </a:ext>
            </a:extLst>
          </p:cNvPr>
          <p:cNvPicPr>
            <a:picLocks noChangeAspect="1"/>
          </p:cNvPicPr>
          <p:nvPr userDrawn="1"/>
        </p:nvPicPr>
        <p:blipFill>
          <a:blip r:embed="rId8">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a:fillRect/>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xmlns=""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a:solidFill>
                  <a:schemeClr val="lt1"/>
                </a:solidFill>
                <a:latin typeface="+mn-lt"/>
                <a:ea typeface="+mn-ea"/>
                <a:cs typeface="+mn-cs"/>
              </a:defRPr>
            </a:lvl1pPr>
          </a:lstStyle>
          <a:p>
            <a:pPr lvl="0"/>
            <a:r>
              <a:rPr lang="en-US"/>
              <a:t>Write Subject Name (Short Name)</a:t>
            </a:r>
          </a:p>
          <a:p>
            <a:pPr lvl="0"/>
            <a:r>
              <a:rPr lang="en-US"/>
              <a:t>GTU # Subject Code</a:t>
            </a:r>
          </a:p>
        </p:txBody>
      </p:sp>
      <p:pic>
        <p:nvPicPr>
          <p:cNvPr id="31" name="Picture 30">
            <a:extLst>
              <a:ext uri="{FF2B5EF4-FFF2-40B4-BE49-F238E27FC236}">
                <a16:creationId xmlns:a16="http://schemas.microsoft.com/office/drawing/2014/main" xmlns="" id="{77B7B864-C091-4493-B14B-F5B61B586EED}"/>
              </a:ext>
            </a:extLst>
          </p:cNvPr>
          <p:cNvPicPr>
            <a:picLocks noChangeAspect="1"/>
          </p:cNvPicPr>
          <p:nvPr userDrawn="1"/>
        </p:nvPicPr>
        <p:blipFill>
          <a:blip r:embed="rId10">
            <a:extLst>
              <a:ext uri="{28A0092B-C50C-407E-A947-70E740481C1C}">
                <a14:useLocalDpi xmlns:a14="http://schemas.microsoft.com/office/drawing/2010/main" val="0"/>
              </a:ext>
            </a:extLst>
          </a:blip>
          <a:srcRect l="24746" t="7575" r="25761" b="18186"/>
          <a:stretch>
            <a:fillRect/>
          </a:stretch>
        </p:blipFill>
        <p:spPr>
          <a:xfrm>
            <a:off x="356499" y="5214354"/>
            <a:ext cx="1354234" cy="1354234"/>
          </a:xfrm>
          <a:custGeom>
            <a:avLst/>
            <a:gdLst>
              <a:gd name="connsiteX0" fmla="*/ 2286000 w 4572000"/>
              <a:gd name="connsiteY0" fmla="*/ 0 h 4572000"/>
              <a:gd name="connsiteX1" fmla="*/ 4572000 w 4572000"/>
              <a:gd name="connsiteY1" fmla="*/ 2286000 h 4572000"/>
              <a:gd name="connsiteX2" fmla="*/ 2286000 w 4572000"/>
              <a:gd name="connsiteY2" fmla="*/ 4572000 h 4572000"/>
              <a:gd name="connsiteX3" fmla="*/ 0 w 4572000"/>
              <a:gd name="connsiteY3" fmla="*/ 2286000 h 4572000"/>
              <a:gd name="connsiteX4" fmla="*/ 2286000 w 4572000"/>
              <a:gd name="connsiteY4" fmla="*/ 0 h 4572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72000" h="4572000">
                <a:moveTo>
                  <a:pt x="2286000" y="0"/>
                </a:moveTo>
                <a:cubicBezTo>
                  <a:pt x="3548523" y="0"/>
                  <a:pt x="4572000" y="1023477"/>
                  <a:pt x="4572000" y="2286000"/>
                </a:cubicBezTo>
                <a:cubicBezTo>
                  <a:pt x="4572000" y="3548523"/>
                  <a:pt x="3548523" y="4572000"/>
                  <a:pt x="2286000" y="4572000"/>
                </a:cubicBezTo>
                <a:cubicBezTo>
                  <a:pt x="1023477" y="4572000"/>
                  <a:pt x="0" y="3548523"/>
                  <a:pt x="0" y="2286000"/>
                </a:cubicBezTo>
                <a:cubicBezTo>
                  <a:pt x="0" y="1023477"/>
                  <a:pt x="1023477" y="0"/>
                  <a:pt x="2286000" y="0"/>
                </a:cubicBezTo>
                <a:close/>
              </a:path>
            </a:pathLst>
          </a:custGeom>
          <a:noFill/>
          <a:ln w="6350">
            <a:solidFill>
              <a:schemeClr val="bg1">
                <a:lumMod val="65000"/>
              </a:schemeClr>
            </a:solidFill>
          </a:ln>
          <a:effectLst/>
        </p:spPr>
      </p:pic>
      <p:pic>
        <p:nvPicPr>
          <p:cNvPr id="21" name="Picture 20" descr="User icon Royalty Free Vector Image - VectorStock">
            <a:extLst>
              <a:ext uri="{FF2B5EF4-FFF2-40B4-BE49-F238E27FC236}">
                <a16:creationId xmlns:a16="http://schemas.microsoft.com/office/drawing/2014/main" xmlns="" id="{177B86E9-222D-4757-BE64-59540DB794E6}"/>
              </a:ext>
            </a:extLst>
          </p:cNvPr>
          <p:cNvPicPr>
            <a:picLocks noChangeAspect="1" noChangeArrowheads="1"/>
          </p:cNvPicPr>
          <p:nvPr userDrawn="1"/>
        </p:nvPicPr>
        <p:blipFill>
          <a:blip r:embed="rId11">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xmlns="" id="{8ABCD18B-D4E0-41E4-8162-7E83CB11DAE0}"/>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3765131949"/>
      </p:ext>
    </p:extLst>
  </p:cSld>
  <p:clrMapOvr>
    <a:masterClrMapping/>
  </p:clrMapOv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Slide - Pink">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xmlns="" id="{292D9CA8-FA74-4E19-A847-B04F90FC15AC}"/>
              </a:ext>
            </a:extLst>
          </p:cNvPr>
          <p:cNvPicPr>
            <a:picLocks noChangeAspect="1"/>
          </p:cNvPicPr>
          <p:nvPr userDrawn="1"/>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t="18750" b="25000"/>
          <a:stretch>
            <a:fillRect/>
          </a:stretch>
        </p:blipFill>
        <p:spPr>
          <a:xfrm>
            <a:off x="0" y="0"/>
            <a:ext cx="12192000" cy="6858000"/>
          </a:xfrm>
          <a:prstGeom prst="rect">
            <a:avLst/>
          </a:prstGeom>
        </p:spPr>
      </p:pic>
      <p:sp>
        <p:nvSpPr>
          <p:cNvPr id="3" name="TextBox 2">
            <a:extLst>
              <a:ext uri="{FF2B5EF4-FFF2-40B4-BE49-F238E27FC236}">
                <a16:creationId xmlns:a16="http://schemas.microsoft.com/office/drawing/2014/main" xmlns="" id="{66A9211E-289E-4822-AE7F-7B95A873EBBD}"/>
              </a:ext>
            </a:extLst>
          </p:cNvPr>
          <p:cNvSpPr txBox="1"/>
          <p:nvPr userDrawn="1"/>
        </p:nvSpPr>
        <p:spPr>
          <a:xfrm>
            <a:off x="1837677" y="5802204"/>
            <a:ext cx="4514377" cy="338554"/>
          </a:xfrm>
          <a:prstGeom prst="rect">
            <a:avLst/>
          </a:prstGeom>
          <a:noFill/>
        </p:spPr>
        <p:txBody>
          <a:bodyPr wrap="none" rtlCol="0">
            <a:spAutoFit/>
          </a:bodyPr>
          <a:lstStyle/>
          <a:p>
            <a:r>
              <a:rPr lang="en-US" sz="1600"/>
              <a:t>Darshan Institute of Engineering &amp; Technology, Rajkot</a:t>
            </a:r>
          </a:p>
        </p:txBody>
      </p:sp>
      <p:sp>
        <p:nvSpPr>
          <p:cNvPr id="22" name="Freeform 13">
            <a:extLst>
              <a:ext uri="{FF2B5EF4-FFF2-40B4-BE49-F238E27FC236}">
                <a16:creationId xmlns:a16="http://schemas.microsoft.com/office/drawing/2014/main" xmlns="" id="{EB889181-F145-4E62-A282-E5B77978D1F3}"/>
              </a:ext>
            </a:extLst>
          </p:cNvPr>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a:moveTo>
                  <a:pt x="2048" y="0"/>
                </a:moveTo>
                <a:cubicBezTo>
                  <a:pt x="2011" y="25"/>
                  <a:pt x="1973" y="49"/>
                  <a:pt x="1934" y="72"/>
                </a:cubicBezTo>
                <a:cubicBezTo>
                  <a:pt x="1177" y="517"/>
                  <a:pt x="332" y="480"/>
                  <a:pt x="0" y="0"/>
                </a:cubicBezTo>
                <a:lnTo>
                  <a:pt x="2048" y="0"/>
                </a:lnTo>
                <a:close/>
              </a:path>
            </a:pathLst>
          </a:custGeom>
          <a:gradFill>
            <a:gsLst>
              <a:gs pos="10000">
                <a:srgbClr val="890E4F"/>
              </a:gs>
              <a:gs pos="100000">
                <a:srgbClr val="D81A60"/>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3" name="Freeform 17">
            <a:extLst>
              <a:ext uri="{FF2B5EF4-FFF2-40B4-BE49-F238E27FC236}">
                <a16:creationId xmlns:a16="http://schemas.microsoft.com/office/drawing/2014/main" xmlns="" id="{5E9DA42E-B221-4BBE-B651-F7171591BCD7}"/>
              </a:ext>
            </a:extLst>
          </p:cNvPr>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890E4F"/>
              </a:gs>
              <a:gs pos="100000">
                <a:srgbClr val="D81A60"/>
              </a:gs>
            </a:gsLst>
            <a:lin ang="10800000" scaled="1"/>
          </a:gradFill>
          <a:ln>
            <a:noFill/>
          </a:ln>
        </p:spPr>
        <p:txBody>
          <a:bodyPr vert="horz" wrap="square" lIns="91440" tIns="45720" rIns="91440" bIns="45720" numCol="1" anchor="t" anchorCtr="0" compatLnSpc="1">
            <a:prstTxWarp prst="textNoShape">
              <a:avLst/>
            </a:prstTxWarp>
          </a:bodyPr>
          <a:lstStyle/>
          <a:p>
            <a:pPr lvl="0"/>
            <a:endParaRPr lang="en-US"/>
          </a:p>
        </p:txBody>
      </p:sp>
      <p:pic>
        <p:nvPicPr>
          <p:cNvPr id="32" name="Picture 31">
            <a:extLst>
              <a:ext uri="{FF2B5EF4-FFF2-40B4-BE49-F238E27FC236}">
                <a16:creationId xmlns:a16="http://schemas.microsoft.com/office/drawing/2014/main" xmlns="" id="{73D6466C-3EE8-434C-B5AB-98205AEEA67D}"/>
              </a:ext>
            </a:extLst>
          </p:cNvPr>
          <p:cNvPicPr>
            <a:picLocks noChangeAspect="1"/>
          </p:cNvPicPr>
          <p:nvPr userDrawn="1"/>
        </p:nvPicPr>
        <p:blipFill>
          <a:blip r:embed="rId3">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08334" y="4602222"/>
            <a:ext cx="3383666" cy="2255777"/>
          </a:xfrm>
          <a:prstGeom prst="rect">
            <a:avLst/>
          </a:prstGeom>
        </p:spPr>
      </p:pic>
      <p:pic>
        <p:nvPicPr>
          <p:cNvPr id="33" name="Picture 32">
            <a:extLst>
              <a:ext uri="{FF2B5EF4-FFF2-40B4-BE49-F238E27FC236}">
                <a16:creationId xmlns:a16="http://schemas.microsoft.com/office/drawing/2014/main" xmlns="" id="{3CAA64A4-91BA-448F-9474-7895F9C6DBD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8440861" y="2096941"/>
            <a:ext cx="2813885" cy="2119207"/>
          </a:xfrm>
          <a:prstGeom prst="rect">
            <a:avLst/>
          </a:prstGeom>
        </p:spPr>
      </p:pic>
      <p:cxnSp>
        <p:nvCxnSpPr>
          <p:cNvPr id="45" name="Straight Connector 44">
            <a:extLst>
              <a:ext uri="{FF2B5EF4-FFF2-40B4-BE49-F238E27FC236}">
                <a16:creationId xmlns:a16="http://schemas.microsoft.com/office/drawing/2014/main" xmlns="" id="{E79C5D16-8087-4587-9A0A-A0570C73E0E7}"/>
              </a:ext>
            </a:extLst>
          </p:cNvPr>
          <p:cNvCxnSpPr/>
          <p:nvPr/>
        </p:nvCxnSpPr>
        <p:spPr>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xmlns=""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a:t>Click to edit Master title style</a:t>
            </a:r>
          </a:p>
        </p:txBody>
      </p:sp>
      <p:pic>
        <p:nvPicPr>
          <p:cNvPr id="26" name="Picture 25">
            <a:extLst>
              <a:ext uri="{FF2B5EF4-FFF2-40B4-BE49-F238E27FC236}">
                <a16:creationId xmlns:a16="http://schemas.microsoft.com/office/drawing/2014/main" xmlns="" id="{9812EDA6-C656-492A-A9CA-44B03C639132}"/>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998063" y="6232297"/>
            <a:ext cx="182880" cy="182880"/>
          </a:xfrm>
          <a:prstGeom prst="rect">
            <a:avLst/>
          </a:prstGeom>
        </p:spPr>
      </p:pic>
      <p:pic>
        <p:nvPicPr>
          <p:cNvPr id="27" name="Picture 26">
            <a:extLst>
              <a:ext uri="{FF2B5EF4-FFF2-40B4-BE49-F238E27FC236}">
                <a16:creationId xmlns:a16="http://schemas.microsoft.com/office/drawing/2014/main" xmlns="" id="{627AEF91-6492-4B0C-A844-2296473B58DE}"/>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1998063" y="6505320"/>
            <a:ext cx="182880" cy="182880"/>
          </a:xfrm>
          <a:prstGeom prst="rect">
            <a:avLst/>
          </a:prstGeom>
        </p:spPr>
      </p:pic>
      <p:sp>
        <p:nvSpPr>
          <p:cNvPr id="28" name="Text Placeholder 2">
            <a:extLst>
              <a:ext uri="{FF2B5EF4-FFF2-40B4-BE49-F238E27FC236}">
                <a16:creationId xmlns:a16="http://schemas.microsoft.com/office/drawing/2014/main" xmlns="" id="{828AA7FF-D902-41DB-A12A-45135201E8C2}"/>
              </a:ext>
            </a:extLst>
          </p:cNvPr>
          <p:cNvSpPr>
            <a:spLocks noGrp="1"/>
          </p:cNvSpPr>
          <p:nvPr userDrawn="1">
            <p:ph type="body" sz="quarter" idx="11" hasCustomPrompt="1"/>
          </p:nvPr>
        </p:nvSpPr>
        <p:spPr>
          <a:xfrm>
            <a:off x="2180943" y="6175935"/>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a:t>Click to edit Email Address</a:t>
            </a:r>
          </a:p>
        </p:txBody>
      </p:sp>
      <p:sp>
        <p:nvSpPr>
          <p:cNvPr id="29" name="Text Placeholder 2">
            <a:extLst>
              <a:ext uri="{FF2B5EF4-FFF2-40B4-BE49-F238E27FC236}">
                <a16:creationId xmlns:a16="http://schemas.microsoft.com/office/drawing/2014/main" xmlns="" id="{F1EDDD62-43C6-4DEE-BBD9-CD0004E7EB03}"/>
              </a:ext>
            </a:extLst>
          </p:cNvPr>
          <p:cNvSpPr>
            <a:spLocks noGrp="1"/>
          </p:cNvSpPr>
          <p:nvPr userDrawn="1">
            <p:ph type="body" sz="quarter" idx="12" hasCustomPrompt="1"/>
          </p:nvPr>
        </p:nvSpPr>
        <p:spPr>
          <a:xfrm>
            <a:off x="2183874" y="6460218"/>
            <a:ext cx="3735998" cy="290081"/>
          </a:xfrm>
        </p:spPr>
        <p:txBody>
          <a:bodyPr anchor="ctr">
            <a:noAutofit/>
          </a:bodyPr>
          <a:lstStyle>
            <a:lvl1pPr marL="0" indent="0" algn="l" defTabSz="914400" rtl="0" eaLnBrk="1" latinLnBrk="0" hangingPunct="1">
              <a:lnSpc>
                <a:spcPct val="90000"/>
              </a:lnSpc>
              <a:spcBef>
                <a:spcPct val="0"/>
              </a:spcBef>
              <a:buNone/>
              <a:defRPr lang="en-US" sz="1600" b="0" kern="1200" baseline="0">
                <a:solidFill>
                  <a:schemeClr val="tx1"/>
                </a:solidFill>
                <a:latin typeface="Roboto Condensed Light" panose="02000000000000000000" pitchFamily="2" charset="0"/>
                <a:ea typeface="Roboto Condensed Light" panose="02000000000000000000" pitchFamily="2" charset="0"/>
                <a:cs typeface="+mn-cs"/>
              </a:defRPr>
            </a:lvl1pPr>
          </a:lstStyle>
          <a:p>
            <a:pPr lvl="0"/>
            <a:r>
              <a:rPr lang="en-US"/>
              <a:t>Click to edit Phone No.</a:t>
            </a:r>
          </a:p>
        </p:txBody>
      </p:sp>
      <p:sp>
        <p:nvSpPr>
          <p:cNvPr id="40" name="Text Placeholder 2">
            <a:extLst>
              <a:ext uri="{FF2B5EF4-FFF2-40B4-BE49-F238E27FC236}">
                <a16:creationId xmlns:a16="http://schemas.microsoft.com/office/drawing/2014/main" xmlns="" id="{A2C7AAB1-B948-41DB-961F-028BB57DF573}"/>
              </a:ext>
            </a:extLst>
          </p:cNvPr>
          <p:cNvSpPr>
            <a:spLocks noGrp="1"/>
          </p:cNvSpPr>
          <p:nvPr>
            <p:ph type="body" sz="quarter" idx="13" hasCustomPrompt="1"/>
          </p:nvPr>
        </p:nvSpPr>
        <p:spPr>
          <a:xfrm>
            <a:off x="1837678" y="5537768"/>
            <a:ext cx="3735998" cy="290081"/>
          </a:xfrm>
        </p:spPr>
        <p:txBody>
          <a:bodyPr anchor="ctr">
            <a:noAutofit/>
          </a:bodyPr>
          <a:lstStyle>
            <a:lvl1pPr marL="0" indent="0" algn="l" defTabSz="914400" rtl="0" eaLnBrk="1" latinLnBrk="0" hangingPunct="1">
              <a:lnSpc>
                <a:spcPct val="90000"/>
              </a:lnSpc>
              <a:spcBef>
                <a:spcPct val="0"/>
              </a:spcBef>
              <a:buNone/>
              <a:defRPr lang="en-US" sz="1600" kern="1200">
                <a:solidFill>
                  <a:schemeClr val="tx1"/>
                </a:solidFill>
                <a:latin typeface="+mn-lt"/>
                <a:ea typeface="+mn-ea"/>
                <a:cs typeface="+mn-cs"/>
              </a:defRPr>
            </a:lvl1pPr>
          </a:lstStyle>
          <a:p>
            <a:pPr lvl="0"/>
            <a:r>
              <a:rPr lang="en-US"/>
              <a:t>Write here Department Name</a:t>
            </a:r>
          </a:p>
        </p:txBody>
      </p:sp>
      <p:sp>
        <p:nvSpPr>
          <p:cNvPr id="53" name="Text Placeholder 2">
            <a:extLst>
              <a:ext uri="{FF2B5EF4-FFF2-40B4-BE49-F238E27FC236}">
                <a16:creationId xmlns:a16="http://schemas.microsoft.com/office/drawing/2014/main" xmlns="" id="{C96060B2-EF39-4FB2-9CFA-77C6391DCF8F}"/>
              </a:ext>
            </a:extLst>
          </p:cNvPr>
          <p:cNvSpPr>
            <a:spLocks noGrp="1"/>
          </p:cNvSpPr>
          <p:nvPr>
            <p:ph type="body" sz="quarter" idx="14" hasCustomPrompt="1"/>
          </p:nvPr>
        </p:nvSpPr>
        <p:spPr>
          <a:xfrm>
            <a:off x="1837677" y="5273332"/>
            <a:ext cx="5581039" cy="290081"/>
          </a:xfrm>
        </p:spPr>
        <p:txBody>
          <a:bodyPr anchor="ctr">
            <a:noAutofit/>
          </a:bodyPr>
          <a:lstStyle>
            <a:lvl1pPr marL="0" indent="0" algn="l" defTabSz="914400" rtl="0" eaLnBrk="1" latinLnBrk="0" hangingPunct="1">
              <a:lnSpc>
                <a:spcPct val="90000"/>
              </a:lnSpc>
              <a:spcBef>
                <a:spcPct val="0"/>
              </a:spcBef>
              <a:buNone/>
              <a:defRPr lang="en-US" sz="1800" b="1" kern="1200">
                <a:gradFill flip="none" rotWithShape="1">
                  <a:gsLst>
                    <a:gs pos="10000">
                      <a:srgbClr val="890E4F"/>
                    </a:gs>
                    <a:gs pos="100000">
                      <a:srgbClr val="D81A60"/>
                    </a:gs>
                  </a:gsLst>
                  <a:lin ang="0" scaled="1"/>
                </a:gradFill>
                <a:effectLst/>
                <a:latin typeface="+mn-lt"/>
                <a:ea typeface="+mn-ea"/>
                <a:cs typeface="+mn-cs"/>
              </a:defRPr>
            </a:lvl1pPr>
          </a:lstStyle>
          <a:p>
            <a:pPr lvl="0"/>
            <a:r>
              <a:rPr lang="en-US"/>
              <a:t>Write here your Author Name (i.e. Prof. Jay R Dhamsaniya)</a:t>
            </a:r>
          </a:p>
        </p:txBody>
      </p:sp>
      <p:pic>
        <p:nvPicPr>
          <p:cNvPr id="54" name="Picture 53">
            <a:extLst>
              <a:ext uri="{FF2B5EF4-FFF2-40B4-BE49-F238E27FC236}">
                <a16:creationId xmlns:a16="http://schemas.microsoft.com/office/drawing/2014/main" xmlns="" id="{1917B14A-5130-41DB-8F00-6C6611C994DF}"/>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8295842" y="307556"/>
            <a:ext cx="3573889" cy="821995"/>
          </a:xfrm>
          <a:prstGeom prst="rect">
            <a:avLst/>
          </a:prstGeom>
        </p:spPr>
      </p:pic>
      <p:pic>
        <p:nvPicPr>
          <p:cNvPr id="55" name="Picture 54">
            <a:extLst>
              <a:ext uri="{FF2B5EF4-FFF2-40B4-BE49-F238E27FC236}">
                <a16:creationId xmlns:a16="http://schemas.microsoft.com/office/drawing/2014/main" xmlns="" id="{34C1356C-E4AA-4B27-A93C-BE84F5D9C601}"/>
              </a:ext>
            </a:extLst>
          </p:cNvPr>
          <p:cNvPicPr>
            <a:picLocks noChangeAspect="1"/>
          </p:cNvPicPr>
          <p:nvPr userDrawn="1"/>
        </p:nvPicPr>
        <p:blipFill>
          <a:blip r:embed="rId8">
            <a:extLst>
              <a:ext uri="{BEBA8EAE-BF5A-486C-A8C5-ECC9F3942E4B}">
                <a14:imgProps xmlns:a14="http://schemas.microsoft.com/office/drawing/2010/main">
                  <a14:imgLayer r:embed="rId9">
                    <a14:imgEffect>
                      <a14:brightnessContrast contrast="-40000"/>
                    </a14:imgEffect>
                  </a14:imgLayer>
                </a14:imgProps>
              </a:ext>
              <a:ext uri="{28A0092B-C50C-407E-A947-70E740481C1C}">
                <a14:useLocalDpi xmlns:a14="http://schemas.microsoft.com/office/drawing/2010/main" val="0"/>
              </a:ext>
            </a:extLst>
          </a:blip>
          <a:srcRect l="62023" t="18062" r="2731" b="17724"/>
          <a:stretch>
            <a:fillRect/>
          </a:stretch>
        </p:blipFill>
        <p:spPr>
          <a:xfrm>
            <a:off x="63248" y="837717"/>
            <a:ext cx="1087893" cy="772151"/>
          </a:xfrm>
          <a:prstGeom prst="rect">
            <a:avLst/>
          </a:prstGeom>
        </p:spPr>
      </p:pic>
      <p:sp>
        <p:nvSpPr>
          <p:cNvPr id="24" name="Text Placeholder 2">
            <a:extLst>
              <a:ext uri="{FF2B5EF4-FFF2-40B4-BE49-F238E27FC236}">
                <a16:creationId xmlns:a16="http://schemas.microsoft.com/office/drawing/2014/main" xmlns=""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a:solidFill>
                  <a:schemeClr val="lt1"/>
                </a:solidFill>
                <a:latin typeface="+mn-lt"/>
                <a:ea typeface="+mn-ea"/>
                <a:cs typeface="+mn-cs"/>
              </a:defRPr>
            </a:lvl1pPr>
          </a:lstStyle>
          <a:p>
            <a:pPr lvl="0"/>
            <a:r>
              <a:rPr lang="en-US"/>
              <a:t>Write Subject Name (Short Name)</a:t>
            </a:r>
          </a:p>
          <a:p>
            <a:pPr lvl="0"/>
            <a:r>
              <a:rPr lang="en-US"/>
              <a:t>GTU # Subject Code</a:t>
            </a:r>
          </a:p>
        </p:txBody>
      </p:sp>
      <p:pic>
        <p:nvPicPr>
          <p:cNvPr id="21" name="Picture 20" descr="User icon Royalty Free Vector Image - VectorStock">
            <a:extLst>
              <a:ext uri="{FF2B5EF4-FFF2-40B4-BE49-F238E27FC236}">
                <a16:creationId xmlns:a16="http://schemas.microsoft.com/office/drawing/2014/main" xmlns="" id="{A2F1AAAC-C051-4A31-837B-4A9977722A44}"/>
              </a:ext>
            </a:extLst>
          </p:cNvPr>
          <p:cNvPicPr>
            <a:picLocks noChangeAspect="1" noChangeArrowheads="1"/>
          </p:cNvPicPr>
          <p:nvPr userDrawn="1"/>
        </p:nvPicPr>
        <p:blipFill>
          <a:blip r:embed="rId10">
            <a:lum bright="70000" contrast="-70000"/>
            <a:extLst>
              <a:ext uri="{28A0092B-C50C-407E-A947-70E740481C1C}">
                <a14:useLocalDpi xmlns:a14="http://schemas.microsoft.com/office/drawing/2010/main" val="0"/>
              </a:ext>
            </a:extLst>
          </a:blip>
          <a:srcRect l="26030" t="21389" r="26030" b="34222"/>
          <a:stretch>
            <a:fillRect/>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0" name="Picture Placeholder 29">
            <a:extLst>
              <a:ext uri="{FF2B5EF4-FFF2-40B4-BE49-F238E27FC236}">
                <a16:creationId xmlns:a16="http://schemas.microsoft.com/office/drawing/2014/main" xmlns="" id="{ADF34BDA-AFB4-4120-81EF-C0AB56D388CB}"/>
              </a:ext>
            </a:extLst>
          </p:cNvPr>
          <p:cNvSpPr>
            <a:spLocks noGrp="1"/>
          </p:cNvSpPr>
          <p:nvPr>
            <p:ph type="pic" sz="quarter" idx="10"/>
          </p:nvPr>
        </p:nvSpPr>
        <p:spPr>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endParaRPr lang="en-US"/>
          </a:p>
        </p:txBody>
      </p:sp>
    </p:spTree>
    <p:extLst>
      <p:ext uri="{BB962C8B-B14F-4D97-AF65-F5344CB8AC3E}">
        <p14:creationId xmlns:p14="http://schemas.microsoft.com/office/powerpoint/2010/main" val="1170502507"/>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5BF5063B-909B-4A7F-B502-78022804391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xmlns="" id="{6027DDF1-16E2-4622-B8FD-0148CD5CE0F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827EA166-F18A-4D32-AA1F-AE475D49103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CD21B45-1703-4330-B544-825BD8F37AF2}" type="datetimeFigureOut">
              <a:rPr lang="en-US" smtClean="0"/>
              <a:t>2/8/2024</a:t>
            </a:fld>
            <a:endParaRPr lang="en-US"/>
          </a:p>
        </p:txBody>
      </p:sp>
      <p:sp>
        <p:nvSpPr>
          <p:cNvPr id="5" name="Footer Placeholder 4">
            <a:extLst>
              <a:ext uri="{FF2B5EF4-FFF2-40B4-BE49-F238E27FC236}">
                <a16:creationId xmlns:a16="http://schemas.microsoft.com/office/drawing/2014/main" xmlns="" id="{205C5379-5B41-4775-9279-F9F7608E662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xmlns="" id="{A1A4B342-6FD5-4BB7-B9AE-3C5081C089F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641F3C7-36DD-4595-AA08-2525D86280BD}" type="slidenum">
              <a:rPr lang="en-US" smtClean="0"/>
              <a:t>‹#›</a:t>
            </a:fld>
            <a:endParaRPr lang="en-US"/>
          </a:p>
        </p:txBody>
      </p:sp>
    </p:spTree>
    <p:extLst>
      <p:ext uri="{BB962C8B-B14F-4D97-AF65-F5344CB8AC3E}">
        <p14:creationId xmlns:p14="http://schemas.microsoft.com/office/powerpoint/2010/main" val="791954662"/>
      </p:ext>
    </p:extLst>
  </p:cSld>
  <p:clrMap bg1="lt1" tx1="dk1" bg2="lt2" tx2="dk2" accent1="accent1" accent2="accent2" accent3="accent3" accent4="accent4" accent5="accent5" accent6="accent6" hlink="hlink" folHlink="folHlink"/>
  <p:sldLayoutIdLst>
    <p:sldLayoutId id="2147483667" r:id="rId1"/>
    <p:sldLayoutId id="2147483670" r:id="rId2"/>
    <p:sldLayoutId id="2147483687" r:id="rId3"/>
    <p:sldLayoutId id="2147483688" r:id="rId4"/>
    <p:sldLayoutId id="2147483671" r:id="rId5"/>
    <p:sldLayoutId id="2147483672" r:id="rId6"/>
    <p:sldLayoutId id="2147483689" r:id="rId7"/>
    <p:sldLayoutId id="2147483690" r:id="rId8"/>
    <p:sldLayoutId id="2147483673" r:id="rId9"/>
    <p:sldLayoutId id="2147483693" r:id="rId10"/>
    <p:sldLayoutId id="2147483692" r:id="rId11"/>
    <p:sldLayoutId id="2147483691" r:id="rId12"/>
    <p:sldLayoutId id="2147483674" r:id="rId13"/>
    <p:sldLayoutId id="2147483676" r:id="rId14"/>
    <p:sldLayoutId id="2147483677" r:id="rId15"/>
    <p:sldLayoutId id="2147483678" r:id="rId16"/>
    <p:sldLayoutId id="2147483679" r:id="rId17"/>
    <p:sldLayoutId id="2147483681" r:id="rId18"/>
    <p:sldLayoutId id="2147483683" r:id="rId19"/>
    <p:sldLayoutId id="2147483682" r:id="rId20"/>
    <p:sldLayoutId id="2147483684" r:id="rId21"/>
    <p:sldLayoutId id="2147483685" r:id="rId22"/>
    <p:sldLayoutId id="2147483686" r:id="rId23"/>
  </p:sldLayoutIdLst>
  <p:transition/>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2.jp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28.png"/><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3" Type="http://schemas.microsoft.com/office/2007/relationships/hdphoto" Target="../media/hdphoto5.wdp"/><Relationship Id="rId2" Type="http://schemas.openxmlformats.org/officeDocument/2006/relationships/image" Target="../media/image29.png"/><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3" Type="http://schemas.microsoft.com/office/2007/relationships/hdphoto" Target="../media/hdphoto6.wdp"/><Relationship Id="rId2" Type="http://schemas.openxmlformats.org/officeDocument/2006/relationships/image" Target="../media/image30.png"/><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3" Type="http://schemas.microsoft.com/office/2007/relationships/hdphoto" Target="../media/hdphoto6.wdp"/><Relationship Id="rId2" Type="http://schemas.openxmlformats.org/officeDocument/2006/relationships/image" Target="../media/image30.png"/><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3" Type="http://schemas.microsoft.com/office/2007/relationships/hdphoto" Target="../media/hdphoto7.wdp"/><Relationship Id="rId2" Type="http://schemas.openxmlformats.org/officeDocument/2006/relationships/image" Target="../media/image31.png"/><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3" Type="http://schemas.microsoft.com/office/2007/relationships/hdphoto" Target="../media/hdphoto8.wdp"/><Relationship Id="rId2" Type="http://schemas.openxmlformats.org/officeDocument/2006/relationships/image" Target="../media/image32.png"/><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3" Type="http://schemas.microsoft.com/office/2007/relationships/hdphoto" Target="../media/hdphoto9.wdp"/><Relationship Id="rId2" Type="http://schemas.openxmlformats.org/officeDocument/2006/relationships/image" Target="../media/image33.png"/><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2" Type="http://schemas.openxmlformats.org/officeDocument/2006/relationships/image" Target="../media/image34.jpg"/><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xmlns="" id="{03F305CB-DBE2-45D5-8D0B-92106F27C4BB}"/>
              </a:ext>
            </a:extLst>
          </p:cNvPr>
          <p:cNvSpPr>
            <a:spLocks noGrp="1"/>
          </p:cNvSpPr>
          <p:nvPr>
            <p:ph type="ctrTitle"/>
          </p:nvPr>
        </p:nvSpPr>
        <p:spPr>
          <a:xfrm>
            <a:off x="559490" y="1122364"/>
            <a:ext cx="7315200" cy="3566160"/>
          </a:xfrm>
        </p:spPr>
        <p:txBody>
          <a:bodyPr/>
          <a:lstStyle/>
          <a:p>
            <a:r>
              <a:rPr lang="en-US" sz="4800" b="0" dirty="0">
                <a:latin typeface="Roboto Condensed Light" panose="02000000000000000000" pitchFamily="2" charset="0"/>
                <a:ea typeface="Roboto Condensed Light" panose="02000000000000000000" pitchFamily="2" charset="0"/>
              </a:rPr>
              <a:t>Chapter </a:t>
            </a:r>
            <a:r>
              <a:rPr lang="en-US" sz="4800" b="0" dirty="0" smtClean="0">
                <a:latin typeface="Roboto Condensed Light" panose="02000000000000000000" pitchFamily="2" charset="0"/>
                <a:ea typeface="Roboto Condensed Light" panose="02000000000000000000" pitchFamily="2" charset="0"/>
              </a:rPr>
              <a:t>5</a:t>
            </a:r>
            <a:r>
              <a:rPr lang="en-US" dirty="0"/>
              <a:t/>
            </a:r>
            <a:br>
              <a:rPr lang="en-US" dirty="0"/>
            </a:br>
            <a:r>
              <a:rPr lang="en-US" dirty="0" err="1" smtClean="0"/>
              <a:t>Input/Output</a:t>
            </a:r>
            <a:r>
              <a:rPr lang="en-US" dirty="0" smtClean="0"/>
              <a:t> Management</a:t>
            </a:r>
            <a:endParaRPr lang="en-US" dirty="0"/>
          </a:p>
        </p:txBody>
      </p:sp>
      <p:sp>
        <p:nvSpPr>
          <p:cNvPr id="12" name="Text Placeholder 11">
            <a:extLst>
              <a:ext uri="{FF2B5EF4-FFF2-40B4-BE49-F238E27FC236}">
                <a16:creationId xmlns:a16="http://schemas.microsoft.com/office/drawing/2014/main" xmlns="" id="{915CF252-06A8-43C0-BB69-DA7109EA62D1}"/>
              </a:ext>
            </a:extLst>
          </p:cNvPr>
          <p:cNvSpPr>
            <a:spLocks noGrp="1"/>
          </p:cNvSpPr>
          <p:nvPr>
            <p:ph type="body" sz="quarter" idx="13"/>
          </p:nvPr>
        </p:nvSpPr>
        <p:spPr/>
        <p:txBody>
          <a:bodyPr/>
          <a:lstStyle/>
          <a:p>
            <a:r>
              <a:rPr lang="en-US" dirty="0"/>
              <a:t>Computer Engineering Department</a:t>
            </a:r>
          </a:p>
        </p:txBody>
      </p:sp>
      <p:sp>
        <p:nvSpPr>
          <p:cNvPr id="13" name="Text Placeholder 12">
            <a:extLst>
              <a:ext uri="{FF2B5EF4-FFF2-40B4-BE49-F238E27FC236}">
                <a16:creationId xmlns:a16="http://schemas.microsoft.com/office/drawing/2014/main" xmlns="" id="{89F5B5F8-350F-4941-B9DE-36BF8B014803}"/>
              </a:ext>
            </a:extLst>
          </p:cNvPr>
          <p:cNvSpPr>
            <a:spLocks noGrp="1"/>
          </p:cNvSpPr>
          <p:nvPr>
            <p:ph type="body" sz="quarter" idx="14"/>
          </p:nvPr>
        </p:nvSpPr>
        <p:spPr/>
        <p:txBody>
          <a:bodyPr/>
          <a:lstStyle/>
          <a:p>
            <a:r>
              <a:rPr lang="en-US" dirty="0"/>
              <a:t>Asst. Prof. </a:t>
            </a:r>
            <a:r>
              <a:rPr lang="en-US" dirty="0" err="1" smtClean="0"/>
              <a:t>Jhumi</a:t>
            </a:r>
            <a:r>
              <a:rPr lang="en-US" dirty="0" smtClean="0"/>
              <a:t> </a:t>
            </a:r>
            <a:r>
              <a:rPr lang="en-US" dirty="0" err="1" smtClean="0"/>
              <a:t>Thapa</a:t>
            </a:r>
            <a:endParaRPr lang="en-US" dirty="0"/>
          </a:p>
        </p:txBody>
      </p:sp>
      <p:sp>
        <p:nvSpPr>
          <p:cNvPr id="14" name="Text Placeholder 13">
            <a:extLst>
              <a:ext uri="{FF2B5EF4-FFF2-40B4-BE49-F238E27FC236}">
                <a16:creationId xmlns:a16="http://schemas.microsoft.com/office/drawing/2014/main" xmlns="" id="{E2AD8B6E-51EA-4A15-8752-4F221E5E02C5}"/>
              </a:ext>
            </a:extLst>
          </p:cNvPr>
          <p:cNvSpPr>
            <a:spLocks noGrp="1"/>
          </p:cNvSpPr>
          <p:nvPr>
            <p:ph type="body" sz="quarter" idx="16"/>
          </p:nvPr>
        </p:nvSpPr>
        <p:spPr/>
        <p:txBody>
          <a:bodyPr/>
          <a:lstStyle/>
          <a:p>
            <a:r>
              <a:rPr lang="en-US" b="1" dirty="0"/>
              <a:t>Operating System </a:t>
            </a:r>
            <a:r>
              <a:rPr lang="en-US" dirty="0">
                <a:latin typeface="Roboto Condensed Light" panose="02000000000000000000" pitchFamily="2" charset="0"/>
                <a:ea typeface="Roboto Condensed Light" panose="02000000000000000000" pitchFamily="2" charset="0"/>
              </a:rPr>
              <a:t>(OS)</a:t>
            </a:r>
          </a:p>
        </p:txBody>
      </p:sp>
    </p:spTree>
    <p:extLst>
      <p:ext uri="{BB962C8B-B14F-4D97-AF65-F5344CB8AC3E}">
        <p14:creationId xmlns:p14="http://schemas.microsoft.com/office/powerpoint/2010/main" val="1600834761"/>
      </p:ext>
    </p:extLst>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A1F5560-23D2-4401-3B15-10AFC53D4A95}"/>
              </a:ext>
            </a:extLst>
          </p:cNvPr>
          <p:cNvSpPr>
            <a:spLocks noGrp="1"/>
          </p:cNvSpPr>
          <p:nvPr>
            <p:ph type="title"/>
          </p:nvPr>
        </p:nvSpPr>
        <p:spPr/>
        <p:txBody>
          <a:bodyPr/>
          <a:lstStyle/>
          <a:p>
            <a:r>
              <a:rPr lang="en-US" dirty="0"/>
              <a:t>Introduction</a:t>
            </a:r>
          </a:p>
        </p:txBody>
      </p:sp>
      <p:sp>
        <p:nvSpPr>
          <p:cNvPr id="3" name="Content Placeholder 2">
            <a:extLst>
              <a:ext uri="{FF2B5EF4-FFF2-40B4-BE49-F238E27FC236}">
                <a16:creationId xmlns:a16="http://schemas.microsoft.com/office/drawing/2014/main" xmlns="" id="{CD7AEC1A-6543-07C2-F045-204FB71A3D0A}"/>
              </a:ext>
            </a:extLst>
          </p:cNvPr>
          <p:cNvSpPr>
            <a:spLocks noGrp="1"/>
          </p:cNvSpPr>
          <p:nvPr>
            <p:ph idx="1"/>
          </p:nvPr>
        </p:nvSpPr>
        <p:spPr/>
        <p:txBody>
          <a:bodyPr/>
          <a:lstStyle/>
          <a:p>
            <a:r>
              <a:rPr lang="en-US" dirty="0"/>
              <a:t>Input/output or I/O is the communication between an information processing system, such as a computer, and the outside world, possibly a human or another information processing system.</a:t>
            </a:r>
          </a:p>
          <a:p>
            <a:r>
              <a:rPr lang="en-US" dirty="0"/>
              <a:t>Inputs are the signals or data received by the system and outputs are the signals or data sent from it. </a:t>
            </a:r>
          </a:p>
          <a:p>
            <a:r>
              <a:rPr lang="en-US" dirty="0"/>
              <a:t>The term can also be used as part of an action; to "perform I/O" is to perform an input or output operation.</a:t>
            </a:r>
          </a:p>
          <a:p>
            <a:r>
              <a:rPr lang="en-US" dirty="0"/>
              <a:t>OS controls all of the computer‘s I/O devices. For that, the OS should:</a:t>
            </a:r>
          </a:p>
          <a:p>
            <a:pPr lvl="1"/>
            <a:r>
              <a:rPr lang="en-US" dirty="0"/>
              <a:t>issue commands to handle the I/O devices</a:t>
            </a:r>
          </a:p>
          <a:p>
            <a:pPr lvl="1"/>
            <a:r>
              <a:rPr lang="en-US" dirty="0"/>
              <a:t>catch the interrupts</a:t>
            </a:r>
          </a:p>
          <a:p>
            <a:pPr lvl="1"/>
            <a:r>
              <a:rPr lang="en-US" dirty="0"/>
              <a:t>handle the errors</a:t>
            </a:r>
          </a:p>
          <a:p>
            <a:pPr lvl="1"/>
            <a:r>
              <a:rPr lang="en-US" dirty="0"/>
              <a:t>Provide the interface between devices and rest of the system.</a:t>
            </a:r>
          </a:p>
          <a:p>
            <a:endParaRPr lang="en-US" dirty="0"/>
          </a:p>
        </p:txBody>
      </p:sp>
    </p:spTree>
    <p:extLst>
      <p:ext uri="{BB962C8B-B14F-4D97-AF65-F5344CB8AC3E}">
        <p14:creationId xmlns:p14="http://schemas.microsoft.com/office/powerpoint/2010/main" val="767075385"/>
      </p:ext>
    </p:extLst>
  </p:cSld>
  <p:clrMapOvr>
    <a:masterClrMapping/>
  </p:clrMapOv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I/O Interface</a:t>
            </a:r>
            <a:endParaRPr lang="en-US" dirty="0"/>
          </a:p>
        </p:txBody>
      </p:sp>
      <p:sp>
        <p:nvSpPr>
          <p:cNvPr id="3" name="Content Placeholder 2"/>
          <p:cNvSpPr>
            <a:spLocks noGrp="1"/>
          </p:cNvSpPr>
          <p:nvPr>
            <p:ph idx="1"/>
          </p:nvPr>
        </p:nvSpPr>
        <p:spPr/>
        <p:txBody>
          <a:bodyPr/>
          <a:lstStyle/>
          <a:p>
            <a:r>
              <a:rPr lang="en-US" dirty="0" smtClean="0"/>
              <a:t>I/O Interface is </a:t>
            </a:r>
            <a:r>
              <a:rPr lang="en-US" dirty="0"/>
              <a:t>used as an method which helps in transferring of information between the internal storage devices i.e. memory and the external peripheral device . A peripheral device is that which provide input and output for the computer, it is also called Input-Output devices</a:t>
            </a:r>
            <a:r>
              <a:rPr lang="en-US" dirty="0" smtClean="0"/>
              <a:t>.</a:t>
            </a:r>
          </a:p>
          <a:p>
            <a:r>
              <a:rPr lang="en-US" dirty="0" smtClean="0"/>
              <a:t>I/O interface can be software</a:t>
            </a:r>
          </a:p>
          <a:p>
            <a:pPr marL="0" indent="0">
              <a:buNone/>
            </a:pPr>
            <a:r>
              <a:rPr lang="en-US" dirty="0" smtClean="0"/>
              <a:t>   and hardware.</a:t>
            </a: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07940" y="1935678"/>
            <a:ext cx="7723001" cy="4366814"/>
          </a:xfrm>
          <a:prstGeom prst="rect">
            <a:avLst/>
          </a:prstGeom>
        </p:spPr>
      </p:pic>
    </p:spTree>
    <p:extLst>
      <p:ext uri="{BB962C8B-B14F-4D97-AF65-F5344CB8AC3E}">
        <p14:creationId xmlns:p14="http://schemas.microsoft.com/office/powerpoint/2010/main" val="1197290032"/>
      </p:ext>
    </p:extLst>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Need of I/O Interface</a:t>
            </a:r>
            <a:endParaRPr lang="en-US" dirty="0"/>
          </a:p>
        </p:txBody>
      </p:sp>
      <p:sp>
        <p:nvSpPr>
          <p:cNvPr id="3" name="Content Placeholder 2"/>
          <p:cNvSpPr>
            <a:spLocks noGrp="1"/>
          </p:cNvSpPr>
          <p:nvPr>
            <p:ph idx="1"/>
          </p:nvPr>
        </p:nvSpPr>
        <p:spPr/>
        <p:txBody>
          <a:bodyPr/>
          <a:lstStyle/>
          <a:p>
            <a:pPr fontAlgn="base"/>
            <a:r>
              <a:rPr lang="en-US" dirty="0"/>
              <a:t>The nature of peripheral devices is electromagnetic and electro-mechanical. The nature of the CPU is electronic. There is a lot of difference in the mode of operation of both peripheral devices and CPU.</a:t>
            </a:r>
          </a:p>
          <a:p>
            <a:pPr fontAlgn="base"/>
            <a:r>
              <a:rPr lang="en-US" dirty="0"/>
              <a:t>There is also a synchronization mechanism because the data transfer rate of peripheral devices are slow than CPU.</a:t>
            </a:r>
          </a:p>
          <a:p>
            <a:pPr fontAlgn="base"/>
            <a:r>
              <a:rPr lang="en-US" dirty="0"/>
              <a:t>In peripheral devices, data code and formats are differ from the format in the CPU and memory.</a:t>
            </a:r>
          </a:p>
          <a:p>
            <a:pPr fontAlgn="base"/>
            <a:r>
              <a:rPr lang="en-US" dirty="0"/>
              <a:t>The operating mode of peripheral devices are different and each may be controlled so as not to disturb the operation of other peripheral devices connected to CPU.</a:t>
            </a:r>
          </a:p>
          <a:p>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58863" y="4025134"/>
            <a:ext cx="6153150" cy="2428875"/>
          </a:xfrm>
          <a:prstGeom prst="rect">
            <a:avLst/>
          </a:prstGeom>
        </p:spPr>
      </p:pic>
    </p:spTree>
    <p:extLst>
      <p:ext uri="{BB962C8B-B14F-4D97-AF65-F5344CB8AC3E}">
        <p14:creationId xmlns:p14="http://schemas.microsoft.com/office/powerpoint/2010/main" val="207192462"/>
      </p:ext>
    </p:extLst>
  </p:cSld>
  <p:clrMapOvr>
    <a:masterClrMapping/>
  </p:clrMapOv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Principles of I/O Hardware</a:t>
            </a:r>
          </a:p>
        </p:txBody>
      </p:sp>
      <p:sp>
        <p:nvSpPr>
          <p:cNvPr id="3" name="Content Placeholder 2"/>
          <p:cNvSpPr>
            <a:spLocks noGrp="1"/>
          </p:cNvSpPr>
          <p:nvPr>
            <p:ph idx="1"/>
          </p:nvPr>
        </p:nvSpPr>
        <p:spPr/>
        <p:txBody>
          <a:bodyPr/>
          <a:lstStyle/>
          <a:p>
            <a:r>
              <a:rPr lang="en-US" dirty="0"/>
              <a:t>Different people look at I/O hardware differently</a:t>
            </a:r>
          </a:p>
          <a:p>
            <a:r>
              <a:rPr lang="en-US" dirty="0"/>
              <a:t>Electrical engineers look in terms of chips, wires, motors, power supplies and other physical components that make up the hardware</a:t>
            </a:r>
          </a:p>
          <a:p>
            <a:r>
              <a:rPr lang="en-US" dirty="0"/>
              <a:t>Programmers look at the interface presented to the software (the commands the hardware accepts, the function it carries out and the errors that can be reported back)</a:t>
            </a:r>
          </a:p>
          <a:p>
            <a:r>
              <a:rPr lang="en-US" dirty="0"/>
              <a:t>We are concerned with programming I/O devices, not designing, building or maintaining them.</a:t>
            </a:r>
          </a:p>
          <a:p>
            <a:r>
              <a:rPr lang="en-US" dirty="0"/>
              <a:t>Our interest is restricted to how the hardware is programmed not, how it works inside.</a:t>
            </a:r>
          </a:p>
          <a:p>
            <a:endParaRPr lang="en-US" dirty="0"/>
          </a:p>
        </p:txBody>
      </p:sp>
    </p:spTree>
    <p:extLst>
      <p:ext uri="{BB962C8B-B14F-4D97-AF65-F5344CB8AC3E}">
        <p14:creationId xmlns:p14="http://schemas.microsoft.com/office/powerpoint/2010/main" val="1739312579"/>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EE256B5-1C34-F822-6D25-E6FA277CCA12}"/>
              </a:ext>
            </a:extLst>
          </p:cNvPr>
          <p:cNvSpPr>
            <a:spLocks noGrp="1"/>
          </p:cNvSpPr>
          <p:nvPr>
            <p:ph type="title"/>
          </p:nvPr>
        </p:nvSpPr>
        <p:spPr/>
        <p:txBody>
          <a:bodyPr/>
          <a:lstStyle/>
          <a:p>
            <a:r>
              <a:rPr lang="en-US" dirty="0"/>
              <a:t>I/O Devices</a:t>
            </a:r>
          </a:p>
        </p:txBody>
      </p:sp>
      <p:sp>
        <p:nvSpPr>
          <p:cNvPr id="3" name="Content Placeholder 2">
            <a:extLst>
              <a:ext uri="{FF2B5EF4-FFF2-40B4-BE49-F238E27FC236}">
                <a16:creationId xmlns:a16="http://schemas.microsoft.com/office/drawing/2014/main" xmlns="" id="{34BC0D0F-5336-25E1-1ECE-19D8BBAF003C}"/>
              </a:ext>
            </a:extLst>
          </p:cNvPr>
          <p:cNvSpPr>
            <a:spLocks noGrp="1"/>
          </p:cNvSpPr>
          <p:nvPr>
            <p:ph idx="1"/>
          </p:nvPr>
        </p:nvSpPr>
        <p:spPr/>
        <p:txBody>
          <a:bodyPr/>
          <a:lstStyle/>
          <a:p>
            <a:r>
              <a:rPr lang="en-US" dirty="0"/>
              <a:t>I/O devices are the pieces of hardware used by a human (or other system) to communicate with a computer. For instance, a keyboard or computer mouse is an input device for a computer, while monitors and printers are output devices. I/O devices can be roughly divided into:</a:t>
            </a:r>
          </a:p>
          <a:p>
            <a:r>
              <a:rPr lang="en-US" b="1" dirty="0"/>
              <a:t>Block devices</a:t>
            </a:r>
          </a:p>
          <a:p>
            <a:pPr lvl="1"/>
            <a:r>
              <a:rPr lang="en-US" dirty="0"/>
              <a:t>stores information in a fixed sized block, each one with its own address.</a:t>
            </a:r>
          </a:p>
          <a:p>
            <a:pPr lvl="1"/>
            <a:r>
              <a:rPr lang="en-US" dirty="0"/>
              <a:t>common block size ranges from 512 bytes to 32,768 bytes</a:t>
            </a:r>
          </a:p>
          <a:p>
            <a:pPr lvl="1"/>
            <a:r>
              <a:rPr lang="en-US" dirty="0"/>
              <a:t>data transfer takes place in blocks</a:t>
            </a:r>
          </a:p>
          <a:p>
            <a:pPr lvl="1"/>
            <a:r>
              <a:rPr lang="en-US" dirty="0"/>
              <a:t>block addressable not byte addressable</a:t>
            </a:r>
          </a:p>
          <a:p>
            <a:pPr lvl="1"/>
            <a:r>
              <a:rPr lang="en-US" dirty="0"/>
              <a:t>e.g. Hard disks, CD-ROMs, USB sticks etc.</a:t>
            </a:r>
          </a:p>
          <a:p>
            <a:r>
              <a:rPr lang="en-US" b="1" dirty="0"/>
              <a:t>Character devices</a:t>
            </a:r>
          </a:p>
          <a:p>
            <a:pPr lvl="1"/>
            <a:r>
              <a:rPr lang="en-US" dirty="0"/>
              <a:t>delivers or accepts a stream of characters, without regard to any block structure</a:t>
            </a:r>
          </a:p>
          <a:p>
            <a:pPr lvl="1"/>
            <a:r>
              <a:rPr lang="en-US" dirty="0"/>
              <a:t>they are not addressable</a:t>
            </a:r>
          </a:p>
          <a:p>
            <a:pPr lvl="1"/>
            <a:r>
              <a:rPr lang="en-US" dirty="0"/>
              <a:t>e.g. printers, network interfaces, mice etc.</a:t>
            </a:r>
          </a:p>
          <a:p>
            <a:endParaRPr lang="en-US" dirty="0"/>
          </a:p>
          <a:p>
            <a:endParaRPr lang="en-US" dirty="0"/>
          </a:p>
        </p:txBody>
      </p:sp>
    </p:spTree>
    <p:extLst>
      <p:ext uri="{BB962C8B-B14F-4D97-AF65-F5344CB8AC3E}">
        <p14:creationId xmlns:p14="http://schemas.microsoft.com/office/powerpoint/2010/main" val="724221996"/>
      </p:ext>
    </p:extLst>
  </p:cSld>
  <p:clrMapOvr>
    <a:masterClrMapping/>
  </p:clrMapOv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4849F96-44C9-62D7-5203-E2E13F1C5B19}"/>
              </a:ext>
            </a:extLst>
          </p:cNvPr>
          <p:cNvSpPr>
            <a:spLocks noGrp="1"/>
          </p:cNvSpPr>
          <p:nvPr>
            <p:ph type="title"/>
          </p:nvPr>
        </p:nvSpPr>
        <p:spPr/>
        <p:txBody>
          <a:bodyPr/>
          <a:lstStyle/>
          <a:p>
            <a:r>
              <a:rPr lang="en-US" dirty="0"/>
              <a:t>Device Controllers</a:t>
            </a:r>
          </a:p>
        </p:txBody>
      </p:sp>
      <p:sp>
        <p:nvSpPr>
          <p:cNvPr id="3" name="Content Placeholder 2">
            <a:extLst>
              <a:ext uri="{FF2B5EF4-FFF2-40B4-BE49-F238E27FC236}">
                <a16:creationId xmlns:a16="http://schemas.microsoft.com/office/drawing/2014/main" xmlns="" id="{EF45EABF-6244-4B87-9DAE-8EBF2A7E231D}"/>
              </a:ext>
            </a:extLst>
          </p:cNvPr>
          <p:cNvSpPr>
            <a:spLocks noGrp="1"/>
          </p:cNvSpPr>
          <p:nvPr>
            <p:ph idx="1"/>
          </p:nvPr>
        </p:nvSpPr>
        <p:spPr/>
        <p:txBody>
          <a:bodyPr/>
          <a:lstStyle/>
          <a:p>
            <a:r>
              <a:rPr lang="en-US" dirty="0"/>
              <a:t>The Device Controller works like an interface between a device and a device driver. </a:t>
            </a:r>
          </a:p>
          <a:p>
            <a:r>
              <a:rPr lang="en-US" dirty="0"/>
              <a:t>I/O units (Keyboard, mouse, printer, etc.) typically consist of a mechanical component and an electronic component where electronic component is called the device controller</a:t>
            </a:r>
            <a:r>
              <a:rPr lang="en-US" dirty="0" smtClean="0"/>
              <a:t>.</a:t>
            </a:r>
          </a:p>
          <a:p>
            <a:r>
              <a:rPr lang="en-US" dirty="0" smtClean="0"/>
              <a:t>A </a:t>
            </a:r>
            <a:r>
              <a:rPr lang="en-US" dirty="0"/>
              <a:t>device controller is a piece of hardware that receives commands from the system bus, translates them into device actions and reads/writes the data onto the system bus.</a:t>
            </a:r>
          </a:p>
          <a:p>
            <a:r>
              <a:rPr lang="en-US" dirty="0" smtClean="0"/>
              <a:t>A </a:t>
            </a:r>
            <a:r>
              <a:rPr lang="en-US" dirty="0"/>
              <a:t>device controller is a part of a computer system that makes sense of the signals going to, and coming </a:t>
            </a:r>
            <a:r>
              <a:rPr lang="en-US" dirty="0" smtClean="0"/>
              <a:t>from </a:t>
            </a:r>
            <a:r>
              <a:rPr lang="en-US" dirty="0"/>
              <a:t>the </a:t>
            </a:r>
            <a:r>
              <a:rPr lang="en-US" dirty="0" smtClean="0"/>
              <a:t>CPU.</a:t>
            </a:r>
            <a:endParaRPr lang="en-US" dirty="0"/>
          </a:p>
          <a:p>
            <a:endParaRPr lang="en-US" dirty="0"/>
          </a:p>
        </p:txBody>
      </p:sp>
      <p:pic>
        <p:nvPicPr>
          <p:cNvPr id="4" name="image65.jpeg">
            <a:extLst>
              <a:ext uri="{FF2B5EF4-FFF2-40B4-BE49-F238E27FC236}">
                <a16:creationId xmlns:a16="http://schemas.microsoft.com/office/drawing/2014/main" xmlns="" id="{5F6B9CC1-4784-3B21-D068-48B1E3CB7D5B}"/>
              </a:ext>
            </a:extLst>
          </p:cNvPr>
          <p:cNvPicPr>
            <a:picLocks noChangeAspect="1"/>
          </p:cNvPicPr>
          <p:nvPr/>
        </p:nvPicPr>
        <p:blipFill>
          <a:blip r:embed="rId2" cstate="print"/>
          <a:stretch>
            <a:fillRect/>
          </a:stretch>
        </p:blipFill>
        <p:spPr>
          <a:xfrm>
            <a:off x="4493437" y="3309199"/>
            <a:ext cx="7366587" cy="3144810"/>
          </a:xfrm>
          <a:prstGeom prst="rect">
            <a:avLst/>
          </a:prstGeom>
        </p:spPr>
      </p:pic>
    </p:spTree>
    <p:extLst>
      <p:ext uri="{BB962C8B-B14F-4D97-AF65-F5344CB8AC3E}">
        <p14:creationId xmlns:p14="http://schemas.microsoft.com/office/powerpoint/2010/main" val="1293481131"/>
      </p:ext>
    </p:extLst>
  </p:cSld>
  <p:clrMapOvr>
    <a:masterClrMapping/>
  </p:clrMapOv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4849F96-44C9-62D7-5203-E2E13F1C5B19}"/>
              </a:ext>
            </a:extLst>
          </p:cNvPr>
          <p:cNvSpPr>
            <a:spLocks noGrp="1"/>
          </p:cNvSpPr>
          <p:nvPr>
            <p:ph type="title"/>
          </p:nvPr>
        </p:nvSpPr>
        <p:spPr/>
        <p:txBody>
          <a:bodyPr/>
          <a:lstStyle/>
          <a:p>
            <a:r>
              <a:rPr lang="en-US" dirty="0"/>
              <a:t>Device Controllers</a:t>
            </a:r>
          </a:p>
        </p:txBody>
      </p:sp>
      <p:sp>
        <p:nvSpPr>
          <p:cNvPr id="3" name="Content Placeholder 2">
            <a:extLst>
              <a:ext uri="{FF2B5EF4-FFF2-40B4-BE49-F238E27FC236}">
                <a16:creationId xmlns:a16="http://schemas.microsoft.com/office/drawing/2014/main" xmlns="" id="{EF45EABF-6244-4B87-9DAE-8EBF2A7E231D}"/>
              </a:ext>
            </a:extLst>
          </p:cNvPr>
          <p:cNvSpPr>
            <a:spLocks noGrp="1"/>
          </p:cNvSpPr>
          <p:nvPr>
            <p:ph idx="1"/>
          </p:nvPr>
        </p:nvSpPr>
        <p:spPr/>
        <p:txBody>
          <a:bodyPr/>
          <a:lstStyle/>
          <a:p>
            <a:r>
              <a:rPr lang="en-US" dirty="0"/>
              <a:t>There are many device controllers in a computer system</a:t>
            </a:r>
          </a:p>
          <a:p>
            <a:r>
              <a:rPr lang="en-US" dirty="0"/>
              <a:t>Any device connected to the computer is connected by a plug and socket, and the socket is connected to a device controller</a:t>
            </a:r>
          </a:p>
          <a:p>
            <a:r>
              <a:rPr lang="en-US" dirty="0"/>
              <a:t>In personal computer, device controller usually takes the form of a chip on the parent board</a:t>
            </a:r>
          </a:p>
          <a:p>
            <a:r>
              <a:rPr lang="en-US" dirty="0"/>
              <a:t>Many controllers can handle two, four or even eight identical devices</a:t>
            </a:r>
          </a:p>
          <a:p>
            <a:endParaRPr lang="en-US" dirty="0"/>
          </a:p>
        </p:txBody>
      </p:sp>
      <p:pic>
        <p:nvPicPr>
          <p:cNvPr id="5" name="image65.jpeg">
            <a:extLst>
              <a:ext uri="{FF2B5EF4-FFF2-40B4-BE49-F238E27FC236}">
                <a16:creationId xmlns:a16="http://schemas.microsoft.com/office/drawing/2014/main" xmlns="" id="{CE74063F-7DD4-91D4-2A74-68CE3139F036}"/>
              </a:ext>
            </a:extLst>
          </p:cNvPr>
          <p:cNvPicPr>
            <a:picLocks noChangeAspect="1"/>
          </p:cNvPicPr>
          <p:nvPr/>
        </p:nvPicPr>
        <p:blipFill>
          <a:blip r:embed="rId2" cstate="print"/>
          <a:stretch>
            <a:fillRect/>
          </a:stretch>
        </p:blipFill>
        <p:spPr>
          <a:xfrm>
            <a:off x="1654321" y="3171345"/>
            <a:ext cx="7366587" cy="3144810"/>
          </a:xfrm>
          <a:prstGeom prst="rect">
            <a:avLst/>
          </a:prstGeom>
        </p:spPr>
      </p:pic>
    </p:spTree>
    <p:extLst>
      <p:ext uri="{BB962C8B-B14F-4D97-AF65-F5344CB8AC3E}">
        <p14:creationId xmlns:p14="http://schemas.microsoft.com/office/powerpoint/2010/main" val="592113601"/>
      </p:ext>
    </p:extLst>
  </p:cSld>
  <p:clrMapOvr>
    <a:masterClrMapping/>
  </p:clrMapOv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I/O Mapped or Isolated I/O</a:t>
            </a:r>
            <a:endParaRPr lang="en-US" dirty="0"/>
          </a:p>
        </p:txBody>
      </p:sp>
      <p:sp>
        <p:nvSpPr>
          <p:cNvPr id="3" name="Content Placeholder 2"/>
          <p:cNvSpPr>
            <a:spLocks noGrp="1"/>
          </p:cNvSpPr>
          <p:nvPr>
            <p:ph idx="1"/>
          </p:nvPr>
        </p:nvSpPr>
        <p:spPr/>
        <p:txBody>
          <a:bodyPr/>
          <a:lstStyle/>
          <a:p>
            <a:pPr>
              <a:lnSpc>
                <a:spcPct val="100000"/>
              </a:lnSpc>
              <a:spcBef>
                <a:spcPts val="600"/>
              </a:spcBef>
            </a:pPr>
            <a:r>
              <a:rPr lang="en-US" dirty="0" smtClean="0"/>
              <a:t>I/O mapped, </a:t>
            </a:r>
            <a:r>
              <a:rPr lang="en-US" dirty="0"/>
              <a:t>in which we </a:t>
            </a:r>
            <a:r>
              <a:rPr lang="en-US" dirty="0" smtClean="0"/>
              <a:t>have </a:t>
            </a:r>
            <a:r>
              <a:rPr lang="en-US" dirty="0"/>
              <a:t>common bus(data and </a:t>
            </a:r>
            <a:r>
              <a:rPr lang="en-US" dirty="0" smtClean="0"/>
              <a:t>address</a:t>
            </a:r>
            <a:r>
              <a:rPr lang="en-US" dirty="0"/>
              <a:t>) for I/O and memory </a:t>
            </a:r>
            <a:r>
              <a:rPr lang="en-US" dirty="0" smtClean="0"/>
              <a:t>but separate </a:t>
            </a:r>
            <a:r>
              <a:rPr lang="en-US" dirty="0"/>
              <a:t>read and write control lines </a:t>
            </a:r>
            <a:r>
              <a:rPr lang="en-US" dirty="0" smtClean="0"/>
              <a:t>for I/O.</a:t>
            </a:r>
          </a:p>
          <a:p>
            <a:pPr>
              <a:lnSpc>
                <a:spcPct val="100000"/>
              </a:lnSpc>
              <a:spcBef>
                <a:spcPts val="600"/>
              </a:spcBef>
            </a:pPr>
            <a:r>
              <a:rPr lang="en-US" dirty="0" smtClean="0"/>
              <a:t>CPU distinguishes between memory and </a:t>
            </a:r>
            <a:endParaRPr lang="en-US" dirty="0"/>
          </a:p>
          <a:p>
            <a:pPr marL="0" indent="0">
              <a:lnSpc>
                <a:spcPct val="100000"/>
              </a:lnSpc>
              <a:spcBef>
                <a:spcPts val="600"/>
              </a:spcBef>
              <a:buNone/>
            </a:pPr>
            <a:r>
              <a:rPr lang="en-US" dirty="0" smtClean="0"/>
              <a:t>   i/o using control signals.</a:t>
            </a:r>
          </a:p>
          <a:p>
            <a:pPr>
              <a:lnSpc>
                <a:spcPct val="100000"/>
              </a:lnSpc>
              <a:spcBef>
                <a:spcPts val="600"/>
              </a:spcBef>
            </a:pPr>
            <a:r>
              <a:rPr lang="en-US" dirty="0" smtClean="0"/>
              <a:t>i/o devices have their own addresses.</a:t>
            </a:r>
          </a:p>
          <a:p>
            <a:pPr>
              <a:lnSpc>
                <a:spcPct val="100000"/>
              </a:lnSpc>
              <a:spcBef>
                <a:spcPts val="600"/>
              </a:spcBef>
            </a:pPr>
            <a:r>
              <a:rPr lang="en-US" dirty="0" smtClean="0"/>
              <a:t>Ways to Communicate between CPU and</a:t>
            </a:r>
          </a:p>
          <a:p>
            <a:pPr marL="0" indent="0">
              <a:lnSpc>
                <a:spcPct val="100000"/>
              </a:lnSpc>
              <a:spcBef>
                <a:spcPts val="600"/>
              </a:spcBef>
              <a:buNone/>
            </a:pPr>
            <a:r>
              <a:rPr lang="en-US" dirty="0"/>
              <a:t> </a:t>
            </a:r>
            <a:r>
              <a:rPr lang="en-US" dirty="0" smtClean="0"/>
              <a:t>   i/o devices through buses. </a:t>
            </a:r>
          </a:p>
          <a:p>
            <a:pPr>
              <a:lnSpc>
                <a:spcPct val="100000"/>
              </a:lnSpc>
              <a:spcBef>
                <a:spcPts val="600"/>
              </a:spcBef>
            </a:pPr>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27044" y="1630919"/>
            <a:ext cx="6633777" cy="4975333"/>
          </a:xfrm>
          <a:prstGeom prst="rect">
            <a:avLst/>
          </a:prstGeom>
        </p:spPr>
      </p:pic>
    </p:spTree>
    <p:extLst>
      <p:ext uri="{BB962C8B-B14F-4D97-AF65-F5344CB8AC3E}">
        <p14:creationId xmlns:p14="http://schemas.microsoft.com/office/powerpoint/2010/main" val="1790717079"/>
      </p:ext>
    </p:extLst>
  </p:cSld>
  <p:clrMapOvr>
    <a:masterClrMapping/>
  </p:clrMapOv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46984D4-8AEF-9F29-C87B-5C5B686646FA}"/>
              </a:ext>
            </a:extLst>
          </p:cNvPr>
          <p:cNvSpPr>
            <a:spLocks noGrp="1"/>
          </p:cNvSpPr>
          <p:nvPr>
            <p:ph type="title"/>
          </p:nvPr>
        </p:nvSpPr>
        <p:spPr/>
        <p:txBody>
          <a:bodyPr/>
          <a:lstStyle/>
          <a:p>
            <a:r>
              <a:rPr lang="en-US" dirty="0"/>
              <a:t>Memory – Mapped I/O</a:t>
            </a:r>
          </a:p>
        </p:txBody>
      </p:sp>
      <p:sp>
        <p:nvSpPr>
          <p:cNvPr id="3" name="Content Placeholder 2">
            <a:extLst>
              <a:ext uri="{FF2B5EF4-FFF2-40B4-BE49-F238E27FC236}">
                <a16:creationId xmlns:a16="http://schemas.microsoft.com/office/drawing/2014/main" xmlns="" id="{1EA229C2-7E45-239F-AE2E-E4E0433CB457}"/>
              </a:ext>
            </a:extLst>
          </p:cNvPr>
          <p:cNvSpPr>
            <a:spLocks noGrp="1"/>
          </p:cNvSpPr>
          <p:nvPr>
            <p:ph idx="1"/>
          </p:nvPr>
        </p:nvSpPr>
        <p:spPr/>
        <p:txBody>
          <a:bodyPr/>
          <a:lstStyle/>
          <a:p>
            <a:r>
              <a:rPr lang="en-US" dirty="0"/>
              <a:t>In this case every bus in common due to which the same set of instructions work for memory and </a:t>
            </a:r>
            <a:r>
              <a:rPr lang="en-US" dirty="0" smtClean="0"/>
              <a:t>I/O and same </a:t>
            </a:r>
            <a:r>
              <a:rPr lang="en-US" dirty="0"/>
              <a:t>address space is shared by memory and I/O </a:t>
            </a:r>
            <a:r>
              <a:rPr lang="en-US" dirty="0" smtClean="0"/>
              <a:t>devices</a:t>
            </a:r>
            <a:r>
              <a:rPr lang="en-US" dirty="0"/>
              <a:t> due to which addressing capability of memory become less because some part is occupied by the I/O</a:t>
            </a:r>
            <a:r>
              <a:rPr lang="en-US" dirty="0" smtClean="0"/>
              <a:t>.</a:t>
            </a:r>
          </a:p>
          <a:p>
            <a:r>
              <a:rPr lang="en-US" dirty="0"/>
              <a:t>Processor does not differentiate between memory and I/O. Treats I/O devices also like memory devices</a:t>
            </a:r>
            <a:r>
              <a:rPr lang="en-US" dirty="0" smtClean="0"/>
              <a:t>.</a:t>
            </a:r>
          </a:p>
          <a:p>
            <a:r>
              <a:rPr lang="en-US" dirty="0"/>
              <a:t>I/O devices are mapped into memory space.</a:t>
            </a:r>
          </a:p>
          <a:p>
            <a:r>
              <a:rPr lang="en-US" dirty="0" smtClean="0"/>
              <a:t> </a:t>
            </a:r>
            <a:r>
              <a:rPr lang="en-US" dirty="0"/>
              <a:t>I/O devices are allotted memory addresses.</a:t>
            </a:r>
          </a:p>
          <a:p>
            <a:endParaRPr lang="en-US" dirty="0" smtClean="0"/>
          </a:p>
          <a:p>
            <a:endParaRPr lang="en-US"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45133" y="3306787"/>
            <a:ext cx="7671460" cy="3299465"/>
          </a:xfrm>
          <a:prstGeom prst="rect">
            <a:avLst/>
          </a:prstGeom>
        </p:spPr>
      </p:pic>
    </p:spTree>
    <p:extLst>
      <p:ext uri="{BB962C8B-B14F-4D97-AF65-F5344CB8AC3E}">
        <p14:creationId xmlns:p14="http://schemas.microsoft.com/office/powerpoint/2010/main" val="3730120287"/>
      </p:ext>
    </p:extLst>
  </p:cSld>
  <p:clrMapOvr>
    <a:masterClrMapping/>
  </p:clrMapOv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400" dirty="0" smtClean="0"/>
              <a:t> </a:t>
            </a:r>
            <a:br>
              <a:rPr lang="en-US" sz="4400" dirty="0" smtClean="0"/>
            </a:br>
            <a:r>
              <a:rPr lang="en-US" sz="4400" dirty="0" smtClean="0"/>
              <a:t>I/</a:t>
            </a:r>
            <a:r>
              <a:rPr lang="en-US" sz="3600" dirty="0" smtClean="0"/>
              <a:t>O mapped vs </a:t>
            </a:r>
            <a:r>
              <a:rPr lang="en-US" sz="3600" dirty="0"/>
              <a:t>Memory Mapped I/O</a:t>
            </a:r>
            <a:br>
              <a:rPr lang="en-US" sz="3600" dirty="0"/>
            </a:b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823130560"/>
              </p:ext>
            </p:extLst>
          </p:nvPr>
        </p:nvGraphicFramePr>
        <p:xfrm>
          <a:off x="154379" y="866898"/>
          <a:ext cx="11602192" cy="5616081"/>
        </p:xfrm>
        <a:graphic>
          <a:graphicData uri="http://schemas.openxmlformats.org/drawingml/2006/table">
            <a:tbl>
              <a:tblPr/>
              <a:tblGrid>
                <a:gridCol w="5819038"/>
                <a:gridCol w="5783154"/>
              </a:tblGrid>
              <a:tr h="622655">
                <a:tc>
                  <a:txBody>
                    <a:bodyPr/>
                    <a:lstStyle/>
                    <a:p>
                      <a:pPr algn="l" fontAlgn="base"/>
                      <a:r>
                        <a:rPr lang="en-US" sz="2000" b="1" dirty="0" smtClean="0">
                          <a:effectLst/>
                        </a:rPr>
                        <a:t>                I/</a:t>
                      </a:r>
                      <a:r>
                        <a:rPr lang="en-US" sz="1600" b="1" dirty="0" smtClean="0">
                          <a:effectLst/>
                        </a:rPr>
                        <a:t>O mapped</a:t>
                      </a:r>
                      <a:endParaRPr lang="en-US" sz="1600" b="1" dirty="0">
                        <a:effectLst/>
                      </a:endParaRPr>
                    </a:p>
                  </a:txBody>
                  <a:tcPr marL="38100" marR="38100" marT="95250" marB="952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noFill/>
                  </a:tcPr>
                </a:tc>
                <a:tc>
                  <a:txBody>
                    <a:bodyPr/>
                    <a:lstStyle/>
                    <a:p>
                      <a:pPr algn="l" fontAlgn="base"/>
                      <a:r>
                        <a:rPr lang="en-US" sz="2000" b="1" dirty="0" smtClean="0">
                          <a:effectLst/>
                        </a:rPr>
                        <a:t>              Memory </a:t>
                      </a:r>
                      <a:r>
                        <a:rPr lang="en-US" sz="2000" b="1" dirty="0">
                          <a:effectLst/>
                        </a:rPr>
                        <a:t>Mapped I/O</a:t>
                      </a:r>
                    </a:p>
                  </a:txBody>
                  <a:tcPr marL="95250" marR="95250" marT="95250" marB="952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noFill/>
                  </a:tcPr>
                </a:tc>
              </a:tr>
              <a:tr h="704892">
                <a:tc>
                  <a:txBody>
                    <a:bodyPr/>
                    <a:lstStyle/>
                    <a:p>
                      <a:pPr algn="ctr" fontAlgn="ctr"/>
                      <a:r>
                        <a:rPr lang="en-US" sz="1600" b="0">
                          <a:effectLst/>
                        </a:rPr>
                        <a:t>Memory and I/O have separate address space</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noFill/>
                  </a:tcPr>
                </a:tc>
                <a:tc>
                  <a:txBody>
                    <a:bodyPr/>
                    <a:lstStyle/>
                    <a:p>
                      <a:pPr algn="ctr" fontAlgn="ctr"/>
                      <a:r>
                        <a:rPr lang="en-US" sz="1600" b="0">
                          <a:effectLst/>
                        </a:rPr>
                        <a:t>Both have same address space</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noFill/>
                  </a:tcPr>
                </a:tc>
              </a:tr>
              <a:tr h="704892">
                <a:tc>
                  <a:txBody>
                    <a:bodyPr/>
                    <a:lstStyle/>
                    <a:p>
                      <a:pPr algn="ctr" fontAlgn="ctr"/>
                      <a:r>
                        <a:rPr lang="en-US" sz="1600" b="0" dirty="0">
                          <a:effectLst/>
                        </a:rPr>
                        <a:t>All address can be used by the memory</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noFill/>
                  </a:tcPr>
                </a:tc>
                <a:tc>
                  <a:txBody>
                    <a:bodyPr/>
                    <a:lstStyle/>
                    <a:p>
                      <a:pPr algn="ctr" fontAlgn="ctr"/>
                      <a:r>
                        <a:rPr lang="en-US" sz="1600" b="0" dirty="0" smtClean="0">
                          <a:effectLst/>
                        </a:rPr>
                        <a:t>Due to addition of I/O addressable memory become less for memory</a:t>
                      </a:r>
                      <a:endParaRPr lang="en-US" sz="1600" b="0" dirty="0">
                        <a:effectLst/>
                      </a:endParaRP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noFill/>
                  </a:tcPr>
                </a:tc>
              </a:tr>
              <a:tr h="764074">
                <a:tc>
                  <a:txBody>
                    <a:bodyPr/>
                    <a:lstStyle/>
                    <a:p>
                      <a:pPr algn="ctr" fontAlgn="ctr"/>
                      <a:r>
                        <a:rPr lang="en-US" sz="1600" b="0" dirty="0">
                          <a:effectLst/>
                        </a:rPr>
                        <a:t>Separate instruction control read and write operation in I/O and Memory</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noFill/>
                  </a:tcPr>
                </a:tc>
                <a:tc>
                  <a:txBody>
                    <a:bodyPr/>
                    <a:lstStyle/>
                    <a:p>
                      <a:pPr algn="ctr" fontAlgn="ctr"/>
                      <a:r>
                        <a:rPr lang="en-US" sz="1600" b="0">
                          <a:effectLst/>
                        </a:rPr>
                        <a:t>Same instructions can control both I/O and Memory</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noFill/>
                  </a:tcPr>
                </a:tc>
              </a:tr>
              <a:tr h="704892">
                <a:tc>
                  <a:txBody>
                    <a:bodyPr/>
                    <a:lstStyle/>
                    <a:p>
                      <a:pPr algn="ctr" fontAlgn="ctr"/>
                      <a:r>
                        <a:rPr lang="en-US" sz="1600" b="0">
                          <a:effectLst/>
                        </a:rPr>
                        <a:t>In this I/O address are called ports.</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noFill/>
                  </a:tcPr>
                </a:tc>
                <a:tc>
                  <a:txBody>
                    <a:bodyPr/>
                    <a:lstStyle/>
                    <a:p>
                      <a:pPr algn="ctr" fontAlgn="ctr"/>
                      <a:r>
                        <a:rPr lang="en-US" sz="1600" b="0">
                          <a:effectLst/>
                        </a:rPr>
                        <a:t>Normal memory address are for both</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noFill/>
                  </a:tcPr>
                </a:tc>
              </a:tr>
              <a:tr h="704892">
                <a:tc>
                  <a:txBody>
                    <a:bodyPr/>
                    <a:lstStyle/>
                    <a:p>
                      <a:pPr algn="ctr" fontAlgn="ctr"/>
                      <a:r>
                        <a:rPr lang="en-US" sz="1600" b="0">
                          <a:effectLst/>
                        </a:rPr>
                        <a:t>More efficient due to separate buses</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noFill/>
                  </a:tcPr>
                </a:tc>
                <a:tc>
                  <a:txBody>
                    <a:bodyPr/>
                    <a:lstStyle/>
                    <a:p>
                      <a:pPr algn="ctr" fontAlgn="ctr"/>
                      <a:r>
                        <a:rPr lang="en-US" sz="1600" b="0">
                          <a:effectLst/>
                        </a:rPr>
                        <a:t>Lesser efficient</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noFill/>
                  </a:tcPr>
                </a:tc>
              </a:tr>
              <a:tr h="704892">
                <a:tc>
                  <a:txBody>
                    <a:bodyPr/>
                    <a:lstStyle/>
                    <a:p>
                      <a:pPr algn="ctr" fontAlgn="ctr"/>
                      <a:r>
                        <a:rPr lang="en-US" sz="1600" b="0">
                          <a:effectLst/>
                        </a:rPr>
                        <a:t>Larger in size due to more buses</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noFill/>
                  </a:tcPr>
                </a:tc>
                <a:tc>
                  <a:txBody>
                    <a:bodyPr/>
                    <a:lstStyle/>
                    <a:p>
                      <a:pPr algn="ctr" fontAlgn="ctr"/>
                      <a:r>
                        <a:rPr lang="en-US" sz="1600" b="0">
                          <a:effectLst/>
                        </a:rPr>
                        <a:t>Smaller in size</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noFill/>
                  </a:tcPr>
                </a:tc>
              </a:tr>
              <a:tr h="704892">
                <a:tc>
                  <a:txBody>
                    <a:bodyPr/>
                    <a:lstStyle/>
                    <a:p>
                      <a:pPr algn="ctr" fontAlgn="ctr"/>
                      <a:r>
                        <a:rPr lang="en-US" sz="1600" b="0">
                          <a:effectLst/>
                        </a:rPr>
                        <a:t>It is complex due to separate logic is used to control both.</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noFill/>
                  </a:tcPr>
                </a:tc>
                <a:tc>
                  <a:txBody>
                    <a:bodyPr/>
                    <a:lstStyle/>
                    <a:p>
                      <a:pPr algn="ctr" fontAlgn="ctr"/>
                      <a:r>
                        <a:rPr lang="en-US" sz="1600" b="0" dirty="0">
                          <a:effectLst/>
                        </a:rPr>
                        <a:t>Simpler logic is used as I/O is also treated as memory only.</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noFill/>
                  </a:tcPr>
                </a:tc>
              </a:tr>
            </a:tbl>
          </a:graphicData>
        </a:graphic>
      </p:graphicFrame>
    </p:spTree>
    <p:extLst>
      <p:ext uri="{BB962C8B-B14F-4D97-AF65-F5344CB8AC3E}">
        <p14:creationId xmlns:p14="http://schemas.microsoft.com/office/powerpoint/2010/main" val="1700929700"/>
      </p:ext>
    </p:extLst>
  </p:cSld>
  <p:clrMapOvr>
    <a:masterClrMapping/>
  </p:clrMapOv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Organization of I/O </a:t>
            </a:r>
            <a:r>
              <a:rPr lang="en-US" dirty="0" smtClean="0"/>
              <a:t>functions(Modes of transfer)</a:t>
            </a:r>
            <a:endParaRPr lang="en-US" dirty="0"/>
          </a:p>
        </p:txBody>
      </p:sp>
      <p:sp>
        <p:nvSpPr>
          <p:cNvPr id="3" name="Content Placeholder 2"/>
          <p:cNvSpPr>
            <a:spLocks noGrp="1"/>
          </p:cNvSpPr>
          <p:nvPr>
            <p:ph idx="1"/>
          </p:nvPr>
        </p:nvSpPr>
        <p:spPr/>
        <p:txBody>
          <a:bodyPr/>
          <a:lstStyle/>
          <a:p>
            <a:r>
              <a:rPr lang="en-US" dirty="0"/>
              <a:t>Three techniques for performing I/O are:</a:t>
            </a:r>
          </a:p>
          <a:p>
            <a:pPr marL="914400" lvl="1" indent="-457200">
              <a:buFont typeface="+mj-lt"/>
              <a:buAutoNum type="arabicPeriod"/>
            </a:pPr>
            <a:r>
              <a:rPr lang="en-US" b="1" dirty="0">
                <a:solidFill>
                  <a:schemeClr val="tx2"/>
                </a:solidFill>
              </a:rPr>
              <a:t>Programmed I/O</a:t>
            </a:r>
            <a:r>
              <a:rPr lang="en-US" dirty="0"/>
              <a:t>, the </a:t>
            </a:r>
            <a:r>
              <a:rPr lang="en-US" b="1" dirty="0">
                <a:solidFill>
                  <a:schemeClr val="accent6"/>
                </a:solidFill>
              </a:rPr>
              <a:t>processor issues an I/O command on behalf of a process </a:t>
            </a:r>
            <a:r>
              <a:rPr lang="en-US" dirty="0"/>
              <a:t>to an I/O module; that </a:t>
            </a:r>
            <a:r>
              <a:rPr lang="en-US" b="1" dirty="0">
                <a:solidFill>
                  <a:schemeClr val="accent6"/>
                </a:solidFill>
              </a:rPr>
              <a:t>process then busy waits for the operation to be completed </a:t>
            </a:r>
            <a:r>
              <a:rPr lang="en-US" dirty="0"/>
              <a:t>before proceeding</a:t>
            </a:r>
            <a:r>
              <a:rPr lang="en-US" dirty="0" smtClean="0"/>
              <a:t>.</a:t>
            </a:r>
          </a:p>
          <a:p>
            <a:pPr lvl="1"/>
            <a:r>
              <a:rPr lang="en-US" dirty="0"/>
              <a:t>	</a:t>
            </a:r>
            <a:r>
              <a:rPr lang="en-US" dirty="0" smtClean="0"/>
              <a:t>CPU has direct control over I/O(sensing status/read/write commands/transferring data)</a:t>
            </a:r>
          </a:p>
          <a:p>
            <a:pPr lvl="1"/>
            <a:r>
              <a:rPr lang="en-US" dirty="0"/>
              <a:t>	</a:t>
            </a:r>
            <a:r>
              <a:rPr lang="en-US" dirty="0" smtClean="0"/>
              <a:t>CPU waits for i/o module to complete operations</a:t>
            </a:r>
          </a:p>
          <a:p>
            <a:pPr lvl="1"/>
            <a:r>
              <a:rPr lang="en-US" dirty="0"/>
              <a:t>	</a:t>
            </a:r>
            <a:r>
              <a:rPr lang="en-US" dirty="0" smtClean="0"/>
              <a:t>wastes CPU time</a:t>
            </a:r>
          </a:p>
          <a:p>
            <a:pPr marL="914400" lvl="1" indent="-457200">
              <a:buFont typeface="+mj-lt"/>
              <a:buAutoNum type="arabicPeriod"/>
            </a:pPr>
            <a:r>
              <a:rPr lang="en-US" b="1" dirty="0" smtClean="0">
                <a:solidFill>
                  <a:schemeClr val="tx2"/>
                </a:solidFill>
              </a:rPr>
              <a:t>Interrupt-driven </a:t>
            </a:r>
            <a:r>
              <a:rPr lang="en-US" b="1" dirty="0">
                <a:solidFill>
                  <a:schemeClr val="tx2"/>
                </a:solidFill>
              </a:rPr>
              <a:t>I/O</a:t>
            </a:r>
            <a:r>
              <a:rPr lang="en-US" dirty="0"/>
              <a:t>, the </a:t>
            </a:r>
            <a:r>
              <a:rPr lang="en-US" b="1" dirty="0">
                <a:solidFill>
                  <a:schemeClr val="accent6"/>
                </a:solidFill>
              </a:rPr>
              <a:t>processor issues an I/O command on behalf of a process</a:t>
            </a:r>
          </a:p>
          <a:p>
            <a:pPr marL="1247775" lvl="2" indent="-457200"/>
            <a:r>
              <a:rPr lang="en-US" b="1" dirty="0">
                <a:solidFill>
                  <a:schemeClr val="accent6"/>
                </a:solidFill>
              </a:rPr>
              <a:t>if non-blocking – processor continues to execute instructions </a:t>
            </a:r>
            <a:r>
              <a:rPr lang="en-US" dirty="0"/>
              <a:t>from the process that issued the I/O command</a:t>
            </a:r>
          </a:p>
          <a:p>
            <a:pPr marL="1247775" lvl="2" indent="-457200"/>
            <a:r>
              <a:rPr lang="en-US" b="1" dirty="0">
                <a:solidFill>
                  <a:schemeClr val="accent6"/>
                </a:solidFill>
              </a:rPr>
              <a:t>if blocking – the next instruction the processor executes is from the OS</a:t>
            </a:r>
            <a:r>
              <a:rPr lang="en-US" dirty="0"/>
              <a:t>, which will put the current process in a blocked state and schedule another process</a:t>
            </a:r>
          </a:p>
          <a:p>
            <a:pPr marL="914400" lvl="1" indent="-457200">
              <a:buFont typeface="+mj-lt"/>
              <a:buAutoNum type="arabicPeriod"/>
            </a:pPr>
            <a:r>
              <a:rPr lang="en-US" b="1" dirty="0">
                <a:solidFill>
                  <a:schemeClr val="tx2"/>
                </a:solidFill>
              </a:rPr>
              <a:t>Direct Memory Access (DMA)</a:t>
            </a:r>
            <a:r>
              <a:rPr lang="en-US" dirty="0"/>
              <a:t>,</a:t>
            </a:r>
            <a:r>
              <a:rPr lang="en-US" b="1" dirty="0">
                <a:solidFill>
                  <a:schemeClr val="tx2"/>
                </a:solidFill>
              </a:rPr>
              <a:t> </a:t>
            </a:r>
            <a:r>
              <a:rPr lang="en-US" dirty="0"/>
              <a:t>a </a:t>
            </a:r>
            <a:r>
              <a:rPr lang="en-US" b="1" dirty="0">
                <a:solidFill>
                  <a:schemeClr val="accent6"/>
                </a:solidFill>
              </a:rPr>
              <a:t>DMA module controls the exchange of data </a:t>
            </a:r>
            <a:r>
              <a:rPr lang="en-US" dirty="0"/>
              <a:t>between main memory and an I/O module</a:t>
            </a:r>
          </a:p>
        </p:txBody>
      </p:sp>
    </p:spTree>
    <p:extLst>
      <p:ext uri="{BB962C8B-B14F-4D97-AF65-F5344CB8AC3E}">
        <p14:creationId xmlns:p14="http://schemas.microsoft.com/office/powerpoint/2010/main" val="444423525"/>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nodeType="clickPar">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nodeType="clickPar">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nodeType="clickPar">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par>
                    <p:cTn id="43" fill="hold" nodeType="clickPar">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fade">
                                      <p:cBhvr>
                                        <p:cTn id="47"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Direct Memory Access</a:t>
            </a:r>
          </a:p>
        </p:txBody>
      </p:sp>
      <p:sp>
        <p:nvSpPr>
          <p:cNvPr id="3" name="Content Placeholder 2"/>
          <p:cNvSpPr>
            <a:spLocks noGrp="1"/>
          </p:cNvSpPr>
          <p:nvPr>
            <p:ph idx="1"/>
          </p:nvPr>
        </p:nvSpPr>
        <p:spPr/>
        <p:txBody>
          <a:bodyPr/>
          <a:lstStyle/>
          <a:p>
            <a:r>
              <a:rPr lang="en-US" dirty="0" smtClean="0"/>
              <a:t>Enables data transfer between i/o and memory without CPU intervention.</a:t>
            </a:r>
          </a:p>
          <a:p>
            <a:r>
              <a:rPr lang="en-US" dirty="0" smtClean="0"/>
              <a:t>Need a hardware to implement DMA technique: DMAC: DMA Controller.</a:t>
            </a:r>
          </a:p>
          <a:p>
            <a:r>
              <a:rPr lang="en-US" dirty="0" smtClean="0"/>
              <a:t>Feature </a:t>
            </a:r>
            <a:r>
              <a:rPr lang="en-US" dirty="0"/>
              <a:t>of computer systems that </a:t>
            </a:r>
            <a:r>
              <a:rPr lang="en-US" b="1" dirty="0">
                <a:solidFill>
                  <a:schemeClr val="accent6"/>
                </a:solidFill>
              </a:rPr>
              <a:t>allows certain hardware subsystems to access main memory (RAM), independent of the central processing unit (CPU)</a:t>
            </a:r>
            <a:r>
              <a:rPr lang="en-US" dirty="0"/>
              <a:t>.</a:t>
            </a:r>
          </a:p>
          <a:p>
            <a:r>
              <a:rPr lang="en-US" dirty="0"/>
              <a:t>Without DMA, when the CPU is using programmed input/output, it is typically fully occupied for the entire duration of the read or write operation, and is thus unavailable to perform other work.</a:t>
            </a:r>
          </a:p>
          <a:p>
            <a:r>
              <a:rPr lang="en-US" dirty="0"/>
              <a:t>With DMA, the </a:t>
            </a:r>
            <a:r>
              <a:rPr lang="en-US" b="1" dirty="0">
                <a:solidFill>
                  <a:schemeClr val="accent6"/>
                </a:solidFill>
              </a:rPr>
              <a:t>CPU first initiates the transfer, then it does other operations while the transfer is in progress</a:t>
            </a:r>
            <a:r>
              <a:rPr lang="en-US" dirty="0"/>
              <a:t>, and it finally </a:t>
            </a:r>
            <a:r>
              <a:rPr lang="en-US" b="1" dirty="0">
                <a:solidFill>
                  <a:schemeClr val="accent6"/>
                </a:solidFill>
              </a:rPr>
              <a:t>receives an interrupt from the DMA controller when the operation is done</a:t>
            </a:r>
            <a:r>
              <a:rPr lang="en-US" dirty="0"/>
              <a:t>. </a:t>
            </a:r>
          </a:p>
          <a:p>
            <a:r>
              <a:rPr lang="en-US" dirty="0"/>
              <a:t>This </a:t>
            </a:r>
            <a:r>
              <a:rPr lang="en-US" b="1" dirty="0">
                <a:solidFill>
                  <a:schemeClr val="accent6"/>
                </a:solidFill>
              </a:rPr>
              <a:t>feature is useful when the CPU needs to perform useful work while waiting for a relatively slow I/O data transfer</a:t>
            </a:r>
            <a:r>
              <a:rPr lang="en-US" dirty="0"/>
              <a:t>. </a:t>
            </a:r>
          </a:p>
          <a:p>
            <a:r>
              <a:rPr lang="en-US" dirty="0"/>
              <a:t>Many hardware systems such as </a:t>
            </a:r>
            <a:r>
              <a:rPr lang="en-US" b="1" dirty="0">
                <a:solidFill>
                  <a:schemeClr val="accent6"/>
                </a:solidFill>
              </a:rPr>
              <a:t>disk drive controllers, graphics cards, network cards and sound cards use DMA</a:t>
            </a:r>
            <a:r>
              <a:rPr lang="en-US" dirty="0"/>
              <a:t>. </a:t>
            </a:r>
          </a:p>
        </p:txBody>
      </p:sp>
    </p:spTree>
    <p:extLst>
      <p:ext uri="{BB962C8B-B14F-4D97-AF65-F5344CB8AC3E}">
        <p14:creationId xmlns:p14="http://schemas.microsoft.com/office/powerpoint/2010/main" val="148763191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fade">
                                      <p:cBhvr>
                                        <p:cTn id="17" dur="500"/>
                                        <p:tgtEl>
                                          <p:spTgt spid="3">
                                            <p:txEl>
                                              <p:pRg st="1" end="1"/>
                                            </p:txEl>
                                          </p:spTgt>
                                        </p:tgtEl>
                                      </p:cBhvr>
                                    </p:animEffect>
                                  </p:childTnLst>
                                </p:cTn>
                              </p:par>
                            </p:childTnLst>
                          </p:cTn>
                        </p:par>
                      </p:childTnLst>
                    </p:cTn>
                  </p:par>
                  <p:par>
                    <p:cTn id="18" fill="hold" nodeType="clickPar">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nodeType="clickPar">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nodeType="clickPar">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nodeType="clickPar">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Disk read-write without a DMA</a:t>
            </a:r>
          </a:p>
        </p:txBody>
      </p:sp>
      <p:sp>
        <p:nvSpPr>
          <p:cNvPr id="3" name="Content Placeholder 2"/>
          <p:cNvSpPr>
            <a:spLocks noGrp="1"/>
          </p:cNvSpPr>
          <p:nvPr>
            <p:ph idx="1"/>
          </p:nvPr>
        </p:nvSpPr>
        <p:spPr>
          <a:xfrm>
            <a:off x="131181" y="863444"/>
            <a:ext cx="7403096" cy="5590565"/>
          </a:xfrm>
        </p:spPr>
        <p:txBody>
          <a:bodyPr/>
          <a:lstStyle/>
          <a:p>
            <a:r>
              <a:rPr lang="en-US"/>
              <a:t>The </a:t>
            </a:r>
            <a:r>
              <a:rPr lang="en-US" b="1">
                <a:solidFill>
                  <a:schemeClr val="accent6"/>
                </a:solidFill>
              </a:rPr>
              <a:t>disk controller reads the block from the drive serially</a:t>
            </a:r>
            <a:r>
              <a:rPr lang="en-US"/>
              <a:t>, bit by bit, </a:t>
            </a:r>
            <a:r>
              <a:rPr lang="en-US" b="1">
                <a:solidFill>
                  <a:schemeClr val="accent6"/>
                </a:solidFill>
              </a:rPr>
              <a:t>until the entire block is in the controller’s buffer</a:t>
            </a:r>
            <a:r>
              <a:rPr lang="en-US"/>
              <a:t>.</a:t>
            </a:r>
          </a:p>
          <a:p>
            <a:r>
              <a:rPr lang="en-US"/>
              <a:t>Next, it </a:t>
            </a:r>
            <a:r>
              <a:rPr lang="en-US" b="1">
                <a:solidFill>
                  <a:schemeClr val="accent6"/>
                </a:solidFill>
              </a:rPr>
              <a:t>computes the checksum </a:t>
            </a:r>
            <a:r>
              <a:rPr lang="en-US"/>
              <a:t>to verify that no read errors have occurred.</a:t>
            </a:r>
          </a:p>
          <a:p>
            <a:r>
              <a:rPr lang="en-US"/>
              <a:t>Then the </a:t>
            </a:r>
            <a:r>
              <a:rPr lang="en-US" b="1">
                <a:solidFill>
                  <a:schemeClr val="accent6"/>
                </a:solidFill>
              </a:rPr>
              <a:t>controller causes an interrupt</a:t>
            </a:r>
            <a:r>
              <a:rPr lang="en-US"/>
              <a:t>, so that OS can read the block from controller’s buffer (a byte or a word at a time) by executing a loop.</a:t>
            </a:r>
          </a:p>
          <a:p>
            <a:r>
              <a:rPr lang="en-US" b="1">
                <a:solidFill>
                  <a:schemeClr val="accent6"/>
                </a:solidFill>
              </a:rPr>
              <a:t>After reading every single part of the block </a:t>
            </a:r>
            <a:r>
              <a:rPr lang="en-US"/>
              <a:t>from controller device register, the </a:t>
            </a:r>
            <a:r>
              <a:rPr lang="en-US" b="1">
                <a:solidFill>
                  <a:schemeClr val="accent6"/>
                </a:solidFill>
              </a:rPr>
              <a:t>operating system will store them into the main memory</a:t>
            </a:r>
            <a:r>
              <a:rPr lang="en-US"/>
              <a:t>.</a:t>
            </a:r>
          </a:p>
        </p:txBody>
      </p:sp>
      <p:sp>
        <p:nvSpPr>
          <p:cNvPr id="4" name="Rectangle 3"/>
          <p:cNvSpPr/>
          <p:nvPr/>
        </p:nvSpPr>
        <p:spPr>
          <a:xfrm>
            <a:off x="7743827" y="2185988"/>
            <a:ext cx="1066800" cy="1600200"/>
          </a:xfrm>
          <a:prstGeom prst="rect">
            <a:avLst/>
          </a:prstGeom>
          <a:ln w="28575">
            <a:solidFill>
              <a:schemeClr val="tx2"/>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5" name="Rectangle 4"/>
          <p:cNvSpPr/>
          <p:nvPr/>
        </p:nvSpPr>
        <p:spPr>
          <a:xfrm>
            <a:off x="9354505" y="2185988"/>
            <a:ext cx="1066800" cy="1600200"/>
          </a:xfrm>
          <a:prstGeom prst="rect">
            <a:avLst/>
          </a:prstGeom>
          <a:ln w="28575">
            <a:solidFill>
              <a:schemeClr val="tx2"/>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6" name="Rectangle 5"/>
          <p:cNvSpPr/>
          <p:nvPr/>
        </p:nvSpPr>
        <p:spPr>
          <a:xfrm>
            <a:off x="10965182" y="2185988"/>
            <a:ext cx="1066800" cy="1600200"/>
          </a:xfrm>
          <a:prstGeom prst="rect">
            <a:avLst/>
          </a:prstGeom>
          <a:ln w="28575">
            <a:solidFill>
              <a:schemeClr val="tx2"/>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7" name="Flowchart: Magnetic Disk 6"/>
          <p:cNvSpPr/>
          <p:nvPr/>
        </p:nvSpPr>
        <p:spPr>
          <a:xfrm>
            <a:off x="9805037" y="1042988"/>
            <a:ext cx="533400" cy="533400"/>
          </a:xfrm>
          <a:prstGeom prst="flowChartMagneticDisk">
            <a:avLst/>
          </a:prstGeom>
          <a:ln w="28575">
            <a:solidFill>
              <a:schemeClr val="tx2"/>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8" name="Rectangle 7"/>
          <p:cNvSpPr/>
          <p:nvPr/>
        </p:nvSpPr>
        <p:spPr>
          <a:xfrm>
            <a:off x="9630161" y="2338388"/>
            <a:ext cx="533400" cy="457200"/>
          </a:xfrm>
          <a:prstGeom prst="rect">
            <a:avLst/>
          </a:prstGeom>
          <a:ln w="28575">
            <a:solidFill>
              <a:schemeClr val="tx2"/>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cxnSp>
        <p:nvCxnSpPr>
          <p:cNvPr id="9" name="Straight Connector 8"/>
          <p:cNvCxnSpPr/>
          <p:nvPr/>
        </p:nvCxnSpPr>
        <p:spPr>
          <a:xfrm flipH="1">
            <a:off x="8277227" y="3786188"/>
            <a:ext cx="0" cy="533400"/>
          </a:xfrm>
          <a:prstGeom prst="line">
            <a:avLst/>
          </a:prstGeom>
          <a:ln w="1016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flipH="1">
            <a:off x="9915527" y="3786188"/>
            <a:ext cx="0" cy="533400"/>
          </a:xfrm>
          <a:prstGeom prst="line">
            <a:avLst/>
          </a:prstGeom>
          <a:ln w="1016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flipH="1">
            <a:off x="11505701" y="3786188"/>
            <a:ext cx="0" cy="533400"/>
          </a:xfrm>
          <a:prstGeom prst="line">
            <a:avLst/>
          </a:prstGeom>
          <a:ln w="1016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8237225" y="4328931"/>
            <a:ext cx="3319272" cy="937"/>
          </a:xfrm>
          <a:prstGeom prst="line">
            <a:avLst/>
          </a:prstGeom>
          <a:ln w="101600">
            <a:solidFill>
              <a:schemeClr val="tx2"/>
            </a:solidFill>
          </a:ln>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a:off x="7972427" y="3416856"/>
            <a:ext cx="609600" cy="369332"/>
          </a:xfrm>
          <a:prstGeom prst="rect">
            <a:avLst/>
          </a:prstGeom>
          <a:noFill/>
          <a:ln>
            <a:noFill/>
          </a:ln>
        </p:spPr>
        <p:txBody>
          <a:bodyPr wrap="square" rtlCol="0">
            <a:spAutoFit/>
          </a:bodyPr>
          <a:lstStyle/>
          <a:p>
            <a:r>
              <a:rPr lang="en-US"/>
              <a:t>CPU</a:t>
            </a:r>
          </a:p>
        </p:txBody>
      </p:sp>
      <p:sp>
        <p:nvSpPr>
          <p:cNvPr id="14" name="TextBox 13"/>
          <p:cNvSpPr txBox="1"/>
          <p:nvPr/>
        </p:nvSpPr>
        <p:spPr>
          <a:xfrm>
            <a:off x="9317357" y="3139857"/>
            <a:ext cx="1162050" cy="646331"/>
          </a:xfrm>
          <a:prstGeom prst="rect">
            <a:avLst/>
          </a:prstGeom>
          <a:noFill/>
          <a:ln>
            <a:noFill/>
          </a:ln>
        </p:spPr>
        <p:txBody>
          <a:bodyPr wrap="square" rtlCol="0">
            <a:spAutoFit/>
          </a:bodyPr>
          <a:lstStyle/>
          <a:p>
            <a:pPr algn="ctr"/>
            <a:r>
              <a:rPr lang="en-US"/>
              <a:t>Disk</a:t>
            </a:r>
          </a:p>
          <a:p>
            <a:pPr algn="ctr"/>
            <a:r>
              <a:rPr lang="en-US"/>
              <a:t>Controller</a:t>
            </a:r>
          </a:p>
        </p:txBody>
      </p:sp>
      <p:sp>
        <p:nvSpPr>
          <p:cNvPr id="15" name="TextBox 14"/>
          <p:cNvSpPr txBox="1"/>
          <p:nvPr/>
        </p:nvSpPr>
        <p:spPr>
          <a:xfrm>
            <a:off x="10917557" y="3139857"/>
            <a:ext cx="1162050" cy="646331"/>
          </a:xfrm>
          <a:prstGeom prst="rect">
            <a:avLst/>
          </a:prstGeom>
          <a:noFill/>
          <a:ln>
            <a:noFill/>
          </a:ln>
        </p:spPr>
        <p:txBody>
          <a:bodyPr wrap="square" rtlCol="0">
            <a:spAutoFit/>
          </a:bodyPr>
          <a:lstStyle/>
          <a:p>
            <a:pPr algn="ctr"/>
            <a:r>
              <a:rPr lang="en-US"/>
              <a:t>Main</a:t>
            </a:r>
          </a:p>
          <a:p>
            <a:pPr algn="ctr"/>
            <a:r>
              <a:rPr lang="en-US"/>
              <a:t>Memory</a:t>
            </a:r>
          </a:p>
        </p:txBody>
      </p:sp>
      <p:sp>
        <p:nvSpPr>
          <p:cNvPr id="16" name="TextBox 15"/>
          <p:cNvSpPr txBox="1"/>
          <p:nvPr/>
        </p:nvSpPr>
        <p:spPr>
          <a:xfrm>
            <a:off x="11200900" y="4684806"/>
            <a:ext cx="609600" cy="369332"/>
          </a:xfrm>
          <a:prstGeom prst="rect">
            <a:avLst/>
          </a:prstGeom>
          <a:noFill/>
          <a:ln>
            <a:noFill/>
          </a:ln>
        </p:spPr>
        <p:txBody>
          <a:bodyPr wrap="square" rtlCol="0">
            <a:spAutoFit/>
          </a:bodyPr>
          <a:lstStyle/>
          <a:p>
            <a:pPr algn="ctr"/>
            <a:r>
              <a:rPr lang="en-US"/>
              <a:t>Bus</a:t>
            </a:r>
          </a:p>
        </p:txBody>
      </p:sp>
      <p:cxnSp>
        <p:nvCxnSpPr>
          <p:cNvPr id="17" name="Straight Arrow Connector 16"/>
          <p:cNvCxnSpPr/>
          <p:nvPr/>
        </p:nvCxnSpPr>
        <p:spPr>
          <a:xfrm flipH="1" flipV="1">
            <a:off x="11430001" y="4356862"/>
            <a:ext cx="75700" cy="327945"/>
          </a:xfrm>
          <a:prstGeom prst="straightConnector1">
            <a:avLst/>
          </a:prstGeom>
          <a:ln w="28575">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18" name="TextBox 17"/>
          <p:cNvSpPr txBox="1"/>
          <p:nvPr/>
        </p:nvSpPr>
        <p:spPr>
          <a:xfrm>
            <a:off x="10217912" y="1709346"/>
            <a:ext cx="838200" cy="369332"/>
          </a:xfrm>
          <a:prstGeom prst="rect">
            <a:avLst/>
          </a:prstGeom>
          <a:noFill/>
          <a:ln>
            <a:noFill/>
          </a:ln>
        </p:spPr>
        <p:txBody>
          <a:bodyPr wrap="square" rtlCol="0">
            <a:spAutoFit/>
          </a:bodyPr>
          <a:lstStyle/>
          <a:p>
            <a:pPr algn="ctr"/>
            <a:r>
              <a:rPr lang="en-US"/>
              <a:t>Buffer</a:t>
            </a:r>
          </a:p>
        </p:txBody>
      </p:sp>
      <p:cxnSp>
        <p:nvCxnSpPr>
          <p:cNvPr id="19" name="Straight Arrow Connector 18"/>
          <p:cNvCxnSpPr>
            <a:stCxn id="18" idx="2"/>
          </p:cNvCxnSpPr>
          <p:nvPr/>
        </p:nvCxnSpPr>
        <p:spPr>
          <a:xfrm flipH="1">
            <a:off x="10144130" y="2078678"/>
            <a:ext cx="492882" cy="259710"/>
          </a:xfrm>
          <a:prstGeom prst="straightConnector1">
            <a:avLst/>
          </a:prstGeom>
          <a:ln w="28575">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20" name="TextBox 19"/>
          <p:cNvSpPr txBox="1"/>
          <p:nvPr/>
        </p:nvSpPr>
        <p:spPr>
          <a:xfrm>
            <a:off x="10856597" y="981459"/>
            <a:ext cx="742950" cy="369332"/>
          </a:xfrm>
          <a:prstGeom prst="rect">
            <a:avLst/>
          </a:prstGeom>
          <a:noFill/>
          <a:ln>
            <a:noFill/>
          </a:ln>
        </p:spPr>
        <p:txBody>
          <a:bodyPr wrap="square" rtlCol="0">
            <a:spAutoFit/>
          </a:bodyPr>
          <a:lstStyle/>
          <a:p>
            <a:pPr algn="ctr"/>
            <a:r>
              <a:rPr lang="en-US"/>
              <a:t>Drive</a:t>
            </a:r>
          </a:p>
        </p:txBody>
      </p:sp>
      <p:cxnSp>
        <p:nvCxnSpPr>
          <p:cNvPr id="21" name="Straight Arrow Connector 20"/>
          <p:cNvCxnSpPr/>
          <p:nvPr/>
        </p:nvCxnSpPr>
        <p:spPr>
          <a:xfrm flipH="1">
            <a:off x="10352273" y="1166125"/>
            <a:ext cx="562939" cy="5219"/>
          </a:xfrm>
          <a:prstGeom prst="straightConnector1">
            <a:avLst/>
          </a:prstGeom>
          <a:ln w="28575">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flipH="1">
            <a:off x="10067927" y="1587927"/>
            <a:ext cx="0" cy="750461"/>
          </a:xfrm>
          <a:prstGeom prst="line">
            <a:avLst/>
          </a:prstGeom>
          <a:ln w="28575">
            <a:solidFill>
              <a:schemeClr val="tx2"/>
            </a:solidFill>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409574028"/>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7"/>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8"/>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9"/>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0"/>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21"/>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22"/>
                                        </p:tgtEl>
                                        <p:attrNameLst>
                                          <p:attrName>style.visibility</p:attrName>
                                        </p:attrNameLst>
                                      </p:cBhvr>
                                      <p:to>
                                        <p:strVal val="visible"/>
                                      </p:to>
                                    </p:set>
                                  </p:childTnLst>
                                </p:cTn>
                              </p:par>
                            </p:childTnLst>
                          </p:cTn>
                        </p:par>
                      </p:childTnLst>
                    </p:cTn>
                  </p:par>
                  <p:par>
                    <p:cTn id="43" fill="hold" nodeType="clickPar">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3">
                                            <p:txEl>
                                              <p:pRg st="0" end="0"/>
                                            </p:txEl>
                                          </p:spTgt>
                                        </p:tgtEl>
                                        <p:attrNameLst>
                                          <p:attrName>style.visibility</p:attrName>
                                        </p:attrNameLst>
                                      </p:cBhvr>
                                      <p:to>
                                        <p:strVal val="visible"/>
                                      </p:to>
                                    </p:set>
                                    <p:animEffect transition="in" filter="fade">
                                      <p:cBhvr>
                                        <p:cTn id="47" dur="500"/>
                                        <p:tgtEl>
                                          <p:spTgt spid="3">
                                            <p:txEl>
                                              <p:pRg st="0" end="0"/>
                                            </p:txEl>
                                          </p:spTgt>
                                        </p:tgtEl>
                                      </p:cBhvr>
                                    </p:animEffect>
                                  </p:childTnLst>
                                </p:cTn>
                              </p:par>
                            </p:childTnLst>
                          </p:cTn>
                        </p:par>
                      </p:childTnLst>
                    </p:cTn>
                  </p:par>
                  <p:par>
                    <p:cTn id="48" fill="hold" nodeType="clickPar">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3">
                                            <p:txEl>
                                              <p:pRg st="1" end="1"/>
                                            </p:txEl>
                                          </p:spTgt>
                                        </p:tgtEl>
                                        <p:attrNameLst>
                                          <p:attrName>style.visibility</p:attrName>
                                        </p:attrNameLst>
                                      </p:cBhvr>
                                      <p:to>
                                        <p:strVal val="visible"/>
                                      </p:to>
                                    </p:set>
                                    <p:animEffect transition="in" filter="fade">
                                      <p:cBhvr>
                                        <p:cTn id="52" dur="500"/>
                                        <p:tgtEl>
                                          <p:spTgt spid="3">
                                            <p:txEl>
                                              <p:pRg st="1" end="1"/>
                                            </p:txEl>
                                          </p:spTgt>
                                        </p:tgtEl>
                                      </p:cBhvr>
                                    </p:animEffect>
                                  </p:childTnLst>
                                </p:cTn>
                              </p:par>
                            </p:childTnLst>
                          </p:cTn>
                        </p:par>
                      </p:childTnLst>
                    </p:cTn>
                  </p:par>
                  <p:par>
                    <p:cTn id="53" fill="hold" nodeType="clickPar">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3">
                                            <p:txEl>
                                              <p:pRg st="2" end="2"/>
                                            </p:txEl>
                                          </p:spTgt>
                                        </p:tgtEl>
                                        <p:attrNameLst>
                                          <p:attrName>style.visibility</p:attrName>
                                        </p:attrNameLst>
                                      </p:cBhvr>
                                      <p:to>
                                        <p:strVal val="visible"/>
                                      </p:to>
                                    </p:set>
                                    <p:animEffect transition="in" filter="fade">
                                      <p:cBhvr>
                                        <p:cTn id="57" dur="500"/>
                                        <p:tgtEl>
                                          <p:spTgt spid="3">
                                            <p:txEl>
                                              <p:pRg st="2" end="2"/>
                                            </p:txEl>
                                          </p:spTgt>
                                        </p:tgtEl>
                                      </p:cBhvr>
                                    </p:animEffect>
                                  </p:childTnLst>
                                </p:cTn>
                              </p:par>
                            </p:childTnLst>
                          </p:cTn>
                        </p:par>
                      </p:childTnLst>
                    </p:cTn>
                  </p:par>
                  <p:par>
                    <p:cTn id="58" fill="hold" nodeType="clickPar">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3">
                                            <p:txEl>
                                              <p:pRg st="3" end="3"/>
                                            </p:txEl>
                                          </p:spTgt>
                                        </p:tgtEl>
                                        <p:attrNameLst>
                                          <p:attrName>style.visibility</p:attrName>
                                        </p:attrNameLst>
                                      </p:cBhvr>
                                      <p:to>
                                        <p:strVal val="visible"/>
                                      </p:to>
                                    </p:set>
                                    <p:animEffect transition="in" filter="fade">
                                      <p:cBhvr>
                                        <p:cTn id="6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13" grpId="0"/>
      <p:bldP spid="14" grpId="0"/>
      <p:bldP spid="15" grpId="0"/>
      <p:bldP spid="16" grpId="0"/>
      <p:bldP spid="18" grpId="0"/>
      <p:bldP spid="20"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Disk read-write using DMA</a:t>
            </a:r>
          </a:p>
        </p:txBody>
      </p:sp>
      <p:sp>
        <p:nvSpPr>
          <p:cNvPr id="3" name="Content Placeholder 2"/>
          <p:cNvSpPr>
            <a:spLocks noGrp="1"/>
          </p:cNvSpPr>
          <p:nvPr>
            <p:ph idx="1"/>
          </p:nvPr>
        </p:nvSpPr>
        <p:spPr>
          <a:xfrm>
            <a:off x="131180" y="4604196"/>
            <a:ext cx="11929641" cy="1920240"/>
          </a:xfrm>
          <a:ln>
            <a:solidFill>
              <a:schemeClr val="accent6">
                <a:lumMod val="40000"/>
                <a:lumOff val="60000"/>
              </a:schemeClr>
            </a:solidFill>
          </a:ln>
        </p:spPr>
        <p:txBody>
          <a:bodyPr/>
          <a:lstStyle/>
          <a:p>
            <a:r>
              <a:rPr lang="en-US">
                <a:solidFill>
                  <a:schemeClr val="tx2"/>
                </a:solidFill>
              </a:rPr>
              <a:t>Step 1</a:t>
            </a:r>
            <a:r>
              <a:rPr lang="en-US"/>
              <a:t>: First the </a:t>
            </a:r>
            <a:r>
              <a:rPr lang="en-US">
                <a:solidFill>
                  <a:schemeClr val="accent6"/>
                </a:solidFill>
              </a:rPr>
              <a:t>CPU programs the DMA controller </a:t>
            </a:r>
            <a:r>
              <a:rPr lang="en-US"/>
              <a:t>by setting its registers so it knows what to transfer where.</a:t>
            </a:r>
          </a:p>
          <a:p>
            <a:r>
              <a:rPr lang="en-US"/>
              <a:t>It also </a:t>
            </a:r>
            <a:r>
              <a:rPr lang="en-US">
                <a:solidFill>
                  <a:schemeClr val="accent6"/>
                </a:solidFill>
              </a:rPr>
              <a:t>issues a command to the disk controller </a:t>
            </a:r>
            <a:r>
              <a:rPr lang="en-US"/>
              <a:t>telling it to read data from the disk into its internal buffer and verify the checksum.</a:t>
            </a:r>
          </a:p>
          <a:p>
            <a:r>
              <a:rPr lang="en-US"/>
              <a:t>When valid data are in the disk controller’s buffer, DMA can begin.</a:t>
            </a:r>
          </a:p>
        </p:txBody>
      </p:sp>
      <p:sp>
        <p:nvSpPr>
          <p:cNvPr id="4" name="Rectangle 3"/>
          <p:cNvSpPr/>
          <p:nvPr/>
        </p:nvSpPr>
        <p:spPr>
          <a:xfrm>
            <a:off x="2752965" y="2185988"/>
            <a:ext cx="1066800" cy="1600200"/>
          </a:xfrm>
          <a:prstGeom prst="rect">
            <a:avLst/>
          </a:prstGeom>
          <a:ln w="28575">
            <a:solidFill>
              <a:schemeClr val="accent3"/>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5" name="Rectangle 4"/>
          <p:cNvSpPr/>
          <p:nvPr/>
        </p:nvSpPr>
        <p:spPr>
          <a:xfrm>
            <a:off x="5160900" y="2185988"/>
            <a:ext cx="1066800" cy="1600200"/>
          </a:xfrm>
          <a:prstGeom prst="rect">
            <a:avLst/>
          </a:prstGeom>
          <a:ln w="28575">
            <a:solidFill>
              <a:schemeClr val="tx2"/>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6" name="Rectangle 5"/>
          <p:cNvSpPr/>
          <p:nvPr/>
        </p:nvSpPr>
        <p:spPr>
          <a:xfrm>
            <a:off x="7568836" y="2185988"/>
            <a:ext cx="1066800" cy="1600200"/>
          </a:xfrm>
          <a:prstGeom prst="rect">
            <a:avLst/>
          </a:prstGeom>
          <a:ln w="28575">
            <a:solidFill>
              <a:schemeClr val="tx2"/>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7" name="Flowchart: Magnetic Disk 6"/>
          <p:cNvSpPr/>
          <p:nvPr/>
        </p:nvSpPr>
        <p:spPr>
          <a:xfrm>
            <a:off x="5618125" y="1042988"/>
            <a:ext cx="533400" cy="533400"/>
          </a:xfrm>
          <a:prstGeom prst="flowChartMagneticDisk">
            <a:avLst/>
          </a:prstGeom>
          <a:ln w="28575">
            <a:solidFill>
              <a:schemeClr val="tx2"/>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8" name="Rectangle 7"/>
          <p:cNvSpPr/>
          <p:nvPr/>
        </p:nvSpPr>
        <p:spPr>
          <a:xfrm>
            <a:off x="5423815" y="2338388"/>
            <a:ext cx="533400" cy="457200"/>
          </a:xfrm>
          <a:prstGeom prst="rect">
            <a:avLst/>
          </a:prstGeom>
          <a:ln w="28575">
            <a:solidFill>
              <a:schemeClr val="tx2"/>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cxnSp>
        <p:nvCxnSpPr>
          <p:cNvPr id="9" name="Straight Connector 8"/>
          <p:cNvCxnSpPr/>
          <p:nvPr/>
        </p:nvCxnSpPr>
        <p:spPr>
          <a:xfrm flipH="1">
            <a:off x="3286365" y="3786188"/>
            <a:ext cx="0" cy="533400"/>
          </a:xfrm>
          <a:prstGeom prst="line">
            <a:avLst/>
          </a:prstGeom>
          <a:ln w="1016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flipH="1">
            <a:off x="5694300" y="3786188"/>
            <a:ext cx="0" cy="533400"/>
          </a:xfrm>
          <a:prstGeom prst="line">
            <a:avLst/>
          </a:prstGeom>
          <a:ln w="1016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flipH="1">
            <a:off x="8102236" y="3786188"/>
            <a:ext cx="0" cy="533400"/>
          </a:xfrm>
          <a:prstGeom prst="line">
            <a:avLst/>
          </a:prstGeom>
          <a:ln w="1016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830351" y="4317063"/>
            <a:ext cx="7315200" cy="12805"/>
          </a:xfrm>
          <a:prstGeom prst="line">
            <a:avLst/>
          </a:prstGeom>
          <a:ln w="101600">
            <a:solidFill>
              <a:schemeClr val="tx2"/>
            </a:solidFill>
          </a:ln>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a:off x="2740825" y="3139857"/>
            <a:ext cx="1097280" cy="649224"/>
          </a:xfrm>
          <a:prstGeom prst="rect">
            <a:avLst/>
          </a:prstGeom>
          <a:noFill/>
          <a:ln>
            <a:noFill/>
          </a:ln>
        </p:spPr>
        <p:txBody>
          <a:bodyPr wrap="square" rtlCol="0">
            <a:spAutoFit/>
          </a:bodyPr>
          <a:lstStyle/>
          <a:p>
            <a:pPr algn="ctr"/>
            <a:r>
              <a:rPr lang="en-US"/>
              <a:t>DMA Controller</a:t>
            </a:r>
          </a:p>
        </p:txBody>
      </p:sp>
      <p:sp>
        <p:nvSpPr>
          <p:cNvPr id="14" name="TextBox 13"/>
          <p:cNvSpPr txBox="1"/>
          <p:nvPr/>
        </p:nvSpPr>
        <p:spPr>
          <a:xfrm>
            <a:off x="5116156" y="3139857"/>
            <a:ext cx="1162050" cy="646331"/>
          </a:xfrm>
          <a:prstGeom prst="rect">
            <a:avLst/>
          </a:prstGeom>
          <a:noFill/>
          <a:ln>
            <a:noFill/>
          </a:ln>
        </p:spPr>
        <p:txBody>
          <a:bodyPr wrap="square" rtlCol="0">
            <a:spAutoFit/>
          </a:bodyPr>
          <a:lstStyle/>
          <a:p>
            <a:pPr algn="ctr"/>
            <a:r>
              <a:rPr lang="en-US"/>
              <a:t>Disk</a:t>
            </a:r>
          </a:p>
          <a:p>
            <a:pPr algn="ctr"/>
            <a:r>
              <a:rPr lang="en-US"/>
              <a:t>Controller</a:t>
            </a:r>
          </a:p>
        </p:txBody>
      </p:sp>
      <p:sp>
        <p:nvSpPr>
          <p:cNvPr id="15" name="TextBox 14"/>
          <p:cNvSpPr txBox="1"/>
          <p:nvPr/>
        </p:nvSpPr>
        <p:spPr>
          <a:xfrm>
            <a:off x="7521211" y="3139857"/>
            <a:ext cx="1162050" cy="646331"/>
          </a:xfrm>
          <a:prstGeom prst="rect">
            <a:avLst/>
          </a:prstGeom>
          <a:noFill/>
          <a:ln>
            <a:noFill/>
          </a:ln>
        </p:spPr>
        <p:txBody>
          <a:bodyPr wrap="square" rtlCol="0">
            <a:spAutoFit/>
          </a:bodyPr>
          <a:lstStyle/>
          <a:p>
            <a:pPr algn="ctr"/>
            <a:r>
              <a:rPr lang="en-US"/>
              <a:t>Main</a:t>
            </a:r>
          </a:p>
          <a:p>
            <a:pPr algn="ctr"/>
            <a:r>
              <a:rPr lang="en-US"/>
              <a:t>Memory</a:t>
            </a:r>
          </a:p>
        </p:txBody>
      </p:sp>
      <p:sp>
        <p:nvSpPr>
          <p:cNvPr id="16" name="TextBox 15"/>
          <p:cNvSpPr txBox="1"/>
          <p:nvPr/>
        </p:nvSpPr>
        <p:spPr>
          <a:xfrm>
            <a:off x="8330836" y="4030147"/>
            <a:ext cx="609600" cy="369332"/>
          </a:xfrm>
          <a:prstGeom prst="rect">
            <a:avLst/>
          </a:prstGeom>
          <a:noFill/>
          <a:ln>
            <a:noFill/>
          </a:ln>
        </p:spPr>
        <p:txBody>
          <a:bodyPr wrap="square" rtlCol="0">
            <a:spAutoFit/>
          </a:bodyPr>
          <a:lstStyle/>
          <a:p>
            <a:pPr algn="ctr"/>
            <a:r>
              <a:rPr lang="en-US"/>
              <a:t>Bus</a:t>
            </a:r>
          </a:p>
        </p:txBody>
      </p:sp>
      <p:cxnSp>
        <p:nvCxnSpPr>
          <p:cNvPr id="17" name="Straight Arrow Connector 16"/>
          <p:cNvCxnSpPr/>
          <p:nvPr/>
        </p:nvCxnSpPr>
        <p:spPr>
          <a:xfrm flipH="1" flipV="1">
            <a:off x="8145551" y="4141126"/>
            <a:ext cx="304801" cy="73687"/>
          </a:xfrm>
          <a:prstGeom prst="straightConnector1">
            <a:avLst/>
          </a:prstGeom>
          <a:ln w="28575">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18" name="TextBox 17"/>
          <p:cNvSpPr txBox="1"/>
          <p:nvPr/>
        </p:nvSpPr>
        <p:spPr>
          <a:xfrm>
            <a:off x="6031000" y="1709346"/>
            <a:ext cx="838200" cy="369332"/>
          </a:xfrm>
          <a:prstGeom prst="rect">
            <a:avLst/>
          </a:prstGeom>
          <a:noFill/>
          <a:ln>
            <a:noFill/>
          </a:ln>
        </p:spPr>
        <p:txBody>
          <a:bodyPr wrap="square" rtlCol="0">
            <a:spAutoFit/>
          </a:bodyPr>
          <a:lstStyle/>
          <a:p>
            <a:pPr algn="ctr"/>
            <a:r>
              <a:rPr lang="en-US"/>
              <a:t>Buffer</a:t>
            </a:r>
          </a:p>
        </p:txBody>
      </p:sp>
      <p:cxnSp>
        <p:nvCxnSpPr>
          <p:cNvPr id="19" name="Straight Arrow Connector 18"/>
          <p:cNvCxnSpPr>
            <a:stCxn id="18" idx="2"/>
          </p:cNvCxnSpPr>
          <p:nvPr/>
        </p:nvCxnSpPr>
        <p:spPr>
          <a:xfrm flipH="1">
            <a:off x="5957218" y="2078678"/>
            <a:ext cx="492882" cy="259710"/>
          </a:xfrm>
          <a:prstGeom prst="straightConnector1">
            <a:avLst/>
          </a:prstGeom>
          <a:ln w="28575">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20" name="TextBox 19"/>
          <p:cNvSpPr txBox="1"/>
          <p:nvPr/>
        </p:nvSpPr>
        <p:spPr>
          <a:xfrm>
            <a:off x="6669685" y="981459"/>
            <a:ext cx="742950" cy="369332"/>
          </a:xfrm>
          <a:prstGeom prst="rect">
            <a:avLst/>
          </a:prstGeom>
          <a:noFill/>
          <a:ln>
            <a:noFill/>
          </a:ln>
        </p:spPr>
        <p:txBody>
          <a:bodyPr wrap="square" rtlCol="0">
            <a:spAutoFit/>
          </a:bodyPr>
          <a:lstStyle/>
          <a:p>
            <a:pPr algn="ctr"/>
            <a:r>
              <a:rPr lang="en-US"/>
              <a:t>Drive</a:t>
            </a:r>
          </a:p>
        </p:txBody>
      </p:sp>
      <p:cxnSp>
        <p:nvCxnSpPr>
          <p:cNvPr id="21" name="Straight Arrow Connector 20"/>
          <p:cNvCxnSpPr/>
          <p:nvPr/>
        </p:nvCxnSpPr>
        <p:spPr>
          <a:xfrm flipH="1">
            <a:off x="6165361" y="1166125"/>
            <a:ext cx="562939" cy="5219"/>
          </a:xfrm>
          <a:prstGeom prst="straightConnector1">
            <a:avLst/>
          </a:prstGeom>
          <a:ln w="28575">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flipH="1">
            <a:off x="5881015" y="1587927"/>
            <a:ext cx="0" cy="750461"/>
          </a:xfrm>
          <a:prstGeom prst="line">
            <a:avLst/>
          </a:prstGeom>
          <a:ln w="28575">
            <a:solidFill>
              <a:schemeClr val="tx2"/>
            </a:solidFill>
          </a:ln>
        </p:spPr>
        <p:style>
          <a:lnRef idx="3">
            <a:schemeClr val="accent1"/>
          </a:lnRef>
          <a:fillRef idx="0">
            <a:schemeClr val="accent1"/>
          </a:fillRef>
          <a:effectRef idx="2">
            <a:schemeClr val="accent1"/>
          </a:effectRef>
          <a:fontRef idx="minor">
            <a:schemeClr val="tx1"/>
          </a:fontRef>
        </p:style>
      </p:cxnSp>
      <p:sp>
        <p:nvSpPr>
          <p:cNvPr id="23" name="Rectangle 22"/>
          <p:cNvSpPr/>
          <p:nvPr/>
        </p:nvSpPr>
        <p:spPr>
          <a:xfrm>
            <a:off x="345030" y="2185988"/>
            <a:ext cx="1066800" cy="1600200"/>
          </a:xfrm>
          <a:prstGeom prst="rect">
            <a:avLst/>
          </a:prstGeom>
          <a:ln w="28575">
            <a:solidFill>
              <a:schemeClr val="tx2"/>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cxnSp>
        <p:nvCxnSpPr>
          <p:cNvPr id="24" name="Straight Connector 23"/>
          <p:cNvCxnSpPr/>
          <p:nvPr/>
        </p:nvCxnSpPr>
        <p:spPr>
          <a:xfrm flipH="1">
            <a:off x="878430" y="3790951"/>
            <a:ext cx="0" cy="533400"/>
          </a:xfrm>
          <a:prstGeom prst="line">
            <a:avLst/>
          </a:prstGeom>
          <a:ln w="101600">
            <a:solidFill>
              <a:schemeClr val="tx2"/>
            </a:solidFill>
          </a:ln>
        </p:spPr>
        <p:style>
          <a:lnRef idx="1">
            <a:schemeClr val="accent1"/>
          </a:lnRef>
          <a:fillRef idx="0">
            <a:schemeClr val="accent1"/>
          </a:fillRef>
          <a:effectRef idx="0">
            <a:schemeClr val="accent1"/>
          </a:effectRef>
          <a:fontRef idx="minor">
            <a:schemeClr val="tx1"/>
          </a:fontRef>
        </p:style>
      </p:cxnSp>
      <p:sp>
        <p:nvSpPr>
          <p:cNvPr id="25" name="TextBox 24"/>
          <p:cNvSpPr txBox="1"/>
          <p:nvPr/>
        </p:nvSpPr>
        <p:spPr>
          <a:xfrm>
            <a:off x="573630" y="3416856"/>
            <a:ext cx="609600" cy="369332"/>
          </a:xfrm>
          <a:prstGeom prst="rect">
            <a:avLst/>
          </a:prstGeom>
          <a:noFill/>
          <a:ln>
            <a:noFill/>
          </a:ln>
        </p:spPr>
        <p:txBody>
          <a:bodyPr wrap="square" rtlCol="0">
            <a:spAutoFit/>
          </a:bodyPr>
          <a:lstStyle/>
          <a:p>
            <a:r>
              <a:rPr lang="en-US"/>
              <a:t>CPU</a:t>
            </a:r>
          </a:p>
        </p:txBody>
      </p:sp>
      <p:cxnSp>
        <p:nvCxnSpPr>
          <p:cNvPr id="26" name="Straight Arrow Connector 25"/>
          <p:cNvCxnSpPr/>
          <p:nvPr/>
        </p:nvCxnSpPr>
        <p:spPr>
          <a:xfrm>
            <a:off x="1175832" y="2224041"/>
            <a:ext cx="1828800" cy="0"/>
          </a:xfrm>
          <a:prstGeom prst="straightConnector1">
            <a:avLst/>
          </a:prstGeom>
          <a:ln w="381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27" name="TextBox 26"/>
          <p:cNvSpPr txBox="1"/>
          <p:nvPr/>
        </p:nvSpPr>
        <p:spPr>
          <a:xfrm>
            <a:off x="1513017" y="1015716"/>
            <a:ext cx="1143000" cy="1200329"/>
          </a:xfrm>
          <a:prstGeom prst="rect">
            <a:avLst/>
          </a:prstGeom>
          <a:ln w="38100">
            <a:solidFill>
              <a:schemeClr val="accent6"/>
            </a:solidFill>
          </a:ln>
        </p:spPr>
        <p:style>
          <a:lnRef idx="2">
            <a:schemeClr val="accent4"/>
          </a:lnRef>
          <a:fillRef idx="1">
            <a:schemeClr val="lt1"/>
          </a:fillRef>
          <a:effectRef idx="0">
            <a:schemeClr val="accent4"/>
          </a:effectRef>
          <a:fontRef idx="minor">
            <a:schemeClr val="dk1"/>
          </a:fontRef>
        </p:style>
        <p:txBody>
          <a:bodyPr wrap="square" rtlCol="0">
            <a:spAutoFit/>
          </a:bodyPr>
          <a:lstStyle/>
          <a:p>
            <a:r>
              <a:rPr lang="en-US"/>
              <a:t>1. CPU programs DMA controller</a:t>
            </a:r>
          </a:p>
        </p:txBody>
      </p:sp>
    </p:spTree>
    <p:extLst>
      <p:ext uri="{BB962C8B-B14F-4D97-AF65-F5344CB8AC3E}">
        <p14:creationId xmlns:p14="http://schemas.microsoft.com/office/powerpoint/2010/main" val="4097680077"/>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7"/>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8"/>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9"/>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0"/>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21"/>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22"/>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3"/>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24"/>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5"/>
                                        </p:tgtEl>
                                        <p:attrNameLst>
                                          <p:attrName>style.visibility</p:attrName>
                                        </p:attrNameLst>
                                      </p:cBhvr>
                                      <p:to>
                                        <p:strVal val="visible"/>
                                      </p:to>
                                    </p:set>
                                  </p:childTnLst>
                                </p:cTn>
                              </p:par>
                            </p:childTnLst>
                          </p:cTn>
                        </p:par>
                      </p:childTnLst>
                    </p:cTn>
                  </p:par>
                  <p:par>
                    <p:cTn id="49" fill="hold" nodeType="clickPar">
                      <p:stCondLst>
                        <p:cond delay="indefinite"/>
                      </p:stCondLst>
                      <p:childTnLst>
                        <p:par>
                          <p:cTn id="50" fill="hold">
                            <p:stCondLst>
                              <p:cond delay="0"/>
                            </p:stCondLst>
                            <p:childTnLst>
                              <p:par>
                                <p:cTn id="51" presetID="22" presetClass="entr" presetSubtype="8" fill="hold" grpId="0" nodeType="clickEffect">
                                  <p:stCondLst>
                                    <p:cond delay="0"/>
                                  </p:stCondLst>
                                  <p:childTnLst>
                                    <p:set>
                                      <p:cBhvr>
                                        <p:cTn id="52" dur="1" fill="hold">
                                          <p:stCondLst>
                                            <p:cond delay="0"/>
                                          </p:stCondLst>
                                        </p:cTn>
                                        <p:tgtEl>
                                          <p:spTgt spid="27"/>
                                        </p:tgtEl>
                                        <p:attrNameLst>
                                          <p:attrName>style.visibility</p:attrName>
                                        </p:attrNameLst>
                                      </p:cBhvr>
                                      <p:to>
                                        <p:strVal val="visible"/>
                                      </p:to>
                                    </p:set>
                                    <p:animEffect transition="in" filter="wipe(left)">
                                      <p:cBhvr>
                                        <p:cTn id="53" dur="500"/>
                                        <p:tgtEl>
                                          <p:spTgt spid="27"/>
                                        </p:tgtEl>
                                      </p:cBhvr>
                                    </p:animEffect>
                                  </p:childTnLst>
                                </p:cTn>
                              </p:par>
                              <p:par>
                                <p:cTn id="54" presetID="22" presetClass="entr" presetSubtype="8" fill="hold" nodeType="withEffect">
                                  <p:stCondLst>
                                    <p:cond delay="0"/>
                                  </p:stCondLst>
                                  <p:childTnLst>
                                    <p:set>
                                      <p:cBhvr>
                                        <p:cTn id="55" dur="1" fill="hold">
                                          <p:stCondLst>
                                            <p:cond delay="0"/>
                                          </p:stCondLst>
                                        </p:cTn>
                                        <p:tgtEl>
                                          <p:spTgt spid="26"/>
                                        </p:tgtEl>
                                        <p:attrNameLst>
                                          <p:attrName>style.visibility</p:attrName>
                                        </p:attrNameLst>
                                      </p:cBhvr>
                                      <p:to>
                                        <p:strVal val="visible"/>
                                      </p:to>
                                    </p:set>
                                    <p:animEffect transition="in" filter="wipe(left)">
                                      <p:cBhvr>
                                        <p:cTn id="56" dur="500"/>
                                        <p:tgtEl>
                                          <p:spTgt spid="26"/>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3">
                                            <p:bg/>
                                          </p:spTgt>
                                        </p:tgtEl>
                                        <p:attrNameLst>
                                          <p:attrName>style.visibility</p:attrName>
                                        </p:attrNameLst>
                                      </p:cBhvr>
                                      <p:to>
                                        <p:strVal val="visible"/>
                                      </p:to>
                                    </p:set>
                                    <p:animEffect transition="in" filter="fade">
                                      <p:cBhvr>
                                        <p:cTn id="59" dur="500"/>
                                        <p:tgtEl>
                                          <p:spTgt spid="3">
                                            <p:bg/>
                                          </p:spTgt>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3">
                                            <p:txEl>
                                              <p:pRg st="0" end="0"/>
                                            </p:txEl>
                                          </p:spTgt>
                                        </p:tgtEl>
                                        <p:attrNameLst>
                                          <p:attrName>style.visibility</p:attrName>
                                        </p:attrNameLst>
                                      </p:cBhvr>
                                      <p:to>
                                        <p:strVal val="visible"/>
                                      </p:to>
                                    </p:set>
                                    <p:animEffect transition="in" filter="fade">
                                      <p:cBhvr>
                                        <p:cTn id="62" dur="500"/>
                                        <p:tgtEl>
                                          <p:spTgt spid="3">
                                            <p:txEl>
                                              <p:pRg st="0" end="0"/>
                                            </p:txEl>
                                          </p:spTgt>
                                        </p:tgtEl>
                                      </p:cBhvr>
                                    </p:animEffect>
                                  </p:childTnLst>
                                </p:cTn>
                              </p:par>
                            </p:childTnLst>
                          </p:cTn>
                        </p:par>
                      </p:childTnLst>
                    </p:cTn>
                  </p:par>
                  <p:par>
                    <p:cTn id="63" fill="hold" nodeType="clickPar">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3">
                                            <p:txEl>
                                              <p:pRg st="1" end="1"/>
                                            </p:txEl>
                                          </p:spTgt>
                                        </p:tgtEl>
                                        <p:attrNameLst>
                                          <p:attrName>style.visibility</p:attrName>
                                        </p:attrNameLst>
                                      </p:cBhvr>
                                      <p:to>
                                        <p:strVal val="visible"/>
                                      </p:to>
                                    </p:set>
                                    <p:animEffect transition="in" filter="fade">
                                      <p:cBhvr>
                                        <p:cTn id="67" dur="500"/>
                                        <p:tgtEl>
                                          <p:spTgt spid="3">
                                            <p:txEl>
                                              <p:pRg st="1" end="1"/>
                                            </p:txEl>
                                          </p:spTgt>
                                        </p:tgtEl>
                                      </p:cBhvr>
                                    </p:animEffect>
                                  </p:childTnLst>
                                </p:cTn>
                              </p:par>
                            </p:childTnLst>
                          </p:cTn>
                        </p:par>
                      </p:childTnLst>
                    </p:cTn>
                  </p:par>
                  <p:par>
                    <p:cTn id="68" fill="hold" nodeType="clickPar">
                      <p:stCondLst>
                        <p:cond delay="indefinite"/>
                      </p:stCondLst>
                      <p:childTnLst>
                        <p:par>
                          <p:cTn id="69" fill="hold">
                            <p:stCondLst>
                              <p:cond delay="0"/>
                            </p:stCondLst>
                            <p:childTnLst>
                              <p:par>
                                <p:cTn id="70" presetID="10" presetClass="entr" presetSubtype="0" fill="hold" grpId="0" nodeType="clickEffect">
                                  <p:stCondLst>
                                    <p:cond delay="0"/>
                                  </p:stCondLst>
                                  <p:childTnLst>
                                    <p:set>
                                      <p:cBhvr>
                                        <p:cTn id="71" dur="1" fill="hold">
                                          <p:stCondLst>
                                            <p:cond delay="0"/>
                                          </p:stCondLst>
                                        </p:cTn>
                                        <p:tgtEl>
                                          <p:spTgt spid="3">
                                            <p:txEl>
                                              <p:pRg st="2" end="2"/>
                                            </p:txEl>
                                          </p:spTgt>
                                        </p:tgtEl>
                                        <p:attrNameLst>
                                          <p:attrName>style.visibility</p:attrName>
                                        </p:attrNameLst>
                                      </p:cBhvr>
                                      <p:to>
                                        <p:strVal val="visible"/>
                                      </p:to>
                                    </p:set>
                                    <p:animEffect transition="in" filter="fade">
                                      <p:cBhvr>
                                        <p:cTn id="72"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animBg="1"/>
      <p:bldP spid="4" grpId="0" animBg="1"/>
      <p:bldP spid="5" grpId="0" animBg="1"/>
      <p:bldP spid="6" grpId="0" animBg="1"/>
      <p:bldP spid="7" grpId="0" animBg="1"/>
      <p:bldP spid="8" grpId="0" animBg="1"/>
      <p:bldP spid="13" grpId="0"/>
      <p:bldP spid="14" grpId="0"/>
      <p:bldP spid="15" grpId="0"/>
      <p:bldP spid="16" grpId="0"/>
      <p:bldP spid="18" grpId="0"/>
      <p:bldP spid="20" grpId="0"/>
      <p:bldP spid="23" grpId="0" animBg="1"/>
      <p:bldP spid="25" grpId="0"/>
      <p:bldP spid="27"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Disk read-write using DMA</a:t>
            </a:r>
          </a:p>
        </p:txBody>
      </p:sp>
      <p:sp>
        <p:nvSpPr>
          <p:cNvPr id="3" name="Content Placeholder 2"/>
          <p:cNvSpPr>
            <a:spLocks noGrp="1"/>
          </p:cNvSpPr>
          <p:nvPr>
            <p:ph idx="1"/>
          </p:nvPr>
        </p:nvSpPr>
        <p:spPr>
          <a:xfrm>
            <a:off x="131180" y="4604196"/>
            <a:ext cx="11929641" cy="1554480"/>
          </a:xfrm>
          <a:ln>
            <a:solidFill>
              <a:schemeClr val="accent6">
                <a:lumMod val="40000"/>
                <a:lumOff val="60000"/>
              </a:schemeClr>
            </a:solidFill>
          </a:ln>
        </p:spPr>
        <p:txBody>
          <a:bodyPr/>
          <a:lstStyle/>
          <a:p>
            <a:r>
              <a:rPr lang="en-US">
                <a:solidFill>
                  <a:schemeClr val="tx2"/>
                </a:solidFill>
              </a:rPr>
              <a:t>Step 2</a:t>
            </a:r>
            <a:r>
              <a:rPr lang="en-US"/>
              <a:t>: The </a:t>
            </a:r>
            <a:r>
              <a:rPr lang="en-US">
                <a:solidFill>
                  <a:schemeClr val="accent6"/>
                </a:solidFill>
              </a:rPr>
              <a:t>DMA controller initiates the transfer </a:t>
            </a:r>
            <a:r>
              <a:rPr lang="en-US"/>
              <a:t>by issuing a read request over the bus to the disk controller. </a:t>
            </a:r>
          </a:p>
          <a:p>
            <a:r>
              <a:rPr lang="en-US"/>
              <a:t>This read request looks like any other read request, and the </a:t>
            </a:r>
            <a:r>
              <a:rPr lang="en-US">
                <a:solidFill>
                  <a:schemeClr val="accent6"/>
                </a:solidFill>
              </a:rPr>
              <a:t>disk controller does not know </a:t>
            </a:r>
            <a:r>
              <a:rPr lang="en-US"/>
              <a:t>(or care) whether it came from the CPU or from a DMA controller.</a:t>
            </a:r>
          </a:p>
        </p:txBody>
      </p:sp>
      <p:sp>
        <p:nvSpPr>
          <p:cNvPr id="4" name="Rectangle 3"/>
          <p:cNvSpPr/>
          <p:nvPr/>
        </p:nvSpPr>
        <p:spPr>
          <a:xfrm>
            <a:off x="2752965" y="2185988"/>
            <a:ext cx="1066800" cy="1600200"/>
          </a:xfrm>
          <a:prstGeom prst="rect">
            <a:avLst/>
          </a:prstGeom>
          <a:ln w="28575">
            <a:solidFill>
              <a:schemeClr val="accent3"/>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5" name="Rectangle 4"/>
          <p:cNvSpPr/>
          <p:nvPr/>
        </p:nvSpPr>
        <p:spPr>
          <a:xfrm>
            <a:off x="5160900" y="2185988"/>
            <a:ext cx="1066800" cy="1600200"/>
          </a:xfrm>
          <a:prstGeom prst="rect">
            <a:avLst/>
          </a:prstGeom>
          <a:ln w="28575">
            <a:solidFill>
              <a:schemeClr val="tx2"/>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6" name="Rectangle 5"/>
          <p:cNvSpPr/>
          <p:nvPr/>
        </p:nvSpPr>
        <p:spPr>
          <a:xfrm>
            <a:off x="7568836" y="2185988"/>
            <a:ext cx="1066800" cy="1600200"/>
          </a:xfrm>
          <a:prstGeom prst="rect">
            <a:avLst/>
          </a:prstGeom>
          <a:ln w="28575">
            <a:solidFill>
              <a:schemeClr val="tx2"/>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7" name="Flowchart: Magnetic Disk 6"/>
          <p:cNvSpPr/>
          <p:nvPr/>
        </p:nvSpPr>
        <p:spPr>
          <a:xfrm>
            <a:off x="5618125" y="1042988"/>
            <a:ext cx="533400" cy="533400"/>
          </a:xfrm>
          <a:prstGeom prst="flowChartMagneticDisk">
            <a:avLst/>
          </a:prstGeom>
          <a:ln w="28575">
            <a:solidFill>
              <a:schemeClr val="tx2"/>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8" name="Rectangle 7"/>
          <p:cNvSpPr/>
          <p:nvPr/>
        </p:nvSpPr>
        <p:spPr>
          <a:xfrm>
            <a:off x="5423815" y="2338388"/>
            <a:ext cx="533400" cy="457200"/>
          </a:xfrm>
          <a:prstGeom prst="rect">
            <a:avLst/>
          </a:prstGeom>
          <a:ln w="28575">
            <a:solidFill>
              <a:schemeClr val="tx2"/>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cxnSp>
        <p:nvCxnSpPr>
          <p:cNvPr id="9" name="Straight Connector 8"/>
          <p:cNvCxnSpPr/>
          <p:nvPr/>
        </p:nvCxnSpPr>
        <p:spPr>
          <a:xfrm flipH="1">
            <a:off x="3286365" y="3786188"/>
            <a:ext cx="0" cy="533400"/>
          </a:xfrm>
          <a:prstGeom prst="line">
            <a:avLst/>
          </a:prstGeom>
          <a:ln w="1016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flipH="1">
            <a:off x="5694300" y="3786188"/>
            <a:ext cx="0" cy="533400"/>
          </a:xfrm>
          <a:prstGeom prst="line">
            <a:avLst/>
          </a:prstGeom>
          <a:ln w="1016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flipH="1">
            <a:off x="8102236" y="3786188"/>
            <a:ext cx="0" cy="533400"/>
          </a:xfrm>
          <a:prstGeom prst="line">
            <a:avLst/>
          </a:prstGeom>
          <a:ln w="1016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830351" y="4317063"/>
            <a:ext cx="7315200" cy="12805"/>
          </a:xfrm>
          <a:prstGeom prst="line">
            <a:avLst/>
          </a:prstGeom>
          <a:ln w="101600">
            <a:solidFill>
              <a:schemeClr val="tx2"/>
            </a:solidFill>
          </a:ln>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a:off x="2740825" y="3139857"/>
            <a:ext cx="1097280" cy="649224"/>
          </a:xfrm>
          <a:prstGeom prst="rect">
            <a:avLst/>
          </a:prstGeom>
          <a:noFill/>
          <a:ln>
            <a:noFill/>
          </a:ln>
        </p:spPr>
        <p:txBody>
          <a:bodyPr wrap="square" rtlCol="0">
            <a:spAutoFit/>
          </a:bodyPr>
          <a:lstStyle/>
          <a:p>
            <a:pPr algn="ctr"/>
            <a:r>
              <a:rPr lang="en-US"/>
              <a:t>DMA Controller</a:t>
            </a:r>
          </a:p>
        </p:txBody>
      </p:sp>
      <p:sp>
        <p:nvSpPr>
          <p:cNvPr id="14" name="TextBox 13"/>
          <p:cNvSpPr txBox="1"/>
          <p:nvPr/>
        </p:nvSpPr>
        <p:spPr>
          <a:xfrm>
            <a:off x="5116156" y="3139857"/>
            <a:ext cx="1162050" cy="646331"/>
          </a:xfrm>
          <a:prstGeom prst="rect">
            <a:avLst/>
          </a:prstGeom>
          <a:noFill/>
          <a:ln>
            <a:noFill/>
          </a:ln>
        </p:spPr>
        <p:txBody>
          <a:bodyPr wrap="square" rtlCol="0">
            <a:spAutoFit/>
          </a:bodyPr>
          <a:lstStyle/>
          <a:p>
            <a:pPr algn="ctr"/>
            <a:r>
              <a:rPr lang="en-US"/>
              <a:t>Disk</a:t>
            </a:r>
          </a:p>
          <a:p>
            <a:pPr algn="ctr"/>
            <a:r>
              <a:rPr lang="en-US"/>
              <a:t>Controller</a:t>
            </a:r>
          </a:p>
        </p:txBody>
      </p:sp>
      <p:sp>
        <p:nvSpPr>
          <p:cNvPr id="15" name="TextBox 14"/>
          <p:cNvSpPr txBox="1"/>
          <p:nvPr/>
        </p:nvSpPr>
        <p:spPr>
          <a:xfrm>
            <a:off x="7521211" y="3139857"/>
            <a:ext cx="1162050" cy="646331"/>
          </a:xfrm>
          <a:prstGeom prst="rect">
            <a:avLst/>
          </a:prstGeom>
          <a:noFill/>
          <a:ln>
            <a:noFill/>
          </a:ln>
        </p:spPr>
        <p:txBody>
          <a:bodyPr wrap="square" rtlCol="0">
            <a:spAutoFit/>
          </a:bodyPr>
          <a:lstStyle/>
          <a:p>
            <a:pPr algn="ctr"/>
            <a:r>
              <a:rPr lang="en-US"/>
              <a:t>Main</a:t>
            </a:r>
          </a:p>
          <a:p>
            <a:pPr algn="ctr"/>
            <a:r>
              <a:rPr lang="en-US"/>
              <a:t>Memory</a:t>
            </a:r>
          </a:p>
        </p:txBody>
      </p:sp>
      <p:sp>
        <p:nvSpPr>
          <p:cNvPr id="16" name="TextBox 15"/>
          <p:cNvSpPr txBox="1"/>
          <p:nvPr/>
        </p:nvSpPr>
        <p:spPr>
          <a:xfrm>
            <a:off x="8330836" y="4030147"/>
            <a:ext cx="609600" cy="369332"/>
          </a:xfrm>
          <a:prstGeom prst="rect">
            <a:avLst/>
          </a:prstGeom>
          <a:noFill/>
          <a:ln>
            <a:noFill/>
          </a:ln>
        </p:spPr>
        <p:txBody>
          <a:bodyPr wrap="square" rtlCol="0">
            <a:spAutoFit/>
          </a:bodyPr>
          <a:lstStyle/>
          <a:p>
            <a:pPr algn="ctr"/>
            <a:r>
              <a:rPr lang="en-US"/>
              <a:t>Bus</a:t>
            </a:r>
          </a:p>
        </p:txBody>
      </p:sp>
      <p:cxnSp>
        <p:nvCxnSpPr>
          <p:cNvPr id="17" name="Straight Arrow Connector 16"/>
          <p:cNvCxnSpPr/>
          <p:nvPr/>
        </p:nvCxnSpPr>
        <p:spPr>
          <a:xfrm flipH="1" flipV="1">
            <a:off x="8145551" y="4141126"/>
            <a:ext cx="304801" cy="73687"/>
          </a:xfrm>
          <a:prstGeom prst="straightConnector1">
            <a:avLst/>
          </a:prstGeom>
          <a:ln w="28575">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18" name="TextBox 17"/>
          <p:cNvSpPr txBox="1"/>
          <p:nvPr/>
        </p:nvSpPr>
        <p:spPr>
          <a:xfrm>
            <a:off x="6031000" y="1709346"/>
            <a:ext cx="838200" cy="369332"/>
          </a:xfrm>
          <a:prstGeom prst="rect">
            <a:avLst/>
          </a:prstGeom>
          <a:noFill/>
          <a:ln>
            <a:noFill/>
          </a:ln>
        </p:spPr>
        <p:txBody>
          <a:bodyPr wrap="square" rtlCol="0">
            <a:spAutoFit/>
          </a:bodyPr>
          <a:lstStyle/>
          <a:p>
            <a:pPr algn="ctr"/>
            <a:r>
              <a:rPr lang="en-US"/>
              <a:t>Buffer</a:t>
            </a:r>
          </a:p>
        </p:txBody>
      </p:sp>
      <p:cxnSp>
        <p:nvCxnSpPr>
          <p:cNvPr id="19" name="Straight Arrow Connector 18"/>
          <p:cNvCxnSpPr>
            <a:stCxn id="18" idx="2"/>
          </p:cNvCxnSpPr>
          <p:nvPr/>
        </p:nvCxnSpPr>
        <p:spPr>
          <a:xfrm flipH="1">
            <a:off x="5957218" y="2078678"/>
            <a:ext cx="492882" cy="259710"/>
          </a:xfrm>
          <a:prstGeom prst="straightConnector1">
            <a:avLst/>
          </a:prstGeom>
          <a:ln w="28575">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20" name="TextBox 19"/>
          <p:cNvSpPr txBox="1"/>
          <p:nvPr/>
        </p:nvSpPr>
        <p:spPr>
          <a:xfrm>
            <a:off x="6669685" y="981459"/>
            <a:ext cx="742950" cy="369332"/>
          </a:xfrm>
          <a:prstGeom prst="rect">
            <a:avLst/>
          </a:prstGeom>
          <a:noFill/>
          <a:ln>
            <a:noFill/>
          </a:ln>
        </p:spPr>
        <p:txBody>
          <a:bodyPr wrap="square" rtlCol="0">
            <a:spAutoFit/>
          </a:bodyPr>
          <a:lstStyle/>
          <a:p>
            <a:pPr algn="ctr"/>
            <a:r>
              <a:rPr lang="en-US"/>
              <a:t>Drive</a:t>
            </a:r>
          </a:p>
        </p:txBody>
      </p:sp>
      <p:cxnSp>
        <p:nvCxnSpPr>
          <p:cNvPr id="21" name="Straight Arrow Connector 20"/>
          <p:cNvCxnSpPr/>
          <p:nvPr/>
        </p:nvCxnSpPr>
        <p:spPr>
          <a:xfrm flipH="1">
            <a:off x="6165361" y="1166125"/>
            <a:ext cx="562939" cy="5219"/>
          </a:xfrm>
          <a:prstGeom prst="straightConnector1">
            <a:avLst/>
          </a:prstGeom>
          <a:ln w="28575">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flipH="1">
            <a:off x="5881015" y="1587927"/>
            <a:ext cx="0" cy="750461"/>
          </a:xfrm>
          <a:prstGeom prst="line">
            <a:avLst/>
          </a:prstGeom>
          <a:ln w="28575">
            <a:solidFill>
              <a:schemeClr val="tx2"/>
            </a:solidFill>
          </a:ln>
        </p:spPr>
        <p:style>
          <a:lnRef idx="3">
            <a:schemeClr val="accent1"/>
          </a:lnRef>
          <a:fillRef idx="0">
            <a:schemeClr val="accent1"/>
          </a:fillRef>
          <a:effectRef idx="2">
            <a:schemeClr val="accent1"/>
          </a:effectRef>
          <a:fontRef idx="minor">
            <a:schemeClr val="tx1"/>
          </a:fontRef>
        </p:style>
      </p:cxnSp>
      <p:sp>
        <p:nvSpPr>
          <p:cNvPr id="23" name="Rectangle 22"/>
          <p:cNvSpPr/>
          <p:nvPr/>
        </p:nvSpPr>
        <p:spPr>
          <a:xfrm>
            <a:off x="345030" y="2185988"/>
            <a:ext cx="1066800" cy="1600200"/>
          </a:xfrm>
          <a:prstGeom prst="rect">
            <a:avLst/>
          </a:prstGeom>
          <a:ln w="28575">
            <a:solidFill>
              <a:schemeClr val="tx2"/>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cxnSp>
        <p:nvCxnSpPr>
          <p:cNvPr id="24" name="Straight Connector 23"/>
          <p:cNvCxnSpPr/>
          <p:nvPr/>
        </p:nvCxnSpPr>
        <p:spPr>
          <a:xfrm flipH="1">
            <a:off x="878430" y="3790951"/>
            <a:ext cx="0" cy="533400"/>
          </a:xfrm>
          <a:prstGeom prst="line">
            <a:avLst/>
          </a:prstGeom>
          <a:ln w="101600">
            <a:solidFill>
              <a:schemeClr val="tx2"/>
            </a:solidFill>
          </a:ln>
        </p:spPr>
        <p:style>
          <a:lnRef idx="1">
            <a:schemeClr val="accent1"/>
          </a:lnRef>
          <a:fillRef idx="0">
            <a:schemeClr val="accent1"/>
          </a:fillRef>
          <a:effectRef idx="0">
            <a:schemeClr val="accent1"/>
          </a:effectRef>
          <a:fontRef idx="minor">
            <a:schemeClr val="tx1"/>
          </a:fontRef>
        </p:style>
      </p:cxnSp>
      <p:sp>
        <p:nvSpPr>
          <p:cNvPr id="25" name="TextBox 24"/>
          <p:cNvSpPr txBox="1"/>
          <p:nvPr/>
        </p:nvSpPr>
        <p:spPr>
          <a:xfrm>
            <a:off x="573630" y="3416856"/>
            <a:ext cx="609600" cy="369332"/>
          </a:xfrm>
          <a:prstGeom prst="rect">
            <a:avLst/>
          </a:prstGeom>
          <a:noFill/>
          <a:ln>
            <a:noFill/>
          </a:ln>
        </p:spPr>
        <p:txBody>
          <a:bodyPr wrap="square" rtlCol="0">
            <a:spAutoFit/>
          </a:bodyPr>
          <a:lstStyle/>
          <a:p>
            <a:r>
              <a:rPr lang="en-US"/>
              <a:t>CPU</a:t>
            </a:r>
          </a:p>
        </p:txBody>
      </p:sp>
      <p:cxnSp>
        <p:nvCxnSpPr>
          <p:cNvPr id="26" name="Straight Arrow Connector 25"/>
          <p:cNvCxnSpPr/>
          <p:nvPr/>
        </p:nvCxnSpPr>
        <p:spPr>
          <a:xfrm>
            <a:off x="1175832" y="2224041"/>
            <a:ext cx="1828800" cy="0"/>
          </a:xfrm>
          <a:prstGeom prst="straightConnector1">
            <a:avLst/>
          </a:prstGeom>
          <a:ln w="381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27" name="TextBox 26"/>
          <p:cNvSpPr txBox="1"/>
          <p:nvPr/>
        </p:nvSpPr>
        <p:spPr>
          <a:xfrm>
            <a:off x="1513017" y="1015716"/>
            <a:ext cx="1143000" cy="1200329"/>
          </a:xfrm>
          <a:prstGeom prst="rect">
            <a:avLst/>
          </a:prstGeom>
          <a:ln w="38100">
            <a:solidFill>
              <a:schemeClr val="accent6"/>
            </a:solidFill>
          </a:ln>
        </p:spPr>
        <p:style>
          <a:lnRef idx="2">
            <a:schemeClr val="accent4"/>
          </a:lnRef>
          <a:fillRef idx="1">
            <a:schemeClr val="lt1"/>
          </a:fillRef>
          <a:effectRef idx="0">
            <a:schemeClr val="accent4"/>
          </a:effectRef>
          <a:fontRef idx="minor">
            <a:schemeClr val="dk1"/>
          </a:fontRef>
        </p:style>
        <p:txBody>
          <a:bodyPr wrap="square" rtlCol="0">
            <a:spAutoFit/>
          </a:bodyPr>
          <a:lstStyle/>
          <a:p>
            <a:r>
              <a:rPr lang="en-US"/>
              <a:t>1. CPU programs DMA controller</a:t>
            </a:r>
          </a:p>
        </p:txBody>
      </p:sp>
      <p:cxnSp>
        <p:nvCxnSpPr>
          <p:cNvPr id="28" name="Straight Arrow Connector 27"/>
          <p:cNvCxnSpPr/>
          <p:nvPr/>
        </p:nvCxnSpPr>
        <p:spPr>
          <a:xfrm>
            <a:off x="3576175" y="3748017"/>
            <a:ext cx="1828800" cy="0"/>
          </a:xfrm>
          <a:prstGeom prst="straightConnector1">
            <a:avLst/>
          </a:prstGeom>
          <a:ln w="381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29" name="TextBox 28"/>
          <p:cNvSpPr txBox="1"/>
          <p:nvPr/>
        </p:nvSpPr>
        <p:spPr>
          <a:xfrm>
            <a:off x="3913360" y="2539692"/>
            <a:ext cx="1143000" cy="1200329"/>
          </a:xfrm>
          <a:prstGeom prst="rect">
            <a:avLst/>
          </a:prstGeom>
          <a:ln w="38100">
            <a:solidFill>
              <a:schemeClr val="accent6"/>
            </a:solidFill>
          </a:ln>
        </p:spPr>
        <p:style>
          <a:lnRef idx="2">
            <a:schemeClr val="accent4"/>
          </a:lnRef>
          <a:fillRef idx="1">
            <a:schemeClr val="lt1"/>
          </a:fillRef>
          <a:effectRef idx="0">
            <a:schemeClr val="accent4"/>
          </a:effectRef>
          <a:fontRef idx="minor">
            <a:schemeClr val="dk1"/>
          </a:fontRef>
        </p:style>
        <p:txBody>
          <a:bodyPr wrap="square" rtlCol="0">
            <a:spAutoFit/>
          </a:bodyPr>
          <a:lstStyle/>
          <a:p>
            <a:r>
              <a:rPr lang="en-US"/>
              <a:t>2. DMA requests transfer to memory</a:t>
            </a:r>
          </a:p>
        </p:txBody>
      </p:sp>
    </p:spTree>
    <p:extLst>
      <p:ext uri="{BB962C8B-B14F-4D97-AF65-F5344CB8AC3E}">
        <p14:creationId xmlns:p14="http://schemas.microsoft.com/office/powerpoint/2010/main" val="3026909918"/>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left)">
                                      <p:cBhvr>
                                        <p:cTn id="7" dur="500"/>
                                        <p:tgtEl>
                                          <p:spTgt spid="29"/>
                                        </p:tgtEl>
                                      </p:cBhvr>
                                    </p:animEffect>
                                  </p:childTnLst>
                                </p:cTn>
                              </p:par>
                              <p:par>
                                <p:cTn id="8" presetID="22" presetClass="entr" presetSubtype="8" fill="hold" nodeType="withEffect">
                                  <p:stCondLst>
                                    <p:cond delay="0"/>
                                  </p:stCondLst>
                                  <p:childTnLst>
                                    <p:set>
                                      <p:cBhvr>
                                        <p:cTn id="9" dur="1" fill="hold">
                                          <p:stCondLst>
                                            <p:cond delay="0"/>
                                          </p:stCondLst>
                                        </p:cTn>
                                        <p:tgtEl>
                                          <p:spTgt spid="28"/>
                                        </p:tgtEl>
                                        <p:attrNameLst>
                                          <p:attrName>style.visibility</p:attrName>
                                        </p:attrNameLst>
                                      </p:cBhvr>
                                      <p:to>
                                        <p:strVal val="visible"/>
                                      </p:to>
                                    </p:set>
                                    <p:animEffect transition="in" filter="wipe(left)">
                                      <p:cBhvr>
                                        <p:cTn id="10" dur="500"/>
                                        <p:tgtEl>
                                          <p:spTgt spid="2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
                                            <p:bg/>
                                          </p:spTgt>
                                        </p:tgtEl>
                                        <p:attrNameLst>
                                          <p:attrName>style.visibility</p:attrName>
                                        </p:attrNameLst>
                                      </p:cBhvr>
                                      <p:to>
                                        <p:strVal val="visible"/>
                                      </p:to>
                                    </p:set>
                                    <p:animEffect transition="in" filter="fade">
                                      <p:cBhvr>
                                        <p:cTn id="13" dur="500"/>
                                        <p:tgtEl>
                                          <p:spTgt spid="3">
                                            <p:bg/>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
                                            <p:txEl>
                                              <p:pRg st="0" end="0"/>
                                            </p:txEl>
                                          </p:spTgt>
                                        </p:tgtEl>
                                        <p:attrNameLst>
                                          <p:attrName>style.visibility</p:attrName>
                                        </p:attrNameLst>
                                      </p:cBhvr>
                                      <p:to>
                                        <p:strVal val="visible"/>
                                      </p:to>
                                    </p:set>
                                    <p:animEffect transition="in" filter="fade">
                                      <p:cBhvr>
                                        <p:cTn id="16" dur="500"/>
                                        <p:tgtEl>
                                          <p:spTgt spid="3">
                                            <p:txEl>
                                              <p:pRg st="0" end="0"/>
                                            </p:txEl>
                                          </p:spTgt>
                                        </p:tgtEl>
                                      </p:cBhvr>
                                    </p:animEffect>
                                  </p:childTnLst>
                                </p:cTn>
                              </p:par>
                            </p:childTnLst>
                          </p:cTn>
                        </p:par>
                      </p:childTnLst>
                    </p:cTn>
                  </p:par>
                  <p:par>
                    <p:cTn id="17" fill="hold" nodeType="clickPar">
                      <p:stCondLst>
                        <p:cond delay="indefinite"/>
                        <p:cond evt="onBegin" delay="0">
                          <p:tn val="16"/>
                        </p:cond>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3">
                                            <p:txEl>
                                              <p:pRg st="1" end="1"/>
                                            </p:txEl>
                                          </p:spTgt>
                                        </p:tgtEl>
                                        <p:attrNameLst>
                                          <p:attrName>style.visibility</p:attrName>
                                        </p:attrNameLst>
                                      </p:cBhvr>
                                      <p:to>
                                        <p:strVal val="visible"/>
                                      </p:to>
                                    </p:set>
                                    <p:animEffect transition="in" filter="fade">
                                      <p:cBhvr>
                                        <p:cTn id="21"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animBg="1"/>
      <p:bldP spid="29"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Disk read-write using DMA</a:t>
            </a:r>
          </a:p>
        </p:txBody>
      </p:sp>
      <p:sp>
        <p:nvSpPr>
          <p:cNvPr id="3" name="Content Placeholder 2"/>
          <p:cNvSpPr>
            <a:spLocks noGrp="1"/>
          </p:cNvSpPr>
          <p:nvPr>
            <p:ph idx="1"/>
          </p:nvPr>
        </p:nvSpPr>
        <p:spPr>
          <a:xfrm>
            <a:off x="131180" y="4604196"/>
            <a:ext cx="11929641" cy="1280160"/>
          </a:xfrm>
          <a:ln>
            <a:solidFill>
              <a:schemeClr val="accent6">
                <a:lumMod val="40000"/>
                <a:lumOff val="60000"/>
              </a:schemeClr>
            </a:solidFill>
          </a:ln>
        </p:spPr>
        <p:txBody>
          <a:bodyPr/>
          <a:lstStyle/>
          <a:p>
            <a:r>
              <a:rPr lang="en-US"/>
              <a:t>Typically, the memory address to write to is on the bus’ address lines, so when the disk controller fetches the next word from its internal buffer, it knows where to write it. </a:t>
            </a:r>
          </a:p>
          <a:p>
            <a:r>
              <a:rPr lang="en-US">
                <a:solidFill>
                  <a:schemeClr val="tx2"/>
                </a:solidFill>
              </a:rPr>
              <a:t>Step 3</a:t>
            </a:r>
            <a:r>
              <a:rPr lang="en-US"/>
              <a:t>: The </a:t>
            </a:r>
            <a:r>
              <a:rPr lang="en-US">
                <a:solidFill>
                  <a:schemeClr val="accent6"/>
                </a:solidFill>
              </a:rPr>
              <a:t>write to memory is another standard bus cycle</a:t>
            </a:r>
            <a:r>
              <a:rPr lang="en-US"/>
              <a:t>.</a:t>
            </a:r>
          </a:p>
        </p:txBody>
      </p:sp>
      <p:sp>
        <p:nvSpPr>
          <p:cNvPr id="4" name="Rectangle 3"/>
          <p:cNvSpPr/>
          <p:nvPr/>
        </p:nvSpPr>
        <p:spPr>
          <a:xfrm>
            <a:off x="2752965" y="2185988"/>
            <a:ext cx="1066800" cy="1600200"/>
          </a:xfrm>
          <a:prstGeom prst="rect">
            <a:avLst/>
          </a:prstGeom>
          <a:ln w="28575">
            <a:solidFill>
              <a:schemeClr val="accent3"/>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5" name="Rectangle 4"/>
          <p:cNvSpPr/>
          <p:nvPr/>
        </p:nvSpPr>
        <p:spPr>
          <a:xfrm>
            <a:off x="5160900" y="2185988"/>
            <a:ext cx="1066800" cy="1600200"/>
          </a:xfrm>
          <a:prstGeom prst="rect">
            <a:avLst/>
          </a:prstGeom>
          <a:ln w="28575">
            <a:solidFill>
              <a:schemeClr val="tx2"/>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6" name="Rectangle 5"/>
          <p:cNvSpPr/>
          <p:nvPr/>
        </p:nvSpPr>
        <p:spPr>
          <a:xfrm>
            <a:off x="7568836" y="2185988"/>
            <a:ext cx="1066800" cy="1600200"/>
          </a:xfrm>
          <a:prstGeom prst="rect">
            <a:avLst/>
          </a:prstGeom>
          <a:ln w="28575">
            <a:solidFill>
              <a:schemeClr val="tx2"/>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7" name="Flowchart: Magnetic Disk 6"/>
          <p:cNvSpPr/>
          <p:nvPr/>
        </p:nvSpPr>
        <p:spPr>
          <a:xfrm>
            <a:off x="5618125" y="1042988"/>
            <a:ext cx="533400" cy="533400"/>
          </a:xfrm>
          <a:prstGeom prst="flowChartMagneticDisk">
            <a:avLst/>
          </a:prstGeom>
          <a:ln w="28575">
            <a:solidFill>
              <a:schemeClr val="tx2"/>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8" name="Rectangle 7"/>
          <p:cNvSpPr/>
          <p:nvPr/>
        </p:nvSpPr>
        <p:spPr>
          <a:xfrm>
            <a:off x="5423815" y="2338388"/>
            <a:ext cx="533400" cy="457200"/>
          </a:xfrm>
          <a:prstGeom prst="rect">
            <a:avLst/>
          </a:prstGeom>
          <a:ln w="28575">
            <a:solidFill>
              <a:schemeClr val="tx2"/>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cxnSp>
        <p:nvCxnSpPr>
          <p:cNvPr id="9" name="Straight Connector 8"/>
          <p:cNvCxnSpPr/>
          <p:nvPr/>
        </p:nvCxnSpPr>
        <p:spPr>
          <a:xfrm flipH="1">
            <a:off x="3286365" y="3786188"/>
            <a:ext cx="0" cy="533400"/>
          </a:xfrm>
          <a:prstGeom prst="line">
            <a:avLst/>
          </a:prstGeom>
          <a:ln w="1016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flipH="1">
            <a:off x="5694300" y="3786188"/>
            <a:ext cx="0" cy="533400"/>
          </a:xfrm>
          <a:prstGeom prst="line">
            <a:avLst/>
          </a:prstGeom>
          <a:ln w="1016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flipH="1">
            <a:off x="8102236" y="3786188"/>
            <a:ext cx="0" cy="533400"/>
          </a:xfrm>
          <a:prstGeom prst="line">
            <a:avLst/>
          </a:prstGeom>
          <a:ln w="1016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830351" y="4317063"/>
            <a:ext cx="7315200" cy="12805"/>
          </a:xfrm>
          <a:prstGeom prst="line">
            <a:avLst/>
          </a:prstGeom>
          <a:ln w="101600">
            <a:solidFill>
              <a:schemeClr val="tx2"/>
            </a:solidFill>
          </a:ln>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a:off x="2740825" y="3139857"/>
            <a:ext cx="1097280" cy="649224"/>
          </a:xfrm>
          <a:prstGeom prst="rect">
            <a:avLst/>
          </a:prstGeom>
          <a:noFill/>
          <a:ln>
            <a:noFill/>
          </a:ln>
        </p:spPr>
        <p:txBody>
          <a:bodyPr wrap="square" rtlCol="0">
            <a:spAutoFit/>
          </a:bodyPr>
          <a:lstStyle/>
          <a:p>
            <a:pPr algn="ctr"/>
            <a:r>
              <a:rPr lang="en-US"/>
              <a:t>DMA Controller</a:t>
            </a:r>
          </a:p>
        </p:txBody>
      </p:sp>
      <p:sp>
        <p:nvSpPr>
          <p:cNvPr id="14" name="TextBox 13"/>
          <p:cNvSpPr txBox="1"/>
          <p:nvPr/>
        </p:nvSpPr>
        <p:spPr>
          <a:xfrm>
            <a:off x="5116156" y="3139857"/>
            <a:ext cx="1162050" cy="646331"/>
          </a:xfrm>
          <a:prstGeom prst="rect">
            <a:avLst/>
          </a:prstGeom>
          <a:noFill/>
          <a:ln>
            <a:noFill/>
          </a:ln>
        </p:spPr>
        <p:txBody>
          <a:bodyPr wrap="square" rtlCol="0">
            <a:spAutoFit/>
          </a:bodyPr>
          <a:lstStyle/>
          <a:p>
            <a:pPr algn="ctr"/>
            <a:r>
              <a:rPr lang="en-US"/>
              <a:t>Disk</a:t>
            </a:r>
          </a:p>
          <a:p>
            <a:pPr algn="ctr"/>
            <a:r>
              <a:rPr lang="en-US"/>
              <a:t>Controller</a:t>
            </a:r>
          </a:p>
        </p:txBody>
      </p:sp>
      <p:sp>
        <p:nvSpPr>
          <p:cNvPr id="15" name="TextBox 14"/>
          <p:cNvSpPr txBox="1"/>
          <p:nvPr/>
        </p:nvSpPr>
        <p:spPr>
          <a:xfrm>
            <a:off x="7521211" y="3139857"/>
            <a:ext cx="1162050" cy="646331"/>
          </a:xfrm>
          <a:prstGeom prst="rect">
            <a:avLst/>
          </a:prstGeom>
          <a:noFill/>
          <a:ln>
            <a:noFill/>
          </a:ln>
        </p:spPr>
        <p:txBody>
          <a:bodyPr wrap="square" rtlCol="0">
            <a:spAutoFit/>
          </a:bodyPr>
          <a:lstStyle/>
          <a:p>
            <a:pPr algn="ctr"/>
            <a:r>
              <a:rPr lang="en-US"/>
              <a:t>Main</a:t>
            </a:r>
          </a:p>
          <a:p>
            <a:pPr algn="ctr"/>
            <a:r>
              <a:rPr lang="en-US"/>
              <a:t>Memory</a:t>
            </a:r>
          </a:p>
        </p:txBody>
      </p:sp>
      <p:sp>
        <p:nvSpPr>
          <p:cNvPr id="16" name="TextBox 15"/>
          <p:cNvSpPr txBox="1"/>
          <p:nvPr/>
        </p:nvSpPr>
        <p:spPr>
          <a:xfrm>
            <a:off x="8330836" y="4030147"/>
            <a:ext cx="609600" cy="369332"/>
          </a:xfrm>
          <a:prstGeom prst="rect">
            <a:avLst/>
          </a:prstGeom>
          <a:noFill/>
          <a:ln>
            <a:noFill/>
          </a:ln>
        </p:spPr>
        <p:txBody>
          <a:bodyPr wrap="square" rtlCol="0">
            <a:spAutoFit/>
          </a:bodyPr>
          <a:lstStyle/>
          <a:p>
            <a:pPr algn="ctr"/>
            <a:r>
              <a:rPr lang="en-US"/>
              <a:t>Bus</a:t>
            </a:r>
          </a:p>
        </p:txBody>
      </p:sp>
      <p:cxnSp>
        <p:nvCxnSpPr>
          <p:cNvPr id="17" name="Straight Arrow Connector 16"/>
          <p:cNvCxnSpPr/>
          <p:nvPr/>
        </p:nvCxnSpPr>
        <p:spPr>
          <a:xfrm flipH="1" flipV="1">
            <a:off x="8145551" y="4141126"/>
            <a:ext cx="304801" cy="73687"/>
          </a:xfrm>
          <a:prstGeom prst="straightConnector1">
            <a:avLst/>
          </a:prstGeom>
          <a:ln w="28575">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18" name="TextBox 17"/>
          <p:cNvSpPr txBox="1"/>
          <p:nvPr/>
        </p:nvSpPr>
        <p:spPr>
          <a:xfrm>
            <a:off x="6031000" y="1709346"/>
            <a:ext cx="838200" cy="369332"/>
          </a:xfrm>
          <a:prstGeom prst="rect">
            <a:avLst/>
          </a:prstGeom>
          <a:noFill/>
          <a:ln>
            <a:noFill/>
          </a:ln>
        </p:spPr>
        <p:txBody>
          <a:bodyPr wrap="square" rtlCol="0">
            <a:spAutoFit/>
          </a:bodyPr>
          <a:lstStyle/>
          <a:p>
            <a:pPr algn="ctr"/>
            <a:r>
              <a:rPr lang="en-US"/>
              <a:t>Buffer</a:t>
            </a:r>
          </a:p>
        </p:txBody>
      </p:sp>
      <p:cxnSp>
        <p:nvCxnSpPr>
          <p:cNvPr id="19" name="Straight Arrow Connector 18"/>
          <p:cNvCxnSpPr>
            <a:stCxn id="18" idx="2"/>
          </p:cNvCxnSpPr>
          <p:nvPr/>
        </p:nvCxnSpPr>
        <p:spPr>
          <a:xfrm flipH="1">
            <a:off x="5957218" y="2078678"/>
            <a:ext cx="492882" cy="259710"/>
          </a:xfrm>
          <a:prstGeom prst="straightConnector1">
            <a:avLst/>
          </a:prstGeom>
          <a:ln w="28575">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20" name="TextBox 19"/>
          <p:cNvSpPr txBox="1"/>
          <p:nvPr/>
        </p:nvSpPr>
        <p:spPr>
          <a:xfrm>
            <a:off x="6669685" y="981459"/>
            <a:ext cx="742950" cy="369332"/>
          </a:xfrm>
          <a:prstGeom prst="rect">
            <a:avLst/>
          </a:prstGeom>
          <a:noFill/>
          <a:ln>
            <a:noFill/>
          </a:ln>
        </p:spPr>
        <p:txBody>
          <a:bodyPr wrap="square" rtlCol="0">
            <a:spAutoFit/>
          </a:bodyPr>
          <a:lstStyle/>
          <a:p>
            <a:pPr algn="ctr"/>
            <a:r>
              <a:rPr lang="en-US"/>
              <a:t>Drive</a:t>
            </a:r>
          </a:p>
        </p:txBody>
      </p:sp>
      <p:cxnSp>
        <p:nvCxnSpPr>
          <p:cNvPr id="21" name="Straight Arrow Connector 20"/>
          <p:cNvCxnSpPr/>
          <p:nvPr/>
        </p:nvCxnSpPr>
        <p:spPr>
          <a:xfrm flipH="1">
            <a:off x="6165361" y="1166125"/>
            <a:ext cx="562939" cy="5219"/>
          </a:xfrm>
          <a:prstGeom prst="straightConnector1">
            <a:avLst/>
          </a:prstGeom>
          <a:ln w="28575">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flipH="1">
            <a:off x="5881015" y="1587927"/>
            <a:ext cx="0" cy="750461"/>
          </a:xfrm>
          <a:prstGeom prst="line">
            <a:avLst/>
          </a:prstGeom>
          <a:ln w="28575">
            <a:solidFill>
              <a:schemeClr val="tx2"/>
            </a:solidFill>
          </a:ln>
        </p:spPr>
        <p:style>
          <a:lnRef idx="3">
            <a:schemeClr val="accent1"/>
          </a:lnRef>
          <a:fillRef idx="0">
            <a:schemeClr val="accent1"/>
          </a:fillRef>
          <a:effectRef idx="2">
            <a:schemeClr val="accent1"/>
          </a:effectRef>
          <a:fontRef idx="minor">
            <a:schemeClr val="tx1"/>
          </a:fontRef>
        </p:style>
      </p:cxnSp>
      <p:sp>
        <p:nvSpPr>
          <p:cNvPr id="23" name="Rectangle 22"/>
          <p:cNvSpPr/>
          <p:nvPr/>
        </p:nvSpPr>
        <p:spPr>
          <a:xfrm>
            <a:off x="345030" y="2185988"/>
            <a:ext cx="1066800" cy="1600200"/>
          </a:xfrm>
          <a:prstGeom prst="rect">
            <a:avLst/>
          </a:prstGeom>
          <a:ln w="28575">
            <a:solidFill>
              <a:schemeClr val="tx2"/>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cxnSp>
        <p:nvCxnSpPr>
          <p:cNvPr id="24" name="Straight Connector 23"/>
          <p:cNvCxnSpPr/>
          <p:nvPr/>
        </p:nvCxnSpPr>
        <p:spPr>
          <a:xfrm flipH="1">
            <a:off x="878430" y="3790951"/>
            <a:ext cx="0" cy="533400"/>
          </a:xfrm>
          <a:prstGeom prst="line">
            <a:avLst/>
          </a:prstGeom>
          <a:ln w="101600">
            <a:solidFill>
              <a:schemeClr val="tx2"/>
            </a:solidFill>
          </a:ln>
        </p:spPr>
        <p:style>
          <a:lnRef idx="1">
            <a:schemeClr val="accent1"/>
          </a:lnRef>
          <a:fillRef idx="0">
            <a:schemeClr val="accent1"/>
          </a:fillRef>
          <a:effectRef idx="0">
            <a:schemeClr val="accent1"/>
          </a:effectRef>
          <a:fontRef idx="minor">
            <a:schemeClr val="tx1"/>
          </a:fontRef>
        </p:style>
      </p:cxnSp>
      <p:sp>
        <p:nvSpPr>
          <p:cNvPr id="25" name="TextBox 24"/>
          <p:cNvSpPr txBox="1"/>
          <p:nvPr/>
        </p:nvSpPr>
        <p:spPr>
          <a:xfrm>
            <a:off x="573630" y="3416856"/>
            <a:ext cx="609600" cy="369332"/>
          </a:xfrm>
          <a:prstGeom prst="rect">
            <a:avLst/>
          </a:prstGeom>
          <a:noFill/>
          <a:ln>
            <a:noFill/>
          </a:ln>
        </p:spPr>
        <p:txBody>
          <a:bodyPr wrap="square" rtlCol="0">
            <a:spAutoFit/>
          </a:bodyPr>
          <a:lstStyle/>
          <a:p>
            <a:r>
              <a:rPr lang="en-US"/>
              <a:t>CPU</a:t>
            </a:r>
          </a:p>
        </p:txBody>
      </p:sp>
      <p:cxnSp>
        <p:nvCxnSpPr>
          <p:cNvPr id="26" name="Straight Arrow Connector 25"/>
          <p:cNvCxnSpPr/>
          <p:nvPr/>
        </p:nvCxnSpPr>
        <p:spPr>
          <a:xfrm>
            <a:off x="1175832" y="2224041"/>
            <a:ext cx="1828800" cy="0"/>
          </a:xfrm>
          <a:prstGeom prst="straightConnector1">
            <a:avLst/>
          </a:prstGeom>
          <a:ln w="381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27" name="TextBox 26"/>
          <p:cNvSpPr txBox="1"/>
          <p:nvPr/>
        </p:nvSpPr>
        <p:spPr>
          <a:xfrm>
            <a:off x="1513017" y="1015716"/>
            <a:ext cx="1143000" cy="1200329"/>
          </a:xfrm>
          <a:prstGeom prst="rect">
            <a:avLst/>
          </a:prstGeom>
          <a:ln w="38100">
            <a:solidFill>
              <a:schemeClr val="accent6"/>
            </a:solidFill>
          </a:ln>
        </p:spPr>
        <p:style>
          <a:lnRef idx="2">
            <a:schemeClr val="accent4"/>
          </a:lnRef>
          <a:fillRef idx="1">
            <a:schemeClr val="lt1"/>
          </a:fillRef>
          <a:effectRef idx="0">
            <a:schemeClr val="accent4"/>
          </a:effectRef>
          <a:fontRef idx="minor">
            <a:schemeClr val="dk1"/>
          </a:fontRef>
        </p:style>
        <p:txBody>
          <a:bodyPr wrap="square" rtlCol="0">
            <a:spAutoFit/>
          </a:bodyPr>
          <a:lstStyle/>
          <a:p>
            <a:r>
              <a:rPr lang="en-US"/>
              <a:t>1. CPU programs DMA controller</a:t>
            </a:r>
          </a:p>
        </p:txBody>
      </p:sp>
      <p:cxnSp>
        <p:nvCxnSpPr>
          <p:cNvPr id="28" name="Straight Arrow Connector 27"/>
          <p:cNvCxnSpPr/>
          <p:nvPr/>
        </p:nvCxnSpPr>
        <p:spPr>
          <a:xfrm>
            <a:off x="3576175" y="3748017"/>
            <a:ext cx="1828800" cy="0"/>
          </a:xfrm>
          <a:prstGeom prst="straightConnector1">
            <a:avLst/>
          </a:prstGeom>
          <a:ln w="381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29" name="TextBox 28"/>
          <p:cNvSpPr txBox="1"/>
          <p:nvPr/>
        </p:nvSpPr>
        <p:spPr>
          <a:xfrm>
            <a:off x="3913360" y="2539692"/>
            <a:ext cx="1143000" cy="1200329"/>
          </a:xfrm>
          <a:prstGeom prst="rect">
            <a:avLst/>
          </a:prstGeom>
          <a:ln w="38100">
            <a:solidFill>
              <a:schemeClr val="accent6"/>
            </a:solidFill>
          </a:ln>
        </p:spPr>
        <p:style>
          <a:lnRef idx="2">
            <a:schemeClr val="accent4"/>
          </a:lnRef>
          <a:fillRef idx="1">
            <a:schemeClr val="lt1"/>
          </a:fillRef>
          <a:effectRef idx="0">
            <a:schemeClr val="accent4"/>
          </a:effectRef>
          <a:fontRef idx="minor">
            <a:schemeClr val="dk1"/>
          </a:fontRef>
        </p:style>
        <p:txBody>
          <a:bodyPr wrap="square" rtlCol="0">
            <a:spAutoFit/>
          </a:bodyPr>
          <a:lstStyle/>
          <a:p>
            <a:r>
              <a:rPr lang="en-US"/>
              <a:t>2. DMA requests transfer to memory</a:t>
            </a:r>
          </a:p>
        </p:txBody>
      </p:sp>
      <p:cxnSp>
        <p:nvCxnSpPr>
          <p:cNvPr id="30" name="Straight Arrow Connector 29"/>
          <p:cNvCxnSpPr/>
          <p:nvPr/>
        </p:nvCxnSpPr>
        <p:spPr>
          <a:xfrm>
            <a:off x="5985765" y="3748017"/>
            <a:ext cx="1828800" cy="0"/>
          </a:xfrm>
          <a:prstGeom prst="straightConnector1">
            <a:avLst/>
          </a:prstGeom>
          <a:ln w="381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31" name="TextBox 30"/>
          <p:cNvSpPr txBox="1"/>
          <p:nvPr/>
        </p:nvSpPr>
        <p:spPr>
          <a:xfrm>
            <a:off x="6308661" y="3108830"/>
            <a:ext cx="1188720" cy="640080"/>
          </a:xfrm>
          <a:prstGeom prst="rect">
            <a:avLst/>
          </a:prstGeom>
          <a:ln w="38100">
            <a:solidFill>
              <a:schemeClr val="accent6"/>
            </a:solidFill>
          </a:ln>
        </p:spPr>
        <p:style>
          <a:lnRef idx="2">
            <a:schemeClr val="accent4"/>
          </a:lnRef>
          <a:fillRef idx="1">
            <a:schemeClr val="lt1"/>
          </a:fillRef>
          <a:effectRef idx="0">
            <a:schemeClr val="accent4"/>
          </a:effectRef>
          <a:fontRef idx="minor">
            <a:schemeClr val="dk1"/>
          </a:fontRef>
        </p:style>
        <p:txBody>
          <a:bodyPr wrap="square" rtlCol="0">
            <a:spAutoFit/>
          </a:bodyPr>
          <a:lstStyle/>
          <a:p>
            <a:r>
              <a:rPr lang="en-US"/>
              <a:t>3. Data transferred</a:t>
            </a:r>
          </a:p>
        </p:txBody>
      </p:sp>
      <p:cxnSp>
        <p:nvCxnSpPr>
          <p:cNvPr id="33" name="Straight Connector 32"/>
          <p:cNvCxnSpPr/>
          <p:nvPr/>
        </p:nvCxnSpPr>
        <p:spPr>
          <a:xfrm>
            <a:off x="5881015" y="2795587"/>
            <a:ext cx="118872" cy="952430"/>
          </a:xfrm>
          <a:prstGeom prst="line">
            <a:avLst/>
          </a:prstGeom>
          <a:ln w="38100">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35406248"/>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wipe(left)">
                                      <p:cBhvr>
                                        <p:cTn id="7" dur="500"/>
                                        <p:tgtEl>
                                          <p:spTgt spid="31"/>
                                        </p:tgtEl>
                                      </p:cBhvr>
                                    </p:animEffect>
                                  </p:childTnLst>
                                </p:cTn>
                              </p:par>
                              <p:par>
                                <p:cTn id="8" presetID="22" presetClass="entr" presetSubtype="8" fill="hold" nodeType="withEffect">
                                  <p:stCondLst>
                                    <p:cond delay="0"/>
                                  </p:stCondLst>
                                  <p:childTnLst>
                                    <p:set>
                                      <p:cBhvr>
                                        <p:cTn id="9" dur="1" fill="hold">
                                          <p:stCondLst>
                                            <p:cond delay="0"/>
                                          </p:stCondLst>
                                        </p:cTn>
                                        <p:tgtEl>
                                          <p:spTgt spid="30"/>
                                        </p:tgtEl>
                                        <p:attrNameLst>
                                          <p:attrName>style.visibility</p:attrName>
                                        </p:attrNameLst>
                                      </p:cBhvr>
                                      <p:to>
                                        <p:strVal val="visible"/>
                                      </p:to>
                                    </p:set>
                                    <p:animEffect transition="in" filter="wipe(left)">
                                      <p:cBhvr>
                                        <p:cTn id="10" dur="500"/>
                                        <p:tgtEl>
                                          <p:spTgt spid="30"/>
                                        </p:tgtEl>
                                      </p:cBhvr>
                                    </p:animEffect>
                                  </p:childTnLst>
                                </p:cTn>
                              </p:par>
                              <p:par>
                                <p:cTn id="11" presetID="22" presetClass="entr" presetSubtype="8" fill="hold" nodeType="withEffect">
                                  <p:stCondLst>
                                    <p:cond delay="0"/>
                                  </p:stCondLst>
                                  <p:childTnLst>
                                    <p:set>
                                      <p:cBhvr>
                                        <p:cTn id="12" dur="1" fill="hold">
                                          <p:stCondLst>
                                            <p:cond delay="0"/>
                                          </p:stCondLst>
                                        </p:cTn>
                                        <p:tgtEl>
                                          <p:spTgt spid="33"/>
                                        </p:tgtEl>
                                        <p:attrNameLst>
                                          <p:attrName>style.visibility</p:attrName>
                                        </p:attrNameLst>
                                      </p:cBhvr>
                                      <p:to>
                                        <p:strVal val="visible"/>
                                      </p:to>
                                    </p:set>
                                    <p:animEffect transition="in" filter="wipe(left)">
                                      <p:cBhvr>
                                        <p:cTn id="13" dur="500"/>
                                        <p:tgtEl>
                                          <p:spTgt spid="33"/>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
                                            <p:bg/>
                                          </p:spTgt>
                                        </p:tgtEl>
                                        <p:attrNameLst>
                                          <p:attrName>style.visibility</p:attrName>
                                        </p:attrNameLst>
                                      </p:cBhvr>
                                      <p:to>
                                        <p:strVal val="visible"/>
                                      </p:to>
                                    </p:set>
                                    <p:animEffect transition="in" filter="fade">
                                      <p:cBhvr>
                                        <p:cTn id="16" dur="500"/>
                                        <p:tgtEl>
                                          <p:spTgt spid="3">
                                            <p:bg/>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3">
                                            <p:txEl>
                                              <p:pRg st="0" end="0"/>
                                            </p:txEl>
                                          </p:spTgt>
                                        </p:tgtEl>
                                        <p:attrNameLst>
                                          <p:attrName>style.visibility</p:attrName>
                                        </p:attrNameLst>
                                      </p:cBhvr>
                                      <p:to>
                                        <p:strVal val="visible"/>
                                      </p:to>
                                    </p:set>
                                    <p:animEffect transition="in" filter="fade">
                                      <p:cBhvr>
                                        <p:cTn id="19" dur="500"/>
                                        <p:tgtEl>
                                          <p:spTgt spid="3">
                                            <p:txEl>
                                              <p:pRg st="0" end="0"/>
                                            </p:txEl>
                                          </p:spTgt>
                                        </p:tgtEl>
                                      </p:cBhvr>
                                    </p:animEffect>
                                  </p:childTnLst>
                                </p:cTn>
                              </p:par>
                            </p:childTnLst>
                          </p:cTn>
                        </p:par>
                      </p:childTnLst>
                    </p:cTn>
                  </p:par>
                  <p:par>
                    <p:cTn id="20" fill="hold" nodeType="clickPar">
                      <p:stCondLst>
                        <p:cond delay="indefinite"/>
                        <p:cond evt="onBegin" delay="0">
                          <p:tn val="19"/>
                        </p:cond>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3">
                                            <p:txEl>
                                              <p:pRg st="1" end="1"/>
                                            </p:txEl>
                                          </p:spTgt>
                                        </p:tgtEl>
                                        <p:attrNameLst>
                                          <p:attrName>style.visibility</p:attrName>
                                        </p:attrNameLst>
                                      </p:cBhvr>
                                      <p:to>
                                        <p:strVal val="visible"/>
                                      </p:to>
                                    </p:set>
                                    <p:animEffect transition="in" filter="fade">
                                      <p:cBhvr>
                                        <p:cTn id="24"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animBg="1"/>
      <p:bldP spid="31"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Disk read-write using DMA</a:t>
            </a:r>
          </a:p>
        </p:txBody>
      </p:sp>
      <p:sp>
        <p:nvSpPr>
          <p:cNvPr id="3" name="Content Placeholder 2"/>
          <p:cNvSpPr>
            <a:spLocks noGrp="1"/>
          </p:cNvSpPr>
          <p:nvPr>
            <p:ph idx="1"/>
          </p:nvPr>
        </p:nvSpPr>
        <p:spPr>
          <a:xfrm>
            <a:off x="131180" y="4604196"/>
            <a:ext cx="11929641" cy="1920240"/>
          </a:xfrm>
          <a:ln>
            <a:solidFill>
              <a:schemeClr val="accent6">
                <a:lumMod val="40000"/>
                <a:lumOff val="60000"/>
              </a:schemeClr>
            </a:solidFill>
          </a:ln>
        </p:spPr>
        <p:txBody>
          <a:bodyPr/>
          <a:lstStyle/>
          <a:p>
            <a:r>
              <a:rPr lang="en-US">
                <a:solidFill>
                  <a:schemeClr val="tx2"/>
                </a:solidFill>
              </a:rPr>
              <a:t>Step 4</a:t>
            </a:r>
            <a:r>
              <a:rPr lang="en-US"/>
              <a:t>: When the write is complete, the </a:t>
            </a:r>
            <a:r>
              <a:rPr lang="en-US">
                <a:solidFill>
                  <a:schemeClr val="accent6"/>
                </a:solidFill>
              </a:rPr>
              <a:t>disk controller sends an acknowledgement signal </a:t>
            </a:r>
            <a:r>
              <a:rPr lang="en-US"/>
              <a:t>to the DMA controller, also over the bus.</a:t>
            </a:r>
          </a:p>
          <a:p>
            <a:r>
              <a:rPr lang="en-US"/>
              <a:t>The </a:t>
            </a:r>
            <a:r>
              <a:rPr lang="en-US">
                <a:solidFill>
                  <a:schemeClr val="accent6"/>
                </a:solidFill>
              </a:rPr>
              <a:t>DMA controller then increments the memory address </a:t>
            </a:r>
            <a:r>
              <a:rPr lang="en-US"/>
              <a:t>to use and decrements the byte count.</a:t>
            </a:r>
          </a:p>
          <a:p>
            <a:r>
              <a:rPr lang="en-US"/>
              <a:t>If the </a:t>
            </a:r>
            <a:r>
              <a:rPr lang="en-US">
                <a:solidFill>
                  <a:schemeClr val="accent6"/>
                </a:solidFill>
              </a:rPr>
              <a:t>byte count is still greater than 0, steps 2 to 4 are repeated until it reaches 0</a:t>
            </a:r>
            <a:r>
              <a:rPr lang="en-US"/>
              <a:t>. </a:t>
            </a:r>
          </a:p>
        </p:txBody>
      </p:sp>
      <p:sp>
        <p:nvSpPr>
          <p:cNvPr id="4" name="Rectangle 3"/>
          <p:cNvSpPr/>
          <p:nvPr/>
        </p:nvSpPr>
        <p:spPr>
          <a:xfrm>
            <a:off x="2752965" y="2185988"/>
            <a:ext cx="1066800" cy="1600200"/>
          </a:xfrm>
          <a:prstGeom prst="rect">
            <a:avLst/>
          </a:prstGeom>
          <a:ln w="28575">
            <a:solidFill>
              <a:schemeClr val="accent3"/>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5" name="Rectangle 4"/>
          <p:cNvSpPr/>
          <p:nvPr/>
        </p:nvSpPr>
        <p:spPr>
          <a:xfrm>
            <a:off x="5160900" y="2185988"/>
            <a:ext cx="1066800" cy="1600200"/>
          </a:xfrm>
          <a:prstGeom prst="rect">
            <a:avLst/>
          </a:prstGeom>
          <a:ln w="28575">
            <a:solidFill>
              <a:schemeClr val="tx2"/>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6" name="Rectangle 5"/>
          <p:cNvSpPr/>
          <p:nvPr/>
        </p:nvSpPr>
        <p:spPr>
          <a:xfrm>
            <a:off x="7568836" y="2185988"/>
            <a:ext cx="1066800" cy="1600200"/>
          </a:xfrm>
          <a:prstGeom prst="rect">
            <a:avLst/>
          </a:prstGeom>
          <a:ln w="28575">
            <a:solidFill>
              <a:schemeClr val="tx2"/>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7" name="Flowchart: Magnetic Disk 6"/>
          <p:cNvSpPr/>
          <p:nvPr/>
        </p:nvSpPr>
        <p:spPr>
          <a:xfrm>
            <a:off x="5618125" y="1042988"/>
            <a:ext cx="533400" cy="533400"/>
          </a:xfrm>
          <a:prstGeom prst="flowChartMagneticDisk">
            <a:avLst/>
          </a:prstGeom>
          <a:ln w="28575">
            <a:solidFill>
              <a:schemeClr val="tx2"/>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8" name="Rectangle 7"/>
          <p:cNvSpPr/>
          <p:nvPr/>
        </p:nvSpPr>
        <p:spPr>
          <a:xfrm>
            <a:off x="5423815" y="2338388"/>
            <a:ext cx="533400" cy="457200"/>
          </a:xfrm>
          <a:prstGeom prst="rect">
            <a:avLst/>
          </a:prstGeom>
          <a:ln w="28575">
            <a:solidFill>
              <a:schemeClr val="tx2"/>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cxnSp>
        <p:nvCxnSpPr>
          <p:cNvPr id="9" name="Straight Connector 8"/>
          <p:cNvCxnSpPr/>
          <p:nvPr/>
        </p:nvCxnSpPr>
        <p:spPr>
          <a:xfrm flipH="1">
            <a:off x="3286365" y="3786188"/>
            <a:ext cx="0" cy="533400"/>
          </a:xfrm>
          <a:prstGeom prst="line">
            <a:avLst/>
          </a:prstGeom>
          <a:ln w="1016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flipH="1">
            <a:off x="5694300" y="3786188"/>
            <a:ext cx="0" cy="533400"/>
          </a:xfrm>
          <a:prstGeom prst="line">
            <a:avLst/>
          </a:prstGeom>
          <a:ln w="1016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flipH="1">
            <a:off x="8102236" y="3786188"/>
            <a:ext cx="0" cy="533400"/>
          </a:xfrm>
          <a:prstGeom prst="line">
            <a:avLst/>
          </a:prstGeom>
          <a:ln w="1016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830351" y="4317063"/>
            <a:ext cx="7315200" cy="12805"/>
          </a:xfrm>
          <a:prstGeom prst="line">
            <a:avLst/>
          </a:prstGeom>
          <a:ln w="101600">
            <a:solidFill>
              <a:schemeClr val="tx2"/>
            </a:solidFill>
          </a:ln>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a:off x="2740825" y="3139857"/>
            <a:ext cx="1097280" cy="649224"/>
          </a:xfrm>
          <a:prstGeom prst="rect">
            <a:avLst/>
          </a:prstGeom>
          <a:noFill/>
          <a:ln>
            <a:noFill/>
          </a:ln>
        </p:spPr>
        <p:txBody>
          <a:bodyPr wrap="square" rtlCol="0">
            <a:spAutoFit/>
          </a:bodyPr>
          <a:lstStyle/>
          <a:p>
            <a:pPr algn="ctr"/>
            <a:r>
              <a:rPr lang="en-US"/>
              <a:t>DMA Controller</a:t>
            </a:r>
          </a:p>
        </p:txBody>
      </p:sp>
      <p:sp>
        <p:nvSpPr>
          <p:cNvPr id="14" name="TextBox 13"/>
          <p:cNvSpPr txBox="1"/>
          <p:nvPr/>
        </p:nvSpPr>
        <p:spPr>
          <a:xfrm>
            <a:off x="5116156" y="3139857"/>
            <a:ext cx="1162050" cy="646331"/>
          </a:xfrm>
          <a:prstGeom prst="rect">
            <a:avLst/>
          </a:prstGeom>
          <a:noFill/>
          <a:ln>
            <a:noFill/>
          </a:ln>
        </p:spPr>
        <p:txBody>
          <a:bodyPr wrap="square" rtlCol="0">
            <a:spAutoFit/>
          </a:bodyPr>
          <a:lstStyle/>
          <a:p>
            <a:pPr algn="ctr"/>
            <a:r>
              <a:rPr lang="en-US"/>
              <a:t>Disk</a:t>
            </a:r>
          </a:p>
          <a:p>
            <a:pPr algn="ctr"/>
            <a:r>
              <a:rPr lang="en-US"/>
              <a:t>Controller</a:t>
            </a:r>
          </a:p>
        </p:txBody>
      </p:sp>
      <p:sp>
        <p:nvSpPr>
          <p:cNvPr id="15" name="TextBox 14"/>
          <p:cNvSpPr txBox="1"/>
          <p:nvPr/>
        </p:nvSpPr>
        <p:spPr>
          <a:xfrm>
            <a:off x="7521211" y="3139857"/>
            <a:ext cx="1162050" cy="646331"/>
          </a:xfrm>
          <a:prstGeom prst="rect">
            <a:avLst/>
          </a:prstGeom>
          <a:noFill/>
          <a:ln>
            <a:noFill/>
          </a:ln>
        </p:spPr>
        <p:txBody>
          <a:bodyPr wrap="square" rtlCol="0">
            <a:spAutoFit/>
          </a:bodyPr>
          <a:lstStyle/>
          <a:p>
            <a:pPr algn="ctr"/>
            <a:r>
              <a:rPr lang="en-US"/>
              <a:t>Main</a:t>
            </a:r>
          </a:p>
          <a:p>
            <a:pPr algn="ctr"/>
            <a:r>
              <a:rPr lang="en-US"/>
              <a:t>Memory</a:t>
            </a:r>
          </a:p>
        </p:txBody>
      </p:sp>
      <p:sp>
        <p:nvSpPr>
          <p:cNvPr id="16" name="TextBox 15"/>
          <p:cNvSpPr txBox="1"/>
          <p:nvPr/>
        </p:nvSpPr>
        <p:spPr>
          <a:xfrm>
            <a:off x="8330836" y="4030147"/>
            <a:ext cx="609600" cy="369332"/>
          </a:xfrm>
          <a:prstGeom prst="rect">
            <a:avLst/>
          </a:prstGeom>
          <a:noFill/>
          <a:ln>
            <a:noFill/>
          </a:ln>
        </p:spPr>
        <p:txBody>
          <a:bodyPr wrap="square" rtlCol="0">
            <a:spAutoFit/>
          </a:bodyPr>
          <a:lstStyle/>
          <a:p>
            <a:pPr algn="ctr"/>
            <a:r>
              <a:rPr lang="en-US"/>
              <a:t>Bus</a:t>
            </a:r>
          </a:p>
        </p:txBody>
      </p:sp>
      <p:cxnSp>
        <p:nvCxnSpPr>
          <p:cNvPr id="17" name="Straight Arrow Connector 16"/>
          <p:cNvCxnSpPr/>
          <p:nvPr/>
        </p:nvCxnSpPr>
        <p:spPr>
          <a:xfrm flipH="1" flipV="1">
            <a:off x="8145551" y="4141126"/>
            <a:ext cx="304801" cy="73687"/>
          </a:xfrm>
          <a:prstGeom prst="straightConnector1">
            <a:avLst/>
          </a:prstGeom>
          <a:ln w="28575">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18" name="TextBox 17"/>
          <p:cNvSpPr txBox="1"/>
          <p:nvPr/>
        </p:nvSpPr>
        <p:spPr>
          <a:xfrm>
            <a:off x="6031000" y="1709346"/>
            <a:ext cx="838200" cy="369332"/>
          </a:xfrm>
          <a:prstGeom prst="rect">
            <a:avLst/>
          </a:prstGeom>
          <a:noFill/>
          <a:ln>
            <a:noFill/>
          </a:ln>
        </p:spPr>
        <p:txBody>
          <a:bodyPr wrap="square" rtlCol="0">
            <a:spAutoFit/>
          </a:bodyPr>
          <a:lstStyle/>
          <a:p>
            <a:pPr algn="ctr"/>
            <a:r>
              <a:rPr lang="en-US"/>
              <a:t>Buffer</a:t>
            </a:r>
          </a:p>
        </p:txBody>
      </p:sp>
      <p:cxnSp>
        <p:nvCxnSpPr>
          <p:cNvPr id="19" name="Straight Arrow Connector 18"/>
          <p:cNvCxnSpPr>
            <a:stCxn id="18" idx="2"/>
          </p:cNvCxnSpPr>
          <p:nvPr/>
        </p:nvCxnSpPr>
        <p:spPr>
          <a:xfrm flipH="1">
            <a:off x="5957218" y="2078678"/>
            <a:ext cx="492882" cy="259710"/>
          </a:xfrm>
          <a:prstGeom prst="straightConnector1">
            <a:avLst/>
          </a:prstGeom>
          <a:ln w="28575">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20" name="TextBox 19"/>
          <p:cNvSpPr txBox="1"/>
          <p:nvPr/>
        </p:nvSpPr>
        <p:spPr>
          <a:xfrm>
            <a:off x="6669685" y="981459"/>
            <a:ext cx="742950" cy="369332"/>
          </a:xfrm>
          <a:prstGeom prst="rect">
            <a:avLst/>
          </a:prstGeom>
          <a:noFill/>
          <a:ln>
            <a:noFill/>
          </a:ln>
        </p:spPr>
        <p:txBody>
          <a:bodyPr wrap="square" rtlCol="0">
            <a:spAutoFit/>
          </a:bodyPr>
          <a:lstStyle/>
          <a:p>
            <a:pPr algn="ctr"/>
            <a:r>
              <a:rPr lang="en-US"/>
              <a:t>Drive</a:t>
            </a:r>
          </a:p>
        </p:txBody>
      </p:sp>
      <p:cxnSp>
        <p:nvCxnSpPr>
          <p:cNvPr id="21" name="Straight Arrow Connector 20"/>
          <p:cNvCxnSpPr/>
          <p:nvPr/>
        </p:nvCxnSpPr>
        <p:spPr>
          <a:xfrm flipH="1">
            <a:off x="6165361" y="1166125"/>
            <a:ext cx="562939" cy="5219"/>
          </a:xfrm>
          <a:prstGeom prst="straightConnector1">
            <a:avLst/>
          </a:prstGeom>
          <a:ln w="28575">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flipH="1">
            <a:off x="5881015" y="1587927"/>
            <a:ext cx="0" cy="750461"/>
          </a:xfrm>
          <a:prstGeom prst="line">
            <a:avLst/>
          </a:prstGeom>
          <a:ln w="28575">
            <a:solidFill>
              <a:schemeClr val="tx2"/>
            </a:solidFill>
          </a:ln>
        </p:spPr>
        <p:style>
          <a:lnRef idx="3">
            <a:schemeClr val="accent1"/>
          </a:lnRef>
          <a:fillRef idx="0">
            <a:schemeClr val="accent1"/>
          </a:fillRef>
          <a:effectRef idx="2">
            <a:schemeClr val="accent1"/>
          </a:effectRef>
          <a:fontRef idx="minor">
            <a:schemeClr val="tx1"/>
          </a:fontRef>
        </p:style>
      </p:cxnSp>
      <p:sp>
        <p:nvSpPr>
          <p:cNvPr id="23" name="Rectangle 22"/>
          <p:cNvSpPr/>
          <p:nvPr/>
        </p:nvSpPr>
        <p:spPr>
          <a:xfrm>
            <a:off x="345030" y="2185988"/>
            <a:ext cx="1066800" cy="1600200"/>
          </a:xfrm>
          <a:prstGeom prst="rect">
            <a:avLst/>
          </a:prstGeom>
          <a:ln w="28575">
            <a:solidFill>
              <a:schemeClr val="tx2"/>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cxnSp>
        <p:nvCxnSpPr>
          <p:cNvPr id="24" name="Straight Connector 23"/>
          <p:cNvCxnSpPr/>
          <p:nvPr/>
        </p:nvCxnSpPr>
        <p:spPr>
          <a:xfrm flipH="1">
            <a:off x="878430" y="3790951"/>
            <a:ext cx="0" cy="533400"/>
          </a:xfrm>
          <a:prstGeom prst="line">
            <a:avLst/>
          </a:prstGeom>
          <a:ln w="101600">
            <a:solidFill>
              <a:schemeClr val="tx2"/>
            </a:solidFill>
          </a:ln>
        </p:spPr>
        <p:style>
          <a:lnRef idx="1">
            <a:schemeClr val="accent1"/>
          </a:lnRef>
          <a:fillRef idx="0">
            <a:schemeClr val="accent1"/>
          </a:fillRef>
          <a:effectRef idx="0">
            <a:schemeClr val="accent1"/>
          </a:effectRef>
          <a:fontRef idx="minor">
            <a:schemeClr val="tx1"/>
          </a:fontRef>
        </p:style>
      </p:cxnSp>
      <p:sp>
        <p:nvSpPr>
          <p:cNvPr id="25" name="TextBox 24"/>
          <p:cNvSpPr txBox="1"/>
          <p:nvPr/>
        </p:nvSpPr>
        <p:spPr>
          <a:xfrm>
            <a:off x="573630" y="3416856"/>
            <a:ext cx="609600" cy="369332"/>
          </a:xfrm>
          <a:prstGeom prst="rect">
            <a:avLst/>
          </a:prstGeom>
          <a:noFill/>
          <a:ln>
            <a:noFill/>
          </a:ln>
        </p:spPr>
        <p:txBody>
          <a:bodyPr wrap="square" rtlCol="0">
            <a:spAutoFit/>
          </a:bodyPr>
          <a:lstStyle/>
          <a:p>
            <a:r>
              <a:rPr lang="en-US"/>
              <a:t>CPU</a:t>
            </a:r>
          </a:p>
        </p:txBody>
      </p:sp>
      <p:cxnSp>
        <p:nvCxnSpPr>
          <p:cNvPr id="26" name="Straight Arrow Connector 25"/>
          <p:cNvCxnSpPr/>
          <p:nvPr/>
        </p:nvCxnSpPr>
        <p:spPr>
          <a:xfrm>
            <a:off x="1175832" y="2224041"/>
            <a:ext cx="1828800" cy="0"/>
          </a:xfrm>
          <a:prstGeom prst="straightConnector1">
            <a:avLst/>
          </a:prstGeom>
          <a:ln w="381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27" name="TextBox 26"/>
          <p:cNvSpPr txBox="1"/>
          <p:nvPr/>
        </p:nvSpPr>
        <p:spPr>
          <a:xfrm>
            <a:off x="1513017" y="1015716"/>
            <a:ext cx="1143000" cy="1200329"/>
          </a:xfrm>
          <a:prstGeom prst="rect">
            <a:avLst/>
          </a:prstGeom>
          <a:ln w="38100">
            <a:solidFill>
              <a:schemeClr val="accent6"/>
            </a:solidFill>
          </a:ln>
        </p:spPr>
        <p:style>
          <a:lnRef idx="2">
            <a:schemeClr val="accent4"/>
          </a:lnRef>
          <a:fillRef idx="1">
            <a:schemeClr val="lt1"/>
          </a:fillRef>
          <a:effectRef idx="0">
            <a:schemeClr val="accent4"/>
          </a:effectRef>
          <a:fontRef idx="minor">
            <a:schemeClr val="dk1"/>
          </a:fontRef>
        </p:style>
        <p:txBody>
          <a:bodyPr wrap="square" rtlCol="0">
            <a:spAutoFit/>
          </a:bodyPr>
          <a:lstStyle/>
          <a:p>
            <a:r>
              <a:rPr lang="en-US"/>
              <a:t>1. CPU programs DMA controller</a:t>
            </a:r>
          </a:p>
        </p:txBody>
      </p:sp>
      <p:cxnSp>
        <p:nvCxnSpPr>
          <p:cNvPr id="28" name="Straight Arrow Connector 27"/>
          <p:cNvCxnSpPr/>
          <p:nvPr/>
        </p:nvCxnSpPr>
        <p:spPr>
          <a:xfrm>
            <a:off x="3576175" y="3748017"/>
            <a:ext cx="1828800" cy="0"/>
          </a:xfrm>
          <a:prstGeom prst="straightConnector1">
            <a:avLst/>
          </a:prstGeom>
          <a:ln w="381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29" name="TextBox 28"/>
          <p:cNvSpPr txBox="1"/>
          <p:nvPr/>
        </p:nvSpPr>
        <p:spPr>
          <a:xfrm>
            <a:off x="3913360" y="2539692"/>
            <a:ext cx="1143000" cy="1200329"/>
          </a:xfrm>
          <a:prstGeom prst="rect">
            <a:avLst/>
          </a:prstGeom>
          <a:ln w="38100">
            <a:solidFill>
              <a:schemeClr val="accent6"/>
            </a:solidFill>
          </a:ln>
        </p:spPr>
        <p:style>
          <a:lnRef idx="2">
            <a:schemeClr val="accent4"/>
          </a:lnRef>
          <a:fillRef idx="1">
            <a:schemeClr val="lt1"/>
          </a:fillRef>
          <a:effectRef idx="0">
            <a:schemeClr val="accent4"/>
          </a:effectRef>
          <a:fontRef idx="minor">
            <a:schemeClr val="dk1"/>
          </a:fontRef>
        </p:style>
        <p:txBody>
          <a:bodyPr wrap="square" rtlCol="0">
            <a:spAutoFit/>
          </a:bodyPr>
          <a:lstStyle/>
          <a:p>
            <a:r>
              <a:rPr lang="en-US"/>
              <a:t>2. DMA requests transfer to memory</a:t>
            </a:r>
          </a:p>
        </p:txBody>
      </p:sp>
      <p:cxnSp>
        <p:nvCxnSpPr>
          <p:cNvPr id="30" name="Straight Arrow Connector 29"/>
          <p:cNvCxnSpPr/>
          <p:nvPr/>
        </p:nvCxnSpPr>
        <p:spPr>
          <a:xfrm>
            <a:off x="5985765" y="3748017"/>
            <a:ext cx="1828800" cy="0"/>
          </a:xfrm>
          <a:prstGeom prst="straightConnector1">
            <a:avLst/>
          </a:prstGeom>
          <a:ln w="381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31" name="TextBox 30"/>
          <p:cNvSpPr txBox="1"/>
          <p:nvPr/>
        </p:nvSpPr>
        <p:spPr>
          <a:xfrm>
            <a:off x="6308661" y="3108830"/>
            <a:ext cx="1188720" cy="640080"/>
          </a:xfrm>
          <a:prstGeom prst="rect">
            <a:avLst/>
          </a:prstGeom>
          <a:ln w="38100">
            <a:solidFill>
              <a:schemeClr val="accent6"/>
            </a:solidFill>
          </a:ln>
        </p:spPr>
        <p:style>
          <a:lnRef idx="2">
            <a:schemeClr val="accent4"/>
          </a:lnRef>
          <a:fillRef idx="1">
            <a:schemeClr val="lt1"/>
          </a:fillRef>
          <a:effectRef idx="0">
            <a:schemeClr val="accent4"/>
          </a:effectRef>
          <a:fontRef idx="minor">
            <a:schemeClr val="dk1"/>
          </a:fontRef>
        </p:style>
        <p:txBody>
          <a:bodyPr wrap="square" rtlCol="0">
            <a:spAutoFit/>
          </a:bodyPr>
          <a:lstStyle/>
          <a:p>
            <a:r>
              <a:rPr lang="en-US"/>
              <a:t>3. Data transferred</a:t>
            </a:r>
          </a:p>
        </p:txBody>
      </p:sp>
      <p:cxnSp>
        <p:nvCxnSpPr>
          <p:cNvPr id="32" name="Straight Arrow Connector 31"/>
          <p:cNvCxnSpPr/>
          <p:nvPr/>
        </p:nvCxnSpPr>
        <p:spPr>
          <a:xfrm flipH="1">
            <a:off x="3574292" y="2223148"/>
            <a:ext cx="1828800" cy="0"/>
          </a:xfrm>
          <a:prstGeom prst="straightConnector1">
            <a:avLst/>
          </a:prstGeom>
          <a:ln w="381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33" name="TextBox 32"/>
          <p:cNvSpPr txBox="1"/>
          <p:nvPr/>
        </p:nvSpPr>
        <p:spPr>
          <a:xfrm>
            <a:off x="4028486" y="1852993"/>
            <a:ext cx="914400" cy="369332"/>
          </a:xfrm>
          <a:prstGeom prst="rect">
            <a:avLst/>
          </a:prstGeom>
          <a:ln w="38100">
            <a:solidFill>
              <a:schemeClr val="accent6"/>
            </a:solidFill>
          </a:ln>
        </p:spPr>
        <p:style>
          <a:lnRef idx="2">
            <a:schemeClr val="accent4"/>
          </a:lnRef>
          <a:fillRef idx="1">
            <a:schemeClr val="lt1"/>
          </a:fillRef>
          <a:effectRef idx="0">
            <a:schemeClr val="accent4"/>
          </a:effectRef>
          <a:fontRef idx="minor">
            <a:schemeClr val="dk1"/>
          </a:fontRef>
        </p:style>
        <p:txBody>
          <a:bodyPr wrap="square" rtlCol="0">
            <a:spAutoFit/>
          </a:bodyPr>
          <a:lstStyle/>
          <a:p>
            <a:r>
              <a:rPr lang="en-US"/>
              <a:t>4. ACK</a:t>
            </a:r>
          </a:p>
        </p:txBody>
      </p:sp>
    </p:spTree>
    <p:extLst>
      <p:ext uri="{BB962C8B-B14F-4D97-AF65-F5344CB8AC3E}">
        <p14:creationId xmlns:p14="http://schemas.microsoft.com/office/powerpoint/2010/main" val="4064591780"/>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22" presetClass="entr" presetSubtype="2" fill="hold" grpId="0"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right)">
                                      <p:cBhvr>
                                        <p:cTn id="7" dur="500"/>
                                        <p:tgtEl>
                                          <p:spTgt spid="33"/>
                                        </p:tgtEl>
                                      </p:cBhvr>
                                    </p:animEffect>
                                  </p:childTnLst>
                                </p:cTn>
                              </p:par>
                              <p:par>
                                <p:cTn id="8" presetID="22" presetClass="entr" presetSubtype="2" fill="hold" nodeType="withEffect">
                                  <p:stCondLst>
                                    <p:cond delay="0"/>
                                  </p:stCondLst>
                                  <p:childTnLst>
                                    <p:set>
                                      <p:cBhvr>
                                        <p:cTn id="9" dur="1" fill="hold">
                                          <p:stCondLst>
                                            <p:cond delay="0"/>
                                          </p:stCondLst>
                                        </p:cTn>
                                        <p:tgtEl>
                                          <p:spTgt spid="32"/>
                                        </p:tgtEl>
                                        <p:attrNameLst>
                                          <p:attrName>style.visibility</p:attrName>
                                        </p:attrNameLst>
                                      </p:cBhvr>
                                      <p:to>
                                        <p:strVal val="visible"/>
                                      </p:to>
                                    </p:set>
                                    <p:animEffect transition="in" filter="wipe(right)">
                                      <p:cBhvr>
                                        <p:cTn id="10" dur="500"/>
                                        <p:tgtEl>
                                          <p:spTgt spid="3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
                                            <p:bg/>
                                          </p:spTgt>
                                        </p:tgtEl>
                                        <p:attrNameLst>
                                          <p:attrName>style.visibility</p:attrName>
                                        </p:attrNameLst>
                                      </p:cBhvr>
                                      <p:to>
                                        <p:strVal val="visible"/>
                                      </p:to>
                                    </p:set>
                                    <p:animEffect transition="in" filter="fade">
                                      <p:cBhvr>
                                        <p:cTn id="13" dur="500"/>
                                        <p:tgtEl>
                                          <p:spTgt spid="3">
                                            <p:bg/>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
                                            <p:txEl>
                                              <p:pRg st="0" end="0"/>
                                            </p:txEl>
                                          </p:spTgt>
                                        </p:tgtEl>
                                        <p:attrNameLst>
                                          <p:attrName>style.visibility</p:attrName>
                                        </p:attrNameLst>
                                      </p:cBhvr>
                                      <p:to>
                                        <p:strVal val="visible"/>
                                      </p:to>
                                    </p:set>
                                    <p:animEffect transition="in" filter="fade">
                                      <p:cBhvr>
                                        <p:cTn id="16" dur="500"/>
                                        <p:tgtEl>
                                          <p:spTgt spid="3">
                                            <p:txEl>
                                              <p:pRg st="0" end="0"/>
                                            </p:txEl>
                                          </p:spTgt>
                                        </p:tgtEl>
                                      </p:cBhvr>
                                    </p:animEffect>
                                  </p:childTnLst>
                                </p:cTn>
                              </p:par>
                            </p:childTnLst>
                          </p:cTn>
                        </p:par>
                      </p:childTnLst>
                    </p:cTn>
                  </p:par>
                  <p:par>
                    <p:cTn id="17" fill="hold" nodeType="clickPar">
                      <p:stCondLst>
                        <p:cond delay="indefinite"/>
                        <p:cond evt="onBegin" delay="0">
                          <p:tn val="16"/>
                        </p:cond>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3">
                                            <p:txEl>
                                              <p:pRg st="1" end="1"/>
                                            </p:txEl>
                                          </p:spTgt>
                                        </p:tgtEl>
                                        <p:attrNameLst>
                                          <p:attrName>style.visibility</p:attrName>
                                        </p:attrNameLst>
                                      </p:cBhvr>
                                      <p:to>
                                        <p:strVal val="visible"/>
                                      </p:to>
                                    </p:set>
                                    <p:animEffect transition="in" filter="fade">
                                      <p:cBhvr>
                                        <p:cTn id="21" dur="500"/>
                                        <p:tgtEl>
                                          <p:spTgt spid="3">
                                            <p:txEl>
                                              <p:pRg st="1" end="1"/>
                                            </p:txEl>
                                          </p:spTgt>
                                        </p:tgtEl>
                                      </p:cBhvr>
                                    </p:animEffect>
                                  </p:childTnLst>
                                </p:cTn>
                              </p:par>
                            </p:childTnLst>
                          </p:cTn>
                        </p:par>
                      </p:childTnLst>
                    </p:cTn>
                  </p:par>
                  <p:par>
                    <p:cTn id="22" fill="hold" nodeType="clickPar">
                      <p:stCondLst>
                        <p:cond delay="indefinite"/>
                        <p:cond evt="onBegin" delay="0">
                          <p:tn val="21"/>
                        </p:cond>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3">
                                            <p:txEl>
                                              <p:pRg st="2" end="2"/>
                                            </p:txEl>
                                          </p:spTgt>
                                        </p:tgtEl>
                                        <p:attrNameLst>
                                          <p:attrName>style.visibility</p:attrName>
                                        </p:attrNameLst>
                                      </p:cBhvr>
                                      <p:to>
                                        <p:strVal val="visible"/>
                                      </p:to>
                                    </p:set>
                                    <p:animEffect transition="in" filter="fade">
                                      <p:cBhvr>
                                        <p:cTn id="26"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animBg="1"/>
      <p:bldP spid="33"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Disk read-write using DMA</a:t>
            </a:r>
          </a:p>
        </p:txBody>
      </p:sp>
      <p:sp>
        <p:nvSpPr>
          <p:cNvPr id="3" name="Content Placeholder 2"/>
          <p:cNvSpPr>
            <a:spLocks noGrp="1"/>
          </p:cNvSpPr>
          <p:nvPr>
            <p:ph idx="1"/>
          </p:nvPr>
        </p:nvSpPr>
        <p:spPr>
          <a:xfrm>
            <a:off x="131180" y="4604196"/>
            <a:ext cx="11929641" cy="1188720"/>
          </a:xfrm>
          <a:ln>
            <a:solidFill>
              <a:schemeClr val="accent6">
                <a:lumMod val="40000"/>
                <a:lumOff val="60000"/>
              </a:schemeClr>
            </a:solidFill>
          </a:ln>
        </p:spPr>
        <p:txBody>
          <a:bodyPr/>
          <a:lstStyle/>
          <a:p>
            <a:r>
              <a:rPr lang="en-US"/>
              <a:t>At that time, the DMA controller interrupts the CPU to let it know that the transfer is now complete. </a:t>
            </a:r>
          </a:p>
          <a:p>
            <a:r>
              <a:rPr lang="en-US"/>
              <a:t>When the OS starts up, it does not have to copy the disk block to memory; it is already there. </a:t>
            </a:r>
          </a:p>
        </p:txBody>
      </p:sp>
      <p:sp>
        <p:nvSpPr>
          <p:cNvPr id="4" name="Rectangle 3"/>
          <p:cNvSpPr/>
          <p:nvPr/>
        </p:nvSpPr>
        <p:spPr>
          <a:xfrm>
            <a:off x="2752965" y="2185988"/>
            <a:ext cx="1066800" cy="1600200"/>
          </a:xfrm>
          <a:prstGeom prst="rect">
            <a:avLst/>
          </a:prstGeom>
          <a:ln w="28575">
            <a:solidFill>
              <a:schemeClr val="accent3"/>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5" name="Rectangle 4"/>
          <p:cNvSpPr/>
          <p:nvPr/>
        </p:nvSpPr>
        <p:spPr>
          <a:xfrm>
            <a:off x="5160900" y="2185988"/>
            <a:ext cx="1066800" cy="1600200"/>
          </a:xfrm>
          <a:prstGeom prst="rect">
            <a:avLst/>
          </a:prstGeom>
          <a:ln w="28575">
            <a:solidFill>
              <a:schemeClr val="tx2"/>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6" name="Rectangle 5"/>
          <p:cNvSpPr/>
          <p:nvPr/>
        </p:nvSpPr>
        <p:spPr>
          <a:xfrm>
            <a:off x="7568836" y="2185988"/>
            <a:ext cx="1066800" cy="1600200"/>
          </a:xfrm>
          <a:prstGeom prst="rect">
            <a:avLst/>
          </a:prstGeom>
          <a:ln w="28575">
            <a:solidFill>
              <a:schemeClr val="tx2"/>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7" name="Flowchart: Magnetic Disk 6"/>
          <p:cNvSpPr/>
          <p:nvPr/>
        </p:nvSpPr>
        <p:spPr>
          <a:xfrm>
            <a:off x="5618125" y="1042988"/>
            <a:ext cx="533400" cy="533400"/>
          </a:xfrm>
          <a:prstGeom prst="flowChartMagneticDisk">
            <a:avLst/>
          </a:prstGeom>
          <a:ln w="28575">
            <a:solidFill>
              <a:schemeClr val="tx2"/>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8" name="Rectangle 7"/>
          <p:cNvSpPr/>
          <p:nvPr/>
        </p:nvSpPr>
        <p:spPr>
          <a:xfrm>
            <a:off x="5423815" y="2338388"/>
            <a:ext cx="533400" cy="457200"/>
          </a:xfrm>
          <a:prstGeom prst="rect">
            <a:avLst/>
          </a:prstGeom>
          <a:ln w="28575">
            <a:solidFill>
              <a:schemeClr val="tx2"/>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cxnSp>
        <p:nvCxnSpPr>
          <p:cNvPr id="9" name="Straight Connector 8"/>
          <p:cNvCxnSpPr/>
          <p:nvPr/>
        </p:nvCxnSpPr>
        <p:spPr>
          <a:xfrm flipH="1">
            <a:off x="3286365" y="3786188"/>
            <a:ext cx="0" cy="533400"/>
          </a:xfrm>
          <a:prstGeom prst="line">
            <a:avLst/>
          </a:prstGeom>
          <a:ln w="1016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flipH="1">
            <a:off x="5694300" y="3786188"/>
            <a:ext cx="0" cy="533400"/>
          </a:xfrm>
          <a:prstGeom prst="line">
            <a:avLst/>
          </a:prstGeom>
          <a:ln w="1016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flipH="1">
            <a:off x="8102236" y="3786188"/>
            <a:ext cx="0" cy="533400"/>
          </a:xfrm>
          <a:prstGeom prst="line">
            <a:avLst/>
          </a:prstGeom>
          <a:ln w="1016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830351" y="4317063"/>
            <a:ext cx="7315200" cy="12805"/>
          </a:xfrm>
          <a:prstGeom prst="line">
            <a:avLst/>
          </a:prstGeom>
          <a:ln w="101600">
            <a:solidFill>
              <a:schemeClr val="tx2"/>
            </a:solidFill>
          </a:ln>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a:off x="2740825" y="3139857"/>
            <a:ext cx="1097280" cy="649224"/>
          </a:xfrm>
          <a:prstGeom prst="rect">
            <a:avLst/>
          </a:prstGeom>
          <a:noFill/>
          <a:ln>
            <a:noFill/>
          </a:ln>
        </p:spPr>
        <p:txBody>
          <a:bodyPr wrap="square" rtlCol="0">
            <a:spAutoFit/>
          </a:bodyPr>
          <a:lstStyle/>
          <a:p>
            <a:pPr algn="ctr"/>
            <a:r>
              <a:rPr lang="en-US"/>
              <a:t>DMA Controller</a:t>
            </a:r>
          </a:p>
        </p:txBody>
      </p:sp>
      <p:sp>
        <p:nvSpPr>
          <p:cNvPr id="14" name="TextBox 13"/>
          <p:cNvSpPr txBox="1"/>
          <p:nvPr/>
        </p:nvSpPr>
        <p:spPr>
          <a:xfrm>
            <a:off x="5116156" y="3139857"/>
            <a:ext cx="1162050" cy="646331"/>
          </a:xfrm>
          <a:prstGeom prst="rect">
            <a:avLst/>
          </a:prstGeom>
          <a:noFill/>
          <a:ln>
            <a:noFill/>
          </a:ln>
        </p:spPr>
        <p:txBody>
          <a:bodyPr wrap="square" rtlCol="0">
            <a:spAutoFit/>
          </a:bodyPr>
          <a:lstStyle/>
          <a:p>
            <a:pPr algn="ctr"/>
            <a:r>
              <a:rPr lang="en-US"/>
              <a:t>Disk</a:t>
            </a:r>
          </a:p>
          <a:p>
            <a:pPr algn="ctr"/>
            <a:r>
              <a:rPr lang="en-US"/>
              <a:t>Controller</a:t>
            </a:r>
          </a:p>
        </p:txBody>
      </p:sp>
      <p:sp>
        <p:nvSpPr>
          <p:cNvPr id="15" name="TextBox 14"/>
          <p:cNvSpPr txBox="1"/>
          <p:nvPr/>
        </p:nvSpPr>
        <p:spPr>
          <a:xfrm>
            <a:off x="7521211" y="3139857"/>
            <a:ext cx="1162050" cy="646331"/>
          </a:xfrm>
          <a:prstGeom prst="rect">
            <a:avLst/>
          </a:prstGeom>
          <a:noFill/>
          <a:ln>
            <a:noFill/>
          </a:ln>
        </p:spPr>
        <p:txBody>
          <a:bodyPr wrap="square" rtlCol="0">
            <a:spAutoFit/>
          </a:bodyPr>
          <a:lstStyle/>
          <a:p>
            <a:pPr algn="ctr"/>
            <a:r>
              <a:rPr lang="en-US"/>
              <a:t>Main</a:t>
            </a:r>
          </a:p>
          <a:p>
            <a:pPr algn="ctr"/>
            <a:r>
              <a:rPr lang="en-US"/>
              <a:t>Memory</a:t>
            </a:r>
          </a:p>
        </p:txBody>
      </p:sp>
      <p:sp>
        <p:nvSpPr>
          <p:cNvPr id="16" name="TextBox 15"/>
          <p:cNvSpPr txBox="1"/>
          <p:nvPr/>
        </p:nvSpPr>
        <p:spPr>
          <a:xfrm>
            <a:off x="8330836" y="4030147"/>
            <a:ext cx="609600" cy="369332"/>
          </a:xfrm>
          <a:prstGeom prst="rect">
            <a:avLst/>
          </a:prstGeom>
          <a:noFill/>
          <a:ln>
            <a:noFill/>
          </a:ln>
        </p:spPr>
        <p:txBody>
          <a:bodyPr wrap="square" rtlCol="0">
            <a:spAutoFit/>
          </a:bodyPr>
          <a:lstStyle/>
          <a:p>
            <a:pPr algn="ctr"/>
            <a:r>
              <a:rPr lang="en-US"/>
              <a:t>Bus</a:t>
            </a:r>
          </a:p>
        </p:txBody>
      </p:sp>
      <p:cxnSp>
        <p:nvCxnSpPr>
          <p:cNvPr id="17" name="Straight Arrow Connector 16"/>
          <p:cNvCxnSpPr/>
          <p:nvPr/>
        </p:nvCxnSpPr>
        <p:spPr>
          <a:xfrm flipH="1" flipV="1">
            <a:off x="8145551" y="4141126"/>
            <a:ext cx="304801" cy="73687"/>
          </a:xfrm>
          <a:prstGeom prst="straightConnector1">
            <a:avLst/>
          </a:prstGeom>
          <a:ln w="28575">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18" name="TextBox 17"/>
          <p:cNvSpPr txBox="1"/>
          <p:nvPr/>
        </p:nvSpPr>
        <p:spPr>
          <a:xfrm>
            <a:off x="6031000" y="1709346"/>
            <a:ext cx="838200" cy="369332"/>
          </a:xfrm>
          <a:prstGeom prst="rect">
            <a:avLst/>
          </a:prstGeom>
          <a:noFill/>
          <a:ln>
            <a:noFill/>
          </a:ln>
        </p:spPr>
        <p:txBody>
          <a:bodyPr wrap="square" rtlCol="0">
            <a:spAutoFit/>
          </a:bodyPr>
          <a:lstStyle/>
          <a:p>
            <a:pPr algn="ctr"/>
            <a:r>
              <a:rPr lang="en-US"/>
              <a:t>Buffer</a:t>
            </a:r>
          </a:p>
        </p:txBody>
      </p:sp>
      <p:cxnSp>
        <p:nvCxnSpPr>
          <p:cNvPr id="19" name="Straight Arrow Connector 18"/>
          <p:cNvCxnSpPr>
            <a:stCxn id="18" idx="2"/>
          </p:cNvCxnSpPr>
          <p:nvPr/>
        </p:nvCxnSpPr>
        <p:spPr>
          <a:xfrm flipH="1">
            <a:off x="5957218" y="2078678"/>
            <a:ext cx="492882" cy="259710"/>
          </a:xfrm>
          <a:prstGeom prst="straightConnector1">
            <a:avLst/>
          </a:prstGeom>
          <a:ln w="28575">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20" name="TextBox 19"/>
          <p:cNvSpPr txBox="1"/>
          <p:nvPr/>
        </p:nvSpPr>
        <p:spPr>
          <a:xfrm>
            <a:off x="6669685" y="981459"/>
            <a:ext cx="742950" cy="369332"/>
          </a:xfrm>
          <a:prstGeom prst="rect">
            <a:avLst/>
          </a:prstGeom>
          <a:noFill/>
          <a:ln>
            <a:noFill/>
          </a:ln>
        </p:spPr>
        <p:txBody>
          <a:bodyPr wrap="square" rtlCol="0">
            <a:spAutoFit/>
          </a:bodyPr>
          <a:lstStyle/>
          <a:p>
            <a:pPr algn="ctr"/>
            <a:r>
              <a:rPr lang="en-US"/>
              <a:t>Drive</a:t>
            </a:r>
          </a:p>
        </p:txBody>
      </p:sp>
      <p:cxnSp>
        <p:nvCxnSpPr>
          <p:cNvPr id="21" name="Straight Arrow Connector 20"/>
          <p:cNvCxnSpPr/>
          <p:nvPr/>
        </p:nvCxnSpPr>
        <p:spPr>
          <a:xfrm flipH="1">
            <a:off x="6165361" y="1166125"/>
            <a:ext cx="562939" cy="5219"/>
          </a:xfrm>
          <a:prstGeom prst="straightConnector1">
            <a:avLst/>
          </a:prstGeom>
          <a:ln w="28575">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flipH="1">
            <a:off x="5881015" y="1587927"/>
            <a:ext cx="0" cy="750461"/>
          </a:xfrm>
          <a:prstGeom prst="line">
            <a:avLst/>
          </a:prstGeom>
          <a:ln w="28575">
            <a:solidFill>
              <a:schemeClr val="tx2"/>
            </a:solidFill>
          </a:ln>
        </p:spPr>
        <p:style>
          <a:lnRef idx="3">
            <a:schemeClr val="accent1"/>
          </a:lnRef>
          <a:fillRef idx="0">
            <a:schemeClr val="accent1"/>
          </a:fillRef>
          <a:effectRef idx="2">
            <a:schemeClr val="accent1"/>
          </a:effectRef>
          <a:fontRef idx="minor">
            <a:schemeClr val="tx1"/>
          </a:fontRef>
        </p:style>
      </p:cxnSp>
      <p:sp>
        <p:nvSpPr>
          <p:cNvPr id="23" name="Rectangle 22"/>
          <p:cNvSpPr/>
          <p:nvPr/>
        </p:nvSpPr>
        <p:spPr>
          <a:xfrm>
            <a:off x="345030" y="2185988"/>
            <a:ext cx="1066800" cy="1600200"/>
          </a:xfrm>
          <a:prstGeom prst="rect">
            <a:avLst/>
          </a:prstGeom>
          <a:ln w="28575">
            <a:solidFill>
              <a:schemeClr val="tx2"/>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cxnSp>
        <p:nvCxnSpPr>
          <p:cNvPr id="24" name="Straight Connector 23"/>
          <p:cNvCxnSpPr/>
          <p:nvPr/>
        </p:nvCxnSpPr>
        <p:spPr>
          <a:xfrm flipH="1">
            <a:off x="878430" y="3790951"/>
            <a:ext cx="0" cy="533400"/>
          </a:xfrm>
          <a:prstGeom prst="line">
            <a:avLst/>
          </a:prstGeom>
          <a:ln w="101600">
            <a:solidFill>
              <a:schemeClr val="tx2"/>
            </a:solidFill>
          </a:ln>
        </p:spPr>
        <p:style>
          <a:lnRef idx="1">
            <a:schemeClr val="accent1"/>
          </a:lnRef>
          <a:fillRef idx="0">
            <a:schemeClr val="accent1"/>
          </a:fillRef>
          <a:effectRef idx="0">
            <a:schemeClr val="accent1"/>
          </a:effectRef>
          <a:fontRef idx="minor">
            <a:schemeClr val="tx1"/>
          </a:fontRef>
        </p:style>
      </p:cxnSp>
      <p:sp>
        <p:nvSpPr>
          <p:cNvPr id="25" name="TextBox 24"/>
          <p:cNvSpPr txBox="1"/>
          <p:nvPr/>
        </p:nvSpPr>
        <p:spPr>
          <a:xfrm>
            <a:off x="573630" y="3416856"/>
            <a:ext cx="609600" cy="369332"/>
          </a:xfrm>
          <a:prstGeom prst="rect">
            <a:avLst/>
          </a:prstGeom>
          <a:noFill/>
          <a:ln>
            <a:noFill/>
          </a:ln>
        </p:spPr>
        <p:txBody>
          <a:bodyPr wrap="square" rtlCol="0">
            <a:spAutoFit/>
          </a:bodyPr>
          <a:lstStyle/>
          <a:p>
            <a:r>
              <a:rPr lang="en-US"/>
              <a:t>CPU</a:t>
            </a:r>
          </a:p>
        </p:txBody>
      </p:sp>
      <p:cxnSp>
        <p:nvCxnSpPr>
          <p:cNvPr id="26" name="Straight Arrow Connector 25"/>
          <p:cNvCxnSpPr/>
          <p:nvPr/>
        </p:nvCxnSpPr>
        <p:spPr>
          <a:xfrm>
            <a:off x="1175832" y="2224041"/>
            <a:ext cx="1828800" cy="0"/>
          </a:xfrm>
          <a:prstGeom prst="straightConnector1">
            <a:avLst/>
          </a:prstGeom>
          <a:ln w="381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27" name="TextBox 26"/>
          <p:cNvSpPr txBox="1"/>
          <p:nvPr/>
        </p:nvSpPr>
        <p:spPr>
          <a:xfrm>
            <a:off x="1513017" y="1015716"/>
            <a:ext cx="1143000" cy="1200329"/>
          </a:xfrm>
          <a:prstGeom prst="rect">
            <a:avLst/>
          </a:prstGeom>
          <a:ln w="38100">
            <a:solidFill>
              <a:schemeClr val="accent6"/>
            </a:solidFill>
          </a:ln>
        </p:spPr>
        <p:style>
          <a:lnRef idx="2">
            <a:schemeClr val="accent4"/>
          </a:lnRef>
          <a:fillRef idx="1">
            <a:schemeClr val="lt1"/>
          </a:fillRef>
          <a:effectRef idx="0">
            <a:schemeClr val="accent4"/>
          </a:effectRef>
          <a:fontRef idx="minor">
            <a:schemeClr val="dk1"/>
          </a:fontRef>
        </p:style>
        <p:txBody>
          <a:bodyPr wrap="square" rtlCol="0">
            <a:spAutoFit/>
          </a:bodyPr>
          <a:lstStyle/>
          <a:p>
            <a:r>
              <a:rPr lang="en-US"/>
              <a:t>1. CPU programs DMA controller</a:t>
            </a:r>
          </a:p>
        </p:txBody>
      </p:sp>
      <p:cxnSp>
        <p:nvCxnSpPr>
          <p:cNvPr id="28" name="Straight Arrow Connector 27"/>
          <p:cNvCxnSpPr/>
          <p:nvPr/>
        </p:nvCxnSpPr>
        <p:spPr>
          <a:xfrm>
            <a:off x="3576175" y="3748017"/>
            <a:ext cx="1828800" cy="0"/>
          </a:xfrm>
          <a:prstGeom prst="straightConnector1">
            <a:avLst/>
          </a:prstGeom>
          <a:ln w="381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29" name="TextBox 28"/>
          <p:cNvSpPr txBox="1"/>
          <p:nvPr/>
        </p:nvSpPr>
        <p:spPr>
          <a:xfrm>
            <a:off x="3913360" y="2539692"/>
            <a:ext cx="1143000" cy="1200329"/>
          </a:xfrm>
          <a:prstGeom prst="rect">
            <a:avLst/>
          </a:prstGeom>
          <a:ln w="38100">
            <a:solidFill>
              <a:schemeClr val="accent6"/>
            </a:solidFill>
          </a:ln>
        </p:spPr>
        <p:style>
          <a:lnRef idx="2">
            <a:schemeClr val="accent4"/>
          </a:lnRef>
          <a:fillRef idx="1">
            <a:schemeClr val="lt1"/>
          </a:fillRef>
          <a:effectRef idx="0">
            <a:schemeClr val="accent4"/>
          </a:effectRef>
          <a:fontRef idx="minor">
            <a:schemeClr val="dk1"/>
          </a:fontRef>
        </p:style>
        <p:txBody>
          <a:bodyPr wrap="square" rtlCol="0">
            <a:spAutoFit/>
          </a:bodyPr>
          <a:lstStyle/>
          <a:p>
            <a:r>
              <a:rPr lang="en-US"/>
              <a:t>2. DMA requests transfer to memory</a:t>
            </a:r>
          </a:p>
        </p:txBody>
      </p:sp>
      <p:cxnSp>
        <p:nvCxnSpPr>
          <p:cNvPr id="30" name="Straight Arrow Connector 29"/>
          <p:cNvCxnSpPr/>
          <p:nvPr/>
        </p:nvCxnSpPr>
        <p:spPr>
          <a:xfrm>
            <a:off x="5985765" y="3748017"/>
            <a:ext cx="1828800" cy="0"/>
          </a:xfrm>
          <a:prstGeom prst="straightConnector1">
            <a:avLst/>
          </a:prstGeom>
          <a:ln w="381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31" name="TextBox 30"/>
          <p:cNvSpPr txBox="1"/>
          <p:nvPr/>
        </p:nvSpPr>
        <p:spPr>
          <a:xfrm>
            <a:off x="6308661" y="3108830"/>
            <a:ext cx="1188720" cy="640080"/>
          </a:xfrm>
          <a:prstGeom prst="rect">
            <a:avLst/>
          </a:prstGeom>
          <a:ln w="38100">
            <a:solidFill>
              <a:schemeClr val="accent6"/>
            </a:solidFill>
          </a:ln>
        </p:spPr>
        <p:style>
          <a:lnRef idx="2">
            <a:schemeClr val="accent4"/>
          </a:lnRef>
          <a:fillRef idx="1">
            <a:schemeClr val="lt1"/>
          </a:fillRef>
          <a:effectRef idx="0">
            <a:schemeClr val="accent4"/>
          </a:effectRef>
          <a:fontRef idx="minor">
            <a:schemeClr val="dk1"/>
          </a:fontRef>
        </p:style>
        <p:txBody>
          <a:bodyPr wrap="square" rtlCol="0">
            <a:spAutoFit/>
          </a:bodyPr>
          <a:lstStyle/>
          <a:p>
            <a:r>
              <a:rPr lang="en-US"/>
              <a:t>3. Data transferred</a:t>
            </a:r>
          </a:p>
        </p:txBody>
      </p:sp>
      <p:cxnSp>
        <p:nvCxnSpPr>
          <p:cNvPr id="32" name="Straight Arrow Connector 31"/>
          <p:cNvCxnSpPr/>
          <p:nvPr/>
        </p:nvCxnSpPr>
        <p:spPr>
          <a:xfrm flipH="1">
            <a:off x="3574292" y="2223148"/>
            <a:ext cx="1828800" cy="0"/>
          </a:xfrm>
          <a:prstGeom prst="straightConnector1">
            <a:avLst/>
          </a:prstGeom>
          <a:ln w="381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33" name="TextBox 32"/>
          <p:cNvSpPr txBox="1"/>
          <p:nvPr/>
        </p:nvSpPr>
        <p:spPr>
          <a:xfrm>
            <a:off x="4028486" y="1852993"/>
            <a:ext cx="914400" cy="369332"/>
          </a:xfrm>
          <a:prstGeom prst="rect">
            <a:avLst/>
          </a:prstGeom>
          <a:ln w="38100">
            <a:solidFill>
              <a:schemeClr val="accent6"/>
            </a:solidFill>
          </a:ln>
        </p:spPr>
        <p:style>
          <a:lnRef idx="2">
            <a:schemeClr val="accent4"/>
          </a:lnRef>
          <a:fillRef idx="1">
            <a:schemeClr val="lt1"/>
          </a:fillRef>
          <a:effectRef idx="0">
            <a:schemeClr val="accent4"/>
          </a:effectRef>
          <a:fontRef idx="minor">
            <a:schemeClr val="dk1"/>
          </a:fontRef>
        </p:style>
        <p:txBody>
          <a:bodyPr wrap="square" rtlCol="0">
            <a:spAutoFit/>
          </a:bodyPr>
          <a:lstStyle/>
          <a:p>
            <a:r>
              <a:rPr lang="en-US"/>
              <a:t>4. ACK</a:t>
            </a:r>
          </a:p>
        </p:txBody>
      </p:sp>
    </p:spTree>
    <p:extLst>
      <p:ext uri="{BB962C8B-B14F-4D97-AF65-F5344CB8AC3E}">
        <p14:creationId xmlns:p14="http://schemas.microsoft.com/office/powerpoint/2010/main" val="3881255237"/>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bg/>
                                          </p:spTgt>
                                        </p:tgtEl>
                                        <p:attrNameLst>
                                          <p:attrName>style.visibility</p:attrName>
                                        </p:attrNameLst>
                                      </p:cBhvr>
                                      <p:to>
                                        <p:strVal val="visible"/>
                                      </p:to>
                                    </p:set>
                                    <p:animEffect transition="in" filter="fade">
                                      <p:cBhvr>
                                        <p:cTn id="7" dur="500"/>
                                        <p:tgtEl>
                                          <p:spTgt spid="3">
                                            <p:bg/>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500"/>
                                        <p:tgtEl>
                                          <p:spTgt spid="3">
                                            <p:txEl>
                                              <p:pRg st="0" end="0"/>
                                            </p:txEl>
                                          </p:spTgt>
                                        </p:tgtEl>
                                      </p:cBhvr>
                                    </p:animEffect>
                                  </p:childTnLst>
                                </p:cTn>
                              </p:par>
                            </p:childTnLst>
                          </p:cTn>
                        </p:par>
                      </p:childTnLst>
                    </p:cTn>
                  </p:par>
                  <p:par>
                    <p:cTn id="11" fill="hold" nodeType="clickPar">
                      <p:stCondLst>
                        <p:cond delay="indefinite"/>
                        <p:cond evt="onBegin" delay="0">
                          <p:tn val="10"/>
                        </p:cond>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395C3CB-E7D6-5B53-CF9A-D1AD44A72FEE}"/>
              </a:ext>
            </a:extLst>
          </p:cNvPr>
          <p:cNvSpPr>
            <a:spLocks noGrp="1"/>
          </p:cNvSpPr>
          <p:nvPr>
            <p:ph type="title"/>
          </p:nvPr>
        </p:nvSpPr>
        <p:spPr/>
        <p:txBody>
          <a:bodyPr/>
          <a:lstStyle/>
          <a:p>
            <a:r>
              <a:rPr lang="en-US" sz="3600" b="1" dirty="0">
                <a:latin typeface="Arial"/>
                <a:cs typeface="Arial"/>
              </a:rPr>
              <a:t>Six</a:t>
            </a:r>
            <a:r>
              <a:rPr lang="en-US" sz="3600" b="1" spc="-35" dirty="0">
                <a:latin typeface="Arial"/>
                <a:cs typeface="Arial"/>
              </a:rPr>
              <a:t> </a:t>
            </a:r>
            <a:r>
              <a:rPr lang="en-US" sz="3600" b="1" dirty="0">
                <a:latin typeface="Arial"/>
                <a:cs typeface="Arial"/>
              </a:rPr>
              <a:t>Step</a:t>
            </a:r>
            <a:r>
              <a:rPr lang="en-US" sz="3600" b="1" spc="-20" dirty="0">
                <a:latin typeface="Arial"/>
                <a:cs typeface="Arial"/>
              </a:rPr>
              <a:t> </a:t>
            </a:r>
            <a:r>
              <a:rPr lang="en-US" sz="3600" b="1" dirty="0">
                <a:latin typeface="Arial"/>
                <a:cs typeface="Arial"/>
              </a:rPr>
              <a:t>Process</a:t>
            </a:r>
            <a:r>
              <a:rPr lang="en-US" sz="3600" b="1" spc="-20" dirty="0">
                <a:latin typeface="Arial"/>
                <a:cs typeface="Arial"/>
              </a:rPr>
              <a:t> </a:t>
            </a:r>
            <a:r>
              <a:rPr lang="en-US" sz="3600" b="1" dirty="0">
                <a:latin typeface="Arial"/>
                <a:cs typeface="Arial"/>
              </a:rPr>
              <a:t>to</a:t>
            </a:r>
            <a:r>
              <a:rPr lang="en-US" sz="3600" b="1" spc="-15" dirty="0">
                <a:latin typeface="Arial"/>
                <a:cs typeface="Arial"/>
              </a:rPr>
              <a:t> </a:t>
            </a:r>
            <a:r>
              <a:rPr lang="en-US" sz="3600" b="1" dirty="0">
                <a:latin typeface="Arial"/>
                <a:cs typeface="Arial"/>
              </a:rPr>
              <a:t>Perform</a:t>
            </a:r>
            <a:r>
              <a:rPr lang="en-US" sz="3600" b="1" spc="-40" dirty="0">
                <a:latin typeface="Arial"/>
                <a:cs typeface="Arial"/>
              </a:rPr>
              <a:t> </a:t>
            </a:r>
            <a:r>
              <a:rPr lang="en-US" sz="3600" b="1" dirty="0">
                <a:latin typeface="Arial"/>
                <a:cs typeface="Arial"/>
              </a:rPr>
              <a:t>DMA</a:t>
            </a:r>
            <a:r>
              <a:rPr lang="en-US" sz="3600" b="1" spc="-80" dirty="0">
                <a:latin typeface="Arial"/>
                <a:cs typeface="Arial"/>
              </a:rPr>
              <a:t> </a:t>
            </a:r>
            <a:r>
              <a:rPr lang="en-US" sz="3600" b="1" spc="-10" dirty="0">
                <a:latin typeface="Arial"/>
                <a:cs typeface="Arial"/>
              </a:rPr>
              <a:t>Transfer</a:t>
            </a:r>
            <a:endParaRPr lang="en-US" dirty="0"/>
          </a:p>
        </p:txBody>
      </p:sp>
      <p:pic>
        <p:nvPicPr>
          <p:cNvPr id="4" name="object 2">
            <a:extLst>
              <a:ext uri="{FF2B5EF4-FFF2-40B4-BE49-F238E27FC236}">
                <a16:creationId xmlns:a16="http://schemas.microsoft.com/office/drawing/2014/main" xmlns="" id="{AACFB4CF-0114-D72D-AE57-D52F99C1A4FC}"/>
              </a:ext>
            </a:extLst>
          </p:cNvPr>
          <p:cNvPicPr/>
          <p:nvPr/>
        </p:nvPicPr>
        <p:blipFill>
          <a:blip r:embed="rId2" cstate="print"/>
          <a:stretch>
            <a:fillRect/>
          </a:stretch>
        </p:blipFill>
        <p:spPr>
          <a:xfrm>
            <a:off x="1116039" y="928073"/>
            <a:ext cx="9294054" cy="5490312"/>
          </a:xfrm>
          <a:prstGeom prst="rect">
            <a:avLst/>
          </a:prstGeom>
        </p:spPr>
      </p:pic>
    </p:spTree>
    <p:extLst>
      <p:ext uri="{BB962C8B-B14F-4D97-AF65-F5344CB8AC3E}">
        <p14:creationId xmlns:p14="http://schemas.microsoft.com/office/powerpoint/2010/main" val="1744305170"/>
      </p:ext>
    </p:extLst>
  </p:cSld>
  <p:clrMapOvr>
    <a:masterClrMapping/>
  </p:clrMapOvr>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4E9F27B-FF75-0675-8D19-DCB91B66F53F}"/>
              </a:ext>
            </a:extLst>
          </p:cNvPr>
          <p:cNvSpPr>
            <a:spLocks noGrp="1"/>
          </p:cNvSpPr>
          <p:nvPr>
            <p:ph type="title"/>
          </p:nvPr>
        </p:nvSpPr>
        <p:spPr/>
        <p:txBody>
          <a:bodyPr/>
          <a:lstStyle/>
          <a:p>
            <a:r>
              <a:rPr lang="en-US" dirty="0"/>
              <a:t>Goals of I/O Software</a:t>
            </a:r>
          </a:p>
        </p:txBody>
      </p:sp>
      <p:sp>
        <p:nvSpPr>
          <p:cNvPr id="3" name="Content Placeholder 2">
            <a:extLst>
              <a:ext uri="{FF2B5EF4-FFF2-40B4-BE49-F238E27FC236}">
                <a16:creationId xmlns:a16="http://schemas.microsoft.com/office/drawing/2014/main" xmlns="" id="{A34AF527-D24E-EA33-BF7F-678909E72C62}"/>
              </a:ext>
            </a:extLst>
          </p:cNvPr>
          <p:cNvSpPr>
            <a:spLocks noGrp="1"/>
          </p:cNvSpPr>
          <p:nvPr>
            <p:ph idx="1"/>
          </p:nvPr>
        </p:nvSpPr>
        <p:spPr/>
        <p:txBody>
          <a:bodyPr/>
          <a:lstStyle/>
          <a:p>
            <a:r>
              <a:rPr lang="en-US" dirty="0"/>
              <a:t>Device independence</a:t>
            </a:r>
          </a:p>
          <a:p>
            <a:pPr lvl="1"/>
            <a:r>
              <a:rPr lang="en-US" dirty="0"/>
              <a:t>It should be possible to write programs that can access any I/O </a:t>
            </a:r>
            <a:r>
              <a:rPr lang="en-US" dirty="0" smtClean="0"/>
              <a:t>devices </a:t>
            </a:r>
            <a:r>
              <a:rPr lang="en-US" dirty="0"/>
              <a:t>without having to specify the device in advance.</a:t>
            </a:r>
          </a:p>
          <a:p>
            <a:pPr lvl="1"/>
            <a:r>
              <a:rPr lang="en-US" dirty="0"/>
              <a:t>For example, a program that reads a file as input should be able to read a file on a hard disk, a CD-ROM, a DVD, or a USB stick without having to modify the program for each different device.</a:t>
            </a:r>
          </a:p>
          <a:p>
            <a:r>
              <a:rPr lang="en-US" dirty="0"/>
              <a:t>Uniform naming</a:t>
            </a:r>
          </a:p>
          <a:p>
            <a:pPr lvl="1"/>
            <a:r>
              <a:rPr lang="en-US" dirty="0"/>
              <a:t>The name of the device should simply be a string or an integer and do not depend on the device in any </a:t>
            </a:r>
            <a:r>
              <a:rPr lang="en-US" dirty="0" smtClean="0"/>
              <a:t>way.</a:t>
            </a:r>
          </a:p>
          <a:p>
            <a:pPr lvl="1"/>
            <a:r>
              <a:rPr lang="en-US" dirty="0" smtClean="0"/>
              <a:t>All the files and devices are addressed the same way: by a path name</a:t>
            </a:r>
            <a:endParaRPr lang="en-US" dirty="0"/>
          </a:p>
          <a:p>
            <a:r>
              <a:rPr lang="en-US" dirty="0"/>
              <a:t>Error Handling</a:t>
            </a:r>
          </a:p>
          <a:p>
            <a:pPr lvl="1"/>
            <a:r>
              <a:rPr lang="en-US" dirty="0"/>
              <a:t>In general, the error should be handled as close to the hardware as </a:t>
            </a:r>
            <a:r>
              <a:rPr lang="en-US" dirty="0" smtClean="0"/>
              <a:t>possible</a:t>
            </a:r>
          </a:p>
          <a:p>
            <a:pPr lvl="1"/>
            <a:r>
              <a:rPr lang="en-US" dirty="0" smtClean="0"/>
              <a:t>If any controller generates error then it tries to solve that error itself. If controller cant solve then device deriver should handle the error.</a:t>
            </a:r>
            <a:endParaRPr lang="en-US" dirty="0"/>
          </a:p>
          <a:p>
            <a:pPr lvl="1"/>
            <a:r>
              <a:rPr lang="en-US" dirty="0"/>
              <a:t>Propagate errors up only when lower layer cannot handle it.</a:t>
            </a:r>
          </a:p>
          <a:p>
            <a:pPr lvl="1"/>
            <a:r>
              <a:rPr lang="en-US" dirty="0"/>
              <a:t>For example, if controller discovers read error, it should try to correct the error itself. If it cannot, the device driver should handle it</a:t>
            </a:r>
            <a:r>
              <a:rPr lang="en-US" dirty="0" smtClean="0"/>
              <a:t>.</a:t>
            </a:r>
            <a:endParaRPr lang="en-US" dirty="0"/>
          </a:p>
        </p:txBody>
      </p:sp>
    </p:spTree>
    <p:extLst>
      <p:ext uri="{BB962C8B-B14F-4D97-AF65-F5344CB8AC3E}">
        <p14:creationId xmlns:p14="http://schemas.microsoft.com/office/powerpoint/2010/main" val="4000868119"/>
      </p:ext>
    </p:extLst>
  </p:cSld>
  <p:clrMapOvr>
    <a:masterClrMapping/>
  </p:clrMapOvr>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4E9F27B-FF75-0675-8D19-DCB91B66F53F}"/>
              </a:ext>
            </a:extLst>
          </p:cNvPr>
          <p:cNvSpPr>
            <a:spLocks noGrp="1"/>
          </p:cNvSpPr>
          <p:nvPr>
            <p:ph type="title"/>
          </p:nvPr>
        </p:nvSpPr>
        <p:spPr/>
        <p:txBody>
          <a:bodyPr/>
          <a:lstStyle/>
          <a:p>
            <a:r>
              <a:rPr lang="en-US" dirty="0"/>
              <a:t>Goals of I/O Software</a:t>
            </a:r>
          </a:p>
        </p:txBody>
      </p:sp>
      <p:sp>
        <p:nvSpPr>
          <p:cNvPr id="3" name="Content Placeholder 2">
            <a:extLst>
              <a:ext uri="{FF2B5EF4-FFF2-40B4-BE49-F238E27FC236}">
                <a16:creationId xmlns:a16="http://schemas.microsoft.com/office/drawing/2014/main" xmlns="" id="{A34AF527-D24E-EA33-BF7F-678909E72C62}"/>
              </a:ext>
            </a:extLst>
          </p:cNvPr>
          <p:cNvSpPr>
            <a:spLocks noGrp="1"/>
          </p:cNvSpPr>
          <p:nvPr>
            <p:ph idx="1"/>
          </p:nvPr>
        </p:nvSpPr>
        <p:spPr>
          <a:xfrm>
            <a:off x="99354" y="711201"/>
            <a:ext cx="11993292" cy="5775942"/>
          </a:xfrm>
        </p:spPr>
        <p:txBody>
          <a:bodyPr/>
          <a:lstStyle/>
          <a:p>
            <a:r>
              <a:rPr lang="en-US" dirty="0"/>
              <a:t>Synchronous (blocking) Vs. Asynchronous (interrupt driven) transfers</a:t>
            </a:r>
          </a:p>
          <a:p>
            <a:pPr lvl="1"/>
            <a:r>
              <a:rPr lang="en-US" dirty="0"/>
              <a:t>Most of devices are synchronous device. CPU starts transfer and goes off to do something else until interrupt occurs.</a:t>
            </a:r>
          </a:p>
          <a:p>
            <a:pPr lvl="1"/>
            <a:r>
              <a:rPr lang="en-US" dirty="0"/>
              <a:t>It is up to the OS to make the operation that are interrupt driven look blocking to the user </a:t>
            </a:r>
            <a:r>
              <a:rPr lang="en-US" dirty="0" smtClean="0"/>
              <a:t>programs</a:t>
            </a:r>
          </a:p>
          <a:p>
            <a:pPr marL="0" indent="0">
              <a:buNone/>
            </a:pPr>
            <a:r>
              <a:rPr lang="en-US" dirty="0" smtClean="0"/>
              <a:t>Buffering</a:t>
            </a:r>
            <a:endParaRPr lang="en-US" dirty="0"/>
          </a:p>
          <a:p>
            <a:pPr lvl="1"/>
            <a:r>
              <a:rPr lang="en-US" dirty="0"/>
              <a:t>Often, data that comes off a device cannot be stored directly to its final </a:t>
            </a:r>
            <a:r>
              <a:rPr lang="en-US" dirty="0" smtClean="0"/>
              <a:t>destination(memory) </a:t>
            </a:r>
            <a:r>
              <a:rPr lang="en-US" dirty="0"/>
              <a:t>due to various reasons.</a:t>
            </a:r>
          </a:p>
          <a:p>
            <a:pPr lvl="1"/>
            <a:r>
              <a:rPr lang="en-US" dirty="0"/>
              <a:t>buffer is the intermediate destination</a:t>
            </a:r>
          </a:p>
          <a:p>
            <a:r>
              <a:rPr lang="en-US" dirty="0"/>
              <a:t>Dedicated Vs Shared devices</a:t>
            </a:r>
          </a:p>
          <a:p>
            <a:pPr lvl="1"/>
            <a:r>
              <a:rPr lang="en-US" dirty="0"/>
              <a:t>Devices that can be used by many users at a time are sharable. E.g. Disk (multiple users can open files from the same disk at the same time)</a:t>
            </a:r>
          </a:p>
          <a:p>
            <a:pPr lvl="1"/>
            <a:r>
              <a:rPr lang="en-US" dirty="0"/>
              <a:t>Some devices have to be dedicated to a single person. E.g. tapes </a:t>
            </a:r>
          </a:p>
          <a:p>
            <a:r>
              <a:rPr lang="en-US" dirty="0"/>
              <a:t>Basically, input/output software organized in the following four layers:</a:t>
            </a:r>
          </a:p>
          <a:p>
            <a:pPr lvl="1"/>
            <a:r>
              <a:rPr lang="en-US" dirty="0"/>
              <a:t>Interrupt handlers</a:t>
            </a:r>
          </a:p>
          <a:p>
            <a:pPr lvl="1"/>
            <a:r>
              <a:rPr lang="en-US" dirty="0"/>
              <a:t>Device drivers</a:t>
            </a:r>
          </a:p>
          <a:p>
            <a:pPr lvl="1"/>
            <a:r>
              <a:rPr lang="en-US" dirty="0"/>
              <a:t>Device-independent input/output software</a:t>
            </a:r>
          </a:p>
          <a:p>
            <a:pPr lvl="1"/>
            <a:r>
              <a:rPr lang="en-US" dirty="0"/>
              <a:t>User-space input/output </a:t>
            </a:r>
            <a:r>
              <a:rPr lang="en-US" dirty="0" smtClean="0"/>
              <a:t>software</a:t>
            </a:r>
            <a:endParaRPr lang="en-US" dirty="0"/>
          </a:p>
        </p:txBody>
      </p:sp>
    </p:spTree>
    <p:extLst>
      <p:ext uri="{BB962C8B-B14F-4D97-AF65-F5344CB8AC3E}">
        <p14:creationId xmlns:p14="http://schemas.microsoft.com/office/powerpoint/2010/main" val="451570275"/>
      </p:ext>
    </p:extLst>
  </p:cSld>
  <p:clrMapOvr>
    <a:masterClrMapping/>
  </p:clrMapOvr>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Device Drivers</a:t>
            </a:r>
            <a:endParaRPr lang="en-US" dirty="0"/>
          </a:p>
        </p:txBody>
      </p:sp>
      <p:sp>
        <p:nvSpPr>
          <p:cNvPr id="3" name="Content Placeholder 2"/>
          <p:cNvSpPr>
            <a:spLocks noGrp="1"/>
          </p:cNvSpPr>
          <p:nvPr>
            <p:ph idx="1"/>
          </p:nvPr>
        </p:nvSpPr>
        <p:spPr/>
        <p:txBody>
          <a:bodyPr/>
          <a:lstStyle/>
          <a:p>
            <a:r>
              <a:rPr lang="en-US" dirty="0" smtClean="0"/>
              <a:t>I/O devices which are  plugged with computer have some specific code for controlling them. This code is called device driver.</a:t>
            </a:r>
          </a:p>
          <a:p>
            <a:r>
              <a:rPr lang="en-US" dirty="0" smtClean="0"/>
              <a:t>Each device driver normally handles one device type ,at most one class of closely related devices.</a:t>
            </a:r>
          </a:p>
          <a:p>
            <a:r>
              <a:rPr lang="en-US" dirty="0"/>
              <a:t>Device drivers are software components that enable the operating system to communicate with specific hardware devices. </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12505" y="3381969"/>
            <a:ext cx="8641680" cy="3042734"/>
          </a:xfrm>
          <a:prstGeom prst="rect">
            <a:avLst/>
          </a:prstGeom>
        </p:spPr>
      </p:pic>
    </p:spTree>
    <p:extLst>
      <p:ext uri="{BB962C8B-B14F-4D97-AF65-F5344CB8AC3E}">
        <p14:creationId xmlns:p14="http://schemas.microsoft.com/office/powerpoint/2010/main" val="224201702"/>
      </p:ext>
    </p:extLst>
  </p:cSld>
  <p:clrMapOvr>
    <a:masterClrMapping/>
  </p:clrMapOvr>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1B4EB51-DCCE-3818-CE69-3F108B423B63}"/>
              </a:ext>
            </a:extLst>
          </p:cNvPr>
          <p:cNvSpPr>
            <a:spLocks noGrp="1"/>
          </p:cNvSpPr>
          <p:nvPr>
            <p:ph type="title"/>
          </p:nvPr>
        </p:nvSpPr>
        <p:spPr/>
        <p:txBody>
          <a:bodyPr/>
          <a:lstStyle/>
          <a:p>
            <a:r>
              <a:rPr lang="en-US" dirty="0"/>
              <a:t>Goals of I/O Software</a:t>
            </a:r>
          </a:p>
        </p:txBody>
      </p:sp>
      <p:sp>
        <p:nvSpPr>
          <p:cNvPr id="3" name="Content Placeholder 2">
            <a:extLst>
              <a:ext uri="{FF2B5EF4-FFF2-40B4-BE49-F238E27FC236}">
                <a16:creationId xmlns:a16="http://schemas.microsoft.com/office/drawing/2014/main" xmlns="" id="{78B88CB2-86D3-3870-D587-09097F2F9D4A}"/>
              </a:ext>
            </a:extLst>
          </p:cNvPr>
          <p:cNvSpPr>
            <a:spLocks noGrp="1"/>
          </p:cNvSpPr>
          <p:nvPr>
            <p:ph idx="1"/>
          </p:nvPr>
        </p:nvSpPr>
        <p:spPr>
          <a:xfrm>
            <a:off x="60962" y="711201"/>
            <a:ext cx="11993292" cy="5838466"/>
          </a:xfrm>
        </p:spPr>
        <p:txBody>
          <a:bodyPr/>
          <a:lstStyle/>
          <a:p>
            <a:r>
              <a:rPr lang="en-US" dirty="0"/>
              <a:t>In every input/output software, each of the above given four layer has a well-defined function to perform and a well-defined interface to the adjacent layers.</a:t>
            </a:r>
          </a:p>
          <a:p>
            <a:r>
              <a:rPr lang="en-US" dirty="0"/>
              <a:t>The figure given below shows all the layers along with hardware of the </a:t>
            </a:r>
            <a:r>
              <a:rPr lang="en-US" dirty="0" smtClean="0"/>
              <a:t>input/output</a:t>
            </a:r>
          </a:p>
          <a:p>
            <a:r>
              <a:rPr lang="en-US" dirty="0" smtClean="0"/>
              <a:t>Here </a:t>
            </a:r>
            <a:r>
              <a:rPr lang="en-US" dirty="0"/>
              <a:t>is another figure shows all the layers of the input/output software system along with their principal functions.</a:t>
            </a:r>
          </a:p>
          <a:p>
            <a:endParaRPr lang="en-US" dirty="0"/>
          </a:p>
          <a:p>
            <a:endParaRPr lang="en-US" dirty="0"/>
          </a:p>
        </p:txBody>
      </p:sp>
      <p:pic>
        <p:nvPicPr>
          <p:cNvPr id="4" name="image67.jpeg">
            <a:extLst>
              <a:ext uri="{FF2B5EF4-FFF2-40B4-BE49-F238E27FC236}">
                <a16:creationId xmlns:a16="http://schemas.microsoft.com/office/drawing/2014/main" xmlns="" id="{A8C4EFCB-4257-98E4-40CE-BE70ED134CC1}"/>
              </a:ext>
            </a:extLst>
          </p:cNvPr>
          <p:cNvPicPr>
            <a:picLocks noChangeAspect="1"/>
          </p:cNvPicPr>
          <p:nvPr/>
        </p:nvPicPr>
        <p:blipFill>
          <a:blip r:embed="rId2" cstate="print"/>
          <a:stretch>
            <a:fillRect/>
          </a:stretch>
        </p:blipFill>
        <p:spPr>
          <a:xfrm>
            <a:off x="360667" y="2624928"/>
            <a:ext cx="4978385" cy="3924739"/>
          </a:xfrm>
          <a:prstGeom prst="rect">
            <a:avLst/>
          </a:prstGeom>
        </p:spPr>
      </p:pic>
      <p:pic>
        <p:nvPicPr>
          <p:cNvPr id="5" name="image68.png" descr="Image result for io  software layer">
            <a:extLst>
              <a:ext uri="{FF2B5EF4-FFF2-40B4-BE49-F238E27FC236}">
                <a16:creationId xmlns:a16="http://schemas.microsoft.com/office/drawing/2014/main" xmlns="" id="{65F2C0F7-1A71-40F9-5732-CD23440409DD}"/>
              </a:ext>
            </a:extLst>
          </p:cNvPr>
          <p:cNvPicPr>
            <a:picLocks noChangeAspect="1"/>
          </p:cNvPicPr>
          <p:nvPr/>
        </p:nvPicPr>
        <p:blipFill>
          <a:blip r:embed="rId3" cstate="print"/>
          <a:stretch>
            <a:fillRect/>
          </a:stretch>
        </p:blipFill>
        <p:spPr>
          <a:xfrm>
            <a:off x="5638756" y="3444532"/>
            <a:ext cx="6553244" cy="2778801"/>
          </a:xfrm>
          <a:prstGeom prst="rect">
            <a:avLst/>
          </a:prstGeom>
        </p:spPr>
      </p:pic>
    </p:spTree>
    <p:extLst>
      <p:ext uri="{BB962C8B-B14F-4D97-AF65-F5344CB8AC3E}">
        <p14:creationId xmlns:p14="http://schemas.microsoft.com/office/powerpoint/2010/main" val="466962018"/>
      </p:ext>
    </p:extLst>
  </p:cSld>
  <p:clrMapOvr>
    <a:masterClrMapping/>
  </p:clrMapOvr>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A4A4A57-D705-3266-81B6-FD80CBA40E45}"/>
              </a:ext>
            </a:extLst>
          </p:cNvPr>
          <p:cNvSpPr>
            <a:spLocks noGrp="1"/>
          </p:cNvSpPr>
          <p:nvPr>
            <p:ph type="title"/>
          </p:nvPr>
        </p:nvSpPr>
        <p:spPr/>
        <p:txBody>
          <a:bodyPr/>
          <a:lstStyle/>
          <a:p>
            <a:r>
              <a:rPr lang="en-US" dirty="0"/>
              <a:t>Device Independent I/O Software</a:t>
            </a:r>
          </a:p>
        </p:txBody>
      </p:sp>
      <p:sp>
        <p:nvSpPr>
          <p:cNvPr id="3" name="Content Placeholder 2">
            <a:extLst>
              <a:ext uri="{FF2B5EF4-FFF2-40B4-BE49-F238E27FC236}">
                <a16:creationId xmlns:a16="http://schemas.microsoft.com/office/drawing/2014/main" xmlns="" id="{34D9ED3D-7A12-6D92-56A6-0967F83C34EC}"/>
              </a:ext>
            </a:extLst>
          </p:cNvPr>
          <p:cNvSpPr>
            <a:spLocks noGrp="1"/>
          </p:cNvSpPr>
          <p:nvPr>
            <p:ph idx="1"/>
          </p:nvPr>
        </p:nvSpPr>
        <p:spPr/>
        <p:txBody>
          <a:bodyPr/>
          <a:lstStyle/>
          <a:p>
            <a:r>
              <a:rPr lang="en-US" dirty="0"/>
              <a:t>Although some of the I/O software is device specific, other parts of it are device independent. The basic function of device-independent software is to perform the I/O functions that are common to all devices and provide uniform interface to user-level software.</a:t>
            </a:r>
          </a:p>
          <a:p>
            <a:endParaRPr lang="en-US" dirty="0"/>
          </a:p>
          <a:p>
            <a:pPr marL="0" indent="0">
              <a:buNone/>
            </a:pPr>
            <a:r>
              <a:rPr lang="en-US" b="1" dirty="0"/>
              <a:t>Functions of device independent I/O software</a:t>
            </a:r>
          </a:p>
          <a:p>
            <a:pPr marL="0" indent="0">
              <a:buNone/>
            </a:pPr>
            <a:r>
              <a:rPr lang="en-US" dirty="0"/>
              <a:t> </a:t>
            </a:r>
            <a:r>
              <a:rPr lang="en-US" dirty="0" smtClean="0"/>
              <a:t>   </a:t>
            </a:r>
            <a:r>
              <a:rPr lang="en-US" dirty="0" err="1" smtClean="0"/>
              <a:t>i</a:t>
            </a:r>
            <a:r>
              <a:rPr lang="en-US" dirty="0"/>
              <a:t>.	Uniform interfacing for device drivers</a:t>
            </a:r>
          </a:p>
          <a:p>
            <a:pPr marL="0" indent="0">
              <a:buNone/>
            </a:pPr>
            <a:r>
              <a:rPr lang="en-US" dirty="0" smtClean="0"/>
              <a:t>   ii</a:t>
            </a:r>
            <a:r>
              <a:rPr lang="en-US" dirty="0"/>
              <a:t>.	Buffering</a:t>
            </a:r>
          </a:p>
          <a:p>
            <a:pPr marL="0" indent="0">
              <a:buNone/>
            </a:pPr>
            <a:r>
              <a:rPr lang="en-US" dirty="0" smtClean="0"/>
              <a:t>  iii</a:t>
            </a:r>
            <a:r>
              <a:rPr lang="en-US" dirty="0"/>
              <a:t>.	Error Reporting</a:t>
            </a:r>
          </a:p>
          <a:p>
            <a:pPr marL="0" indent="0">
              <a:buNone/>
            </a:pPr>
            <a:r>
              <a:rPr lang="en-US" dirty="0"/>
              <a:t> </a:t>
            </a:r>
            <a:r>
              <a:rPr lang="en-US" dirty="0" smtClean="0"/>
              <a:t> iv</a:t>
            </a:r>
            <a:r>
              <a:rPr lang="en-US" dirty="0"/>
              <a:t>.	Allocating and releasing dedicated devices</a:t>
            </a:r>
          </a:p>
          <a:p>
            <a:pPr marL="0" indent="0">
              <a:buNone/>
            </a:pPr>
            <a:r>
              <a:rPr lang="en-US" dirty="0" smtClean="0"/>
              <a:t>  v</a:t>
            </a:r>
            <a:r>
              <a:rPr lang="en-US" dirty="0"/>
              <a:t>.	Providing a device-independent block size</a:t>
            </a:r>
          </a:p>
          <a:p>
            <a:endParaRPr lang="en-US" dirty="0"/>
          </a:p>
        </p:txBody>
      </p:sp>
    </p:spTree>
    <p:extLst>
      <p:ext uri="{BB962C8B-B14F-4D97-AF65-F5344CB8AC3E}">
        <p14:creationId xmlns:p14="http://schemas.microsoft.com/office/powerpoint/2010/main" val="3120327210"/>
      </p:ext>
    </p:extLst>
  </p:cSld>
  <p:clrMapOvr>
    <a:masterClrMapping/>
  </p:clrMapOvr>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A4A4A57-D705-3266-81B6-FD80CBA40E45}"/>
              </a:ext>
            </a:extLst>
          </p:cNvPr>
          <p:cNvSpPr>
            <a:spLocks noGrp="1"/>
          </p:cNvSpPr>
          <p:nvPr>
            <p:ph type="title"/>
          </p:nvPr>
        </p:nvSpPr>
        <p:spPr/>
        <p:txBody>
          <a:bodyPr/>
          <a:lstStyle/>
          <a:p>
            <a:r>
              <a:rPr lang="en-US" dirty="0"/>
              <a:t>User-Space I/O Software</a:t>
            </a:r>
          </a:p>
        </p:txBody>
      </p:sp>
      <p:sp>
        <p:nvSpPr>
          <p:cNvPr id="3" name="Content Placeholder 2">
            <a:extLst>
              <a:ext uri="{FF2B5EF4-FFF2-40B4-BE49-F238E27FC236}">
                <a16:creationId xmlns:a16="http://schemas.microsoft.com/office/drawing/2014/main" xmlns="" id="{34D9ED3D-7A12-6D92-56A6-0967F83C34EC}"/>
              </a:ext>
            </a:extLst>
          </p:cNvPr>
          <p:cNvSpPr>
            <a:spLocks noGrp="1"/>
          </p:cNvSpPr>
          <p:nvPr>
            <p:ph idx="1"/>
          </p:nvPr>
        </p:nvSpPr>
        <p:spPr/>
        <p:txBody>
          <a:bodyPr/>
          <a:lstStyle/>
          <a:p>
            <a:r>
              <a:rPr lang="en-US" dirty="0"/>
              <a:t>These are the libraries which provide richer and simplified interface to access the functionality of the kernel or ultimately interactive with the device drivers. Most of the user-level I/O software consists of library procedures with some exception like spooling system which is a way of dealing with dedicated I/O devices in a multiprogramming system.</a:t>
            </a:r>
          </a:p>
          <a:p>
            <a:endParaRPr lang="en-US" dirty="0"/>
          </a:p>
          <a:p>
            <a:r>
              <a:rPr lang="en-US" dirty="0"/>
              <a:t>I/O Libraries (e.g., </a:t>
            </a:r>
            <a:r>
              <a:rPr lang="en-US" dirty="0" err="1"/>
              <a:t>stdio</a:t>
            </a:r>
            <a:r>
              <a:rPr lang="en-US" dirty="0"/>
              <a:t>) are in user-space to provide an interface to the OS resident device- independent I/O SW. For example </a:t>
            </a:r>
            <a:r>
              <a:rPr lang="en-US" dirty="0" err="1"/>
              <a:t>putchar</a:t>
            </a:r>
            <a:r>
              <a:rPr lang="en-US" dirty="0"/>
              <a:t>(), </a:t>
            </a:r>
            <a:r>
              <a:rPr lang="en-US" dirty="0" err="1"/>
              <a:t>getchar</a:t>
            </a:r>
            <a:r>
              <a:rPr lang="en-US" dirty="0"/>
              <a:t>(), </a:t>
            </a:r>
            <a:r>
              <a:rPr lang="en-US" dirty="0" err="1"/>
              <a:t>printf</a:t>
            </a:r>
            <a:r>
              <a:rPr lang="en-US" dirty="0"/>
              <a:t>() and </a:t>
            </a:r>
            <a:r>
              <a:rPr lang="en-US" dirty="0" err="1"/>
              <a:t>scanf</a:t>
            </a:r>
            <a:r>
              <a:rPr lang="en-US" dirty="0"/>
              <a:t>() are example of user level I/O library </a:t>
            </a:r>
            <a:r>
              <a:rPr lang="en-US" dirty="0" err="1"/>
              <a:t>stdio</a:t>
            </a:r>
            <a:r>
              <a:rPr lang="en-US" dirty="0"/>
              <a:t> available in C programming.</a:t>
            </a:r>
          </a:p>
          <a:p>
            <a:endParaRPr lang="en-US" dirty="0"/>
          </a:p>
        </p:txBody>
      </p:sp>
    </p:spTree>
    <p:extLst>
      <p:ext uri="{BB962C8B-B14F-4D97-AF65-F5344CB8AC3E}">
        <p14:creationId xmlns:p14="http://schemas.microsoft.com/office/powerpoint/2010/main" val="3365249689"/>
      </p:ext>
    </p:extLst>
  </p:cSld>
  <p:clrMapOvr>
    <a:masterClrMapping/>
  </p:clrMapOvr>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189E561-1734-4AD9-1799-AB329BD2B2FA}"/>
              </a:ext>
            </a:extLst>
          </p:cNvPr>
          <p:cNvSpPr>
            <a:spLocks noGrp="1"/>
          </p:cNvSpPr>
          <p:nvPr>
            <p:ph type="title"/>
          </p:nvPr>
        </p:nvSpPr>
        <p:spPr/>
        <p:txBody>
          <a:bodyPr/>
          <a:lstStyle/>
          <a:p>
            <a:r>
              <a:rPr lang="en-US" dirty="0"/>
              <a:t>Polled I/O</a:t>
            </a:r>
          </a:p>
        </p:txBody>
      </p:sp>
      <p:sp>
        <p:nvSpPr>
          <p:cNvPr id="3" name="Content Placeholder 2">
            <a:extLst>
              <a:ext uri="{FF2B5EF4-FFF2-40B4-BE49-F238E27FC236}">
                <a16:creationId xmlns:a16="http://schemas.microsoft.com/office/drawing/2014/main" xmlns="" id="{E643462A-ACC0-81F6-18EF-E7973829E0EA}"/>
              </a:ext>
            </a:extLst>
          </p:cNvPr>
          <p:cNvSpPr>
            <a:spLocks noGrp="1"/>
          </p:cNvSpPr>
          <p:nvPr>
            <p:ph idx="1"/>
          </p:nvPr>
        </p:nvSpPr>
        <p:spPr/>
        <p:txBody>
          <a:bodyPr/>
          <a:lstStyle/>
          <a:p>
            <a:r>
              <a:rPr lang="en-US" dirty="0"/>
              <a:t>The simplest form of I/O is to have the CPU do all the work. This method is called programmed I/O. </a:t>
            </a:r>
          </a:p>
          <a:p>
            <a:r>
              <a:rPr lang="en-US" dirty="0" smtClean="0"/>
              <a:t>Polling is the simplest way for communicate with the processor.</a:t>
            </a:r>
          </a:p>
          <a:p>
            <a:r>
              <a:rPr lang="en-US" dirty="0" smtClean="0"/>
              <a:t>The process of periodically checking status of the device to see if it is time for the next i/o operation is called polling.</a:t>
            </a:r>
          </a:p>
          <a:p>
            <a:r>
              <a:rPr lang="en-US" dirty="0" smtClean="0"/>
              <a:t>This method is inefficient as it keeps checking one  i/o device after other</a:t>
            </a:r>
          </a:p>
          <a:p>
            <a:r>
              <a:rPr lang="en-US" dirty="0" smtClean="0"/>
              <a:t>This </a:t>
            </a:r>
            <a:r>
              <a:rPr lang="en-US" dirty="0"/>
              <a:t>behavior is often called polling or busy waiting.</a:t>
            </a:r>
          </a:p>
        </p:txBody>
      </p:sp>
    </p:spTree>
    <p:extLst>
      <p:ext uri="{BB962C8B-B14F-4D97-AF65-F5344CB8AC3E}">
        <p14:creationId xmlns:p14="http://schemas.microsoft.com/office/powerpoint/2010/main" val="555951982"/>
      </p:ext>
    </p:extLst>
  </p:cSld>
  <p:clrMapOvr>
    <a:masterClrMapping/>
  </p:clrMapOvr>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189E561-1734-4AD9-1799-AB329BD2B2FA}"/>
              </a:ext>
            </a:extLst>
          </p:cNvPr>
          <p:cNvSpPr>
            <a:spLocks noGrp="1"/>
          </p:cNvSpPr>
          <p:nvPr>
            <p:ph type="title"/>
          </p:nvPr>
        </p:nvSpPr>
        <p:spPr/>
        <p:txBody>
          <a:bodyPr/>
          <a:lstStyle/>
          <a:p>
            <a:r>
              <a:rPr lang="en-US" dirty="0"/>
              <a:t>Interrupt Driven I/O</a:t>
            </a:r>
          </a:p>
        </p:txBody>
      </p:sp>
      <p:sp>
        <p:nvSpPr>
          <p:cNvPr id="3" name="Content Placeholder 2">
            <a:extLst>
              <a:ext uri="{FF2B5EF4-FFF2-40B4-BE49-F238E27FC236}">
                <a16:creationId xmlns:a16="http://schemas.microsoft.com/office/drawing/2014/main" xmlns="" id="{E643462A-ACC0-81F6-18EF-E7973829E0EA}"/>
              </a:ext>
            </a:extLst>
          </p:cNvPr>
          <p:cNvSpPr>
            <a:spLocks noGrp="1"/>
          </p:cNvSpPr>
          <p:nvPr>
            <p:ph idx="1"/>
          </p:nvPr>
        </p:nvSpPr>
        <p:spPr/>
        <p:txBody>
          <a:bodyPr/>
          <a:lstStyle/>
          <a:p>
            <a:r>
              <a:rPr lang="en-US" dirty="0" smtClean="0"/>
              <a:t>An alternative scheme for dealing with i/o is the interrupt-driven method.</a:t>
            </a:r>
          </a:p>
          <a:p>
            <a:r>
              <a:rPr lang="en-US" dirty="0" smtClean="0"/>
              <a:t>The </a:t>
            </a:r>
            <a:r>
              <a:rPr lang="en-US" dirty="0"/>
              <a:t>basic interrupt mechanism works as follows. </a:t>
            </a:r>
          </a:p>
          <a:p>
            <a:r>
              <a:rPr lang="en-US" dirty="0"/>
              <a:t>The CPU hardware has a wire called the interrupt-request line that the CPU senses after executing every instruction. </a:t>
            </a:r>
          </a:p>
          <a:p>
            <a:r>
              <a:rPr lang="en-US" dirty="0"/>
              <a:t>When the CPU detects that a controller has asserted a signal on the interrupt request line, the CPU saves a small amount of state, such as the current value of the instruction pointer, and jumps to the interrupt-handler routine at a fixed address in memory. </a:t>
            </a:r>
          </a:p>
          <a:p>
            <a:r>
              <a:rPr lang="en-US" dirty="0"/>
              <a:t>The interrupt handler determines the cause of the interrupt, performs the necessary processing, and executes a return from interrupt instruction to return the CPU to the execution state prior to the interrupt. </a:t>
            </a:r>
          </a:p>
          <a:p>
            <a:r>
              <a:rPr lang="en-US" dirty="0"/>
              <a:t>We say that the device controller raises an interrupt by asserting a signal on the interrupt request line, the CPU catches the interrupt and dispatches to the interrupt handler, and the handler clears the interrupt by servicing the device.</a:t>
            </a:r>
          </a:p>
          <a:p>
            <a:endParaRPr lang="en-US" dirty="0"/>
          </a:p>
        </p:txBody>
      </p:sp>
    </p:spTree>
    <p:extLst>
      <p:ext uri="{BB962C8B-B14F-4D97-AF65-F5344CB8AC3E}">
        <p14:creationId xmlns:p14="http://schemas.microsoft.com/office/powerpoint/2010/main" val="77658446"/>
      </p:ext>
    </p:extLst>
  </p:cSld>
  <p:clrMapOvr>
    <a:masterClrMapping/>
  </p:clrMapOvr>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189E561-1734-4AD9-1799-AB329BD2B2FA}"/>
              </a:ext>
            </a:extLst>
          </p:cNvPr>
          <p:cNvSpPr>
            <a:spLocks noGrp="1"/>
          </p:cNvSpPr>
          <p:nvPr>
            <p:ph type="title"/>
          </p:nvPr>
        </p:nvSpPr>
        <p:spPr/>
        <p:txBody>
          <a:bodyPr/>
          <a:lstStyle/>
          <a:p>
            <a:r>
              <a:rPr lang="en-US" dirty="0"/>
              <a:t>Interrupt – Driven I/O Cycle</a:t>
            </a:r>
          </a:p>
        </p:txBody>
      </p:sp>
      <p:pic>
        <p:nvPicPr>
          <p:cNvPr id="4" name="object 3">
            <a:extLst>
              <a:ext uri="{FF2B5EF4-FFF2-40B4-BE49-F238E27FC236}">
                <a16:creationId xmlns:a16="http://schemas.microsoft.com/office/drawing/2014/main" xmlns="" id="{604708B9-6693-5515-A6F2-F4EB25DE088D}"/>
              </a:ext>
            </a:extLst>
          </p:cNvPr>
          <p:cNvPicPr>
            <a:picLocks noGrp="1"/>
          </p:cNvPicPr>
          <p:nvPr>
            <p:ph idx="1"/>
          </p:nvPr>
        </p:nvPicPr>
        <p:blipFill>
          <a:blip r:embed="rId2" cstate="print"/>
          <a:stretch>
            <a:fillRect/>
          </a:stretch>
        </p:blipFill>
        <p:spPr>
          <a:xfrm>
            <a:off x="2237956" y="887046"/>
            <a:ext cx="6800535" cy="5591175"/>
          </a:xfrm>
          <a:prstGeom prst="rect">
            <a:avLst/>
          </a:prstGeom>
        </p:spPr>
      </p:pic>
    </p:spTree>
    <p:extLst>
      <p:ext uri="{BB962C8B-B14F-4D97-AF65-F5344CB8AC3E}">
        <p14:creationId xmlns:p14="http://schemas.microsoft.com/office/powerpoint/2010/main" val="2028650312"/>
      </p:ext>
    </p:extLst>
  </p:cSld>
  <p:clrMapOvr>
    <a:masterClrMapping/>
  </p:clrMapOvr>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BAECB01-FF40-C34F-FEC7-0CC83FC42745}"/>
              </a:ext>
            </a:extLst>
          </p:cNvPr>
          <p:cNvSpPr>
            <a:spLocks noGrp="1"/>
          </p:cNvSpPr>
          <p:nvPr>
            <p:ph type="title"/>
          </p:nvPr>
        </p:nvSpPr>
        <p:spPr/>
        <p:txBody>
          <a:bodyPr/>
          <a:lstStyle/>
          <a:p>
            <a:r>
              <a:rPr lang="en-US" dirty="0"/>
              <a:t>Character User Interface and Graphical User Interface</a:t>
            </a:r>
          </a:p>
        </p:txBody>
      </p:sp>
      <p:sp>
        <p:nvSpPr>
          <p:cNvPr id="3" name="Content Placeholder 2">
            <a:extLst>
              <a:ext uri="{FF2B5EF4-FFF2-40B4-BE49-F238E27FC236}">
                <a16:creationId xmlns:a16="http://schemas.microsoft.com/office/drawing/2014/main" xmlns="" id="{9A2B2052-2910-291C-18D4-5DCA87494307}"/>
              </a:ext>
            </a:extLst>
          </p:cNvPr>
          <p:cNvSpPr>
            <a:spLocks noGrp="1"/>
          </p:cNvSpPr>
          <p:nvPr>
            <p:ph idx="1"/>
          </p:nvPr>
        </p:nvSpPr>
        <p:spPr/>
        <p:txBody>
          <a:bodyPr/>
          <a:lstStyle/>
          <a:p>
            <a:r>
              <a:rPr lang="en-US" dirty="0"/>
              <a:t>GUI and CUI are two types of User Interfaces. GUI stands for Graphical User Interface while CUI stands for Character User Interface. In this article we will be discussing the differences between these two interfaces and which one has advantages over the other.</a:t>
            </a:r>
          </a:p>
          <a:p>
            <a:r>
              <a:rPr lang="en-US" b="1" dirty="0"/>
              <a:t>User Interface</a:t>
            </a:r>
            <a:r>
              <a:rPr lang="en-US" dirty="0"/>
              <a:t>: User Interface comprises of everything the user can use to interact with the computer. It is basically the means by which the user and computer system can interact using input and output devices.</a:t>
            </a:r>
          </a:p>
          <a:p>
            <a:r>
              <a:rPr lang="en-US" b="1" dirty="0"/>
              <a:t>GUI</a:t>
            </a:r>
            <a:r>
              <a:rPr lang="en-US" dirty="0"/>
              <a:t>: GUI stands for Graphical User Interface. This is a type of user interface where user interacts with the computer using graphics. Graphics include icons, navigation bars, images etc. Mouse can be used while using this interface to interact with the graphics. It is a very user friendly interface and requires no expertise. </a:t>
            </a:r>
            <a:r>
              <a:rPr lang="en-US" dirty="0" err="1"/>
              <a:t>Eg</a:t>
            </a:r>
            <a:r>
              <a:rPr lang="en-US" dirty="0"/>
              <a:t>: Windows has GUI.</a:t>
            </a:r>
          </a:p>
          <a:p>
            <a:r>
              <a:rPr lang="en-US" b="1" dirty="0"/>
              <a:t>CUI</a:t>
            </a:r>
            <a:r>
              <a:rPr lang="en-US" dirty="0"/>
              <a:t>: CUI stands for Character User Interface. This is a type of user interface where user interacts with computer using only keyboard. To perform any action a command is required. CUI is precursor of GUI and was used in most primitive computers. Most modern computers use GUI and not CUI. </a:t>
            </a:r>
            <a:r>
              <a:rPr lang="en-US" dirty="0" err="1"/>
              <a:t>Eg</a:t>
            </a:r>
            <a:r>
              <a:rPr lang="en-US" dirty="0"/>
              <a:t>: MS-DOS has CUI.</a:t>
            </a:r>
          </a:p>
          <a:p>
            <a:endParaRPr lang="en-US" dirty="0"/>
          </a:p>
          <a:p>
            <a:endParaRPr lang="en-US" dirty="0"/>
          </a:p>
        </p:txBody>
      </p:sp>
    </p:spTree>
    <p:extLst>
      <p:ext uri="{BB962C8B-B14F-4D97-AF65-F5344CB8AC3E}">
        <p14:creationId xmlns:p14="http://schemas.microsoft.com/office/powerpoint/2010/main" val="3080258659"/>
      </p:ext>
    </p:extLst>
  </p:cSld>
  <p:clrMapOvr>
    <a:masterClrMapping/>
  </p:clrMapOvr>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t>Disk</a:t>
            </a:r>
            <a:endParaRPr lang="en-US" dirty="0"/>
          </a:p>
        </p:txBody>
      </p:sp>
      <p:sp>
        <p:nvSpPr>
          <p:cNvPr id="3" name="Content Placeholder 2"/>
          <p:cNvSpPr>
            <a:spLocks noGrp="1"/>
          </p:cNvSpPr>
          <p:nvPr>
            <p:ph idx="1"/>
          </p:nvPr>
        </p:nvSpPr>
        <p:spPr>
          <a:xfrm>
            <a:off x="131180" y="863444"/>
            <a:ext cx="6093774" cy="5590565"/>
          </a:xfrm>
        </p:spPr>
        <p:txBody>
          <a:bodyPr/>
          <a:lstStyle/>
          <a:p>
            <a:pPr marL="0" indent="0">
              <a:buNone/>
            </a:pPr>
            <a:r>
              <a:rPr lang="en-US" sz="2200" dirty="0"/>
              <a:t>A disk consists of several platters</a:t>
            </a:r>
          </a:p>
          <a:p>
            <a:r>
              <a:rPr lang="en-US" sz="2200" dirty="0"/>
              <a:t>Each disk platter has a flat circular shape, like a CD</a:t>
            </a:r>
          </a:p>
          <a:p>
            <a:r>
              <a:rPr lang="en-US" sz="2200" dirty="0"/>
              <a:t>The two surfaces of a platter are covered with a magnetic material</a:t>
            </a:r>
          </a:p>
          <a:p>
            <a:r>
              <a:rPr lang="en-US" sz="2200" dirty="0"/>
              <a:t>A read-write head "flies" just above each surface of every platter</a:t>
            </a:r>
          </a:p>
          <a:p>
            <a:r>
              <a:rPr lang="en-US" sz="2200" dirty="0"/>
              <a:t>The heads are attached to a disk arm that moves all the heads as a unit</a:t>
            </a:r>
          </a:p>
          <a:p>
            <a:r>
              <a:rPr lang="en-US" sz="2200" dirty="0"/>
              <a:t>The surface of a platter is logically divided into circular tracks, which are subdivided into sectors</a:t>
            </a:r>
          </a:p>
          <a:p>
            <a:r>
              <a:rPr lang="en-US" sz="2200" dirty="0"/>
              <a:t>The set of tracks that are at one arm position makes up a cylinder</a:t>
            </a:r>
          </a:p>
          <a:p>
            <a:r>
              <a:rPr lang="en-US" sz="2200" dirty="0"/>
              <a:t>There may be thousands of concentric cylinders in a disk drive, and each track may contain hundreds of sectors</a:t>
            </a:r>
          </a:p>
        </p:txBody>
      </p:sp>
      <p:pic>
        <p:nvPicPr>
          <p:cNvPr id="4" name="Picture 4" descr="Image result for hard disk internal structure"/>
          <p:cNvPicPr>
            <a:picLocks noChangeAspect="1" noChangeArrowheads="1"/>
          </p:cNvPicPr>
          <p:nvPr/>
        </p:nvPicPr>
        <p:blipFill>
          <a:blip r:embed="rId2">
            <a:extLst>
              <a:ext uri="{28A0092B-C50C-407E-A947-70E740481C1C}">
                <a14:useLocalDpi xmlns:a14="http://schemas.microsoft.com/office/drawing/2010/main" val="0"/>
              </a:ext>
            </a:extLst>
          </a:blip>
          <a:srcRect l="17191" t="21939" r="12958" b="12326"/>
          <a:stretch>
            <a:fillRect/>
          </a:stretch>
        </p:blipFill>
        <p:spPr bwMode="auto">
          <a:xfrm>
            <a:off x="6505393" y="1123949"/>
            <a:ext cx="5538970" cy="40283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9385715"/>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animEffect transition="in" filter="fade">
                                      <p:cBhvr>
                                        <p:cTn id="11" dur="500"/>
                                        <p:tgtEl>
                                          <p:spTgt spid="3">
                                            <p:txEl>
                                              <p:pRg st="0" end="0"/>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3">
                                            <p:txEl>
                                              <p:pRg st="1" end="1"/>
                                            </p:txEl>
                                          </p:spTgt>
                                        </p:tgtEl>
                                        <p:attrNameLst>
                                          <p:attrName>style.visibility</p:attrName>
                                        </p:attrNameLst>
                                      </p:cBhvr>
                                      <p:to>
                                        <p:strVal val="visible"/>
                                      </p:to>
                                    </p:set>
                                    <p:animEffect transition="in" filter="fade">
                                      <p:cBhvr>
                                        <p:cTn id="16" dur="500"/>
                                        <p:tgtEl>
                                          <p:spTgt spid="3">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500"/>
                                        <p:tgtEl>
                                          <p:spTgt spid="3">
                                            <p:txEl>
                                              <p:pRg st="2" end="2"/>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3">
                                            <p:txEl>
                                              <p:pRg st="3" end="3"/>
                                            </p:txEl>
                                          </p:spTgt>
                                        </p:tgtEl>
                                        <p:attrNameLst>
                                          <p:attrName>style.visibility</p:attrName>
                                        </p:attrNameLst>
                                      </p:cBhvr>
                                      <p:to>
                                        <p:strVal val="visible"/>
                                      </p:to>
                                    </p:set>
                                    <p:animEffect transition="in" filter="fade">
                                      <p:cBhvr>
                                        <p:cTn id="26" dur="500"/>
                                        <p:tgtEl>
                                          <p:spTgt spid="3">
                                            <p:txEl>
                                              <p:pRg st="3" end="3"/>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Effect transition="in" filter="fade">
                                      <p:cBhvr>
                                        <p:cTn id="31" dur="500"/>
                                        <p:tgtEl>
                                          <p:spTgt spid="3">
                                            <p:txEl>
                                              <p:pRg st="4" end="4"/>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3">
                                            <p:txEl>
                                              <p:pRg st="5" end="5"/>
                                            </p:txEl>
                                          </p:spTgt>
                                        </p:tgtEl>
                                        <p:attrNameLst>
                                          <p:attrName>style.visibility</p:attrName>
                                        </p:attrNameLst>
                                      </p:cBhvr>
                                      <p:to>
                                        <p:strVal val="visible"/>
                                      </p:to>
                                    </p:set>
                                    <p:animEffect transition="in" filter="fade">
                                      <p:cBhvr>
                                        <p:cTn id="36" dur="500"/>
                                        <p:tgtEl>
                                          <p:spTgt spid="3">
                                            <p:txEl>
                                              <p:pRg st="5" end="5"/>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3">
                                            <p:txEl>
                                              <p:pRg st="6" end="6"/>
                                            </p:txEl>
                                          </p:spTgt>
                                        </p:tgtEl>
                                        <p:attrNameLst>
                                          <p:attrName>style.visibility</p:attrName>
                                        </p:attrNameLst>
                                      </p:cBhvr>
                                      <p:to>
                                        <p:strVal val="visible"/>
                                      </p:to>
                                    </p:set>
                                    <p:animEffect transition="in" filter="fade">
                                      <p:cBhvr>
                                        <p:cTn id="41" dur="500"/>
                                        <p:tgtEl>
                                          <p:spTgt spid="3">
                                            <p:txEl>
                                              <p:pRg st="6" end="6"/>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nodeType="clickEffect">
                                  <p:stCondLst>
                                    <p:cond delay="0"/>
                                  </p:stCondLst>
                                  <p:childTnLst>
                                    <p:set>
                                      <p:cBhvr>
                                        <p:cTn id="45" dur="1" fill="hold">
                                          <p:stCondLst>
                                            <p:cond delay="0"/>
                                          </p:stCondLst>
                                        </p:cTn>
                                        <p:tgtEl>
                                          <p:spTgt spid="3">
                                            <p:txEl>
                                              <p:pRg st="7" end="7"/>
                                            </p:txEl>
                                          </p:spTgt>
                                        </p:tgtEl>
                                        <p:attrNameLst>
                                          <p:attrName>style.visibility</p:attrName>
                                        </p:attrNameLst>
                                      </p:cBhvr>
                                      <p:to>
                                        <p:strVal val="visible"/>
                                      </p:to>
                                    </p:set>
                                    <p:animEffect transition="in" filter="fade">
                                      <p:cBhvr>
                                        <p:cTn id="46"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t>Disk Scheduling</a:t>
            </a:r>
          </a:p>
        </p:txBody>
      </p:sp>
      <p:sp>
        <p:nvSpPr>
          <p:cNvPr id="3" name="Content Placeholder 2"/>
          <p:cNvSpPr>
            <a:spLocks noGrp="1"/>
          </p:cNvSpPr>
          <p:nvPr>
            <p:ph idx="1"/>
          </p:nvPr>
        </p:nvSpPr>
        <p:spPr/>
        <p:txBody>
          <a:bodyPr/>
          <a:lstStyle/>
          <a:p>
            <a:r>
              <a:rPr lang="en-US" dirty="0"/>
              <a:t>Disk scheduling is done by operating systems to schedule I/O requests arriving for disk.</a:t>
            </a:r>
          </a:p>
          <a:p>
            <a:r>
              <a:rPr lang="en-US" dirty="0"/>
              <a:t>Disk scheduling is also known as I/O scheduling.</a:t>
            </a:r>
          </a:p>
          <a:p>
            <a:r>
              <a:rPr lang="en-US" dirty="0"/>
              <a:t>OS is responsible to use the hardware efficiently –for the disk drive this means fast seek, latency and transmission time.</a:t>
            </a:r>
          </a:p>
          <a:p>
            <a:r>
              <a:rPr lang="en-US" dirty="0"/>
              <a:t>For most disks, the seek time dominates the other two times, so reducing the mean seek time can improve system performance substantially.</a:t>
            </a:r>
          </a:p>
          <a:p>
            <a:r>
              <a:rPr lang="en-US" b="1" dirty="0"/>
              <a:t>Disk I/O time = seek time + rotational delay + transfer time</a:t>
            </a:r>
          </a:p>
          <a:p>
            <a:r>
              <a:rPr lang="en-US" b="1" dirty="0"/>
              <a:t>Seek</a:t>
            </a:r>
            <a:r>
              <a:rPr lang="en-US" dirty="0"/>
              <a:t>: Position head over desired cylinder/track. Seek time depends on how fast the hardware moves the </a:t>
            </a:r>
            <a:r>
              <a:rPr lang="en-US" dirty="0" smtClean="0"/>
              <a:t>arm.(seek time represent time taken to reach up to desired track)</a:t>
            </a:r>
            <a:endParaRPr lang="en-US" dirty="0"/>
          </a:p>
          <a:p>
            <a:r>
              <a:rPr lang="en-US" b="1" dirty="0" smtClean="0"/>
              <a:t>Transfer </a:t>
            </a:r>
            <a:r>
              <a:rPr lang="en-US" b="1" dirty="0"/>
              <a:t>time</a:t>
            </a:r>
            <a:r>
              <a:rPr lang="en-US" dirty="0"/>
              <a:t>: time to move the bytes from disk to memory.</a:t>
            </a:r>
          </a:p>
          <a:p>
            <a:endParaRPr lang="en-US" dirty="0"/>
          </a:p>
          <a:p>
            <a:endParaRPr lang="en-US" dirty="0"/>
          </a:p>
        </p:txBody>
      </p:sp>
    </p:spTree>
    <p:extLst>
      <p:ext uri="{BB962C8B-B14F-4D97-AF65-F5344CB8AC3E}">
        <p14:creationId xmlns:p14="http://schemas.microsoft.com/office/powerpoint/2010/main" val="3301143332"/>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a:t>Disk Arm Scheduling Algorithm</a:t>
            </a:r>
          </a:p>
        </p:txBody>
      </p:sp>
      <p:sp>
        <p:nvSpPr>
          <p:cNvPr id="3" name="Content Placeholder 2"/>
          <p:cNvSpPr>
            <a:spLocks noGrp="1"/>
          </p:cNvSpPr>
          <p:nvPr>
            <p:ph idx="1"/>
          </p:nvPr>
        </p:nvSpPr>
        <p:spPr/>
        <p:txBody>
          <a:bodyPr/>
          <a:lstStyle/>
          <a:p>
            <a:r>
              <a:rPr lang="en-US" dirty="0"/>
              <a:t>Following are different types of Disk Arm Scheduling Algorithm</a:t>
            </a:r>
          </a:p>
          <a:p>
            <a:pPr marL="914400" lvl="1" indent="-457200">
              <a:buFont typeface="+mj-lt"/>
              <a:buAutoNum type="arabicPeriod"/>
            </a:pPr>
            <a:r>
              <a:rPr lang="en-US" dirty="0" smtClean="0"/>
              <a:t>FCFS </a:t>
            </a:r>
            <a:r>
              <a:rPr lang="en-US" dirty="0"/>
              <a:t>(First Come First Serve) / FIFO (First In First Out)</a:t>
            </a:r>
          </a:p>
          <a:p>
            <a:pPr marL="914400" lvl="1" indent="-457200">
              <a:buFont typeface="+mj-lt"/>
              <a:buAutoNum type="arabicPeriod"/>
            </a:pPr>
            <a:r>
              <a:rPr lang="en-US" dirty="0"/>
              <a:t>SSTF (Shorted Seek Time First)</a:t>
            </a:r>
          </a:p>
          <a:p>
            <a:pPr marL="914400" lvl="1" indent="-457200">
              <a:buFont typeface="+mj-lt"/>
              <a:buAutoNum type="arabicPeriod"/>
            </a:pPr>
            <a:r>
              <a:rPr lang="en-US" dirty="0"/>
              <a:t>SCAN</a:t>
            </a:r>
          </a:p>
          <a:p>
            <a:pPr marL="914400" lvl="1" indent="-457200">
              <a:buFont typeface="+mj-lt"/>
              <a:buAutoNum type="arabicPeriod"/>
            </a:pPr>
            <a:r>
              <a:rPr lang="en-US" dirty="0"/>
              <a:t>C-SCAN</a:t>
            </a:r>
          </a:p>
          <a:p>
            <a:pPr marL="914400" lvl="1" indent="-457200">
              <a:buFont typeface="+mj-lt"/>
              <a:buAutoNum type="arabicPeriod"/>
            </a:pPr>
            <a:r>
              <a:rPr lang="en-US" dirty="0"/>
              <a:t>LOOK (Elevator)</a:t>
            </a:r>
          </a:p>
          <a:p>
            <a:pPr marL="914400" lvl="1" indent="-457200">
              <a:buFont typeface="+mj-lt"/>
              <a:buAutoNum type="arabicPeriod"/>
            </a:pPr>
            <a:r>
              <a:rPr lang="en-US" dirty="0"/>
              <a:t>C-LOOK</a:t>
            </a:r>
          </a:p>
        </p:txBody>
      </p:sp>
    </p:spTree>
    <p:extLst>
      <p:ext uri="{BB962C8B-B14F-4D97-AF65-F5344CB8AC3E}">
        <p14:creationId xmlns:p14="http://schemas.microsoft.com/office/powerpoint/2010/main" val="3518717413"/>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6" end="6"/>
                                            </p:txEl>
                                          </p:spTgt>
                                        </p:tgtEl>
                                        <p:attrNameLst>
                                          <p:attrName>style.visibility</p:attrName>
                                        </p:attrNameLst>
                                      </p:cBhvr>
                                      <p:to>
                                        <p:strVal val="visible"/>
                                      </p:to>
                                    </p:set>
                                    <p:animEffect transition="in" filter="fade">
                                      <p:cBhvr>
                                        <p:cTn id="10" dur="500"/>
                                        <p:tgtEl>
                                          <p:spTgt spid="3">
                                            <p:txEl>
                                              <p:pRg st="6" end="6"/>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Effect transition="in" filter="fade">
                                      <p:cBhvr>
                                        <p:cTn id="13" dur="500"/>
                                        <p:tgtEl>
                                          <p:spTgt spid="3">
                                            <p:txEl>
                                              <p:pRg st="1" end="1"/>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2" end="2"/>
                                            </p:txEl>
                                          </p:spTgt>
                                        </p:tgtEl>
                                        <p:attrNameLst>
                                          <p:attrName>style.visibility</p:attrName>
                                        </p:attrNameLst>
                                      </p:cBhvr>
                                      <p:to>
                                        <p:strVal val="visible"/>
                                      </p:to>
                                    </p:set>
                                    <p:animEffect transition="in" filter="fade">
                                      <p:cBhvr>
                                        <p:cTn id="16" dur="500"/>
                                        <p:tgtEl>
                                          <p:spTgt spid="3">
                                            <p:txEl>
                                              <p:pRg st="2" end="2"/>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fade">
                                      <p:cBhvr>
                                        <p:cTn id="19" dur="500"/>
                                        <p:tgtEl>
                                          <p:spTgt spid="3">
                                            <p:txEl>
                                              <p:pRg st="3" end="3"/>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animEffect transition="in" filter="fade">
                                      <p:cBhvr>
                                        <p:cTn id="25"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Example for Disk Arm Scheduling Algorithm</a:t>
            </a:r>
          </a:p>
        </p:txBody>
      </p:sp>
      <p:sp>
        <p:nvSpPr>
          <p:cNvPr id="3" name="Content Placeholder 2"/>
          <p:cNvSpPr>
            <a:spLocks noGrp="1"/>
          </p:cNvSpPr>
          <p:nvPr>
            <p:ph idx="1"/>
          </p:nvPr>
        </p:nvSpPr>
        <p:spPr/>
        <p:txBody>
          <a:bodyPr/>
          <a:lstStyle/>
          <a:p>
            <a:r>
              <a:rPr lang="en-US"/>
              <a:t>Consider an imaginary disk with 51 cylinders. A request comes in to read a block on cylinder 11. While the seek to cylinder 11 is in progress, new requests come in for cylinders 1, 36, 16, 34, 9, and 12, in that order.</a:t>
            </a:r>
          </a:p>
          <a:p>
            <a:r>
              <a:rPr lang="en-US"/>
              <a:t>Starting from the current head position, what is the total distance (in cylinders) that the disk arm moves to satisfy all the pending requests, for each of the following disk scheduling Algorithms?</a:t>
            </a:r>
          </a:p>
        </p:txBody>
      </p:sp>
    </p:spTree>
    <p:extLst>
      <p:ext uri="{BB962C8B-B14F-4D97-AF65-F5344CB8AC3E}">
        <p14:creationId xmlns:p14="http://schemas.microsoft.com/office/powerpoint/2010/main" val="3924010008"/>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FCSC (First Come First Serve) / FIFO (First In First Out)</a:t>
            </a:r>
          </a:p>
        </p:txBody>
      </p:sp>
      <p:sp>
        <p:nvSpPr>
          <p:cNvPr id="3" name="Content Placeholder 2"/>
          <p:cNvSpPr>
            <a:spLocks noGrp="1"/>
          </p:cNvSpPr>
          <p:nvPr>
            <p:ph idx="1"/>
          </p:nvPr>
        </p:nvSpPr>
        <p:spPr/>
        <p:txBody>
          <a:bodyPr/>
          <a:lstStyle/>
          <a:p>
            <a:r>
              <a:rPr lang="en-US"/>
              <a:t>Here </a:t>
            </a:r>
            <a:r>
              <a:rPr lang="en-US" b="1">
                <a:solidFill>
                  <a:schemeClr val="accent6"/>
                </a:solidFill>
              </a:rPr>
              <a:t>requests are served in the order of their arrival</a:t>
            </a:r>
            <a:r>
              <a:rPr lang="en-US"/>
              <a:t>.</a:t>
            </a:r>
          </a:p>
          <a:p>
            <a:endParaRPr lang="en-US"/>
          </a:p>
          <a:p>
            <a:endParaRPr lang="en-US"/>
          </a:p>
          <a:p>
            <a:endParaRPr lang="en-US"/>
          </a:p>
          <a:p>
            <a:endParaRPr lang="en-US"/>
          </a:p>
          <a:p>
            <a:endParaRPr lang="en-US"/>
          </a:p>
          <a:p>
            <a:endParaRPr lang="en-US"/>
          </a:p>
          <a:p>
            <a:endParaRPr lang="en-US"/>
          </a:p>
          <a:p>
            <a:endParaRPr lang="en-US"/>
          </a:p>
          <a:p>
            <a:r>
              <a:rPr lang="en-US"/>
              <a:t>Disk movement will be 11, 1, 36, 16, 34, 9 and 12.</a:t>
            </a:r>
          </a:p>
          <a:p>
            <a:r>
              <a:rPr lang="en-US"/>
              <a:t>Total cylinder movement: (11-1) + (36-1) + (36-16) + (34-16) + (34-9) + (12-9) = 111</a:t>
            </a:r>
          </a:p>
        </p:txBody>
      </p:sp>
      <p:graphicFrame>
        <p:nvGraphicFramePr>
          <p:cNvPr id="4" name="Table 3"/>
          <p:cNvGraphicFramePr>
            <a:graphicFrameLocks noGrp="1"/>
          </p:cNvGraphicFramePr>
          <p:nvPr>
            <p:extLst>
              <p:ext uri="{D42A27DB-BD31-4B8C-83A1-F6EECF244321}">
                <p14:modId xmlns:p14="http://schemas.microsoft.com/office/powerpoint/2010/main" val="2878989991"/>
              </p:ext>
            </p:extLst>
          </p:nvPr>
        </p:nvGraphicFramePr>
        <p:xfrm>
          <a:off x="609597" y="1833880"/>
          <a:ext cx="7010402" cy="2966720"/>
        </p:xfrm>
        <a:graphic>
          <a:graphicData uri="http://schemas.openxmlformats.org/drawingml/2006/table">
            <a:tbl>
              <a:tblPr firstRow="1" bandRow="1">
                <a:tableStyleId>{5940675A-B579-460E-94D1-54222C63F5DA}</a:tableStyleId>
              </a:tblPr>
              <a:tblGrid>
                <a:gridCol w="457203">
                  <a:extLst>
                    <a:ext uri="{9D8B030D-6E8A-4147-A177-3AD203B41FA5}">
                      <a16:colId xmlns:a16="http://schemas.microsoft.com/office/drawing/2014/main" xmlns="" val="20000"/>
                    </a:ext>
                  </a:extLst>
                </a:gridCol>
                <a:gridCol w="990600">
                  <a:extLst>
                    <a:ext uri="{9D8B030D-6E8A-4147-A177-3AD203B41FA5}">
                      <a16:colId xmlns:a16="http://schemas.microsoft.com/office/drawing/2014/main" xmlns="" val="20001"/>
                    </a:ext>
                  </a:extLst>
                </a:gridCol>
                <a:gridCol w="838200">
                  <a:extLst>
                    <a:ext uri="{9D8B030D-6E8A-4147-A177-3AD203B41FA5}">
                      <a16:colId xmlns:a16="http://schemas.microsoft.com/office/drawing/2014/main" xmlns="" val="20002"/>
                    </a:ext>
                  </a:extLst>
                </a:gridCol>
                <a:gridCol w="762000">
                  <a:extLst>
                    <a:ext uri="{9D8B030D-6E8A-4147-A177-3AD203B41FA5}">
                      <a16:colId xmlns:a16="http://schemas.microsoft.com/office/drawing/2014/main" xmlns="" val="20003"/>
                    </a:ext>
                  </a:extLst>
                </a:gridCol>
                <a:gridCol w="1959427">
                  <a:extLst>
                    <a:ext uri="{9D8B030D-6E8A-4147-A177-3AD203B41FA5}">
                      <a16:colId xmlns:a16="http://schemas.microsoft.com/office/drawing/2014/main" xmlns="" val="20004"/>
                    </a:ext>
                  </a:extLst>
                </a:gridCol>
                <a:gridCol w="555173">
                  <a:extLst>
                    <a:ext uri="{9D8B030D-6E8A-4147-A177-3AD203B41FA5}">
                      <a16:colId xmlns:a16="http://schemas.microsoft.com/office/drawing/2014/main" xmlns="" val="20005"/>
                    </a:ext>
                  </a:extLst>
                </a:gridCol>
                <a:gridCol w="1447799">
                  <a:extLst>
                    <a:ext uri="{9D8B030D-6E8A-4147-A177-3AD203B41FA5}">
                      <a16:colId xmlns:a16="http://schemas.microsoft.com/office/drawing/2014/main" xmlns="" val="20006"/>
                    </a:ext>
                  </a:extLst>
                </a:gridCol>
              </a:tblGrid>
              <a:tr h="2966720">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extLst>
                  <a:ext uri="{0D108BD9-81ED-4DB2-BD59-A6C34878D82A}">
                    <a16:rowId xmlns:a16="http://schemas.microsoft.com/office/drawing/2014/main" xmlns="" val="10000"/>
                  </a:ext>
                </a:extLst>
              </a:tr>
            </a:tbl>
          </a:graphicData>
        </a:graphic>
      </p:graphicFrame>
      <p:sp>
        <p:nvSpPr>
          <p:cNvPr id="5" name="TextBox 4"/>
          <p:cNvSpPr txBox="1"/>
          <p:nvPr/>
        </p:nvSpPr>
        <p:spPr>
          <a:xfrm>
            <a:off x="547435" y="1433770"/>
            <a:ext cx="304800" cy="400110"/>
          </a:xfrm>
          <a:prstGeom prst="rect">
            <a:avLst/>
          </a:prstGeom>
          <a:noFill/>
        </p:spPr>
        <p:txBody>
          <a:bodyPr wrap="square" rtlCol="0">
            <a:spAutoFit/>
          </a:bodyPr>
          <a:lstStyle/>
          <a:p>
            <a:pPr algn="ctr"/>
            <a:r>
              <a:rPr lang="en-US" sz="2000"/>
              <a:t>0</a:t>
            </a:r>
            <a:endParaRPr lang="en-IN"/>
          </a:p>
        </p:txBody>
      </p:sp>
      <p:sp>
        <p:nvSpPr>
          <p:cNvPr id="6" name="TextBox 5"/>
          <p:cNvSpPr txBox="1"/>
          <p:nvPr/>
        </p:nvSpPr>
        <p:spPr>
          <a:xfrm>
            <a:off x="914400" y="1447800"/>
            <a:ext cx="304800" cy="400110"/>
          </a:xfrm>
          <a:prstGeom prst="rect">
            <a:avLst/>
          </a:prstGeom>
          <a:noFill/>
        </p:spPr>
        <p:txBody>
          <a:bodyPr wrap="square" rtlCol="0">
            <a:spAutoFit/>
          </a:bodyPr>
          <a:lstStyle/>
          <a:p>
            <a:pPr algn="ctr"/>
            <a:r>
              <a:rPr lang="en-US" sz="2000"/>
              <a:t>1</a:t>
            </a:r>
            <a:endParaRPr lang="en-IN"/>
          </a:p>
        </p:txBody>
      </p:sp>
      <p:sp>
        <p:nvSpPr>
          <p:cNvPr id="7" name="TextBox 6"/>
          <p:cNvSpPr txBox="1"/>
          <p:nvPr/>
        </p:nvSpPr>
        <p:spPr>
          <a:xfrm>
            <a:off x="1905000" y="1439315"/>
            <a:ext cx="304800" cy="400110"/>
          </a:xfrm>
          <a:prstGeom prst="rect">
            <a:avLst/>
          </a:prstGeom>
          <a:noFill/>
        </p:spPr>
        <p:txBody>
          <a:bodyPr wrap="square" rtlCol="0">
            <a:spAutoFit/>
          </a:bodyPr>
          <a:lstStyle/>
          <a:p>
            <a:pPr algn="ctr"/>
            <a:r>
              <a:rPr lang="en-US" sz="2000"/>
              <a:t>9</a:t>
            </a:r>
            <a:endParaRPr lang="en-IN"/>
          </a:p>
        </p:txBody>
      </p:sp>
      <p:sp>
        <p:nvSpPr>
          <p:cNvPr id="8" name="TextBox 7"/>
          <p:cNvSpPr txBox="1"/>
          <p:nvPr/>
        </p:nvSpPr>
        <p:spPr>
          <a:xfrm>
            <a:off x="2670372" y="1433770"/>
            <a:ext cx="468503" cy="400110"/>
          </a:xfrm>
          <a:prstGeom prst="rect">
            <a:avLst/>
          </a:prstGeom>
          <a:noFill/>
        </p:spPr>
        <p:txBody>
          <a:bodyPr wrap="square" rtlCol="0">
            <a:spAutoFit/>
          </a:bodyPr>
          <a:lstStyle/>
          <a:p>
            <a:pPr algn="ctr"/>
            <a:r>
              <a:rPr lang="en-US" sz="2000"/>
              <a:t>12</a:t>
            </a:r>
            <a:endParaRPr lang="en-IN"/>
          </a:p>
        </p:txBody>
      </p:sp>
      <p:sp>
        <p:nvSpPr>
          <p:cNvPr id="9" name="TextBox 8"/>
          <p:cNvSpPr txBox="1"/>
          <p:nvPr/>
        </p:nvSpPr>
        <p:spPr>
          <a:xfrm>
            <a:off x="3412955" y="1433770"/>
            <a:ext cx="502687" cy="400110"/>
          </a:xfrm>
          <a:prstGeom prst="rect">
            <a:avLst/>
          </a:prstGeom>
          <a:noFill/>
        </p:spPr>
        <p:txBody>
          <a:bodyPr wrap="square" rtlCol="0">
            <a:spAutoFit/>
          </a:bodyPr>
          <a:lstStyle/>
          <a:p>
            <a:pPr algn="ctr"/>
            <a:r>
              <a:rPr lang="en-US" sz="2000"/>
              <a:t>16</a:t>
            </a:r>
            <a:endParaRPr lang="en-IN"/>
          </a:p>
        </p:txBody>
      </p:sp>
      <p:sp>
        <p:nvSpPr>
          <p:cNvPr id="10" name="TextBox 9"/>
          <p:cNvSpPr txBox="1"/>
          <p:nvPr/>
        </p:nvSpPr>
        <p:spPr>
          <a:xfrm>
            <a:off x="5378116" y="1447800"/>
            <a:ext cx="485273" cy="400110"/>
          </a:xfrm>
          <a:prstGeom prst="rect">
            <a:avLst/>
          </a:prstGeom>
          <a:noFill/>
        </p:spPr>
        <p:txBody>
          <a:bodyPr wrap="square" rtlCol="0">
            <a:spAutoFit/>
          </a:bodyPr>
          <a:lstStyle/>
          <a:p>
            <a:pPr algn="ctr"/>
            <a:r>
              <a:rPr lang="en-US" sz="2000"/>
              <a:t>34</a:t>
            </a:r>
            <a:endParaRPr lang="en-IN"/>
          </a:p>
        </p:txBody>
      </p:sp>
      <p:sp>
        <p:nvSpPr>
          <p:cNvPr id="11" name="TextBox 10"/>
          <p:cNvSpPr txBox="1"/>
          <p:nvPr/>
        </p:nvSpPr>
        <p:spPr>
          <a:xfrm>
            <a:off x="5964654" y="1440785"/>
            <a:ext cx="448178" cy="400110"/>
          </a:xfrm>
          <a:prstGeom prst="rect">
            <a:avLst/>
          </a:prstGeom>
          <a:noFill/>
        </p:spPr>
        <p:txBody>
          <a:bodyPr wrap="square" rtlCol="0">
            <a:spAutoFit/>
          </a:bodyPr>
          <a:lstStyle/>
          <a:p>
            <a:pPr algn="ctr"/>
            <a:r>
              <a:rPr lang="en-US" sz="2000"/>
              <a:t>36</a:t>
            </a:r>
            <a:endParaRPr lang="en-IN"/>
          </a:p>
        </p:txBody>
      </p:sp>
      <p:sp>
        <p:nvSpPr>
          <p:cNvPr id="12" name="TextBox 11"/>
          <p:cNvSpPr txBox="1"/>
          <p:nvPr/>
        </p:nvSpPr>
        <p:spPr>
          <a:xfrm>
            <a:off x="7325863" y="1440785"/>
            <a:ext cx="568216" cy="400110"/>
          </a:xfrm>
          <a:prstGeom prst="rect">
            <a:avLst/>
          </a:prstGeom>
          <a:noFill/>
        </p:spPr>
        <p:txBody>
          <a:bodyPr wrap="square" rtlCol="0">
            <a:spAutoFit/>
          </a:bodyPr>
          <a:lstStyle/>
          <a:p>
            <a:pPr algn="ctr"/>
            <a:r>
              <a:rPr lang="en-US" sz="2000"/>
              <a:t>50</a:t>
            </a:r>
            <a:endParaRPr lang="en-IN"/>
          </a:p>
        </p:txBody>
      </p:sp>
      <p:cxnSp>
        <p:nvCxnSpPr>
          <p:cNvPr id="13" name="Straight Connector 12"/>
          <p:cNvCxnSpPr/>
          <p:nvPr/>
        </p:nvCxnSpPr>
        <p:spPr>
          <a:xfrm flipV="1">
            <a:off x="1066800" y="2197768"/>
            <a:ext cx="1403684" cy="393032"/>
          </a:xfrm>
          <a:prstGeom prst="line">
            <a:avLst/>
          </a:prstGeom>
        </p:spPr>
        <p:style>
          <a:lnRef idx="3">
            <a:schemeClr val="dk1"/>
          </a:lnRef>
          <a:fillRef idx="0">
            <a:schemeClr val="dk1"/>
          </a:fillRef>
          <a:effectRef idx="2">
            <a:schemeClr val="dk1"/>
          </a:effectRef>
          <a:fontRef idx="minor">
            <a:schemeClr val="tx1"/>
          </a:fontRef>
        </p:style>
      </p:cxnSp>
      <p:cxnSp>
        <p:nvCxnSpPr>
          <p:cNvPr id="14" name="Straight Connector 13"/>
          <p:cNvCxnSpPr/>
          <p:nvPr/>
        </p:nvCxnSpPr>
        <p:spPr>
          <a:xfrm>
            <a:off x="1066800" y="2590800"/>
            <a:ext cx="5105400" cy="381000"/>
          </a:xfrm>
          <a:prstGeom prst="line">
            <a:avLst/>
          </a:prstGeom>
        </p:spPr>
        <p:style>
          <a:lnRef idx="3">
            <a:schemeClr val="dk1"/>
          </a:lnRef>
          <a:fillRef idx="0">
            <a:schemeClr val="dk1"/>
          </a:fillRef>
          <a:effectRef idx="2">
            <a:schemeClr val="dk1"/>
          </a:effectRef>
          <a:fontRef idx="minor">
            <a:schemeClr val="tx1"/>
          </a:fontRef>
        </p:style>
      </p:cxnSp>
      <p:cxnSp>
        <p:nvCxnSpPr>
          <p:cNvPr id="15" name="Straight Connector 14"/>
          <p:cNvCxnSpPr/>
          <p:nvPr/>
        </p:nvCxnSpPr>
        <p:spPr>
          <a:xfrm flipV="1">
            <a:off x="3664298" y="2971800"/>
            <a:ext cx="2507902" cy="345440"/>
          </a:xfrm>
          <a:prstGeom prst="line">
            <a:avLst/>
          </a:prstGeom>
        </p:spPr>
        <p:style>
          <a:lnRef idx="3">
            <a:schemeClr val="dk1"/>
          </a:lnRef>
          <a:fillRef idx="0">
            <a:schemeClr val="dk1"/>
          </a:fillRef>
          <a:effectRef idx="2">
            <a:schemeClr val="dk1"/>
          </a:effectRef>
          <a:fontRef idx="minor">
            <a:schemeClr val="tx1"/>
          </a:fontRef>
        </p:style>
      </p:cxnSp>
      <p:cxnSp>
        <p:nvCxnSpPr>
          <p:cNvPr id="16" name="Straight Connector 15"/>
          <p:cNvCxnSpPr/>
          <p:nvPr/>
        </p:nvCxnSpPr>
        <p:spPr>
          <a:xfrm>
            <a:off x="3664298" y="3317240"/>
            <a:ext cx="1956454" cy="381000"/>
          </a:xfrm>
          <a:prstGeom prst="line">
            <a:avLst/>
          </a:prstGeom>
        </p:spPr>
        <p:style>
          <a:lnRef idx="3">
            <a:schemeClr val="dk1"/>
          </a:lnRef>
          <a:fillRef idx="0">
            <a:schemeClr val="dk1"/>
          </a:fillRef>
          <a:effectRef idx="2">
            <a:schemeClr val="dk1"/>
          </a:effectRef>
          <a:fontRef idx="minor">
            <a:schemeClr val="tx1"/>
          </a:fontRef>
        </p:style>
      </p:cxnSp>
      <p:cxnSp>
        <p:nvCxnSpPr>
          <p:cNvPr id="17" name="Straight Connector 16"/>
          <p:cNvCxnSpPr/>
          <p:nvPr/>
        </p:nvCxnSpPr>
        <p:spPr>
          <a:xfrm flipV="1">
            <a:off x="2057400" y="3724105"/>
            <a:ext cx="3562691" cy="319575"/>
          </a:xfrm>
          <a:prstGeom prst="line">
            <a:avLst/>
          </a:prstGeom>
        </p:spPr>
        <p:style>
          <a:lnRef idx="3">
            <a:schemeClr val="dk1"/>
          </a:lnRef>
          <a:fillRef idx="0">
            <a:schemeClr val="dk1"/>
          </a:fillRef>
          <a:effectRef idx="2">
            <a:schemeClr val="dk1"/>
          </a:effectRef>
          <a:fontRef idx="minor">
            <a:schemeClr val="tx1"/>
          </a:fontRef>
        </p:style>
      </p:cxnSp>
      <p:cxnSp>
        <p:nvCxnSpPr>
          <p:cNvPr id="18" name="Straight Connector 17"/>
          <p:cNvCxnSpPr/>
          <p:nvPr/>
        </p:nvCxnSpPr>
        <p:spPr>
          <a:xfrm>
            <a:off x="2057400" y="4050632"/>
            <a:ext cx="847223" cy="379128"/>
          </a:xfrm>
          <a:prstGeom prst="line">
            <a:avLst/>
          </a:prstGeom>
        </p:spPr>
        <p:style>
          <a:lnRef idx="3">
            <a:schemeClr val="dk1"/>
          </a:lnRef>
          <a:fillRef idx="0">
            <a:schemeClr val="dk1"/>
          </a:fillRef>
          <a:effectRef idx="2">
            <a:schemeClr val="dk1"/>
          </a:effectRef>
          <a:fontRef idx="minor">
            <a:schemeClr val="tx1"/>
          </a:fontRef>
        </p:style>
      </p:cxnSp>
      <p:sp>
        <p:nvSpPr>
          <p:cNvPr id="19" name="TextBox 18"/>
          <p:cNvSpPr txBox="1"/>
          <p:nvPr/>
        </p:nvSpPr>
        <p:spPr>
          <a:xfrm>
            <a:off x="2265672" y="1826802"/>
            <a:ext cx="468503" cy="400110"/>
          </a:xfrm>
          <a:prstGeom prst="rect">
            <a:avLst/>
          </a:prstGeom>
          <a:noFill/>
        </p:spPr>
        <p:txBody>
          <a:bodyPr wrap="square" rtlCol="0">
            <a:spAutoFit/>
          </a:bodyPr>
          <a:lstStyle/>
          <a:p>
            <a:pPr algn="ctr"/>
            <a:r>
              <a:rPr lang="en-US" sz="2000"/>
              <a:t>11</a:t>
            </a:r>
            <a:endParaRPr lang="en-IN"/>
          </a:p>
        </p:txBody>
      </p:sp>
      <p:sp>
        <p:nvSpPr>
          <p:cNvPr id="20" name="TextBox 19"/>
          <p:cNvSpPr txBox="1"/>
          <p:nvPr/>
        </p:nvSpPr>
        <p:spPr>
          <a:xfrm>
            <a:off x="762000" y="2362200"/>
            <a:ext cx="304800" cy="400110"/>
          </a:xfrm>
          <a:prstGeom prst="rect">
            <a:avLst/>
          </a:prstGeom>
          <a:noFill/>
        </p:spPr>
        <p:txBody>
          <a:bodyPr wrap="square" rtlCol="0">
            <a:spAutoFit/>
          </a:bodyPr>
          <a:lstStyle/>
          <a:p>
            <a:pPr algn="ctr"/>
            <a:r>
              <a:rPr lang="en-US" sz="2000"/>
              <a:t>1</a:t>
            </a:r>
            <a:endParaRPr lang="en-IN"/>
          </a:p>
        </p:txBody>
      </p:sp>
      <p:sp>
        <p:nvSpPr>
          <p:cNvPr id="21" name="TextBox 20"/>
          <p:cNvSpPr txBox="1"/>
          <p:nvPr/>
        </p:nvSpPr>
        <p:spPr>
          <a:xfrm>
            <a:off x="5625660" y="3475425"/>
            <a:ext cx="485273" cy="400110"/>
          </a:xfrm>
          <a:prstGeom prst="rect">
            <a:avLst/>
          </a:prstGeom>
          <a:noFill/>
        </p:spPr>
        <p:txBody>
          <a:bodyPr wrap="square" rtlCol="0">
            <a:spAutoFit/>
          </a:bodyPr>
          <a:lstStyle/>
          <a:p>
            <a:pPr algn="ctr"/>
            <a:r>
              <a:rPr lang="en-US" sz="2000"/>
              <a:t>34</a:t>
            </a:r>
            <a:endParaRPr lang="en-IN"/>
          </a:p>
        </p:txBody>
      </p:sp>
      <p:sp>
        <p:nvSpPr>
          <p:cNvPr id="22" name="TextBox 21"/>
          <p:cNvSpPr txBox="1"/>
          <p:nvPr/>
        </p:nvSpPr>
        <p:spPr>
          <a:xfrm>
            <a:off x="6180668" y="2743200"/>
            <a:ext cx="448178" cy="400110"/>
          </a:xfrm>
          <a:prstGeom prst="rect">
            <a:avLst/>
          </a:prstGeom>
          <a:noFill/>
        </p:spPr>
        <p:txBody>
          <a:bodyPr wrap="square" rtlCol="0">
            <a:spAutoFit/>
          </a:bodyPr>
          <a:lstStyle/>
          <a:p>
            <a:pPr algn="ctr"/>
            <a:r>
              <a:rPr lang="en-US" sz="2000"/>
              <a:t>36</a:t>
            </a:r>
            <a:endParaRPr lang="en-IN"/>
          </a:p>
        </p:txBody>
      </p:sp>
      <p:sp>
        <p:nvSpPr>
          <p:cNvPr id="23" name="TextBox 22"/>
          <p:cNvSpPr txBox="1"/>
          <p:nvPr/>
        </p:nvSpPr>
        <p:spPr>
          <a:xfrm>
            <a:off x="1747342" y="3840816"/>
            <a:ext cx="304800" cy="400110"/>
          </a:xfrm>
          <a:prstGeom prst="rect">
            <a:avLst/>
          </a:prstGeom>
          <a:noFill/>
        </p:spPr>
        <p:txBody>
          <a:bodyPr wrap="square" rtlCol="0">
            <a:spAutoFit/>
          </a:bodyPr>
          <a:lstStyle/>
          <a:p>
            <a:pPr algn="ctr"/>
            <a:r>
              <a:rPr lang="en-US" sz="2000"/>
              <a:t>9</a:t>
            </a:r>
            <a:endParaRPr lang="en-IN"/>
          </a:p>
        </p:txBody>
      </p:sp>
      <p:sp>
        <p:nvSpPr>
          <p:cNvPr id="24" name="TextBox 23"/>
          <p:cNvSpPr txBox="1"/>
          <p:nvPr/>
        </p:nvSpPr>
        <p:spPr>
          <a:xfrm>
            <a:off x="2901634" y="4223256"/>
            <a:ext cx="468503" cy="400110"/>
          </a:xfrm>
          <a:prstGeom prst="rect">
            <a:avLst/>
          </a:prstGeom>
          <a:noFill/>
        </p:spPr>
        <p:txBody>
          <a:bodyPr wrap="square" rtlCol="0">
            <a:spAutoFit/>
          </a:bodyPr>
          <a:lstStyle/>
          <a:p>
            <a:pPr algn="ctr"/>
            <a:r>
              <a:rPr lang="en-US" sz="2000"/>
              <a:t>12</a:t>
            </a:r>
            <a:endParaRPr lang="en-IN"/>
          </a:p>
        </p:txBody>
      </p:sp>
      <p:sp>
        <p:nvSpPr>
          <p:cNvPr id="25" name="TextBox 24"/>
          <p:cNvSpPr txBox="1"/>
          <p:nvPr/>
        </p:nvSpPr>
        <p:spPr>
          <a:xfrm>
            <a:off x="3139685" y="3099545"/>
            <a:ext cx="502687" cy="400110"/>
          </a:xfrm>
          <a:prstGeom prst="rect">
            <a:avLst/>
          </a:prstGeom>
          <a:noFill/>
        </p:spPr>
        <p:txBody>
          <a:bodyPr wrap="square" rtlCol="0">
            <a:spAutoFit/>
          </a:bodyPr>
          <a:lstStyle/>
          <a:p>
            <a:pPr algn="ctr"/>
            <a:r>
              <a:rPr lang="en-US" sz="2000"/>
              <a:t>16</a:t>
            </a:r>
            <a:endParaRPr lang="en-IN"/>
          </a:p>
        </p:txBody>
      </p:sp>
      <p:sp>
        <p:nvSpPr>
          <p:cNvPr id="26" name="TextBox 25"/>
          <p:cNvSpPr txBox="1"/>
          <p:nvPr/>
        </p:nvSpPr>
        <p:spPr>
          <a:xfrm>
            <a:off x="8175139" y="1847910"/>
            <a:ext cx="472604" cy="1754326"/>
          </a:xfrm>
          <a:prstGeom prst="rect">
            <a:avLst/>
          </a:prstGeom>
          <a:ln w="28575">
            <a:solidFill>
              <a:schemeClr val="accent1"/>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r>
              <a:rPr lang="en-IN"/>
              <a:t>1, 36, 16, 34, 9, 12</a:t>
            </a:r>
            <a:endParaRPr lang="en-US"/>
          </a:p>
        </p:txBody>
      </p:sp>
    </p:spTree>
    <p:extLst>
      <p:ext uri="{BB962C8B-B14F-4D97-AF65-F5344CB8AC3E}">
        <p14:creationId xmlns:p14="http://schemas.microsoft.com/office/powerpoint/2010/main" val="899233538"/>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26"/>
                                        </p:tgtEl>
                                        <p:attrNameLst>
                                          <p:attrName>style.visibility</p:attrName>
                                        </p:attrNameLst>
                                      </p:cBhvr>
                                      <p:to>
                                        <p:strVal val="visible"/>
                                      </p:to>
                                    </p:set>
                                  </p:childTnLst>
                                </p:cTn>
                              </p:par>
                            </p:childTnLst>
                          </p:cTn>
                        </p:par>
                      </p:childTnLst>
                    </p:cTn>
                  </p:par>
                  <p:par>
                    <p:cTn id="12" fill="hold" nodeType="clickPar">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4"/>
                                        </p:tgtEl>
                                        <p:attrNameLst>
                                          <p:attrName>style.visibility</p:attrName>
                                        </p:attrNameLst>
                                      </p:cBhvr>
                                      <p:to>
                                        <p:strVal val="visible"/>
                                      </p:to>
                                    </p:set>
                                  </p:childTnLst>
                                </p:cTn>
                              </p:par>
                              <p:par>
                                <p:cTn id="16" presetID="1" presetClass="entr" presetSubtype="0" fill="hold" grpId="0" nodeType="withEffect">
                                  <p:stCondLst>
                                    <p:cond delay="0"/>
                                  </p:stCondLst>
                                  <p:childTnLst>
                                    <p:set>
                                      <p:cBhvr>
                                        <p:cTn id="17" dur="1" fill="hold">
                                          <p:stCondLst>
                                            <p:cond delay="0"/>
                                          </p:stCondLst>
                                        </p:cTn>
                                        <p:tgtEl>
                                          <p:spTgt spid="5"/>
                                        </p:tgtEl>
                                        <p:attrNameLst>
                                          <p:attrName>style.visibility</p:attrName>
                                        </p:attrNameLst>
                                      </p:cBhvr>
                                      <p:to>
                                        <p:strVal val="visible"/>
                                      </p:to>
                                    </p:set>
                                  </p:childTnLst>
                                </p:cTn>
                              </p:par>
                              <p:par>
                                <p:cTn id="18" presetID="1" presetClass="entr" presetSubtype="0" fill="hold" grpId="0" nodeType="withEffect">
                                  <p:stCondLst>
                                    <p:cond delay="0"/>
                                  </p:stCondLst>
                                  <p:childTnLst>
                                    <p:set>
                                      <p:cBhvr>
                                        <p:cTn id="19" dur="1" fill="hold">
                                          <p:stCondLst>
                                            <p:cond delay="0"/>
                                          </p:stCondLst>
                                        </p:cTn>
                                        <p:tgtEl>
                                          <p:spTgt spid="6"/>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7"/>
                                        </p:tgtEl>
                                        <p:attrNameLst>
                                          <p:attrName>style.visibility</p:attrName>
                                        </p:attrNameLst>
                                      </p:cBhvr>
                                      <p:to>
                                        <p:strVal val="visible"/>
                                      </p:to>
                                    </p:set>
                                  </p:childTnLst>
                                </p:cTn>
                              </p:par>
                              <p:par>
                                <p:cTn id="22" presetID="1" presetClass="entr" presetSubtype="0" fill="hold" grpId="0" nodeType="withEffect">
                                  <p:stCondLst>
                                    <p:cond delay="0"/>
                                  </p:stCondLst>
                                  <p:childTnLst>
                                    <p:set>
                                      <p:cBhvr>
                                        <p:cTn id="23" dur="1" fill="hold">
                                          <p:stCondLst>
                                            <p:cond delay="0"/>
                                          </p:stCondLst>
                                        </p:cTn>
                                        <p:tgtEl>
                                          <p:spTgt spid="8"/>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9"/>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10"/>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11"/>
                                        </p:tgtEl>
                                        <p:attrNameLst>
                                          <p:attrName>style.visibility</p:attrName>
                                        </p:attrNameLst>
                                      </p:cBhvr>
                                      <p:to>
                                        <p:strVal val="visible"/>
                                      </p:to>
                                    </p:set>
                                  </p:childTnLst>
                                </p:cTn>
                              </p:par>
                              <p:par>
                                <p:cTn id="30" presetID="1" presetClass="entr" presetSubtype="0" fill="hold" grpId="0" nodeType="withEffect">
                                  <p:stCondLst>
                                    <p:cond delay="0"/>
                                  </p:stCondLst>
                                  <p:childTnLst>
                                    <p:set>
                                      <p:cBhvr>
                                        <p:cTn id="31" dur="1" fill="hold">
                                          <p:stCondLst>
                                            <p:cond delay="0"/>
                                          </p:stCondLst>
                                        </p:cTn>
                                        <p:tgtEl>
                                          <p:spTgt spid="12"/>
                                        </p:tgtEl>
                                        <p:attrNameLst>
                                          <p:attrName>style.visibility</p:attrName>
                                        </p:attrNameLst>
                                      </p:cBhvr>
                                      <p:to>
                                        <p:strVal val="visible"/>
                                      </p:to>
                                    </p:set>
                                  </p:childTnLst>
                                </p:cTn>
                              </p:par>
                            </p:childTnLst>
                          </p:cTn>
                        </p:par>
                      </p:childTnLst>
                    </p:cTn>
                  </p:par>
                  <p:par>
                    <p:cTn id="32" fill="hold" nodeType="clickPar">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19"/>
                                        </p:tgtEl>
                                        <p:attrNameLst>
                                          <p:attrName>style.visibility</p:attrName>
                                        </p:attrNameLst>
                                      </p:cBhvr>
                                      <p:to>
                                        <p:strVal val="visible"/>
                                      </p:to>
                                    </p:set>
                                  </p:childTnLst>
                                </p:cTn>
                              </p:par>
                            </p:childTnLst>
                          </p:cTn>
                        </p:par>
                      </p:childTnLst>
                    </p:cTn>
                  </p:par>
                  <p:par>
                    <p:cTn id="36" fill="hold" nodeType="clickPar">
                      <p:stCondLst>
                        <p:cond delay="indefinite"/>
                      </p:stCondLst>
                      <p:childTnLst>
                        <p:par>
                          <p:cTn id="37" fill="hold">
                            <p:stCondLst>
                              <p:cond delay="0"/>
                            </p:stCondLst>
                            <p:childTnLst>
                              <p:par>
                                <p:cTn id="38" presetID="1" presetClass="entr" presetSubtype="0" fill="hold" nodeType="clickEffect">
                                  <p:stCondLst>
                                    <p:cond delay="0"/>
                                  </p:stCondLst>
                                  <p:childTnLst>
                                    <p:set>
                                      <p:cBhvr>
                                        <p:cTn id="39" dur="1" fill="hold">
                                          <p:stCondLst>
                                            <p:cond delay="0"/>
                                          </p:stCondLst>
                                        </p:cTn>
                                        <p:tgtEl>
                                          <p:spTgt spid="13"/>
                                        </p:tgtEl>
                                        <p:attrNameLst>
                                          <p:attrName>style.visibility</p:attrName>
                                        </p:attrNameLst>
                                      </p:cBhvr>
                                      <p:to>
                                        <p:strVal val="visible"/>
                                      </p:to>
                                    </p:set>
                                  </p:childTnLst>
                                </p:cTn>
                              </p:par>
                            </p:childTnLst>
                          </p:cTn>
                        </p:par>
                      </p:childTnLst>
                    </p:cTn>
                  </p:par>
                  <p:par>
                    <p:cTn id="40" fill="hold" nodeType="clickPar">
                      <p:stCondLst>
                        <p:cond delay="indefinite"/>
                      </p:stCondLst>
                      <p:childTnLst>
                        <p:par>
                          <p:cTn id="41" fill="hold">
                            <p:stCondLst>
                              <p:cond delay="0"/>
                            </p:stCondLst>
                            <p:childTnLst>
                              <p:par>
                                <p:cTn id="42" presetID="1" presetClass="entr" presetSubtype="0" fill="hold" grpId="0" nodeType="clickEffect">
                                  <p:stCondLst>
                                    <p:cond delay="0"/>
                                  </p:stCondLst>
                                  <p:childTnLst>
                                    <p:set>
                                      <p:cBhvr>
                                        <p:cTn id="43" dur="1" fill="hold">
                                          <p:stCondLst>
                                            <p:cond delay="0"/>
                                          </p:stCondLst>
                                        </p:cTn>
                                        <p:tgtEl>
                                          <p:spTgt spid="20"/>
                                        </p:tgtEl>
                                        <p:attrNameLst>
                                          <p:attrName>style.visibility</p:attrName>
                                        </p:attrNameLst>
                                      </p:cBhvr>
                                      <p:to>
                                        <p:strVal val="visible"/>
                                      </p:to>
                                    </p:set>
                                  </p:childTnLst>
                                </p:cTn>
                              </p:par>
                            </p:childTnLst>
                          </p:cTn>
                        </p:par>
                      </p:childTnLst>
                    </p:cTn>
                  </p:par>
                  <p:par>
                    <p:cTn id="44" fill="hold" nodeType="clickPar">
                      <p:stCondLst>
                        <p:cond delay="indefinite"/>
                      </p:stCondLst>
                      <p:childTnLst>
                        <p:par>
                          <p:cTn id="45" fill="hold">
                            <p:stCondLst>
                              <p:cond delay="0"/>
                            </p:stCondLst>
                            <p:childTnLst>
                              <p:par>
                                <p:cTn id="46" presetID="1" presetClass="entr" presetSubtype="0" fill="hold" nodeType="clickEffect">
                                  <p:stCondLst>
                                    <p:cond delay="0"/>
                                  </p:stCondLst>
                                  <p:childTnLst>
                                    <p:set>
                                      <p:cBhvr>
                                        <p:cTn id="47" dur="1" fill="hold">
                                          <p:stCondLst>
                                            <p:cond delay="0"/>
                                          </p:stCondLst>
                                        </p:cTn>
                                        <p:tgtEl>
                                          <p:spTgt spid="14"/>
                                        </p:tgtEl>
                                        <p:attrNameLst>
                                          <p:attrName>style.visibility</p:attrName>
                                        </p:attrNameLst>
                                      </p:cBhvr>
                                      <p:to>
                                        <p:strVal val="visible"/>
                                      </p:to>
                                    </p:set>
                                  </p:childTnLst>
                                </p:cTn>
                              </p:par>
                            </p:childTnLst>
                          </p:cTn>
                        </p:par>
                      </p:childTnLst>
                    </p:cTn>
                  </p:par>
                  <p:par>
                    <p:cTn id="48" fill="hold" nodeType="clickPar">
                      <p:stCondLst>
                        <p:cond delay="indefinite"/>
                      </p:stCondLst>
                      <p:childTnLst>
                        <p:par>
                          <p:cTn id="49" fill="hold">
                            <p:stCondLst>
                              <p:cond delay="0"/>
                            </p:stCondLst>
                            <p:childTnLst>
                              <p:par>
                                <p:cTn id="50" presetID="1" presetClass="entr" presetSubtype="0" fill="hold" grpId="0" nodeType="clickEffect">
                                  <p:stCondLst>
                                    <p:cond delay="0"/>
                                  </p:stCondLst>
                                  <p:childTnLst>
                                    <p:set>
                                      <p:cBhvr>
                                        <p:cTn id="51" dur="1" fill="hold">
                                          <p:stCondLst>
                                            <p:cond delay="0"/>
                                          </p:stCondLst>
                                        </p:cTn>
                                        <p:tgtEl>
                                          <p:spTgt spid="22"/>
                                        </p:tgtEl>
                                        <p:attrNameLst>
                                          <p:attrName>style.visibility</p:attrName>
                                        </p:attrNameLst>
                                      </p:cBhvr>
                                      <p:to>
                                        <p:strVal val="visible"/>
                                      </p:to>
                                    </p:set>
                                  </p:childTnLst>
                                </p:cTn>
                              </p:par>
                            </p:childTnLst>
                          </p:cTn>
                        </p:par>
                      </p:childTnLst>
                    </p:cTn>
                  </p:par>
                  <p:par>
                    <p:cTn id="52" fill="hold" nodeType="clickPar">
                      <p:stCondLst>
                        <p:cond delay="indefinite"/>
                      </p:stCondLst>
                      <p:childTnLst>
                        <p:par>
                          <p:cTn id="53" fill="hold">
                            <p:stCondLst>
                              <p:cond delay="0"/>
                            </p:stCondLst>
                            <p:childTnLst>
                              <p:par>
                                <p:cTn id="54" presetID="1" presetClass="entr" presetSubtype="0" fill="hold" nodeType="clickEffect">
                                  <p:stCondLst>
                                    <p:cond delay="0"/>
                                  </p:stCondLst>
                                  <p:childTnLst>
                                    <p:set>
                                      <p:cBhvr>
                                        <p:cTn id="55" dur="1" fill="hold">
                                          <p:stCondLst>
                                            <p:cond delay="0"/>
                                          </p:stCondLst>
                                        </p:cTn>
                                        <p:tgtEl>
                                          <p:spTgt spid="15"/>
                                        </p:tgtEl>
                                        <p:attrNameLst>
                                          <p:attrName>style.visibility</p:attrName>
                                        </p:attrNameLst>
                                      </p:cBhvr>
                                      <p:to>
                                        <p:strVal val="visible"/>
                                      </p:to>
                                    </p:set>
                                  </p:childTnLst>
                                </p:cTn>
                              </p:par>
                            </p:childTnLst>
                          </p:cTn>
                        </p:par>
                      </p:childTnLst>
                    </p:cTn>
                  </p:par>
                  <p:par>
                    <p:cTn id="56" fill="hold" nodeType="clickPar">
                      <p:stCondLst>
                        <p:cond delay="indefinite"/>
                      </p:stCondLst>
                      <p:childTnLst>
                        <p:par>
                          <p:cTn id="57" fill="hold">
                            <p:stCondLst>
                              <p:cond delay="0"/>
                            </p:stCondLst>
                            <p:childTnLst>
                              <p:par>
                                <p:cTn id="58" presetID="1" presetClass="entr" presetSubtype="0" fill="hold" grpId="0" nodeType="clickEffect">
                                  <p:stCondLst>
                                    <p:cond delay="0"/>
                                  </p:stCondLst>
                                  <p:childTnLst>
                                    <p:set>
                                      <p:cBhvr>
                                        <p:cTn id="59" dur="1" fill="hold">
                                          <p:stCondLst>
                                            <p:cond delay="0"/>
                                          </p:stCondLst>
                                        </p:cTn>
                                        <p:tgtEl>
                                          <p:spTgt spid="25"/>
                                        </p:tgtEl>
                                        <p:attrNameLst>
                                          <p:attrName>style.visibility</p:attrName>
                                        </p:attrNameLst>
                                      </p:cBhvr>
                                      <p:to>
                                        <p:strVal val="visible"/>
                                      </p:to>
                                    </p:set>
                                  </p:childTnLst>
                                </p:cTn>
                              </p:par>
                            </p:childTnLst>
                          </p:cTn>
                        </p:par>
                      </p:childTnLst>
                    </p:cTn>
                  </p:par>
                  <p:par>
                    <p:cTn id="60" fill="hold" nodeType="clickPar">
                      <p:stCondLst>
                        <p:cond delay="indefinite"/>
                      </p:stCondLst>
                      <p:childTnLst>
                        <p:par>
                          <p:cTn id="61" fill="hold">
                            <p:stCondLst>
                              <p:cond delay="0"/>
                            </p:stCondLst>
                            <p:childTnLst>
                              <p:par>
                                <p:cTn id="62" presetID="1" presetClass="entr" presetSubtype="0" fill="hold" nodeType="clickEffect">
                                  <p:stCondLst>
                                    <p:cond delay="0"/>
                                  </p:stCondLst>
                                  <p:childTnLst>
                                    <p:set>
                                      <p:cBhvr>
                                        <p:cTn id="63" dur="1" fill="hold">
                                          <p:stCondLst>
                                            <p:cond delay="0"/>
                                          </p:stCondLst>
                                        </p:cTn>
                                        <p:tgtEl>
                                          <p:spTgt spid="16"/>
                                        </p:tgtEl>
                                        <p:attrNameLst>
                                          <p:attrName>style.visibility</p:attrName>
                                        </p:attrNameLst>
                                      </p:cBhvr>
                                      <p:to>
                                        <p:strVal val="visible"/>
                                      </p:to>
                                    </p:set>
                                  </p:childTnLst>
                                </p:cTn>
                              </p:par>
                            </p:childTnLst>
                          </p:cTn>
                        </p:par>
                      </p:childTnLst>
                    </p:cTn>
                  </p:par>
                  <p:par>
                    <p:cTn id="64" fill="hold" nodeType="clickPar">
                      <p:stCondLst>
                        <p:cond delay="indefinite"/>
                      </p:stCondLst>
                      <p:childTnLst>
                        <p:par>
                          <p:cTn id="65" fill="hold">
                            <p:stCondLst>
                              <p:cond delay="0"/>
                            </p:stCondLst>
                            <p:childTnLst>
                              <p:par>
                                <p:cTn id="66" presetID="1" presetClass="entr" presetSubtype="0" fill="hold" grpId="0" nodeType="clickEffect">
                                  <p:stCondLst>
                                    <p:cond delay="0"/>
                                  </p:stCondLst>
                                  <p:childTnLst>
                                    <p:set>
                                      <p:cBhvr>
                                        <p:cTn id="67" dur="1" fill="hold">
                                          <p:stCondLst>
                                            <p:cond delay="0"/>
                                          </p:stCondLst>
                                        </p:cTn>
                                        <p:tgtEl>
                                          <p:spTgt spid="21"/>
                                        </p:tgtEl>
                                        <p:attrNameLst>
                                          <p:attrName>style.visibility</p:attrName>
                                        </p:attrNameLst>
                                      </p:cBhvr>
                                      <p:to>
                                        <p:strVal val="visible"/>
                                      </p:to>
                                    </p:set>
                                  </p:childTnLst>
                                </p:cTn>
                              </p:par>
                            </p:childTnLst>
                          </p:cTn>
                        </p:par>
                      </p:childTnLst>
                    </p:cTn>
                  </p:par>
                  <p:par>
                    <p:cTn id="68" fill="hold" nodeType="clickPar">
                      <p:stCondLst>
                        <p:cond delay="indefinite"/>
                      </p:stCondLst>
                      <p:childTnLst>
                        <p:par>
                          <p:cTn id="69" fill="hold">
                            <p:stCondLst>
                              <p:cond delay="0"/>
                            </p:stCondLst>
                            <p:childTnLst>
                              <p:par>
                                <p:cTn id="70" presetID="1" presetClass="entr" presetSubtype="0" fill="hold" nodeType="clickEffect">
                                  <p:stCondLst>
                                    <p:cond delay="0"/>
                                  </p:stCondLst>
                                  <p:childTnLst>
                                    <p:set>
                                      <p:cBhvr>
                                        <p:cTn id="71" dur="1" fill="hold">
                                          <p:stCondLst>
                                            <p:cond delay="0"/>
                                          </p:stCondLst>
                                        </p:cTn>
                                        <p:tgtEl>
                                          <p:spTgt spid="17"/>
                                        </p:tgtEl>
                                        <p:attrNameLst>
                                          <p:attrName>style.visibility</p:attrName>
                                        </p:attrNameLst>
                                      </p:cBhvr>
                                      <p:to>
                                        <p:strVal val="visible"/>
                                      </p:to>
                                    </p:set>
                                  </p:childTnLst>
                                </p:cTn>
                              </p:par>
                            </p:childTnLst>
                          </p:cTn>
                        </p:par>
                      </p:childTnLst>
                    </p:cTn>
                  </p:par>
                  <p:par>
                    <p:cTn id="72" fill="hold" nodeType="clickPar">
                      <p:stCondLst>
                        <p:cond delay="indefinite"/>
                      </p:stCondLst>
                      <p:childTnLst>
                        <p:par>
                          <p:cTn id="73" fill="hold">
                            <p:stCondLst>
                              <p:cond delay="0"/>
                            </p:stCondLst>
                            <p:childTnLst>
                              <p:par>
                                <p:cTn id="74" presetID="1" presetClass="entr" presetSubtype="0" fill="hold" grpId="0" nodeType="clickEffect">
                                  <p:stCondLst>
                                    <p:cond delay="0"/>
                                  </p:stCondLst>
                                  <p:childTnLst>
                                    <p:set>
                                      <p:cBhvr>
                                        <p:cTn id="75" dur="1" fill="hold">
                                          <p:stCondLst>
                                            <p:cond delay="0"/>
                                          </p:stCondLst>
                                        </p:cTn>
                                        <p:tgtEl>
                                          <p:spTgt spid="23"/>
                                        </p:tgtEl>
                                        <p:attrNameLst>
                                          <p:attrName>style.visibility</p:attrName>
                                        </p:attrNameLst>
                                      </p:cBhvr>
                                      <p:to>
                                        <p:strVal val="visible"/>
                                      </p:to>
                                    </p:set>
                                  </p:childTnLst>
                                </p:cTn>
                              </p:par>
                            </p:childTnLst>
                          </p:cTn>
                        </p:par>
                      </p:childTnLst>
                    </p:cTn>
                  </p:par>
                  <p:par>
                    <p:cTn id="76" fill="hold" nodeType="clickPar">
                      <p:stCondLst>
                        <p:cond delay="indefinite"/>
                      </p:stCondLst>
                      <p:childTnLst>
                        <p:par>
                          <p:cTn id="77" fill="hold">
                            <p:stCondLst>
                              <p:cond delay="0"/>
                            </p:stCondLst>
                            <p:childTnLst>
                              <p:par>
                                <p:cTn id="78" presetID="1" presetClass="entr" presetSubtype="0" fill="hold" nodeType="clickEffect">
                                  <p:stCondLst>
                                    <p:cond delay="0"/>
                                  </p:stCondLst>
                                  <p:childTnLst>
                                    <p:set>
                                      <p:cBhvr>
                                        <p:cTn id="79" dur="1" fill="hold">
                                          <p:stCondLst>
                                            <p:cond delay="0"/>
                                          </p:stCondLst>
                                        </p:cTn>
                                        <p:tgtEl>
                                          <p:spTgt spid="18"/>
                                        </p:tgtEl>
                                        <p:attrNameLst>
                                          <p:attrName>style.visibility</p:attrName>
                                        </p:attrNameLst>
                                      </p:cBhvr>
                                      <p:to>
                                        <p:strVal val="visible"/>
                                      </p:to>
                                    </p:set>
                                  </p:childTnLst>
                                </p:cTn>
                              </p:par>
                            </p:childTnLst>
                          </p:cTn>
                        </p:par>
                      </p:childTnLst>
                    </p:cTn>
                  </p:par>
                  <p:par>
                    <p:cTn id="80" fill="hold" nodeType="clickPar">
                      <p:stCondLst>
                        <p:cond delay="indefinite"/>
                      </p:stCondLst>
                      <p:childTnLst>
                        <p:par>
                          <p:cTn id="81" fill="hold">
                            <p:stCondLst>
                              <p:cond delay="0"/>
                            </p:stCondLst>
                            <p:childTnLst>
                              <p:par>
                                <p:cTn id="82" presetID="1" presetClass="entr" presetSubtype="0" fill="hold" grpId="0" nodeType="clickEffect">
                                  <p:stCondLst>
                                    <p:cond delay="0"/>
                                  </p:stCondLst>
                                  <p:childTnLst>
                                    <p:set>
                                      <p:cBhvr>
                                        <p:cTn id="83" dur="1" fill="hold">
                                          <p:stCondLst>
                                            <p:cond delay="0"/>
                                          </p:stCondLst>
                                        </p:cTn>
                                        <p:tgtEl>
                                          <p:spTgt spid="24"/>
                                        </p:tgtEl>
                                        <p:attrNameLst>
                                          <p:attrName>style.visibility</p:attrName>
                                        </p:attrNameLst>
                                      </p:cBhvr>
                                      <p:to>
                                        <p:strVal val="visible"/>
                                      </p:to>
                                    </p:set>
                                  </p:childTnLst>
                                </p:cTn>
                              </p:par>
                            </p:childTnLst>
                          </p:cTn>
                        </p:par>
                      </p:childTnLst>
                    </p:cTn>
                  </p:par>
                  <p:par>
                    <p:cTn id="84" fill="hold" nodeType="clickPar">
                      <p:stCondLst>
                        <p:cond delay="indefinite"/>
                      </p:stCondLst>
                      <p:childTnLst>
                        <p:par>
                          <p:cTn id="85" fill="hold">
                            <p:stCondLst>
                              <p:cond delay="0"/>
                            </p:stCondLst>
                            <p:childTnLst>
                              <p:par>
                                <p:cTn id="86" presetID="10" presetClass="entr" presetSubtype="0" fill="hold" nodeType="clickEffect">
                                  <p:stCondLst>
                                    <p:cond delay="0"/>
                                  </p:stCondLst>
                                  <p:childTnLst>
                                    <p:set>
                                      <p:cBhvr>
                                        <p:cTn id="87" dur="1" fill="hold">
                                          <p:stCondLst>
                                            <p:cond delay="0"/>
                                          </p:stCondLst>
                                        </p:cTn>
                                        <p:tgtEl>
                                          <p:spTgt spid="3">
                                            <p:txEl>
                                              <p:pRg st="9" end="9"/>
                                            </p:txEl>
                                          </p:spTgt>
                                        </p:tgtEl>
                                        <p:attrNameLst>
                                          <p:attrName>style.visibility</p:attrName>
                                        </p:attrNameLst>
                                      </p:cBhvr>
                                      <p:to>
                                        <p:strVal val="visible"/>
                                      </p:to>
                                    </p:set>
                                    <p:animEffect transition="in" filter="fade">
                                      <p:cBhvr>
                                        <p:cTn id="88" dur="500"/>
                                        <p:tgtEl>
                                          <p:spTgt spid="3">
                                            <p:txEl>
                                              <p:pRg st="9" end="9"/>
                                            </p:txEl>
                                          </p:spTgt>
                                        </p:tgtEl>
                                      </p:cBhvr>
                                    </p:animEffect>
                                  </p:childTnLst>
                                </p:cTn>
                              </p:par>
                            </p:childTnLst>
                          </p:cTn>
                        </p:par>
                      </p:childTnLst>
                    </p:cTn>
                  </p:par>
                  <p:par>
                    <p:cTn id="89" fill="hold" nodeType="clickPar">
                      <p:stCondLst>
                        <p:cond delay="indefinite"/>
                      </p:stCondLst>
                      <p:childTnLst>
                        <p:par>
                          <p:cTn id="90" fill="hold">
                            <p:stCondLst>
                              <p:cond delay="0"/>
                            </p:stCondLst>
                            <p:childTnLst>
                              <p:par>
                                <p:cTn id="91" presetID="10" presetClass="entr" presetSubtype="0" fill="hold" nodeType="clickEffect">
                                  <p:stCondLst>
                                    <p:cond delay="0"/>
                                  </p:stCondLst>
                                  <p:childTnLst>
                                    <p:set>
                                      <p:cBhvr>
                                        <p:cTn id="92" dur="1" fill="hold">
                                          <p:stCondLst>
                                            <p:cond delay="0"/>
                                          </p:stCondLst>
                                        </p:cTn>
                                        <p:tgtEl>
                                          <p:spTgt spid="3">
                                            <p:txEl>
                                              <p:pRg st="10" end="10"/>
                                            </p:txEl>
                                          </p:spTgt>
                                        </p:tgtEl>
                                        <p:attrNameLst>
                                          <p:attrName>style.visibility</p:attrName>
                                        </p:attrNameLst>
                                      </p:cBhvr>
                                      <p:to>
                                        <p:strVal val="visible"/>
                                      </p:to>
                                    </p:set>
                                    <p:animEffect transition="in" filter="fade">
                                      <p:cBhvr>
                                        <p:cTn id="93"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P spid="10" grpId="0"/>
      <p:bldP spid="11" grpId="0"/>
      <p:bldP spid="12" grpId="0"/>
      <p:bldP spid="19" grpId="0"/>
      <p:bldP spid="20" grpId="0"/>
      <p:bldP spid="21" grpId="0"/>
      <p:bldP spid="22" grpId="0"/>
      <p:bldP spid="23" grpId="0"/>
      <p:bldP spid="24" grpId="0"/>
      <p:bldP spid="25" grpId="0"/>
      <p:bldP spid="26"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SSTF (Shortest seek time first)</a:t>
            </a:r>
          </a:p>
        </p:txBody>
      </p:sp>
      <p:sp>
        <p:nvSpPr>
          <p:cNvPr id="3" name="Content Placeholder 2"/>
          <p:cNvSpPr>
            <a:spLocks noGrp="1"/>
          </p:cNvSpPr>
          <p:nvPr>
            <p:ph idx="1"/>
          </p:nvPr>
        </p:nvSpPr>
        <p:spPr/>
        <p:txBody>
          <a:bodyPr/>
          <a:lstStyle/>
          <a:p>
            <a:r>
              <a:rPr lang="en-US"/>
              <a:t>We can minimize the disk movement by serving the </a:t>
            </a:r>
            <a:r>
              <a:rPr lang="en-US" b="1">
                <a:solidFill>
                  <a:schemeClr val="accent6"/>
                </a:solidFill>
              </a:rPr>
              <a:t>request closest to the current position of the head</a:t>
            </a:r>
            <a:r>
              <a:rPr lang="en-US"/>
              <a:t>.</a:t>
            </a:r>
          </a:p>
          <a:p>
            <a:endParaRPr lang="en-US"/>
          </a:p>
          <a:p>
            <a:endParaRPr lang="en-US"/>
          </a:p>
          <a:p>
            <a:endParaRPr lang="en-US"/>
          </a:p>
          <a:p>
            <a:endParaRPr lang="en-US"/>
          </a:p>
          <a:p>
            <a:endParaRPr lang="en-US"/>
          </a:p>
          <a:p>
            <a:endParaRPr lang="en-US"/>
          </a:p>
          <a:p>
            <a:endParaRPr lang="en-US"/>
          </a:p>
          <a:p>
            <a:r>
              <a:rPr lang="en-US"/>
              <a:t>Disk movement will be 11, 12, 9, 16, 1, 34 and 36.</a:t>
            </a:r>
          </a:p>
          <a:p>
            <a:r>
              <a:rPr lang="en-US"/>
              <a:t>Total cylinder movement: (12-11) + (12-9) + (16-9) + (16-1) + (34-1) + (36-34) = 61</a:t>
            </a:r>
          </a:p>
        </p:txBody>
      </p:sp>
      <p:sp>
        <p:nvSpPr>
          <p:cNvPr id="26" name="TextBox 25"/>
          <p:cNvSpPr txBox="1"/>
          <p:nvPr/>
        </p:nvSpPr>
        <p:spPr>
          <a:xfrm>
            <a:off x="8212822" y="1855654"/>
            <a:ext cx="472604" cy="1754326"/>
          </a:xfrm>
          <a:prstGeom prst="rect">
            <a:avLst/>
          </a:prstGeom>
          <a:ln w="28575">
            <a:solidFill>
              <a:schemeClr val="accent1"/>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r>
              <a:rPr lang="en-IN"/>
              <a:t>1, 36, 16, 34, 9, 12</a:t>
            </a:r>
            <a:endParaRPr lang="en-US"/>
          </a:p>
        </p:txBody>
      </p:sp>
      <p:graphicFrame>
        <p:nvGraphicFramePr>
          <p:cNvPr id="27" name="Table 26"/>
          <p:cNvGraphicFramePr>
            <a:graphicFrameLocks noGrp="1"/>
          </p:cNvGraphicFramePr>
          <p:nvPr>
            <p:extLst>
              <p:ext uri="{D42A27DB-BD31-4B8C-83A1-F6EECF244321}">
                <p14:modId xmlns:p14="http://schemas.microsoft.com/office/powerpoint/2010/main" val="1442648328"/>
              </p:ext>
            </p:extLst>
          </p:nvPr>
        </p:nvGraphicFramePr>
        <p:xfrm>
          <a:off x="609597" y="1855654"/>
          <a:ext cx="7010402" cy="2966720"/>
        </p:xfrm>
        <a:graphic>
          <a:graphicData uri="http://schemas.openxmlformats.org/drawingml/2006/table">
            <a:tbl>
              <a:tblPr firstRow="1" bandRow="1">
                <a:tableStyleId>{5940675A-B579-460E-94D1-54222C63F5DA}</a:tableStyleId>
              </a:tblPr>
              <a:tblGrid>
                <a:gridCol w="457203">
                  <a:extLst>
                    <a:ext uri="{9D8B030D-6E8A-4147-A177-3AD203B41FA5}">
                      <a16:colId xmlns:a16="http://schemas.microsoft.com/office/drawing/2014/main" xmlns="" val="20000"/>
                    </a:ext>
                  </a:extLst>
                </a:gridCol>
                <a:gridCol w="990600">
                  <a:extLst>
                    <a:ext uri="{9D8B030D-6E8A-4147-A177-3AD203B41FA5}">
                      <a16:colId xmlns:a16="http://schemas.microsoft.com/office/drawing/2014/main" xmlns="" val="20001"/>
                    </a:ext>
                  </a:extLst>
                </a:gridCol>
                <a:gridCol w="838200">
                  <a:extLst>
                    <a:ext uri="{9D8B030D-6E8A-4147-A177-3AD203B41FA5}">
                      <a16:colId xmlns:a16="http://schemas.microsoft.com/office/drawing/2014/main" xmlns="" val="20002"/>
                    </a:ext>
                  </a:extLst>
                </a:gridCol>
                <a:gridCol w="762000">
                  <a:extLst>
                    <a:ext uri="{9D8B030D-6E8A-4147-A177-3AD203B41FA5}">
                      <a16:colId xmlns:a16="http://schemas.microsoft.com/office/drawing/2014/main" xmlns="" val="20003"/>
                    </a:ext>
                  </a:extLst>
                </a:gridCol>
                <a:gridCol w="1959427">
                  <a:extLst>
                    <a:ext uri="{9D8B030D-6E8A-4147-A177-3AD203B41FA5}">
                      <a16:colId xmlns:a16="http://schemas.microsoft.com/office/drawing/2014/main" xmlns="" val="20004"/>
                    </a:ext>
                  </a:extLst>
                </a:gridCol>
                <a:gridCol w="555173">
                  <a:extLst>
                    <a:ext uri="{9D8B030D-6E8A-4147-A177-3AD203B41FA5}">
                      <a16:colId xmlns:a16="http://schemas.microsoft.com/office/drawing/2014/main" xmlns="" val="20005"/>
                    </a:ext>
                  </a:extLst>
                </a:gridCol>
                <a:gridCol w="1447799">
                  <a:extLst>
                    <a:ext uri="{9D8B030D-6E8A-4147-A177-3AD203B41FA5}">
                      <a16:colId xmlns:a16="http://schemas.microsoft.com/office/drawing/2014/main" xmlns="" val="20006"/>
                    </a:ext>
                  </a:extLst>
                </a:gridCol>
              </a:tblGrid>
              <a:tr h="2966720">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extLst>
                  <a:ext uri="{0D108BD9-81ED-4DB2-BD59-A6C34878D82A}">
                    <a16:rowId xmlns:a16="http://schemas.microsoft.com/office/drawing/2014/main" xmlns="" val="10000"/>
                  </a:ext>
                </a:extLst>
              </a:tr>
            </a:tbl>
          </a:graphicData>
        </a:graphic>
      </p:graphicFrame>
      <p:sp>
        <p:nvSpPr>
          <p:cNvPr id="28" name="TextBox 27"/>
          <p:cNvSpPr txBox="1"/>
          <p:nvPr/>
        </p:nvSpPr>
        <p:spPr>
          <a:xfrm>
            <a:off x="547435" y="1455544"/>
            <a:ext cx="304800" cy="400110"/>
          </a:xfrm>
          <a:prstGeom prst="rect">
            <a:avLst/>
          </a:prstGeom>
          <a:noFill/>
        </p:spPr>
        <p:txBody>
          <a:bodyPr wrap="square" rtlCol="0">
            <a:spAutoFit/>
          </a:bodyPr>
          <a:lstStyle/>
          <a:p>
            <a:pPr algn="ctr"/>
            <a:r>
              <a:rPr lang="en-US" sz="2000"/>
              <a:t>0</a:t>
            </a:r>
            <a:endParaRPr lang="en-IN"/>
          </a:p>
        </p:txBody>
      </p:sp>
      <p:sp>
        <p:nvSpPr>
          <p:cNvPr id="29" name="TextBox 28"/>
          <p:cNvSpPr txBox="1"/>
          <p:nvPr/>
        </p:nvSpPr>
        <p:spPr>
          <a:xfrm>
            <a:off x="914400" y="1469574"/>
            <a:ext cx="304800" cy="400110"/>
          </a:xfrm>
          <a:prstGeom prst="rect">
            <a:avLst/>
          </a:prstGeom>
          <a:noFill/>
        </p:spPr>
        <p:txBody>
          <a:bodyPr wrap="square" rtlCol="0">
            <a:spAutoFit/>
          </a:bodyPr>
          <a:lstStyle/>
          <a:p>
            <a:pPr algn="ctr"/>
            <a:r>
              <a:rPr lang="en-US" sz="2000"/>
              <a:t>1</a:t>
            </a:r>
            <a:endParaRPr lang="en-IN"/>
          </a:p>
        </p:txBody>
      </p:sp>
      <p:sp>
        <p:nvSpPr>
          <p:cNvPr id="30" name="TextBox 29"/>
          <p:cNvSpPr txBox="1"/>
          <p:nvPr/>
        </p:nvSpPr>
        <p:spPr>
          <a:xfrm>
            <a:off x="1905000" y="1461089"/>
            <a:ext cx="304800" cy="400110"/>
          </a:xfrm>
          <a:prstGeom prst="rect">
            <a:avLst/>
          </a:prstGeom>
          <a:noFill/>
        </p:spPr>
        <p:txBody>
          <a:bodyPr wrap="square" rtlCol="0">
            <a:spAutoFit/>
          </a:bodyPr>
          <a:lstStyle/>
          <a:p>
            <a:pPr algn="ctr"/>
            <a:r>
              <a:rPr lang="en-US" sz="2000"/>
              <a:t>9</a:t>
            </a:r>
            <a:endParaRPr lang="en-IN"/>
          </a:p>
        </p:txBody>
      </p:sp>
      <p:sp>
        <p:nvSpPr>
          <p:cNvPr id="31" name="TextBox 30"/>
          <p:cNvSpPr txBox="1"/>
          <p:nvPr/>
        </p:nvSpPr>
        <p:spPr>
          <a:xfrm>
            <a:off x="2670372" y="1455544"/>
            <a:ext cx="468503" cy="400110"/>
          </a:xfrm>
          <a:prstGeom prst="rect">
            <a:avLst/>
          </a:prstGeom>
          <a:noFill/>
        </p:spPr>
        <p:txBody>
          <a:bodyPr wrap="square" rtlCol="0">
            <a:spAutoFit/>
          </a:bodyPr>
          <a:lstStyle/>
          <a:p>
            <a:pPr algn="ctr"/>
            <a:r>
              <a:rPr lang="en-US" sz="2000"/>
              <a:t>12</a:t>
            </a:r>
            <a:endParaRPr lang="en-IN"/>
          </a:p>
        </p:txBody>
      </p:sp>
      <p:sp>
        <p:nvSpPr>
          <p:cNvPr id="32" name="TextBox 31"/>
          <p:cNvSpPr txBox="1"/>
          <p:nvPr/>
        </p:nvSpPr>
        <p:spPr>
          <a:xfrm>
            <a:off x="3412955" y="1455544"/>
            <a:ext cx="502687" cy="400110"/>
          </a:xfrm>
          <a:prstGeom prst="rect">
            <a:avLst/>
          </a:prstGeom>
          <a:noFill/>
        </p:spPr>
        <p:txBody>
          <a:bodyPr wrap="square" rtlCol="0">
            <a:spAutoFit/>
          </a:bodyPr>
          <a:lstStyle/>
          <a:p>
            <a:pPr algn="ctr"/>
            <a:r>
              <a:rPr lang="en-US" sz="2000"/>
              <a:t>16</a:t>
            </a:r>
            <a:endParaRPr lang="en-IN"/>
          </a:p>
        </p:txBody>
      </p:sp>
      <p:sp>
        <p:nvSpPr>
          <p:cNvPr id="33" name="TextBox 32"/>
          <p:cNvSpPr txBox="1"/>
          <p:nvPr/>
        </p:nvSpPr>
        <p:spPr>
          <a:xfrm>
            <a:off x="5378116" y="1469574"/>
            <a:ext cx="485273" cy="400110"/>
          </a:xfrm>
          <a:prstGeom prst="rect">
            <a:avLst/>
          </a:prstGeom>
          <a:noFill/>
        </p:spPr>
        <p:txBody>
          <a:bodyPr wrap="square" rtlCol="0">
            <a:spAutoFit/>
          </a:bodyPr>
          <a:lstStyle/>
          <a:p>
            <a:pPr algn="ctr"/>
            <a:r>
              <a:rPr lang="en-US" sz="2000"/>
              <a:t>34</a:t>
            </a:r>
            <a:endParaRPr lang="en-IN"/>
          </a:p>
        </p:txBody>
      </p:sp>
      <p:sp>
        <p:nvSpPr>
          <p:cNvPr id="34" name="TextBox 33"/>
          <p:cNvSpPr txBox="1"/>
          <p:nvPr/>
        </p:nvSpPr>
        <p:spPr>
          <a:xfrm>
            <a:off x="5964654" y="1462559"/>
            <a:ext cx="448178" cy="400110"/>
          </a:xfrm>
          <a:prstGeom prst="rect">
            <a:avLst/>
          </a:prstGeom>
          <a:noFill/>
        </p:spPr>
        <p:txBody>
          <a:bodyPr wrap="square" rtlCol="0">
            <a:spAutoFit/>
          </a:bodyPr>
          <a:lstStyle/>
          <a:p>
            <a:pPr algn="ctr"/>
            <a:r>
              <a:rPr lang="en-US" sz="2000"/>
              <a:t>36</a:t>
            </a:r>
            <a:endParaRPr lang="en-IN"/>
          </a:p>
        </p:txBody>
      </p:sp>
      <p:sp>
        <p:nvSpPr>
          <p:cNvPr id="35" name="TextBox 34"/>
          <p:cNvSpPr txBox="1"/>
          <p:nvPr/>
        </p:nvSpPr>
        <p:spPr>
          <a:xfrm>
            <a:off x="7325863" y="1462559"/>
            <a:ext cx="568216" cy="400110"/>
          </a:xfrm>
          <a:prstGeom prst="rect">
            <a:avLst/>
          </a:prstGeom>
          <a:noFill/>
        </p:spPr>
        <p:txBody>
          <a:bodyPr wrap="square" rtlCol="0">
            <a:spAutoFit/>
          </a:bodyPr>
          <a:lstStyle/>
          <a:p>
            <a:pPr algn="ctr"/>
            <a:r>
              <a:rPr lang="en-US" sz="2000"/>
              <a:t>50</a:t>
            </a:r>
            <a:endParaRPr lang="en-IN"/>
          </a:p>
        </p:txBody>
      </p:sp>
      <p:cxnSp>
        <p:nvCxnSpPr>
          <p:cNvPr id="36" name="Straight Connector 35"/>
          <p:cNvCxnSpPr/>
          <p:nvPr/>
        </p:nvCxnSpPr>
        <p:spPr>
          <a:xfrm flipH="1" flipV="1">
            <a:off x="2470484" y="2219542"/>
            <a:ext cx="431150" cy="388584"/>
          </a:xfrm>
          <a:prstGeom prst="line">
            <a:avLst/>
          </a:prstGeom>
        </p:spPr>
        <p:style>
          <a:lnRef idx="3">
            <a:schemeClr val="dk1"/>
          </a:lnRef>
          <a:fillRef idx="0">
            <a:schemeClr val="dk1"/>
          </a:fillRef>
          <a:effectRef idx="2">
            <a:schemeClr val="dk1"/>
          </a:effectRef>
          <a:fontRef idx="minor">
            <a:schemeClr val="tx1"/>
          </a:fontRef>
        </p:style>
      </p:cxnSp>
      <p:cxnSp>
        <p:nvCxnSpPr>
          <p:cNvPr id="37" name="Straight Connector 36"/>
          <p:cNvCxnSpPr/>
          <p:nvPr/>
        </p:nvCxnSpPr>
        <p:spPr>
          <a:xfrm>
            <a:off x="2046872" y="2959897"/>
            <a:ext cx="1610728" cy="369369"/>
          </a:xfrm>
          <a:prstGeom prst="line">
            <a:avLst/>
          </a:prstGeom>
        </p:spPr>
        <p:style>
          <a:lnRef idx="3">
            <a:schemeClr val="dk1"/>
          </a:lnRef>
          <a:fillRef idx="0">
            <a:schemeClr val="dk1"/>
          </a:fillRef>
          <a:effectRef idx="2">
            <a:schemeClr val="dk1"/>
          </a:effectRef>
          <a:fontRef idx="minor">
            <a:schemeClr val="tx1"/>
          </a:fontRef>
        </p:style>
      </p:cxnSp>
      <p:cxnSp>
        <p:nvCxnSpPr>
          <p:cNvPr id="38" name="Straight Connector 37"/>
          <p:cNvCxnSpPr/>
          <p:nvPr/>
        </p:nvCxnSpPr>
        <p:spPr>
          <a:xfrm>
            <a:off x="5620752" y="4087313"/>
            <a:ext cx="559916" cy="355171"/>
          </a:xfrm>
          <a:prstGeom prst="line">
            <a:avLst/>
          </a:prstGeom>
        </p:spPr>
        <p:style>
          <a:lnRef idx="3">
            <a:schemeClr val="dk1"/>
          </a:lnRef>
          <a:fillRef idx="0">
            <a:schemeClr val="dk1"/>
          </a:fillRef>
          <a:effectRef idx="2">
            <a:schemeClr val="dk1"/>
          </a:effectRef>
          <a:fontRef idx="minor">
            <a:schemeClr val="tx1"/>
          </a:fontRef>
        </p:style>
      </p:cxnSp>
      <p:cxnSp>
        <p:nvCxnSpPr>
          <p:cNvPr id="39" name="Straight Connector 38"/>
          <p:cNvCxnSpPr>
            <a:stCxn id="43" idx="3"/>
          </p:cNvCxnSpPr>
          <p:nvPr/>
        </p:nvCxnSpPr>
        <p:spPr>
          <a:xfrm>
            <a:off x="1078132" y="3697254"/>
            <a:ext cx="4542620" cy="382981"/>
          </a:xfrm>
          <a:prstGeom prst="line">
            <a:avLst/>
          </a:prstGeom>
        </p:spPr>
        <p:style>
          <a:lnRef idx="3">
            <a:schemeClr val="dk1"/>
          </a:lnRef>
          <a:fillRef idx="0">
            <a:schemeClr val="dk1"/>
          </a:fillRef>
          <a:effectRef idx="2">
            <a:schemeClr val="dk1"/>
          </a:effectRef>
          <a:fontRef idx="minor">
            <a:schemeClr val="tx1"/>
          </a:fontRef>
        </p:style>
      </p:cxnSp>
      <p:cxnSp>
        <p:nvCxnSpPr>
          <p:cNvPr id="40" name="Straight Connector 39"/>
          <p:cNvCxnSpPr/>
          <p:nvPr/>
        </p:nvCxnSpPr>
        <p:spPr>
          <a:xfrm flipV="1">
            <a:off x="1073526" y="3338551"/>
            <a:ext cx="2607561" cy="348589"/>
          </a:xfrm>
          <a:prstGeom prst="line">
            <a:avLst/>
          </a:prstGeom>
        </p:spPr>
        <p:style>
          <a:lnRef idx="3">
            <a:schemeClr val="dk1"/>
          </a:lnRef>
          <a:fillRef idx="0">
            <a:schemeClr val="dk1"/>
          </a:fillRef>
          <a:effectRef idx="2">
            <a:schemeClr val="dk1"/>
          </a:effectRef>
          <a:fontRef idx="minor">
            <a:schemeClr val="tx1"/>
          </a:fontRef>
        </p:style>
      </p:cxnSp>
      <p:cxnSp>
        <p:nvCxnSpPr>
          <p:cNvPr id="41" name="Straight Connector 40"/>
          <p:cNvCxnSpPr/>
          <p:nvPr/>
        </p:nvCxnSpPr>
        <p:spPr>
          <a:xfrm flipV="1">
            <a:off x="2046872" y="2615204"/>
            <a:ext cx="854762" cy="331761"/>
          </a:xfrm>
          <a:prstGeom prst="line">
            <a:avLst/>
          </a:prstGeom>
        </p:spPr>
        <p:style>
          <a:lnRef idx="3">
            <a:schemeClr val="dk1"/>
          </a:lnRef>
          <a:fillRef idx="0">
            <a:schemeClr val="dk1"/>
          </a:fillRef>
          <a:effectRef idx="2">
            <a:schemeClr val="dk1"/>
          </a:effectRef>
          <a:fontRef idx="minor">
            <a:schemeClr val="tx1"/>
          </a:fontRef>
        </p:style>
      </p:cxnSp>
      <p:sp>
        <p:nvSpPr>
          <p:cNvPr id="42" name="TextBox 41"/>
          <p:cNvSpPr txBox="1"/>
          <p:nvPr/>
        </p:nvSpPr>
        <p:spPr>
          <a:xfrm>
            <a:off x="2265672" y="1848576"/>
            <a:ext cx="468503" cy="400110"/>
          </a:xfrm>
          <a:prstGeom prst="rect">
            <a:avLst/>
          </a:prstGeom>
          <a:noFill/>
        </p:spPr>
        <p:txBody>
          <a:bodyPr wrap="square" rtlCol="0">
            <a:spAutoFit/>
          </a:bodyPr>
          <a:lstStyle/>
          <a:p>
            <a:pPr algn="ctr"/>
            <a:r>
              <a:rPr lang="en-US" sz="2000"/>
              <a:t>11</a:t>
            </a:r>
            <a:endParaRPr lang="en-IN"/>
          </a:p>
        </p:txBody>
      </p:sp>
      <p:sp>
        <p:nvSpPr>
          <p:cNvPr id="43" name="TextBox 42"/>
          <p:cNvSpPr txBox="1"/>
          <p:nvPr/>
        </p:nvSpPr>
        <p:spPr>
          <a:xfrm>
            <a:off x="773332" y="3497199"/>
            <a:ext cx="304800" cy="400110"/>
          </a:xfrm>
          <a:prstGeom prst="rect">
            <a:avLst/>
          </a:prstGeom>
          <a:noFill/>
        </p:spPr>
        <p:txBody>
          <a:bodyPr wrap="square" rtlCol="0">
            <a:spAutoFit/>
          </a:bodyPr>
          <a:lstStyle/>
          <a:p>
            <a:pPr algn="ctr"/>
            <a:r>
              <a:rPr lang="en-US" sz="2000"/>
              <a:t>1</a:t>
            </a:r>
            <a:endParaRPr lang="en-IN"/>
          </a:p>
        </p:txBody>
      </p:sp>
      <p:sp>
        <p:nvSpPr>
          <p:cNvPr id="44" name="TextBox 43"/>
          <p:cNvSpPr txBox="1"/>
          <p:nvPr/>
        </p:nvSpPr>
        <p:spPr>
          <a:xfrm>
            <a:off x="5582591" y="3755574"/>
            <a:ext cx="485273" cy="400110"/>
          </a:xfrm>
          <a:prstGeom prst="rect">
            <a:avLst/>
          </a:prstGeom>
          <a:noFill/>
        </p:spPr>
        <p:txBody>
          <a:bodyPr wrap="square" rtlCol="0">
            <a:spAutoFit/>
          </a:bodyPr>
          <a:lstStyle/>
          <a:p>
            <a:pPr algn="ctr"/>
            <a:r>
              <a:rPr lang="en-US" sz="2000"/>
              <a:t>34</a:t>
            </a:r>
            <a:endParaRPr lang="en-IN"/>
          </a:p>
        </p:txBody>
      </p:sp>
      <p:sp>
        <p:nvSpPr>
          <p:cNvPr id="45" name="TextBox 44"/>
          <p:cNvSpPr txBox="1"/>
          <p:nvPr/>
        </p:nvSpPr>
        <p:spPr>
          <a:xfrm>
            <a:off x="6180668" y="4228014"/>
            <a:ext cx="448178" cy="400110"/>
          </a:xfrm>
          <a:prstGeom prst="rect">
            <a:avLst/>
          </a:prstGeom>
          <a:noFill/>
        </p:spPr>
        <p:txBody>
          <a:bodyPr wrap="square" rtlCol="0">
            <a:spAutoFit/>
          </a:bodyPr>
          <a:lstStyle/>
          <a:p>
            <a:pPr algn="ctr"/>
            <a:r>
              <a:rPr lang="en-US" sz="2000"/>
              <a:t>36</a:t>
            </a:r>
            <a:endParaRPr lang="en-IN"/>
          </a:p>
        </p:txBody>
      </p:sp>
      <p:sp>
        <p:nvSpPr>
          <p:cNvPr id="46" name="TextBox 45"/>
          <p:cNvSpPr txBox="1"/>
          <p:nvPr/>
        </p:nvSpPr>
        <p:spPr>
          <a:xfrm>
            <a:off x="1747342" y="2745864"/>
            <a:ext cx="304800" cy="400110"/>
          </a:xfrm>
          <a:prstGeom prst="rect">
            <a:avLst/>
          </a:prstGeom>
          <a:noFill/>
        </p:spPr>
        <p:txBody>
          <a:bodyPr wrap="square" rtlCol="0">
            <a:spAutoFit/>
          </a:bodyPr>
          <a:lstStyle/>
          <a:p>
            <a:pPr algn="ctr"/>
            <a:r>
              <a:rPr lang="en-US" sz="2000"/>
              <a:t>9</a:t>
            </a:r>
            <a:endParaRPr lang="en-IN"/>
          </a:p>
        </p:txBody>
      </p:sp>
      <p:sp>
        <p:nvSpPr>
          <p:cNvPr id="47" name="TextBox 46"/>
          <p:cNvSpPr txBox="1"/>
          <p:nvPr/>
        </p:nvSpPr>
        <p:spPr>
          <a:xfrm>
            <a:off x="2901634" y="2402365"/>
            <a:ext cx="468503" cy="400110"/>
          </a:xfrm>
          <a:prstGeom prst="rect">
            <a:avLst/>
          </a:prstGeom>
          <a:noFill/>
        </p:spPr>
        <p:txBody>
          <a:bodyPr wrap="square" rtlCol="0">
            <a:spAutoFit/>
          </a:bodyPr>
          <a:lstStyle/>
          <a:p>
            <a:pPr algn="ctr"/>
            <a:r>
              <a:rPr lang="en-US" sz="2000"/>
              <a:t>12</a:t>
            </a:r>
            <a:endParaRPr lang="en-IN"/>
          </a:p>
        </p:txBody>
      </p:sp>
      <p:sp>
        <p:nvSpPr>
          <p:cNvPr id="48" name="TextBox 47"/>
          <p:cNvSpPr txBox="1"/>
          <p:nvPr/>
        </p:nvSpPr>
        <p:spPr>
          <a:xfrm>
            <a:off x="3657600" y="3097089"/>
            <a:ext cx="502687" cy="400110"/>
          </a:xfrm>
          <a:prstGeom prst="rect">
            <a:avLst/>
          </a:prstGeom>
          <a:noFill/>
        </p:spPr>
        <p:txBody>
          <a:bodyPr wrap="square" rtlCol="0">
            <a:spAutoFit/>
          </a:bodyPr>
          <a:lstStyle/>
          <a:p>
            <a:pPr algn="ctr"/>
            <a:r>
              <a:rPr lang="en-US" sz="2000"/>
              <a:t>16</a:t>
            </a:r>
            <a:endParaRPr lang="en-IN"/>
          </a:p>
        </p:txBody>
      </p:sp>
    </p:spTree>
    <p:extLst>
      <p:ext uri="{BB962C8B-B14F-4D97-AF65-F5344CB8AC3E}">
        <p14:creationId xmlns:p14="http://schemas.microsoft.com/office/powerpoint/2010/main" val="2401583768"/>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26"/>
                                        </p:tgtEl>
                                        <p:attrNameLst>
                                          <p:attrName>style.visibility</p:attrName>
                                        </p:attrNameLst>
                                      </p:cBhvr>
                                      <p:to>
                                        <p:strVal val="visible"/>
                                      </p:to>
                                    </p:set>
                                  </p:childTnLst>
                                </p:cTn>
                              </p:par>
                            </p:childTnLst>
                          </p:cTn>
                        </p:par>
                      </p:childTnLst>
                    </p:cTn>
                  </p:par>
                  <p:par>
                    <p:cTn id="12" fill="hold" nodeType="clickPar">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27"/>
                                        </p:tgtEl>
                                        <p:attrNameLst>
                                          <p:attrName>style.visibility</p:attrName>
                                        </p:attrNameLst>
                                      </p:cBhvr>
                                      <p:to>
                                        <p:strVal val="visible"/>
                                      </p:to>
                                    </p:set>
                                  </p:childTnLst>
                                </p:cTn>
                              </p:par>
                              <p:par>
                                <p:cTn id="16" presetID="1" presetClass="entr" presetSubtype="0" fill="hold" grpId="0" nodeType="withEffect">
                                  <p:stCondLst>
                                    <p:cond delay="0"/>
                                  </p:stCondLst>
                                  <p:childTnLst>
                                    <p:set>
                                      <p:cBhvr>
                                        <p:cTn id="17" dur="1" fill="hold">
                                          <p:stCondLst>
                                            <p:cond delay="0"/>
                                          </p:stCondLst>
                                        </p:cTn>
                                        <p:tgtEl>
                                          <p:spTgt spid="28"/>
                                        </p:tgtEl>
                                        <p:attrNameLst>
                                          <p:attrName>style.visibility</p:attrName>
                                        </p:attrNameLst>
                                      </p:cBhvr>
                                      <p:to>
                                        <p:strVal val="visible"/>
                                      </p:to>
                                    </p:set>
                                  </p:childTnLst>
                                </p:cTn>
                              </p:par>
                              <p:par>
                                <p:cTn id="18" presetID="1" presetClass="entr" presetSubtype="0" fill="hold" grpId="0" nodeType="withEffect">
                                  <p:stCondLst>
                                    <p:cond delay="0"/>
                                  </p:stCondLst>
                                  <p:childTnLst>
                                    <p:set>
                                      <p:cBhvr>
                                        <p:cTn id="19" dur="1" fill="hold">
                                          <p:stCondLst>
                                            <p:cond delay="0"/>
                                          </p:stCondLst>
                                        </p:cTn>
                                        <p:tgtEl>
                                          <p:spTgt spid="29"/>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30"/>
                                        </p:tgtEl>
                                        <p:attrNameLst>
                                          <p:attrName>style.visibility</p:attrName>
                                        </p:attrNameLst>
                                      </p:cBhvr>
                                      <p:to>
                                        <p:strVal val="visible"/>
                                      </p:to>
                                    </p:set>
                                  </p:childTnLst>
                                </p:cTn>
                              </p:par>
                              <p:par>
                                <p:cTn id="22" presetID="1" presetClass="entr" presetSubtype="0" fill="hold" grpId="0" nodeType="withEffect">
                                  <p:stCondLst>
                                    <p:cond delay="0"/>
                                  </p:stCondLst>
                                  <p:childTnLst>
                                    <p:set>
                                      <p:cBhvr>
                                        <p:cTn id="23" dur="1" fill="hold">
                                          <p:stCondLst>
                                            <p:cond delay="0"/>
                                          </p:stCondLst>
                                        </p:cTn>
                                        <p:tgtEl>
                                          <p:spTgt spid="31"/>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32"/>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33"/>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34"/>
                                        </p:tgtEl>
                                        <p:attrNameLst>
                                          <p:attrName>style.visibility</p:attrName>
                                        </p:attrNameLst>
                                      </p:cBhvr>
                                      <p:to>
                                        <p:strVal val="visible"/>
                                      </p:to>
                                    </p:set>
                                  </p:childTnLst>
                                </p:cTn>
                              </p:par>
                              <p:par>
                                <p:cTn id="30" presetID="1" presetClass="entr" presetSubtype="0" fill="hold" grpId="0" nodeType="withEffect">
                                  <p:stCondLst>
                                    <p:cond delay="0"/>
                                  </p:stCondLst>
                                  <p:childTnLst>
                                    <p:set>
                                      <p:cBhvr>
                                        <p:cTn id="31" dur="1" fill="hold">
                                          <p:stCondLst>
                                            <p:cond delay="0"/>
                                          </p:stCondLst>
                                        </p:cTn>
                                        <p:tgtEl>
                                          <p:spTgt spid="35"/>
                                        </p:tgtEl>
                                        <p:attrNameLst>
                                          <p:attrName>style.visibility</p:attrName>
                                        </p:attrNameLst>
                                      </p:cBhvr>
                                      <p:to>
                                        <p:strVal val="visible"/>
                                      </p:to>
                                    </p:set>
                                  </p:childTnLst>
                                </p:cTn>
                              </p:par>
                            </p:childTnLst>
                          </p:cTn>
                        </p:par>
                      </p:childTnLst>
                    </p:cTn>
                  </p:par>
                  <p:par>
                    <p:cTn id="32" fill="hold" nodeType="clickPar">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42"/>
                                        </p:tgtEl>
                                        <p:attrNameLst>
                                          <p:attrName>style.visibility</p:attrName>
                                        </p:attrNameLst>
                                      </p:cBhvr>
                                      <p:to>
                                        <p:strVal val="visible"/>
                                      </p:to>
                                    </p:set>
                                  </p:childTnLst>
                                </p:cTn>
                              </p:par>
                            </p:childTnLst>
                          </p:cTn>
                        </p:par>
                      </p:childTnLst>
                    </p:cTn>
                  </p:par>
                  <p:par>
                    <p:cTn id="36" fill="hold" nodeType="clickPar">
                      <p:stCondLst>
                        <p:cond delay="indefinite"/>
                      </p:stCondLst>
                      <p:childTnLst>
                        <p:par>
                          <p:cTn id="37" fill="hold">
                            <p:stCondLst>
                              <p:cond delay="0"/>
                            </p:stCondLst>
                            <p:childTnLst>
                              <p:par>
                                <p:cTn id="38" presetID="1" presetClass="entr" presetSubtype="0" fill="hold" nodeType="clickEffect">
                                  <p:stCondLst>
                                    <p:cond delay="0"/>
                                  </p:stCondLst>
                                  <p:childTnLst>
                                    <p:set>
                                      <p:cBhvr>
                                        <p:cTn id="39" dur="1" fill="hold">
                                          <p:stCondLst>
                                            <p:cond delay="0"/>
                                          </p:stCondLst>
                                        </p:cTn>
                                        <p:tgtEl>
                                          <p:spTgt spid="36"/>
                                        </p:tgtEl>
                                        <p:attrNameLst>
                                          <p:attrName>style.visibility</p:attrName>
                                        </p:attrNameLst>
                                      </p:cBhvr>
                                      <p:to>
                                        <p:strVal val="visible"/>
                                      </p:to>
                                    </p:set>
                                  </p:childTnLst>
                                </p:cTn>
                              </p:par>
                            </p:childTnLst>
                          </p:cTn>
                        </p:par>
                      </p:childTnLst>
                    </p:cTn>
                  </p:par>
                  <p:par>
                    <p:cTn id="40" fill="hold" nodeType="clickPar">
                      <p:stCondLst>
                        <p:cond delay="indefinite"/>
                      </p:stCondLst>
                      <p:childTnLst>
                        <p:par>
                          <p:cTn id="41" fill="hold">
                            <p:stCondLst>
                              <p:cond delay="0"/>
                            </p:stCondLst>
                            <p:childTnLst>
                              <p:par>
                                <p:cTn id="42" presetID="1" presetClass="entr" presetSubtype="0" fill="hold" grpId="0" nodeType="clickEffect">
                                  <p:stCondLst>
                                    <p:cond delay="0"/>
                                  </p:stCondLst>
                                  <p:childTnLst>
                                    <p:set>
                                      <p:cBhvr>
                                        <p:cTn id="43" dur="1" fill="hold">
                                          <p:stCondLst>
                                            <p:cond delay="0"/>
                                          </p:stCondLst>
                                        </p:cTn>
                                        <p:tgtEl>
                                          <p:spTgt spid="47"/>
                                        </p:tgtEl>
                                        <p:attrNameLst>
                                          <p:attrName>style.visibility</p:attrName>
                                        </p:attrNameLst>
                                      </p:cBhvr>
                                      <p:to>
                                        <p:strVal val="visible"/>
                                      </p:to>
                                    </p:set>
                                  </p:childTnLst>
                                </p:cTn>
                              </p:par>
                            </p:childTnLst>
                          </p:cTn>
                        </p:par>
                      </p:childTnLst>
                    </p:cTn>
                  </p:par>
                  <p:par>
                    <p:cTn id="44" fill="hold" nodeType="clickPar">
                      <p:stCondLst>
                        <p:cond delay="indefinite"/>
                      </p:stCondLst>
                      <p:childTnLst>
                        <p:par>
                          <p:cTn id="45" fill="hold">
                            <p:stCondLst>
                              <p:cond delay="0"/>
                            </p:stCondLst>
                            <p:childTnLst>
                              <p:par>
                                <p:cTn id="46" presetID="1" presetClass="entr" presetSubtype="0" fill="hold" nodeType="clickEffect">
                                  <p:stCondLst>
                                    <p:cond delay="0"/>
                                  </p:stCondLst>
                                  <p:childTnLst>
                                    <p:set>
                                      <p:cBhvr>
                                        <p:cTn id="47" dur="1" fill="hold">
                                          <p:stCondLst>
                                            <p:cond delay="0"/>
                                          </p:stCondLst>
                                        </p:cTn>
                                        <p:tgtEl>
                                          <p:spTgt spid="41"/>
                                        </p:tgtEl>
                                        <p:attrNameLst>
                                          <p:attrName>style.visibility</p:attrName>
                                        </p:attrNameLst>
                                      </p:cBhvr>
                                      <p:to>
                                        <p:strVal val="visible"/>
                                      </p:to>
                                    </p:set>
                                  </p:childTnLst>
                                </p:cTn>
                              </p:par>
                            </p:childTnLst>
                          </p:cTn>
                        </p:par>
                      </p:childTnLst>
                    </p:cTn>
                  </p:par>
                  <p:par>
                    <p:cTn id="48" fill="hold" nodeType="clickPar">
                      <p:stCondLst>
                        <p:cond delay="indefinite"/>
                      </p:stCondLst>
                      <p:childTnLst>
                        <p:par>
                          <p:cTn id="49" fill="hold">
                            <p:stCondLst>
                              <p:cond delay="0"/>
                            </p:stCondLst>
                            <p:childTnLst>
                              <p:par>
                                <p:cTn id="50" presetID="1" presetClass="entr" presetSubtype="0" fill="hold" grpId="0" nodeType="clickEffect">
                                  <p:stCondLst>
                                    <p:cond delay="0"/>
                                  </p:stCondLst>
                                  <p:childTnLst>
                                    <p:set>
                                      <p:cBhvr>
                                        <p:cTn id="51" dur="1" fill="hold">
                                          <p:stCondLst>
                                            <p:cond delay="0"/>
                                          </p:stCondLst>
                                        </p:cTn>
                                        <p:tgtEl>
                                          <p:spTgt spid="46"/>
                                        </p:tgtEl>
                                        <p:attrNameLst>
                                          <p:attrName>style.visibility</p:attrName>
                                        </p:attrNameLst>
                                      </p:cBhvr>
                                      <p:to>
                                        <p:strVal val="visible"/>
                                      </p:to>
                                    </p:set>
                                  </p:childTnLst>
                                </p:cTn>
                              </p:par>
                            </p:childTnLst>
                          </p:cTn>
                        </p:par>
                      </p:childTnLst>
                    </p:cTn>
                  </p:par>
                  <p:par>
                    <p:cTn id="52" fill="hold" nodeType="clickPar">
                      <p:stCondLst>
                        <p:cond delay="indefinite"/>
                      </p:stCondLst>
                      <p:childTnLst>
                        <p:par>
                          <p:cTn id="53" fill="hold">
                            <p:stCondLst>
                              <p:cond delay="0"/>
                            </p:stCondLst>
                            <p:childTnLst>
                              <p:par>
                                <p:cTn id="54" presetID="1" presetClass="entr" presetSubtype="0" fill="hold" nodeType="clickEffect">
                                  <p:stCondLst>
                                    <p:cond delay="0"/>
                                  </p:stCondLst>
                                  <p:childTnLst>
                                    <p:set>
                                      <p:cBhvr>
                                        <p:cTn id="55" dur="1" fill="hold">
                                          <p:stCondLst>
                                            <p:cond delay="0"/>
                                          </p:stCondLst>
                                        </p:cTn>
                                        <p:tgtEl>
                                          <p:spTgt spid="37"/>
                                        </p:tgtEl>
                                        <p:attrNameLst>
                                          <p:attrName>style.visibility</p:attrName>
                                        </p:attrNameLst>
                                      </p:cBhvr>
                                      <p:to>
                                        <p:strVal val="visible"/>
                                      </p:to>
                                    </p:set>
                                  </p:childTnLst>
                                </p:cTn>
                              </p:par>
                            </p:childTnLst>
                          </p:cTn>
                        </p:par>
                      </p:childTnLst>
                    </p:cTn>
                  </p:par>
                  <p:par>
                    <p:cTn id="56" fill="hold" nodeType="clickPar">
                      <p:stCondLst>
                        <p:cond delay="indefinite"/>
                      </p:stCondLst>
                      <p:childTnLst>
                        <p:par>
                          <p:cTn id="57" fill="hold">
                            <p:stCondLst>
                              <p:cond delay="0"/>
                            </p:stCondLst>
                            <p:childTnLst>
                              <p:par>
                                <p:cTn id="58" presetID="1" presetClass="entr" presetSubtype="0" fill="hold" grpId="0" nodeType="clickEffect">
                                  <p:stCondLst>
                                    <p:cond delay="0"/>
                                  </p:stCondLst>
                                  <p:childTnLst>
                                    <p:set>
                                      <p:cBhvr>
                                        <p:cTn id="59" dur="1" fill="hold">
                                          <p:stCondLst>
                                            <p:cond delay="0"/>
                                          </p:stCondLst>
                                        </p:cTn>
                                        <p:tgtEl>
                                          <p:spTgt spid="48"/>
                                        </p:tgtEl>
                                        <p:attrNameLst>
                                          <p:attrName>style.visibility</p:attrName>
                                        </p:attrNameLst>
                                      </p:cBhvr>
                                      <p:to>
                                        <p:strVal val="visible"/>
                                      </p:to>
                                    </p:set>
                                  </p:childTnLst>
                                </p:cTn>
                              </p:par>
                            </p:childTnLst>
                          </p:cTn>
                        </p:par>
                      </p:childTnLst>
                    </p:cTn>
                  </p:par>
                  <p:par>
                    <p:cTn id="60" fill="hold" nodeType="clickPar">
                      <p:stCondLst>
                        <p:cond delay="indefinite"/>
                      </p:stCondLst>
                      <p:childTnLst>
                        <p:par>
                          <p:cTn id="61" fill="hold">
                            <p:stCondLst>
                              <p:cond delay="0"/>
                            </p:stCondLst>
                            <p:childTnLst>
                              <p:par>
                                <p:cTn id="62" presetID="1" presetClass="entr" presetSubtype="0" fill="hold" nodeType="clickEffect">
                                  <p:stCondLst>
                                    <p:cond delay="0"/>
                                  </p:stCondLst>
                                  <p:childTnLst>
                                    <p:set>
                                      <p:cBhvr>
                                        <p:cTn id="63" dur="1" fill="hold">
                                          <p:stCondLst>
                                            <p:cond delay="0"/>
                                          </p:stCondLst>
                                        </p:cTn>
                                        <p:tgtEl>
                                          <p:spTgt spid="40"/>
                                        </p:tgtEl>
                                        <p:attrNameLst>
                                          <p:attrName>style.visibility</p:attrName>
                                        </p:attrNameLst>
                                      </p:cBhvr>
                                      <p:to>
                                        <p:strVal val="visible"/>
                                      </p:to>
                                    </p:set>
                                  </p:childTnLst>
                                </p:cTn>
                              </p:par>
                            </p:childTnLst>
                          </p:cTn>
                        </p:par>
                      </p:childTnLst>
                    </p:cTn>
                  </p:par>
                  <p:par>
                    <p:cTn id="64" fill="hold" nodeType="clickPar">
                      <p:stCondLst>
                        <p:cond delay="indefinite"/>
                      </p:stCondLst>
                      <p:childTnLst>
                        <p:par>
                          <p:cTn id="65" fill="hold">
                            <p:stCondLst>
                              <p:cond delay="0"/>
                            </p:stCondLst>
                            <p:childTnLst>
                              <p:par>
                                <p:cTn id="66" presetID="1" presetClass="entr" presetSubtype="0" fill="hold" grpId="0" nodeType="clickEffect">
                                  <p:stCondLst>
                                    <p:cond delay="0"/>
                                  </p:stCondLst>
                                  <p:childTnLst>
                                    <p:set>
                                      <p:cBhvr>
                                        <p:cTn id="67" dur="1" fill="hold">
                                          <p:stCondLst>
                                            <p:cond delay="0"/>
                                          </p:stCondLst>
                                        </p:cTn>
                                        <p:tgtEl>
                                          <p:spTgt spid="43"/>
                                        </p:tgtEl>
                                        <p:attrNameLst>
                                          <p:attrName>style.visibility</p:attrName>
                                        </p:attrNameLst>
                                      </p:cBhvr>
                                      <p:to>
                                        <p:strVal val="visible"/>
                                      </p:to>
                                    </p:set>
                                  </p:childTnLst>
                                </p:cTn>
                              </p:par>
                            </p:childTnLst>
                          </p:cTn>
                        </p:par>
                      </p:childTnLst>
                    </p:cTn>
                  </p:par>
                  <p:par>
                    <p:cTn id="68" fill="hold" nodeType="clickPar">
                      <p:stCondLst>
                        <p:cond delay="indefinite"/>
                      </p:stCondLst>
                      <p:childTnLst>
                        <p:par>
                          <p:cTn id="69" fill="hold">
                            <p:stCondLst>
                              <p:cond delay="0"/>
                            </p:stCondLst>
                            <p:childTnLst>
                              <p:par>
                                <p:cTn id="70" presetID="1" presetClass="entr" presetSubtype="0" fill="hold" nodeType="clickEffect">
                                  <p:stCondLst>
                                    <p:cond delay="0"/>
                                  </p:stCondLst>
                                  <p:childTnLst>
                                    <p:set>
                                      <p:cBhvr>
                                        <p:cTn id="71" dur="1" fill="hold">
                                          <p:stCondLst>
                                            <p:cond delay="0"/>
                                          </p:stCondLst>
                                        </p:cTn>
                                        <p:tgtEl>
                                          <p:spTgt spid="39"/>
                                        </p:tgtEl>
                                        <p:attrNameLst>
                                          <p:attrName>style.visibility</p:attrName>
                                        </p:attrNameLst>
                                      </p:cBhvr>
                                      <p:to>
                                        <p:strVal val="visible"/>
                                      </p:to>
                                    </p:set>
                                  </p:childTnLst>
                                </p:cTn>
                              </p:par>
                            </p:childTnLst>
                          </p:cTn>
                        </p:par>
                      </p:childTnLst>
                    </p:cTn>
                  </p:par>
                  <p:par>
                    <p:cTn id="72" fill="hold" nodeType="clickPar">
                      <p:stCondLst>
                        <p:cond delay="indefinite"/>
                      </p:stCondLst>
                      <p:childTnLst>
                        <p:par>
                          <p:cTn id="73" fill="hold">
                            <p:stCondLst>
                              <p:cond delay="0"/>
                            </p:stCondLst>
                            <p:childTnLst>
                              <p:par>
                                <p:cTn id="74" presetID="1" presetClass="entr" presetSubtype="0" fill="hold" grpId="0" nodeType="clickEffect">
                                  <p:stCondLst>
                                    <p:cond delay="0"/>
                                  </p:stCondLst>
                                  <p:childTnLst>
                                    <p:set>
                                      <p:cBhvr>
                                        <p:cTn id="75" dur="1" fill="hold">
                                          <p:stCondLst>
                                            <p:cond delay="0"/>
                                          </p:stCondLst>
                                        </p:cTn>
                                        <p:tgtEl>
                                          <p:spTgt spid="44"/>
                                        </p:tgtEl>
                                        <p:attrNameLst>
                                          <p:attrName>style.visibility</p:attrName>
                                        </p:attrNameLst>
                                      </p:cBhvr>
                                      <p:to>
                                        <p:strVal val="visible"/>
                                      </p:to>
                                    </p:set>
                                  </p:childTnLst>
                                </p:cTn>
                              </p:par>
                            </p:childTnLst>
                          </p:cTn>
                        </p:par>
                      </p:childTnLst>
                    </p:cTn>
                  </p:par>
                  <p:par>
                    <p:cTn id="76" fill="hold" nodeType="clickPar">
                      <p:stCondLst>
                        <p:cond delay="indefinite"/>
                      </p:stCondLst>
                      <p:childTnLst>
                        <p:par>
                          <p:cTn id="77" fill="hold">
                            <p:stCondLst>
                              <p:cond delay="0"/>
                            </p:stCondLst>
                            <p:childTnLst>
                              <p:par>
                                <p:cTn id="78" presetID="1" presetClass="entr" presetSubtype="0" fill="hold" nodeType="clickEffect">
                                  <p:stCondLst>
                                    <p:cond delay="0"/>
                                  </p:stCondLst>
                                  <p:childTnLst>
                                    <p:set>
                                      <p:cBhvr>
                                        <p:cTn id="79" dur="1" fill="hold">
                                          <p:stCondLst>
                                            <p:cond delay="0"/>
                                          </p:stCondLst>
                                        </p:cTn>
                                        <p:tgtEl>
                                          <p:spTgt spid="38"/>
                                        </p:tgtEl>
                                        <p:attrNameLst>
                                          <p:attrName>style.visibility</p:attrName>
                                        </p:attrNameLst>
                                      </p:cBhvr>
                                      <p:to>
                                        <p:strVal val="visible"/>
                                      </p:to>
                                    </p:set>
                                  </p:childTnLst>
                                </p:cTn>
                              </p:par>
                            </p:childTnLst>
                          </p:cTn>
                        </p:par>
                      </p:childTnLst>
                    </p:cTn>
                  </p:par>
                  <p:par>
                    <p:cTn id="80" fill="hold" nodeType="clickPar">
                      <p:stCondLst>
                        <p:cond delay="indefinite"/>
                      </p:stCondLst>
                      <p:childTnLst>
                        <p:par>
                          <p:cTn id="81" fill="hold">
                            <p:stCondLst>
                              <p:cond delay="0"/>
                            </p:stCondLst>
                            <p:childTnLst>
                              <p:par>
                                <p:cTn id="82" presetID="1" presetClass="entr" presetSubtype="0" fill="hold" grpId="0" nodeType="clickEffect">
                                  <p:stCondLst>
                                    <p:cond delay="0"/>
                                  </p:stCondLst>
                                  <p:childTnLst>
                                    <p:set>
                                      <p:cBhvr>
                                        <p:cTn id="83" dur="1" fill="hold">
                                          <p:stCondLst>
                                            <p:cond delay="0"/>
                                          </p:stCondLst>
                                        </p:cTn>
                                        <p:tgtEl>
                                          <p:spTgt spid="45"/>
                                        </p:tgtEl>
                                        <p:attrNameLst>
                                          <p:attrName>style.visibility</p:attrName>
                                        </p:attrNameLst>
                                      </p:cBhvr>
                                      <p:to>
                                        <p:strVal val="visible"/>
                                      </p:to>
                                    </p:set>
                                  </p:childTnLst>
                                </p:cTn>
                              </p:par>
                            </p:childTnLst>
                          </p:cTn>
                        </p:par>
                      </p:childTnLst>
                    </p:cTn>
                  </p:par>
                  <p:par>
                    <p:cTn id="84" fill="hold" nodeType="clickPar">
                      <p:stCondLst>
                        <p:cond delay="indefinite"/>
                      </p:stCondLst>
                      <p:childTnLst>
                        <p:par>
                          <p:cTn id="85" fill="hold">
                            <p:stCondLst>
                              <p:cond delay="0"/>
                            </p:stCondLst>
                            <p:childTnLst>
                              <p:par>
                                <p:cTn id="86" presetID="10" presetClass="entr" presetSubtype="0" fill="hold" nodeType="clickEffect">
                                  <p:stCondLst>
                                    <p:cond delay="0"/>
                                  </p:stCondLst>
                                  <p:childTnLst>
                                    <p:set>
                                      <p:cBhvr>
                                        <p:cTn id="87" dur="1" fill="hold">
                                          <p:stCondLst>
                                            <p:cond delay="0"/>
                                          </p:stCondLst>
                                        </p:cTn>
                                        <p:tgtEl>
                                          <p:spTgt spid="3">
                                            <p:txEl>
                                              <p:pRg st="8" end="8"/>
                                            </p:txEl>
                                          </p:spTgt>
                                        </p:tgtEl>
                                        <p:attrNameLst>
                                          <p:attrName>style.visibility</p:attrName>
                                        </p:attrNameLst>
                                      </p:cBhvr>
                                      <p:to>
                                        <p:strVal val="visible"/>
                                      </p:to>
                                    </p:set>
                                    <p:animEffect transition="in" filter="fade">
                                      <p:cBhvr>
                                        <p:cTn id="88" dur="500"/>
                                        <p:tgtEl>
                                          <p:spTgt spid="3">
                                            <p:txEl>
                                              <p:pRg st="8" end="8"/>
                                            </p:txEl>
                                          </p:spTgt>
                                        </p:tgtEl>
                                      </p:cBhvr>
                                    </p:animEffect>
                                  </p:childTnLst>
                                </p:cTn>
                              </p:par>
                            </p:childTnLst>
                          </p:cTn>
                        </p:par>
                      </p:childTnLst>
                    </p:cTn>
                  </p:par>
                  <p:par>
                    <p:cTn id="89" fill="hold" nodeType="clickPar">
                      <p:stCondLst>
                        <p:cond delay="indefinite"/>
                      </p:stCondLst>
                      <p:childTnLst>
                        <p:par>
                          <p:cTn id="90" fill="hold">
                            <p:stCondLst>
                              <p:cond delay="0"/>
                            </p:stCondLst>
                            <p:childTnLst>
                              <p:par>
                                <p:cTn id="91" presetID="10" presetClass="entr" presetSubtype="0" fill="hold" nodeType="clickEffect">
                                  <p:stCondLst>
                                    <p:cond delay="0"/>
                                  </p:stCondLst>
                                  <p:childTnLst>
                                    <p:set>
                                      <p:cBhvr>
                                        <p:cTn id="92" dur="1" fill="hold">
                                          <p:stCondLst>
                                            <p:cond delay="0"/>
                                          </p:stCondLst>
                                        </p:cTn>
                                        <p:tgtEl>
                                          <p:spTgt spid="3">
                                            <p:txEl>
                                              <p:pRg st="9" end="9"/>
                                            </p:txEl>
                                          </p:spTgt>
                                        </p:tgtEl>
                                        <p:attrNameLst>
                                          <p:attrName>style.visibility</p:attrName>
                                        </p:attrNameLst>
                                      </p:cBhvr>
                                      <p:to>
                                        <p:strVal val="visible"/>
                                      </p:to>
                                    </p:set>
                                    <p:animEffect transition="in" filter="fade">
                                      <p:cBhvr>
                                        <p:cTn id="93"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8" grpId="0"/>
      <p:bldP spid="29" grpId="0"/>
      <p:bldP spid="30" grpId="0"/>
      <p:bldP spid="31" grpId="0"/>
      <p:bldP spid="32" grpId="0"/>
      <p:bldP spid="33" grpId="0"/>
      <p:bldP spid="34" grpId="0"/>
      <p:bldP spid="35" grpId="0"/>
      <p:bldP spid="42" grpId="0"/>
      <p:bldP spid="43" grpId="0"/>
      <p:bldP spid="44" grpId="0"/>
      <p:bldP spid="45" grpId="0"/>
      <p:bldP spid="46" grpId="0"/>
      <p:bldP spid="47" grpId="0"/>
      <p:bldP spid="48"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SCAN</a:t>
            </a:r>
          </a:p>
        </p:txBody>
      </p:sp>
      <p:sp>
        <p:nvSpPr>
          <p:cNvPr id="3" name="Content Placeholder 2"/>
          <p:cNvSpPr>
            <a:spLocks noGrp="1"/>
          </p:cNvSpPr>
          <p:nvPr>
            <p:ph idx="1"/>
          </p:nvPr>
        </p:nvSpPr>
        <p:spPr/>
        <p:txBody>
          <a:bodyPr/>
          <a:lstStyle/>
          <a:p>
            <a:r>
              <a:rPr lang="en-US" b="1" dirty="0">
                <a:solidFill>
                  <a:schemeClr val="accent6"/>
                </a:solidFill>
              </a:rPr>
              <a:t>From the current position disk arm starts in up direction and moves towards the end</a:t>
            </a:r>
            <a:r>
              <a:rPr lang="en-US" dirty="0"/>
              <a:t>, serving all the pending requests until end.</a:t>
            </a:r>
          </a:p>
          <a:p>
            <a:r>
              <a:rPr lang="en-US" dirty="0"/>
              <a:t>At that end arm </a:t>
            </a:r>
            <a:r>
              <a:rPr lang="en-US" b="1" dirty="0">
                <a:solidFill>
                  <a:schemeClr val="accent6"/>
                </a:solidFill>
              </a:rPr>
              <a:t>direction is reversed (down) and moves towards the other end serving the pending requests on the way</a:t>
            </a:r>
            <a:r>
              <a:rPr lang="en-US" dirty="0"/>
              <a:t>.</a:t>
            </a:r>
          </a:p>
          <a:p>
            <a:r>
              <a:rPr lang="en-US" dirty="0"/>
              <a:t>This is also called as </a:t>
            </a:r>
            <a:r>
              <a:rPr lang="en-US" b="1" dirty="0">
                <a:solidFill>
                  <a:schemeClr val="accent6"/>
                </a:solidFill>
              </a:rPr>
              <a:t>elevator algorithm</a:t>
            </a:r>
            <a:r>
              <a:rPr lang="en-US" dirty="0"/>
              <a:t>.</a:t>
            </a:r>
          </a:p>
        </p:txBody>
      </p:sp>
    </p:spTree>
    <p:extLst>
      <p:ext uri="{BB962C8B-B14F-4D97-AF65-F5344CB8AC3E}">
        <p14:creationId xmlns:p14="http://schemas.microsoft.com/office/powerpoint/2010/main" val="873878583"/>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nodeType="clickPar">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SCAN</a:t>
            </a:r>
          </a:p>
        </p:txBody>
      </p:sp>
      <p:sp>
        <p:nvSpPr>
          <p:cNvPr id="3" name="Content Placeholder 2"/>
          <p:cNvSpPr>
            <a:spLocks noGrp="1"/>
          </p:cNvSpPr>
          <p:nvPr>
            <p:ph idx="1"/>
          </p:nvPr>
        </p:nvSpPr>
        <p:spPr/>
        <p:txBody>
          <a:bodyPr/>
          <a:lstStyle/>
          <a:p>
            <a:r>
              <a:rPr lang="en-US"/>
              <a:t>Here first it moves in up direction then goes in down direction</a:t>
            </a:r>
          </a:p>
          <a:p>
            <a:endParaRPr lang="en-US"/>
          </a:p>
          <a:p>
            <a:endParaRPr lang="en-US"/>
          </a:p>
          <a:p>
            <a:endParaRPr lang="en-US"/>
          </a:p>
          <a:p>
            <a:endParaRPr lang="en-US"/>
          </a:p>
          <a:p>
            <a:endParaRPr lang="en-US"/>
          </a:p>
          <a:p>
            <a:endParaRPr lang="en-US"/>
          </a:p>
          <a:p>
            <a:pPr marL="0" indent="0">
              <a:buNone/>
            </a:pPr>
            <a:endParaRPr lang="en-US"/>
          </a:p>
          <a:p>
            <a:endParaRPr lang="en-US"/>
          </a:p>
          <a:p>
            <a:r>
              <a:rPr lang="en-US"/>
              <a:t>Disk movement will be 11, 12, 16, 34, 36, 50, 9 and 1.</a:t>
            </a:r>
          </a:p>
          <a:p>
            <a:r>
              <a:rPr lang="en-US"/>
              <a:t>Total cylinder movement: (12-11) + (16-12) + (34-16) +(36-34) +(50-36) + (50-9) + (9-1) = 88</a:t>
            </a:r>
          </a:p>
        </p:txBody>
      </p:sp>
      <p:sp>
        <p:nvSpPr>
          <p:cNvPr id="26" name="TextBox 25"/>
          <p:cNvSpPr txBox="1"/>
          <p:nvPr/>
        </p:nvSpPr>
        <p:spPr>
          <a:xfrm>
            <a:off x="8212822" y="1855654"/>
            <a:ext cx="472604" cy="1754326"/>
          </a:xfrm>
          <a:prstGeom prst="rect">
            <a:avLst/>
          </a:prstGeom>
          <a:ln w="28575">
            <a:solidFill>
              <a:schemeClr val="accent1"/>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r>
              <a:rPr lang="en-IN"/>
              <a:t>1, 36, 16, 34, 9, 12</a:t>
            </a:r>
            <a:endParaRPr lang="en-US"/>
          </a:p>
        </p:txBody>
      </p:sp>
      <p:graphicFrame>
        <p:nvGraphicFramePr>
          <p:cNvPr id="27" name="Table 26"/>
          <p:cNvGraphicFramePr>
            <a:graphicFrameLocks noGrp="1"/>
          </p:cNvGraphicFramePr>
          <p:nvPr/>
        </p:nvGraphicFramePr>
        <p:xfrm>
          <a:off x="609597" y="1833880"/>
          <a:ext cx="7010402" cy="2966720"/>
        </p:xfrm>
        <a:graphic>
          <a:graphicData uri="http://schemas.openxmlformats.org/drawingml/2006/table">
            <a:tbl>
              <a:tblPr firstRow="1" bandRow="1">
                <a:tableStyleId>{5940675A-B579-460E-94D1-54222C63F5DA}</a:tableStyleId>
              </a:tblPr>
              <a:tblGrid>
                <a:gridCol w="457203">
                  <a:extLst>
                    <a:ext uri="{9D8B030D-6E8A-4147-A177-3AD203B41FA5}">
                      <a16:colId xmlns:a16="http://schemas.microsoft.com/office/drawing/2014/main" xmlns="" val="20000"/>
                    </a:ext>
                  </a:extLst>
                </a:gridCol>
                <a:gridCol w="990600">
                  <a:extLst>
                    <a:ext uri="{9D8B030D-6E8A-4147-A177-3AD203B41FA5}">
                      <a16:colId xmlns:a16="http://schemas.microsoft.com/office/drawing/2014/main" xmlns="" val="20001"/>
                    </a:ext>
                  </a:extLst>
                </a:gridCol>
                <a:gridCol w="838200">
                  <a:extLst>
                    <a:ext uri="{9D8B030D-6E8A-4147-A177-3AD203B41FA5}">
                      <a16:colId xmlns:a16="http://schemas.microsoft.com/office/drawing/2014/main" xmlns="" val="20002"/>
                    </a:ext>
                  </a:extLst>
                </a:gridCol>
                <a:gridCol w="762000">
                  <a:extLst>
                    <a:ext uri="{9D8B030D-6E8A-4147-A177-3AD203B41FA5}">
                      <a16:colId xmlns:a16="http://schemas.microsoft.com/office/drawing/2014/main" xmlns="" val="20003"/>
                    </a:ext>
                  </a:extLst>
                </a:gridCol>
                <a:gridCol w="1959427">
                  <a:extLst>
                    <a:ext uri="{9D8B030D-6E8A-4147-A177-3AD203B41FA5}">
                      <a16:colId xmlns:a16="http://schemas.microsoft.com/office/drawing/2014/main" xmlns="" val="20004"/>
                    </a:ext>
                  </a:extLst>
                </a:gridCol>
                <a:gridCol w="555173">
                  <a:extLst>
                    <a:ext uri="{9D8B030D-6E8A-4147-A177-3AD203B41FA5}">
                      <a16:colId xmlns:a16="http://schemas.microsoft.com/office/drawing/2014/main" xmlns="" val="20005"/>
                    </a:ext>
                  </a:extLst>
                </a:gridCol>
                <a:gridCol w="1447799">
                  <a:extLst>
                    <a:ext uri="{9D8B030D-6E8A-4147-A177-3AD203B41FA5}">
                      <a16:colId xmlns:a16="http://schemas.microsoft.com/office/drawing/2014/main" xmlns="" val="20006"/>
                    </a:ext>
                  </a:extLst>
                </a:gridCol>
              </a:tblGrid>
              <a:tr h="2966720">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extLst>
                  <a:ext uri="{0D108BD9-81ED-4DB2-BD59-A6C34878D82A}">
                    <a16:rowId xmlns:a16="http://schemas.microsoft.com/office/drawing/2014/main" xmlns="" val="10000"/>
                  </a:ext>
                </a:extLst>
              </a:tr>
            </a:tbl>
          </a:graphicData>
        </a:graphic>
      </p:graphicFrame>
      <p:sp>
        <p:nvSpPr>
          <p:cNvPr id="28" name="TextBox 27"/>
          <p:cNvSpPr txBox="1"/>
          <p:nvPr/>
        </p:nvSpPr>
        <p:spPr>
          <a:xfrm>
            <a:off x="547435" y="1433770"/>
            <a:ext cx="304800" cy="400110"/>
          </a:xfrm>
          <a:prstGeom prst="rect">
            <a:avLst/>
          </a:prstGeom>
          <a:noFill/>
        </p:spPr>
        <p:txBody>
          <a:bodyPr wrap="square" rtlCol="0">
            <a:spAutoFit/>
          </a:bodyPr>
          <a:lstStyle/>
          <a:p>
            <a:pPr algn="ctr"/>
            <a:r>
              <a:rPr lang="en-US" sz="2000"/>
              <a:t>0</a:t>
            </a:r>
            <a:endParaRPr lang="en-IN"/>
          </a:p>
        </p:txBody>
      </p:sp>
      <p:sp>
        <p:nvSpPr>
          <p:cNvPr id="29" name="TextBox 28"/>
          <p:cNvSpPr txBox="1"/>
          <p:nvPr/>
        </p:nvSpPr>
        <p:spPr>
          <a:xfrm>
            <a:off x="914400" y="1447800"/>
            <a:ext cx="304800" cy="400110"/>
          </a:xfrm>
          <a:prstGeom prst="rect">
            <a:avLst/>
          </a:prstGeom>
          <a:noFill/>
        </p:spPr>
        <p:txBody>
          <a:bodyPr wrap="square" rtlCol="0">
            <a:spAutoFit/>
          </a:bodyPr>
          <a:lstStyle/>
          <a:p>
            <a:pPr algn="ctr"/>
            <a:r>
              <a:rPr lang="en-US" sz="2000"/>
              <a:t>1</a:t>
            </a:r>
            <a:endParaRPr lang="en-IN"/>
          </a:p>
        </p:txBody>
      </p:sp>
      <p:sp>
        <p:nvSpPr>
          <p:cNvPr id="30" name="TextBox 29"/>
          <p:cNvSpPr txBox="1"/>
          <p:nvPr/>
        </p:nvSpPr>
        <p:spPr>
          <a:xfrm>
            <a:off x="1905000" y="1439315"/>
            <a:ext cx="304800" cy="400110"/>
          </a:xfrm>
          <a:prstGeom prst="rect">
            <a:avLst/>
          </a:prstGeom>
          <a:noFill/>
        </p:spPr>
        <p:txBody>
          <a:bodyPr wrap="square" rtlCol="0">
            <a:spAutoFit/>
          </a:bodyPr>
          <a:lstStyle/>
          <a:p>
            <a:pPr algn="ctr"/>
            <a:r>
              <a:rPr lang="en-US" sz="2000"/>
              <a:t>9</a:t>
            </a:r>
            <a:endParaRPr lang="en-IN"/>
          </a:p>
        </p:txBody>
      </p:sp>
      <p:sp>
        <p:nvSpPr>
          <p:cNvPr id="31" name="TextBox 30"/>
          <p:cNvSpPr txBox="1"/>
          <p:nvPr/>
        </p:nvSpPr>
        <p:spPr>
          <a:xfrm>
            <a:off x="2670372" y="1433770"/>
            <a:ext cx="468503" cy="400110"/>
          </a:xfrm>
          <a:prstGeom prst="rect">
            <a:avLst/>
          </a:prstGeom>
          <a:noFill/>
        </p:spPr>
        <p:txBody>
          <a:bodyPr wrap="square" rtlCol="0">
            <a:spAutoFit/>
          </a:bodyPr>
          <a:lstStyle/>
          <a:p>
            <a:pPr algn="ctr"/>
            <a:r>
              <a:rPr lang="en-US" sz="2000"/>
              <a:t>12</a:t>
            </a:r>
            <a:endParaRPr lang="en-IN"/>
          </a:p>
        </p:txBody>
      </p:sp>
      <p:sp>
        <p:nvSpPr>
          <p:cNvPr id="32" name="TextBox 31"/>
          <p:cNvSpPr txBox="1"/>
          <p:nvPr/>
        </p:nvSpPr>
        <p:spPr>
          <a:xfrm>
            <a:off x="3412955" y="1433770"/>
            <a:ext cx="502687" cy="400110"/>
          </a:xfrm>
          <a:prstGeom prst="rect">
            <a:avLst/>
          </a:prstGeom>
          <a:noFill/>
        </p:spPr>
        <p:txBody>
          <a:bodyPr wrap="square" rtlCol="0">
            <a:spAutoFit/>
          </a:bodyPr>
          <a:lstStyle/>
          <a:p>
            <a:pPr algn="ctr"/>
            <a:r>
              <a:rPr lang="en-US" sz="2000"/>
              <a:t>16</a:t>
            </a:r>
            <a:endParaRPr lang="en-IN"/>
          </a:p>
        </p:txBody>
      </p:sp>
      <p:sp>
        <p:nvSpPr>
          <p:cNvPr id="33" name="TextBox 32"/>
          <p:cNvSpPr txBox="1"/>
          <p:nvPr/>
        </p:nvSpPr>
        <p:spPr>
          <a:xfrm>
            <a:off x="5378116" y="1447800"/>
            <a:ext cx="485273" cy="400110"/>
          </a:xfrm>
          <a:prstGeom prst="rect">
            <a:avLst/>
          </a:prstGeom>
          <a:noFill/>
        </p:spPr>
        <p:txBody>
          <a:bodyPr wrap="square" rtlCol="0">
            <a:spAutoFit/>
          </a:bodyPr>
          <a:lstStyle/>
          <a:p>
            <a:pPr algn="ctr"/>
            <a:r>
              <a:rPr lang="en-US" sz="2000"/>
              <a:t>34</a:t>
            </a:r>
            <a:endParaRPr lang="en-IN"/>
          </a:p>
        </p:txBody>
      </p:sp>
      <p:sp>
        <p:nvSpPr>
          <p:cNvPr id="34" name="TextBox 33"/>
          <p:cNvSpPr txBox="1"/>
          <p:nvPr/>
        </p:nvSpPr>
        <p:spPr>
          <a:xfrm>
            <a:off x="5964654" y="1440785"/>
            <a:ext cx="448178" cy="400110"/>
          </a:xfrm>
          <a:prstGeom prst="rect">
            <a:avLst/>
          </a:prstGeom>
          <a:noFill/>
        </p:spPr>
        <p:txBody>
          <a:bodyPr wrap="square" rtlCol="0">
            <a:spAutoFit/>
          </a:bodyPr>
          <a:lstStyle/>
          <a:p>
            <a:pPr algn="ctr"/>
            <a:r>
              <a:rPr lang="en-US" sz="2000"/>
              <a:t>36</a:t>
            </a:r>
            <a:endParaRPr lang="en-IN"/>
          </a:p>
        </p:txBody>
      </p:sp>
      <p:sp>
        <p:nvSpPr>
          <p:cNvPr id="35" name="TextBox 34"/>
          <p:cNvSpPr txBox="1"/>
          <p:nvPr/>
        </p:nvSpPr>
        <p:spPr>
          <a:xfrm>
            <a:off x="7325863" y="1440785"/>
            <a:ext cx="568216" cy="400110"/>
          </a:xfrm>
          <a:prstGeom prst="rect">
            <a:avLst/>
          </a:prstGeom>
          <a:noFill/>
        </p:spPr>
        <p:txBody>
          <a:bodyPr wrap="square" rtlCol="0">
            <a:spAutoFit/>
          </a:bodyPr>
          <a:lstStyle/>
          <a:p>
            <a:pPr algn="ctr"/>
            <a:r>
              <a:rPr lang="en-US" sz="2000"/>
              <a:t>50</a:t>
            </a:r>
            <a:endParaRPr lang="en-IN"/>
          </a:p>
        </p:txBody>
      </p:sp>
      <p:cxnSp>
        <p:nvCxnSpPr>
          <p:cNvPr id="36" name="Straight Connector 35"/>
          <p:cNvCxnSpPr/>
          <p:nvPr/>
        </p:nvCxnSpPr>
        <p:spPr>
          <a:xfrm flipH="1" flipV="1">
            <a:off x="2470484" y="2197768"/>
            <a:ext cx="431150" cy="393032"/>
          </a:xfrm>
          <a:prstGeom prst="line">
            <a:avLst/>
          </a:prstGeom>
        </p:spPr>
        <p:style>
          <a:lnRef idx="3">
            <a:schemeClr val="dk1"/>
          </a:lnRef>
          <a:fillRef idx="0">
            <a:schemeClr val="dk1"/>
          </a:fillRef>
          <a:effectRef idx="2">
            <a:schemeClr val="dk1"/>
          </a:effectRef>
          <a:fontRef idx="minor">
            <a:schemeClr val="tx1"/>
          </a:fontRef>
        </p:style>
      </p:cxnSp>
      <p:cxnSp>
        <p:nvCxnSpPr>
          <p:cNvPr id="37" name="Straight Connector 36"/>
          <p:cNvCxnSpPr/>
          <p:nvPr/>
        </p:nvCxnSpPr>
        <p:spPr>
          <a:xfrm>
            <a:off x="3664298" y="2941362"/>
            <a:ext cx="1947718" cy="377208"/>
          </a:xfrm>
          <a:prstGeom prst="line">
            <a:avLst/>
          </a:prstGeom>
        </p:spPr>
        <p:style>
          <a:lnRef idx="3">
            <a:schemeClr val="dk1"/>
          </a:lnRef>
          <a:fillRef idx="0">
            <a:schemeClr val="dk1"/>
          </a:fillRef>
          <a:effectRef idx="2">
            <a:schemeClr val="dk1"/>
          </a:effectRef>
          <a:fontRef idx="minor">
            <a:schemeClr val="tx1"/>
          </a:fontRef>
        </p:style>
      </p:cxnSp>
      <p:cxnSp>
        <p:nvCxnSpPr>
          <p:cNvPr id="38" name="Straight Connector 37"/>
          <p:cNvCxnSpPr/>
          <p:nvPr/>
        </p:nvCxnSpPr>
        <p:spPr>
          <a:xfrm flipH="1" flipV="1">
            <a:off x="5612016" y="3329378"/>
            <a:ext cx="568652" cy="389712"/>
          </a:xfrm>
          <a:prstGeom prst="line">
            <a:avLst/>
          </a:prstGeom>
        </p:spPr>
        <p:style>
          <a:lnRef idx="3">
            <a:schemeClr val="dk1"/>
          </a:lnRef>
          <a:fillRef idx="0">
            <a:schemeClr val="dk1"/>
          </a:fillRef>
          <a:effectRef idx="2">
            <a:schemeClr val="dk1"/>
          </a:effectRef>
          <a:fontRef idx="minor">
            <a:schemeClr val="tx1"/>
          </a:fontRef>
        </p:style>
      </p:cxnSp>
      <p:cxnSp>
        <p:nvCxnSpPr>
          <p:cNvPr id="39" name="Straight Connector 38"/>
          <p:cNvCxnSpPr/>
          <p:nvPr/>
        </p:nvCxnSpPr>
        <p:spPr>
          <a:xfrm flipV="1">
            <a:off x="2057402" y="4038600"/>
            <a:ext cx="5562598" cy="397168"/>
          </a:xfrm>
          <a:prstGeom prst="line">
            <a:avLst/>
          </a:prstGeom>
        </p:spPr>
        <p:style>
          <a:lnRef idx="3">
            <a:schemeClr val="dk1"/>
          </a:lnRef>
          <a:fillRef idx="0">
            <a:schemeClr val="dk1"/>
          </a:fillRef>
          <a:effectRef idx="2">
            <a:schemeClr val="dk1"/>
          </a:effectRef>
          <a:fontRef idx="minor">
            <a:schemeClr val="tx1"/>
          </a:fontRef>
        </p:style>
      </p:cxnSp>
      <p:cxnSp>
        <p:nvCxnSpPr>
          <p:cNvPr id="40" name="Straight Connector 39"/>
          <p:cNvCxnSpPr/>
          <p:nvPr/>
        </p:nvCxnSpPr>
        <p:spPr>
          <a:xfrm flipH="1">
            <a:off x="1066800" y="4435768"/>
            <a:ext cx="990602" cy="341972"/>
          </a:xfrm>
          <a:prstGeom prst="line">
            <a:avLst/>
          </a:prstGeom>
        </p:spPr>
        <p:style>
          <a:lnRef idx="3">
            <a:schemeClr val="dk1"/>
          </a:lnRef>
          <a:fillRef idx="0">
            <a:schemeClr val="dk1"/>
          </a:fillRef>
          <a:effectRef idx="2">
            <a:schemeClr val="dk1"/>
          </a:effectRef>
          <a:fontRef idx="minor">
            <a:schemeClr val="tx1"/>
          </a:fontRef>
        </p:style>
      </p:cxnSp>
      <p:sp>
        <p:nvSpPr>
          <p:cNvPr id="41" name="TextBox 40"/>
          <p:cNvSpPr txBox="1"/>
          <p:nvPr/>
        </p:nvSpPr>
        <p:spPr>
          <a:xfrm>
            <a:off x="2265672" y="1826802"/>
            <a:ext cx="468503" cy="400110"/>
          </a:xfrm>
          <a:prstGeom prst="rect">
            <a:avLst/>
          </a:prstGeom>
          <a:noFill/>
        </p:spPr>
        <p:txBody>
          <a:bodyPr wrap="square" rtlCol="0">
            <a:spAutoFit/>
          </a:bodyPr>
          <a:lstStyle/>
          <a:p>
            <a:pPr algn="ctr"/>
            <a:r>
              <a:rPr lang="en-US" sz="2000"/>
              <a:t>11</a:t>
            </a:r>
            <a:endParaRPr lang="en-IN"/>
          </a:p>
        </p:txBody>
      </p:sp>
      <p:sp>
        <p:nvSpPr>
          <p:cNvPr id="42" name="TextBox 41"/>
          <p:cNvSpPr txBox="1"/>
          <p:nvPr/>
        </p:nvSpPr>
        <p:spPr>
          <a:xfrm>
            <a:off x="765811" y="4476690"/>
            <a:ext cx="304800" cy="400110"/>
          </a:xfrm>
          <a:prstGeom prst="rect">
            <a:avLst/>
          </a:prstGeom>
          <a:noFill/>
        </p:spPr>
        <p:txBody>
          <a:bodyPr wrap="square" rtlCol="0">
            <a:spAutoFit/>
          </a:bodyPr>
          <a:lstStyle/>
          <a:p>
            <a:pPr algn="ctr"/>
            <a:r>
              <a:rPr lang="en-US" sz="2000"/>
              <a:t>1</a:t>
            </a:r>
            <a:endParaRPr lang="en-IN"/>
          </a:p>
        </p:txBody>
      </p:sp>
      <p:sp>
        <p:nvSpPr>
          <p:cNvPr id="43" name="TextBox 42"/>
          <p:cNvSpPr txBox="1"/>
          <p:nvPr/>
        </p:nvSpPr>
        <p:spPr>
          <a:xfrm>
            <a:off x="5574669" y="2967910"/>
            <a:ext cx="485273" cy="400110"/>
          </a:xfrm>
          <a:prstGeom prst="rect">
            <a:avLst/>
          </a:prstGeom>
          <a:noFill/>
        </p:spPr>
        <p:txBody>
          <a:bodyPr wrap="square" rtlCol="0">
            <a:spAutoFit/>
          </a:bodyPr>
          <a:lstStyle/>
          <a:p>
            <a:pPr algn="ctr"/>
            <a:r>
              <a:rPr lang="en-US" sz="2000"/>
              <a:t>34</a:t>
            </a:r>
            <a:endParaRPr lang="en-IN"/>
          </a:p>
        </p:txBody>
      </p:sp>
      <p:sp>
        <p:nvSpPr>
          <p:cNvPr id="44" name="TextBox 43"/>
          <p:cNvSpPr txBox="1"/>
          <p:nvPr/>
        </p:nvSpPr>
        <p:spPr>
          <a:xfrm>
            <a:off x="6150400" y="3408452"/>
            <a:ext cx="448178" cy="400110"/>
          </a:xfrm>
          <a:prstGeom prst="rect">
            <a:avLst/>
          </a:prstGeom>
          <a:noFill/>
        </p:spPr>
        <p:txBody>
          <a:bodyPr wrap="square" rtlCol="0">
            <a:spAutoFit/>
          </a:bodyPr>
          <a:lstStyle/>
          <a:p>
            <a:pPr algn="ctr"/>
            <a:r>
              <a:rPr lang="en-US" sz="2000"/>
              <a:t>36</a:t>
            </a:r>
            <a:endParaRPr lang="en-IN"/>
          </a:p>
        </p:txBody>
      </p:sp>
      <p:sp>
        <p:nvSpPr>
          <p:cNvPr id="45" name="TextBox 44"/>
          <p:cNvSpPr txBox="1"/>
          <p:nvPr/>
        </p:nvSpPr>
        <p:spPr>
          <a:xfrm>
            <a:off x="1794511" y="4095690"/>
            <a:ext cx="304800" cy="400110"/>
          </a:xfrm>
          <a:prstGeom prst="rect">
            <a:avLst/>
          </a:prstGeom>
          <a:noFill/>
        </p:spPr>
        <p:txBody>
          <a:bodyPr wrap="square" rtlCol="0">
            <a:spAutoFit/>
          </a:bodyPr>
          <a:lstStyle/>
          <a:p>
            <a:pPr algn="ctr"/>
            <a:r>
              <a:rPr lang="en-US" sz="2000"/>
              <a:t>9</a:t>
            </a:r>
            <a:endParaRPr lang="en-IN"/>
          </a:p>
        </p:txBody>
      </p:sp>
      <p:sp>
        <p:nvSpPr>
          <p:cNvPr id="46" name="TextBox 45"/>
          <p:cNvSpPr txBox="1"/>
          <p:nvPr/>
        </p:nvSpPr>
        <p:spPr>
          <a:xfrm>
            <a:off x="2855721" y="2238314"/>
            <a:ext cx="468503" cy="400110"/>
          </a:xfrm>
          <a:prstGeom prst="rect">
            <a:avLst/>
          </a:prstGeom>
          <a:noFill/>
        </p:spPr>
        <p:txBody>
          <a:bodyPr wrap="square" rtlCol="0">
            <a:spAutoFit/>
          </a:bodyPr>
          <a:lstStyle/>
          <a:p>
            <a:pPr algn="ctr"/>
            <a:r>
              <a:rPr lang="en-US" sz="2000"/>
              <a:t>12</a:t>
            </a:r>
            <a:endParaRPr lang="en-IN"/>
          </a:p>
        </p:txBody>
      </p:sp>
      <p:sp>
        <p:nvSpPr>
          <p:cNvPr id="47" name="TextBox 46"/>
          <p:cNvSpPr txBox="1"/>
          <p:nvPr/>
        </p:nvSpPr>
        <p:spPr>
          <a:xfrm>
            <a:off x="3599075" y="2580947"/>
            <a:ext cx="502687" cy="400110"/>
          </a:xfrm>
          <a:prstGeom prst="rect">
            <a:avLst/>
          </a:prstGeom>
          <a:noFill/>
        </p:spPr>
        <p:txBody>
          <a:bodyPr wrap="square" rtlCol="0">
            <a:spAutoFit/>
          </a:bodyPr>
          <a:lstStyle/>
          <a:p>
            <a:pPr algn="ctr"/>
            <a:r>
              <a:rPr lang="en-US" sz="2000"/>
              <a:t>16</a:t>
            </a:r>
            <a:endParaRPr lang="en-IN"/>
          </a:p>
        </p:txBody>
      </p:sp>
      <p:cxnSp>
        <p:nvCxnSpPr>
          <p:cNvPr id="48" name="Straight Connector 47"/>
          <p:cNvCxnSpPr/>
          <p:nvPr/>
        </p:nvCxnSpPr>
        <p:spPr>
          <a:xfrm>
            <a:off x="2901634" y="2590800"/>
            <a:ext cx="762664" cy="350560"/>
          </a:xfrm>
          <a:prstGeom prst="line">
            <a:avLst/>
          </a:prstGeom>
        </p:spPr>
        <p:style>
          <a:lnRef idx="3">
            <a:schemeClr val="dk1"/>
          </a:lnRef>
          <a:fillRef idx="0">
            <a:schemeClr val="dk1"/>
          </a:fillRef>
          <a:effectRef idx="2">
            <a:schemeClr val="dk1"/>
          </a:effectRef>
          <a:fontRef idx="minor">
            <a:schemeClr val="tx1"/>
          </a:fontRef>
        </p:style>
      </p:cxnSp>
      <p:cxnSp>
        <p:nvCxnSpPr>
          <p:cNvPr id="71" name="Straight Connector 70"/>
          <p:cNvCxnSpPr/>
          <p:nvPr/>
        </p:nvCxnSpPr>
        <p:spPr>
          <a:xfrm flipH="1" flipV="1">
            <a:off x="6180668" y="3719090"/>
            <a:ext cx="1429303" cy="312496"/>
          </a:xfrm>
          <a:prstGeom prst="line">
            <a:avLst/>
          </a:prstGeom>
        </p:spPr>
        <p:style>
          <a:lnRef idx="3">
            <a:schemeClr val="dk1"/>
          </a:lnRef>
          <a:fillRef idx="0">
            <a:schemeClr val="dk1"/>
          </a:fillRef>
          <a:effectRef idx="2">
            <a:schemeClr val="dk1"/>
          </a:effectRef>
          <a:fontRef idx="minor">
            <a:schemeClr val="tx1"/>
          </a:fontRef>
        </p:style>
      </p:cxnSp>
      <p:sp>
        <p:nvSpPr>
          <p:cNvPr id="72" name="TextBox 71"/>
          <p:cNvSpPr txBox="1"/>
          <p:nvPr/>
        </p:nvSpPr>
        <p:spPr>
          <a:xfrm>
            <a:off x="7181271" y="4044661"/>
            <a:ext cx="509069" cy="400110"/>
          </a:xfrm>
          <a:prstGeom prst="rect">
            <a:avLst/>
          </a:prstGeom>
          <a:noFill/>
        </p:spPr>
        <p:txBody>
          <a:bodyPr wrap="square" rtlCol="0">
            <a:spAutoFit/>
          </a:bodyPr>
          <a:lstStyle/>
          <a:p>
            <a:pPr algn="ctr"/>
            <a:r>
              <a:rPr lang="en-US" sz="2000"/>
              <a:t>50</a:t>
            </a:r>
            <a:endParaRPr lang="en-IN"/>
          </a:p>
        </p:txBody>
      </p:sp>
    </p:spTree>
    <p:extLst>
      <p:ext uri="{BB962C8B-B14F-4D97-AF65-F5344CB8AC3E}">
        <p14:creationId xmlns:p14="http://schemas.microsoft.com/office/powerpoint/2010/main" val="487060129"/>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26"/>
                                        </p:tgtEl>
                                        <p:attrNameLst>
                                          <p:attrName>style.visibility</p:attrName>
                                        </p:attrNameLst>
                                      </p:cBhvr>
                                      <p:to>
                                        <p:strVal val="visible"/>
                                      </p:to>
                                    </p:set>
                                  </p:childTnLst>
                                </p:cTn>
                              </p:par>
                            </p:childTnLst>
                          </p:cTn>
                        </p:par>
                      </p:childTnLst>
                    </p:cTn>
                  </p:par>
                  <p:par>
                    <p:cTn id="12" fill="hold" nodeType="clickPar">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27"/>
                                        </p:tgtEl>
                                        <p:attrNameLst>
                                          <p:attrName>style.visibility</p:attrName>
                                        </p:attrNameLst>
                                      </p:cBhvr>
                                      <p:to>
                                        <p:strVal val="visible"/>
                                      </p:to>
                                    </p:set>
                                  </p:childTnLst>
                                </p:cTn>
                              </p:par>
                              <p:par>
                                <p:cTn id="16" presetID="1" presetClass="entr" presetSubtype="0" fill="hold" grpId="0" nodeType="withEffect">
                                  <p:stCondLst>
                                    <p:cond delay="0"/>
                                  </p:stCondLst>
                                  <p:childTnLst>
                                    <p:set>
                                      <p:cBhvr>
                                        <p:cTn id="17" dur="1" fill="hold">
                                          <p:stCondLst>
                                            <p:cond delay="0"/>
                                          </p:stCondLst>
                                        </p:cTn>
                                        <p:tgtEl>
                                          <p:spTgt spid="28"/>
                                        </p:tgtEl>
                                        <p:attrNameLst>
                                          <p:attrName>style.visibility</p:attrName>
                                        </p:attrNameLst>
                                      </p:cBhvr>
                                      <p:to>
                                        <p:strVal val="visible"/>
                                      </p:to>
                                    </p:set>
                                  </p:childTnLst>
                                </p:cTn>
                              </p:par>
                              <p:par>
                                <p:cTn id="18" presetID="1" presetClass="entr" presetSubtype="0" fill="hold" grpId="0" nodeType="withEffect">
                                  <p:stCondLst>
                                    <p:cond delay="0"/>
                                  </p:stCondLst>
                                  <p:childTnLst>
                                    <p:set>
                                      <p:cBhvr>
                                        <p:cTn id="19" dur="1" fill="hold">
                                          <p:stCondLst>
                                            <p:cond delay="0"/>
                                          </p:stCondLst>
                                        </p:cTn>
                                        <p:tgtEl>
                                          <p:spTgt spid="29"/>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30"/>
                                        </p:tgtEl>
                                        <p:attrNameLst>
                                          <p:attrName>style.visibility</p:attrName>
                                        </p:attrNameLst>
                                      </p:cBhvr>
                                      <p:to>
                                        <p:strVal val="visible"/>
                                      </p:to>
                                    </p:set>
                                  </p:childTnLst>
                                </p:cTn>
                              </p:par>
                              <p:par>
                                <p:cTn id="22" presetID="1" presetClass="entr" presetSubtype="0" fill="hold" grpId="0" nodeType="withEffect">
                                  <p:stCondLst>
                                    <p:cond delay="0"/>
                                  </p:stCondLst>
                                  <p:childTnLst>
                                    <p:set>
                                      <p:cBhvr>
                                        <p:cTn id="23" dur="1" fill="hold">
                                          <p:stCondLst>
                                            <p:cond delay="0"/>
                                          </p:stCondLst>
                                        </p:cTn>
                                        <p:tgtEl>
                                          <p:spTgt spid="31"/>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32"/>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33"/>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34"/>
                                        </p:tgtEl>
                                        <p:attrNameLst>
                                          <p:attrName>style.visibility</p:attrName>
                                        </p:attrNameLst>
                                      </p:cBhvr>
                                      <p:to>
                                        <p:strVal val="visible"/>
                                      </p:to>
                                    </p:set>
                                  </p:childTnLst>
                                </p:cTn>
                              </p:par>
                              <p:par>
                                <p:cTn id="30" presetID="1" presetClass="entr" presetSubtype="0" fill="hold" grpId="0" nodeType="withEffect">
                                  <p:stCondLst>
                                    <p:cond delay="0"/>
                                  </p:stCondLst>
                                  <p:childTnLst>
                                    <p:set>
                                      <p:cBhvr>
                                        <p:cTn id="31" dur="1" fill="hold">
                                          <p:stCondLst>
                                            <p:cond delay="0"/>
                                          </p:stCondLst>
                                        </p:cTn>
                                        <p:tgtEl>
                                          <p:spTgt spid="35"/>
                                        </p:tgtEl>
                                        <p:attrNameLst>
                                          <p:attrName>style.visibility</p:attrName>
                                        </p:attrNameLst>
                                      </p:cBhvr>
                                      <p:to>
                                        <p:strVal val="visible"/>
                                      </p:to>
                                    </p:set>
                                  </p:childTnLst>
                                </p:cTn>
                              </p:par>
                            </p:childTnLst>
                          </p:cTn>
                        </p:par>
                      </p:childTnLst>
                    </p:cTn>
                  </p:par>
                  <p:par>
                    <p:cTn id="32" fill="hold" nodeType="clickPar">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41"/>
                                        </p:tgtEl>
                                        <p:attrNameLst>
                                          <p:attrName>style.visibility</p:attrName>
                                        </p:attrNameLst>
                                      </p:cBhvr>
                                      <p:to>
                                        <p:strVal val="visible"/>
                                      </p:to>
                                    </p:set>
                                  </p:childTnLst>
                                </p:cTn>
                              </p:par>
                            </p:childTnLst>
                          </p:cTn>
                        </p:par>
                      </p:childTnLst>
                    </p:cTn>
                  </p:par>
                  <p:par>
                    <p:cTn id="36" fill="hold" nodeType="clickPar">
                      <p:stCondLst>
                        <p:cond delay="indefinite"/>
                      </p:stCondLst>
                      <p:childTnLst>
                        <p:par>
                          <p:cTn id="37" fill="hold">
                            <p:stCondLst>
                              <p:cond delay="0"/>
                            </p:stCondLst>
                            <p:childTnLst>
                              <p:par>
                                <p:cTn id="38" presetID="1" presetClass="entr" presetSubtype="0" fill="hold" nodeType="clickEffect">
                                  <p:stCondLst>
                                    <p:cond delay="0"/>
                                  </p:stCondLst>
                                  <p:childTnLst>
                                    <p:set>
                                      <p:cBhvr>
                                        <p:cTn id="39" dur="1" fill="hold">
                                          <p:stCondLst>
                                            <p:cond delay="0"/>
                                          </p:stCondLst>
                                        </p:cTn>
                                        <p:tgtEl>
                                          <p:spTgt spid="36"/>
                                        </p:tgtEl>
                                        <p:attrNameLst>
                                          <p:attrName>style.visibility</p:attrName>
                                        </p:attrNameLst>
                                      </p:cBhvr>
                                      <p:to>
                                        <p:strVal val="visible"/>
                                      </p:to>
                                    </p:set>
                                  </p:childTnLst>
                                </p:cTn>
                              </p:par>
                            </p:childTnLst>
                          </p:cTn>
                        </p:par>
                      </p:childTnLst>
                    </p:cTn>
                  </p:par>
                  <p:par>
                    <p:cTn id="40" fill="hold" nodeType="clickPar">
                      <p:stCondLst>
                        <p:cond delay="indefinite"/>
                      </p:stCondLst>
                      <p:childTnLst>
                        <p:par>
                          <p:cTn id="41" fill="hold">
                            <p:stCondLst>
                              <p:cond delay="0"/>
                            </p:stCondLst>
                            <p:childTnLst>
                              <p:par>
                                <p:cTn id="42" presetID="1" presetClass="entr" presetSubtype="0" fill="hold" grpId="0" nodeType="clickEffect">
                                  <p:stCondLst>
                                    <p:cond delay="0"/>
                                  </p:stCondLst>
                                  <p:childTnLst>
                                    <p:set>
                                      <p:cBhvr>
                                        <p:cTn id="43" dur="1" fill="hold">
                                          <p:stCondLst>
                                            <p:cond delay="0"/>
                                          </p:stCondLst>
                                        </p:cTn>
                                        <p:tgtEl>
                                          <p:spTgt spid="46"/>
                                        </p:tgtEl>
                                        <p:attrNameLst>
                                          <p:attrName>style.visibility</p:attrName>
                                        </p:attrNameLst>
                                      </p:cBhvr>
                                      <p:to>
                                        <p:strVal val="visible"/>
                                      </p:to>
                                    </p:set>
                                  </p:childTnLst>
                                </p:cTn>
                              </p:par>
                            </p:childTnLst>
                          </p:cTn>
                        </p:par>
                      </p:childTnLst>
                    </p:cTn>
                  </p:par>
                  <p:par>
                    <p:cTn id="44" fill="hold" nodeType="clickPar">
                      <p:stCondLst>
                        <p:cond delay="indefinite"/>
                      </p:stCondLst>
                      <p:childTnLst>
                        <p:par>
                          <p:cTn id="45" fill="hold">
                            <p:stCondLst>
                              <p:cond delay="0"/>
                            </p:stCondLst>
                            <p:childTnLst>
                              <p:par>
                                <p:cTn id="46" presetID="1" presetClass="entr" presetSubtype="0" fill="hold" nodeType="clickEffect">
                                  <p:stCondLst>
                                    <p:cond delay="0"/>
                                  </p:stCondLst>
                                  <p:childTnLst>
                                    <p:set>
                                      <p:cBhvr>
                                        <p:cTn id="47" dur="1" fill="hold">
                                          <p:stCondLst>
                                            <p:cond delay="0"/>
                                          </p:stCondLst>
                                        </p:cTn>
                                        <p:tgtEl>
                                          <p:spTgt spid="48"/>
                                        </p:tgtEl>
                                        <p:attrNameLst>
                                          <p:attrName>style.visibility</p:attrName>
                                        </p:attrNameLst>
                                      </p:cBhvr>
                                      <p:to>
                                        <p:strVal val="visible"/>
                                      </p:to>
                                    </p:set>
                                  </p:childTnLst>
                                </p:cTn>
                              </p:par>
                            </p:childTnLst>
                          </p:cTn>
                        </p:par>
                      </p:childTnLst>
                    </p:cTn>
                  </p:par>
                  <p:par>
                    <p:cTn id="48" fill="hold" nodeType="clickPar">
                      <p:stCondLst>
                        <p:cond delay="indefinite"/>
                      </p:stCondLst>
                      <p:childTnLst>
                        <p:par>
                          <p:cTn id="49" fill="hold">
                            <p:stCondLst>
                              <p:cond delay="0"/>
                            </p:stCondLst>
                            <p:childTnLst>
                              <p:par>
                                <p:cTn id="50" presetID="1" presetClass="entr" presetSubtype="0" fill="hold" grpId="0" nodeType="clickEffect">
                                  <p:stCondLst>
                                    <p:cond delay="0"/>
                                  </p:stCondLst>
                                  <p:childTnLst>
                                    <p:set>
                                      <p:cBhvr>
                                        <p:cTn id="51" dur="1" fill="hold">
                                          <p:stCondLst>
                                            <p:cond delay="0"/>
                                          </p:stCondLst>
                                        </p:cTn>
                                        <p:tgtEl>
                                          <p:spTgt spid="47"/>
                                        </p:tgtEl>
                                        <p:attrNameLst>
                                          <p:attrName>style.visibility</p:attrName>
                                        </p:attrNameLst>
                                      </p:cBhvr>
                                      <p:to>
                                        <p:strVal val="visible"/>
                                      </p:to>
                                    </p:set>
                                  </p:childTnLst>
                                </p:cTn>
                              </p:par>
                            </p:childTnLst>
                          </p:cTn>
                        </p:par>
                      </p:childTnLst>
                    </p:cTn>
                  </p:par>
                  <p:par>
                    <p:cTn id="52" fill="hold" nodeType="clickPar">
                      <p:stCondLst>
                        <p:cond delay="indefinite"/>
                      </p:stCondLst>
                      <p:childTnLst>
                        <p:par>
                          <p:cTn id="53" fill="hold">
                            <p:stCondLst>
                              <p:cond delay="0"/>
                            </p:stCondLst>
                            <p:childTnLst>
                              <p:par>
                                <p:cTn id="54" presetID="1" presetClass="entr" presetSubtype="0" fill="hold" nodeType="clickEffect">
                                  <p:stCondLst>
                                    <p:cond delay="0"/>
                                  </p:stCondLst>
                                  <p:childTnLst>
                                    <p:set>
                                      <p:cBhvr>
                                        <p:cTn id="55" dur="1" fill="hold">
                                          <p:stCondLst>
                                            <p:cond delay="0"/>
                                          </p:stCondLst>
                                        </p:cTn>
                                        <p:tgtEl>
                                          <p:spTgt spid="37"/>
                                        </p:tgtEl>
                                        <p:attrNameLst>
                                          <p:attrName>style.visibility</p:attrName>
                                        </p:attrNameLst>
                                      </p:cBhvr>
                                      <p:to>
                                        <p:strVal val="visible"/>
                                      </p:to>
                                    </p:set>
                                  </p:childTnLst>
                                </p:cTn>
                              </p:par>
                            </p:childTnLst>
                          </p:cTn>
                        </p:par>
                      </p:childTnLst>
                    </p:cTn>
                  </p:par>
                  <p:par>
                    <p:cTn id="56" fill="hold" nodeType="clickPar">
                      <p:stCondLst>
                        <p:cond delay="indefinite"/>
                      </p:stCondLst>
                      <p:childTnLst>
                        <p:par>
                          <p:cTn id="57" fill="hold">
                            <p:stCondLst>
                              <p:cond delay="0"/>
                            </p:stCondLst>
                            <p:childTnLst>
                              <p:par>
                                <p:cTn id="58" presetID="1" presetClass="entr" presetSubtype="0" fill="hold" grpId="0" nodeType="clickEffect">
                                  <p:stCondLst>
                                    <p:cond delay="0"/>
                                  </p:stCondLst>
                                  <p:childTnLst>
                                    <p:set>
                                      <p:cBhvr>
                                        <p:cTn id="59" dur="1" fill="hold">
                                          <p:stCondLst>
                                            <p:cond delay="0"/>
                                          </p:stCondLst>
                                        </p:cTn>
                                        <p:tgtEl>
                                          <p:spTgt spid="43"/>
                                        </p:tgtEl>
                                        <p:attrNameLst>
                                          <p:attrName>style.visibility</p:attrName>
                                        </p:attrNameLst>
                                      </p:cBhvr>
                                      <p:to>
                                        <p:strVal val="visible"/>
                                      </p:to>
                                    </p:set>
                                  </p:childTnLst>
                                </p:cTn>
                              </p:par>
                            </p:childTnLst>
                          </p:cTn>
                        </p:par>
                      </p:childTnLst>
                    </p:cTn>
                  </p:par>
                  <p:par>
                    <p:cTn id="60" fill="hold" nodeType="clickPar">
                      <p:stCondLst>
                        <p:cond delay="indefinite"/>
                      </p:stCondLst>
                      <p:childTnLst>
                        <p:par>
                          <p:cTn id="61" fill="hold">
                            <p:stCondLst>
                              <p:cond delay="0"/>
                            </p:stCondLst>
                            <p:childTnLst>
                              <p:par>
                                <p:cTn id="62" presetID="1" presetClass="entr" presetSubtype="0" fill="hold" nodeType="clickEffect">
                                  <p:stCondLst>
                                    <p:cond delay="0"/>
                                  </p:stCondLst>
                                  <p:childTnLst>
                                    <p:set>
                                      <p:cBhvr>
                                        <p:cTn id="63" dur="1" fill="hold">
                                          <p:stCondLst>
                                            <p:cond delay="0"/>
                                          </p:stCondLst>
                                        </p:cTn>
                                        <p:tgtEl>
                                          <p:spTgt spid="38"/>
                                        </p:tgtEl>
                                        <p:attrNameLst>
                                          <p:attrName>style.visibility</p:attrName>
                                        </p:attrNameLst>
                                      </p:cBhvr>
                                      <p:to>
                                        <p:strVal val="visible"/>
                                      </p:to>
                                    </p:set>
                                  </p:childTnLst>
                                </p:cTn>
                              </p:par>
                            </p:childTnLst>
                          </p:cTn>
                        </p:par>
                      </p:childTnLst>
                    </p:cTn>
                  </p:par>
                  <p:par>
                    <p:cTn id="64" fill="hold" nodeType="clickPar">
                      <p:stCondLst>
                        <p:cond delay="indefinite"/>
                      </p:stCondLst>
                      <p:childTnLst>
                        <p:par>
                          <p:cTn id="65" fill="hold">
                            <p:stCondLst>
                              <p:cond delay="0"/>
                            </p:stCondLst>
                            <p:childTnLst>
                              <p:par>
                                <p:cTn id="66" presetID="1" presetClass="entr" presetSubtype="0" fill="hold" grpId="0" nodeType="clickEffect">
                                  <p:stCondLst>
                                    <p:cond delay="0"/>
                                  </p:stCondLst>
                                  <p:childTnLst>
                                    <p:set>
                                      <p:cBhvr>
                                        <p:cTn id="67" dur="1" fill="hold">
                                          <p:stCondLst>
                                            <p:cond delay="0"/>
                                          </p:stCondLst>
                                        </p:cTn>
                                        <p:tgtEl>
                                          <p:spTgt spid="44"/>
                                        </p:tgtEl>
                                        <p:attrNameLst>
                                          <p:attrName>style.visibility</p:attrName>
                                        </p:attrNameLst>
                                      </p:cBhvr>
                                      <p:to>
                                        <p:strVal val="visible"/>
                                      </p:to>
                                    </p:set>
                                  </p:childTnLst>
                                </p:cTn>
                              </p:par>
                            </p:childTnLst>
                          </p:cTn>
                        </p:par>
                      </p:childTnLst>
                    </p:cTn>
                  </p:par>
                  <p:par>
                    <p:cTn id="68" fill="hold" nodeType="clickPar">
                      <p:stCondLst>
                        <p:cond delay="indefinite"/>
                      </p:stCondLst>
                      <p:childTnLst>
                        <p:par>
                          <p:cTn id="69" fill="hold">
                            <p:stCondLst>
                              <p:cond delay="0"/>
                            </p:stCondLst>
                            <p:childTnLst>
                              <p:par>
                                <p:cTn id="70" presetID="1" presetClass="entr" presetSubtype="0" fill="hold" nodeType="clickEffect">
                                  <p:stCondLst>
                                    <p:cond delay="0"/>
                                  </p:stCondLst>
                                  <p:childTnLst>
                                    <p:set>
                                      <p:cBhvr>
                                        <p:cTn id="71" dur="1" fill="hold">
                                          <p:stCondLst>
                                            <p:cond delay="0"/>
                                          </p:stCondLst>
                                        </p:cTn>
                                        <p:tgtEl>
                                          <p:spTgt spid="71"/>
                                        </p:tgtEl>
                                        <p:attrNameLst>
                                          <p:attrName>style.visibility</p:attrName>
                                        </p:attrNameLst>
                                      </p:cBhvr>
                                      <p:to>
                                        <p:strVal val="visible"/>
                                      </p:to>
                                    </p:set>
                                  </p:childTnLst>
                                </p:cTn>
                              </p:par>
                            </p:childTnLst>
                          </p:cTn>
                        </p:par>
                      </p:childTnLst>
                    </p:cTn>
                  </p:par>
                  <p:par>
                    <p:cTn id="72" fill="hold" nodeType="clickPar">
                      <p:stCondLst>
                        <p:cond delay="indefinite"/>
                      </p:stCondLst>
                      <p:childTnLst>
                        <p:par>
                          <p:cTn id="73" fill="hold">
                            <p:stCondLst>
                              <p:cond delay="0"/>
                            </p:stCondLst>
                            <p:childTnLst>
                              <p:par>
                                <p:cTn id="74" presetID="1" presetClass="entr" presetSubtype="0" fill="hold" grpId="0" nodeType="clickEffect">
                                  <p:stCondLst>
                                    <p:cond delay="0"/>
                                  </p:stCondLst>
                                  <p:childTnLst>
                                    <p:set>
                                      <p:cBhvr>
                                        <p:cTn id="75" dur="1" fill="hold">
                                          <p:stCondLst>
                                            <p:cond delay="0"/>
                                          </p:stCondLst>
                                        </p:cTn>
                                        <p:tgtEl>
                                          <p:spTgt spid="72"/>
                                        </p:tgtEl>
                                        <p:attrNameLst>
                                          <p:attrName>style.visibility</p:attrName>
                                        </p:attrNameLst>
                                      </p:cBhvr>
                                      <p:to>
                                        <p:strVal val="visible"/>
                                      </p:to>
                                    </p:set>
                                  </p:childTnLst>
                                </p:cTn>
                              </p:par>
                            </p:childTnLst>
                          </p:cTn>
                        </p:par>
                      </p:childTnLst>
                    </p:cTn>
                  </p:par>
                  <p:par>
                    <p:cTn id="76" fill="hold" nodeType="clickPar">
                      <p:stCondLst>
                        <p:cond delay="indefinite"/>
                      </p:stCondLst>
                      <p:childTnLst>
                        <p:par>
                          <p:cTn id="77" fill="hold">
                            <p:stCondLst>
                              <p:cond delay="0"/>
                            </p:stCondLst>
                            <p:childTnLst>
                              <p:par>
                                <p:cTn id="78" presetID="1" presetClass="entr" presetSubtype="0" fill="hold" nodeType="clickEffect">
                                  <p:stCondLst>
                                    <p:cond delay="0"/>
                                  </p:stCondLst>
                                  <p:childTnLst>
                                    <p:set>
                                      <p:cBhvr>
                                        <p:cTn id="79" dur="1" fill="hold">
                                          <p:stCondLst>
                                            <p:cond delay="0"/>
                                          </p:stCondLst>
                                        </p:cTn>
                                        <p:tgtEl>
                                          <p:spTgt spid="39"/>
                                        </p:tgtEl>
                                        <p:attrNameLst>
                                          <p:attrName>style.visibility</p:attrName>
                                        </p:attrNameLst>
                                      </p:cBhvr>
                                      <p:to>
                                        <p:strVal val="visible"/>
                                      </p:to>
                                    </p:set>
                                  </p:childTnLst>
                                </p:cTn>
                              </p:par>
                            </p:childTnLst>
                          </p:cTn>
                        </p:par>
                      </p:childTnLst>
                    </p:cTn>
                  </p:par>
                  <p:par>
                    <p:cTn id="80" fill="hold" nodeType="clickPar">
                      <p:stCondLst>
                        <p:cond delay="indefinite"/>
                      </p:stCondLst>
                      <p:childTnLst>
                        <p:par>
                          <p:cTn id="81" fill="hold">
                            <p:stCondLst>
                              <p:cond delay="0"/>
                            </p:stCondLst>
                            <p:childTnLst>
                              <p:par>
                                <p:cTn id="82" presetID="1" presetClass="entr" presetSubtype="0" fill="hold" grpId="0" nodeType="clickEffect">
                                  <p:stCondLst>
                                    <p:cond delay="0"/>
                                  </p:stCondLst>
                                  <p:childTnLst>
                                    <p:set>
                                      <p:cBhvr>
                                        <p:cTn id="83" dur="1" fill="hold">
                                          <p:stCondLst>
                                            <p:cond delay="0"/>
                                          </p:stCondLst>
                                        </p:cTn>
                                        <p:tgtEl>
                                          <p:spTgt spid="45"/>
                                        </p:tgtEl>
                                        <p:attrNameLst>
                                          <p:attrName>style.visibility</p:attrName>
                                        </p:attrNameLst>
                                      </p:cBhvr>
                                      <p:to>
                                        <p:strVal val="visible"/>
                                      </p:to>
                                    </p:set>
                                  </p:childTnLst>
                                </p:cTn>
                              </p:par>
                            </p:childTnLst>
                          </p:cTn>
                        </p:par>
                      </p:childTnLst>
                    </p:cTn>
                  </p:par>
                  <p:par>
                    <p:cTn id="84" fill="hold" nodeType="clickPar">
                      <p:stCondLst>
                        <p:cond delay="indefinite"/>
                      </p:stCondLst>
                      <p:childTnLst>
                        <p:par>
                          <p:cTn id="85" fill="hold">
                            <p:stCondLst>
                              <p:cond delay="0"/>
                            </p:stCondLst>
                            <p:childTnLst>
                              <p:par>
                                <p:cTn id="86" presetID="1" presetClass="entr" presetSubtype="0" fill="hold" nodeType="clickEffect">
                                  <p:stCondLst>
                                    <p:cond delay="0"/>
                                  </p:stCondLst>
                                  <p:childTnLst>
                                    <p:set>
                                      <p:cBhvr>
                                        <p:cTn id="87" dur="1" fill="hold">
                                          <p:stCondLst>
                                            <p:cond delay="0"/>
                                          </p:stCondLst>
                                        </p:cTn>
                                        <p:tgtEl>
                                          <p:spTgt spid="40"/>
                                        </p:tgtEl>
                                        <p:attrNameLst>
                                          <p:attrName>style.visibility</p:attrName>
                                        </p:attrNameLst>
                                      </p:cBhvr>
                                      <p:to>
                                        <p:strVal val="visible"/>
                                      </p:to>
                                    </p:set>
                                  </p:childTnLst>
                                </p:cTn>
                              </p:par>
                            </p:childTnLst>
                          </p:cTn>
                        </p:par>
                      </p:childTnLst>
                    </p:cTn>
                  </p:par>
                  <p:par>
                    <p:cTn id="88" fill="hold" nodeType="clickPar">
                      <p:stCondLst>
                        <p:cond delay="indefinite"/>
                      </p:stCondLst>
                      <p:childTnLst>
                        <p:par>
                          <p:cTn id="89" fill="hold">
                            <p:stCondLst>
                              <p:cond delay="0"/>
                            </p:stCondLst>
                            <p:childTnLst>
                              <p:par>
                                <p:cTn id="90" presetID="1" presetClass="entr" presetSubtype="0" fill="hold" grpId="0" nodeType="clickEffect">
                                  <p:stCondLst>
                                    <p:cond delay="0"/>
                                  </p:stCondLst>
                                  <p:childTnLst>
                                    <p:set>
                                      <p:cBhvr>
                                        <p:cTn id="91" dur="1" fill="hold">
                                          <p:stCondLst>
                                            <p:cond delay="0"/>
                                          </p:stCondLst>
                                        </p:cTn>
                                        <p:tgtEl>
                                          <p:spTgt spid="42"/>
                                        </p:tgtEl>
                                        <p:attrNameLst>
                                          <p:attrName>style.visibility</p:attrName>
                                        </p:attrNameLst>
                                      </p:cBhvr>
                                      <p:to>
                                        <p:strVal val="visible"/>
                                      </p:to>
                                    </p:set>
                                  </p:childTnLst>
                                </p:cTn>
                              </p:par>
                            </p:childTnLst>
                          </p:cTn>
                        </p:par>
                      </p:childTnLst>
                    </p:cTn>
                  </p:par>
                  <p:par>
                    <p:cTn id="92" fill="hold" nodeType="clickPar">
                      <p:stCondLst>
                        <p:cond delay="indefinite"/>
                      </p:stCondLst>
                      <p:childTnLst>
                        <p:par>
                          <p:cTn id="93" fill="hold">
                            <p:stCondLst>
                              <p:cond delay="0"/>
                            </p:stCondLst>
                            <p:childTnLst>
                              <p:par>
                                <p:cTn id="94" presetID="10" presetClass="entr" presetSubtype="0" fill="hold" nodeType="clickEffect">
                                  <p:stCondLst>
                                    <p:cond delay="0"/>
                                  </p:stCondLst>
                                  <p:childTnLst>
                                    <p:set>
                                      <p:cBhvr>
                                        <p:cTn id="95" dur="1" fill="hold">
                                          <p:stCondLst>
                                            <p:cond delay="0"/>
                                          </p:stCondLst>
                                        </p:cTn>
                                        <p:tgtEl>
                                          <p:spTgt spid="3">
                                            <p:txEl>
                                              <p:pRg st="9" end="9"/>
                                            </p:txEl>
                                          </p:spTgt>
                                        </p:tgtEl>
                                        <p:attrNameLst>
                                          <p:attrName>style.visibility</p:attrName>
                                        </p:attrNameLst>
                                      </p:cBhvr>
                                      <p:to>
                                        <p:strVal val="visible"/>
                                      </p:to>
                                    </p:set>
                                    <p:animEffect transition="in" filter="fade">
                                      <p:cBhvr>
                                        <p:cTn id="96" dur="500"/>
                                        <p:tgtEl>
                                          <p:spTgt spid="3">
                                            <p:txEl>
                                              <p:pRg st="9" end="9"/>
                                            </p:txEl>
                                          </p:spTgt>
                                        </p:tgtEl>
                                      </p:cBhvr>
                                    </p:animEffect>
                                  </p:childTnLst>
                                </p:cTn>
                              </p:par>
                            </p:childTnLst>
                          </p:cTn>
                        </p:par>
                      </p:childTnLst>
                    </p:cTn>
                  </p:par>
                  <p:par>
                    <p:cTn id="97" fill="hold" nodeType="clickPar">
                      <p:stCondLst>
                        <p:cond delay="indefinite"/>
                      </p:stCondLst>
                      <p:childTnLst>
                        <p:par>
                          <p:cTn id="98" fill="hold">
                            <p:stCondLst>
                              <p:cond delay="0"/>
                            </p:stCondLst>
                            <p:childTnLst>
                              <p:par>
                                <p:cTn id="99" presetID="10" presetClass="entr" presetSubtype="0" fill="hold" nodeType="clickEffect">
                                  <p:stCondLst>
                                    <p:cond delay="0"/>
                                  </p:stCondLst>
                                  <p:childTnLst>
                                    <p:set>
                                      <p:cBhvr>
                                        <p:cTn id="100" dur="1" fill="hold">
                                          <p:stCondLst>
                                            <p:cond delay="0"/>
                                          </p:stCondLst>
                                        </p:cTn>
                                        <p:tgtEl>
                                          <p:spTgt spid="3">
                                            <p:txEl>
                                              <p:pRg st="10" end="10"/>
                                            </p:txEl>
                                          </p:spTgt>
                                        </p:tgtEl>
                                        <p:attrNameLst>
                                          <p:attrName>style.visibility</p:attrName>
                                        </p:attrNameLst>
                                      </p:cBhvr>
                                      <p:to>
                                        <p:strVal val="visible"/>
                                      </p:to>
                                    </p:set>
                                    <p:animEffect transition="in" filter="fade">
                                      <p:cBhvr>
                                        <p:cTn id="101"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8" grpId="0"/>
      <p:bldP spid="29" grpId="0"/>
      <p:bldP spid="30" grpId="0"/>
      <p:bldP spid="31" grpId="0"/>
      <p:bldP spid="32" grpId="0"/>
      <p:bldP spid="33" grpId="0"/>
      <p:bldP spid="34" grpId="0"/>
      <p:bldP spid="35" grpId="0"/>
      <p:bldP spid="41" grpId="0"/>
      <p:bldP spid="42" grpId="0"/>
      <p:bldP spid="43" grpId="0"/>
      <p:bldP spid="44" grpId="0"/>
      <p:bldP spid="45" grpId="0"/>
      <p:bldP spid="46" grpId="0"/>
      <p:bldP spid="47" grpId="0"/>
      <p:bldP spid="72"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C-SCAN</a:t>
            </a:r>
          </a:p>
        </p:txBody>
      </p:sp>
      <p:sp>
        <p:nvSpPr>
          <p:cNvPr id="3" name="Content Placeholder 2"/>
          <p:cNvSpPr>
            <a:spLocks noGrp="1"/>
          </p:cNvSpPr>
          <p:nvPr>
            <p:ph idx="1"/>
          </p:nvPr>
        </p:nvSpPr>
        <p:spPr/>
        <p:txBody>
          <a:bodyPr/>
          <a:lstStyle/>
          <a:p>
            <a:r>
              <a:rPr lang="en-US" b="1" dirty="0">
                <a:solidFill>
                  <a:schemeClr val="accent6"/>
                </a:solidFill>
              </a:rPr>
              <a:t>From the current position disk arm starts in up direction and moves towards the end</a:t>
            </a:r>
            <a:r>
              <a:rPr lang="en-US" dirty="0"/>
              <a:t>, serving request until end.</a:t>
            </a:r>
          </a:p>
          <a:p>
            <a:r>
              <a:rPr lang="en-US" dirty="0"/>
              <a:t>At the end the arm </a:t>
            </a:r>
            <a:r>
              <a:rPr lang="en-US" b="1" dirty="0">
                <a:solidFill>
                  <a:schemeClr val="accent6"/>
                </a:solidFill>
              </a:rPr>
              <a:t>direction is reversed (down), and arm directly goes to other end and again continues moving in upward direction</a:t>
            </a:r>
            <a:r>
              <a:rPr lang="en-US" dirty="0"/>
              <a:t>. </a:t>
            </a:r>
          </a:p>
        </p:txBody>
      </p:sp>
    </p:spTree>
    <p:extLst>
      <p:ext uri="{BB962C8B-B14F-4D97-AF65-F5344CB8AC3E}">
        <p14:creationId xmlns:p14="http://schemas.microsoft.com/office/powerpoint/2010/main" val="4071904966"/>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C-SCAN</a:t>
            </a:r>
          </a:p>
        </p:txBody>
      </p:sp>
      <p:sp>
        <p:nvSpPr>
          <p:cNvPr id="3" name="Content Placeholder 2"/>
          <p:cNvSpPr>
            <a:spLocks noGrp="1"/>
          </p:cNvSpPr>
          <p:nvPr>
            <p:ph idx="1"/>
          </p:nvPr>
        </p:nvSpPr>
        <p:spPr/>
        <p:txBody>
          <a:bodyPr/>
          <a:lstStyle/>
          <a:p>
            <a:r>
              <a:rPr lang="en-US"/>
              <a:t>Here first it moves in up direction then goes in down direction</a:t>
            </a:r>
          </a:p>
          <a:p>
            <a:endParaRPr lang="en-US"/>
          </a:p>
          <a:p>
            <a:endParaRPr lang="en-US"/>
          </a:p>
          <a:p>
            <a:endParaRPr lang="en-US"/>
          </a:p>
          <a:p>
            <a:endParaRPr lang="en-US"/>
          </a:p>
          <a:p>
            <a:endParaRPr lang="en-US"/>
          </a:p>
          <a:p>
            <a:endParaRPr lang="en-US"/>
          </a:p>
          <a:p>
            <a:endParaRPr lang="en-US"/>
          </a:p>
          <a:p>
            <a:endParaRPr lang="en-US"/>
          </a:p>
          <a:p>
            <a:r>
              <a:rPr lang="en-US"/>
              <a:t>Disk movement will be 11, 12, 16, 34, 36, 50, 0, 1 and 9.</a:t>
            </a:r>
          </a:p>
          <a:p>
            <a:r>
              <a:rPr lang="en-US"/>
              <a:t>Total cylinder movement: (12-11) + (16-12) + (34-16) +(36-34) +(50-36) + (50-0) + (1-0)+ (9-1) = 98</a:t>
            </a:r>
          </a:p>
        </p:txBody>
      </p:sp>
      <p:sp>
        <p:nvSpPr>
          <p:cNvPr id="26" name="TextBox 25"/>
          <p:cNvSpPr txBox="1"/>
          <p:nvPr/>
        </p:nvSpPr>
        <p:spPr>
          <a:xfrm>
            <a:off x="8212822" y="1609990"/>
            <a:ext cx="472604" cy="1754326"/>
          </a:xfrm>
          <a:prstGeom prst="rect">
            <a:avLst/>
          </a:prstGeom>
          <a:ln w="28575">
            <a:solidFill>
              <a:schemeClr val="accent1"/>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r>
              <a:rPr lang="en-IN"/>
              <a:t>1, 36, 16, 34, 9, 12</a:t>
            </a:r>
            <a:endParaRPr lang="en-US"/>
          </a:p>
        </p:txBody>
      </p:sp>
      <p:graphicFrame>
        <p:nvGraphicFramePr>
          <p:cNvPr id="49" name="Table 48"/>
          <p:cNvGraphicFramePr>
            <a:graphicFrameLocks noGrp="1"/>
          </p:cNvGraphicFramePr>
          <p:nvPr/>
        </p:nvGraphicFramePr>
        <p:xfrm>
          <a:off x="609597" y="1535150"/>
          <a:ext cx="7010402" cy="3347720"/>
        </p:xfrm>
        <a:graphic>
          <a:graphicData uri="http://schemas.openxmlformats.org/drawingml/2006/table">
            <a:tbl>
              <a:tblPr firstRow="1" bandRow="1">
                <a:tableStyleId>{5940675A-B579-460E-94D1-54222C63F5DA}</a:tableStyleId>
              </a:tblPr>
              <a:tblGrid>
                <a:gridCol w="457203">
                  <a:extLst>
                    <a:ext uri="{9D8B030D-6E8A-4147-A177-3AD203B41FA5}">
                      <a16:colId xmlns:a16="http://schemas.microsoft.com/office/drawing/2014/main" xmlns="" val="20000"/>
                    </a:ext>
                  </a:extLst>
                </a:gridCol>
                <a:gridCol w="990600">
                  <a:extLst>
                    <a:ext uri="{9D8B030D-6E8A-4147-A177-3AD203B41FA5}">
                      <a16:colId xmlns:a16="http://schemas.microsoft.com/office/drawing/2014/main" xmlns="" val="20001"/>
                    </a:ext>
                  </a:extLst>
                </a:gridCol>
                <a:gridCol w="838200">
                  <a:extLst>
                    <a:ext uri="{9D8B030D-6E8A-4147-A177-3AD203B41FA5}">
                      <a16:colId xmlns:a16="http://schemas.microsoft.com/office/drawing/2014/main" xmlns="" val="20002"/>
                    </a:ext>
                  </a:extLst>
                </a:gridCol>
                <a:gridCol w="762000">
                  <a:extLst>
                    <a:ext uri="{9D8B030D-6E8A-4147-A177-3AD203B41FA5}">
                      <a16:colId xmlns:a16="http://schemas.microsoft.com/office/drawing/2014/main" xmlns="" val="20003"/>
                    </a:ext>
                  </a:extLst>
                </a:gridCol>
                <a:gridCol w="1959427">
                  <a:extLst>
                    <a:ext uri="{9D8B030D-6E8A-4147-A177-3AD203B41FA5}">
                      <a16:colId xmlns:a16="http://schemas.microsoft.com/office/drawing/2014/main" xmlns="" val="20004"/>
                    </a:ext>
                  </a:extLst>
                </a:gridCol>
                <a:gridCol w="555173">
                  <a:extLst>
                    <a:ext uri="{9D8B030D-6E8A-4147-A177-3AD203B41FA5}">
                      <a16:colId xmlns:a16="http://schemas.microsoft.com/office/drawing/2014/main" xmlns="" val="20005"/>
                    </a:ext>
                  </a:extLst>
                </a:gridCol>
                <a:gridCol w="1447799">
                  <a:extLst>
                    <a:ext uri="{9D8B030D-6E8A-4147-A177-3AD203B41FA5}">
                      <a16:colId xmlns:a16="http://schemas.microsoft.com/office/drawing/2014/main" xmlns="" val="20006"/>
                    </a:ext>
                  </a:extLst>
                </a:gridCol>
              </a:tblGrid>
              <a:tr h="3347720">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extLst>
                  <a:ext uri="{0D108BD9-81ED-4DB2-BD59-A6C34878D82A}">
                    <a16:rowId xmlns:a16="http://schemas.microsoft.com/office/drawing/2014/main" xmlns="" val="10000"/>
                  </a:ext>
                </a:extLst>
              </a:tr>
            </a:tbl>
          </a:graphicData>
        </a:graphic>
      </p:graphicFrame>
      <p:sp>
        <p:nvSpPr>
          <p:cNvPr id="50" name="TextBox 49"/>
          <p:cNvSpPr txBox="1"/>
          <p:nvPr/>
        </p:nvSpPr>
        <p:spPr>
          <a:xfrm>
            <a:off x="547435" y="1135040"/>
            <a:ext cx="304800" cy="400110"/>
          </a:xfrm>
          <a:prstGeom prst="rect">
            <a:avLst/>
          </a:prstGeom>
          <a:noFill/>
        </p:spPr>
        <p:txBody>
          <a:bodyPr wrap="square" rtlCol="0">
            <a:spAutoFit/>
          </a:bodyPr>
          <a:lstStyle/>
          <a:p>
            <a:pPr algn="ctr"/>
            <a:r>
              <a:rPr lang="en-US" sz="2000"/>
              <a:t>0</a:t>
            </a:r>
            <a:endParaRPr lang="en-IN"/>
          </a:p>
        </p:txBody>
      </p:sp>
      <p:sp>
        <p:nvSpPr>
          <p:cNvPr id="51" name="TextBox 50"/>
          <p:cNvSpPr txBox="1"/>
          <p:nvPr/>
        </p:nvSpPr>
        <p:spPr>
          <a:xfrm>
            <a:off x="914400" y="1149070"/>
            <a:ext cx="304800" cy="400110"/>
          </a:xfrm>
          <a:prstGeom prst="rect">
            <a:avLst/>
          </a:prstGeom>
          <a:noFill/>
        </p:spPr>
        <p:txBody>
          <a:bodyPr wrap="square" rtlCol="0">
            <a:spAutoFit/>
          </a:bodyPr>
          <a:lstStyle/>
          <a:p>
            <a:pPr algn="ctr"/>
            <a:r>
              <a:rPr lang="en-US" sz="2000"/>
              <a:t>1</a:t>
            </a:r>
            <a:endParaRPr lang="en-IN"/>
          </a:p>
        </p:txBody>
      </p:sp>
      <p:sp>
        <p:nvSpPr>
          <p:cNvPr id="52" name="TextBox 51"/>
          <p:cNvSpPr txBox="1"/>
          <p:nvPr/>
        </p:nvSpPr>
        <p:spPr>
          <a:xfrm>
            <a:off x="1905000" y="1140585"/>
            <a:ext cx="304800" cy="400110"/>
          </a:xfrm>
          <a:prstGeom prst="rect">
            <a:avLst/>
          </a:prstGeom>
          <a:noFill/>
        </p:spPr>
        <p:txBody>
          <a:bodyPr wrap="square" rtlCol="0">
            <a:spAutoFit/>
          </a:bodyPr>
          <a:lstStyle/>
          <a:p>
            <a:pPr algn="ctr"/>
            <a:r>
              <a:rPr lang="en-US" sz="2000"/>
              <a:t>9</a:t>
            </a:r>
            <a:endParaRPr lang="en-IN"/>
          </a:p>
        </p:txBody>
      </p:sp>
      <p:sp>
        <p:nvSpPr>
          <p:cNvPr id="53" name="TextBox 52"/>
          <p:cNvSpPr txBox="1"/>
          <p:nvPr/>
        </p:nvSpPr>
        <p:spPr>
          <a:xfrm>
            <a:off x="2670372" y="1135040"/>
            <a:ext cx="468503" cy="400110"/>
          </a:xfrm>
          <a:prstGeom prst="rect">
            <a:avLst/>
          </a:prstGeom>
          <a:noFill/>
        </p:spPr>
        <p:txBody>
          <a:bodyPr wrap="square" rtlCol="0">
            <a:spAutoFit/>
          </a:bodyPr>
          <a:lstStyle/>
          <a:p>
            <a:pPr algn="ctr"/>
            <a:r>
              <a:rPr lang="en-US" sz="2000"/>
              <a:t>12</a:t>
            </a:r>
            <a:endParaRPr lang="en-IN"/>
          </a:p>
        </p:txBody>
      </p:sp>
      <p:sp>
        <p:nvSpPr>
          <p:cNvPr id="54" name="TextBox 53"/>
          <p:cNvSpPr txBox="1"/>
          <p:nvPr/>
        </p:nvSpPr>
        <p:spPr>
          <a:xfrm>
            <a:off x="3412955" y="1135040"/>
            <a:ext cx="502687" cy="400110"/>
          </a:xfrm>
          <a:prstGeom prst="rect">
            <a:avLst/>
          </a:prstGeom>
          <a:noFill/>
        </p:spPr>
        <p:txBody>
          <a:bodyPr wrap="square" rtlCol="0">
            <a:spAutoFit/>
          </a:bodyPr>
          <a:lstStyle/>
          <a:p>
            <a:pPr algn="ctr"/>
            <a:r>
              <a:rPr lang="en-US" sz="2000"/>
              <a:t>16</a:t>
            </a:r>
            <a:endParaRPr lang="en-IN"/>
          </a:p>
        </p:txBody>
      </p:sp>
      <p:sp>
        <p:nvSpPr>
          <p:cNvPr id="55" name="TextBox 54"/>
          <p:cNvSpPr txBox="1"/>
          <p:nvPr/>
        </p:nvSpPr>
        <p:spPr>
          <a:xfrm>
            <a:off x="5378116" y="1149070"/>
            <a:ext cx="485273" cy="400110"/>
          </a:xfrm>
          <a:prstGeom prst="rect">
            <a:avLst/>
          </a:prstGeom>
          <a:noFill/>
        </p:spPr>
        <p:txBody>
          <a:bodyPr wrap="square" rtlCol="0">
            <a:spAutoFit/>
          </a:bodyPr>
          <a:lstStyle/>
          <a:p>
            <a:pPr algn="ctr"/>
            <a:r>
              <a:rPr lang="en-US" sz="2000"/>
              <a:t>34</a:t>
            </a:r>
            <a:endParaRPr lang="en-IN"/>
          </a:p>
        </p:txBody>
      </p:sp>
      <p:sp>
        <p:nvSpPr>
          <p:cNvPr id="56" name="TextBox 55"/>
          <p:cNvSpPr txBox="1"/>
          <p:nvPr/>
        </p:nvSpPr>
        <p:spPr>
          <a:xfrm>
            <a:off x="5964654" y="1142055"/>
            <a:ext cx="448178" cy="400110"/>
          </a:xfrm>
          <a:prstGeom prst="rect">
            <a:avLst/>
          </a:prstGeom>
          <a:noFill/>
        </p:spPr>
        <p:txBody>
          <a:bodyPr wrap="square" rtlCol="0">
            <a:spAutoFit/>
          </a:bodyPr>
          <a:lstStyle/>
          <a:p>
            <a:pPr algn="ctr"/>
            <a:r>
              <a:rPr lang="en-US" sz="2000"/>
              <a:t>36</a:t>
            </a:r>
            <a:endParaRPr lang="en-IN"/>
          </a:p>
        </p:txBody>
      </p:sp>
      <p:sp>
        <p:nvSpPr>
          <p:cNvPr id="57" name="TextBox 56"/>
          <p:cNvSpPr txBox="1"/>
          <p:nvPr/>
        </p:nvSpPr>
        <p:spPr>
          <a:xfrm>
            <a:off x="7325863" y="1142055"/>
            <a:ext cx="568216" cy="400110"/>
          </a:xfrm>
          <a:prstGeom prst="rect">
            <a:avLst/>
          </a:prstGeom>
          <a:noFill/>
        </p:spPr>
        <p:txBody>
          <a:bodyPr wrap="square" rtlCol="0">
            <a:spAutoFit/>
          </a:bodyPr>
          <a:lstStyle/>
          <a:p>
            <a:pPr algn="ctr"/>
            <a:r>
              <a:rPr lang="en-US" sz="2000"/>
              <a:t>50</a:t>
            </a:r>
            <a:endParaRPr lang="en-IN"/>
          </a:p>
        </p:txBody>
      </p:sp>
      <p:cxnSp>
        <p:nvCxnSpPr>
          <p:cNvPr id="58" name="Straight Connector 57"/>
          <p:cNvCxnSpPr/>
          <p:nvPr/>
        </p:nvCxnSpPr>
        <p:spPr>
          <a:xfrm flipH="1" flipV="1">
            <a:off x="2470484" y="1899038"/>
            <a:ext cx="431150" cy="393032"/>
          </a:xfrm>
          <a:prstGeom prst="line">
            <a:avLst/>
          </a:prstGeom>
        </p:spPr>
        <p:style>
          <a:lnRef idx="3">
            <a:schemeClr val="dk1"/>
          </a:lnRef>
          <a:fillRef idx="0">
            <a:schemeClr val="dk1"/>
          </a:fillRef>
          <a:effectRef idx="2">
            <a:schemeClr val="dk1"/>
          </a:effectRef>
          <a:fontRef idx="minor">
            <a:schemeClr val="tx1"/>
          </a:fontRef>
        </p:style>
      </p:cxnSp>
      <p:cxnSp>
        <p:nvCxnSpPr>
          <p:cNvPr id="59" name="Straight Connector 58"/>
          <p:cNvCxnSpPr/>
          <p:nvPr/>
        </p:nvCxnSpPr>
        <p:spPr>
          <a:xfrm>
            <a:off x="3664298" y="2642632"/>
            <a:ext cx="1947718" cy="377208"/>
          </a:xfrm>
          <a:prstGeom prst="line">
            <a:avLst/>
          </a:prstGeom>
        </p:spPr>
        <p:style>
          <a:lnRef idx="3">
            <a:schemeClr val="dk1"/>
          </a:lnRef>
          <a:fillRef idx="0">
            <a:schemeClr val="dk1"/>
          </a:fillRef>
          <a:effectRef idx="2">
            <a:schemeClr val="dk1"/>
          </a:effectRef>
          <a:fontRef idx="minor">
            <a:schemeClr val="tx1"/>
          </a:fontRef>
        </p:style>
      </p:cxnSp>
      <p:cxnSp>
        <p:nvCxnSpPr>
          <p:cNvPr id="60" name="Straight Connector 59"/>
          <p:cNvCxnSpPr/>
          <p:nvPr/>
        </p:nvCxnSpPr>
        <p:spPr>
          <a:xfrm flipH="1" flipV="1">
            <a:off x="5612016" y="3030648"/>
            <a:ext cx="568652" cy="389712"/>
          </a:xfrm>
          <a:prstGeom prst="line">
            <a:avLst/>
          </a:prstGeom>
        </p:spPr>
        <p:style>
          <a:lnRef idx="3">
            <a:schemeClr val="dk1"/>
          </a:lnRef>
          <a:fillRef idx="0">
            <a:schemeClr val="dk1"/>
          </a:fillRef>
          <a:effectRef idx="2">
            <a:schemeClr val="dk1"/>
          </a:effectRef>
          <a:fontRef idx="minor">
            <a:schemeClr val="tx1"/>
          </a:fontRef>
        </p:style>
      </p:cxnSp>
      <p:cxnSp>
        <p:nvCxnSpPr>
          <p:cNvPr id="61" name="Straight Connector 60"/>
          <p:cNvCxnSpPr/>
          <p:nvPr/>
        </p:nvCxnSpPr>
        <p:spPr>
          <a:xfrm flipV="1">
            <a:off x="609600" y="3739870"/>
            <a:ext cx="7010400" cy="438090"/>
          </a:xfrm>
          <a:prstGeom prst="line">
            <a:avLst/>
          </a:prstGeom>
        </p:spPr>
        <p:style>
          <a:lnRef idx="3">
            <a:schemeClr val="dk1"/>
          </a:lnRef>
          <a:fillRef idx="0">
            <a:schemeClr val="dk1"/>
          </a:fillRef>
          <a:effectRef idx="2">
            <a:schemeClr val="dk1"/>
          </a:effectRef>
          <a:fontRef idx="minor">
            <a:schemeClr val="tx1"/>
          </a:fontRef>
        </p:style>
      </p:cxnSp>
      <p:cxnSp>
        <p:nvCxnSpPr>
          <p:cNvPr id="62" name="Straight Connector 61"/>
          <p:cNvCxnSpPr/>
          <p:nvPr/>
        </p:nvCxnSpPr>
        <p:spPr>
          <a:xfrm flipH="1" flipV="1">
            <a:off x="609601" y="4197070"/>
            <a:ext cx="461010" cy="290770"/>
          </a:xfrm>
          <a:prstGeom prst="line">
            <a:avLst/>
          </a:prstGeom>
        </p:spPr>
        <p:style>
          <a:lnRef idx="3">
            <a:schemeClr val="dk1"/>
          </a:lnRef>
          <a:fillRef idx="0">
            <a:schemeClr val="dk1"/>
          </a:fillRef>
          <a:effectRef idx="2">
            <a:schemeClr val="dk1"/>
          </a:effectRef>
          <a:fontRef idx="minor">
            <a:schemeClr val="tx1"/>
          </a:fontRef>
        </p:style>
      </p:cxnSp>
      <p:sp>
        <p:nvSpPr>
          <p:cNvPr id="63" name="TextBox 62"/>
          <p:cNvSpPr txBox="1"/>
          <p:nvPr/>
        </p:nvSpPr>
        <p:spPr>
          <a:xfrm>
            <a:off x="2265672" y="1528072"/>
            <a:ext cx="468503" cy="400110"/>
          </a:xfrm>
          <a:prstGeom prst="rect">
            <a:avLst/>
          </a:prstGeom>
          <a:noFill/>
        </p:spPr>
        <p:txBody>
          <a:bodyPr wrap="square" rtlCol="0">
            <a:spAutoFit/>
          </a:bodyPr>
          <a:lstStyle/>
          <a:p>
            <a:pPr algn="ctr"/>
            <a:r>
              <a:rPr lang="en-US" sz="2000"/>
              <a:t>11</a:t>
            </a:r>
            <a:endParaRPr lang="en-IN"/>
          </a:p>
        </p:txBody>
      </p:sp>
      <p:sp>
        <p:nvSpPr>
          <p:cNvPr id="64" name="TextBox 63"/>
          <p:cNvSpPr txBox="1"/>
          <p:nvPr/>
        </p:nvSpPr>
        <p:spPr>
          <a:xfrm>
            <a:off x="1066800" y="4170945"/>
            <a:ext cx="304800" cy="400110"/>
          </a:xfrm>
          <a:prstGeom prst="rect">
            <a:avLst/>
          </a:prstGeom>
          <a:noFill/>
        </p:spPr>
        <p:txBody>
          <a:bodyPr wrap="square" rtlCol="0">
            <a:spAutoFit/>
          </a:bodyPr>
          <a:lstStyle/>
          <a:p>
            <a:pPr algn="ctr"/>
            <a:r>
              <a:rPr lang="en-US" sz="2000"/>
              <a:t>1</a:t>
            </a:r>
            <a:endParaRPr lang="en-IN"/>
          </a:p>
        </p:txBody>
      </p:sp>
      <p:sp>
        <p:nvSpPr>
          <p:cNvPr id="65" name="TextBox 64"/>
          <p:cNvSpPr txBox="1"/>
          <p:nvPr/>
        </p:nvSpPr>
        <p:spPr>
          <a:xfrm>
            <a:off x="5574669" y="2669180"/>
            <a:ext cx="485273" cy="400110"/>
          </a:xfrm>
          <a:prstGeom prst="rect">
            <a:avLst/>
          </a:prstGeom>
          <a:noFill/>
        </p:spPr>
        <p:txBody>
          <a:bodyPr wrap="square" rtlCol="0">
            <a:spAutoFit/>
          </a:bodyPr>
          <a:lstStyle/>
          <a:p>
            <a:pPr algn="ctr"/>
            <a:r>
              <a:rPr lang="en-US" sz="2000"/>
              <a:t>34</a:t>
            </a:r>
            <a:endParaRPr lang="en-IN"/>
          </a:p>
        </p:txBody>
      </p:sp>
      <p:sp>
        <p:nvSpPr>
          <p:cNvPr id="66" name="TextBox 65"/>
          <p:cNvSpPr txBox="1"/>
          <p:nvPr/>
        </p:nvSpPr>
        <p:spPr>
          <a:xfrm>
            <a:off x="6150400" y="3109722"/>
            <a:ext cx="448178" cy="400110"/>
          </a:xfrm>
          <a:prstGeom prst="rect">
            <a:avLst/>
          </a:prstGeom>
          <a:noFill/>
        </p:spPr>
        <p:txBody>
          <a:bodyPr wrap="square" rtlCol="0">
            <a:spAutoFit/>
          </a:bodyPr>
          <a:lstStyle/>
          <a:p>
            <a:pPr algn="ctr"/>
            <a:r>
              <a:rPr lang="en-US" sz="2000"/>
              <a:t>36</a:t>
            </a:r>
            <a:endParaRPr lang="en-IN"/>
          </a:p>
        </p:txBody>
      </p:sp>
      <p:sp>
        <p:nvSpPr>
          <p:cNvPr id="67" name="TextBox 66"/>
          <p:cNvSpPr txBox="1"/>
          <p:nvPr/>
        </p:nvSpPr>
        <p:spPr>
          <a:xfrm>
            <a:off x="2057400" y="4564040"/>
            <a:ext cx="304800" cy="400110"/>
          </a:xfrm>
          <a:prstGeom prst="rect">
            <a:avLst/>
          </a:prstGeom>
          <a:noFill/>
        </p:spPr>
        <p:txBody>
          <a:bodyPr wrap="square" rtlCol="0">
            <a:spAutoFit/>
          </a:bodyPr>
          <a:lstStyle/>
          <a:p>
            <a:pPr algn="ctr"/>
            <a:r>
              <a:rPr lang="en-US" sz="2000"/>
              <a:t>9</a:t>
            </a:r>
            <a:endParaRPr lang="en-IN"/>
          </a:p>
        </p:txBody>
      </p:sp>
      <p:sp>
        <p:nvSpPr>
          <p:cNvPr id="68" name="TextBox 67"/>
          <p:cNvSpPr txBox="1"/>
          <p:nvPr/>
        </p:nvSpPr>
        <p:spPr>
          <a:xfrm>
            <a:off x="2855721" y="1939584"/>
            <a:ext cx="468503" cy="400110"/>
          </a:xfrm>
          <a:prstGeom prst="rect">
            <a:avLst/>
          </a:prstGeom>
          <a:noFill/>
        </p:spPr>
        <p:txBody>
          <a:bodyPr wrap="square" rtlCol="0">
            <a:spAutoFit/>
          </a:bodyPr>
          <a:lstStyle/>
          <a:p>
            <a:pPr algn="ctr"/>
            <a:r>
              <a:rPr lang="en-US" sz="2000"/>
              <a:t>12</a:t>
            </a:r>
            <a:endParaRPr lang="en-IN"/>
          </a:p>
        </p:txBody>
      </p:sp>
      <p:sp>
        <p:nvSpPr>
          <p:cNvPr id="69" name="TextBox 68"/>
          <p:cNvSpPr txBox="1"/>
          <p:nvPr/>
        </p:nvSpPr>
        <p:spPr>
          <a:xfrm>
            <a:off x="3599075" y="2282217"/>
            <a:ext cx="502687" cy="400110"/>
          </a:xfrm>
          <a:prstGeom prst="rect">
            <a:avLst/>
          </a:prstGeom>
          <a:noFill/>
        </p:spPr>
        <p:txBody>
          <a:bodyPr wrap="square" rtlCol="0">
            <a:spAutoFit/>
          </a:bodyPr>
          <a:lstStyle/>
          <a:p>
            <a:pPr algn="ctr"/>
            <a:r>
              <a:rPr lang="en-US" sz="2000"/>
              <a:t>16</a:t>
            </a:r>
            <a:endParaRPr lang="en-IN"/>
          </a:p>
        </p:txBody>
      </p:sp>
      <p:cxnSp>
        <p:nvCxnSpPr>
          <p:cNvPr id="70" name="Straight Connector 69"/>
          <p:cNvCxnSpPr/>
          <p:nvPr/>
        </p:nvCxnSpPr>
        <p:spPr>
          <a:xfrm>
            <a:off x="2901634" y="2292070"/>
            <a:ext cx="762664" cy="350560"/>
          </a:xfrm>
          <a:prstGeom prst="line">
            <a:avLst/>
          </a:prstGeom>
        </p:spPr>
        <p:style>
          <a:lnRef idx="3">
            <a:schemeClr val="dk1"/>
          </a:lnRef>
          <a:fillRef idx="0">
            <a:schemeClr val="dk1"/>
          </a:fillRef>
          <a:effectRef idx="2">
            <a:schemeClr val="dk1"/>
          </a:effectRef>
          <a:fontRef idx="minor">
            <a:schemeClr val="tx1"/>
          </a:fontRef>
        </p:style>
      </p:cxnSp>
      <p:cxnSp>
        <p:nvCxnSpPr>
          <p:cNvPr id="71" name="Straight Connector 70"/>
          <p:cNvCxnSpPr/>
          <p:nvPr/>
        </p:nvCxnSpPr>
        <p:spPr>
          <a:xfrm flipH="1" flipV="1">
            <a:off x="6180668" y="3420360"/>
            <a:ext cx="1429303" cy="312496"/>
          </a:xfrm>
          <a:prstGeom prst="line">
            <a:avLst/>
          </a:prstGeom>
        </p:spPr>
        <p:style>
          <a:lnRef idx="3">
            <a:schemeClr val="dk1"/>
          </a:lnRef>
          <a:fillRef idx="0">
            <a:schemeClr val="dk1"/>
          </a:fillRef>
          <a:effectRef idx="2">
            <a:schemeClr val="dk1"/>
          </a:effectRef>
          <a:fontRef idx="minor">
            <a:schemeClr val="tx1"/>
          </a:fontRef>
        </p:style>
      </p:cxnSp>
      <p:sp>
        <p:nvSpPr>
          <p:cNvPr id="72" name="TextBox 71"/>
          <p:cNvSpPr txBox="1"/>
          <p:nvPr/>
        </p:nvSpPr>
        <p:spPr>
          <a:xfrm>
            <a:off x="7179857" y="3794987"/>
            <a:ext cx="509069" cy="400110"/>
          </a:xfrm>
          <a:prstGeom prst="rect">
            <a:avLst/>
          </a:prstGeom>
          <a:noFill/>
        </p:spPr>
        <p:txBody>
          <a:bodyPr wrap="square" rtlCol="0">
            <a:spAutoFit/>
          </a:bodyPr>
          <a:lstStyle/>
          <a:p>
            <a:pPr algn="ctr"/>
            <a:r>
              <a:rPr lang="en-US" sz="2000"/>
              <a:t>50</a:t>
            </a:r>
            <a:endParaRPr lang="en-IN"/>
          </a:p>
        </p:txBody>
      </p:sp>
      <p:cxnSp>
        <p:nvCxnSpPr>
          <p:cNvPr id="73" name="Straight Connector 72"/>
          <p:cNvCxnSpPr/>
          <p:nvPr/>
        </p:nvCxnSpPr>
        <p:spPr>
          <a:xfrm flipH="1" flipV="1">
            <a:off x="1066800" y="4490400"/>
            <a:ext cx="990600" cy="378440"/>
          </a:xfrm>
          <a:prstGeom prst="line">
            <a:avLst/>
          </a:prstGeom>
        </p:spPr>
        <p:style>
          <a:lnRef idx="3">
            <a:schemeClr val="dk1"/>
          </a:lnRef>
          <a:fillRef idx="0">
            <a:schemeClr val="dk1"/>
          </a:fillRef>
          <a:effectRef idx="2">
            <a:schemeClr val="dk1"/>
          </a:effectRef>
          <a:fontRef idx="minor">
            <a:schemeClr val="tx1"/>
          </a:fontRef>
        </p:style>
      </p:cxnSp>
      <p:sp>
        <p:nvSpPr>
          <p:cNvPr id="74" name="TextBox 73"/>
          <p:cNvSpPr txBox="1"/>
          <p:nvPr/>
        </p:nvSpPr>
        <p:spPr>
          <a:xfrm>
            <a:off x="563355" y="3777850"/>
            <a:ext cx="304800" cy="400110"/>
          </a:xfrm>
          <a:prstGeom prst="rect">
            <a:avLst/>
          </a:prstGeom>
          <a:noFill/>
        </p:spPr>
        <p:txBody>
          <a:bodyPr wrap="square" rtlCol="0">
            <a:spAutoFit/>
          </a:bodyPr>
          <a:lstStyle/>
          <a:p>
            <a:pPr algn="ctr"/>
            <a:r>
              <a:rPr lang="en-US" sz="2000"/>
              <a:t>0</a:t>
            </a:r>
            <a:endParaRPr lang="en-IN"/>
          </a:p>
        </p:txBody>
      </p:sp>
    </p:spTree>
    <p:extLst>
      <p:ext uri="{BB962C8B-B14F-4D97-AF65-F5344CB8AC3E}">
        <p14:creationId xmlns:p14="http://schemas.microsoft.com/office/powerpoint/2010/main" val="61934126"/>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26"/>
                                        </p:tgtEl>
                                        <p:attrNameLst>
                                          <p:attrName>style.visibility</p:attrName>
                                        </p:attrNameLst>
                                      </p:cBhvr>
                                      <p:to>
                                        <p:strVal val="visible"/>
                                      </p:to>
                                    </p:set>
                                  </p:childTnLst>
                                </p:cTn>
                              </p:par>
                            </p:childTnLst>
                          </p:cTn>
                        </p:par>
                      </p:childTnLst>
                    </p:cTn>
                  </p:par>
                  <p:par>
                    <p:cTn id="12" fill="hold" nodeType="clickPar">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49"/>
                                        </p:tgtEl>
                                        <p:attrNameLst>
                                          <p:attrName>style.visibility</p:attrName>
                                        </p:attrNameLst>
                                      </p:cBhvr>
                                      <p:to>
                                        <p:strVal val="visible"/>
                                      </p:to>
                                    </p:set>
                                  </p:childTnLst>
                                </p:cTn>
                              </p:par>
                              <p:par>
                                <p:cTn id="16" presetID="1" presetClass="entr" presetSubtype="0" fill="hold" grpId="0" nodeType="withEffect">
                                  <p:stCondLst>
                                    <p:cond delay="0"/>
                                  </p:stCondLst>
                                  <p:childTnLst>
                                    <p:set>
                                      <p:cBhvr>
                                        <p:cTn id="17" dur="1" fill="hold">
                                          <p:stCondLst>
                                            <p:cond delay="0"/>
                                          </p:stCondLst>
                                        </p:cTn>
                                        <p:tgtEl>
                                          <p:spTgt spid="50"/>
                                        </p:tgtEl>
                                        <p:attrNameLst>
                                          <p:attrName>style.visibility</p:attrName>
                                        </p:attrNameLst>
                                      </p:cBhvr>
                                      <p:to>
                                        <p:strVal val="visible"/>
                                      </p:to>
                                    </p:set>
                                  </p:childTnLst>
                                </p:cTn>
                              </p:par>
                              <p:par>
                                <p:cTn id="18" presetID="1" presetClass="entr" presetSubtype="0" fill="hold" grpId="0" nodeType="withEffect">
                                  <p:stCondLst>
                                    <p:cond delay="0"/>
                                  </p:stCondLst>
                                  <p:childTnLst>
                                    <p:set>
                                      <p:cBhvr>
                                        <p:cTn id="19" dur="1" fill="hold">
                                          <p:stCondLst>
                                            <p:cond delay="0"/>
                                          </p:stCondLst>
                                        </p:cTn>
                                        <p:tgtEl>
                                          <p:spTgt spid="51"/>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52"/>
                                        </p:tgtEl>
                                        <p:attrNameLst>
                                          <p:attrName>style.visibility</p:attrName>
                                        </p:attrNameLst>
                                      </p:cBhvr>
                                      <p:to>
                                        <p:strVal val="visible"/>
                                      </p:to>
                                    </p:set>
                                  </p:childTnLst>
                                </p:cTn>
                              </p:par>
                              <p:par>
                                <p:cTn id="22" presetID="1" presetClass="entr" presetSubtype="0" fill="hold" grpId="0" nodeType="withEffect">
                                  <p:stCondLst>
                                    <p:cond delay="0"/>
                                  </p:stCondLst>
                                  <p:childTnLst>
                                    <p:set>
                                      <p:cBhvr>
                                        <p:cTn id="23" dur="1" fill="hold">
                                          <p:stCondLst>
                                            <p:cond delay="0"/>
                                          </p:stCondLst>
                                        </p:cTn>
                                        <p:tgtEl>
                                          <p:spTgt spid="53"/>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54"/>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55"/>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56"/>
                                        </p:tgtEl>
                                        <p:attrNameLst>
                                          <p:attrName>style.visibility</p:attrName>
                                        </p:attrNameLst>
                                      </p:cBhvr>
                                      <p:to>
                                        <p:strVal val="visible"/>
                                      </p:to>
                                    </p:set>
                                  </p:childTnLst>
                                </p:cTn>
                              </p:par>
                              <p:par>
                                <p:cTn id="30" presetID="1" presetClass="entr" presetSubtype="0" fill="hold" grpId="0" nodeType="withEffect">
                                  <p:stCondLst>
                                    <p:cond delay="0"/>
                                  </p:stCondLst>
                                  <p:childTnLst>
                                    <p:set>
                                      <p:cBhvr>
                                        <p:cTn id="31" dur="1" fill="hold">
                                          <p:stCondLst>
                                            <p:cond delay="0"/>
                                          </p:stCondLst>
                                        </p:cTn>
                                        <p:tgtEl>
                                          <p:spTgt spid="57"/>
                                        </p:tgtEl>
                                        <p:attrNameLst>
                                          <p:attrName>style.visibility</p:attrName>
                                        </p:attrNameLst>
                                      </p:cBhvr>
                                      <p:to>
                                        <p:strVal val="visible"/>
                                      </p:to>
                                    </p:set>
                                  </p:childTnLst>
                                </p:cTn>
                              </p:par>
                            </p:childTnLst>
                          </p:cTn>
                        </p:par>
                      </p:childTnLst>
                    </p:cTn>
                  </p:par>
                  <p:par>
                    <p:cTn id="32" fill="hold" nodeType="clickPar">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63"/>
                                        </p:tgtEl>
                                        <p:attrNameLst>
                                          <p:attrName>style.visibility</p:attrName>
                                        </p:attrNameLst>
                                      </p:cBhvr>
                                      <p:to>
                                        <p:strVal val="visible"/>
                                      </p:to>
                                    </p:set>
                                  </p:childTnLst>
                                </p:cTn>
                              </p:par>
                            </p:childTnLst>
                          </p:cTn>
                        </p:par>
                      </p:childTnLst>
                    </p:cTn>
                  </p:par>
                  <p:par>
                    <p:cTn id="36" fill="hold" nodeType="clickPar">
                      <p:stCondLst>
                        <p:cond delay="indefinite"/>
                      </p:stCondLst>
                      <p:childTnLst>
                        <p:par>
                          <p:cTn id="37" fill="hold">
                            <p:stCondLst>
                              <p:cond delay="0"/>
                            </p:stCondLst>
                            <p:childTnLst>
                              <p:par>
                                <p:cTn id="38" presetID="1" presetClass="entr" presetSubtype="0" fill="hold" nodeType="clickEffect">
                                  <p:stCondLst>
                                    <p:cond delay="0"/>
                                  </p:stCondLst>
                                  <p:childTnLst>
                                    <p:set>
                                      <p:cBhvr>
                                        <p:cTn id="39" dur="1" fill="hold">
                                          <p:stCondLst>
                                            <p:cond delay="0"/>
                                          </p:stCondLst>
                                        </p:cTn>
                                        <p:tgtEl>
                                          <p:spTgt spid="58"/>
                                        </p:tgtEl>
                                        <p:attrNameLst>
                                          <p:attrName>style.visibility</p:attrName>
                                        </p:attrNameLst>
                                      </p:cBhvr>
                                      <p:to>
                                        <p:strVal val="visible"/>
                                      </p:to>
                                    </p:set>
                                  </p:childTnLst>
                                </p:cTn>
                              </p:par>
                            </p:childTnLst>
                          </p:cTn>
                        </p:par>
                      </p:childTnLst>
                    </p:cTn>
                  </p:par>
                  <p:par>
                    <p:cTn id="40" fill="hold" nodeType="clickPar">
                      <p:stCondLst>
                        <p:cond delay="indefinite"/>
                      </p:stCondLst>
                      <p:childTnLst>
                        <p:par>
                          <p:cTn id="41" fill="hold">
                            <p:stCondLst>
                              <p:cond delay="0"/>
                            </p:stCondLst>
                            <p:childTnLst>
                              <p:par>
                                <p:cTn id="42" presetID="1" presetClass="entr" presetSubtype="0" fill="hold" grpId="0" nodeType="clickEffect">
                                  <p:stCondLst>
                                    <p:cond delay="0"/>
                                  </p:stCondLst>
                                  <p:childTnLst>
                                    <p:set>
                                      <p:cBhvr>
                                        <p:cTn id="43" dur="1" fill="hold">
                                          <p:stCondLst>
                                            <p:cond delay="0"/>
                                          </p:stCondLst>
                                        </p:cTn>
                                        <p:tgtEl>
                                          <p:spTgt spid="68"/>
                                        </p:tgtEl>
                                        <p:attrNameLst>
                                          <p:attrName>style.visibility</p:attrName>
                                        </p:attrNameLst>
                                      </p:cBhvr>
                                      <p:to>
                                        <p:strVal val="visible"/>
                                      </p:to>
                                    </p:set>
                                  </p:childTnLst>
                                </p:cTn>
                              </p:par>
                            </p:childTnLst>
                          </p:cTn>
                        </p:par>
                      </p:childTnLst>
                    </p:cTn>
                  </p:par>
                  <p:par>
                    <p:cTn id="44" fill="hold" nodeType="clickPar">
                      <p:stCondLst>
                        <p:cond delay="indefinite"/>
                      </p:stCondLst>
                      <p:childTnLst>
                        <p:par>
                          <p:cTn id="45" fill="hold">
                            <p:stCondLst>
                              <p:cond delay="0"/>
                            </p:stCondLst>
                            <p:childTnLst>
                              <p:par>
                                <p:cTn id="46" presetID="1" presetClass="entr" presetSubtype="0" fill="hold" nodeType="clickEffect">
                                  <p:stCondLst>
                                    <p:cond delay="0"/>
                                  </p:stCondLst>
                                  <p:childTnLst>
                                    <p:set>
                                      <p:cBhvr>
                                        <p:cTn id="47" dur="1" fill="hold">
                                          <p:stCondLst>
                                            <p:cond delay="0"/>
                                          </p:stCondLst>
                                        </p:cTn>
                                        <p:tgtEl>
                                          <p:spTgt spid="70"/>
                                        </p:tgtEl>
                                        <p:attrNameLst>
                                          <p:attrName>style.visibility</p:attrName>
                                        </p:attrNameLst>
                                      </p:cBhvr>
                                      <p:to>
                                        <p:strVal val="visible"/>
                                      </p:to>
                                    </p:set>
                                  </p:childTnLst>
                                </p:cTn>
                              </p:par>
                            </p:childTnLst>
                          </p:cTn>
                        </p:par>
                      </p:childTnLst>
                    </p:cTn>
                  </p:par>
                  <p:par>
                    <p:cTn id="48" fill="hold" nodeType="clickPar">
                      <p:stCondLst>
                        <p:cond delay="indefinite"/>
                      </p:stCondLst>
                      <p:childTnLst>
                        <p:par>
                          <p:cTn id="49" fill="hold">
                            <p:stCondLst>
                              <p:cond delay="0"/>
                            </p:stCondLst>
                            <p:childTnLst>
                              <p:par>
                                <p:cTn id="50" presetID="1" presetClass="entr" presetSubtype="0" fill="hold" grpId="0" nodeType="clickEffect">
                                  <p:stCondLst>
                                    <p:cond delay="0"/>
                                  </p:stCondLst>
                                  <p:childTnLst>
                                    <p:set>
                                      <p:cBhvr>
                                        <p:cTn id="51" dur="1" fill="hold">
                                          <p:stCondLst>
                                            <p:cond delay="0"/>
                                          </p:stCondLst>
                                        </p:cTn>
                                        <p:tgtEl>
                                          <p:spTgt spid="69"/>
                                        </p:tgtEl>
                                        <p:attrNameLst>
                                          <p:attrName>style.visibility</p:attrName>
                                        </p:attrNameLst>
                                      </p:cBhvr>
                                      <p:to>
                                        <p:strVal val="visible"/>
                                      </p:to>
                                    </p:set>
                                  </p:childTnLst>
                                </p:cTn>
                              </p:par>
                            </p:childTnLst>
                          </p:cTn>
                        </p:par>
                      </p:childTnLst>
                    </p:cTn>
                  </p:par>
                  <p:par>
                    <p:cTn id="52" fill="hold" nodeType="clickPar">
                      <p:stCondLst>
                        <p:cond delay="indefinite"/>
                      </p:stCondLst>
                      <p:childTnLst>
                        <p:par>
                          <p:cTn id="53" fill="hold">
                            <p:stCondLst>
                              <p:cond delay="0"/>
                            </p:stCondLst>
                            <p:childTnLst>
                              <p:par>
                                <p:cTn id="54" presetID="1" presetClass="entr" presetSubtype="0" fill="hold" nodeType="clickEffect">
                                  <p:stCondLst>
                                    <p:cond delay="0"/>
                                  </p:stCondLst>
                                  <p:childTnLst>
                                    <p:set>
                                      <p:cBhvr>
                                        <p:cTn id="55" dur="1" fill="hold">
                                          <p:stCondLst>
                                            <p:cond delay="0"/>
                                          </p:stCondLst>
                                        </p:cTn>
                                        <p:tgtEl>
                                          <p:spTgt spid="59"/>
                                        </p:tgtEl>
                                        <p:attrNameLst>
                                          <p:attrName>style.visibility</p:attrName>
                                        </p:attrNameLst>
                                      </p:cBhvr>
                                      <p:to>
                                        <p:strVal val="visible"/>
                                      </p:to>
                                    </p:set>
                                  </p:childTnLst>
                                </p:cTn>
                              </p:par>
                            </p:childTnLst>
                          </p:cTn>
                        </p:par>
                      </p:childTnLst>
                    </p:cTn>
                  </p:par>
                  <p:par>
                    <p:cTn id="56" fill="hold" nodeType="clickPar">
                      <p:stCondLst>
                        <p:cond delay="indefinite"/>
                      </p:stCondLst>
                      <p:childTnLst>
                        <p:par>
                          <p:cTn id="57" fill="hold">
                            <p:stCondLst>
                              <p:cond delay="0"/>
                            </p:stCondLst>
                            <p:childTnLst>
                              <p:par>
                                <p:cTn id="58" presetID="1" presetClass="entr" presetSubtype="0" fill="hold" grpId="0" nodeType="clickEffect">
                                  <p:stCondLst>
                                    <p:cond delay="0"/>
                                  </p:stCondLst>
                                  <p:childTnLst>
                                    <p:set>
                                      <p:cBhvr>
                                        <p:cTn id="59" dur="1" fill="hold">
                                          <p:stCondLst>
                                            <p:cond delay="0"/>
                                          </p:stCondLst>
                                        </p:cTn>
                                        <p:tgtEl>
                                          <p:spTgt spid="65"/>
                                        </p:tgtEl>
                                        <p:attrNameLst>
                                          <p:attrName>style.visibility</p:attrName>
                                        </p:attrNameLst>
                                      </p:cBhvr>
                                      <p:to>
                                        <p:strVal val="visible"/>
                                      </p:to>
                                    </p:set>
                                  </p:childTnLst>
                                </p:cTn>
                              </p:par>
                            </p:childTnLst>
                          </p:cTn>
                        </p:par>
                      </p:childTnLst>
                    </p:cTn>
                  </p:par>
                  <p:par>
                    <p:cTn id="60" fill="hold" nodeType="clickPar">
                      <p:stCondLst>
                        <p:cond delay="indefinite"/>
                      </p:stCondLst>
                      <p:childTnLst>
                        <p:par>
                          <p:cTn id="61" fill="hold">
                            <p:stCondLst>
                              <p:cond delay="0"/>
                            </p:stCondLst>
                            <p:childTnLst>
                              <p:par>
                                <p:cTn id="62" presetID="1" presetClass="entr" presetSubtype="0" fill="hold" nodeType="clickEffect">
                                  <p:stCondLst>
                                    <p:cond delay="0"/>
                                  </p:stCondLst>
                                  <p:childTnLst>
                                    <p:set>
                                      <p:cBhvr>
                                        <p:cTn id="63" dur="1" fill="hold">
                                          <p:stCondLst>
                                            <p:cond delay="0"/>
                                          </p:stCondLst>
                                        </p:cTn>
                                        <p:tgtEl>
                                          <p:spTgt spid="60"/>
                                        </p:tgtEl>
                                        <p:attrNameLst>
                                          <p:attrName>style.visibility</p:attrName>
                                        </p:attrNameLst>
                                      </p:cBhvr>
                                      <p:to>
                                        <p:strVal val="visible"/>
                                      </p:to>
                                    </p:set>
                                  </p:childTnLst>
                                </p:cTn>
                              </p:par>
                            </p:childTnLst>
                          </p:cTn>
                        </p:par>
                      </p:childTnLst>
                    </p:cTn>
                  </p:par>
                  <p:par>
                    <p:cTn id="64" fill="hold" nodeType="clickPar">
                      <p:stCondLst>
                        <p:cond delay="indefinite"/>
                      </p:stCondLst>
                      <p:childTnLst>
                        <p:par>
                          <p:cTn id="65" fill="hold">
                            <p:stCondLst>
                              <p:cond delay="0"/>
                            </p:stCondLst>
                            <p:childTnLst>
                              <p:par>
                                <p:cTn id="66" presetID="1" presetClass="entr" presetSubtype="0" fill="hold" grpId="0" nodeType="clickEffect">
                                  <p:stCondLst>
                                    <p:cond delay="0"/>
                                  </p:stCondLst>
                                  <p:childTnLst>
                                    <p:set>
                                      <p:cBhvr>
                                        <p:cTn id="67" dur="1" fill="hold">
                                          <p:stCondLst>
                                            <p:cond delay="0"/>
                                          </p:stCondLst>
                                        </p:cTn>
                                        <p:tgtEl>
                                          <p:spTgt spid="66"/>
                                        </p:tgtEl>
                                        <p:attrNameLst>
                                          <p:attrName>style.visibility</p:attrName>
                                        </p:attrNameLst>
                                      </p:cBhvr>
                                      <p:to>
                                        <p:strVal val="visible"/>
                                      </p:to>
                                    </p:set>
                                  </p:childTnLst>
                                </p:cTn>
                              </p:par>
                            </p:childTnLst>
                          </p:cTn>
                        </p:par>
                      </p:childTnLst>
                    </p:cTn>
                  </p:par>
                  <p:par>
                    <p:cTn id="68" fill="hold" nodeType="clickPar">
                      <p:stCondLst>
                        <p:cond delay="indefinite"/>
                      </p:stCondLst>
                      <p:childTnLst>
                        <p:par>
                          <p:cTn id="69" fill="hold">
                            <p:stCondLst>
                              <p:cond delay="0"/>
                            </p:stCondLst>
                            <p:childTnLst>
                              <p:par>
                                <p:cTn id="70" presetID="1" presetClass="entr" presetSubtype="0" fill="hold" nodeType="clickEffect">
                                  <p:stCondLst>
                                    <p:cond delay="0"/>
                                  </p:stCondLst>
                                  <p:childTnLst>
                                    <p:set>
                                      <p:cBhvr>
                                        <p:cTn id="71" dur="1" fill="hold">
                                          <p:stCondLst>
                                            <p:cond delay="0"/>
                                          </p:stCondLst>
                                        </p:cTn>
                                        <p:tgtEl>
                                          <p:spTgt spid="71"/>
                                        </p:tgtEl>
                                        <p:attrNameLst>
                                          <p:attrName>style.visibility</p:attrName>
                                        </p:attrNameLst>
                                      </p:cBhvr>
                                      <p:to>
                                        <p:strVal val="visible"/>
                                      </p:to>
                                    </p:set>
                                  </p:childTnLst>
                                </p:cTn>
                              </p:par>
                            </p:childTnLst>
                          </p:cTn>
                        </p:par>
                      </p:childTnLst>
                    </p:cTn>
                  </p:par>
                  <p:par>
                    <p:cTn id="72" fill="hold" nodeType="clickPar">
                      <p:stCondLst>
                        <p:cond delay="indefinite"/>
                      </p:stCondLst>
                      <p:childTnLst>
                        <p:par>
                          <p:cTn id="73" fill="hold">
                            <p:stCondLst>
                              <p:cond delay="0"/>
                            </p:stCondLst>
                            <p:childTnLst>
                              <p:par>
                                <p:cTn id="74" presetID="1" presetClass="entr" presetSubtype="0" fill="hold" grpId="0" nodeType="clickEffect">
                                  <p:stCondLst>
                                    <p:cond delay="0"/>
                                  </p:stCondLst>
                                  <p:childTnLst>
                                    <p:set>
                                      <p:cBhvr>
                                        <p:cTn id="75" dur="1" fill="hold">
                                          <p:stCondLst>
                                            <p:cond delay="0"/>
                                          </p:stCondLst>
                                        </p:cTn>
                                        <p:tgtEl>
                                          <p:spTgt spid="72"/>
                                        </p:tgtEl>
                                        <p:attrNameLst>
                                          <p:attrName>style.visibility</p:attrName>
                                        </p:attrNameLst>
                                      </p:cBhvr>
                                      <p:to>
                                        <p:strVal val="visible"/>
                                      </p:to>
                                    </p:set>
                                  </p:childTnLst>
                                </p:cTn>
                              </p:par>
                            </p:childTnLst>
                          </p:cTn>
                        </p:par>
                      </p:childTnLst>
                    </p:cTn>
                  </p:par>
                  <p:par>
                    <p:cTn id="76" fill="hold" nodeType="clickPar">
                      <p:stCondLst>
                        <p:cond delay="indefinite"/>
                      </p:stCondLst>
                      <p:childTnLst>
                        <p:par>
                          <p:cTn id="77" fill="hold">
                            <p:stCondLst>
                              <p:cond delay="0"/>
                            </p:stCondLst>
                            <p:childTnLst>
                              <p:par>
                                <p:cTn id="78" presetID="1" presetClass="entr" presetSubtype="0" fill="hold" nodeType="clickEffect">
                                  <p:stCondLst>
                                    <p:cond delay="0"/>
                                  </p:stCondLst>
                                  <p:childTnLst>
                                    <p:set>
                                      <p:cBhvr>
                                        <p:cTn id="79" dur="1" fill="hold">
                                          <p:stCondLst>
                                            <p:cond delay="0"/>
                                          </p:stCondLst>
                                        </p:cTn>
                                        <p:tgtEl>
                                          <p:spTgt spid="61"/>
                                        </p:tgtEl>
                                        <p:attrNameLst>
                                          <p:attrName>style.visibility</p:attrName>
                                        </p:attrNameLst>
                                      </p:cBhvr>
                                      <p:to>
                                        <p:strVal val="visible"/>
                                      </p:to>
                                    </p:set>
                                  </p:childTnLst>
                                </p:cTn>
                              </p:par>
                            </p:childTnLst>
                          </p:cTn>
                        </p:par>
                      </p:childTnLst>
                    </p:cTn>
                  </p:par>
                  <p:par>
                    <p:cTn id="80" fill="hold" nodeType="clickPar">
                      <p:stCondLst>
                        <p:cond delay="indefinite"/>
                      </p:stCondLst>
                      <p:childTnLst>
                        <p:par>
                          <p:cTn id="81" fill="hold">
                            <p:stCondLst>
                              <p:cond delay="0"/>
                            </p:stCondLst>
                            <p:childTnLst>
                              <p:par>
                                <p:cTn id="82" presetID="1" presetClass="entr" presetSubtype="0" fill="hold" grpId="0" nodeType="clickEffect">
                                  <p:stCondLst>
                                    <p:cond delay="0"/>
                                  </p:stCondLst>
                                  <p:childTnLst>
                                    <p:set>
                                      <p:cBhvr>
                                        <p:cTn id="83" dur="1" fill="hold">
                                          <p:stCondLst>
                                            <p:cond delay="0"/>
                                          </p:stCondLst>
                                        </p:cTn>
                                        <p:tgtEl>
                                          <p:spTgt spid="74"/>
                                        </p:tgtEl>
                                        <p:attrNameLst>
                                          <p:attrName>style.visibility</p:attrName>
                                        </p:attrNameLst>
                                      </p:cBhvr>
                                      <p:to>
                                        <p:strVal val="visible"/>
                                      </p:to>
                                    </p:set>
                                  </p:childTnLst>
                                </p:cTn>
                              </p:par>
                            </p:childTnLst>
                          </p:cTn>
                        </p:par>
                      </p:childTnLst>
                    </p:cTn>
                  </p:par>
                  <p:par>
                    <p:cTn id="84" fill="hold" nodeType="clickPar">
                      <p:stCondLst>
                        <p:cond delay="indefinite"/>
                      </p:stCondLst>
                      <p:childTnLst>
                        <p:par>
                          <p:cTn id="85" fill="hold">
                            <p:stCondLst>
                              <p:cond delay="0"/>
                            </p:stCondLst>
                            <p:childTnLst>
                              <p:par>
                                <p:cTn id="86" presetID="1" presetClass="entr" presetSubtype="0" fill="hold" nodeType="clickEffect">
                                  <p:stCondLst>
                                    <p:cond delay="0"/>
                                  </p:stCondLst>
                                  <p:childTnLst>
                                    <p:set>
                                      <p:cBhvr>
                                        <p:cTn id="87" dur="1" fill="hold">
                                          <p:stCondLst>
                                            <p:cond delay="0"/>
                                          </p:stCondLst>
                                        </p:cTn>
                                        <p:tgtEl>
                                          <p:spTgt spid="62"/>
                                        </p:tgtEl>
                                        <p:attrNameLst>
                                          <p:attrName>style.visibility</p:attrName>
                                        </p:attrNameLst>
                                      </p:cBhvr>
                                      <p:to>
                                        <p:strVal val="visible"/>
                                      </p:to>
                                    </p:set>
                                  </p:childTnLst>
                                </p:cTn>
                              </p:par>
                            </p:childTnLst>
                          </p:cTn>
                        </p:par>
                      </p:childTnLst>
                    </p:cTn>
                  </p:par>
                  <p:par>
                    <p:cTn id="88" fill="hold" nodeType="clickPar">
                      <p:stCondLst>
                        <p:cond delay="indefinite"/>
                      </p:stCondLst>
                      <p:childTnLst>
                        <p:par>
                          <p:cTn id="89" fill="hold">
                            <p:stCondLst>
                              <p:cond delay="0"/>
                            </p:stCondLst>
                            <p:childTnLst>
                              <p:par>
                                <p:cTn id="90" presetID="1" presetClass="entr" presetSubtype="0" fill="hold" grpId="0" nodeType="clickEffect">
                                  <p:stCondLst>
                                    <p:cond delay="0"/>
                                  </p:stCondLst>
                                  <p:childTnLst>
                                    <p:set>
                                      <p:cBhvr>
                                        <p:cTn id="91" dur="1" fill="hold">
                                          <p:stCondLst>
                                            <p:cond delay="0"/>
                                          </p:stCondLst>
                                        </p:cTn>
                                        <p:tgtEl>
                                          <p:spTgt spid="64"/>
                                        </p:tgtEl>
                                        <p:attrNameLst>
                                          <p:attrName>style.visibility</p:attrName>
                                        </p:attrNameLst>
                                      </p:cBhvr>
                                      <p:to>
                                        <p:strVal val="visible"/>
                                      </p:to>
                                    </p:set>
                                  </p:childTnLst>
                                </p:cTn>
                              </p:par>
                            </p:childTnLst>
                          </p:cTn>
                        </p:par>
                      </p:childTnLst>
                    </p:cTn>
                  </p:par>
                  <p:par>
                    <p:cTn id="92" fill="hold" nodeType="clickPar">
                      <p:stCondLst>
                        <p:cond delay="indefinite"/>
                      </p:stCondLst>
                      <p:childTnLst>
                        <p:par>
                          <p:cTn id="93" fill="hold">
                            <p:stCondLst>
                              <p:cond delay="0"/>
                            </p:stCondLst>
                            <p:childTnLst>
                              <p:par>
                                <p:cTn id="94" presetID="1" presetClass="entr" presetSubtype="0" fill="hold" nodeType="clickEffect">
                                  <p:stCondLst>
                                    <p:cond delay="0"/>
                                  </p:stCondLst>
                                  <p:childTnLst>
                                    <p:set>
                                      <p:cBhvr>
                                        <p:cTn id="95" dur="1" fill="hold">
                                          <p:stCondLst>
                                            <p:cond delay="0"/>
                                          </p:stCondLst>
                                        </p:cTn>
                                        <p:tgtEl>
                                          <p:spTgt spid="73"/>
                                        </p:tgtEl>
                                        <p:attrNameLst>
                                          <p:attrName>style.visibility</p:attrName>
                                        </p:attrNameLst>
                                      </p:cBhvr>
                                      <p:to>
                                        <p:strVal val="visible"/>
                                      </p:to>
                                    </p:set>
                                  </p:childTnLst>
                                </p:cTn>
                              </p:par>
                            </p:childTnLst>
                          </p:cTn>
                        </p:par>
                      </p:childTnLst>
                    </p:cTn>
                  </p:par>
                  <p:par>
                    <p:cTn id="96" fill="hold" nodeType="clickPar">
                      <p:stCondLst>
                        <p:cond delay="indefinite"/>
                      </p:stCondLst>
                      <p:childTnLst>
                        <p:par>
                          <p:cTn id="97" fill="hold">
                            <p:stCondLst>
                              <p:cond delay="0"/>
                            </p:stCondLst>
                            <p:childTnLst>
                              <p:par>
                                <p:cTn id="98" presetID="1" presetClass="entr" presetSubtype="0" fill="hold" grpId="0" nodeType="clickEffect">
                                  <p:stCondLst>
                                    <p:cond delay="0"/>
                                  </p:stCondLst>
                                  <p:childTnLst>
                                    <p:set>
                                      <p:cBhvr>
                                        <p:cTn id="99" dur="1" fill="hold">
                                          <p:stCondLst>
                                            <p:cond delay="0"/>
                                          </p:stCondLst>
                                        </p:cTn>
                                        <p:tgtEl>
                                          <p:spTgt spid="67"/>
                                        </p:tgtEl>
                                        <p:attrNameLst>
                                          <p:attrName>style.visibility</p:attrName>
                                        </p:attrNameLst>
                                      </p:cBhvr>
                                      <p:to>
                                        <p:strVal val="visible"/>
                                      </p:to>
                                    </p:set>
                                  </p:childTnLst>
                                </p:cTn>
                              </p:par>
                            </p:childTnLst>
                          </p:cTn>
                        </p:par>
                      </p:childTnLst>
                    </p:cTn>
                  </p:par>
                  <p:par>
                    <p:cTn id="100" fill="hold" nodeType="clickPar">
                      <p:stCondLst>
                        <p:cond delay="indefinite"/>
                      </p:stCondLst>
                      <p:childTnLst>
                        <p:par>
                          <p:cTn id="101" fill="hold">
                            <p:stCondLst>
                              <p:cond delay="0"/>
                            </p:stCondLst>
                            <p:childTnLst>
                              <p:par>
                                <p:cTn id="102" presetID="10" presetClass="entr" presetSubtype="0" fill="hold" nodeType="clickEffect">
                                  <p:stCondLst>
                                    <p:cond delay="0"/>
                                  </p:stCondLst>
                                  <p:childTnLst>
                                    <p:set>
                                      <p:cBhvr>
                                        <p:cTn id="103" dur="1" fill="hold">
                                          <p:stCondLst>
                                            <p:cond delay="0"/>
                                          </p:stCondLst>
                                        </p:cTn>
                                        <p:tgtEl>
                                          <p:spTgt spid="3">
                                            <p:txEl>
                                              <p:pRg st="9" end="9"/>
                                            </p:txEl>
                                          </p:spTgt>
                                        </p:tgtEl>
                                        <p:attrNameLst>
                                          <p:attrName>style.visibility</p:attrName>
                                        </p:attrNameLst>
                                      </p:cBhvr>
                                      <p:to>
                                        <p:strVal val="visible"/>
                                      </p:to>
                                    </p:set>
                                    <p:animEffect transition="in" filter="fade">
                                      <p:cBhvr>
                                        <p:cTn id="104" dur="500"/>
                                        <p:tgtEl>
                                          <p:spTgt spid="3">
                                            <p:txEl>
                                              <p:pRg st="9" end="9"/>
                                            </p:txEl>
                                          </p:spTgt>
                                        </p:tgtEl>
                                      </p:cBhvr>
                                    </p:animEffect>
                                  </p:childTnLst>
                                </p:cTn>
                              </p:par>
                            </p:childTnLst>
                          </p:cTn>
                        </p:par>
                      </p:childTnLst>
                    </p:cTn>
                  </p:par>
                  <p:par>
                    <p:cTn id="105" fill="hold" nodeType="clickPar">
                      <p:stCondLst>
                        <p:cond delay="indefinite"/>
                      </p:stCondLst>
                      <p:childTnLst>
                        <p:par>
                          <p:cTn id="106" fill="hold">
                            <p:stCondLst>
                              <p:cond delay="0"/>
                            </p:stCondLst>
                            <p:childTnLst>
                              <p:par>
                                <p:cTn id="107" presetID="10" presetClass="entr" presetSubtype="0" fill="hold" nodeType="clickEffect">
                                  <p:stCondLst>
                                    <p:cond delay="0"/>
                                  </p:stCondLst>
                                  <p:childTnLst>
                                    <p:set>
                                      <p:cBhvr>
                                        <p:cTn id="108" dur="1" fill="hold">
                                          <p:stCondLst>
                                            <p:cond delay="0"/>
                                          </p:stCondLst>
                                        </p:cTn>
                                        <p:tgtEl>
                                          <p:spTgt spid="3">
                                            <p:txEl>
                                              <p:pRg st="10" end="10"/>
                                            </p:txEl>
                                          </p:spTgt>
                                        </p:tgtEl>
                                        <p:attrNameLst>
                                          <p:attrName>style.visibility</p:attrName>
                                        </p:attrNameLst>
                                      </p:cBhvr>
                                      <p:to>
                                        <p:strVal val="visible"/>
                                      </p:to>
                                    </p:set>
                                    <p:animEffect transition="in" filter="fade">
                                      <p:cBhvr>
                                        <p:cTn id="109"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50" grpId="0"/>
      <p:bldP spid="51" grpId="0"/>
      <p:bldP spid="52" grpId="0"/>
      <p:bldP spid="53" grpId="0"/>
      <p:bldP spid="54" grpId="0"/>
      <p:bldP spid="55" grpId="0"/>
      <p:bldP spid="56" grpId="0"/>
      <p:bldP spid="57" grpId="0"/>
      <p:bldP spid="63" grpId="0"/>
      <p:bldP spid="64" grpId="0"/>
      <p:bldP spid="65" grpId="0"/>
      <p:bldP spid="66" grpId="0"/>
      <p:bldP spid="67" grpId="0"/>
      <p:bldP spid="68" grpId="0"/>
      <p:bldP spid="69" grpId="0"/>
      <p:bldP spid="72" grpId="0"/>
      <p:bldP spid="74"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LOOK</a:t>
            </a:r>
          </a:p>
        </p:txBody>
      </p:sp>
      <p:sp>
        <p:nvSpPr>
          <p:cNvPr id="3" name="Content Placeholder 2"/>
          <p:cNvSpPr>
            <a:spLocks noGrp="1"/>
          </p:cNvSpPr>
          <p:nvPr>
            <p:ph idx="1"/>
          </p:nvPr>
        </p:nvSpPr>
        <p:spPr/>
        <p:txBody>
          <a:bodyPr/>
          <a:lstStyle/>
          <a:p>
            <a:r>
              <a:rPr lang="en-US"/>
              <a:t>Keep </a:t>
            </a:r>
            <a:r>
              <a:rPr lang="en-US" b="1">
                <a:solidFill>
                  <a:schemeClr val="accent6"/>
                </a:solidFill>
              </a:rPr>
              <a:t>moving in the same direction until there are no more outstanding requests pending </a:t>
            </a:r>
            <a:r>
              <a:rPr lang="en-US"/>
              <a:t>in that direction, </a:t>
            </a:r>
            <a:r>
              <a:rPr lang="en-US" b="1">
                <a:solidFill>
                  <a:schemeClr val="accent6"/>
                </a:solidFill>
              </a:rPr>
              <a:t>then algorithm switches the direction</a:t>
            </a:r>
            <a:r>
              <a:rPr lang="en-US"/>
              <a:t>.  </a:t>
            </a:r>
          </a:p>
          <a:p>
            <a:r>
              <a:rPr lang="en-US" b="1">
                <a:solidFill>
                  <a:schemeClr val="accent6"/>
                </a:solidFill>
              </a:rPr>
              <a:t>After switching the direction the arm will move to handle any request on the way</a:t>
            </a:r>
            <a:r>
              <a:rPr lang="en-US"/>
              <a:t>. Here first it moves in up direction then goes in down direction.</a:t>
            </a:r>
          </a:p>
          <a:p>
            <a:r>
              <a:rPr lang="en-US"/>
              <a:t>In this algorithm, the </a:t>
            </a:r>
            <a:r>
              <a:rPr lang="en-US" b="1">
                <a:solidFill>
                  <a:schemeClr val="accent6"/>
                </a:solidFill>
              </a:rPr>
              <a:t>software maintains 1 bit</a:t>
            </a:r>
            <a:r>
              <a:rPr lang="en-US"/>
              <a:t>: the current direction bit, which takes the value either UP or DOWN.</a:t>
            </a:r>
          </a:p>
        </p:txBody>
      </p:sp>
    </p:spTree>
    <p:extLst>
      <p:ext uri="{BB962C8B-B14F-4D97-AF65-F5344CB8AC3E}">
        <p14:creationId xmlns:p14="http://schemas.microsoft.com/office/powerpoint/2010/main" val="3556303353"/>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nodeType="clickPar">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LOOK</a:t>
            </a:r>
          </a:p>
        </p:txBody>
      </p:sp>
      <p:sp>
        <p:nvSpPr>
          <p:cNvPr id="3" name="Content Placeholder 2"/>
          <p:cNvSpPr>
            <a:spLocks noGrp="1"/>
          </p:cNvSpPr>
          <p:nvPr>
            <p:ph idx="1"/>
          </p:nvPr>
        </p:nvSpPr>
        <p:spPr/>
        <p:txBody>
          <a:bodyPr/>
          <a:lstStyle/>
          <a:p>
            <a:r>
              <a:rPr lang="en-US"/>
              <a:t>Here first it moves in up direction then goes in down direction</a:t>
            </a:r>
          </a:p>
          <a:p>
            <a:endParaRPr lang="en-US"/>
          </a:p>
          <a:p>
            <a:endParaRPr lang="en-US"/>
          </a:p>
          <a:p>
            <a:endParaRPr lang="en-US"/>
          </a:p>
          <a:p>
            <a:endParaRPr lang="en-US"/>
          </a:p>
          <a:p>
            <a:endParaRPr lang="en-US"/>
          </a:p>
          <a:p>
            <a:endParaRPr lang="en-US"/>
          </a:p>
          <a:p>
            <a:endParaRPr lang="en-US"/>
          </a:p>
          <a:p>
            <a:endParaRPr lang="en-US"/>
          </a:p>
          <a:p>
            <a:r>
              <a:rPr lang="en-US"/>
              <a:t>Disk movement will be 11, 12, 16, 34, 36, 9 and 1.</a:t>
            </a:r>
          </a:p>
          <a:p>
            <a:r>
              <a:rPr lang="en-US"/>
              <a:t>Total cylinder movement: (12-11) + (16-12) + (34-16) + (36-34) + (36-9) + (9-1) = 60</a:t>
            </a:r>
          </a:p>
        </p:txBody>
      </p:sp>
      <p:sp>
        <p:nvSpPr>
          <p:cNvPr id="26" name="TextBox 25"/>
          <p:cNvSpPr txBox="1"/>
          <p:nvPr/>
        </p:nvSpPr>
        <p:spPr>
          <a:xfrm>
            <a:off x="8212822" y="1855654"/>
            <a:ext cx="472604" cy="1754326"/>
          </a:xfrm>
          <a:prstGeom prst="rect">
            <a:avLst/>
          </a:prstGeom>
          <a:ln w="28575">
            <a:solidFill>
              <a:schemeClr val="accent1"/>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r>
              <a:rPr lang="en-IN"/>
              <a:t>1, 36, 16, 34, 9, 12</a:t>
            </a:r>
            <a:endParaRPr lang="en-US"/>
          </a:p>
        </p:txBody>
      </p:sp>
      <p:graphicFrame>
        <p:nvGraphicFramePr>
          <p:cNvPr id="49" name="Table 48"/>
          <p:cNvGraphicFramePr>
            <a:graphicFrameLocks noGrp="1"/>
          </p:cNvGraphicFramePr>
          <p:nvPr>
            <p:extLst>
              <p:ext uri="{D42A27DB-BD31-4B8C-83A1-F6EECF244321}">
                <p14:modId xmlns:p14="http://schemas.microsoft.com/office/powerpoint/2010/main" val="985076042"/>
              </p:ext>
            </p:extLst>
          </p:nvPr>
        </p:nvGraphicFramePr>
        <p:xfrm>
          <a:off x="609597" y="1833880"/>
          <a:ext cx="7010402" cy="2966720"/>
        </p:xfrm>
        <a:graphic>
          <a:graphicData uri="http://schemas.openxmlformats.org/drawingml/2006/table">
            <a:tbl>
              <a:tblPr firstRow="1" bandRow="1">
                <a:tableStyleId>{5940675A-B579-460E-94D1-54222C63F5DA}</a:tableStyleId>
              </a:tblPr>
              <a:tblGrid>
                <a:gridCol w="457203">
                  <a:extLst>
                    <a:ext uri="{9D8B030D-6E8A-4147-A177-3AD203B41FA5}">
                      <a16:colId xmlns:a16="http://schemas.microsoft.com/office/drawing/2014/main" xmlns="" val="20000"/>
                    </a:ext>
                  </a:extLst>
                </a:gridCol>
                <a:gridCol w="990600">
                  <a:extLst>
                    <a:ext uri="{9D8B030D-6E8A-4147-A177-3AD203B41FA5}">
                      <a16:colId xmlns:a16="http://schemas.microsoft.com/office/drawing/2014/main" xmlns="" val="20001"/>
                    </a:ext>
                  </a:extLst>
                </a:gridCol>
                <a:gridCol w="838200">
                  <a:extLst>
                    <a:ext uri="{9D8B030D-6E8A-4147-A177-3AD203B41FA5}">
                      <a16:colId xmlns:a16="http://schemas.microsoft.com/office/drawing/2014/main" xmlns="" val="20002"/>
                    </a:ext>
                  </a:extLst>
                </a:gridCol>
                <a:gridCol w="762000">
                  <a:extLst>
                    <a:ext uri="{9D8B030D-6E8A-4147-A177-3AD203B41FA5}">
                      <a16:colId xmlns:a16="http://schemas.microsoft.com/office/drawing/2014/main" xmlns="" val="20003"/>
                    </a:ext>
                  </a:extLst>
                </a:gridCol>
                <a:gridCol w="1959427">
                  <a:extLst>
                    <a:ext uri="{9D8B030D-6E8A-4147-A177-3AD203B41FA5}">
                      <a16:colId xmlns:a16="http://schemas.microsoft.com/office/drawing/2014/main" xmlns="" val="20004"/>
                    </a:ext>
                  </a:extLst>
                </a:gridCol>
                <a:gridCol w="555173">
                  <a:extLst>
                    <a:ext uri="{9D8B030D-6E8A-4147-A177-3AD203B41FA5}">
                      <a16:colId xmlns:a16="http://schemas.microsoft.com/office/drawing/2014/main" xmlns="" val="20005"/>
                    </a:ext>
                  </a:extLst>
                </a:gridCol>
                <a:gridCol w="1447799">
                  <a:extLst>
                    <a:ext uri="{9D8B030D-6E8A-4147-A177-3AD203B41FA5}">
                      <a16:colId xmlns:a16="http://schemas.microsoft.com/office/drawing/2014/main" xmlns="" val="20006"/>
                    </a:ext>
                  </a:extLst>
                </a:gridCol>
              </a:tblGrid>
              <a:tr h="2966720">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extLst>
                  <a:ext uri="{0D108BD9-81ED-4DB2-BD59-A6C34878D82A}">
                    <a16:rowId xmlns:a16="http://schemas.microsoft.com/office/drawing/2014/main" xmlns="" val="10000"/>
                  </a:ext>
                </a:extLst>
              </a:tr>
            </a:tbl>
          </a:graphicData>
        </a:graphic>
      </p:graphicFrame>
      <p:sp>
        <p:nvSpPr>
          <p:cNvPr id="50" name="TextBox 49"/>
          <p:cNvSpPr txBox="1"/>
          <p:nvPr/>
        </p:nvSpPr>
        <p:spPr>
          <a:xfrm>
            <a:off x="547435" y="1433770"/>
            <a:ext cx="304800" cy="400110"/>
          </a:xfrm>
          <a:prstGeom prst="rect">
            <a:avLst/>
          </a:prstGeom>
          <a:noFill/>
        </p:spPr>
        <p:txBody>
          <a:bodyPr wrap="square" rtlCol="0">
            <a:spAutoFit/>
          </a:bodyPr>
          <a:lstStyle/>
          <a:p>
            <a:pPr algn="ctr"/>
            <a:r>
              <a:rPr lang="en-US" sz="2000"/>
              <a:t>0</a:t>
            </a:r>
            <a:endParaRPr lang="en-IN"/>
          </a:p>
        </p:txBody>
      </p:sp>
      <p:sp>
        <p:nvSpPr>
          <p:cNvPr id="51" name="TextBox 50"/>
          <p:cNvSpPr txBox="1"/>
          <p:nvPr/>
        </p:nvSpPr>
        <p:spPr>
          <a:xfrm>
            <a:off x="914400" y="1447800"/>
            <a:ext cx="304800" cy="400110"/>
          </a:xfrm>
          <a:prstGeom prst="rect">
            <a:avLst/>
          </a:prstGeom>
          <a:noFill/>
        </p:spPr>
        <p:txBody>
          <a:bodyPr wrap="square" rtlCol="0">
            <a:spAutoFit/>
          </a:bodyPr>
          <a:lstStyle/>
          <a:p>
            <a:pPr algn="ctr"/>
            <a:r>
              <a:rPr lang="en-US" sz="2000"/>
              <a:t>1</a:t>
            </a:r>
            <a:endParaRPr lang="en-IN"/>
          </a:p>
        </p:txBody>
      </p:sp>
      <p:sp>
        <p:nvSpPr>
          <p:cNvPr id="52" name="TextBox 51"/>
          <p:cNvSpPr txBox="1"/>
          <p:nvPr/>
        </p:nvSpPr>
        <p:spPr>
          <a:xfrm>
            <a:off x="1905000" y="1439315"/>
            <a:ext cx="304800" cy="400110"/>
          </a:xfrm>
          <a:prstGeom prst="rect">
            <a:avLst/>
          </a:prstGeom>
          <a:noFill/>
        </p:spPr>
        <p:txBody>
          <a:bodyPr wrap="square" rtlCol="0">
            <a:spAutoFit/>
          </a:bodyPr>
          <a:lstStyle/>
          <a:p>
            <a:pPr algn="ctr"/>
            <a:r>
              <a:rPr lang="en-US" sz="2000"/>
              <a:t>9</a:t>
            </a:r>
            <a:endParaRPr lang="en-IN"/>
          </a:p>
        </p:txBody>
      </p:sp>
      <p:sp>
        <p:nvSpPr>
          <p:cNvPr id="53" name="TextBox 52"/>
          <p:cNvSpPr txBox="1"/>
          <p:nvPr/>
        </p:nvSpPr>
        <p:spPr>
          <a:xfrm>
            <a:off x="2670372" y="1433770"/>
            <a:ext cx="468503" cy="400110"/>
          </a:xfrm>
          <a:prstGeom prst="rect">
            <a:avLst/>
          </a:prstGeom>
          <a:noFill/>
        </p:spPr>
        <p:txBody>
          <a:bodyPr wrap="square" rtlCol="0">
            <a:spAutoFit/>
          </a:bodyPr>
          <a:lstStyle/>
          <a:p>
            <a:pPr algn="ctr"/>
            <a:r>
              <a:rPr lang="en-US" sz="2000"/>
              <a:t>12</a:t>
            </a:r>
            <a:endParaRPr lang="en-IN"/>
          </a:p>
        </p:txBody>
      </p:sp>
      <p:sp>
        <p:nvSpPr>
          <p:cNvPr id="54" name="TextBox 53"/>
          <p:cNvSpPr txBox="1"/>
          <p:nvPr/>
        </p:nvSpPr>
        <p:spPr>
          <a:xfrm>
            <a:off x="3412955" y="1433770"/>
            <a:ext cx="502687" cy="400110"/>
          </a:xfrm>
          <a:prstGeom prst="rect">
            <a:avLst/>
          </a:prstGeom>
          <a:noFill/>
        </p:spPr>
        <p:txBody>
          <a:bodyPr wrap="square" rtlCol="0">
            <a:spAutoFit/>
          </a:bodyPr>
          <a:lstStyle/>
          <a:p>
            <a:pPr algn="ctr"/>
            <a:r>
              <a:rPr lang="en-US" sz="2000"/>
              <a:t>16</a:t>
            </a:r>
            <a:endParaRPr lang="en-IN"/>
          </a:p>
        </p:txBody>
      </p:sp>
      <p:sp>
        <p:nvSpPr>
          <p:cNvPr id="55" name="TextBox 54"/>
          <p:cNvSpPr txBox="1"/>
          <p:nvPr/>
        </p:nvSpPr>
        <p:spPr>
          <a:xfrm>
            <a:off x="5378116" y="1447800"/>
            <a:ext cx="485273" cy="400110"/>
          </a:xfrm>
          <a:prstGeom prst="rect">
            <a:avLst/>
          </a:prstGeom>
          <a:noFill/>
        </p:spPr>
        <p:txBody>
          <a:bodyPr wrap="square" rtlCol="0">
            <a:spAutoFit/>
          </a:bodyPr>
          <a:lstStyle/>
          <a:p>
            <a:pPr algn="ctr"/>
            <a:r>
              <a:rPr lang="en-US" sz="2000"/>
              <a:t>34</a:t>
            </a:r>
            <a:endParaRPr lang="en-IN"/>
          </a:p>
        </p:txBody>
      </p:sp>
      <p:sp>
        <p:nvSpPr>
          <p:cNvPr id="56" name="TextBox 55"/>
          <p:cNvSpPr txBox="1"/>
          <p:nvPr/>
        </p:nvSpPr>
        <p:spPr>
          <a:xfrm>
            <a:off x="5964654" y="1440785"/>
            <a:ext cx="448178" cy="400110"/>
          </a:xfrm>
          <a:prstGeom prst="rect">
            <a:avLst/>
          </a:prstGeom>
          <a:noFill/>
        </p:spPr>
        <p:txBody>
          <a:bodyPr wrap="square" rtlCol="0">
            <a:spAutoFit/>
          </a:bodyPr>
          <a:lstStyle/>
          <a:p>
            <a:pPr algn="ctr"/>
            <a:r>
              <a:rPr lang="en-US" sz="2000"/>
              <a:t>36</a:t>
            </a:r>
            <a:endParaRPr lang="en-IN"/>
          </a:p>
        </p:txBody>
      </p:sp>
      <p:sp>
        <p:nvSpPr>
          <p:cNvPr id="57" name="TextBox 56"/>
          <p:cNvSpPr txBox="1"/>
          <p:nvPr/>
        </p:nvSpPr>
        <p:spPr>
          <a:xfrm>
            <a:off x="7325863" y="1440785"/>
            <a:ext cx="568216" cy="400110"/>
          </a:xfrm>
          <a:prstGeom prst="rect">
            <a:avLst/>
          </a:prstGeom>
          <a:noFill/>
        </p:spPr>
        <p:txBody>
          <a:bodyPr wrap="square" rtlCol="0">
            <a:spAutoFit/>
          </a:bodyPr>
          <a:lstStyle/>
          <a:p>
            <a:pPr algn="ctr"/>
            <a:r>
              <a:rPr lang="en-US" sz="2000"/>
              <a:t>50</a:t>
            </a:r>
            <a:endParaRPr lang="en-IN"/>
          </a:p>
        </p:txBody>
      </p:sp>
      <p:cxnSp>
        <p:nvCxnSpPr>
          <p:cNvPr id="58" name="Straight Connector 57"/>
          <p:cNvCxnSpPr/>
          <p:nvPr/>
        </p:nvCxnSpPr>
        <p:spPr>
          <a:xfrm flipH="1" flipV="1">
            <a:off x="2470484" y="2197768"/>
            <a:ext cx="431150" cy="393032"/>
          </a:xfrm>
          <a:prstGeom prst="line">
            <a:avLst/>
          </a:prstGeom>
        </p:spPr>
        <p:style>
          <a:lnRef idx="3">
            <a:schemeClr val="dk1"/>
          </a:lnRef>
          <a:fillRef idx="0">
            <a:schemeClr val="dk1"/>
          </a:fillRef>
          <a:effectRef idx="2">
            <a:schemeClr val="dk1"/>
          </a:effectRef>
          <a:fontRef idx="minor">
            <a:schemeClr val="tx1"/>
          </a:fontRef>
        </p:style>
      </p:cxnSp>
      <p:cxnSp>
        <p:nvCxnSpPr>
          <p:cNvPr id="59" name="Straight Connector 58"/>
          <p:cNvCxnSpPr/>
          <p:nvPr/>
        </p:nvCxnSpPr>
        <p:spPr>
          <a:xfrm>
            <a:off x="3664298" y="2941362"/>
            <a:ext cx="1947718" cy="377208"/>
          </a:xfrm>
          <a:prstGeom prst="line">
            <a:avLst/>
          </a:prstGeom>
        </p:spPr>
        <p:style>
          <a:lnRef idx="3">
            <a:schemeClr val="dk1"/>
          </a:lnRef>
          <a:fillRef idx="0">
            <a:schemeClr val="dk1"/>
          </a:fillRef>
          <a:effectRef idx="2">
            <a:schemeClr val="dk1"/>
          </a:effectRef>
          <a:fontRef idx="minor">
            <a:schemeClr val="tx1"/>
          </a:fontRef>
        </p:style>
      </p:cxnSp>
      <p:cxnSp>
        <p:nvCxnSpPr>
          <p:cNvPr id="60" name="Straight Connector 59"/>
          <p:cNvCxnSpPr/>
          <p:nvPr/>
        </p:nvCxnSpPr>
        <p:spPr>
          <a:xfrm flipH="1" flipV="1">
            <a:off x="5612016" y="3329378"/>
            <a:ext cx="568652" cy="389712"/>
          </a:xfrm>
          <a:prstGeom prst="line">
            <a:avLst/>
          </a:prstGeom>
        </p:spPr>
        <p:style>
          <a:lnRef idx="3">
            <a:schemeClr val="dk1"/>
          </a:lnRef>
          <a:fillRef idx="0">
            <a:schemeClr val="dk1"/>
          </a:fillRef>
          <a:effectRef idx="2">
            <a:schemeClr val="dk1"/>
          </a:effectRef>
          <a:fontRef idx="minor">
            <a:schemeClr val="tx1"/>
          </a:fontRef>
        </p:style>
      </p:cxnSp>
      <p:cxnSp>
        <p:nvCxnSpPr>
          <p:cNvPr id="61" name="Straight Connector 60"/>
          <p:cNvCxnSpPr/>
          <p:nvPr/>
        </p:nvCxnSpPr>
        <p:spPr>
          <a:xfrm flipV="1">
            <a:off x="2057400" y="3717815"/>
            <a:ext cx="4131343" cy="332818"/>
          </a:xfrm>
          <a:prstGeom prst="line">
            <a:avLst/>
          </a:prstGeom>
        </p:spPr>
        <p:style>
          <a:lnRef idx="3">
            <a:schemeClr val="dk1"/>
          </a:lnRef>
          <a:fillRef idx="0">
            <a:schemeClr val="dk1"/>
          </a:fillRef>
          <a:effectRef idx="2">
            <a:schemeClr val="dk1"/>
          </a:effectRef>
          <a:fontRef idx="minor">
            <a:schemeClr val="tx1"/>
          </a:fontRef>
        </p:style>
      </p:cxnSp>
      <p:cxnSp>
        <p:nvCxnSpPr>
          <p:cNvPr id="62" name="Straight Connector 61"/>
          <p:cNvCxnSpPr/>
          <p:nvPr/>
        </p:nvCxnSpPr>
        <p:spPr>
          <a:xfrm flipH="1">
            <a:off x="1066800" y="4050632"/>
            <a:ext cx="990600" cy="360433"/>
          </a:xfrm>
          <a:prstGeom prst="line">
            <a:avLst/>
          </a:prstGeom>
        </p:spPr>
        <p:style>
          <a:lnRef idx="3">
            <a:schemeClr val="dk1"/>
          </a:lnRef>
          <a:fillRef idx="0">
            <a:schemeClr val="dk1"/>
          </a:fillRef>
          <a:effectRef idx="2">
            <a:schemeClr val="dk1"/>
          </a:effectRef>
          <a:fontRef idx="minor">
            <a:schemeClr val="tx1"/>
          </a:fontRef>
        </p:style>
      </p:cxnSp>
      <p:sp>
        <p:nvSpPr>
          <p:cNvPr id="63" name="TextBox 62"/>
          <p:cNvSpPr txBox="1"/>
          <p:nvPr/>
        </p:nvSpPr>
        <p:spPr>
          <a:xfrm>
            <a:off x="2265672" y="1826802"/>
            <a:ext cx="468503" cy="400110"/>
          </a:xfrm>
          <a:prstGeom prst="rect">
            <a:avLst/>
          </a:prstGeom>
          <a:noFill/>
        </p:spPr>
        <p:txBody>
          <a:bodyPr wrap="square" rtlCol="0">
            <a:spAutoFit/>
          </a:bodyPr>
          <a:lstStyle/>
          <a:p>
            <a:pPr algn="ctr"/>
            <a:r>
              <a:rPr lang="en-US" sz="2000"/>
              <a:t>11</a:t>
            </a:r>
            <a:endParaRPr lang="en-IN"/>
          </a:p>
        </p:txBody>
      </p:sp>
      <p:sp>
        <p:nvSpPr>
          <p:cNvPr id="64" name="TextBox 63"/>
          <p:cNvSpPr txBox="1"/>
          <p:nvPr/>
        </p:nvSpPr>
        <p:spPr>
          <a:xfrm>
            <a:off x="762000" y="4211010"/>
            <a:ext cx="304800" cy="400110"/>
          </a:xfrm>
          <a:prstGeom prst="rect">
            <a:avLst/>
          </a:prstGeom>
          <a:noFill/>
        </p:spPr>
        <p:txBody>
          <a:bodyPr wrap="square" rtlCol="0">
            <a:spAutoFit/>
          </a:bodyPr>
          <a:lstStyle/>
          <a:p>
            <a:pPr algn="ctr"/>
            <a:r>
              <a:rPr lang="en-US" sz="2000"/>
              <a:t>1</a:t>
            </a:r>
            <a:endParaRPr lang="en-IN"/>
          </a:p>
        </p:txBody>
      </p:sp>
      <p:sp>
        <p:nvSpPr>
          <p:cNvPr id="65" name="TextBox 64"/>
          <p:cNvSpPr txBox="1"/>
          <p:nvPr/>
        </p:nvSpPr>
        <p:spPr>
          <a:xfrm>
            <a:off x="5574669" y="2967910"/>
            <a:ext cx="485273" cy="400110"/>
          </a:xfrm>
          <a:prstGeom prst="rect">
            <a:avLst/>
          </a:prstGeom>
          <a:noFill/>
        </p:spPr>
        <p:txBody>
          <a:bodyPr wrap="square" rtlCol="0">
            <a:spAutoFit/>
          </a:bodyPr>
          <a:lstStyle/>
          <a:p>
            <a:pPr algn="ctr"/>
            <a:r>
              <a:rPr lang="en-US" sz="2000"/>
              <a:t>34</a:t>
            </a:r>
            <a:endParaRPr lang="en-IN"/>
          </a:p>
        </p:txBody>
      </p:sp>
      <p:sp>
        <p:nvSpPr>
          <p:cNvPr id="66" name="TextBox 65"/>
          <p:cNvSpPr txBox="1"/>
          <p:nvPr/>
        </p:nvSpPr>
        <p:spPr>
          <a:xfrm>
            <a:off x="6179218" y="3487705"/>
            <a:ext cx="448178" cy="400110"/>
          </a:xfrm>
          <a:prstGeom prst="rect">
            <a:avLst/>
          </a:prstGeom>
          <a:noFill/>
        </p:spPr>
        <p:txBody>
          <a:bodyPr wrap="square" rtlCol="0">
            <a:spAutoFit/>
          </a:bodyPr>
          <a:lstStyle/>
          <a:p>
            <a:pPr algn="ctr"/>
            <a:r>
              <a:rPr lang="en-US" sz="2000"/>
              <a:t>36</a:t>
            </a:r>
            <a:endParaRPr lang="en-IN"/>
          </a:p>
        </p:txBody>
      </p:sp>
      <p:sp>
        <p:nvSpPr>
          <p:cNvPr id="67" name="TextBox 66"/>
          <p:cNvSpPr txBox="1"/>
          <p:nvPr/>
        </p:nvSpPr>
        <p:spPr>
          <a:xfrm>
            <a:off x="1824289" y="3726722"/>
            <a:ext cx="304800" cy="400110"/>
          </a:xfrm>
          <a:prstGeom prst="rect">
            <a:avLst/>
          </a:prstGeom>
          <a:noFill/>
        </p:spPr>
        <p:txBody>
          <a:bodyPr wrap="square" rtlCol="0">
            <a:spAutoFit/>
          </a:bodyPr>
          <a:lstStyle/>
          <a:p>
            <a:pPr algn="ctr"/>
            <a:r>
              <a:rPr lang="en-US" sz="2000"/>
              <a:t>9</a:t>
            </a:r>
            <a:endParaRPr lang="en-IN"/>
          </a:p>
        </p:txBody>
      </p:sp>
      <p:sp>
        <p:nvSpPr>
          <p:cNvPr id="68" name="TextBox 67"/>
          <p:cNvSpPr txBox="1"/>
          <p:nvPr/>
        </p:nvSpPr>
        <p:spPr>
          <a:xfrm>
            <a:off x="2855721" y="2238314"/>
            <a:ext cx="468503" cy="400110"/>
          </a:xfrm>
          <a:prstGeom prst="rect">
            <a:avLst/>
          </a:prstGeom>
          <a:noFill/>
        </p:spPr>
        <p:txBody>
          <a:bodyPr wrap="square" rtlCol="0">
            <a:spAutoFit/>
          </a:bodyPr>
          <a:lstStyle/>
          <a:p>
            <a:pPr algn="ctr"/>
            <a:r>
              <a:rPr lang="en-US" sz="2000"/>
              <a:t>12</a:t>
            </a:r>
            <a:endParaRPr lang="en-IN"/>
          </a:p>
        </p:txBody>
      </p:sp>
      <p:sp>
        <p:nvSpPr>
          <p:cNvPr id="69" name="TextBox 68"/>
          <p:cNvSpPr txBox="1"/>
          <p:nvPr/>
        </p:nvSpPr>
        <p:spPr>
          <a:xfrm>
            <a:off x="3599075" y="2580947"/>
            <a:ext cx="502687" cy="400110"/>
          </a:xfrm>
          <a:prstGeom prst="rect">
            <a:avLst/>
          </a:prstGeom>
          <a:noFill/>
        </p:spPr>
        <p:txBody>
          <a:bodyPr wrap="square" rtlCol="0">
            <a:spAutoFit/>
          </a:bodyPr>
          <a:lstStyle/>
          <a:p>
            <a:pPr algn="ctr"/>
            <a:r>
              <a:rPr lang="en-US" sz="2000"/>
              <a:t>16</a:t>
            </a:r>
            <a:endParaRPr lang="en-IN"/>
          </a:p>
        </p:txBody>
      </p:sp>
      <p:cxnSp>
        <p:nvCxnSpPr>
          <p:cNvPr id="70" name="Straight Connector 69"/>
          <p:cNvCxnSpPr/>
          <p:nvPr/>
        </p:nvCxnSpPr>
        <p:spPr>
          <a:xfrm>
            <a:off x="2901634" y="2590800"/>
            <a:ext cx="762664" cy="350560"/>
          </a:xfrm>
          <a:prstGeom prst="line">
            <a:avLst/>
          </a:prstGeom>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4123173530"/>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26"/>
                                        </p:tgtEl>
                                        <p:attrNameLst>
                                          <p:attrName>style.visibility</p:attrName>
                                        </p:attrNameLst>
                                      </p:cBhvr>
                                      <p:to>
                                        <p:strVal val="visible"/>
                                      </p:to>
                                    </p:set>
                                  </p:childTnLst>
                                </p:cTn>
                              </p:par>
                            </p:childTnLst>
                          </p:cTn>
                        </p:par>
                      </p:childTnLst>
                    </p:cTn>
                  </p:par>
                  <p:par>
                    <p:cTn id="12" fill="hold" nodeType="clickPar">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49"/>
                                        </p:tgtEl>
                                        <p:attrNameLst>
                                          <p:attrName>style.visibility</p:attrName>
                                        </p:attrNameLst>
                                      </p:cBhvr>
                                      <p:to>
                                        <p:strVal val="visible"/>
                                      </p:to>
                                    </p:set>
                                  </p:childTnLst>
                                </p:cTn>
                              </p:par>
                              <p:par>
                                <p:cTn id="16" presetID="1" presetClass="entr" presetSubtype="0" fill="hold" grpId="0" nodeType="withEffect">
                                  <p:stCondLst>
                                    <p:cond delay="0"/>
                                  </p:stCondLst>
                                  <p:childTnLst>
                                    <p:set>
                                      <p:cBhvr>
                                        <p:cTn id="17" dur="1" fill="hold">
                                          <p:stCondLst>
                                            <p:cond delay="0"/>
                                          </p:stCondLst>
                                        </p:cTn>
                                        <p:tgtEl>
                                          <p:spTgt spid="57"/>
                                        </p:tgtEl>
                                        <p:attrNameLst>
                                          <p:attrName>style.visibility</p:attrName>
                                        </p:attrNameLst>
                                      </p:cBhvr>
                                      <p:to>
                                        <p:strVal val="visible"/>
                                      </p:to>
                                    </p:set>
                                  </p:childTnLst>
                                </p:cTn>
                              </p:par>
                              <p:par>
                                <p:cTn id="18" presetID="1" presetClass="entr" presetSubtype="0" fill="hold" grpId="0" nodeType="withEffect">
                                  <p:stCondLst>
                                    <p:cond delay="0"/>
                                  </p:stCondLst>
                                  <p:childTnLst>
                                    <p:set>
                                      <p:cBhvr>
                                        <p:cTn id="19" dur="1" fill="hold">
                                          <p:stCondLst>
                                            <p:cond delay="0"/>
                                          </p:stCondLst>
                                        </p:cTn>
                                        <p:tgtEl>
                                          <p:spTgt spid="56"/>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55"/>
                                        </p:tgtEl>
                                        <p:attrNameLst>
                                          <p:attrName>style.visibility</p:attrName>
                                        </p:attrNameLst>
                                      </p:cBhvr>
                                      <p:to>
                                        <p:strVal val="visible"/>
                                      </p:to>
                                    </p:set>
                                  </p:childTnLst>
                                </p:cTn>
                              </p:par>
                              <p:par>
                                <p:cTn id="22" presetID="1" presetClass="entr" presetSubtype="0" fill="hold" grpId="0" nodeType="withEffect">
                                  <p:stCondLst>
                                    <p:cond delay="0"/>
                                  </p:stCondLst>
                                  <p:childTnLst>
                                    <p:set>
                                      <p:cBhvr>
                                        <p:cTn id="23" dur="1" fill="hold">
                                          <p:stCondLst>
                                            <p:cond delay="0"/>
                                          </p:stCondLst>
                                        </p:cTn>
                                        <p:tgtEl>
                                          <p:spTgt spid="54"/>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53"/>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52"/>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51"/>
                                        </p:tgtEl>
                                        <p:attrNameLst>
                                          <p:attrName>style.visibility</p:attrName>
                                        </p:attrNameLst>
                                      </p:cBhvr>
                                      <p:to>
                                        <p:strVal val="visible"/>
                                      </p:to>
                                    </p:set>
                                  </p:childTnLst>
                                </p:cTn>
                              </p:par>
                              <p:par>
                                <p:cTn id="30" presetID="1" presetClass="entr" presetSubtype="0" fill="hold" grpId="0" nodeType="withEffect">
                                  <p:stCondLst>
                                    <p:cond delay="0"/>
                                  </p:stCondLst>
                                  <p:childTnLst>
                                    <p:set>
                                      <p:cBhvr>
                                        <p:cTn id="31" dur="1" fill="hold">
                                          <p:stCondLst>
                                            <p:cond delay="0"/>
                                          </p:stCondLst>
                                        </p:cTn>
                                        <p:tgtEl>
                                          <p:spTgt spid="50"/>
                                        </p:tgtEl>
                                        <p:attrNameLst>
                                          <p:attrName>style.visibility</p:attrName>
                                        </p:attrNameLst>
                                      </p:cBhvr>
                                      <p:to>
                                        <p:strVal val="visible"/>
                                      </p:to>
                                    </p:set>
                                  </p:childTnLst>
                                </p:cTn>
                              </p:par>
                            </p:childTnLst>
                          </p:cTn>
                        </p:par>
                      </p:childTnLst>
                    </p:cTn>
                  </p:par>
                  <p:par>
                    <p:cTn id="32" fill="hold" nodeType="clickPar">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63"/>
                                        </p:tgtEl>
                                        <p:attrNameLst>
                                          <p:attrName>style.visibility</p:attrName>
                                        </p:attrNameLst>
                                      </p:cBhvr>
                                      <p:to>
                                        <p:strVal val="visible"/>
                                      </p:to>
                                    </p:set>
                                  </p:childTnLst>
                                </p:cTn>
                              </p:par>
                            </p:childTnLst>
                          </p:cTn>
                        </p:par>
                      </p:childTnLst>
                    </p:cTn>
                  </p:par>
                  <p:par>
                    <p:cTn id="36" fill="hold" nodeType="clickPar">
                      <p:stCondLst>
                        <p:cond delay="indefinite"/>
                      </p:stCondLst>
                      <p:childTnLst>
                        <p:par>
                          <p:cTn id="37" fill="hold">
                            <p:stCondLst>
                              <p:cond delay="0"/>
                            </p:stCondLst>
                            <p:childTnLst>
                              <p:par>
                                <p:cTn id="38" presetID="1" presetClass="entr" presetSubtype="0" fill="hold" nodeType="clickEffect">
                                  <p:stCondLst>
                                    <p:cond delay="0"/>
                                  </p:stCondLst>
                                  <p:childTnLst>
                                    <p:set>
                                      <p:cBhvr>
                                        <p:cTn id="39" dur="1" fill="hold">
                                          <p:stCondLst>
                                            <p:cond delay="0"/>
                                          </p:stCondLst>
                                        </p:cTn>
                                        <p:tgtEl>
                                          <p:spTgt spid="58"/>
                                        </p:tgtEl>
                                        <p:attrNameLst>
                                          <p:attrName>style.visibility</p:attrName>
                                        </p:attrNameLst>
                                      </p:cBhvr>
                                      <p:to>
                                        <p:strVal val="visible"/>
                                      </p:to>
                                    </p:set>
                                  </p:childTnLst>
                                </p:cTn>
                              </p:par>
                            </p:childTnLst>
                          </p:cTn>
                        </p:par>
                      </p:childTnLst>
                    </p:cTn>
                  </p:par>
                  <p:par>
                    <p:cTn id="40" fill="hold" nodeType="clickPar">
                      <p:stCondLst>
                        <p:cond delay="indefinite"/>
                      </p:stCondLst>
                      <p:childTnLst>
                        <p:par>
                          <p:cTn id="41" fill="hold">
                            <p:stCondLst>
                              <p:cond delay="0"/>
                            </p:stCondLst>
                            <p:childTnLst>
                              <p:par>
                                <p:cTn id="42" presetID="1" presetClass="entr" presetSubtype="0" fill="hold" grpId="0" nodeType="clickEffect">
                                  <p:stCondLst>
                                    <p:cond delay="0"/>
                                  </p:stCondLst>
                                  <p:childTnLst>
                                    <p:set>
                                      <p:cBhvr>
                                        <p:cTn id="43" dur="1" fill="hold">
                                          <p:stCondLst>
                                            <p:cond delay="0"/>
                                          </p:stCondLst>
                                        </p:cTn>
                                        <p:tgtEl>
                                          <p:spTgt spid="68"/>
                                        </p:tgtEl>
                                        <p:attrNameLst>
                                          <p:attrName>style.visibility</p:attrName>
                                        </p:attrNameLst>
                                      </p:cBhvr>
                                      <p:to>
                                        <p:strVal val="visible"/>
                                      </p:to>
                                    </p:set>
                                  </p:childTnLst>
                                </p:cTn>
                              </p:par>
                            </p:childTnLst>
                          </p:cTn>
                        </p:par>
                      </p:childTnLst>
                    </p:cTn>
                  </p:par>
                  <p:par>
                    <p:cTn id="44" fill="hold" nodeType="clickPar">
                      <p:stCondLst>
                        <p:cond delay="indefinite"/>
                      </p:stCondLst>
                      <p:childTnLst>
                        <p:par>
                          <p:cTn id="45" fill="hold">
                            <p:stCondLst>
                              <p:cond delay="0"/>
                            </p:stCondLst>
                            <p:childTnLst>
                              <p:par>
                                <p:cTn id="46" presetID="1" presetClass="entr" presetSubtype="0" fill="hold" nodeType="clickEffect">
                                  <p:stCondLst>
                                    <p:cond delay="0"/>
                                  </p:stCondLst>
                                  <p:childTnLst>
                                    <p:set>
                                      <p:cBhvr>
                                        <p:cTn id="47" dur="1" fill="hold">
                                          <p:stCondLst>
                                            <p:cond delay="0"/>
                                          </p:stCondLst>
                                        </p:cTn>
                                        <p:tgtEl>
                                          <p:spTgt spid="70"/>
                                        </p:tgtEl>
                                        <p:attrNameLst>
                                          <p:attrName>style.visibility</p:attrName>
                                        </p:attrNameLst>
                                      </p:cBhvr>
                                      <p:to>
                                        <p:strVal val="visible"/>
                                      </p:to>
                                    </p:set>
                                  </p:childTnLst>
                                </p:cTn>
                              </p:par>
                            </p:childTnLst>
                          </p:cTn>
                        </p:par>
                      </p:childTnLst>
                    </p:cTn>
                  </p:par>
                  <p:par>
                    <p:cTn id="48" fill="hold" nodeType="clickPar">
                      <p:stCondLst>
                        <p:cond delay="indefinite"/>
                      </p:stCondLst>
                      <p:childTnLst>
                        <p:par>
                          <p:cTn id="49" fill="hold">
                            <p:stCondLst>
                              <p:cond delay="0"/>
                            </p:stCondLst>
                            <p:childTnLst>
                              <p:par>
                                <p:cTn id="50" presetID="1" presetClass="entr" presetSubtype="0" fill="hold" grpId="0" nodeType="clickEffect">
                                  <p:stCondLst>
                                    <p:cond delay="0"/>
                                  </p:stCondLst>
                                  <p:childTnLst>
                                    <p:set>
                                      <p:cBhvr>
                                        <p:cTn id="51" dur="1" fill="hold">
                                          <p:stCondLst>
                                            <p:cond delay="0"/>
                                          </p:stCondLst>
                                        </p:cTn>
                                        <p:tgtEl>
                                          <p:spTgt spid="69"/>
                                        </p:tgtEl>
                                        <p:attrNameLst>
                                          <p:attrName>style.visibility</p:attrName>
                                        </p:attrNameLst>
                                      </p:cBhvr>
                                      <p:to>
                                        <p:strVal val="visible"/>
                                      </p:to>
                                    </p:set>
                                  </p:childTnLst>
                                </p:cTn>
                              </p:par>
                            </p:childTnLst>
                          </p:cTn>
                        </p:par>
                      </p:childTnLst>
                    </p:cTn>
                  </p:par>
                  <p:par>
                    <p:cTn id="52" fill="hold" nodeType="clickPar">
                      <p:stCondLst>
                        <p:cond delay="indefinite"/>
                      </p:stCondLst>
                      <p:childTnLst>
                        <p:par>
                          <p:cTn id="53" fill="hold">
                            <p:stCondLst>
                              <p:cond delay="0"/>
                            </p:stCondLst>
                            <p:childTnLst>
                              <p:par>
                                <p:cTn id="54" presetID="1" presetClass="entr" presetSubtype="0" fill="hold" nodeType="clickEffect">
                                  <p:stCondLst>
                                    <p:cond delay="0"/>
                                  </p:stCondLst>
                                  <p:childTnLst>
                                    <p:set>
                                      <p:cBhvr>
                                        <p:cTn id="55" dur="1" fill="hold">
                                          <p:stCondLst>
                                            <p:cond delay="0"/>
                                          </p:stCondLst>
                                        </p:cTn>
                                        <p:tgtEl>
                                          <p:spTgt spid="59"/>
                                        </p:tgtEl>
                                        <p:attrNameLst>
                                          <p:attrName>style.visibility</p:attrName>
                                        </p:attrNameLst>
                                      </p:cBhvr>
                                      <p:to>
                                        <p:strVal val="visible"/>
                                      </p:to>
                                    </p:set>
                                  </p:childTnLst>
                                </p:cTn>
                              </p:par>
                            </p:childTnLst>
                          </p:cTn>
                        </p:par>
                      </p:childTnLst>
                    </p:cTn>
                  </p:par>
                  <p:par>
                    <p:cTn id="56" fill="hold" nodeType="clickPar">
                      <p:stCondLst>
                        <p:cond delay="indefinite"/>
                      </p:stCondLst>
                      <p:childTnLst>
                        <p:par>
                          <p:cTn id="57" fill="hold">
                            <p:stCondLst>
                              <p:cond delay="0"/>
                            </p:stCondLst>
                            <p:childTnLst>
                              <p:par>
                                <p:cTn id="58" presetID="1" presetClass="entr" presetSubtype="0" fill="hold" grpId="0" nodeType="clickEffect">
                                  <p:stCondLst>
                                    <p:cond delay="0"/>
                                  </p:stCondLst>
                                  <p:childTnLst>
                                    <p:set>
                                      <p:cBhvr>
                                        <p:cTn id="59" dur="1" fill="hold">
                                          <p:stCondLst>
                                            <p:cond delay="0"/>
                                          </p:stCondLst>
                                        </p:cTn>
                                        <p:tgtEl>
                                          <p:spTgt spid="65"/>
                                        </p:tgtEl>
                                        <p:attrNameLst>
                                          <p:attrName>style.visibility</p:attrName>
                                        </p:attrNameLst>
                                      </p:cBhvr>
                                      <p:to>
                                        <p:strVal val="visible"/>
                                      </p:to>
                                    </p:set>
                                  </p:childTnLst>
                                </p:cTn>
                              </p:par>
                            </p:childTnLst>
                          </p:cTn>
                        </p:par>
                      </p:childTnLst>
                    </p:cTn>
                  </p:par>
                  <p:par>
                    <p:cTn id="60" fill="hold" nodeType="clickPar">
                      <p:stCondLst>
                        <p:cond delay="indefinite"/>
                      </p:stCondLst>
                      <p:childTnLst>
                        <p:par>
                          <p:cTn id="61" fill="hold">
                            <p:stCondLst>
                              <p:cond delay="0"/>
                            </p:stCondLst>
                            <p:childTnLst>
                              <p:par>
                                <p:cTn id="62" presetID="1" presetClass="entr" presetSubtype="0" fill="hold" nodeType="clickEffect">
                                  <p:stCondLst>
                                    <p:cond delay="0"/>
                                  </p:stCondLst>
                                  <p:childTnLst>
                                    <p:set>
                                      <p:cBhvr>
                                        <p:cTn id="63" dur="1" fill="hold">
                                          <p:stCondLst>
                                            <p:cond delay="0"/>
                                          </p:stCondLst>
                                        </p:cTn>
                                        <p:tgtEl>
                                          <p:spTgt spid="60"/>
                                        </p:tgtEl>
                                        <p:attrNameLst>
                                          <p:attrName>style.visibility</p:attrName>
                                        </p:attrNameLst>
                                      </p:cBhvr>
                                      <p:to>
                                        <p:strVal val="visible"/>
                                      </p:to>
                                    </p:set>
                                  </p:childTnLst>
                                </p:cTn>
                              </p:par>
                            </p:childTnLst>
                          </p:cTn>
                        </p:par>
                      </p:childTnLst>
                    </p:cTn>
                  </p:par>
                  <p:par>
                    <p:cTn id="64" fill="hold" nodeType="clickPar">
                      <p:stCondLst>
                        <p:cond delay="indefinite"/>
                      </p:stCondLst>
                      <p:childTnLst>
                        <p:par>
                          <p:cTn id="65" fill="hold">
                            <p:stCondLst>
                              <p:cond delay="0"/>
                            </p:stCondLst>
                            <p:childTnLst>
                              <p:par>
                                <p:cTn id="66" presetID="1" presetClass="entr" presetSubtype="0" fill="hold" grpId="0" nodeType="clickEffect">
                                  <p:stCondLst>
                                    <p:cond delay="0"/>
                                  </p:stCondLst>
                                  <p:childTnLst>
                                    <p:set>
                                      <p:cBhvr>
                                        <p:cTn id="67" dur="1" fill="hold">
                                          <p:stCondLst>
                                            <p:cond delay="0"/>
                                          </p:stCondLst>
                                        </p:cTn>
                                        <p:tgtEl>
                                          <p:spTgt spid="66"/>
                                        </p:tgtEl>
                                        <p:attrNameLst>
                                          <p:attrName>style.visibility</p:attrName>
                                        </p:attrNameLst>
                                      </p:cBhvr>
                                      <p:to>
                                        <p:strVal val="visible"/>
                                      </p:to>
                                    </p:set>
                                  </p:childTnLst>
                                </p:cTn>
                              </p:par>
                            </p:childTnLst>
                          </p:cTn>
                        </p:par>
                      </p:childTnLst>
                    </p:cTn>
                  </p:par>
                  <p:par>
                    <p:cTn id="68" fill="hold" nodeType="clickPar">
                      <p:stCondLst>
                        <p:cond delay="indefinite"/>
                      </p:stCondLst>
                      <p:childTnLst>
                        <p:par>
                          <p:cTn id="69" fill="hold">
                            <p:stCondLst>
                              <p:cond delay="0"/>
                            </p:stCondLst>
                            <p:childTnLst>
                              <p:par>
                                <p:cTn id="70" presetID="1" presetClass="entr" presetSubtype="0" fill="hold" nodeType="clickEffect">
                                  <p:stCondLst>
                                    <p:cond delay="0"/>
                                  </p:stCondLst>
                                  <p:childTnLst>
                                    <p:set>
                                      <p:cBhvr>
                                        <p:cTn id="71" dur="1" fill="hold">
                                          <p:stCondLst>
                                            <p:cond delay="0"/>
                                          </p:stCondLst>
                                        </p:cTn>
                                        <p:tgtEl>
                                          <p:spTgt spid="61"/>
                                        </p:tgtEl>
                                        <p:attrNameLst>
                                          <p:attrName>style.visibility</p:attrName>
                                        </p:attrNameLst>
                                      </p:cBhvr>
                                      <p:to>
                                        <p:strVal val="visible"/>
                                      </p:to>
                                    </p:set>
                                  </p:childTnLst>
                                </p:cTn>
                              </p:par>
                            </p:childTnLst>
                          </p:cTn>
                        </p:par>
                      </p:childTnLst>
                    </p:cTn>
                  </p:par>
                  <p:par>
                    <p:cTn id="72" fill="hold" nodeType="clickPar">
                      <p:stCondLst>
                        <p:cond delay="indefinite"/>
                      </p:stCondLst>
                      <p:childTnLst>
                        <p:par>
                          <p:cTn id="73" fill="hold">
                            <p:stCondLst>
                              <p:cond delay="0"/>
                            </p:stCondLst>
                            <p:childTnLst>
                              <p:par>
                                <p:cTn id="74" presetID="1" presetClass="entr" presetSubtype="0" fill="hold" grpId="0" nodeType="clickEffect">
                                  <p:stCondLst>
                                    <p:cond delay="0"/>
                                  </p:stCondLst>
                                  <p:childTnLst>
                                    <p:set>
                                      <p:cBhvr>
                                        <p:cTn id="75" dur="1" fill="hold">
                                          <p:stCondLst>
                                            <p:cond delay="0"/>
                                          </p:stCondLst>
                                        </p:cTn>
                                        <p:tgtEl>
                                          <p:spTgt spid="67"/>
                                        </p:tgtEl>
                                        <p:attrNameLst>
                                          <p:attrName>style.visibility</p:attrName>
                                        </p:attrNameLst>
                                      </p:cBhvr>
                                      <p:to>
                                        <p:strVal val="visible"/>
                                      </p:to>
                                    </p:set>
                                  </p:childTnLst>
                                </p:cTn>
                              </p:par>
                            </p:childTnLst>
                          </p:cTn>
                        </p:par>
                      </p:childTnLst>
                    </p:cTn>
                  </p:par>
                  <p:par>
                    <p:cTn id="76" fill="hold" nodeType="clickPar">
                      <p:stCondLst>
                        <p:cond delay="indefinite"/>
                      </p:stCondLst>
                      <p:childTnLst>
                        <p:par>
                          <p:cTn id="77" fill="hold">
                            <p:stCondLst>
                              <p:cond delay="0"/>
                            </p:stCondLst>
                            <p:childTnLst>
                              <p:par>
                                <p:cTn id="78" presetID="1" presetClass="entr" presetSubtype="0" fill="hold" nodeType="clickEffect">
                                  <p:stCondLst>
                                    <p:cond delay="0"/>
                                  </p:stCondLst>
                                  <p:childTnLst>
                                    <p:set>
                                      <p:cBhvr>
                                        <p:cTn id="79" dur="1" fill="hold">
                                          <p:stCondLst>
                                            <p:cond delay="0"/>
                                          </p:stCondLst>
                                        </p:cTn>
                                        <p:tgtEl>
                                          <p:spTgt spid="62"/>
                                        </p:tgtEl>
                                        <p:attrNameLst>
                                          <p:attrName>style.visibility</p:attrName>
                                        </p:attrNameLst>
                                      </p:cBhvr>
                                      <p:to>
                                        <p:strVal val="visible"/>
                                      </p:to>
                                    </p:set>
                                  </p:childTnLst>
                                </p:cTn>
                              </p:par>
                            </p:childTnLst>
                          </p:cTn>
                        </p:par>
                      </p:childTnLst>
                    </p:cTn>
                  </p:par>
                  <p:par>
                    <p:cTn id="80" fill="hold" nodeType="clickPar">
                      <p:stCondLst>
                        <p:cond delay="indefinite"/>
                      </p:stCondLst>
                      <p:childTnLst>
                        <p:par>
                          <p:cTn id="81" fill="hold">
                            <p:stCondLst>
                              <p:cond delay="0"/>
                            </p:stCondLst>
                            <p:childTnLst>
                              <p:par>
                                <p:cTn id="82" presetID="1" presetClass="entr" presetSubtype="0" fill="hold" grpId="0" nodeType="clickEffect">
                                  <p:stCondLst>
                                    <p:cond delay="0"/>
                                  </p:stCondLst>
                                  <p:childTnLst>
                                    <p:set>
                                      <p:cBhvr>
                                        <p:cTn id="83" dur="1" fill="hold">
                                          <p:stCondLst>
                                            <p:cond delay="0"/>
                                          </p:stCondLst>
                                        </p:cTn>
                                        <p:tgtEl>
                                          <p:spTgt spid="64"/>
                                        </p:tgtEl>
                                        <p:attrNameLst>
                                          <p:attrName>style.visibility</p:attrName>
                                        </p:attrNameLst>
                                      </p:cBhvr>
                                      <p:to>
                                        <p:strVal val="visible"/>
                                      </p:to>
                                    </p:set>
                                  </p:childTnLst>
                                </p:cTn>
                              </p:par>
                            </p:childTnLst>
                          </p:cTn>
                        </p:par>
                      </p:childTnLst>
                    </p:cTn>
                  </p:par>
                  <p:par>
                    <p:cTn id="84" fill="hold" nodeType="clickPar">
                      <p:stCondLst>
                        <p:cond delay="indefinite"/>
                      </p:stCondLst>
                      <p:childTnLst>
                        <p:par>
                          <p:cTn id="85" fill="hold">
                            <p:stCondLst>
                              <p:cond delay="0"/>
                            </p:stCondLst>
                            <p:childTnLst>
                              <p:par>
                                <p:cTn id="86" presetID="10" presetClass="entr" presetSubtype="0" fill="hold" nodeType="clickEffect">
                                  <p:stCondLst>
                                    <p:cond delay="0"/>
                                  </p:stCondLst>
                                  <p:childTnLst>
                                    <p:set>
                                      <p:cBhvr>
                                        <p:cTn id="87" dur="1" fill="hold">
                                          <p:stCondLst>
                                            <p:cond delay="0"/>
                                          </p:stCondLst>
                                        </p:cTn>
                                        <p:tgtEl>
                                          <p:spTgt spid="3">
                                            <p:txEl>
                                              <p:pRg st="9" end="9"/>
                                            </p:txEl>
                                          </p:spTgt>
                                        </p:tgtEl>
                                        <p:attrNameLst>
                                          <p:attrName>style.visibility</p:attrName>
                                        </p:attrNameLst>
                                      </p:cBhvr>
                                      <p:to>
                                        <p:strVal val="visible"/>
                                      </p:to>
                                    </p:set>
                                    <p:animEffect transition="in" filter="fade">
                                      <p:cBhvr>
                                        <p:cTn id="88" dur="500"/>
                                        <p:tgtEl>
                                          <p:spTgt spid="3">
                                            <p:txEl>
                                              <p:pRg st="9" end="9"/>
                                            </p:txEl>
                                          </p:spTgt>
                                        </p:tgtEl>
                                      </p:cBhvr>
                                    </p:animEffect>
                                  </p:childTnLst>
                                </p:cTn>
                              </p:par>
                            </p:childTnLst>
                          </p:cTn>
                        </p:par>
                      </p:childTnLst>
                    </p:cTn>
                  </p:par>
                  <p:par>
                    <p:cTn id="89" fill="hold" nodeType="clickPar">
                      <p:stCondLst>
                        <p:cond delay="indefinite"/>
                      </p:stCondLst>
                      <p:childTnLst>
                        <p:par>
                          <p:cTn id="90" fill="hold">
                            <p:stCondLst>
                              <p:cond delay="0"/>
                            </p:stCondLst>
                            <p:childTnLst>
                              <p:par>
                                <p:cTn id="91" presetID="10" presetClass="entr" presetSubtype="0" fill="hold" nodeType="clickEffect">
                                  <p:stCondLst>
                                    <p:cond delay="0"/>
                                  </p:stCondLst>
                                  <p:childTnLst>
                                    <p:set>
                                      <p:cBhvr>
                                        <p:cTn id="92" dur="1" fill="hold">
                                          <p:stCondLst>
                                            <p:cond delay="0"/>
                                          </p:stCondLst>
                                        </p:cTn>
                                        <p:tgtEl>
                                          <p:spTgt spid="3">
                                            <p:txEl>
                                              <p:pRg st="10" end="10"/>
                                            </p:txEl>
                                          </p:spTgt>
                                        </p:tgtEl>
                                        <p:attrNameLst>
                                          <p:attrName>style.visibility</p:attrName>
                                        </p:attrNameLst>
                                      </p:cBhvr>
                                      <p:to>
                                        <p:strVal val="visible"/>
                                      </p:to>
                                    </p:set>
                                    <p:animEffect transition="in" filter="fade">
                                      <p:cBhvr>
                                        <p:cTn id="93"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50" grpId="0"/>
      <p:bldP spid="51" grpId="0"/>
      <p:bldP spid="52" grpId="0"/>
      <p:bldP spid="53" grpId="0"/>
      <p:bldP spid="54" grpId="0"/>
      <p:bldP spid="55" grpId="0"/>
      <p:bldP spid="56" grpId="0"/>
      <p:bldP spid="57" grpId="0"/>
      <p:bldP spid="63" grpId="0"/>
      <p:bldP spid="64" grpId="0"/>
      <p:bldP spid="65" grpId="0"/>
      <p:bldP spid="66" grpId="0"/>
      <p:bldP spid="67" grpId="0"/>
      <p:bldP spid="68" grpId="0"/>
      <p:bldP spid="69"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C-LOOK</a:t>
            </a:r>
          </a:p>
        </p:txBody>
      </p:sp>
      <p:sp>
        <p:nvSpPr>
          <p:cNvPr id="3" name="Content Placeholder 2"/>
          <p:cNvSpPr>
            <a:spLocks noGrp="1"/>
          </p:cNvSpPr>
          <p:nvPr>
            <p:ph idx="1"/>
          </p:nvPr>
        </p:nvSpPr>
        <p:spPr/>
        <p:txBody>
          <a:bodyPr/>
          <a:lstStyle/>
          <a:p>
            <a:r>
              <a:rPr lang="en-US"/>
              <a:t>Keep moving in the same direction until there are no more outstanding requests pending in that direction, then algorithm switches direction.</a:t>
            </a:r>
          </a:p>
          <a:p>
            <a:r>
              <a:rPr lang="en-US" b="1">
                <a:solidFill>
                  <a:schemeClr val="accent6"/>
                </a:solidFill>
              </a:rPr>
              <a:t>When switching occurs the arm goes to the lowest numbered cylinder with pending requests and from there it continues moving in upward direction again</a:t>
            </a:r>
            <a:r>
              <a:rPr lang="en-US"/>
              <a:t>.</a:t>
            </a:r>
          </a:p>
        </p:txBody>
      </p:sp>
    </p:spTree>
    <p:extLst>
      <p:ext uri="{BB962C8B-B14F-4D97-AF65-F5344CB8AC3E}">
        <p14:creationId xmlns:p14="http://schemas.microsoft.com/office/powerpoint/2010/main" val="1430346251"/>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C-LOOK</a:t>
            </a:r>
          </a:p>
        </p:txBody>
      </p:sp>
      <p:sp>
        <p:nvSpPr>
          <p:cNvPr id="3" name="Content Placeholder 2"/>
          <p:cNvSpPr>
            <a:spLocks noGrp="1"/>
          </p:cNvSpPr>
          <p:nvPr>
            <p:ph idx="1"/>
          </p:nvPr>
        </p:nvSpPr>
        <p:spPr/>
        <p:txBody>
          <a:bodyPr/>
          <a:lstStyle/>
          <a:p>
            <a:r>
              <a:rPr lang="en-US"/>
              <a:t>Here first it moves in up direction then goes in down direction</a:t>
            </a:r>
          </a:p>
          <a:p>
            <a:endParaRPr lang="en-US"/>
          </a:p>
          <a:p>
            <a:endParaRPr lang="en-US"/>
          </a:p>
          <a:p>
            <a:endParaRPr lang="en-US"/>
          </a:p>
          <a:p>
            <a:endParaRPr lang="en-US"/>
          </a:p>
          <a:p>
            <a:endParaRPr lang="en-US"/>
          </a:p>
          <a:p>
            <a:endParaRPr lang="en-US"/>
          </a:p>
          <a:p>
            <a:endParaRPr lang="en-US"/>
          </a:p>
          <a:p>
            <a:endParaRPr lang="en-US"/>
          </a:p>
          <a:p>
            <a:r>
              <a:rPr lang="en-US"/>
              <a:t>Disk movement will be 11, 12, 16, 34, 36, 1 and 9.</a:t>
            </a:r>
          </a:p>
          <a:p>
            <a:r>
              <a:rPr lang="en-US"/>
              <a:t>Total cylinder movement: (12-11) + (16-12) + (34-16) + (36-34) +(36-1)+(9-1) = 68</a:t>
            </a:r>
          </a:p>
        </p:txBody>
      </p:sp>
      <p:sp>
        <p:nvSpPr>
          <p:cNvPr id="26" name="TextBox 25"/>
          <p:cNvSpPr txBox="1"/>
          <p:nvPr/>
        </p:nvSpPr>
        <p:spPr>
          <a:xfrm>
            <a:off x="8212822" y="1855654"/>
            <a:ext cx="472604" cy="1754326"/>
          </a:xfrm>
          <a:prstGeom prst="rect">
            <a:avLst/>
          </a:prstGeom>
          <a:ln w="28575">
            <a:solidFill>
              <a:schemeClr val="accent1"/>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r>
              <a:rPr lang="en-IN"/>
              <a:t>1, 36, 16, 34, 9, 12</a:t>
            </a:r>
            <a:endParaRPr lang="en-US"/>
          </a:p>
        </p:txBody>
      </p:sp>
      <p:graphicFrame>
        <p:nvGraphicFramePr>
          <p:cNvPr id="27" name="Table 26"/>
          <p:cNvGraphicFramePr>
            <a:graphicFrameLocks noGrp="1"/>
          </p:cNvGraphicFramePr>
          <p:nvPr>
            <p:extLst>
              <p:ext uri="{D42A27DB-BD31-4B8C-83A1-F6EECF244321}">
                <p14:modId xmlns:p14="http://schemas.microsoft.com/office/powerpoint/2010/main" val="137325616"/>
              </p:ext>
            </p:extLst>
          </p:nvPr>
        </p:nvGraphicFramePr>
        <p:xfrm>
          <a:off x="609597" y="1833880"/>
          <a:ext cx="7010402" cy="2966720"/>
        </p:xfrm>
        <a:graphic>
          <a:graphicData uri="http://schemas.openxmlformats.org/drawingml/2006/table">
            <a:tbl>
              <a:tblPr firstRow="1" bandRow="1">
                <a:tableStyleId>{5940675A-B579-460E-94D1-54222C63F5DA}</a:tableStyleId>
              </a:tblPr>
              <a:tblGrid>
                <a:gridCol w="457203">
                  <a:extLst>
                    <a:ext uri="{9D8B030D-6E8A-4147-A177-3AD203B41FA5}">
                      <a16:colId xmlns:a16="http://schemas.microsoft.com/office/drawing/2014/main" xmlns="" val="20000"/>
                    </a:ext>
                  </a:extLst>
                </a:gridCol>
                <a:gridCol w="990600">
                  <a:extLst>
                    <a:ext uri="{9D8B030D-6E8A-4147-A177-3AD203B41FA5}">
                      <a16:colId xmlns:a16="http://schemas.microsoft.com/office/drawing/2014/main" xmlns="" val="20001"/>
                    </a:ext>
                  </a:extLst>
                </a:gridCol>
                <a:gridCol w="838200">
                  <a:extLst>
                    <a:ext uri="{9D8B030D-6E8A-4147-A177-3AD203B41FA5}">
                      <a16:colId xmlns:a16="http://schemas.microsoft.com/office/drawing/2014/main" xmlns="" val="20002"/>
                    </a:ext>
                  </a:extLst>
                </a:gridCol>
                <a:gridCol w="762000">
                  <a:extLst>
                    <a:ext uri="{9D8B030D-6E8A-4147-A177-3AD203B41FA5}">
                      <a16:colId xmlns:a16="http://schemas.microsoft.com/office/drawing/2014/main" xmlns="" val="20003"/>
                    </a:ext>
                  </a:extLst>
                </a:gridCol>
                <a:gridCol w="1959427">
                  <a:extLst>
                    <a:ext uri="{9D8B030D-6E8A-4147-A177-3AD203B41FA5}">
                      <a16:colId xmlns:a16="http://schemas.microsoft.com/office/drawing/2014/main" xmlns="" val="20004"/>
                    </a:ext>
                  </a:extLst>
                </a:gridCol>
                <a:gridCol w="555173">
                  <a:extLst>
                    <a:ext uri="{9D8B030D-6E8A-4147-A177-3AD203B41FA5}">
                      <a16:colId xmlns:a16="http://schemas.microsoft.com/office/drawing/2014/main" xmlns="" val="20005"/>
                    </a:ext>
                  </a:extLst>
                </a:gridCol>
                <a:gridCol w="1447799">
                  <a:extLst>
                    <a:ext uri="{9D8B030D-6E8A-4147-A177-3AD203B41FA5}">
                      <a16:colId xmlns:a16="http://schemas.microsoft.com/office/drawing/2014/main" xmlns="" val="20006"/>
                    </a:ext>
                  </a:extLst>
                </a:gridCol>
              </a:tblGrid>
              <a:tr h="2966720">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tc>
                  <a:txBody>
                    <a:bodyPr/>
                    <a:lstStyle/>
                    <a:p>
                      <a:endParaRPr lang="en-IN"/>
                    </a:p>
                  </a:txBody>
                  <a:tcPr/>
                </a:tc>
                <a:extLst>
                  <a:ext uri="{0D108BD9-81ED-4DB2-BD59-A6C34878D82A}">
                    <a16:rowId xmlns:a16="http://schemas.microsoft.com/office/drawing/2014/main" xmlns="" val="10000"/>
                  </a:ext>
                </a:extLst>
              </a:tr>
            </a:tbl>
          </a:graphicData>
        </a:graphic>
      </p:graphicFrame>
      <p:sp>
        <p:nvSpPr>
          <p:cNvPr id="28" name="TextBox 27"/>
          <p:cNvSpPr txBox="1"/>
          <p:nvPr/>
        </p:nvSpPr>
        <p:spPr>
          <a:xfrm>
            <a:off x="547435" y="1433770"/>
            <a:ext cx="304800" cy="400110"/>
          </a:xfrm>
          <a:prstGeom prst="rect">
            <a:avLst/>
          </a:prstGeom>
          <a:noFill/>
        </p:spPr>
        <p:txBody>
          <a:bodyPr wrap="square" rtlCol="0">
            <a:spAutoFit/>
          </a:bodyPr>
          <a:lstStyle/>
          <a:p>
            <a:pPr algn="ctr"/>
            <a:r>
              <a:rPr lang="en-US" sz="2000"/>
              <a:t>0</a:t>
            </a:r>
            <a:endParaRPr lang="en-IN"/>
          </a:p>
        </p:txBody>
      </p:sp>
      <p:sp>
        <p:nvSpPr>
          <p:cNvPr id="29" name="TextBox 28"/>
          <p:cNvSpPr txBox="1"/>
          <p:nvPr/>
        </p:nvSpPr>
        <p:spPr>
          <a:xfrm>
            <a:off x="914400" y="1447800"/>
            <a:ext cx="304800" cy="400110"/>
          </a:xfrm>
          <a:prstGeom prst="rect">
            <a:avLst/>
          </a:prstGeom>
          <a:noFill/>
        </p:spPr>
        <p:txBody>
          <a:bodyPr wrap="square" rtlCol="0">
            <a:spAutoFit/>
          </a:bodyPr>
          <a:lstStyle/>
          <a:p>
            <a:pPr algn="ctr"/>
            <a:r>
              <a:rPr lang="en-US" sz="2000"/>
              <a:t>1</a:t>
            </a:r>
            <a:endParaRPr lang="en-IN"/>
          </a:p>
        </p:txBody>
      </p:sp>
      <p:sp>
        <p:nvSpPr>
          <p:cNvPr id="30" name="TextBox 29"/>
          <p:cNvSpPr txBox="1"/>
          <p:nvPr/>
        </p:nvSpPr>
        <p:spPr>
          <a:xfrm>
            <a:off x="1905000" y="1439315"/>
            <a:ext cx="304800" cy="400110"/>
          </a:xfrm>
          <a:prstGeom prst="rect">
            <a:avLst/>
          </a:prstGeom>
          <a:noFill/>
        </p:spPr>
        <p:txBody>
          <a:bodyPr wrap="square" rtlCol="0">
            <a:spAutoFit/>
          </a:bodyPr>
          <a:lstStyle/>
          <a:p>
            <a:pPr algn="ctr"/>
            <a:r>
              <a:rPr lang="en-US" sz="2000"/>
              <a:t>9</a:t>
            </a:r>
            <a:endParaRPr lang="en-IN"/>
          </a:p>
        </p:txBody>
      </p:sp>
      <p:sp>
        <p:nvSpPr>
          <p:cNvPr id="31" name="TextBox 30"/>
          <p:cNvSpPr txBox="1"/>
          <p:nvPr/>
        </p:nvSpPr>
        <p:spPr>
          <a:xfrm>
            <a:off x="2670372" y="1433770"/>
            <a:ext cx="468503" cy="400110"/>
          </a:xfrm>
          <a:prstGeom prst="rect">
            <a:avLst/>
          </a:prstGeom>
          <a:noFill/>
        </p:spPr>
        <p:txBody>
          <a:bodyPr wrap="square" rtlCol="0">
            <a:spAutoFit/>
          </a:bodyPr>
          <a:lstStyle/>
          <a:p>
            <a:pPr algn="ctr"/>
            <a:r>
              <a:rPr lang="en-US" sz="2000"/>
              <a:t>12</a:t>
            </a:r>
            <a:endParaRPr lang="en-IN"/>
          </a:p>
        </p:txBody>
      </p:sp>
      <p:sp>
        <p:nvSpPr>
          <p:cNvPr id="32" name="TextBox 31"/>
          <p:cNvSpPr txBox="1"/>
          <p:nvPr/>
        </p:nvSpPr>
        <p:spPr>
          <a:xfrm>
            <a:off x="3412955" y="1433770"/>
            <a:ext cx="502687" cy="400110"/>
          </a:xfrm>
          <a:prstGeom prst="rect">
            <a:avLst/>
          </a:prstGeom>
          <a:noFill/>
        </p:spPr>
        <p:txBody>
          <a:bodyPr wrap="square" rtlCol="0">
            <a:spAutoFit/>
          </a:bodyPr>
          <a:lstStyle/>
          <a:p>
            <a:pPr algn="ctr"/>
            <a:r>
              <a:rPr lang="en-US" sz="2000"/>
              <a:t>16</a:t>
            </a:r>
            <a:endParaRPr lang="en-IN"/>
          </a:p>
        </p:txBody>
      </p:sp>
      <p:sp>
        <p:nvSpPr>
          <p:cNvPr id="33" name="TextBox 32"/>
          <p:cNvSpPr txBox="1"/>
          <p:nvPr/>
        </p:nvSpPr>
        <p:spPr>
          <a:xfrm>
            <a:off x="5378116" y="1447800"/>
            <a:ext cx="485273" cy="400110"/>
          </a:xfrm>
          <a:prstGeom prst="rect">
            <a:avLst/>
          </a:prstGeom>
          <a:noFill/>
        </p:spPr>
        <p:txBody>
          <a:bodyPr wrap="square" rtlCol="0">
            <a:spAutoFit/>
          </a:bodyPr>
          <a:lstStyle/>
          <a:p>
            <a:pPr algn="ctr"/>
            <a:r>
              <a:rPr lang="en-US" sz="2000"/>
              <a:t>34</a:t>
            </a:r>
            <a:endParaRPr lang="en-IN"/>
          </a:p>
        </p:txBody>
      </p:sp>
      <p:sp>
        <p:nvSpPr>
          <p:cNvPr id="34" name="TextBox 33"/>
          <p:cNvSpPr txBox="1"/>
          <p:nvPr/>
        </p:nvSpPr>
        <p:spPr>
          <a:xfrm>
            <a:off x="5964654" y="1440785"/>
            <a:ext cx="448178" cy="400110"/>
          </a:xfrm>
          <a:prstGeom prst="rect">
            <a:avLst/>
          </a:prstGeom>
          <a:noFill/>
        </p:spPr>
        <p:txBody>
          <a:bodyPr wrap="square" rtlCol="0">
            <a:spAutoFit/>
          </a:bodyPr>
          <a:lstStyle/>
          <a:p>
            <a:pPr algn="ctr"/>
            <a:r>
              <a:rPr lang="en-US" sz="2000"/>
              <a:t>36</a:t>
            </a:r>
            <a:endParaRPr lang="en-IN"/>
          </a:p>
        </p:txBody>
      </p:sp>
      <p:sp>
        <p:nvSpPr>
          <p:cNvPr id="35" name="TextBox 34"/>
          <p:cNvSpPr txBox="1"/>
          <p:nvPr/>
        </p:nvSpPr>
        <p:spPr>
          <a:xfrm>
            <a:off x="7325863" y="1440785"/>
            <a:ext cx="568216" cy="400110"/>
          </a:xfrm>
          <a:prstGeom prst="rect">
            <a:avLst/>
          </a:prstGeom>
          <a:noFill/>
        </p:spPr>
        <p:txBody>
          <a:bodyPr wrap="square" rtlCol="0">
            <a:spAutoFit/>
          </a:bodyPr>
          <a:lstStyle/>
          <a:p>
            <a:pPr algn="ctr"/>
            <a:r>
              <a:rPr lang="en-US" sz="2000"/>
              <a:t>50</a:t>
            </a:r>
            <a:endParaRPr lang="en-IN"/>
          </a:p>
        </p:txBody>
      </p:sp>
      <p:cxnSp>
        <p:nvCxnSpPr>
          <p:cNvPr id="36" name="Straight Connector 35"/>
          <p:cNvCxnSpPr/>
          <p:nvPr/>
        </p:nvCxnSpPr>
        <p:spPr>
          <a:xfrm flipH="1" flipV="1">
            <a:off x="2470484" y="2197768"/>
            <a:ext cx="431150" cy="393032"/>
          </a:xfrm>
          <a:prstGeom prst="line">
            <a:avLst/>
          </a:prstGeom>
        </p:spPr>
        <p:style>
          <a:lnRef idx="3">
            <a:schemeClr val="dk1"/>
          </a:lnRef>
          <a:fillRef idx="0">
            <a:schemeClr val="dk1"/>
          </a:fillRef>
          <a:effectRef idx="2">
            <a:schemeClr val="dk1"/>
          </a:effectRef>
          <a:fontRef idx="minor">
            <a:schemeClr val="tx1"/>
          </a:fontRef>
        </p:style>
      </p:cxnSp>
      <p:cxnSp>
        <p:nvCxnSpPr>
          <p:cNvPr id="37" name="Straight Connector 36"/>
          <p:cNvCxnSpPr/>
          <p:nvPr/>
        </p:nvCxnSpPr>
        <p:spPr>
          <a:xfrm>
            <a:off x="3664298" y="2941362"/>
            <a:ext cx="1947718" cy="377208"/>
          </a:xfrm>
          <a:prstGeom prst="line">
            <a:avLst/>
          </a:prstGeom>
        </p:spPr>
        <p:style>
          <a:lnRef idx="3">
            <a:schemeClr val="dk1"/>
          </a:lnRef>
          <a:fillRef idx="0">
            <a:schemeClr val="dk1"/>
          </a:fillRef>
          <a:effectRef idx="2">
            <a:schemeClr val="dk1"/>
          </a:effectRef>
          <a:fontRef idx="minor">
            <a:schemeClr val="tx1"/>
          </a:fontRef>
        </p:style>
      </p:cxnSp>
      <p:cxnSp>
        <p:nvCxnSpPr>
          <p:cNvPr id="38" name="Straight Connector 37"/>
          <p:cNvCxnSpPr/>
          <p:nvPr/>
        </p:nvCxnSpPr>
        <p:spPr>
          <a:xfrm flipH="1" flipV="1">
            <a:off x="5612016" y="3329378"/>
            <a:ext cx="568652" cy="389712"/>
          </a:xfrm>
          <a:prstGeom prst="line">
            <a:avLst/>
          </a:prstGeom>
        </p:spPr>
        <p:style>
          <a:lnRef idx="3">
            <a:schemeClr val="dk1"/>
          </a:lnRef>
          <a:fillRef idx="0">
            <a:schemeClr val="dk1"/>
          </a:fillRef>
          <a:effectRef idx="2">
            <a:schemeClr val="dk1"/>
          </a:effectRef>
          <a:fontRef idx="minor">
            <a:schemeClr val="tx1"/>
          </a:fontRef>
        </p:style>
      </p:cxnSp>
      <p:cxnSp>
        <p:nvCxnSpPr>
          <p:cNvPr id="39" name="Straight Connector 38"/>
          <p:cNvCxnSpPr/>
          <p:nvPr/>
        </p:nvCxnSpPr>
        <p:spPr>
          <a:xfrm flipV="1">
            <a:off x="1066800" y="3717815"/>
            <a:ext cx="5121943" cy="332817"/>
          </a:xfrm>
          <a:prstGeom prst="line">
            <a:avLst/>
          </a:prstGeom>
        </p:spPr>
        <p:style>
          <a:lnRef idx="3">
            <a:schemeClr val="dk1"/>
          </a:lnRef>
          <a:fillRef idx="0">
            <a:schemeClr val="dk1"/>
          </a:fillRef>
          <a:effectRef idx="2">
            <a:schemeClr val="dk1"/>
          </a:effectRef>
          <a:fontRef idx="minor">
            <a:schemeClr val="tx1"/>
          </a:fontRef>
        </p:style>
      </p:cxnSp>
      <p:cxnSp>
        <p:nvCxnSpPr>
          <p:cNvPr id="40" name="Straight Connector 39"/>
          <p:cNvCxnSpPr/>
          <p:nvPr/>
        </p:nvCxnSpPr>
        <p:spPr>
          <a:xfrm flipH="1" flipV="1">
            <a:off x="1066801" y="4050632"/>
            <a:ext cx="990599" cy="349795"/>
          </a:xfrm>
          <a:prstGeom prst="line">
            <a:avLst/>
          </a:prstGeom>
        </p:spPr>
        <p:style>
          <a:lnRef idx="3">
            <a:schemeClr val="dk1"/>
          </a:lnRef>
          <a:fillRef idx="0">
            <a:schemeClr val="dk1"/>
          </a:fillRef>
          <a:effectRef idx="2">
            <a:schemeClr val="dk1"/>
          </a:effectRef>
          <a:fontRef idx="minor">
            <a:schemeClr val="tx1"/>
          </a:fontRef>
        </p:style>
      </p:cxnSp>
      <p:sp>
        <p:nvSpPr>
          <p:cNvPr id="41" name="TextBox 40"/>
          <p:cNvSpPr txBox="1"/>
          <p:nvPr/>
        </p:nvSpPr>
        <p:spPr>
          <a:xfrm>
            <a:off x="2265672" y="1826802"/>
            <a:ext cx="468503" cy="400110"/>
          </a:xfrm>
          <a:prstGeom prst="rect">
            <a:avLst/>
          </a:prstGeom>
          <a:noFill/>
        </p:spPr>
        <p:txBody>
          <a:bodyPr wrap="square" rtlCol="0">
            <a:spAutoFit/>
          </a:bodyPr>
          <a:lstStyle/>
          <a:p>
            <a:pPr algn="ctr"/>
            <a:r>
              <a:rPr lang="en-US" sz="2000"/>
              <a:t>11</a:t>
            </a:r>
            <a:endParaRPr lang="en-IN"/>
          </a:p>
        </p:txBody>
      </p:sp>
      <p:sp>
        <p:nvSpPr>
          <p:cNvPr id="42" name="TextBox 41"/>
          <p:cNvSpPr txBox="1"/>
          <p:nvPr/>
        </p:nvSpPr>
        <p:spPr>
          <a:xfrm>
            <a:off x="765811" y="3852329"/>
            <a:ext cx="304800" cy="400110"/>
          </a:xfrm>
          <a:prstGeom prst="rect">
            <a:avLst/>
          </a:prstGeom>
          <a:noFill/>
        </p:spPr>
        <p:txBody>
          <a:bodyPr wrap="square" rtlCol="0">
            <a:spAutoFit/>
          </a:bodyPr>
          <a:lstStyle/>
          <a:p>
            <a:pPr algn="ctr"/>
            <a:r>
              <a:rPr lang="en-US" sz="2000"/>
              <a:t>1</a:t>
            </a:r>
            <a:endParaRPr lang="en-IN"/>
          </a:p>
        </p:txBody>
      </p:sp>
      <p:sp>
        <p:nvSpPr>
          <p:cNvPr id="43" name="TextBox 42"/>
          <p:cNvSpPr txBox="1"/>
          <p:nvPr/>
        </p:nvSpPr>
        <p:spPr>
          <a:xfrm>
            <a:off x="5574669" y="2967910"/>
            <a:ext cx="485273" cy="400110"/>
          </a:xfrm>
          <a:prstGeom prst="rect">
            <a:avLst/>
          </a:prstGeom>
          <a:noFill/>
        </p:spPr>
        <p:txBody>
          <a:bodyPr wrap="square" rtlCol="0">
            <a:spAutoFit/>
          </a:bodyPr>
          <a:lstStyle/>
          <a:p>
            <a:pPr algn="ctr"/>
            <a:r>
              <a:rPr lang="en-US" sz="2000"/>
              <a:t>34</a:t>
            </a:r>
            <a:endParaRPr lang="en-IN"/>
          </a:p>
        </p:txBody>
      </p:sp>
      <p:sp>
        <p:nvSpPr>
          <p:cNvPr id="44" name="TextBox 43"/>
          <p:cNvSpPr txBox="1"/>
          <p:nvPr/>
        </p:nvSpPr>
        <p:spPr>
          <a:xfrm>
            <a:off x="6179218" y="3487705"/>
            <a:ext cx="448178" cy="400110"/>
          </a:xfrm>
          <a:prstGeom prst="rect">
            <a:avLst/>
          </a:prstGeom>
          <a:noFill/>
        </p:spPr>
        <p:txBody>
          <a:bodyPr wrap="square" rtlCol="0">
            <a:spAutoFit/>
          </a:bodyPr>
          <a:lstStyle/>
          <a:p>
            <a:pPr algn="ctr"/>
            <a:r>
              <a:rPr lang="en-US" sz="2000"/>
              <a:t>36</a:t>
            </a:r>
            <a:endParaRPr lang="en-IN"/>
          </a:p>
        </p:txBody>
      </p:sp>
      <p:sp>
        <p:nvSpPr>
          <p:cNvPr id="45" name="TextBox 44"/>
          <p:cNvSpPr txBox="1"/>
          <p:nvPr/>
        </p:nvSpPr>
        <p:spPr>
          <a:xfrm>
            <a:off x="2057400" y="4225529"/>
            <a:ext cx="304800" cy="400110"/>
          </a:xfrm>
          <a:prstGeom prst="rect">
            <a:avLst/>
          </a:prstGeom>
          <a:noFill/>
        </p:spPr>
        <p:txBody>
          <a:bodyPr wrap="square" rtlCol="0">
            <a:spAutoFit/>
          </a:bodyPr>
          <a:lstStyle/>
          <a:p>
            <a:pPr algn="ctr"/>
            <a:r>
              <a:rPr lang="en-US" sz="2000"/>
              <a:t>9</a:t>
            </a:r>
            <a:endParaRPr lang="en-IN"/>
          </a:p>
        </p:txBody>
      </p:sp>
      <p:sp>
        <p:nvSpPr>
          <p:cNvPr id="46" name="TextBox 45"/>
          <p:cNvSpPr txBox="1"/>
          <p:nvPr/>
        </p:nvSpPr>
        <p:spPr>
          <a:xfrm>
            <a:off x="2855721" y="2238314"/>
            <a:ext cx="468503" cy="400110"/>
          </a:xfrm>
          <a:prstGeom prst="rect">
            <a:avLst/>
          </a:prstGeom>
          <a:noFill/>
        </p:spPr>
        <p:txBody>
          <a:bodyPr wrap="square" rtlCol="0">
            <a:spAutoFit/>
          </a:bodyPr>
          <a:lstStyle/>
          <a:p>
            <a:pPr algn="ctr"/>
            <a:r>
              <a:rPr lang="en-US" sz="2000"/>
              <a:t>12</a:t>
            </a:r>
            <a:endParaRPr lang="en-IN"/>
          </a:p>
        </p:txBody>
      </p:sp>
      <p:sp>
        <p:nvSpPr>
          <p:cNvPr id="47" name="TextBox 46"/>
          <p:cNvSpPr txBox="1"/>
          <p:nvPr/>
        </p:nvSpPr>
        <p:spPr>
          <a:xfrm>
            <a:off x="3599075" y="2580947"/>
            <a:ext cx="502687" cy="400110"/>
          </a:xfrm>
          <a:prstGeom prst="rect">
            <a:avLst/>
          </a:prstGeom>
          <a:noFill/>
        </p:spPr>
        <p:txBody>
          <a:bodyPr wrap="square" rtlCol="0">
            <a:spAutoFit/>
          </a:bodyPr>
          <a:lstStyle/>
          <a:p>
            <a:pPr algn="ctr"/>
            <a:r>
              <a:rPr lang="en-US" sz="2000"/>
              <a:t>16</a:t>
            </a:r>
            <a:endParaRPr lang="en-IN"/>
          </a:p>
        </p:txBody>
      </p:sp>
      <p:cxnSp>
        <p:nvCxnSpPr>
          <p:cNvPr id="48" name="Straight Connector 47"/>
          <p:cNvCxnSpPr/>
          <p:nvPr/>
        </p:nvCxnSpPr>
        <p:spPr>
          <a:xfrm>
            <a:off x="2901634" y="2590800"/>
            <a:ext cx="762664" cy="350560"/>
          </a:xfrm>
          <a:prstGeom prst="line">
            <a:avLst/>
          </a:prstGeom>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1638739392"/>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26"/>
                                        </p:tgtEl>
                                        <p:attrNameLst>
                                          <p:attrName>style.visibility</p:attrName>
                                        </p:attrNameLst>
                                      </p:cBhvr>
                                      <p:to>
                                        <p:strVal val="visible"/>
                                      </p:to>
                                    </p:set>
                                  </p:childTnLst>
                                </p:cTn>
                              </p:par>
                            </p:childTnLst>
                          </p:cTn>
                        </p:par>
                      </p:childTnLst>
                    </p:cTn>
                  </p:par>
                  <p:par>
                    <p:cTn id="12" fill="hold" nodeType="clickPar">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27"/>
                                        </p:tgtEl>
                                        <p:attrNameLst>
                                          <p:attrName>style.visibility</p:attrName>
                                        </p:attrNameLst>
                                      </p:cBhvr>
                                      <p:to>
                                        <p:strVal val="visible"/>
                                      </p:to>
                                    </p:set>
                                  </p:childTnLst>
                                </p:cTn>
                              </p:par>
                              <p:par>
                                <p:cTn id="16" presetID="1" presetClass="entr" presetSubtype="0" fill="hold" grpId="0" nodeType="withEffect">
                                  <p:stCondLst>
                                    <p:cond delay="0"/>
                                  </p:stCondLst>
                                  <p:childTnLst>
                                    <p:set>
                                      <p:cBhvr>
                                        <p:cTn id="17" dur="1" fill="hold">
                                          <p:stCondLst>
                                            <p:cond delay="0"/>
                                          </p:stCondLst>
                                        </p:cTn>
                                        <p:tgtEl>
                                          <p:spTgt spid="28"/>
                                        </p:tgtEl>
                                        <p:attrNameLst>
                                          <p:attrName>style.visibility</p:attrName>
                                        </p:attrNameLst>
                                      </p:cBhvr>
                                      <p:to>
                                        <p:strVal val="visible"/>
                                      </p:to>
                                    </p:set>
                                  </p:childTnLst>
                                </p:cTn>
                              </p:par>
                              <p:par>
                                <p:cTn id="18" presetID="1" presetClass="entr" presetSubtype="0" fill="hold" grpId="0" nodeType="withEffect">
                                  <p:stCondLst>
                                    <p:cond delay="0"/>
                                  </p:stCondLst>
                                  <p:childTnLst>
                                    <p:set>
                                      <p:cBhvr>
                                        <p:cTn id="19" dur="1" fill="hold">
                                          <p:stCondLst>
                                            <p:cond delay="0"/>
                                          </p:stCondLst>
                                        </p:cTn>
                                        <p:tgtEl>
                                          <p:spTgt spid="29"/>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30"/>
                                        </p:tgtEl>
                                        <p:attrNameLst>
                                          <p:attrName>style.visibility</p:attrName>
                                        </p:attrNameLst>
                                      </p:cBhvr>
                                      <p:to>
                                        <p:strVal val="visible"/>
                                      </p:to>
                                    </p:set>
                                  </p:childTnLst>
                                </p:cTn>
                              </p:par>
                              <p:par>
                                <p:cTn id="22" presetID="1" presetClass="entr" presetSubtype="0" fill="hold" grpId="0" nodeType="withEffect">
                                  <p:stCondLst>
                                    <p:cond delay="0"/>
                                  </p:stCondLst>
                                  <p:childTnLst>
                                    <p:set>
                                      <p:cBhvr>
                                        <p:cTn id="23" dur="1" fill="hold">
                                          <p:stCondLst>
                                            <p:cond delay="0"/>
                                          </p:stCondLst>
                                        </p:cTn>
                                        <p:tgtEl>
                                          <p:spTgt spid="31"/>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32"/>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33"/>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34"/>
                                        </p:tgtEl>
                                        <p:attrNameLst>
                                          <p:attrName>style.visibility</p:attrName>
                                        </p:attrNameLst>
                                      </p:cBhvr>
                                      <p:to>
                                        <p:strVal val="visible"/>
                                      </p:to>
                                    </p:set>
                                  </p:childTnLst>
                                </p:cTn>
                              </p:par>
                              <p:par>
                                <p:cTn id="30" presetID="1" presetClass="entr" presetSubtype="0" fill="hold" grpId="0" nodeType="withEffect">
                                  <p:stCondLst>
                                    <p:cond delay="0"/>
                                  </p:stCondLst>
                                  <p:childTnLst>
                                    <p:set>
                                      <p:cBhvr>
                                        <p:cTn id="31" dur="1" fill="hold">
                                          <p:stCondLst>
                                            <p:cond delay="0"/>
                                          </p:stCondLst>
                                        </p:cTn>
                                        <p:tgtEl>
                                          <p:spTgt spid="35"/>
                                        </p:tgtEl>
                                        <p:attrNameLst>
                                          <p:attrName>style.visibility</p:attrName>
                                        </p:attrNameLst>
                                      </p:cBhvr>
                                      <p:to>
                                        <p:strVal val="visible"/>
                                      </p:to>
                                    </p:set>
                                  </p:childTnLst>
                                </p:cTn>
                              </p:par>
                            </p:childTnLst>
                          </p:cTn>
                        </p:par>
                      </p:childTnLst>
                    </p:cTn>
                  </p:par>
                  <p:par>
                    <p:cTn id="32" fill="hold" nodeType="clickPar">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41"/>
                                        </p:tgtEl>
                                        <p:attrNameLst>
                                          <p:attrName>style.visibility</p:attrName>
                                        </p:attrNameLst>
                                      </p:cBhvr>
                                      <p:to>
                                        <p:strVal val="visible"/>
                                      </p:to>
                                    </p:set>
                                  </p:childTnLst>
                                </p:cTn>
                              </p:par>
                            </p:childTnLst>
                          </p:cTn>
                        </p:par>
                      </p:childTnLst>
                    </p:cTn>
                  </p:par>
                  <p:par>
                    <p:cTn id="36" fill="hold" nodeType="clickPar">
                      <p:stCondLst>
                        <p:cond delay="indefinite"/>
                      </p:stCondLst>
                      <p:childTnLst>
                        <p:par>
                          <p:cTn id="37" fill="hold">
                            <p:stCondLst>
                              <p:cond delay="0"/>
                            </p:stCondLst>
                            <p:childTnLst>
                              <p:par>
                                <p:cTn id="38" presetID="1" presetClass="entr" presetSubtype="0" fill="hold" nodeType="clickEffect">
                                  <p:stCondLst>
                                    <p:cond delay="0"/>
                                  </p:stCondLst>
                                  <p:childTnLst>
                                    <p:set>
                                      <p:cBhvr>
                                        <p:cTn id="39" dur="1" fill="hold">
                                          <p:stCondLst>
                                            <p:cond delay="0"/>
                                          </p:stCondLst>
                                        </p:cTn>
                                        <p:tgtEl>
                                          <p:spTgt spid="36"/>
                                        </p:tgtEl>
                                        <p:attrNameLst>
                                          <p:attrName>style.visibility</p:attrName>
                                        </p:attrNameLst>
                                      </p:cBhvr>
                                      <p:to>
                                        <p:strVal val="visible"/>
                                      </p:to>
                                    </p:set>
                                  </p:childTnLst>
                                </p:cTn>
                              </p:par>
                            </p:childTnLst>
                          </p:cTn>
                        </p:par>
                      </p:childTnLst>
                    </p:cTn>
                  </p:par>
                  <p:par>
                    <p:cTn id="40" fill="hold" nodeType="clickPar">
                      <p:stCondLst>
                        <p:cond delay="indefinite"/>
                      </p:stCondLst>
                      <p:childTnLst>
                        <p:par>
                          <p:cTn id="41" fill="hold">
                            <p:stCondLst>
                              <p:cond delay="0"/>
                            </p:stCondLst>
                            <p:childTnLst>
                              <p:par>
                                <p:cTn id="42" presetID="1" presetClass="entr" presetSubtype="0" fill="hold" grpId="0" nodeType="clickEffect">
                                  <p:stCondLst>
                                    <p:cond delay="0"/>
                                  </p:stCondLst>
                                  <p:childTnLst>
                                    <p:set>
                                      <p:cBhvr>
                                        <p:cTn id="43" dur="1" fill="hold">
                                          <p:stCondLst>
                                            <p:cond delay="0"/>
                                          </p:stCondLst>
                                        </p:cTn>
                                        <p:tgtEl>
                                          <p:spTgt spid="46"/>
                                        </p:tgtEl>
                                        <p:attrNameLst>
                                          <p:attrName>style.visibility</p:attrName>
                                        </p:attrNameLst>
                                      </p:cBhvr>
                                      <p:to>
                                        <p:strVal val="visible"/>
                                      </p:to>
                                    </p:set>
                                  </p:childTnLst>
                                </p:cTn>
                              </p:par>
                            </p:childTnLst>
                          </p:cTn>
                        </p:par>
                      </p:childTnLst>
                    </p:cTn>
                  </p:par>
                  <p:par>
                    <p:cTn id="44" fill="hold" nodeType="clickPar">
                      <p:stCondLst>
                        <p:cond delay="indefinite"/>
                      </p:stCondLst>
                      <p:childTnLst>
                        <p:par>
                          <p:cTn id="45" fill="hold">
                            <p:stCondLst>
                              <p:cond delay="0"/>
                            </p:stCondLst>
                            <p:childTnLst>
                              <p:par>
                                <p:cTn id="46" presetID="1" presetClass="entr" presetSubtype="0" fill="hold" nodeType="clickEffect">
                                  <p:stCondLst>
                                    <p:cond delay="0"/>
                                  </p:stCondLst>
                                  <p:childTnLst>
                                    <p:set>
                                      <p:cBhvr>
                                        <p:cTn id="47" dur="1" fill="hold">
                                          <p:stCondLst>
                                            <p:cond delay="0"/>
                                          </p:stCondLst>
                                        </p:cTn>
                                        <p:tgtEl>
                                          <p:spTgt spid="48"/>
                                        </p:tgtEl>
                                        <p:attrNameLst>
                                          <p:attrName>style.visibility</p:attrName>
                                        </p:attrNameLst>
                                      </p:cBhvr>
                                      <p:to>
                                        <p:strVal val="visible"/>
                                      </p:to>
                                    </p:set>
                                  </p:childTnLst>
                                </p:cTn>
                              </p:par>
                            </p:childTnLst>
                          </p:cTn>
                        </p:par>
                      </p:childTnLst>
                    </p:cTn>
                  </p:par>
                  <p:par>
                    <p:cTn id="48" fill="hold" nodeType="clickPar">
                      <p:stCondLst>
                        <p:cond delay="indefinite"/>
                      </p:stCondLst>
                      <p:childTnLst>
                        <p:par>
                          <p:cTn id="49" fill="hold">
                            <p:stCondLst>
                              <p:cond delay="0"/>
                            </p:stCondLst>
                            <p:childTnLst>
                              <p:par>
                                <p:cTn id="50" presetID="1" presetClass="entr" presetSubtype="0" fill="hold" grpId="0" nodeType="clickEffect">
                                  <p:stCondLst>
                                    <p:cond delay="0"/>
                                  </p:stCondLst>
                                  <p:childTnLst>
                                    <p:set>
                                      <p:cBhvr>
                                        <p:cTn id="51" dur="1" fill="hold">
                                          <p:stCondLst>
                                            <p:cond delay="0"/>
                                          </p:stCondLst>
                                        </p:cTn>
                                        <p:tgtEl>
                                          <p:spTgt spid="47"/>
                                        </p:tgtEl>
                                        <p:attrNameLst>
                                          <p:attrName>style.visibility</p:attrName>
                                        </p:attrNameLst>
                                      </p:cBhvr>
                                      <p:to>
                                        <p:strVal val="visible"/>
                                      </p:to>
                                    </p:set>
                                  </p:childTnLst>
                                </p:cTn>
                              </p:par>
                            </p:childTnLst>
                          </p:cTn>
                        </p:par>
                      </p:childTnLst>
                    </p:cTn>
                  </p:par>
                  <p:par>
                    <p:cTn id="52" fill="hold" nodeType="clickPar">
                      <p:stCondLst>
                        <p:cond delay="indefinite"/>
                      </p:stCondLst>
                      <p:childTnLst>
                        <p:par>
                          <p:cTn id="53" fill="hold">
                            <p:stCondLst>
                              <p:cond delay="0"/>
                            </p:stCondLst>
                            <p:childTnLst>
                              <p:par>
                                <p:cTn id="54" presetID="1" presetClass="entr" presetSubtype="0" fill="hold" nodeType="clickEffect">
                                  <p:stCondLst>
                                    <p:cond delay="0"/>
                                  </p:stCondLst>
                                  <p:childTnLst>
                                    <p:set>
                                      <p:cBhvr>
                                        <p:cTn id="55" dur="1" fill="hold">
                                          <p:stCondLst>
                                            <p:cond delay="0"/>
                                          </p:stCondLst>
                                        </p:cTn>
                                        <p:tgtEl>
                                          <p:spTgt spid="37"/>
                                        </p:tgtEl>
                                        <p:attrNameLst>
                                          <p:attrName>style.visibility</p:attrName>
                                        </p:attrNameLst>
                                      </p:cBhvr>
                                      <p:to>
                                        <p:strVal val="visible"/>
                                      </p:to>
                                    </p:set>
                                  </p:childTnLst>
                                </p:cTn>
                              </p:par>
                            </p:childTnLst>
                          </p:cTn>
                        </p:par>
                      </p:childTnLst>
                    </p:cTn>
                  </p:par>
                  <p:par>
                    <p:cTn id="56" fill="hold" nodeType="clickPar">
                      <p:stCondLst>
                        <p:cond delay="indefinite"/>
                      </p:stCondLst>
                      <p:childTnLst>
                        <p:par>
                          <p:cTn id="57" fill="hold">
                            <p:stCondLst>
                              <p:cond delay="0"/>
                            </p:stCondLst>
                            <p:childTnLst>
                              <p:par>
                                <p:cTn id="58" presetID="1" presetClass="entr" presetSubtype="0" fill="hold" grpId="0" nodeType="clickEffect">
                                  <p:stCondLst>
                                    <p:cond delay="0"/>
                                  </p:stCondLst>
                                  <p:childTnLst>
                                    <p:set>
                                      <p:cBhvr>
                                        <p:cTn id="59" dur="1" fill="hold">
                                          <p:stCondLst>
                                            <p:cond delay="0"/>
                                          </p:stCondLst>
                                        </p:cTn>
                                        <p:tgtEl>
                                          <p:spTgt spid="43"/>
                                        </p:tgtEl>
                                        <p:attrNameLst>
                                          <p:attrName>style.visibility</p:attrName>
                                        </p:attrNameLst>
                                      </p:cBhvr>
                                      <p:to>
                                        <p:strVal val="visible"/>
                                      </p:to>
                                    </p:set>
                                  </p:childTnLst>
                                </p:cTn>
                              </p:par>
                            </p:childTnLst>
                          </p:cTn>
                        </p:par>
                      </p:childTnLst>
                    </p:cTn>
                  </p:par>
                  <p:par>
                    <p:cTn id="60" fill="hold" nodeType="clickPar">
                      <p:stCondLst>
                        <p:cond delay="indefinite"/>
                      </p:stCondLst>
                      <p:childTnLst>
                        <p:par>
                          <p:cTn id="61" fill="hold">
                            <p:stCondLst>
                              <p:cond delay="0"/>
                            </p:stCondLst>
                            <p:childTnLst>
                              <p:par>
                                <p:cTn id="62" presetID="1" presetClass="entr" presetSubtype="0" fill="hold" nodeType="clickEffect">
                                  <p:stCondLst>
                                    <p:cond delay="0"/>
                                  </p:stCondLst>
                                  <p:childTnLst>
                                    <p:set>
                                      <p:cBhvr>
                                        <p:cTn id="63" dur="1" fill="hold">
                                          <p:stCondLst>
                                            <p:cond delay="0"/>
                                          </p:stCondLst>
                                        </p:cTn>
                                        <p:tgtEl>
                                          <p:spTgt spid="38"/>
                                        </p:tgtEl>
                                        <p:attrNameLst>
                                          <p:attrName>style.visibility</p:attrName>
                                        </p:attrNameLst>
                                      </p:cBhvr>
                                      <p:to>
                                        <p:strVal val="visible"/>
                                      </p:to>
                                    </p:set>
                                  </p:childTnLst>
                                </p:cTn>
                              </p:par>
                            </p:childTnLst>
                          </p:cTn>
                        </p:par>
                      </p:childTnLst>
                    </p:cTn>
                  </p:par>
                  <p:par>
                    <p:cTn id="64" fill="hold" nodeType="clickPar">
                      <p:stCondLst>
                        <p:cond delay="indefinite"/>
                      </p:stCondLst>
                      <p:childTnLst>
                        <p:par>
                          <p:cTn id="65" fill="hold">
                            <p:stCondLst>
                              <p:cond delay="0"/>
                            </p:stCondLst>
                            <p:childTnLst>
                              <p:par>
                                <p:cTn id="66" presetID="1" presetClass="entr" presetSubtype="0" fill="hold" grpId="0" nodeType="clickEffect">
                                  <p:stCondLst>
                                    <p:cond delay="0"/>
                                  </p:stCondLst>
                                  <p:childTnLst>
                                    <p:set>
                                      <p:cBhvr>
                                        <p:cTn id="67" dur="1" fill="hold">
                                          <p:stCondLst>
                                            <p:cond delay="0"/>
                                          </p:stCondLst>
                                        </p:cTn>
                                        <p:tgtEl>
                                          <p:spTgt spid="44"/>
                                        </p:tgtEl>
                                        <p:attrNameLst>
                                          <p:attrName>style.visibility</p:attrName>
                                        </p:attrNameLst>
                                      </p:cBhvr>
                                      <p:to>
                                        <p:strVal val="visible"/>
                                      </p:to>
                                    </p:set>
                                  </p:childTnLst>
                                </p:cTn>
                              </p:par>
                            </p:childTnLst>
                          </p:cTn>
                        </p:par>
                      </p:childTnLst>
                    </p:cTn>
                  </p:par>
                  <p:par>
                    <p:cTn id="68" fill="hold" nodeType="clickPar">
                      <p:stCondLst>
                        <p:cond delay="indefinite"/>
                      </p:stCondLst>
                      <p:childTnLst>
                        <p:par>
                          <p:cTn id="69" fill="hold">
                            <p:stCondLst>
                              <p:cond delay="0"/>
                            </p:stCondLst>
                            <p:childTnLst>
                              <p:par>
                                <p:cTn id="70" presetID="1" presetClass="entr" presetSubtype="0" fill="hold" nodeType="clickEffect">
                                  <p:stCondLst>
                                    <p:cond delay="0"/>
                                  </p:stCondLst>
                                  <p:childTnLst>
                                    <p:set>
                                      <p:cBhvr>
                                        <p:cTn id="71" dur="1" fill="hold">
                                          <p:stCondLst>
                                            <p:cond delay="0"/>
                                          </p:stCondLst>
                                        </p:cTn>
                                        <p:tgtEl>
                                          <p:spTgt spid="39"/>
                                        </p:tgtEl>
                                        <p:attrNameLst>
                                          <p:attrName>style.visibility</p:attrName>
                                        </p:attrNameLst>
                                      </p:cBhvr>
                                      <p:to>
                                        <p:strVal val="visible"/>
                                      </p:to>
                                    </p:set>
                                  </p:childTnLst>
                                </p:cTn>
                              </p:par>
                            </p:childTnLst>
                          </p:cTn>
                        </p:par>
                      </p:childTnLst>
                    </p:cTn>
                  </p:par>
                  <p:par>
                    <p:cTn id="72" fill="hold" nodeType="clickPar">
                      <p:stCondLst>
                        <p:cond delay="indefinite"/>
                      </p:stCondLst>
                      <p:childTnLst>
                        <p:par>
                          <p:cTn id="73" fill="hold">
                            <p:stCondLst>
                              <p:cond delay="0"/>
                            </p:stCondLst>
                            <p:childTnLst>
                              <p:par>
                                <p:cTn id="74" presetID="1" presetClass="entr" presetSubtype="0" fill="hold" grpId="0" nodeType="clickEffect">
                                  <p:stCondLst>
                                    <p:cond delay="0"/>
                                  </p:stCondLst>
                                  <p:childTnLst>
                                    <p:set>
                                      <p:cBhvr>
                                        <p:cTn id="75" dur="1" fill="hold">
                                          <p:stCondLst>
                                            <p:cond delay="0"/>
                                          </p:stCondLst>
                                        </p:cTn>
                                        <p:tgtEl>
                                          <p:spTgt spid="42"/>
                                        </p:tgtEl>
                                        <p:attrNameLst>
                                          <p:attrName>style.visibility</p:attrName>
                                        </p:attrNameLst>
                                      </p:cBhvr>
                                      <p:to>
                                        <p:strVal val="visible"/>
                                      </p:to>
                                    </p:set>
                                  </p:childTnLst>
                                </p:cTn>
                              </p:par>
                            </p:childTnLst>
                          </p:cTn>
                        </p:par>
                      </p:childTnLst>
                    </p:cTn>
                  </p:par>
                  <p:par>
                    <p:cTn id="76" fill="hold" nodeType="clickPar">
                      <p:stCondLst>
                        <p:cond delay="indefinite"/>
                      </p:stCondLst>
                      <p:childTnLst>
                        <p:par>
                          <p:cTn id="77" fill="hold">
                            <p:stCondLst>
                              <p:cond delay="0"/>
                            </p:stCondLst>
                            <p:childTnLst>
                              <p:par>
                                <p:cTn id="78" presetID="1" presetClass="entr" presetSubtype="0" fill="hold" nodeType="clickEffect">
                                  <p:stCondLst>
                                    <p:cond delay="0"/>
                                  </p:stCondLst>
                                  <p:childTnLst>
                                    <p:set>
                                      <p:cBhvr>
                                        <p:cTn id="79" dur="1" fill="hold">
                                          <p:stCondLst>
                                            <p:cond delay="0"/>
                                          </p:stCondLst>
                                        </p:cTn>
                                        <p:tgtEl>
                                          <p:spTgt spid="40"/>
                                        </p:tgtEl>
                                        <p:attrNameLst>
                                          <p:attrName>style.visibility</p:attrName>
                                        </p:attrNameLst>
                                      </p:cBhvr>
                                      <p:to>
                                        <p:strVal val="visible"/>
                                      </p:to>
                                    </p:set>
                                  </p:childTnLst>
                                </p:cTn>
                              </p:par>
                            </p:childTnLst>
                          </p:cTn>
                        </p:par>
                      </p:childTnLst>
                    </p:cTn>
                  </p:par>
                  <p:par>
                    <p:cTn id="80" fill="hold" nodeType="clickPar">
                      <p:stCondLst>
                        <p:cond delay="indefinite"/>
                      </p:stCondLst>
                      <p:childTnLst>
                        <p:par>
                          <p:cTn id="81" fill="hold">
                            <p:stCondLst>
                              <p:cond delay="0"/>
                            </p:stCondLst>
                            <p:childTnLst>
                              <p:par>
                                <p:cTn id="82" presetID="1" presetClass="entr" presetSubtype="0" fill="hold" grpId="0" nodeType="clickEffect">
                                  <p:stCondLst>
                                    <p:cond delay="0"/>
                                  </p:stCondLst>
                                  <p:childTnLst>
                                    <p:set>
                                      <p:cBhvr>
                                        <p:cTn id="83" dur="1" fill="hold">
                                          <p:stCondLst>
                                            <p:cond delay="0"/>
                                          </p:stCondLst>
                                        </p:cTn>
                                        <p:tgtEl>
                                          <p:spTgt spid="45"/>
                                        </p:tgtEl>
                                        <p:attrNameLst>
                                          <p:attrName>style.visibility</p:attrName>
                                        </p:attrNameLst>
                                      </p:cBhvr>
                                      <p:to>
                                        <p:strVal val="visible"/>
                                      </p:to>
                                    </p:set>
                                  </p:childTnLst>
                                </p:cTn>
                              </p:par>
                            </p:childTnLst>
                          </p:cTn>
                        </p:par>
                      </p:childTnLst>
                    </p:cTn>
                  </p:par>
                  <p:par>
                    <p:cTn id="84" fill="hold" nodeType="clickPar">
                      <p:stCondLst>
                        <p:cond delay="indefinite"/>
                      </p:stCondLst>
                      <p:childTnLst>
                        <p:par>
                          <p:cTn id="85" fill="hold">
                            <p:stCondLst>
                              <p:cond delay="0"/>
                            </p:stCondLst>
                            <p:childTnLst>
                              <p:par>
                                <p:cTn id="86" presetID="10" presetClass="entr" presetSubtype="0" fill="hold" nodeType="clickEffect">
                                  <p:stCondLst>
                                    <p:cond delay="0"/>
                                  </p:stCondLst>
                                  <p:childTnLst>
                                    <p:set>
                                      <p:cBhvr>
                                        <p:cTn id="87" dur="1" fill="hold">
                                          <p:stCondLst>
                                            <p:cond delay="0"/>
                                          </p:stCondLst>
                                        </p:cTn>
                                        <p:tgtEl>
                                          <p:spTgt spid="3">
                                            <p:txEl>
                                              <p:pRg st="9" end="9"/>
                                            </p:txEl>
                                          </p:spTgt>
                                        </p:tgtEl>
                                        <p:attrNameLst>
                                          <p:attrName>style.visibility</p:attrName>
                                        </p:attrNameLst>
                                      </p:cBhvr>
                                      <p:to>
                                        <p:strVal val="visible"/>
                                      </p:to>
                                    </p:set>
                                    <p:animEffect transition="in" filter="fade">
                                      <p:cBhvr>
                                        <p:cTn id="88" dur="500"/>
                                        <p:tgtEl>
                                          <p:spTgt spid="3">
                                            <p:txEl>
                                              <p:pRg st="9" end="9"/>
                                            </p:txEl>
                                          </p:spTgt>
                                        </p:tgtEl>
                                      </p:cBhvr>
                                    </p:animEffect>
                                  </p:childTnLst>
                                </p:cTn>
                              </p:par>
                            </p:childTnLst>
                          </p:cTn>
                        </p:par>
                      </p:childTnLst>
                    </p:cTn>
                  </p:par>
                  <p:par>
                    <p:cTn id="89" fill="hold" nodeType="clickPar">
                      <p:stCondLst>
                        <p:cond delay="indefinite"/>
                      </p:stCondLst>
                      <p:childTnLst>
                        <p:par>
                          <p:cTn id="90" fill="hold">
                            <p:stCondLst>
                              <p:cond delay="0"/>
                            </p:stCondLst>
                            <p:childTnLst>
                              <p:par>
                                <p:cTn id="91" presetID="10" presetClass="entr" presetSubtype="0" fill="hold" nodeType="clickEffect">
                                  <p:stCondLst>
                                    <p:cond delay="0"/>
                                  </p:stCondLst>
                                  <p:childTnLst>
                                    <p:set>
                                      <p:cBhvr>
                                        <p:cTn id="92" dur="1" fill="hold">
                                          <p:stCondLst>
                                            <p:cond delay="0"/>
                                          </p:stCondLst>
                                        </p:cTn>
                                        <p:tgtEl>
                                          <p:spTgt spid="3">
                                            <p:txEl>
                                              <p:pRg st="10" end="10"/>
                                            </p:txEl>
                                          </p:spTgt>
                                        </p:tgtEl>
                                        <p:attrNameLst>
                                          <p:attrName>style.visibility</p:attrName>
                                        </p:attrNameLst>
                                      </p:cBhvr>
                                      <p:to>
                                        <p:strVal val="visible"/>
                                      </p:to>
                                    </p:set>
                                    <p:animEffect transition="in" filter="fade">
                                      <p:cBhvr>
                                        <p:cTn id="93"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8" grpId="0"/>
      <p:bldP spid="29" grpId="0"/>
      <p:bldP spid="30" grpId="0"/>
      <p:bldP spid="31" grpId="0"/>
      <p:bldP spid="32" grpId="0"/>
      <p:bldP spid="33" grpId="0"/>
      <p:bldP spid="34" grpId="0"/>
      <p:bldP spid="35" grpId="0"/>
      <p:bldP spid="41" grpId="0"/>
      <p:bldP spid="42" grpId="0"/>
      <p:bldP spid="43" grpId="0"/>
      <p:bldP spid="44" grpId="0"/>
      <p:bldP spid="45" grpId="0"/>
      <p:bldP spid="46" grpId="0"/>
      <p:bldP spid="47"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Example for Disk Arm Scheduling Algorithm [Exercise]</a:t>
            </a:r>
          </a:p>
        </p:txBody>
      </p:sp>
      <p:sp>
        <p:nvSpPr>
          <p:cNvPr id="3" name="Content Placeholder 2"/>
          <p:cNvSpPr>
            <a:spLocks noGrp="1"/>
          </p:cNvSpPr>
          <p:nvPr>
            <p:ph idx="1"/>
          </p:nvPr>
        </p:nvSpPr>
        <p:spPr/>
        <p:txBody>
          <a:bodyPr/>
          <a:lstStyle/>
          <a:p>
            <a:r>
              <a:rPr lang="en-GB"/>
              <a:t>Suppose that a disk drive has 200 cylinders, numbered 0 to 199 and order of request is: (82,170,43,140,24,16,190). And current position of Read/Write head is : 50.</a:t>
            </a:r>
          </a:p>
          <a:p>
            <a:r>
              <a:rPr lang="en-US"/>
              <a:t>Starting from the current head position, what is the total distance (in cylinders) that the disk arm moves to satisfy all the pending requests, for each of the following disk scheduling Algorithms?</a:t>
            </a:r>
          </a:p>
          <a:p>
            <a:pPr lvl="1"/>
            <a:r>
              <a:rPr lang="en-GB"/>
              <a:t>FCFS/FIFO (642)</a:t>
            </a:r>
          </a:p>
          <a:p>
            <a:pPr lvl="1"/>
            <a:r>
              <a:rPr lang="en-GB"/>
              <a:t>SSTF (208)</a:t>
            </a:r>
          </a:p>
          <a:p>
            <a:pPr lvl="1"/>
            <a:r>
              <a:rPr lang="en-GB"/>
              <a:t>SCAN (332)</a:t>
            </a:r>
          </a:p>
          <a:p>
            <a:pPr lvl="1"/>
            <a:r>
              <a:rPr lang="en-GB"/>
              <a:t>C-SCAN (391)</a:t>
            </a:r>
          </a:p>
          <a:p>
            <a:pPr lvl="1"/>
            <a:r>
              <a:rPr lang="en-GB"/>
              <a:t>LOOK (314)</a:t>
            </a:r>
          </a:p>
          <a:p>
            <a:pPr lvl="1"/>
            <a:r>
              <a:rPr lang="en-GB"/>
              <a:t>C-LOOK (341)</a:t>
            </a:r>
            <a:endParaRPr lang="en-US"/>
          </a:p>
        </p:txBody>
      </p:sp>
    </p:spTree>
    <p:extLst>
      <p:ext uri="{BB962C8B-B14F-4D97-AF65-F5344CB8AC3E}">
        <p14:creationId xmlns:p14="http://schemas.microsoft.com/office/powerpoint/2010/main" val="2367408782"/>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7" end="7"/>
                                            </p:txEl>
                                          </p:spTgt>
                                        </p:tgtEl>
                                        <p:attrNameLst>
                                          <p:attrName>style.visibility</p:attrName>
                                        </p:attrNameLst>
                                      </p:cBhvr>
                                      <p:to>
                                        <p:strVal val="visible"/>
                                      </p:to>
                                    </p:set>
                                    <p:animEffect transition="in" filter="fade">
                                      <p:cBhvr>
                                        <p:cTn id="13" dur="500"/>
                                        <p:tgtEl>
                                          <p:spTgt spid="3">
                                            <p:txEl>
                                              <p:pRg st="7" end="7"/>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2" end="2"/>
                                            </p:txEl>
                                          </p:spTgt>
                                        </p:tgtEl>
                                        <p:attrNameLst>
                                          <p:attrName>style.visibility</p:attrName>
                                        </p:attrNameLst>
                                      </p:cBhvr>
                                      <p:to>
                                        <p:strVal val="visible"/>
                                      </p:to>
                                    </p:set>
                                    <p:animEffect transition="in" filter="fade">
                                      <p:cBhvr>
                                        <p:cTn id="16" dur="500"/>
                                        <p:tgtEl>
                                          <p:spTgt spid="3">
                                            <p:txEl>
                                              <p:pRg st="2" end="2"/>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fade">
                                      <p:cBhvr>
                                        <p:cTn id="19" dur="500"/>
                                        <p:tgtEl>
                                          <p:spTgt spid="3">
                                            <p:txEl>
                                              <p:pRg st="3" end="3"/>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animEffect transition="in" filter="fade">
                                      <p:cBhvr>
                                        <p:cTn id="25" dur="500"/>
                                        <p:tgtEl>
                                          <p:spTgt spid="3">
                                            <p:txEl>
                                              <p:pRg st="5" end="5"/>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3">
                                            <p:txEl>
                                              <p:pRg st="6" end="6"/>
                                            </p:txEl>
                                          </p:spTgt>
                                        </p:tgtEl>
                                        <p:attrNameLst>
                                          <p:attrName>style.visibility</p:attrName>
                                        </p:attrNameLst>
                                      </p:cBhvr>
                                      <p:to>
                                        <p:strVal val="visible"/>
                                      </p:to>
                                    </p:set>
                                    <p:animEffect transition="in" filter="fade">
                                      <p:cBhvr>
                                        <p:cTn id="28"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RAID</a:t>
            </a:r>
          </a:p>
        </p:txBody>
      </p:sp>
      <p:sp>
        <p:nvSpPr>
          <p:cNvPr id="3" name="Content Placeholder 2"/>
          <p:cNvSpPr>
            <a:spLocks noGrp="1"/>
          </p:cNvSpPr>
          <p:nvPr>
            <p:ph idx="1"/>
          </p:nvPr>
        </p:nvSpPr>
        <p:spPr/>
        <p:txBody>
          <a:bodyPr/>
          <a:lstStyle/>
          <a:p>
            <a:r>
              <a:rPr lang="en-US" dirty="0"/>
              <a:t>RAID (</a:t>
            </a:r>
            <a:r>
              <a:rPr lang="en-US" b="1" dirty="0">
                <a:solidFill>
                  <a:schemeClr val="accent6"/>
                </a:solidFill>
              </a:rPr>
              <a:t>Redundant Array of Independent Disks</a:t>
            </a:r>
            <a:r>
              <a:rPr lang="en-US" dirty="0"/>
              <a:t>)</a:t>
            </a:r>
          </a:p>
          <a:p>
            <a:r>
              <a:rPr lang="en-US" dirty="0"/>
              <a:t>RAID is a </a:t>
            </a:r>
            <a:r>
              <a:rPr lang="en-US" b="1" dirty="0">
                <a:solidFill>
                  <a:schemeClr val="accent6"/>
                </a:solidFill>
              </a:rPr>
              <a:t>data storage virtualization technology that combines multiple physical disk drive components into a single logical unit for the purposes of data redundancy, performance improvement, large storage capacity or all</a:t>
            </a:r>
            <a:r>
              <a:rPr lang="en-US" dirty="0"/>
              <a:t>.</a:t>
            </a:r>
          </a:p>
          <a:p>
            <a:r>
              <a:rPr lang="en-US" b="1" dirty="0">
                <a:solidFill>
                  <a:schemeClr val="accent6"/>
                </a:solidFill>
              </a:rPr>
              <a:t>Data is distributed across the drives </a:t>
            </a:r>
            <a:r>
              <a:rPr lang="en-US" dirty="0"/>
              <a:t>in one of several ways, referred to as RAID levels, depending on the required level of redundancy and performance.</a:t>
            </a:r>
          </a:p>
          <a:p>
            <a:r>
              <a:rPr lang="en-US" dirty="0"/>
              <a:t>All RAID have the property that the </a:t>
            </a:r>
            <a:r>
              <a:rPr lang="en-US" b="1" dirty="0">
                <a:solidFill>
                  <a:schemeClr val="accent6"/>
                </a:solidFill>
              </a:rPr>
              <a:t>data are distributed over drives, to allow parallel operation</a:t>
            </a:r>
            <a:r>
              <a:rPr lang="en-US" dirty="0"/>
              <a:t>.</a:t>
            </a:r>
          </a:p>
          <a:p>
            <a:r>
              <a:rPr lang="en-US" dirty="0"/>
              <a:t>There are </a:t>
            </a:r>
            <a:r>
              <a:rPr lang="en-US" b="1" dirty="0">
                <a:solidFill>
                  <a:schemeClr val="accent6"/>
                </a:solidFill>
              </a:rPr>
              <a:t>7 levels of RAID</a:t>
            </a:r>
            <a:r>
              <a:rPr lang="en-US" dirty="0"/>
              <a:t>.</a:t>
            </a:r>
          </a:p>
        </p:txBody>
      </p:sp>
    </p:spTree>
    <p:extLst>
      <p:ext uri="{BB962C8B-B14F-4D97-AF65-F5344CB8AC3E}">
        <p14:creationId xmlns:p14="http://schemas.microsoft.com/office/powerpoint/2010/main" val="60590131"/>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nodeType="clickPar">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nodeType="clickPar">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nodeType="clickPar">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RAID 0 (Striping)</a:t>
            </a:r>
          </a:p>
        </p:txBody>
      </p:sp>
      <p:sp>
        <p:nvSpPr>
          <p:cNvPr id="3" name="Content Placeholder 2"/>
          <p:cNvSpPr>
            <a:spLocks noGrp="1"/>
          </p:cNvSpPr>
          <p:nvPr>
            <p:ph idx="1"/>
          </p:nvPr>
        </p:nvSpPr>
        <p:spPr>
          <a:xfrm>
            <a:off x="131180" y="863444"/>
            <a:ext cx="7897295" cy="5590565"/>
          </a:xfrm>
        </p:spPr>
        <p:txBody>
          <a:bodyPr/>
          <a:lstStyle/>
          <a:p>
            <a:r>
              <a:rPr lang="en-US" sz="2300"/>
              <a:t>It </a:t>
            </a:r>
            <a:r>
              <a:rPr lang="en-US" sz="2300" b="1">
                <a:solidFill>
                  <a:schemeClr val="accent6"/>
                </a:solidFill>
              </a:rPr>
              <a:t>splits data (file) into blocks of data</a:t>
            </a:r>
            <a:r>
              <a:rPr lang="en-US" sz="2300"/>
              <a:t>.</a:t>
            </a:r>
          </a:p>
          <a:p>
            <a:r>
              <a:rPr lang="en-US" sz="2300" b="1">
                <a:solidFill>
                  <a:schemeClr val="accent6"/>
                </a:solidFill>
              </a:rPr>
              <a:t>Stripe the blocks across disks </a:t>
            </a:r>
            <a:r>
              <a:rPr lang="en-US" sz="2300"/>
              <a:t>in the system.</a:t>
            </a:r>
          </a:p>
          <a:p>
            <a:r>
              <a:rPr lang="en-US" sz="2300"/>
              <a:t>In the diagram to the right, the </a:t>
            </a:r>
            <a:r>
              <a:rPr lang="en-US" sz="2300" b="1">
                <a:solidFill>
                  <a:schemeClr val="accent6"/>
                </a:solidFill>
              </a:rPr>
              <a:t>odd blocks are written to disk 1 and the even blocks to disk 2</a:t>
            </a:r>
            <a:r>
              <a:rPr lang="en-US" sz="2300"/>
              <a:t>.</a:t>
            </a:r>
          </a:p>
          <a:p>
            <a:r>
              <a:rPr lang="en-US" sz="2300"/>
              <a:t>It is </a:t>
            </a:r>
            <a:r>
              <a:rPr lang="en-US" sz="2300" b="1">
                <a:solidFill>
                  <a:schemeClr val="accent6"/>
                </a:solidFill>
              </a:rPr>
              <a:t>easy to implement</a:t>
            </a:r>
            <a:r>
              <a:rPr lang="en-US" sz="2300"/>
              <a:t>.</a:t>
            </a:r>
          </a:p>
          <a:p>
            <a:r>
              <a:rPr lang="en-US" sz="2300" b="1">
                <a:solidFill>
                  <a:schemeClr val="accent6"/>
                </a:solidFill>
              </a:rPr>
              <a:t>No parity calculation </a:t>
            </a:r>
            <a:r>
              <a:rPr lang="en-US" sz="2300"/>
              <a:t>overhead is involved.</a:t>
            </a:r>
          </a:p>
          <a:p>
            <a:r>
              <a:rPr lang="en-US" sz="2300"/>
              <a:t>It </a:t>
            </a:r>
            <a:r>
              <a:rPr lang="en-US" sz="2300" b="1">
                <a:solidFill>
                  <a:schemeClr val="accent6"/>
                </a:solidFill>
              </a:rPr>
              <a:t>provides good performance </a:t>
            </a:r>
            <a:r>
              <a:rPr lang="en-US" sz="2300"/>
              <a:t>by spreading the load across many channels and drives.</a:t>
            </a:r>
          </a:p>
          <a:p>
            <a:r>
              <a:rPr lang="en-US" sz="2300"/>
              <a:t>It </a:t>
            </a:r>
            <a:r>
              <a:rPr lang="en-US" sz="2300" b="1">
                <a:solidFill>
                  <a:schemeClr val="accent6"/>
                </a:solidFill>
              </a:rPr>
              <a:t>provides no redundancy or error detection</a:t>
            </a:r>
            <a:r>
              <a:rPr lang="en-US" sz="2300"/>
              <a:t>.</a:t>
            </a:r>
          </a:p>
          <a:p>
            <a:r>
              <a:rPr lang="en-US" sz="2300" b="1">
                <a:solidFill>
                  <a:schemeClr val="accent6"/>
                </a:solidFill>
              </a:rPr>
              <a:t>Not true RAID because there is no fault tolerance</a:t>
            </a:r>
            <a:r>
              <a:rPr lang="en-US" sz="2300"/>
              <a:t>. The failure of just one drive will result in all data in an array being lost.</a:t>
            </a:r>
          </a:p>
          <a:p>
            <a:r>
              <a:rPr lang="en-US" sz="2300"/>
              <a:t>After certain amount of drives, performance does not increase significantly.</a:t>
            </a:r>
          </a:p>
          <a:p>
            <a:r>
              <a:rPr lang="en-US" sz="2300"/>
              <a:t>It </a:t>
            </a:r>
            <a:r>
              <a:rPr lang="en-US" sz="2300" b="1">
                <a:solidFill>
                  <a:schemeClr val="accent6"/>
                </a:solidFill>
              </a:rPr>
              <a:t>requires minimum 2 drives </a:t>
            </a:r>
            <a:r>
              <a:rPr lang="en-US" sz="2300"/>
              <a:t>to implement.</a:t>
            </a:r>
          </a:p>
        </p:txBody>
      </p:sp>
      <p:pic>
        <p:nvPicPr>
          <p:cNvPr id="4" name="Picture 2" descr="RAID 0 diagram"/>
          <p:cNvPicPr>
            <a:picLocks noChangeAspect="1" noChangeArrowheads="1"/>
          </p:cNvPicPr>
          <p:nvPr/>
        </p:nvPicPr>
        <p:blipFill>
          <a:blip r:embed="rId2">
            <a:extLst>
              <a:ext uri="{BEBA8EAE-BF5A-486C-A8C5-ECC9F3942E4B}">
                <a14:imgProps xmlns:a14="http://schemas.microsoft.com/office/drawing/2010/main">
                  <a14:imgLayer r:embed="rId3">
                    <a14:imgEffect>
                      <a14:brightnessContrast contrast="40000"/>
                    </a14:imgEffect>
                  </a14:imgLayer>
                </a14:imgProps>
              </a:ext>
              <a:ext uri="{28A0092B-C50C-407E-A947-70E740481C1C}">
                <a14:useLocalDpi xmlns:a14="http://schemas.microsoft.com/office/drawing/2010/main" val="0"/>
              </a:ext>
            </a:extLst>
          </a:blip>
          <a:srcRect l="17088" t="23579" r="17288" b="9053"/>
          <a:stretch>
            <a:fillRect/>
          </a:stretch>
        </p:blipFill>
        <p:spPr bwMode="auto">
          <a:xfrm>
            <a:off x="8183722" y="863444"/>
            <a:ext cx="4008278" cy="4114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12553906"/>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0" presetClass="entr" presetSubtype="0" fill="hold" nodeType="withEffect">
                                  <p:stCondLst>
                                    <p:cond delay="0"/>
                                  </p:stCondLst>
                                  <p:childTnLst>
                                    <p:set>
                                      <p:cBhvr>
                                        <p:cTn id="8" dur="1" fill="hold">
                                          <p:stCondLst>
                                            <p:cond delay="0"/>
                                          </p:stCondLst>
                                        </p:cTn>
                                        <p:tgtEl>
                                          <p:spTgt spid="3">
                                            <p:txEl>
                                              <p:pRg st="0" end="0"/>
                                            </p:txEl>
                                          </p:spTgt>
                                        </p:tgtEl>
                                        <p:attrNameLst>
                                          <p:attrName>style.visibility</p:attrName>
                                        </p:attrNameLst>
                                      </p:cBhvr>
                                      <p:to>
                                        <p:strVal val="visible"/>
                                      </p:to>
                                    </p:set>
                                    <p:animEffect transition="in" filter="fade">
                                      <p:cBhvr>
                                        <p:cTn id="9" dur="500"/>
                                        <p:tgtEl>
                                          <p:spTgt spid="3">
                                            <p:txEl>
                                              <p:pRg st="0" end="0"/>
                                            </p:txEl>
                                          </p:spTgt>
                                        </p:tgtEl>
                                      </p:cBhvr>
                                    </p:animEffect>
                                  </p:childTnLst>
                                </p:cTn>
                              </p:par>
                            </p:childTnLst>
                          </p:cTn>
                        </p:par>
                      </p:childTnLst>
                    </p:cTn>
                  </p:par>
                  <p:par>
                    <p:cTn id="10" fill="hold" nodeType="clickPar">
                      <p:stCondLst>
                        <p:cond delay="indefinite"/>
                      </p:stCondLst>
                      <p:childTnLst>
                        <p:par>
                          <p:cTn id="11" fill="hold">
                            <p:stCondLst>
                              <p:cond delay="0"/>
                            </p:stCondLst>
                            <p:childTnLst>
                              <p:par>
                                <p:cTn id="12" presetID="10"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500"/>
                                        <p:tgtEl>
                                          <p:spTgt spid="3">
                                            <p:txEl>
                                              <p:pRg st="1" end="1"/>
                                            </p:txEl>
                                          </p:spTgt>
                                        </p:tgtEl>
                                      </p:cBhvr>
                                    </p:animEffect>
                                  </p:childTnLst>
                                </p:cTn>
                              </p:par>
                            </p:childTnLst>
                          </p:cTn>
                        </p:par>
                      </p:childTnLst>
                    </p:cTn>
                  </p:par>
                  <p:par>
                    <p:cTn id="15" fill="hold" nodeType="clickPar">
                      <p:stCondLst>
                        <p:cond delay="indefinite"/>
                      </p:stCondLst>
                      <p:childTnLst>
                        <p:par>
                          <p:cTn id="16"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Effect transition="in" filter="fade">
                                      <p:cBhvr>
                                        <p:cTn id="19" dur="500"/>
                                        <p:tgtEl>
                                          <p:spTgt spid="3">
                                            <p:txEl>
                                              <p:pRg st="2" end="2"/>
                                            </p:txEl>
                                          </p:spTgt>
                                        </p:tgtEl>
                                      </p:cBhvr>
                                    </p:animEffect>
                                  </p:childTnLst>
                                </p:cTn>
                              </p:par>
                            </p:childTnLst>
                          </p:cTn>
                        </p:par>
                      </p:childTnLst>
                    </p:cTn>
                  </p:par>
                  <p:par>
                    <p:cTn id="20" fill="hold" nodeType="clickPar">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3">
                                            <p:txEl>
                                              <p:pRg st="3" end="3"/>
                                            </p:txEl>
                                          </p:spTgt>
                                        </p:tgtEl>
                                        <p:attrNameLst>
                                          <p:attrName>style.visibility</p:attrName>
                                        </p:attrNameLst>
                                      </p:cBhvr>
                                      <p:to>
                                        <p:strVal val="visible"/>
                                      </p:to>
                                    </p:set>
                                    <p:animEffect transition="in" filter="fade">
                                      <p:cBhvr>
                                        <p:cTn id="24" dur="500"/>
                                        <p:tgtEl>
                                          <p:spTgt spid="3">
                                            <p:txEl>
                                              <p:pRg st="3" end="3"/>
                                            </p:txEl>
                                          </p:spTgt>
                                        </p:tgtEl>
                                      </p:cBhvr>
                                    </p:animEffect>
                                  </p:childTnLst>
                                </p:cTn>
                              </p:par>
                            </p:childTnLst>
                          </p:cTn>
                        </p:par>
                      </p:childTnLst>
                    </p:cTn>
                  </p:par>
                  <p:par>
                    <p:cTn id="25" fill="hold" nodeType="clickPar">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3">
                                            <p:txEl>
                                              <p:pRg st="4" end="4"/>
                                            </p:txEl>
                                          </p:spTgt>
                                        </p:tgtEl>
                                        <p:attrNameLst>
                                          <p:attrName>style.visibility</p:attrName>
                                        </p:attrNameLst>
                                      </p:cBhvr>
                                      <p:to>
                                        <p:strVal val="visible"/>
                                      </p:to>
                                    </p:set>
                                    <p:animEffect transition="in" filter="fade">
                                      <p:cBhvr>
                                        <p:cTn id="29" dur="500"/>
                                        <p:tgtEl>
                                          <p:spTgt spid="3">
                                            <p:txEl>
                                              <p:pRg st="4" end="4"/>
                                            </p:txEl>
                                          </p:spTgt>
                                        </p:tgtEl>
                                      </p:cBhvr>
                                    </p:animEffect>
                                  </p:childTnLst>
                                </p:cTn>
                              </p:par>
                            </p:childTnLst>
                          </p:cTn>
                        </p:par>
                      </p:childTnLst>
                    </p:cTn>
                  </p:par>
                  <p:par>
                    <p:cTn id="30" fill="hold" nodeType="clickPar">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3">
                                            <p:txEl>
                                              <p:pRg st="5" end="5"/>
                                            </p:txEl>
                                          </p:spTgt>
                                        </p:tgtEl>
                                        <p:attrNameLst>
                                          <p:attrName>style.visibility</p:attrName>
                                        </p:attrNameLst>
                                      </p:cBhvr>
                                      <p:to>
                                        <p:strVal val="visible"/>
                                      </p:to>
                                    </p:set>
                                    <p:animEffect transition="in" filter="fade">
                                      <p:cBhvr>
                                        <p:cTn id="34" dur="500"/>
                                        <p:tgtEl>
                                          <p:spTgt spid="3">
                                            <p:txEl>
                                              <p:pRg st="5" end="5"/>
                                            </p:txEl>
                                          </p:spTgt>
                                        </p:tgtEl>
                                      </p:cBhvr>
                                    </p:animEffect>
                                  </p:childTnLst>
                                </p:cTn>
                              </p:par>
                            </p:childTnLst>
                          </p:cTn>
                        </p:par>
                      </p:childTnLst>
                    </p:cTn>
                  </p:par>
                  <p:par>
                    <p:cTn id="35" fill="hold" nodeType="clickPar">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3">
                                            <p:txEl>
                                              <p:pRg st="6" end="6"/>
                                            </p:txEl>
                                          </p:spTgt>
                                        </p:tgtEl>
                                        <p:attrNameLst>
                                          <p:attrName>style.visibility</p:attrName>
                                        </p:attrNameLst>
                                      </p:cBhvr>
                                      <p:to>
                                        <p:strVal val="visible"/>
                                      </p:to>
                                    </p:set>
                                    <p:animEffect transition="in" filter="fade">
                                      <p:cBhvr>
                                        <p:cTn id="39" dur="500"/>
                                        <p:tgtEl>
                                          <p:spTgt spid="3">
                                            <p:txEl>
                                              <p:pRg st="6" end="6"/>
                                            </p:txEl>
                                          </p:spTgt>
                                        </p:tgtEl>
                                      </p:cBhvr>
                                    </p:animEffect>
                                  </p:childTnLst>
                                </p:cTn>
                              </p:par>
                            </p:childTnLst>
                          </p:cTn>
                        </p:par>
                      </p:childTnLst>
                    </p:cTn>
                  </p:par>
                  <p:par>
                    <p:cTn id="40" fill="hold" nodeType="clickPar">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3">
                                            <p:txEl>
                                              <p:pRg st="7" end="7"/>
                                            </p:txEl>
                                          </p:spTgt>
                                        </p:tgtEl>
                                        <p:attrNameLst>
                                          <p:attrName>style.visibility</p:attrName>
                                        </p:attrNameLst>
                                      </p:cBhvr>
                                      <p:to>
                                        <p:strVal val="visible"/>
                                      </p:to>
                                    </p:set>
                                    <p:animEffect transition="in" filter="fade">
                                      <p:cBhvr>
                                        <p:cTn id="44" dur="500"/>
                                        <p:tgtEl>
                                          <p:spTgt spid="3">
                                            <p:txEl>
                                              <p:pRg st="7" end="7"/>
                                            </p:txEl>
                                          </p:spTgt>
                                        </p:tgtEl>
                                      </p:cBhvr>
                                    </p:animEffect>
                                  </p:childTnLst>
                                </p:cTn>
                              </p:par>
                            </p:childTnLst>
                          </p:cTn>
                        </p:par>
                      </p:childTnLst>
                    </p:cTn>
                  </p:par>
                  <p:par>
                    <p:cTn id="45" fill="hold" nodeType="clickPar">
                      <p:stCondLst>
                        <p:cond delay="indefinite"/>
                      </p:stCondLst>
                      <p:childTnLst>
                        <p:par>
                          <p:cTn id="46" fill="hold">
                            <p:stCondLst>
                              <p:cond delay="0"/>
                            </p:stCondLst>
                            <p:childTnLst>
                              <p:par>
                                <p:cTn id="47" presetID="10" presetClass="entr" presetSubtype="0" fill="hold" nodeType="clickEffect">
                                  <p:stCondLst>
                                    <p:cond delay="0"/>
                                  </p:stCondLst>
                                  <p:childTnLst>
                                    <p:set>
                                      <p:cBhvr>
                                        <p:cTn id="48" dur="1" fill="hold">
                                          <p:stCondLst>
                                            <p:cond delay="0"/>
                                          </p:stCondLst>
                                        </p:cTn>
                                        <p:tgtEl>
                                          <p:spTgt spid="3">
                                            <p:txEl>
                                              <p:pRg st="8" end="8"/>
                                            </p:txEl>
                                          </p:spTgt>
                                        </p:tgtEl>
                                        <p:attrNameLst>
                                          <p:attrName>style.visibility</p:attrName>
                                        </p:attrNameLst>
                                      </p:cBhvr>
                                      <p:to>
                                        <p:strVal val="visible"/>
                                      </p:to>
                                    </p:set>
                                    <p:animEffect transition="in" filter="fade">
                                      <p:cBhvr>
                                        <p:cTn id="49" dur="500"/>
                                        <p:tgtEl>
                                          <p:spTgt spid="3">
                                            <p:txEl>
                                              <p:pRg st="8" end="8"/>
                                            </p:txEl>
                                          </p:spTgt>
                                        </p:tgtEl>
                                      </p:cBhvr>
                                    </p:animEffect>
                                  </p:childTnLst>
                                </p:cTn>
                              </p:par>
                            </p:childTnLst>
                          </p:cTn>
                        </p:par>
                      </p:childTnLst>
                    </p:cTn>
                  </p:par>
                  <p:par>
                    <p:cTn id="50" fill="hold" nodeType="clickPar">
                      <p:stCondLst>
                        <p:cond delay="indefinite"/>
                      </p:stCondLst>
                      <p:childTnLst>
                        <p:par>
                          <p:cTn id="51" fill="hold">
                            <p:stCondLst>
                              <p:cond delay="0"/>
                            </p:stCondLst>
                            <p:childTnLst>
                              <p:par>
                                <p:cTn id="52" presetID="10" presetClass="entr" presetSubtype="0" fill="hold" nodeType="clickEffect">
                                  <p:stCondLst>
                                    <p:cond delay="0"/>
                                  </p:stCondLst>
                                  <p:childTnLst>
                                    <p:set>
                                      <p:cBhvr>
                                        <p:cTn id="53" dur="1" fill="hold">
                                          <p:stCondLst>
                                            <p:cond delay="0"/>
                                          </p:stCondLst>
                                        </p:cTn>
                                        <p:tgtEl>
                                          <p:spTgt spid="3">
                                            <p:txEl>
                                              <p:pRg st="9" end="9"/>
                                            </p:txEl>
                                          </p:spTgt>
                                        </p:tgtEl>
                                        <p:attrNameLst>
                                          <p:attrName>style.visibility</p:attrName>
                                        </p:attrNameLst>
                                      </p:cBhvr>
                                      <p:to>
                                        <p:strVal val="visible"/>
                                      </p:to>
                                    </p:set>
                                    <p:animEffect transition="in" filter="fade">
                                      <p:cBhvr>
                                        <p:cTn id="54"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RAID 1 (Mirroring)</a:t>
            </a:r>
          </a:p>
        </p:txBody>
      </p:sp>
      <p:sp>
        <p:nvSpPr>
          <p:cNvPr id="3" name="Content Placeholder 2"/>
          <p:cNvSpPr>
            <a:spLocks noGrp="1"/>
          </p:cNvSpPr>
          <p:nvPr>
            <p:ph idx="1"/>
          </p:nvPr>
        </p:nvSpPr>
        <p:spPr>
          <a:xfrm>
            <a:off x="131180" y="863444"/>
            <a:ext cx="7624341" cy="5590565"/>
          </a:xfrm>
        </p:spPr>
        <p:txBody>
          <a:bodyPr/>
          <a:lstStyle/>
          <a:p>
            <a:r>
              <a:rPr lang="en-US" sz="2300"/>
              <a:t>A </a:t>
            </a:r>
            <a:r>
              <a:rPr lang="en-US" sz="2300" b="1">
                <a:solidFill>
                  <a:schemeClr val="accent6"/>
                </a:solidFill>
              </a:rPr>
              <a:t>complete file is stored on a single disk</a:t>
            </a:r>
            <a:r>
              <a:rPr lang="en-US" sz="2300"/>
              <a:t>.</a:t>
            </a:r>
          </a:p>
          <a:p>
            <a:r>
              <a:rPr lang="en-US" sz="2300"/>
              <a:t>A </a:t>
            </a:r>
            <a:r>
              <a:rPr lang="en-US" sz="2300" b="1">
                <a:solidFill>
                  <a:schemeClr val="accent6"/>
                </a:solidFill>
              </a:rPr>
              <a:t>second disk contains an exact copy of the file</a:t>
            </a:r>
            <a:r>
              <a:rPr lang="en-US" sz="2300"/>
              <a:t>.</a:t>
            </a:r>
          </a:p>
          <a:p>
            <a:r>
              <a:rPr lang="en-US" sz="2300"/>
              <a:t>It </a:t>
            </a:r>
            <a:r>
              <a:rPr lang="en-US" sz="2300" b="1">
                <a:solidFill>
                  <a:schemeClr val="accent6"/>
                </a:solidFill>
              </a:rPr>
              <a:t>provides complete redundancy </a:t>
            </a:r>
            <a:r>
              <a:rPr lang="en-US" sz="2300"/>
              <a:t>of data.</a:t>
            </a:r>
          </a:p>
          <a:p>
            <a:r>
              <a:rPr lang="en-US" sz="2300" b="1">
                <a:solidFill>
                  <a:schemeClr val="accent6"/>
                </a:solidFill>
              </a:rPr>
              <a:t>Read</a:t>
            </a:r>
            <a:r>
              <a:rPr lang="en-US" sz="2300"/>
              <a:t> performance can be </a:t>
            </a:r>
            <a:r>
              <a:rPr lang="en-US" sz="2300" b="1">
                <a:solidFill>
                  <a:schemeClr val="accent6"/>
                </a:solidFill>
              </a:rPr>
              <a:t>improved</a:t>
            </a:r>
          </a:p>
          <a:p>
            <a:pPr lvl="1"/>
            <a:r>
              <a:rPr lang="en-US"/>
              <a:t>same file data can be read in parallel</a:t>
            </a:r>
          </a:p>
          <a:p>
            <a:r>
              <a:rPr lang="en-US" sz="2300" b="1">
                <a:solidFill>
                  <a:schemeClr val="accent6"/>
                </a:solidFill>
              </a:rPr>
              <a:t>Write</a:t>
            </a:r>
            <a:r>
              <a:rPr lang="en-US" sz="2300"/>
              <a:t> performance </a:t>
            </a:r>
            <a:r>
              <a:rPr lang="en-US" sz="2300" b="1">
                <a:solidFill>
                  <a:schemeClr val="accent6"/>
                </a:solidFill>
              </a:rPr>
              <a:t>suffers</a:t>
            </a:r>
          </a:p>
          <a:p>
            <a:pPr lvl="1"/>
            <a:r>
              <a:rPr lang="en-US"/>
              <a:t>must write the data out twice</a:t>
            </a:r>
          </a:p>
          <a:p>
            <a:r>
              <a:rPr lang="en-US" sz="2300" b="1">
                <a:solidFill>
                  <a:schemeClr val="accent6"/>
                </a:solidFill>
              </a:rPr>
              <a:t>Most expensive </a:t>
            </a:r>
            <a:r>
              <a:rPr lang="en-US" sz="2300"/>
              <a:t>RAID implementation.</a:t>
            </a:r>
          </a:p>
          <a:p>
            <a:r>
              <a:rPr lang="en-US" sz="2300"/>
              <a:t>It </a:t>
            </a:r>
            <a:r>
              <a:rPr lang="en-US" sz="2300" b="1">
                <a:solidFill>
                  <a:schemeClr val="accent6"/>
                </a:solidFill>
              </a:rPr>
              <a:t>requires twice as much storage space</a:t>
            </a:r>
            <a:r>
              <a:rPr lang="en-US" sz="2300"/>
              <a:t>.</a:t>
            </a:r>
          </a:p>
          <a:p>
            <a:r>
              <a:rPr lang="en-US" sz="2300"/>
              <a:t>In case a </a:t>
            </a:r>
            <a:r>
              <a:rPr lang="en-US" sz="2300" b="1">
                <a:solidFill>
                  <a:schemeClr val="accent6"/>
                </a:solidFill>
              </a:rPr>
              <a:t>drive fails, data do not have to be rebuild</a:t>
            </a:r>
            <a:r>
              <a:rPr lang="en-US" sz="2300"/>
              <a:t>, they just have to be copied to the replacement drive.</a:t>
            </a:r>
          </a:p>
          <a:p>
            <a:r>
              <a:rPr lang="en-US" sz="2300"/>
              <a:t>The main </a:t>
            </a:r>
            <a:r>
              <a:rPr lang="en-US" sz="2300" b="1">
                <a:solidFill>
                  <a:schemeClr val="accent6"/>
                </a:solidFill>
              </a:rPr>
              <a:t>disadvantage is that the effective storage capacity is only half of the total drive capacity </a:t>
            </a:r>
            <a:r>
              <a:rPr lang="en-US" sz="2300"/>
              <a:t>because all data get written twice.</a:t>
            </a:r>
          </a:p>
        </p:txBody>
      </p:sp>
      <p:pic>
        <p:nvPicPr>
          <p:cNvPr id="5" name="Picture 8" descr="RAID 1 diagram"/>
          <p:cNvPicPr>
            <a:picLocks noChangeAspect="1" noChangeArrowheads="1"/>
          </p:cNvPicPr>
          <p:nvPr/>
        </p:nvPicPr>
        <p:blipFill>
          <a:blip r:embed="rId2">
            <a:extLst>
              <a:ext uri="{BEBA8EAE-BF5A-486C-A8C5-ECC9F3942E4B}">
                <a14:imgProps xmlns:a14="http://schemas.microsoft.com/office/drawing/2010/main">
                  <a14:imgLayer r:embed="rId3">
                    <a14:imgEffect>
                      <a14:brightnessContrast contrast="40000"/>
                    </a14:imgEffect>
                  </a14:imgLayer>
                </a14:imgProps>
              </a:ext>
              <a:ext uri="{28A0092B-C50C-407E-A947-70E740481C1C}">
                <a14:useLocalDpi xmlns:a14="http://schemas.microsoft.com/office/drawing/2010/main" val="0"/>
              </a:ext>
            </a:extLst>
          </a:blip>
          <a:srcRect l="17825" t="23790" r="14666" b="9332"/>
          <a:stretch>
            <a:fillRect/>
          </a:stretch>
        </p:blipFill>
        <p:spPr bwMode="auto">
          <a:xfrm>
            <a:off x="7927848" y="863443"/>
            <a:ext cx="4153624" cy="4114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64286909"/>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0" presetClass="entr" presetSubtype="0" fill="hold" nodeType="withEffect">
                                  <p:stCondLst>
                                    <p:cond delay="0"/>
                                  </p:stCondLst>
                                  <p:childTnLst>
                                    <p:set>
                                      <p:cBhvr>
                                        <p:cTn id="8" dur="1" fill="hold">
                                          <p:stCondLst>
                                            <p:cond delay="0"/>
                                          </p:stCondLst>
                                        </p:cTn>
                                        <p:tgtEl>
                                          <p:spTgt spid="3">
                                            <p:txEl>
                                              <p:pRg st="0" end="0"/>
                                            </p:txEl>
                                          </p:spTgt>
                                        </p:tgtEl>
                                        <p:attrNameLst>
                                          <p:attrName>style.visibility</p:attrName>
                                        </p:attrNameLst>
                                      </p:cBhvr>
                                      <p:to>
                                        <p:strVal val="visible"/>
                                      </p:to>
                                    </p:set>
                                    <p:animEffect transition="in" filter="fade">
                                      <p:cBhvr>
                                        <p:cTn id="9" dur="500"/>
                                        <p:tgtEl>
                                          <p:spTgt spid="3">
                                            <p:txEl>
                                              <p:pRg st="0" end="0"/>
                                            </p:txEl>
                                          </p:spTgt>
                                        </p:tgtEl>
                                      </p:cBhvr>
                                    </p:animEffect>
                                  </p:childTnLst>
                                </p:cTn>
                              </p:par>
                            </p:childTnLst>
                          </p:cTn>
                        </p:par>
                      </p:childTnLst>
                    </p:cTn>
                  </p:par>
                  <p:par>
                    <p:cTn id="10" fill="hold" nodeType="clickPar">
                      <p:stCondLst>
                        <p:cond delay="indefinite"/>
                      </p:stCondLst>
                      <p:childTnLst>
                        <p:par>
                          <p:cTn id="11" fill="hold">
                            <p:stCondLst>
                              <p:cond delay="0"/>
                            </p:stCondLst>
                            <p:childTnLst>
                              <p:par>
                                <p:cTn id="12" presetID="10"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500"/>
                                        <p:tgtEl>
                                          <p:spTgt spid="3">
                                            <p:txEl>
                                              <p:pRg st="1" end="1"/>
                                            </p:txEl>
                                          </p:spTgt>
                                        </p:tgtEl>
                                      </p:cBhvr>
                                    </p:animEffect>
                                  </p:childTnLst>
                                </p:cTn>
                              </p:par>
                            </p:childTnLst>
                          </p:cTn>
                        </p:par>
                      </p:childTnLst>
                    </p:cTn>
                  </p:par>
                  <p:par>
                    <p:cTn id="15" fill="hold" nodeType="clickPar">
                      <p:stCondLst>
                        <p:cond delay="indefinite"/>
                      </p:stCondLst>
                      <p:childTnLst>
                        <p:par>
                          <p:cTn id="16"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Effect transition="in" filter="fade">
                                      <p:cBhvr>
                                        <p:cTn id="19" dur="500"/>
                                        <p:tgtEl>
                                          <p:spTgt spid="3">
                                            <p:txEl>
                                              <p:pRg st="2" end="2"/>
                                            </p:txEl>
                                          </p:spTgt>
                                        </p:tgtEl>
                                      </p:cBhvr>
                                    </p:animEffect>
                                  </p:childTnLst>
                                </p:cTn>
                              </p:par>
                            </p:childTnLst>
                          </p:cTn>
                        </p:par>
                      </p:childTnLst>
                    </p:cTn>
                  </p:par>
                  <p:par>
                    <p:cTn id="20" fill="hold" nodeType="clickPar">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3">
                                            <p:txEl>
                                              <p:pRg st="3" end="3"/>
                                            </p:txEl>
                                          </p:spTgt>
                                        </p:tgtEl>
                                        <p:attrNameLst>
                                          <p:attrName>style.visibility</p:attrName>
                                        </p:attrNameLst>
                                      </p:cBhvr>
                                      <p:to>
                                        <p:strVal val="visible"/>
                                      </p:to>
                                    </p:set>
                                    <p:animEffect transition="in" filter="fade">
                                      <p:cBhvr>
                                        <p:cTn id="24" dur="500"/>
                                        <p:tgtEl>
                                          <p:spTgt spid="3">
                                            <p:txEl>
                                              <p:pRg st="3" end="3"/>
                                            </p:txEl>
                                          </p:spTgt>
                                        </p:tgtEl>
                                      </p:cBhvr>
                                    </p:animEffect>
                                  </p:childTnLst>
                                </p:cTn>
                              </p:par>
                            </p:childTnLst>
                          </p:cTn>
                        </p:par>
                      </p:childTnLst>
                    </p:cTn>
                  </p:par>
                  <p:par>
                    <p:cTn id="25" fill="hold" nodeType="clickPar">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3">
                                            <p:txEl>
                                              <p:pRg st="4" end="4"/>
                                            </p:txEl>
                                          </p:spTgt>
                                        </p:tgtEl>
                                        <p:attrNameLst>
                                          <p:attrName>style.visibility</p:attrName>
                                        </p:attrNameLst>
                                      </p:cBhvr>
                                      <p:to>
                                        <p:strVal val="visible"/>
                                      </p:to>
                                    </p:set>
                                    <p:animEffect transition="in" filter="fade">
                                      <p:cBhvr>
                                        <p:cTn id="29" dur="500"/>
                                        <p:tgtEl>
                                          <p:spTgt spid="3">
                                            <p:txEl>
                                              <p:pRg st="4" end="4"/>
                                            </p:txEl>
                                          </p:spTgt>
                                        </p:tgtEl>
                                      </p:cBhvr>
                                    </p:animEffect>
                                  </p:childTnLst>
                                </p:cTn>
                              </p:par>
                            </p:childTnLst>
                          </p:cTn>
                        </p:par>
                      </p:childTnLst>
                    </p:cTn>
                  </p:par>
                  <p:par>
                    <p:cTn id="30" fill="hold" nodeType="clickPar">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3">
                                            <p:txEl>
                                              <p:pRg st="5" end="5"/>
                                            </p:txEl>
                                          </p:spTgt>
                                        </p:tgtEl>
                                        <p:attrNameLst>
                                          <p:attrName>style.visibility</p:attrName>
                                        </p:attrNameLst>
                                      </p:cBhvr>
                                      <p:to>
                                        <p:strVal val="visible"/>
                                      </p:to>
                                    </p:set>
                                    <p:animEffect transition="in" filter="fade">
                                      <p:cBhvr>
                                        <p:cTn id="34" dur="500"/>
                                        <p:tgtEl>
                                          <p:spTgt spid="3">
                                            <p:txEl>
                                              <p:pRg st="5" end="5"/>
                                            </p:txEl>
                                          </p:spTgt>
                                        </p:tgtEl>
                                      </p:cBhvr>
                                    </p:animEffect>
                                  </p:childTnLst>
                                </p:cTn>
                              </p:par>
                            </p:childTnLst>
                          </p:cTn>
                        </p:par>
                      </p:childTnLst>
                    </p:cTn>
                  </p:par>
                  <p:par>
                    <p:cTn id="35" fill="hold" nodeType="clickPar">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3">
                                            <p:txEl>
                                              <p:pRg st="6" end="6"/>
                                            </p:txEl>
                                          </p:spTgt>
                                        </p:tgtEl>
                                        <p:attrNameLst>
                                          <p:attrName>style.visibility</p:attrName>
                                        </p:attrNameLst>
                                      </p:cBhvr>
                                      <p:to>
                                        <p:strVal val="visible"/>
                                      </p:to>
                                    </p:set>
                                    <p:animEffect transition="in" filter="fade">
                                      <p:cBhvr>
                                        <p:cTn id="39" dur="500"/>
                                        <p:tgtEl>
                                          <p:spTgt spid="3">
                                            <p:txEl>
                                              <p:pRg st="6" end="6"/>
                                            </p:txEl>
                                          </p:spTgt>
                                        </p:tgtEl>
                                      </p:cBhvr>
                                    </p:animEffect>
                                  </p:childTnLst>
                                </p:cTn>
                              </p:par>
                            </p:childTnLst>
                          </p:cTn>
                        </p:par>
                      </p:childTnLst>
                    </p:cTn>
                  </p:par>
                  <p:par>
                    <p:cTn id="40" fill="hold" nodeType="clickPar">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3">
                                            <p:txEl>
                                              <p:pRg st="7" end="7"/>
                                            </p:txEl>
                                          </p:spTgt>
                                        </p:tgtEl>
                                        <p:attrNameLst>
                                          <p:attrName>style.visibility</p:attrName>
                                        </p:attrNameLst>
                                      </p:cBhvr>
                                      <p:to>
                                        <p:strVal val="visible"/>
                                      </p:to>
                                    </p:set>
                                    <p:animEffect transition="in" filter="fade">
                                      <p:cBhvr>
                                        <p:cTn id="44" dur="500"/>
                                        <p:tgtEl>
                                          <p:spTgt spid="3">
                                            <p:txEl>
                                              <p:pRg st="7" end="7"/>
                                            </p:txEl>
                                          </p:spTgt>
                                        </p:tgtEl>
                                      </p:cBhvr>
                                    </p:animEffect>
                                  </p:childTnLst>
                                </p:cTn>
                              </p:par>
                            </p:childTnLst>
                          </p:cTn>
                        </p:par>
                      </p:childTnLst>
                    </p:cTn>
                  </p:par>
                  <p:par>
                    <p:cTn id="45" fill="hold" nodeType="clickPar">
                      <p:stCondLst>
                        <p:cond delay="indefinite"/>
                      </p:stCondLst>
                      <p:childTnLst>
                        <p:par>
                          <p:cTn id="46" fill="hold">
                            <p:stCondLst>
                              <p:cond delay="0"/>
                            </p:stCondLst>
                            <p:childTnLst>
                              <p:par>
                                <p:cTn id="47" presetID="10" presetClass="entr" presetSubtype="0" fill="hold" nodeType="clickEffect">
                                  <p:stCondLst>
                                    <p:cond delay="0"/>
                                  </p:stCondLst>
                                  <p:childTnLst>
                                    <p:set>
                                      <p:cBhvr>
                                        <p:cTn id="48" dur="1" fill="hold">
                                          <p:stCondLst>
                                            <p:cond delay="0"/>
                                          </p:stCondLst>
                                        </p:cTn>
                                        <p:tgtEl>
                                          <p:spTgt spid="3">
                                            <p:txEl>
                                              <p:pRg st="8" end="8"/>
                                            </p:txEl>
                                          </p:spTgt>
                                        </p:tgtEl>
                                        <p:attrNameLst>
                                          <p:attrName>style.visibility</p:attrName>
                                        </p:attrNameLst>
                                      </p:cBhvr>
                                      <p:to>
                                        <p:strVal val="visible"/>
                                      </p:to>
                                    </p:set>
                                    <p:animEffect transition="in" filter="fade">
                                      <p:cBhvr>
                                        <p:cTn id="49" dur="500"/>
                                        <p:tgtEl>
                                          <p:spTgt spid="3">
                                            <p:txEl>
                                              <p:pRg st="8" end="8"/>
                                            </p:txEl>
                                          </p:spTgt>
                                        </p:tgtEl>
                                      </p:cBhvr>
                                    </p:animEffect>
                                  </p:childTnLst>
                                </p:cTn>
                              </p:par>
                            </p:childTnLst>
                          </p:cTn>
                        </p:par>
                      </p:childTnLst>
                    </p:cTn>
                  </p:par>
                  <p:par>
                    <p:cTn id="50" fill="hold" nodeType="clickPar">
                      <p:stCondLst>
                        <p:cond delay="indefinite"/>
                      </p:stCondLst>
                      <p:childTnLst>
                        <p:par>
                          <p:cTn id="51" fill="hold">
                            <p:stCondLst>
                              <p:cond delay="0"/>
                            </p:stCondLst>
                            <p:childTnLst>
                              <p:par>
                                <p:cTn id="52" presetID="10" presetClass="entr" presetSubtype="0" fill="hold" nodeType="clickEffect">
                                  <p:stCondLst>
                                    <p:cond delay="0"/>
                                  </p:stCondLst>
                                  <p:childTnLst>
                                    <p:set>
                                      <p:cBhvr>
                                        <p:cTn id="53" dur="1" fill="hold">
                                          <p:stCondLst>
                                            <p:cond delay="0"/>
                                          </p:stCondLst>
                                        </p:cTn>
                                        <p:tgtEl>
                                          <p:spTgt spid="3">
                                            <p:txEl>
                                              <p:pRg st="9" end="9"/>
                                            </p:txEl>
                                          </p:spTgt>
                                        </p:tgtEl>
                                        <p:attrNameLst>
                                          <p:attrName>style.visibility</p:attrName>
                                        </p:attrNameLst>
                                      </p:cBhvr>
                                      <p:to>
                                        <p:strVal val="visible"/>
                                      </p:to>
                                    </p:set>
                                    <p:animEffect transition="in" filter="fade">
                                      <p:cBhvr>
                                        <p:cTn id="54" dur="500"/>
                                        <p:tgtEl>
                                          <p:spTgt spid="3">
                                            <p:txEl>
                                              <p:pRg st="9" end="9"/>
                                            </p:txEl>
                                          </p:spTgt>
                                        </p:tgtEl>
                                      </p:cBhvr>
                                    </p:animEffect>
                                  </p:childTnLst>
                                </p:cTn>
                              </p:par>
                            </p:childTnLst>
                          </p:cTn>
                        </p:par>
                      </p:childTnLst>
                    </p:cTn>
                  </p:par>
                  <p:par>
                    <p:cTn id="55" fill="hold" nodeType="clickPar">
                      <p:stCondLst>
                        <p:cond delay="indefinite"/>
                      </p:stCondLst>
                      <p:childTnLst>
                        <p:par>
                          <p:cTn id="56" fill="hold">
                            <p:stCondLst>
                              <p:cond delay="0"/>
                            </p:stCondLst>
                            <p:childTnLst>
                              <p:par>
                                <p:cTn id="57" presetID="10" presetClass="entr" presetSubtype="0" fill="hold" nodeType="clickEffect">
                                  <p:stCondLst>
                                    <p:cond delay="0"/>
                                  </p:stCondLst>
                                  <p:childTnLst>
                                    <p:set>
                                      <p:cBhvr>
                                        <p:cTn id="58" dur="1" fill="hold">
                                          <p:stCondLst>
                                            <p:cond delay="0"/>
                                          </p:stCondLst>
                                        </p:cTn>
                                        <p:tgtEl>
                                          <p:spTgt spid="3">
                                            <p:txEl>
                                              <p:pRg st="10" end="10"/>
                                            </p:txEl>
                                          </p:spTgt>
                                        </p:tgtEl>
                                        <p:attrNameLst>
                                          <p:attrName>style.visibility</p:attrName>
                                        </p:attrNameLst>
                                      </p:cBhvr>
                                      <p:to>
                                        <p:strVal val="visible"/>
                                      </p:to>
                                    </p:set>
                                    <p:animEffect transition="in" filter="fade">
                                      <p:cBhvr>
                                        <p:cTn id="59"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RAID 2 (</a:t>
            </a:r>
            <a:r>
              <a:rPr lang="en-GB"/>
              <a:t>Bit-level striping using a Hamming Code parity)</a:t>
            </a:r>
            <a:endParaRPr lang="en-US"/>
          </a:p>
        </p:txBody>
      </p:sp>
      <p:sp>
        <p:nvSpPr>
          <p:cNvPr id="3" name="Content Placeholder 2"/>
          <p:cNvSpPr>
            <a:spLocks noGrp="1"/>
          </p:cNvSpPr>
          <p:nvPr>
            <p:ph idx="1"/>
          </p:nvPr>
        </p:nvSpPr>
        <p:spPr>
          <a:xfrm>
            <a:off x="131180" y="863444"/>
            <a:ext cx="11919793" cy="5590565"/>
          </a:xfrm>
        </p:spPr>
        <p:txBody>
          <a:bodyPr/>
          <a:lstStyle/>
          <a:p>
            <a:r>
              <a:rPr lang="en-US" sz="2300" dirty="0"/>
              <a:t>It </a:t>
            </a:r>
            <a:r>
              <a:rPr lang="en-US" sz="2300" b="1" dirty="0">
                <a:solidFill>
                  <a:schemeClr val="accent6"/>
                </a:solidFill>
              </a:rPr>
              <a:t>stripes data at bit level (rather than block level) with </a:t>
            </a:r>
            <a:r>
              <a:rPr lang="en-GB" sz="2300" b="1" dirty="0">
                <a:solidFill>
                  <a:schemeClr val="accent6"/>
                </a:solidFill>
              </a:rPr>
              <a:t>some disks storing error checking and correcting (ECC) information</a:t>
            </a:r>
            <a:r>
              <a:rPr lang="en-US" sz="2300" dirty="0"/>
              <a:t>.</a:t>
            </a:r>
          </a:p>
          <a:p>
            <a:r>
              <a:rPr lang="en-US" sz="2300" dirty="0"/>
              <a:t>It </a:t>
            </a:r>
            <a:r>
              <a:rPr lang="en-US" sz="2300" b="1" dirty="0">
                <a:solidFill>
                  <a:schemeClr val="accent6"/>
                </a:solidFill>
              </a:rPr>
              <a:t>uses ECC (Error Correcting Code) </a:t>
            </a:r>
            <a:r>
              <a:rPr lang="en-US" sz="2300" dirty="0"/>
              <a:t>to monitor correctness of information on disk.</a:t>
            </a:r>
          </a:p>
          <a:p>
            <a:r>
              <a:rPr lang="en-US" sz="2300" dirty="0"/>
              <a:t>A </a:t>
            </a:r>
            <a:r>
              <a:rPr lang="en-US" sz="2300" b="1" dirty="0">
                <a:solidFill>
                  <a:schemeClr val="accent6"/>
                </a:solidFill>
              </a:rPr>
              <a:t>parity disk is then used to reconstruct corrupted or lost data</a:t>
            </a:r>
            <a:r>
              <a:rPr lang="en-US" sz="2300" dirty="0" smtClean="0"/>
              <a:t>.</a:t>
            </a:r>
          </a:p>
          <a:p>
            <a:r>
              <a:rPr lang="en-US" sz="2300" dirty="0"/>
              <a:t>Here, </a:t>
            </a:r>
            <a:r>
              <a:rPr lang="en-US" sz="2300" b="1" dirty="0">
                <a:solidFill>
                  <a:schemeClr val="accent6"/>
                </a:solidFill>
              </a:rPr>
              <a:t>losing one drive did not cause problem</a:t>
            </a:r>
            <a:r>
              <a:rPr lang="en-US" sz="2300" dirty="0"/>
              <a:t>, which can be handled by Hamming code on the fly.</a:t>
            </a:r>
          </a:p>
          <a:p>
            <a:pPr marL="0" indent="0">
              <a:buNone/>
            </a:pPr>
            <a:endParaRPr lang="en-US" sz="2300" dirty="0"/>
          </a:p>
        </p:txBody>
      </p:sp>
      <p:pic>
        <p:nvPicPr>
          <p:cNvPr id="6" name="Picture 2" descr="RAID 2 diagram"/>
          <p:cNvPicPr>
            <a:picLocks noChangeAspect="1" noChangeArrowheads="1"/>
          </p:cNvPicPr>
          <p:nvPr/>
        </p:nvPicPr>
        <p:blipFill>
          <a:blip r:embed="rId2">
            <a:extLst>
              <a:ext uri="{BEBA8EAE-BF5A-486C-A8C5-ECC9F3942E4B}">
                <a14:imgProps xmlns:a14="http://schemas.microsoft.com/office/drawing/2010/main">
                  <a14:imgLayer r:embed="rId3">
                    <a14:imgEffect>
                      <a14:brightnessContrast contrast="40000"/>
                    </a14:imgEffect>
                  </a14:imgLayer>
                </a14:imgProps>
              </a:ext>
              <a:ext uri="{28A0092B-C50C-407E-A947-70E740481C1C}">
                <a14:useLocalDpi xmlns:a14="http://schemas.microsoft.com/office/drawing/2010/main" val="0"/>
              </a:ext>
            </a:extLst>
          </a:blip>
          <a:srcRect l="5720" t="24718" r="4806" b="7569"/>
          <a:stretch>
            <a:fillRect/>
          </a:stretch>
        </p:blipFill>
        <p:spPr bwMode="auto">
          <a:xfrm>
            <a:off x="308604" y="3968837"/>
            <a:ext cx="8604000" cy="24851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25232651"/>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0" presetClass="entr" presetSubtype="0" fill="hold" nodeType="withEffect">
                                  <p:stCondLst>
                                    <p:cond delay="0"/>
                                  </p:stCondLst>
                                  <p:childTnLst>
                                    <p:set>
                                      <p:cBhvr>
                                        <p:cTn id="8" dur="1" fill="hold">
                                          <p:stCondLst>
                                            <p:cond delay="0"/>
                                          </p:stCondLst>
                                        </p:cTn>
                                        <p:tgtEl>
                                          <p:spTgt spid="3">
                                            <p:txEl>
                                              <p:pRg st="0" end="0"/>
                                            </p:txEl>
                                          </p:spTgt>
                                        </p:tgtEl>
                                        <p:attrNameLst>
                                          <p:attrName>style.visibility</p:attrName>
                                        </p:attrNameLst>
                                      </p:cBhvr>
                                      <p:to>
                                        <p:strVal val="visible"/>
                                      </p:to>
                                    </p:set>
                                    <p:animEffect transition="in" filter="fade">
                                      <p:cBhvr>
                                        <p:cTn id="9" dur="500"/>
                                        <p:tgtEl>
                                          <p:spTgt spid="3">
                                            <p:txEl>
                                              <p:pRg st="0" end="0"/>
                                            </p:txEl>
                                          </p:spTgt>
                                        </p:tgtEl>
                                      </p:cBhvr>
                                    </p:animEffect>
                                  </p:childTnLst>
                                </p:cTn>
                              </p:par>
                            </p:childTnLst>
                          </p:cTn>
                        </p:par>
                      </p:childTnLst>
                    </p:cTn>
                  </p:par>
                  <p:par>
                    <p:cTn id="10" fill="hold" nodeType="clickPar">
                      <p:stCondLst>
                        <p:cond delay="indefinite"/>
                      </p:stCondLst>
                      <p:childTnLst>
                        <p:par>
                          <p:cTn id="11" fill="hold">
                            <p:stCondLst>
                              <p:cond delay="0"/>
                            </p:stCondLst>
                            <p:childTnLst>
                              <p:par>
                                <p:cTn id="12" presetID="10"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500"/>
                                        <p:tgtEl>
                                          <p:spTgt spid="3">
                                            <p:txEl>
                                              <p:pRg st="1" end="1"/>
                                            </p:txEl>
                                          </p:spTgt>
                                        </p:tgtEl>
                                      </p:cBhvr>
                                    </p:animEffect>
                                  </p:childTnLst>
                                </p:cTn>
                              </p:par>
                            </p:childTnLst>
                          </p:cTn>
                        </p:par>
                      </p:childTnLst>
                    </p:cTn>
                  </p:par>
                  <p:par>
                    <p:cTn id="15" fill="hold" nodeType="clickPar">
                      <p:stCondLst>
                        <p:cond delay="indefinite"/>
                      </p:stCondLst>
                      <p:childTnLst>
                        <p:par>
                          <p:cTn id="16"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Effect transition="in" filter="fade">
                                      <p:cBhvr>
                                        <p:cTn id="19" dur="500"/>
                                        <p:tgtEl>
                                          <p:spTgt spid="3">
                                            <p:txEl>
                                              <p:pRg st="2" end="2"/>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3">
                                            <p:txEl>
                                              <p:pRg st="3" end="3"/>
                                            </p:txEl>
                                          </p:spTgt>
                                        </p:tgtEl>
                                        <p:attrNameLst>
                                          <p:attrName>style.visibility</p:attrName>
                                        </p:attrNameLst>
                                      </p:cBhvr>
                                      <p:to>
                                        <p:strVal val="visible"/>
                                      </p:to>
                                    </p:set>
                                    <p:animEffect transition="in" filter="fade">
                                      <p:cBhvr>
                                        <p:cTn id="24"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RAID 2 (</a:t>
            </a:r>
            <a:r>
              <a:rPr lang="en-GB"/>
              <a:t>Bit-level striping using a Hamming Code parity)</a:t>
            </a:r>
            <a:endParaRPr lang="en-US"/>
          </a:p>
        </p:txBody>
      </p:sp>
      <p:sp>
        <p:nvSpPr>
          <p:cNvPr id="3" name="Content Placeholder 2"/>
          <p:cNvSpPr>
            <a:spLocks noGrp="1"/>
          </p:cNvSpPr>
          <p:nvPr>
            <p:ph idx="1"/>
          </p:nvPr>
        </p:nvSpPr>
        <p:spPr>
          <a:xfrm>
            <a:off x="131180" y="863444"/>
            <a:ext cx="11919793" cy="5590565"/>
          </a:xfrm>
        </p:spPr>
        <p:txBody>
          <a:bodyPr/>
          <a:lstStyle/>
          <a:p>
            <a:r>
              <a:rPr lang="en-US" sz="2300" dirty="0"/>
              <a:t>Imagine </a:t>
            </a:r>
            <a:r>
              <a:rPr lang="en-US" sz="2300" b="1" dirty="0">
                <a:solidFill>
                  <a:schemeClr val="accent6"/>
                </a:solidFill>
              </a:rPr>
              <a:t>splitting each byte into a pair of 4-bit nibbles, then adding Hamming code to each one to form a 7-bit word, of which bit 1, 2 and 4 were parity bits</a:t>
            </a:r>
            <a:r>
              <a:rPr lang="en-US" sz="2300" dirty="0"/>
              <a:t>.</a:t>
            </a:r>
          </a:p>
          <a:p>
            <a:r>
              <a:rPr lang="en-US" sz="2300" dirty="0" smtClean="0"/>
              <a:t>Big </a:t>
            </a:r>
            <a:r>
              <a:rPr lang="en-US" sz="2300" dirty="0"/>
              <a:t>problem is performance</a:t>
            </a:r>
          </a:p>
          <a:p>
            <a:pPr lvl="1"/>
            <a:r>
              <a:rPr lang="en-US" sz="1900" dirty="0"/>
              <a:t>must have to </a:t>
            </a:r>
            <a:r>
              <a:rPr lang="en-US" sz="1900" b="1" dirty="0">
                <a:solidFill>
                  <a:schemeClr val="accent6"/>
                </a:solidFill>
              </a:rPr>
              <a:t>read data plus ECC code </a:t>
            </a:r>
            <a:r>
              <a:rPr lang="en-US" sz="1900" dirty="0"/>
              <a:t>from other disks</a:t>
            </a:r>
          </a:p>
          <a:p>
            <a:pPr lvl="1"/>
            <a:r>
              <a:rPr lang="en-US" sz="1900" dirty="0"/>
              <a:t>for a </a:t>
            </a:r>
            <a:r>
              <a:rPr lang="en-US" sz="1900" b="1" dirty="0">
                <a:solidFill>
                  <a:schemeClr val="accent6"/>
                </a:solidFill>
              </a:rPr>
              <a:t>write, must have to modify data, ECC, and parity disks</a:t>
            </a:r>
          </a:p>
        </p:txBody>
      </p:sp>
      <p:pic>
        <p:nvPicPr>
          <p:cNvPr id="6" name="Picture 2" descr="RAID 2 diagram"/>
          <p:cNvPicPr>
            <a:picLocks noChangeAspect="1" noChangeArrowheads="1"/>
          </p:cNvPicPr>
          <p:nvPr/>
        </p:nvPicPr>
        <p:blipFill>
          <a:blip r:embed="rId2">
            <a:extLst>
              <a:ext uri="{BEBA8EAE-BF5A-486C-A8C5-ECC9F3942E4B}">
                <a14:imgProps xmlns:a14="http://schemas.microsoft.com/office/drawing/2010/main">
                  <a14:imgLayer r:embed="rId3">
                    <a14:imgEffect>
                      <a14:brightnessContrast contrast="40000"/>
                    </a14:imgEffect>
                  </a14:imgLayer>
                </a14:imgProps>
              </a:ext>
              <a:ext uri="{28A0092B-C50C-407E-A947-70E740481C1C}">
                <a14:useLocalDpi xmlns:a14="http://schemas.microsoft.com/office/drawing/2010/main" val="0"/>
              </a:ext>
            </a:extLst>
          </a:blip>
          <a:srcRect l="5720" t="24718" r="4806" b="7569"/>
          <a:stretch>
            <a:fillRect/>
          </a:stretch>
        </p:blipFill>
        <p:spPr bwMode="auto">
          <a:xfrm>
            <a:off x="3588000" y="4121080"/>
            <a:ext cx="8604000" cy="24851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02153383"/>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nodeType="clickPar">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nodeType="clickPar">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RAID 3 </a:t>
            </a:r>
            <a:r>
              <a:rPr lang="en-GB"/>
              <a:t>(Byte-level striping with a dedicated parity)</a:t>
            </a:r>
            <a:endParaRPr lang="en-US"/>
          </a:p>
        </p:txBody>
      </p:sp>
      <p:sp>
        <p:nvSpPr>
          <p:cNvPr id="3" name="Content Placeholder 2"/>
          <p:cNvSpPr>
            <a:spLocks noGrp="1"/>
          </p:cNvSpPr>
          <p:nvPr>
            <p:ph idx="1"/>
          </p:nvPr>
        </p:nvSpPr>
        <p:spPr>
          <a:xfrm>
            <a:off x="131181" y="863444"/>
            <a:ext cx="5789674" cy="5590565"/>
          </a:xfrm>
        </p:spPr>
        <p:txBody>
          <a:bodyPr/>
          <a:lstStyle/>
          <a:p>
            <a:r>
              <a:rPr lang="en-US" sz="2300"/>
              <a:t>It uses </a:t>
            </a:r>
            <a:r>
              <a:rPr lang="en-US" sz="2300" b="1">
                <a:solidFill>
                  <a:schemeClr val="accent6"/>
                </a:solidFill>
              </a:rPr>
              <a:t>striping and dedicates one drive for storing parity information</a:t>
            </a:r>
            <a:r>
              <a:rPr lang="en-US" sz="2300"/>
              <a:t>.</a:t>
            </a:r>
          </a:p>
          <a:p>
            <a:r>
              <a:rPr lang="en-US" sz="2300"/>
              <a:t>Here </a:t>
            </a:r>
            <a:r>
              <a:rPr lang="en-US" sz="2300" b="1">
                <a:solidFill>
                  <a:schemeClr val="accent6"/>
                </a:solidFill>
              </a:rPr>
              <a:t>single parity bit is computed for each data word and written to a parity drive</a:t>
            </a:r>
            <a:r>
              <a:rPr lang="en-US" sz="2300"/>
              <a:t>. </a:t>
            </a:r>
          </a:p>
          <a:p>
            <a:r>
              <a:rPr lang="en-US" sz="2300"/>
              <a:t>The </a:t>
            </a:r>
            <a:r>
              <a:rPr lang="en-US" sz="2300" b="1">
                <a:solidFill>
                  <a:schemeClr val="accent6"/>
                </a:solidFill>
              </a:rPr>
              <a:t>embedded ECC information is used to detect errors</a:t>
            </a:r>
            <a:r>
              <a:rPr lang="en-US" sz="2300"/>
              <a:t>.</a:t>
            </a:r>
          </a:p>
          <a:p>
            <a:r>
              <a:rPr lang="en-US" sz="2300"/>
              <a:t>As in RAID level 2 the </a:t>
            </a:r>
            <a:r>
              <a:rPr lang="en-US" sz="2300" b="1">
                <a:solidFill>
                  <a:schemeClr val="accent6"/>
                </a:solidFill>
              </a:rPr>
              <a:t>drives must be exactly synchronized</a:t>
            </a:r>
            <a:r>
              <a:rPr lang="en-US" sz="2300"/>
              <a:t>.</a:t>
            </a:r>
          </a:p>
        </p:txBody>
      </p:sp>
      <p:pic>
        <p:nvPicPr>
          <p:cNvPr id="6" name="Picture 2" descr="RAID 3 diagram"/>
          <p:cNvPicPr>
            <a:picLocks noChangeAspect="1" noChangeArrowheads="1"/>
          </p:cNvPicPr>
          <p:nvPr/>
        </p:nvPicPr>
        <p:blipFill>
          <a:blip r:embed="rId2">
            <a:extLst>
              <a:ext uri="{BEBA8EAE-BF5A-486C-A8C5-ECC9F3942E4B}">
                <a14:imgProps xmlns:a14="http://schemas.microsoft.com/office/drawing/2010/main">
                  <a14:imgLayer r:embed="rId3">
                    <a14:imgEffect>
                      <a14:brightnessContrast contrast="40000"/>
                    </a14:imgEffect>
                  </a14:imgLayer>
                </a14:imgProps>
              </a:ext>
              <a:ext uri="{28A0092B-C50C-407E-A947-70E740481C1C}">
                <a14:useLocalDpi xmlns:a14="http://schemas.microsoft.com/office/drawing/2010/main" val="0"/>
              </a:ext>
            </a:extLst>
          </a:blip>
          <a:srcRect l="6666" t="21108" r="6666" b="9235"/>
          <a:stretch>
            <a:fillRect/>
          </a:stretch>
        </p:blipFill>
        <p:spPr bwMode="auto">
          <a:xfrm>
            <a:off x="5920854" y="863444"/>
            <a:ext cx="6156000" cy="31253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10297832"/>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0" presetClass="entr" presetSubtype="0" fill="hold" nodeType="withEffect">
                                  <p:stCondLst>
                                    <p:cond delay="0"/>
                                  </p:stCondLst>
                                  <p:childTnLst>
                                    <p:set>
                                      <p:cBhvr>
                                        <p:cTn id="8" dur="1" fill="hold">
                                          <p:stCondLst>
                                            <p:cond delay="0"/>
                                          </p:stCondLst>
                                        </p:cTn>
                                        <p:tgtEl>
                                          <p:spTgt spid="3">
                                            <p:txEl>
                                              <p:pRg st="0" end="0"/>
                                            </p:txEl>
                                          </p:spTgt>
                                        </p:tgtEl>
                                        <p:attrNameLst>
                                          <p:attrName>style.visibility</p:attrName>
                                        </p:attrNameLst>
                                      </p:cBhvr>
                                      <p:to>
                                        <p:strVal val="visible"/>
                                      </p:to>
                                    </p:set>
                                    <p:animEffect transition="in" filter="fade">
                                      <p:cBhvr>
                                        <p:cTn id="9" dur="500"/>
                                        <p:tgtEl>
                                          <p:spTgt spid="3">
                                            <p:txEl>
                                              <p:pRg st="0" end="0"/>
                                            </p:txEl>
                                          </p:spTgt>
                                        </p:tgtEl>
                                      </p:cBhvr>
                                    </p:animEffect>
                                  </p:childTnLst>
                                </p:cTn>
                              </p:par>
                            </p:childTnLst>
                          </p:cTn>
                        </p:par>
                      </p:childTnLst>
                    </p:cTn>
                  </p:par>
                  <p:par>
                    <p:cTn id="10" fill="hold" nodeType="clickPar">
                      <p:stCondLst>
                        <p:cond delay="indefinite"/>
                      </p:stCondLst>
                      <p:childTnLst>
                        <p:par>
                          <p:cTn id="11" fill="hold">
                            <p:stCondLst>
                              <p:cond delay="0"/>
                            </p:stCondLst>
                            <p:childTnLst>
                              <p:par>
                                <p:cTn id="12" presetID="10"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500"/>
                                        <p:tgtEl>
                                          <p:spTgt spid="3">
                                            <p:txEl>
                                              <p:pRg st="1" end="1"/>
                                            </p:txEl>
                                          </p:spTgt>
                                        </p:tgtEl>
                                      </p:cBhvr>
                                    </p:animEffect>
                                  </p:childTnLst>
                                </p:cTn>
                              </p:par>
                            </p:childTnLst>
                          </p:cTn>
                        </p:par>
                      </p:childTnLst>
                    </p:cTn>
                  </p:par>
                  <p:par>
                    <p:cTn id="15" fill="hold" nodeType="clickPar">
                      <p:stCondLst>
                        <p:cond delay="indefinite"/>
                      </p:stCondLst>
                      <p:childTnLst>
                        <p:par>
                          <p:cTn id="16"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Effect transition="in" filter="fade">
                                      <p:cBhvr>
                                        <p:cTn id="19" dur="500"/>
                                        <p:tgtEl>
                                          <p:spTgt spid="3">
                                            <p:txEl>
                                              <p:pRg st="2" end="2"/>
                                            </p:txEl>
                                          </p:spTgt>
                                        </p:tgtEl>
                                      </p:cBhvr>
                                    </p:animEffect>
                                  </p:childTnLst>
                                </p:cTn>
                              </p:par>
                            </p:childTnLst>
                          </p:cTn>
                        </p:par>
                      </p:childTnLst>
                    </p:cTn>
                  </p:par>
                  <p:par>
                    <p:cTn id="20" fill="hold" nodeType="clickPar">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3">
                                            <p:txEl>
                                              <p:pRg st="3" end="3"/>
                                            </p:txEl>
                                          </p:spTgt>
                                        </p:tgtEl>
                                        <p:attrNameLst>
                                          <p:attrName>style.visibility</p:attrName>
                                        </p:attrNameLst>
                                      </p:cBhvr>
                                      <p:to>
                                        <p:strVal val="visible"/>
                                      </p:to>
                                    </p:set>
                                    <p:animEffect transition="in" filter="fade">
                                      <p:cBhvr>
                                        <p:cTn id="24"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RAID 4 </a:t>
            </a:r>
            <a:r>
              <a:rPr lang="en-GB"/>
              <a:t>(Block-level striping with dedicated parity)</a:t>
            </a:r>
            <a:endParaRPr lang="en-US"/>
          </a:p>
        </p:txBody>
      </p:sp>
      <p:sp>
        <p:nvSpPr>
          <p:cNvPr id="3" name="Content Placeholder 2"/>
          <p:cNvSpPr>
            <a:spLocks noGrp="1"/>
          </p:cNvSpPr>
          <p:nvPr>
            <p:ph idx="1"/>
          </p:nvPr>
        </p:nvSpPr>
        <p:spPr>
          <a:xfrm>
            <a:off x="131181" y="863444"/>
            <a:ext cx="5789674" cy="5590565"/>
          </a:xfrm>
        </p:spPr>
        <p:txBody>
          <a:bodyPr/>
          <a:lstStyle/>
          <a:p>
            <a:r>
              <a:rPr lang="en-US" sz="2300"/>
              <a:t>It </a:t>
            </a:r>
            <a:r>
              <a:rPr lang="en-US" sz="2300" b="1">
                <a:solidFill>
                  <a:schemeClr val="accent6"/>
                </a:solidFill>
              </a:rPr>
              <a:t>uses large stripes (block level striping), which means you can read records from any single drive</a:t>
            </a:r>
            <a:r>
              <a:rPr lang="en-US" sz="2300"/>
              <a:t>. </a:t>
            </a:r>
          </a:p>
          <a:p>
            <a:r>
              <a:rPr lang="en-US" sz="2300"/>
              <a:t>They </a:t>
            </a:r>
            <a:r>
              <a:rPr lang="en-US" sz="2300" b="1">
                <a:solidFill>
                  <a:schemeClr val="accent6"/>
                </a:solidFill>
              </a:rPr>
              <a:t>do not require synchronization of drives</a:t>
            </a:r>
            <a:r>
              <a:rPr lang="en-US" sz="2300"/>
              <a:t>.</a:t>
            </a:r>
          </a:p>
          <a:p>
            <a:r>
              <a:rPr lang="en-US" sz="2300"/>
              <a:t>RAID 4 is like RAID 0, with strip-for-strip parity written onto an extra drive.</a:t>
            </a:r>
          </a:p>
          <a:p>
            <a:r>
              <a:rPr lang="en-US" sz="2300"/>
              <a:t>If </a:t>
            </a:r>
            <a:r>
              <a:rPr lang="en-US" sz="2300" b="1">
                <a:solidFill>
                  <a:schemeClr val="accent6"/>
                </a:solidFill>
              </a:rPr>
              <a:t>a drive crashes, the lost bytes can be recomputed from the parity drive</a:t>
            </a:r>
            <a:r>
              <a:rPr lang="en-US" sz="2300"/>
              <a:t> by reading the entire set of drives.</a:t>
            </a:r>
          </a:p>
          <a:p>
            <a:r>
              <a:rPr lang="en-US" sz="2300"/>
              <a:t>This design protects against the loss of a drive but performs poorly for small updates, if one sector is changed, it is necessary to read all the drives in order to recalculate the parity.</a:t>
            </a:r>
          </a:p>
          <a:p>
            <a:r>
              <a:rPr lang="en-US" sz="2300"/>
              <a:t>It </a:t>
            </a:r>
            <a:r>
              <a:rPr lang="en-US" sz="2300" b="1">
                <a:solidFill>
                  <a:schemeClr val="accent6"/>
                </a:solidFill>
              </a:rPr>
              <a:t>creates heavy load </a:t>
            </a:r>
            <a:r>
              <a:rPr lang="en-US" sz="2300"/>
              <a:t>on parity drive.</a:t>
            </a:r>
          </a:p>
        </p:txBody>
      </p:sp>
      <p:pic>
        <p:nvPicPr>
          <p:cNvPr id="5" name="Picture 2" descr="http://cdn.ttgtmedia.com/rms/onlineImages/storage_raid_04.png"/>
          <p:cNvPicPr>
            <a:picLocks noChangeAspect="1" noChangeArrowheads="1"/>
          </p:cNvPicPr>
          <p:nvPr/>
        </p:nvPicPr>
        <p:blipFill>
          <a:blip r:embed="rId2">
            <a:extLst>
              <a:ext uri="{BEBA8EAE-BF5A-486C-A8C5-ECC9F3942E4B}">
                <a14:imgProps xmlns:a14="http://schemas.microsoft.com/office/drawing/2010/main">
                  <a14:imgLayer r:embed="rId3">
                    <a14:imgEffect>
                      <a14:brightnessContrast contrast="40000"/>
                    </a14:imgEffect>
                  </a14:imgLayer>
                </a14:imgProps>
              </a:ext>
              <a:ext uri="{28A0092B-C50C-407E-A947-70E740481C1C}">
                <a14:useLocalDpi xmlns:a14="http://schemas.microsoft.com/office/drawing/2010/main" val="0"/>
              </a:ext>
            </a:extLst>
          </a:blip>
          <a:srcRect l="7142" t="18568" r="6191" b="13506"/>
          <a:stretch>
            <a:fillRect/>
          </a:stretch>
        </p:blipFill>
        <p:spPr bwMode="auto">
          <a:xfrm>
            <a:off x="5923138" y="863444"/>
            <a:ext cx="6153912" cy="30431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94821903"/>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0" presetClass="entr" presetSubtype="0" fill="hold" nodeType="withEffect">
                                  <p:stCondLst>
                                    <p:cond delay="0"/>
                                  </p:stCondLst>
                                  <p:childTnLst>
                                    <p:set>
                                      <p:cBhvr>
                                        <p:cTn id="8" dur="1" fill="hold">
                                          <p:stCondLst>
                                            <p:cond delay="0"/>
                                          </p:stCondLst>
                                        </p:cTn>
                                        <p:tgtEl>
                                          <p:spTgt spid="3">
                                            <p:txEl>
                                              <p:pRg st="0" end="0"/>
                                            </p:txEl>
                                          </p:spTgt>
                                        </p:tgtEl>
                                        <p:attrNameLst>
                                          <p:attrName>style.visibility</p:attrName>
                                        </p:attrNameLst>
                                      </p:cBhvr>
                                      <p:to>
                                        <p:strVal val="visible"/>
                                      </p:to>
                                    </p:set>
                                    <p:animEffect transition="in" filter="fade">
                                      <p:cBhvr>
                                        <p:cTn id="9" dur="500"/>
                                        <p:tgtEl>
                                          <p:spTgt spid="3">
                                            <p:txEl>
                                              <p:pRg st="0" end="0"/>
                                            </p:txEl>
                                          </p:spTgt>
                                        </p:tgtEl>
                                      </p:cBhvr>
                                    </p:animEffect>
                                  </p:childTnLst>
                                </p:cTn>
                              </p:par>
                            </p:childTnLst>
                          </p:cTn>
                        </p:par>
                      </p:childTnLst>
                    </p:cTn>
                  </p:par>
                  <p:par>
                    <p:cTn id="10" fill="hold" nodeType="clickPar">
                      <p:stCondLst>
                        <p:cond delay="indefinite"/>
                      </p:stCondLst>
                      <p:childTnLst>
                        <p:par>
                          <p:cTn id="11" fill="hold">
                            <p:stCondLst>
                              <p:cond delay="0"/>
                            </p:stCondLst>
                            <p:childTnLst>
                              <p:par>
                                <p:cTn id="12" presetID="10"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500"/>
                                        <p:tgtEl>
                                          <p:spTgt spid="3">
                                            <p:txEl>
                                              <p:pRg st="1" end="1"/>
                                            </p:txEl>
                                          </p:spTgt>
                                        </p:tgtEl>
                                      </p:cBhvr>
                                    </p:animEffect>
                                  </p:childTnLst>
                                </p:cTn>
                              </p:par>
                            </p:childTnLst>
                          </p:cTn>
                        </p:par>
                      </p:childTnLst>
                    </p:cTn>
                  </p:par>
                  <p:par>
                    <p:cTn id="15" fill="hold" nodeType="clickPar">
                      <p:stCondLst>
                        <p:cond delay="indefinite"/>
                      </p:stCondLst>
                      <p:childTnLst>
                        <p:par>
                          <p:cTn id="16"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Effect transition="in" filter="fade">
                                      <p:cBhvr>
                                        <p:cTn id="19" dur="500"/>
                                        <p:tgtEl>
                                          <p:spTgt spid="3">
                                            <p:txEl>
                                              <p:pRg st="2" end="2"/>
                                            </p:txEl>
                                          </p:spTgt>
                                        </p:tgtEl>
                                      </p:cBhvr>
                                    </p:animEffect>
                                  </p:childTnLst>
                                </p:cTn>
                              </p:par>
                            </p:childTnLst>
                          </p:cTn>
                        </p:par>
                      </p:childTnLst>
                    </p:cTn>
                  </p:par>
                  <p:par>
                    <p:cTn id="20" fill="hold" nodeType="clickPar">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3">
                                            <p:txEl>
                                              <p:pRg st="3" end="3"/>
                                            </p:txEl>
                                          </p:spTgt>
                                        </p:tgtEl>
                                        <p:attrNameLst>
                                          <p:attrName>style.visibility</p:attrName>
                                        </p:attrNameLst>
                                      </p:cBhvr>
                                      <p:to>
                                        <p:strVal val="visible"/>
                                      </p:to>
                                    </p:set>
                                    <p:animEffect transition="in" filter="fade">
                                      <p:cBhvr>
                                        <p:cTn id="24" dur="500"/>
                                        <p:tgtEl>
                                          <p:spTgt spid="3">
                                            <p:txEl>
                                              <p:pRg st="3" end="3"/>
                                            </p:txEl>
                                          </p:spTgt>
                                        </p:tgtEl>
                                      </p:cBhvr>
                                    </p:animEffect>
                                  </p:childTnLst>
                                </p:cTn>
                              </p:par>
                            </p:childTnLst>
                          </p:cTn>
                        </p:par>
                      </p:childTnLst>
                    </p:cTn>
                  </p:par>
                  <p:par>
                    <p:cTn id="25" fill="hold" nodeType="clickPar">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3">
                                            <p:txEl>
                                              <p:pRg st="4" end="4"/>
                                            </p:txEl>
                                          </p:spTgt>
                                        </p:tgtEl>
                                        <p:attrNameLst>
                                          <p:attrName>style.visibility</p:attrName>
                                        </p:attrNameLst>
                                      </p:cBhvr>
                                      <p:to>
                                        <p:strVal val="visible"/>
                                      </p:to>
                                    </p:set>
                                    <p:animEffect transition="in" filter="fade">
                                      <p:cBhvr>
                                        <p:cTn id="29" dur="500"/>
                                        <p:tgtEl>
                                          <p:spTgt spid="3">
                                            <p:txEl>
                                              <p:pRg st="4" end="4"/>
                                            </p:txEl>
                                          </p:spTgt>
                                        </p:tgtEl>
                                      </p:cBhvr>
                                    </p:animEffect>
                                  </p:childTnLst>
                                </p:cTn>
                              </p:par>
                            </p:childTnLst>
                          </p:cTn>
                        </p:par>
                      </p:childTnLst>
                    </p:cTn>
                  </p:par>
                  <p:par>
                    <p:cTn id="30" fill="hold" nodeType="clickPar">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3">
                                            <p:txEl>
                                              <p:pRg st="5" end="5"/>
                                            </p:txEl>
                                          </p:spTgt>
                                        </p:tgtEl>
                                        <p:attrNameLst>
                                          <p:attrName>style.visibility</p:attrName>
                                        </p:attrNameLst>
                                      </p:cBhvr>
                                      <p:to>
                                        <p:strVal val="visible"/>
                                      </p:to>
                                    </p:set>
                                    <p:animEffect transition="in" filter="fade">
                                      <p:cBhvr>
                                        <p:cTn id="34"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RAID 5 </a:t>
            </a:r>
            <a:r>
              <a:rPr lang="en-GB"/>
              <a:t>(Block-level striping with distributed parity)</a:t>
            </a:r>
            <a:endParaRPr lang="en-US"/>
          </a:p>
        </p:txBody>
      </p:sp>
      <p:sp>
        <p:nvSpPr>
          <p:cNvPr id="3" name="Content Placeholder 2"/>
          <p:cNvSpPr>
            <a:spLocks noGrp="1"/>
          </p:cNvSpPr>
          <p:nvPr>
            <p:ph idx="1"/>
          </p:nvPr>
        </p:nvSpPr>
        <p:spPr>
          <a:xfrm>
            <a:off x="131181" y="863444"/>
            <a:ext cx="5789674" cy="5590565"/>
          </a:xfrm>
        </p:spPr>
        <p:txBody>
          <a:bodyPr/>
          <a:lstStyle/>
          <a:p>
            <a:r>
              <a:rPr lang="en-US" sz="2300"/>
              <a:t>This level is </a:t>
            </a:r>
            <a:r>
              <a:rPr lang="en-US" sz="2300" b="1">
                <a:solidFill>
                  <a:schemeClr val="accent6"/>
                </a:solidFill>
              </a:rPr>
              <a:t>based on block-level striping with parity</a:t>
            </a:r>
            <a:r>
              <a:rPr lang="en-US" sz="2300"/>
              <a:t>. </a:t>
            </a:r>
          </a:p>
          <a:p>
            <a:r>
              <a:rPr lang="en-US" sz="2300"/>
              <a:t>The </a:t>
            </a:r>
            <a:r>
              <a:rPr lang="en-US" sz="2300" b="1">
                <a:solidFill>
                  <a:schemeClr val="accent6"/>
                </a:solidFill>
              </a:rPr>
              <a:t>parity information is striped across each drive</a:t>
            </a:r>
            <a:r>
              <a:rPr lang="en-US" sz="2300"/>
              <a:t>.</a:t>
            </a:r>
          </a:p>
          <a:p>
            <a:r>
              <a:rPr lang="en-US" sz="2300"/>
              <a:t>As with RAID level 4, there is a heavy load in the parity drive, it may become bottleneck.</a:t>
            </a:r>
          </a:p>
          <a:p>
            <a:r>
              <a:rPr lang="en-US" sz="2300"/>
              <a:t>This </a:t>
            </a:r>
            <a:r>
              <a:rPr lang="en-US" sz="2300" b="1">
                <a:solidFill>
                  <a:schemeClr val="accent6"/>
                </a:solidFill>
              </a:rPr>
              <a:t>bottleneck can be eliminated in RAID level 5 by distributing the parity bits uniformly over all the drives</a:t>
            </a:r>
            <a:r>
              <a:rPr lang="en-US" sz="2300"/>
              <a:t>.</a:t>
            </a:r>
          </a:p>
        </p:txBody>
      </p:sp>
      <p:pic>
        <p:nvPicPr>
          <p:cNvPr id="6" name="Picture 2" descr="http://cdn.ttgtmedia.com/rms/onlineImages/storage_raid_05.png"/>
          <p:cNvPicPr>
            <a:picLocks noChangeAspect="1" noChangeArrowheads="1"/>
          </p:cNvPicPr>
          <p:nvPr/>
        </p:nvPicPr>
        <p:blipFill>
          <a:blip r:embed="rId2">
            <a:extLst>
              <a:ext uri="{BEBA8EAE-BF5A-486C-A8C5-ECC9F3942E4B}">
                <a14:imgProps xmlns:a14="http://schemas.microsoft.com/office/drawing/2010/main">
                  <a14:imgLayer r:embed="rId3">
                    <a14:imgEffect>
                      <a14:brightnessContrast contrast="40000"/>
                    </a14:imgEffect>
                  </a14:imgLayer>
                </a14:imgProps>
              </a:ext>
              <a:ext uri="{28A0092B-C50C-407E-A947-70E740481C1C}">
                <a14:useLocalDpi xmlns:a14="http://schemas.microsoft.com/office/drawing/2010/main" val="0"/>
              </a:ext>
            </a:extLst>
          </a:blip>
          <a:srcRect l="7619" t="21132" r="6666" b="10943"/>
          <a:stretch>
            <a:fillRect/>
          </a:stretch>
        </p:blipFill>
        <p:spPr bwMode="auto">
          <a:xfrm>
            <a:off x="5920855" y="863444"/>
            <a:ext cx="6089904" cy="30449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96716181"/>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0" presetClass="entr" presetSubtype="0" fill="hold" nodeType="withEffect">
                                  <p:stCondLst>
                                    <p:cond delay="0"/>
                                  </p:stCondLst>
                                  <p:childTnLst>
                                    <p:set>
                                      <p:cBhvr>
                                        <p:cTn id="8" dur="1" fill="hold">
                                          <p:stCondLst>
                                            <p:cond delay="0"/>
                                          </p:stCondLst>
                                        </p:cTn>
                                        <p:tgtEl>
                                          <p:spTgt spid="3">
                                            <p:txEl>
                                              <p:pRg st="0" end="0"/>
                                            </p:txEl>
                                          </p:spTgt>
                                        </p:tgtEl>
                                        <p:attrNameLst>
                                          <p:attrName>style.visibility</p:attrName>
                                        </p:attrNameLst>
                                      </p:cBhvr>
                                      <p:to>
                                        <p:strVal val="visible"/>
                                      </p:to>
                                    </p:set>
                                    <p:animEffect transition="in" filter="fade">
                                      <p:cBhvr>
                                        <p:cTn id="9" dur="500"/>
                                        <p:tgtEl>
                                          <p:spTgt spid="3">
                                            <p:txEl>
                                              <p:pRg st="0" end="0"/>
                                            </p:txEl>
                                          </p:spTgt>
                                        </p:tgtEl>
                                      </p:cBhvr>
                                    </p:animEffect>
                                  </p:childTnLst>
                                </p:cTn>
                              </p:par>
                            </p:childTnLst>
                          </p:cTn>
                        </p:par>
                      </p:childTnLst>
                    </p:cTn>
                  </p:par>
                  <p:par>
                    <p:cTn id="10" fill="hold" nodeType="clickPar">
                      <p:stCondLst>
                        <p:cond delay="indefinite"/>
                      </p:stCondLst>
                      <p:childTnLst>
                        <p:par>
                          <p:cTn id="11" fill="hold">
                            <p:stCondLst>
                              <p:cond delay="0"/>
                            </p:stCondLst>
                            <p:childTnLst>
                              <p:par>
                                <p:cTn id="12" presetID="10"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500"/>
                                        <p:tgtEl>
                                          <p:spTgt spid="3">
                                            <p:txEl>
                                              <p:pRg st="1" end="1"/>
                                            </p:txEl>
                                          </p:spTgt>
                                        </p:tgtEl>
                                      </p:cBhvr>
                                    </p:animEffect>
                                  </p:childTnLst>
                                </p:cTn>
                              </p:par>
                            </p:childTnLst>
                          </p:cTn>
                        </p:par>
                      </p:childTnLst>
                    </p:cTn>
                  </p:par>
                  <p:par>
                    <p:cTn id="15" fill="hold" nodeType="clickPar">
                      <p:stCondLst>
                        <p:cond delay="indefinite"/>
                      </p:stCondLst>
                      <p:childTnLst>
                        <p:par>
                          <p:cTn id="16"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Effect transition="in" filter="fade">
                                      <p:cBhvr>
                                        <p:cTn id="19" dur="500"/>
                                        <p:tgtEl>
                                          <p:spTgt spid="3">
                                            <p:txEl>
                                              <p:pRg st="2" end="2"/>
                                            </p:txEl>
                                          </p:spTgt>
                                        </p:tgtEl>
                                      </p:cBhvr>
                                    </p:animEffect>
                                  </p:childTnLst>
                                </p:cTn>
                              </p:par>
                            </p:childTnLst>
                          </p:cTn>
                        </p:par>
                      </p:childTnLst>
                    </p:cTn>
                  </p:par>
                  <p:par>
                    <p:cTn id="20" fill="hold" nodeType="clickPar">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3">
                                            <p:txEl>
                                              <p:pRg st="3" end="3"/>
                                            </p:txEl>
                                          </p:spTgt>
                                        </p:tgtEl>
                                        <p:attrNameLst>
                                          <p:attrName>style.visibility</p:attrName>
                                        </p:attrNameLst>
                                      </p:cBhvr>
                                      <p:to>
                                        <p:strVal val="visible"/>
                                      </p:to>
                                    </p:set>
                                    <p:animEffect transition="in" filter="fade">
                                      <p:cBhvr>
                                        <p:cTn id="24"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RAID 6</a:t>
            </a:r>
          </a:p>
        </p:txBody>
      </p:sp>
      <p:sp>
        <p:nvSpPr>
          <p:cNvPr id="3" name="Content Placeholder 2"/>
          <p:cNvSpPr>
            <a:spLocks noGrp="1"/>
          </p:cNvSpPr>
          <p:nvPr>
            <p:ph idx="1"/>
          </p:nvPr>
        </p:nvSpPr>
        <p:spPr>
          <a:xfrm>
            <a:off x="131181" y="863444"/>
            <a:ext cx="11843942" cy="5590565"/>
          </a:xfrm>
        </p:spPr>
        <p:txBody>
          <a:bodyPr/>
          <a:lstStyle/>
          <a:p>
            <a:r>
              <a:rPr lang="en-US" sz="2300" dirty="0"/>
              <a:t>This technique is similar to RAID 5, but includes a second parity scheme that is distributed across the drives in the array. </a:t>
            </a:r>
            <a:r>
              <a:rPr lang="en-US" sz="2300" dirty="0" smtClean="0"/>
              <a:t>(double parity)</a:t>
            </a:r>
            <a:endParaRPr lang="en-US" sz="2300" dirty="0"/>
          </a:p>
          <a:p>
            <a:r>
              <a:rPr lang="en-US" sz="2300" dirty="0"/>
              <a:t>The use of additional parity allows the array to continue to function even if two disks fail simultaneously. However, this extra protection comes at a cost. </a:t>
            </a:r>
          </a:p>
          <a:p>
            <a:r>
              <a:rPr lang="en-US" sz="2300" dirty="0"/>
              <a:t>RAID 6 arrays have a higher cost per gigabyte (GB) and often have slower write performance than RAID 5 arrays.</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30990" y="2742455"/>
            <a:ext cx="6346778" cy="3980867"/>
          </a:xfrm>
          <a:prstGeom prst="rect">
            <a:avLst/>
          </a:prstGeom>
        </p:spPr>
      </p:pic>
    </p:spTree>
    <p:extLst>
      <p:ext uri="{BB962C8B-B14F-4D97-AF65-F5344CB8AC3E}">
        <p14:creationId xmlns:p14="http://schemas.microsoft.com/office/powerpoint/2010/main" val="2432792235"/>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6030432-D062-3469-0920-2E960A762AB1}"/>
              </a:ext>
            </a:extLst>
          </p:cNvPr>
          <p:cNvSpPr>
            <a:spLocks noGrp="1"/>
          </p:cNvSpPr>
          <p:nvPr>
            <p:ph type="title"/>
          </p:nvPr>
        </p:nvSpPr>
        <p:spPr/>
        <p:txBody>
          <a:bodyPr/>
          <a:lstStyle/>
          <a:p>
            <a:r>
              <a:rPr lang="en-US" dirty="0"/>
              <a:t>RAM Disks</a:t>
            </a:r>
          </a:p>
        </p:txBody>
      </p:sp>
      <p:sp>
        <p:nvSpPr>
          <p:cNvPr id="3" name="Content Placeholder 2">
            <a:extLst>
              <a:ext uri="{FF2B5EF4-FFF2-40B4-BE49-F238E27FC236}">
                <a16:creationId xmlns:a16="http://schemas.microsoft.com/office/drawing/2014/main" xmlns="" id="{FB646506-6CE2-EC7C-79A5-1B140D25ECB4}"/>
              </a:ext>
            </a:extLst>
          </p:cNvPr>
          <p:cNvSpPr>
            <a:spLocks noGrp="1"/>
          </p:cNvSpPr>
          <p:nvPr>
            <p:ph idx="1"/>
          </p:nvPr>
        </p:nvSpPr>
        <p:spPr/>
        <p:txBody>
          <a:bodyPr/>
          <a:lstStyle/>
          <a:p>
            <a:r>
              <a:rPr lang="en-US" dirty="0"/>
              <a:t>Refers to RAM that has been configured to simulate a disk drive. You can access files on a RAM disk as you would access files on a real disk. RAM disks, however, are approximately a thousand times faster than hard disk drives. They are particularly useful, therefore, for applications that require frequent disk accesses.</a:t>
            </a:r>
          </a:p>
          <a:p>
            <a:r>
              <a:rPr lang="en-US" dirty="0"/>
              <a:t>Because they are made of normal RAM, RAM disks lose their contents once the computer is turned off. To use a RAM disk, therefore, you need to copy files from a real hard disk at the beginning of the session and then copy the files back to the hard disk before you turn the computer off. Note that if there is a power failure, you will lose whatever data is on the RAM disk. (Some RAM disks come with a battery backup to make them more stable.)</a:t>
            </a:r>
          </a:p>
          <a:p>
            <a:r>
              <a:rPr lang="en-US" dirty="0"/>
              <a:t>A RAM disk is also called a virtual disk or a RAM drive</a:t>
            </a:r>
            <a:r>
              <a:rPr lang="en-US" dirty="0" smtClean="0"/>
              <a:t>.</a:t>
            </a:r>
          </a:p>
          <a:p>
            <a:r>
              <a:rPr lang="en-US" dirty="0" err="1" smtClean="0"/>
              <a:t>Eg</a:t>
            </a:r>
            <a:r>
              <a:rPr lang="en-US" dirty="0" smtClean="0"/>
              <a:t>: </a:t>
            </a:r>
            <a:r>
              <a:rPr lang="en-US" dirty="0" err="1"/>
              <a:t>I</a:t>
            </a:r>
            <a:r>
              <a:rPr lang="en-US" dirty="0" err="1" smtClean="0"/>
              <a:t>mdisk</a:t>
            </a:r>
            <a:r>
              <a:rPr lang="en-US" dirty="0" smtClean="0"/>
              <a:t> tool </a:t>
            </a:r>
            <a:r>
              <a:rPr lang="en-US" dirty="0" smtClean="0"/>
              <a:t>kit </a:t>
            </a:r>
            <a:endParaRPr lang="en-US" dirty="0"/>
          </a:p>
          <a:p>
            <a:endParaRPr lang="en-US" dirty="0"/>
          </a:p>
        </p:txBody>
      </p:sp>
    </p:spTree>
    <p:extLst>
      <p:ext uri="{BB962C8B-B14F-4D97-AF65-F5344CB8AC3E}">
        <p14:creationId xmlns:p14="http://schemas.microsoft.com/office/powerpoint/2010/main" val="2417061220"/>
      </p:ext>
    </p:extLst>
  </p:cSld>
  <p:clrMapOvr>
    <a:masterClrMapping/>
  </p:clrMapOvr>
  <p:transition/>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Assignment</a:t>
            </a:r>
          </a:p>
        </p:txBody>
      </p:sp>
      <p:sp>
        <p:nvSpPr>
          <p:cNvPr id="3" name="Content Placeholder 2"/>
          <p:cNvSpPr>
            <a:spLocks noGrp="1"/>
          </p:cNvSpPr>
          <p:nvPr>
            <p:ph idx="1"/>
          </p:nvPr>
        </p:nvSpPr>
        <p:spPr/>
        <p:txBody>
          <a:bodyPr/>
          <a:lstStyle/>
          <a:p>
            <a:pPr marL="457200" indent="-457200">
              <a:buFont typeface="+mj-lt"/>
              <a:buAutoNum type="arabicPeriod"/>
            </a:pPr>
            <a:r>
              <a:rPr lang="en-GB"/>
              <a:t>Write a short note on DMA.</a:t>
            </a:r>
          </a:p>
          <a:p>
            <a:pPr marL="457200" indent="-457200">
              <a:buFont typeface="+mj-lt"/>
              <a:buAutoNum type="arabicPeriod"/>
            </a:pPr>
            <a:r>
              <a:rPr lang="en-GB"/>
              <a:t>Briefly describe all Disk Arm Scheduling Algorithm.</a:t>
            </a:r>
          </a:p>
          <a:p>
            <a:pPr marL="457200" indent="-457200">
              <a:buFont typeface="+mj-lt"/>
              <a:buAutoNum type="arabicPeriod"/>
            </a:pPr>
            <a:r>
              <a:rPr lang="en-GB"/>
              <a:t>Write short note on RAID.</a:t>
            </a:r>
          </a:p>
          <a:p>
            <a:pPr marL="457200" indent="-457200">
              <a:buFont typeface="+mj-lt"/>
              <a:buAutoNum type="arabicPeriod"/>
            </a:pPr>
            <a:r>
              <a:rPr lang="en-GB"/>
              <a:t>Suppose Disk drive has 300 cylinders. The current position of head is 90. The queue of pending request is 36,79,15,120,199,270,89,170 Calculate head movement for the following algorithms. 1. FCFS 2. SSTF</a:t>
            </a:r>
          </a:p>
          <a:p>
            <a:pPr marL="457200" indent="-457200">
              <a:buFont typeface="+mj-lt"/>
              <a:buAutoNum type="arabicPeriod"/>
            </a:pPr>
            <a:r>
              <a:rPr lang="en-GB"/>
              <a:t>Suppose that a disk drive has 200 cylinders from 0 to 199. The drive is currently at cylinder 53 and previous request at 43. The queue of pending requests in FIFO order is 98, 183, 37, 122, 14, 124, 65, 67.Starting from the current head position what is the total distance (in cylinder ) that the disk arm moves to satisfy all the pending requests for each of the following disk scheduling algorithms: FCFS, SSTF, SCAN, LOOK, CLOOK, CSCAN.</a:t>
            </a:r>
          </a:p>
        </p:txBody>
      </p:sp>
    </p:spTree>
    <p:extLst>
      <p:ext uri="{BB962C8B-B14F-4D97-AF65-F5344CB8AC3E}">
        <p14:creationId xmlns:p14="http://schemas.microsoft.com/office/powerpoint/2010/main" val="1610840491"/>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nodeType="clickPar">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nodeType="clickPar">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nodeType="clickPar">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Assignment</a:t>
            </a:r>
          </a:p>
        </p:txBody>
      </p:sp>
      <p:sp>
        <p:nvSpPr>
          <p:cNvPr id="3" name="Content Placeholder 2"/>
          <p:cNvSpPr>
            <a:spLocks noGrp="1"/>
          </p:cNvSpPr>
          <p:nvPr>
            <p:ph idx="1"/>
          </p:nvPr>
        </p:nvSpPr>
        <p:spPr>
          <a:xfrm>
            <a:off x="178805" y="863444"/>
            <a:ext cx="11929641" cy="5590565"/>
          </a:xfrm>
        </p:spPr>
        <p:txBody>
          <a:bodyPr/>
          <a:lstStyle/>
          <a:p>
            <a:pPr marL="457200" indent="-457200">
              <a:buFont typeface="+mj-lt"/>
              <a:buAutoNum type="arabicPeriod" startAt="6"/>
            </a:pPr>
            <a:r>
              <a:rPr lang="en-GB"/>
              <a:t>Define seek time and rotational latency. Assume that a disk drive has 200 cylinders, numbered 0 to 199. The drive is currently serving a request at cylinder 100. The queue of pending requests is 23, 89, 132, 42, 189. Calculate seek time for FCFS and SSTF disk scheduling algorithm.</a:t>
            </a:r>
          </a:p>
          <a:p>
            <a:pPr marL="457200" indent="-457200">
              <a:buFont typeface="+mj-lt"/>
              <a:buAutoNum type="arabicPeriod" startAt="6"/>
            </a:pPr>
            <a:r>
              <a:rPr lang="en-GB"/>
              <a:t>Suppose that a disk drive has 5000 cylinders, numbered 0 to 4999. The drive is currently serving a request at cylinder 143,. The queue of pending requests, in FIFO order,86, 1470, 913, 1774, 948, 1509, 1022, 1750, 130Starting from current head position what is total distance (in cylinders) that disk arm moves to satisfy all the pending request for FCFS and SSTF disk scheduling algorithm?</a:t>
            </a:r>
          </a:p>
        </p:txBody>
      </p:sp>
    </p:spTree>
    <p:extLst>
      <p:ext uri="{BB962C8B-B14F-4D97-AF65-F5344CB8AC3E}">
        <p14:creationId xmlns:p14="http://schemas.microsoft.com/office/powerpoint/2010/main" val="2958740775"/>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AS_NET" val="6.0.25"/>
  <p:tag name="AS_OS" val="Unix 5.4.0.1103"/>
  <p:tag name="AS_RELEASE_DATE" val="2023.09.14"/>
  <p:tag name="AS_TITLE" val="Aspose.Slides for .NET6"/>
  <p:tag name="AS_VERSION" val="23.9"/>
</p:tagLst>
</file>

<file path=ppt/theme/theme1.xml><?xml version="1.0" encoding="utf-8"?>
<a:theme xmlns:a="http://schemas.openxmlformats.org/drawingml/2006/main" name="Office Theme">
  <a:themeElements>
    <a:clrScheme name="Jay">
      <a:dk1>
        <a:srgbClr val="212121"/>
      </a:dk1>
      <a:lt1>
        <a:sysClr val="window" lastClr="FFFFFF"/>
      </a:lt1>
      <a:dk2>
        <a:srgbClr val="1D6FA9"/>
      </a:dk2>
      <a:lt2>
        <a:srgbClr val="FFFFFF"/>
      </a:lt2>
      <a:accent1>
        <a:srgbClr val="909090"/>
      </a:accent1>
      <a:accent2>
        <a:srgbClr val="00BBD3"/>
      </a:accent2>
      <a:accent3>
        <a:srgbClr val="8BC145"/>
      </a:accent3>
      <a:accent4>
        <a:srgbClr val="1D9A78"/>
      </a:accent4>
      <a:accent5>
        <a:srgbClr val="F19D19"/>
      </a:accent5>
      <a:accent6>
        <a:srgbClr val="B84742"/>
      </a:accent6>
      <a:hlink>
        <a:srgbClr val="70AD47"/>
      </a:hlink>
      <a:folHlink>
        <a:srgbClr val="ED7D31"/>
      </a:folHlink>
    </a:clrScheme>
    <a:fontScheme name="Custom 1">
      <a:majorFont>
        <a:latin typeface="Roboto Condensed"/>
        <a:ea typeface="Roboto Condensed"/>
        <a:cs typeface="Arial"/>
      </a:majorFont>
      <a:minorFont>
        <a:latin typeface="Roboto Condensed"/>
        <a:ea typeface="Roboto Condensed"/>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Calibri Light" panose="020F0302020204030204"/>
        <a:cs typeface="Arial"/>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Calibri" panose="020F0502020204030204"/>
        <a:cs typeface="Arial"/>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29507</TotalTime>
  <Words>5356</Words>
  <Application>Microsoft Office PowerPoint</Application>
  <PresentationFormat>Widescreen</PresentationFormat>
  <Paragraphs>549</Paragraphs>
  <Slides>57</Slides>
  <Notes>0</Notes>
  <HiddenSlides>1</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57</vt:i4>
      </vt:variant>
    </vt:vector>
  </HeadingPairs>
  <TitlesOfParts>
    <vt:vector size="65" baseType="lpstr">
      <vt:lpstr>Roboto Condensed</vt:lpstr>
      <vt:lpstr>Wingdings 3</vt:lpstr>
      <vt:lpstr>Calibri</vt:lpstr>
      <vt:lpstr>Segoe UI Black</vt:lpstr>
      <vt:lpstr>Roboto Condensed Light</vt:lpstr>
      <vt:lpstr>Wingdings</vt:lpstr>
      <vt:lpstr>Arial</vt:lpstr>
      <vt:lpstr>Office Theme</vt:lpstr>
      <vt:lpstr>Chapter 5 Input/Output Management</vt:lpstr>
      <vt:lpstr>Introduction</vt:lpstr>
      <vt:lpstr>I/O Interface</vt:lpstr>
      <vt:lpstr>Need of I/O Interface</vt:lpstr>
      <vt:lpstr>Principles of I/O Hardware</vt:lpstr>
      <vt:lpstr>I/O Devices</vt:lpstr>
      <vt:lpstr>Device Controllers</vt:lpstr>
      <vt:lpstr>Device Controllers</vt:lpstr>
      <vt:lpstr> I/O Mapped or Isolated I/O</vt:lpstr>
      <vt:lpstr>Memory – Mapped I/O</vt:lpstr>
      <vt:lpstr>  I/O mapped vs Memory Mapped I/O </vt:lpstr>
      <vt:lpstr>Organization of I/O functions(Modes of transfer)</vt:lpstr>
      <vt:lpstr>Direct Memory Access</vt:lpstr>
      <vt:lpstr>Disk read-write without a DMA</vt:lpstr>
      <vt:lpstr>Disk read-write using DMA</vt:lpstr>
      <vt:lpstr>Disk read-write using DMA</vt:lpstr>
      <vt:lpstr>Disk read-write using DMA</vt:lpstr>
      <vt:lpstr>Disk read-write using DMA</vt:lpstr>
      <vt:lpstr>Disk read-write using DMA</vt:lpstr>
      <vt:lpstr>Six Step Process to Perform DMA Transfer</vt:lpstr>
      <vt:lpstr>Goals of I/O Software</vt:lpstr>
      <vt:lpstr>Goals of I/O Software</vt:lpstr>
      <vt:lpstr>Device Drivers</vt:lpstr>
      <vt:lpstr>Goals of I/O Software</vt:lpstr>
      <vt:lpstr>Device Independent I/O Software</vt:lpstr>
      <vt:lpstr>User-Space I/O Software</vt:lpstr>
      <vt:lpstr>Polled I/O</vt:lpstr>
      <vt:lpstr>Interrupt Driven I/O</vt:lpstr>
      <vt:lpstr>Interrupt – Driven I/O Cycle</vt:lpstr>
      <vt:lpstr>Character User Interface and Graphical User Interface</vt:lpstr>
      <vt:lpstr>Disk</vt:lpstr>
      <vt:lpstr>Disk Scheduling</vt:lpstr>
      <vt:lpstr>Disk Arm Scheduling Algorithm</vt:lpstr>
      <vt:lpstr>Example for Disk Arm Scheduling Algorithm</vt:lpstr>
      <vt:lpstr>FCSC (First Come First Serve) / FIFO (First In First Out)</vt:lpstr>
      <vt:lpstr>SSTF (Shortest seek time first)</vt:lpstr>
      <vt:lpstr>SCAN</vt:lpstr>
      <vt:lpstr>SCAN</vt:lpstr>
      <vt:lpstr>C-SCAN</vt:lpstr>
      <vt:lpstr>C-SCAN</vt:lpstr>
      <vt:lpstr>LOOK</vt:lpstr>
      <vt:lpstr>LOOK</vt:lpstr>
      <vt:lpstr>C-LOOK</vt:lpstr>
      <vt:lpstr>C-LOOK</vt:lpstr>
      <vt:lpstr>Example for Disk Arm Scheduling Algorithm [Exercise]</vt:lpstr>
      <vt:lpstr>RAID</vt:lpstr>
      <vt:lpstr>RAID 0 (Striping)</vt:lpstr>
      <vt:lpstr>RAID 1 (Mirroring)</vt:lpstr>
      <vt:lpstr>RAID 2 (Bit-level striping using a Hamming Code parity)</vt:lpstr>
      <vt:lpstr>RAID 2 (Bit-level striping using a Hamming Code parity)</vt:lpstr>
      <vt:lpstr>RAID 3 (Byte-level striping with a dedicated parity)</vt:lpstr>
      <vt:lpstr>RAID 4 (Block-level striping with dedicated parity)</vt:lpstr>
      <vt:lpstr>RAID 5 (Block-level striping with distributed parity)</vt:lpstr>
      <vt:lpstr>RAID 6</vt:lpstr>
      <vt:lpstr>RAM Disks</vt:lpstr>
      <vt:lpstr>Assignment</vt:lpstr>
      <vt:lpstr>Assignment</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Dell</cp:lastModifiedBy>
  <cp:revision>1643</cp:revision>
  <cp:lastPrinted>2021-03-25T03:24:31Z</cp:lastPrinted>
  <dcterms:created xsi:type="dcterms:W3CDTF">2020-05-01T05:09:15Z</dcterms:created>
  <dcterms:modified xsi:type="dcterms:W3CDTF">2024-02-11T00:56:03Z</dcterms:modified>
</cp:coreProperties>
</file>