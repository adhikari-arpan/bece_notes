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0"/>
  </p:notesMasterIdLst>
  <p:sldIdLst>
    <p:sldId id="309" r:id="rId2"/>
    <p:sldId id="292" r:id="rId3"/>
    <p:sldId id="310" r:id="rId4"/>
    <p:sldId id="489" r:id="rId5"/>
    <p:sldId id="349" r:id="rId6"/>
    <p:sldId id="490" r:id="rId7"/>
    <p:sldId id="564" r:id="rId8"/>
    <p:sldId id="466" r:id="rId9"/>
    <p:sldId id="487" r:id="rId10"/>
    <p:sldId id="472" r:id="rId11"/>
    <p:sldId id="565" r:id="rId12"/>
    <p:sldId id="503" r:id="rId13"/>
    <p:sldId id="566" r:id="rId14"/>
    <p:sldId id="501" r:id="rId15"/>
    <p:sldId id="505" r:id="rId16"/>
    <p:sldId id="569" r:id="rId17"/>
    <p:sldId id="570" r:id="rId18"/>
    <p:sldId id="571" r:id="rId19"/>
    <p:sldId id="508" r:id="rId20"/>
    <p:sldId id="572" r:id="rId21"/>
    <p:sldId id="567" r:id="rId22"/>
    <p:sldId id="573" r:id="rId23"/>
    <p:sldId id="574" r:id="rId24"/>
    <p:sldId id="575" r:id="rId25"/>
    <p:sldId id="576" r:id="rId26"/>
    <p:sldId id="577" r:id="rId27"/>
    <p:sldId id="578" r:id="rId28"/>
    <p:sldId id="579" r:id="rId29"/>
    <p:sldId id="580" r:id="rId30"/>
    <p:sldId id="599" r:id="rId31"/>
    <p:sldId id="581" r:id="rId32"/>
    <p:sldId id="582" r:id="rId33"/>
    <p:sldId id="583" r:id="rId34"/>
    <p:sldId id="584" r:id="rId35"/>
    <p:sldId id="585" r:id="rId36"/>
    <p:sldId id="586" r:id="rId37"/>
    <p:sldId id="587" r:id="rId38"/>
    <p:sldId id="588" r:id="rId39"/>
    <p:sldId id="589" r:id="rId40"/>
    <p:sldId id="590" r:id="rId41"/>
    <p:sldId id="591" r:id="rId42"/>
    <p:sldId id="592" r:id="rId43"/>
    <p:sldId id="598" r:id="rId44"/>
    <p:sldId id="568" r:id="rId45"/>
    <p:sldId id="595" r:id="rId46"/>
    <p:sldId id="594" r:id="rId47"/>
    <p:sldId id="597" r:id="rId48"/>
    <p:sldId id="346" r:id="rId49"/>
  </p:sldIdLst>
  <p:sldSz cx="12192000" cy="6858000"/>
  <p:notesSz cx="6954838" cy="9309100"/>
  <p:embeddedFontLst>
    <p:embeddedFont>
      <p:font typeface="Wingdings 3" panose="05040102010807070707" pitchFamily="18" charset="2"/>
      <p:regular r:id="rId51"/>
    </p:embeddedFont>
    <p:embeddedFont>
      <p:font typeface="Roboto Condensed Light" panose="020B0604020202020204" charset="0"/>
      <p:regular r:id="rId52"/>
      <p:italic r:id="rId53"/>
    </p:embeddedFont>
    <p:embeddedFont>
      <p:font typeface="Calibri" panose="020F0502020204030204" pitchFamily="34" charset="0"/>
      <p:regular r:id="rId54"/>
      <p:bold r:id="rId55"/>
      <p:italic r:id="rId56"/>
      <p:boldItalic r:id="rId57"/>
    </p:embeddedFont>
    <p:embeddedFont>
      <p:font typeface="Wingdings 2" panose="05020102010507070707" pitchFamily="18" charset="2"/>
      <p:regular r:id="rId58"/>
    </p:embeddedFont>
    <p:embeddedFont>
      <p:font typeface="Roboto Condensed" panose="020B0604020202020204" charset="0"/>
      <p:regular r:id="rId59"/>
      <p:bold r:id="rId60"/>
      <p:italic r:id="rId61"/>
      <p:boldItalic r:id="rId62"/>
    </p:embeddedFont>
    <p:embeddedFont>
      <p:font typeface="Segoe UI Black" panose="020B0A02040204020203" pitchFamily="34" charset="0"/>
      <p:bold r:id="rId63"/>
      <p:boldItalic r:id="rId64"/>
    </p:embeddedFont>
  </p:embeddedFontLst>
  <p:custDataLst>
    <p:tags r:id="rId6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hemeClr val="lt1"/>
      </a:tcTxStyle>
      <a:tcStyle>
        <a:tcBdr/>
        <a:fill>
          <a:solidFill>
            <a:schemeClr val="dk1"/>
          </a:solidFill>
        </a:fill>
      </a:tcStyle>
    </a:lastCol>
    <a:firstCol>
      <a:tcTxStyle b="on">
        <a:fontRef idx="minor"/>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hemeClr val="dk1"/>
      </a:tcTxStyle>
      <a:tcStyle>
        <a:tcBdr/>
      </a:tcStyle>
    </a:seCell>
    <a:swCell>
      <a:tcTxStyle b="on">
        <a:fontRef idx="minor"/>
        <a:schemeClr val="dk1"/>
      </a:tcTxStyle>
      <a:tcStyle>
        <a:tcBdr/>
      </a:tcStyle>
    </a:swCell>
    <a:firstRow>
      <a:tcTxStyle b="on">
        <a:fontRef idx="minor"/>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34" autoAdjust="0"/>
  </p:normalViewPr>
  <p:slideViewPr>
    <p:cSldViewPr snapToGrid="0">
      <p:cViewPr>
        <p:scale>
          <a:sx n="66" d="100"/>
          <a:sy n="66" d="100"/>
        </p:scale>
        <p:origin x="276" y="162"/>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63" Type="http://schemas.openxmlformats.org/officeDocument/2006/relationships/font" Target="fonts/font13.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61"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64" Type="http://schemas.openxmlformats.org/officeDocument/2006/relationships/font" Target="fonts/font14.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idx="1"/>
          </p:nvPr>
        </p:nvSpPr>
        <p:spPr>
          <a:xfrm>
            <a:off x="3939466" y="0"/>
            <a:ext cx="3013763" cy="467072"/>
          </a:xfrm>
          <a:prstGeom prst="rect">
            <a:avLst/>
          </a:prstGeom>
        </p:spPr>
        <p:txBody>
          <a:bodyPr vert="horz" lIns="92930" tIns="46465" rIns="92930" bIns="46465" rtlCol="0"/>
          <a:lstStyle>
            <a:lvl1pPr algn="r">
              <a:defRPr sz="1200"/>
            </a:lvl1pPr>
          </a:lstStyle>
          <a:p>
            <a:fld id="{D648E3F3-8B31-41D2-AA9B-9796555DB866}" type="datetimeFigureOut">
              <a:rPr lang="en-US" smtClean="0"/>
              <a:t>1/9/2024</a:t>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sp>
      <p:sp>
        <p:nvSpPr>
          <p:cNvPr id="5" name="Notes Placeholder 4"/>
          <p:cNvSpPr>
            <a:spLocks noGrp="1"/>
          </p:cNvSpPr>
          <p:nvPr>
            <p:ph type="body" sz="quarter" idx="3"/>
          </p:nvPr>
        </p:nvSpPr>
        <p:spPr>
          <a:xfrm>
            <a:off x="695484" y="4480004"/>
            <a:ext cx="5563870" cy="3665458"/>
          </a:xfrm>
          <a:prstGeom prst="rect">
            <a:avLst/>
          </a:prstGeom>
        </p:spPr>
        <p:txBody>
          <a:bodyPr vert="horz" lIns="92930" tIns="46465" rIns="92930" bIns="4646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13763" cy="467071"/>
          </a:xfrm>
          <a:prstGeom prst="rect">
            <a:avLst/>
          </a:prstGeom>
        </p:spPr>
        <p:txBody>
          <a:bodyPr vert="horz" lIns="92930" tIns="46465" rIns="92930" bIns="46465"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30"/>
            <a:ext cx="3013763" cy="467071"/>
          </a:xfrm>
          <a:prstGeom prst="rect">
            <a:avLst/>
          </a:prstGeom>
        </p:spPr>
        <p:txBody>
          <a:bodyPr vert="horz" lIns="92930" tIns="46465" rIns="92930" bIns="46465"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79BDEF-6165-4E72-B1A6-6E8034CEC248}" type="slidenum">
              <a:rPr lang="en-US" smtClean="0"/>
              <a:t>20</a:t>
            </a:fld>
            <a:endParaRPr lang="en-US"/>
          </a:p>
        </p:txBody>
      </p:sp>
    </p:spTree>
    <p:extLst>
      <p:ext uri="{BB962C8B-B14F-4D97-AF65-F5344CB8AC3E}">
        <p14:creationId xmlns:p14="http://schemas.microsoft.com/office/powerpoint/2010/main" val="73322892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jpe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3.wdp"/><Relationship Id="rId5" Type="http://schemas.openxmlformats.org/officeDocument/2006/relationships/image" Target="../media/image12.png"/><Relationship Id="rId10" Type="http://schemas.openxmlformats.org/officeDocument/2006/relationships/image" Target="../media/image9.jpeg"/><Relationship Id="rId4" Type="http://schemas.openxmlformats.org/officeDocument/2006/relationships/image" Target="../media/image6.png"/><Relationship Id="rId9" Type="http://schemas.openxmlformats.org/officeDocument/2006/relationships/image" Target="../media/image13.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15.jpe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6.jpeg"/><Relationship Id="rId4" Type="http://schemas.openxmlformats.org/officeDocument/2006/relationships/image" Target="../media/image3.png"/><Relationship Id="rId9" Type="http://schemas.microsoft.com/office/2007/relationships/hdphoto" Target="../media/hdphoto1.wdp"/></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0">
                      <a:srgbClr val="1D3064"/>
                    </a:gs>
                    <a:gs pos="100000">
                      <a:schemeClr val="tx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a:extLst>
              <a:ext uri="{FF2B5EF4-FFF2-40B4-BE49-F238E27FC236}">
                <a16:creationId xmlns="" xmlns:a16="http://schemas.microsoft.com/office/drawing/2014/main" id="{E0042908-6588-4C7A-9615-8D5899E8A9FA}"/>
              </a:ext>
            </a:extLst>
          </p:cNvPr>
          <p:cNvPicPr>
            <a:picLocks noChangeAspect="1"/>
          </p:cNvPicPr>
          <p:nvPr userDrawn="1"/>
        </p:nvPicPr>
        <p:blipFill>
          <a:blip r:embed="rId10">
            <a:extLst>
              <a:ext uri="{28A0092B-C50C-407E-A947-70E740481C1C}">
                <a14:useLocalDpi xmlns:a14="http://schemas.microsoft.com/office/drawing/2010/main" val="0"/>
              </a:ext>
            </a:extLst>
          </a:blip>
          <a:srcRect l="144383" t="-16142" r="-144383" b="22103"/>
          <a:stretch>
            <a:fillRect/>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 xmlns:a16="http://schemas.microsoft.com/office/drawing/2014/main" id="{3C805A05-DDF6-4BA6-8EDB-D97128A43BFF}"/>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 xmlns:a16="http://schemas.microsoft.com/office/drawing/2014/main"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BE42A8F-C9CB-4716-B6F6-94F666077EE4}" type="datetime4">
              <a:rPr lang="en-US" smtClean="0">
                <a:solidFill>
                  <a:schemeClr val="tx1">
                    <a:lumMod val="90000"/>
                    <a:lumOff val="10000"/>
                  </a:schemeClr>
                </a:solidFill>
                <a:latin typeface="Roboto Condensed Light" panose="02000000000000000000" pitchFamily="2" charset="0"/>
                <a:ea typeface="Roboto Condensed Light" panose="02000000000000000000" pitchFamily="2" charset="0"/>
              </a:rPr>
              <a:t>January 9, 2024</a:t>
            </a:fld>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 xmlns:a16="http://schemas.microsoft.com/office/drawing/2014/main" id="{BF2BE79E-EA17-4AB9-8CB5-714A52A6B2F5}"/>
              </a:ext>
            </a:extLst>
          </p:cNvPr>
          <p:cNvSpPr txBox="1"/>
          <p:nvPr userDrawn="1"/>
        </p:nvSpPr>
        <p:spPr>
          <a:xfrm>
            <a:off x="4038600" y="6604000"/>
            <a:ext cx="466344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Unit 5 – Deadlock</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
        <p:nvSpPr>
          <p:cNvPr id="23" name="Slide Number Placeholder 3">
            <a:extLst>
              <a:ext uri="{FF2B5EF4-FFF2-40B4-BE49-F238E27FC236}">
                <a16:creationId xmlns="" xmlns:a16="http://schemas.microsoft.com/office/drawing/2014/main"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 xmlns:a16="http://schemas.microsoft.com/office/drawing/2014/main" id="{ACB01872-4321-4181-A609-1C503C074C10}"/>
              </a:ext>
            </a:extLst>
          </p:cNvPr>
          <p:cNvPicPr preferRelativeResize="0"/>
          <p:nvPr userDrawn="1"/>
        </p:nvPicPr>
        <p:blipFill>
          <a:blip r:embed="rId2">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 xmlns:a16="http://schemas.microsoft.com/office/drawing/2014/main"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2F870A3-3874-4E2B-A834-88AC478FDFFF}" type="datetime4">
              <a:rPr lang="en-US" smtClean="0">
                <a:solidFill>
                  <a:schemeClr val="tx1">
                    <a:lumMod val="90000"/>
                    <a:lumOff val="10000"/>
                  </a:schemeClr>
                </a:solidFill>
                <a:latin typeface="Roboto Condensed Light" panose="02000000000000000000" pitchFamily="2" charset="0"/>
                <a:ea typeface="Roboto Condensed Light" panose="02000000000000000000" pitchFamily="2" charset="0"/>
              </a:rPr>
              <a:t>January 9, 2024</a:t>
            </a:fld>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 xmlns:a16="http://schemas.microsoft.com/office/drawing/2014/main" id="{BF2BE79E-EA17-4AB9-8CB5-714A52A6B2F5}"/>
              </a:ext>
            </a:extLst>
          </p:cNvPr>
          <p:cNvSpPr txBox="1"/>
          <p:nvPr userDrawn="1"/>
        </p:nvSpPr>
        <p:spPr>
          <a:xfrm>
            <a:off x="4038600" y="6604000"/>
            <a:ext cx="466344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5 – Deadlock</a:t>
            </a:r>
          </a:p>
        </p:txBody>
      </p:sp>
      <p:sp>
        <p:nvSpPr>
          <p:cNvPr id="23" name="Slide Number Placeholder 3">
            <a:extLst>
              <a:ext uri="{FF2B5EF4-FFF2-40B4-BE49-F238E27FC236}">
                <a16:creationId xmlns="" xmlns:a16="http://schemas.microsoft.com/office/drawing/2014/main"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 xmlns:a16="http://schemas.microsoft.com/office/drawing/2014/main" id="{ACB01872-4321-4181-A609-1C503C074C10}"/>
              </a:ext>
            </a:extLst>
          </p:cNvPr>
          <p:cNvPicPr preferRelativeResize="0"/>
          <p:nvPr userDrawn="1"/>
        </p:nvPicPr>
        <p:blipFill>
          <a:blip r:embed="rId2">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 xmlns:a16="http://schemas.microsoft.com/office/drawing/2014/main"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51A2A3-9702-4299-BE37-98D59B071996}" type="datetime4">
              <a:rPr lang="en-US" smtClean="0">
                <a:solidFill>
                  <a:schemeClr val="tx1">
                    <a:lumMod val="90000"/>
                    <a:lumOff val="10000"/>
                  </a:schemeClr>
                </a:solidFill>
                <a:latin typeface="Roboto Condensed Light" panose="02000000000000000000" pitchFamily="2" charset="0"/>
                <a:ea typeface="Roboto Condensed Light" panose="02000000000000000000" pitchFamily="2" charset="0"/>
              </a:rPr>
              <a:t>January 9, 2024</a:t>
            </a:fld>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 xmlns:a16="http://schemas.microsoft.com/office/drawing/2014/main" id="{BF2BE79E-EA17-4AB9-8CB5-714A52A6B2F5}"/>
              </a:ext>
            </a:extLst>
          </p:cNvPr>
          <p:cNvSpPr txBox="1"/>
          <p:nvPr userDrawn="1"/>
        </p:nvSpPr>
        <p:spPr>
          <a:xfrm>
            <a:off x="4038600" y="6604000"/>
            <a:ext cx="466344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Unit 5 – Deadlock</a:t>
            </a:r>
          </a:p>
        </p:txBody>
      </p:sp>
      <p:sp>
        <p:nvSpPr>
          <p:cNvPr id="23" name="Slide Number Placeholder 3">
            <a:extLst>
              <a:ext uri="{FF2B5EF4-FFF2-40B4-BE49-F238E27FC236}">
                <a16:creationId xmlns="" xmlns:a16="http://schemas.microsoft.com/office/drawing/2014/main"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 xmlns:a16="http://schemas.microsoft.com/office/drawing/2014/main" id="{ACB01872-4321-4181-A609-1C503C074C10}"/>
              </a:ext>
            </a:extLst>
          </p:cNvPr>
          <p:cNvPicPr preferRelativeResize="0"/>
          <p:nvPr userDrawn="1"/>
        </p:nvPicPr>
        <p:blipFill>
          <a:blip r:embed="rId2">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 xmlns:a16="http://schemas.microsoft.com/office/drawing/2014/main" id="{DC6F4971-704E-42EF-A852-52D75741FB7C}"/>
              </a:ext>
            </a:extLst>
          </p:cNvPr>
          <p:cNvSpPr>
            <a:spLocks noGrp="1"/>
          </p:cNvSpPr>
          <p:nvPr>
            <p:ph idx="1"/>
          </p:nvPr>
        </p:nvSpPr>
        <p:spPr>
          <a:xfrm>
            <a:off x="123092" y="863445"/>
            <a:ext cx="11937729" cy="5616486"/>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 xmlns:a16="http://schemas.microsoft.com/office/drawing/2014/main" id="{07171932-FFF4-4D27-9425-8CB5D27A92F2}"/>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11581" b="21180"/>
          <a:stretch>
            <a:fillRect/>
          </a:stretch>
        </p:blipFill>
        <p:spPr>
          <a:xfrm rot="16200000">
            <a:off x="9807099" y="606901"/>
            <a:ext cx="2991808" cy="1778000"/>
          </a:xfrm>
          <a:prstGeom prst="rect">
            <a:avLst/>
          </a:prstGeom>
        </p:spPr>
      </p:pic>
      <p:pic>
        <p:nvPicPr>
          <p:cNvPr id="12" name="Picture 11">
            <a:extLst>
              <a:ext uri="{FF2B5EF4-FFF2-40B4-BE49-F238E27FC236}">
                <a16:creationId xmlns="" xmlns:a16="http://schemas.microsoft.com/office/drawing/2014/main" id="{1639DF2A-5426-428D-B32D-78E9191D8A0C}"/>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a:fillRect/>
          </a:stretch>
        </p:blipFill>
        <p:spPr>
          <a:xfrm>
            <a:off x="0" y="401568"/>
            <a:ext cx="543946" cy="772151"/>
          </a:xfrm>
          <a:prstGeom prst="rect">
            <a:avLst/>
          </a:prstGeom>
        </p:spPr>
      </p:pic>
      <p:sp>
        <p:nvSpPr>
          <p:cNvPr id="2" name="Title 1">
            <a:extLst>
              <a:ext uri="{FF2B5EF4-FFF2-40B4-BE49-F238E27FC236}">
                <a16:creationId xmlns=""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a:gradFill flip="none" rotWithShape="1">
                  <a:gsLst>
                    <a:gs pos="0">
                      <a:srgbClr val="1D3064"/>
                    </a:gs>
                    <a:gs pos="100000">
                      <a:schemeClr val="tx2"/>
                    </a:gs>
                  </a:gsLst>
                  <a:lin ang="0" scaled="1"/>
                </a:gradFill>
                <a:effectLst/>
                <a:latin typeface="+mn-lt"/>
                <a:ea typeface="+mn-ea"/>
                <a:cs typeface="+mn-cs"/>
              </a:defRPr>
            </a:lvl1pPr>
          </a:lstStyle>
          <a:p>
            <a:r>
              <a:rPr lang="en-US"/>
              <a:t>Write here Section Title</a:t>
            </a:r>
          </a:p>
        </p:txBody>
      </p:sp>
      <p:sp>
        <p:nvSpPr>
          <p:cNvPr id="3" name="Text Placeholder 2">
            <a:extLst>
              <a:ext uri="{FF2B5EF4-FFF2-40B4-BE49-F238E27FC236}">
                <a16:creationId xmlns=""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Write here Section Subtitle</a:t>
            </a:r>
          </a:p>
        </p:txBody>
      </p:sp>
      <p:sp>
        <p:nvSpPr>
          <p:cNvPr id="10" name="Freeform 17">
            <a:extLst>
              <a:ext uri="{FF2B5EF4-FFF2-40B4-BE49-F238E27FC236}">
                <a16:creationId xmlns=""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200169294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 xmlns:a16="http://schemas.microsoft.com/office/drawing/2014/main"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Jay R Dhamsaniya</a:t>
            </a:r>
          </a:p>
        </p:txBody>
      </p:sp>
      <p:sp>
        <p:nvSpPr>
          <p:cNvPr id="17" name="Footer Placeholder 2">
            <a:extLst>
              <a:ext uri="{FF2B5EF4-FFF2-40B4-BE49-F238E27FC236}">
                <a16:creationId xmlns="" xmlns:a16="http://schemas.microsoft.com/office/drawing/2014/main" id="{59055D82-7978-44A5-82D1-0A4E00B382BF}"/>
              </a:ext>
            </a:extLst>
          </p:cNvPr>
          <p:cNvSpPr txBox="1"/>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 xmlns:a16="http://schemas.microsoft.com/office/drawing/2014/main"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 xmlns:a16="http://schemas.microsoft.com/office/drawing/2014/main"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 xmlns:a16="http://schemas.microsoft.com/office/drawing/2014/main"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Jay R Dhamsaniya</a:t>
            </a:r>
          </a:p>
        </p:txBody>
      </p:sp>
      <p:sp>
        <p:nvSpPr>
          <p:cNvPr id="17" name="Footer Placeholder 2">
            <a:extLst>
              <a:ext uri="{FF2B5EF4-FFF2-40B4-BE49-F238E27FC236}">
                <a16:creationId xmlns="" xmlns:a16="http://schemas.microsoft.com/office/drawing/2014/main" id="{59055D82-7978-44A5-82D1-0A4E00B382BF}"/>
              </a:ext>
            </a:extLst>
          </p:cNvPr>
          <p:cNvSpPr txBox="1"/>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 xmlns:a16="http://schemas.microsoft.com/office/drawing/2014/main"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 xmlns:a16="http://schemas.microsoft.com/office/drawing/2014/main"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 xmlns:a16="http://schemas.microsoft.com/office/drawing/2014/main"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 xmlns:a16="http://schemas.microsoft.com/office/drawing/2014/main"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Jay R Dhamsaniya</a:t>
            </a:r>
          </a:p>
        </p:txBody>
      </p:sp>
      <p:sp>
        <p:nvSpPr>
          <p:cNvPr id="17" name="Footer Placeholder 2">
            <a:extLst>
              <a:ext uri="{FF2B5EF4-FFF2-40B4-BE49-F238E27FC236}">
                <a16:creationId xmlns="" xmlns:a16="http://schemas.microsoft.com/office/drawing/2014/main" id="{59055D82-7978-44A5-82D1-0A4E00B382BF}"/>
              </a:ext>
            </a:extLst>
          </p:cNvPr>
          <p:cNvSpPr txBox="1"/>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 xmlns:a16="http://schemas.microsoft.com/office/drawing/2014/main"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 xmlns:a16="http://schemas.microsoft.com/office/drawing/2014/main"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6">
                        <a:lumMod val="50000"/>
                      </a:schemeClr>
                    </a:gs>
                    <a:gs pos="100000">
                      <a:schemeClr val="accent6"/>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a:blip r:embed="rId7">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 xmlns:a16="http://schemas.microsoft.com/office/drawing/2014/main" id="{80BF4AFD-B365-46D4-AAC5-485DFA5A7D42}"/>
              </a:ext>
            </a:extLst>
          </p:cNvPr>
          <p:cNvPicPr>
            <a:picLocks noChangeAspect="1" noChangeArrowheads="1"/>
          </p:cNvPicPr>
          <p:nvPr userDrawn="1"/>
        </p:nvPicPr>
        <p:blipFill>
          <a:blip r:embed="rId9">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a:t>Thank</a:t>
            </a:r>
          </a:p>
          <a:p>
            <a:pPr algn="ctr"/>
            <a:r>
              <a:rPr lang="en-US" sz="6000" b="1" i="1"/>
              <a:t>You</a:t>
            </a:r>
          </a:p>
        </p:txBody>
      </p:sp>
      <p:sp>
        <p:nvSpPr>
          <p:cNvPr id="41" name="Rectangle 40"/>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003829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 Red">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22" name="Freeform 13">
            <a:extLst>
              <a:ext uri="{FF2B5EF4-FFF2-40B4-BE49-F238E27FC236}">
                <a16:creationId xmlns=""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a:blip r:embed="rId5" cstate="print">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sp>
        <p:nvSpPr>
          <p:cNvPr id="41" name="Hexagon 40"/>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2" name="TextBox 41"/>
          <p:cNvSpPr txBox="1"/>
          <p:nvPr userDrawn="1"/>
        </p:nvSpPr>
        <p:spPr>
          <a:xfrm>
            <a:off x="5014038" y="2239638"/>
            <a:ext cx="2052165" cy="1938992"/>
          </a:xfrm>
          <a:prstGeom prst="rect">
            <a:avLst/>
          </a:prstGeom>
          <a:noFill/>
        </p:spPr>
        <p:txBody>
          <a:bodyPr wrap="none" rtlCol="0">
            <a:spAutoFit/>
          </a:bodyPr>
          <a:lstStyle/>
          <a:p>
            <a:pPr algn="ctr"/>
            <a:r>
              <a:rPr lang="en-US" sz="6000" b="1" i="1"/>
              <a:t>Thank</a:t>
            </a:r>
          </a:p>
          <a:p>
            <a:pPr algn="ctr"/>
            <a:r>
              <a:rPr lang="en-US" sz="6000" b="1" i="1"/>
              <a:t>You</a:t>
            </a:r>
          </a:p>
        </p:txBody>
      </p:sp>
      <p:sp>
        <p:nvSpPr>
          <p:cNvPr id="43" name="Rectangle 42"/>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Rectangle 43"/>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6" name="TextBox 45">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47" name="Freeform 17">
            <a:extLst>
              <a:ext uri="{FF2B5EF4-FFF2-40B4-BE49-F238E27FC236}">
                <a16:creationId xmlns=""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cxnSp>
        <p:nvCxnSpPr>
          <p:cNvPr id="48" name="Straight Connector 47">
            <a:extLst>
              <a:ext uri="{FF2B5EF4-FFF2-40B4-BE49-F238E27FC236}">
                <a16:creationId xmlns="" xmlns:a16="http://schemas.microsoft.com/office/drawing/2014/main" id="{E79C5D16-8087-4587-9A0A-A0570C73E0E7}"/>
              </a:ext>
            </a:extLst>
          </p:cNvPr>
          <p:cNvCxnSpPr/>
          <p:nvPr userDrawn="1"/>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 xmlns:a16="http://schemas.microsoft.com/office/drawing/2014/main" id="{9812EDA6-C656-492A-A9CA-44B03C639132}"/>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50" name="Picture 49">
            <a:extLst>
              <a:ext uri="{FF2B5EF4-FFF2-40B4-BE49-F238E27FC236}">
                <a16:creationId xmlns="" xmlns:a16="http://schemas.microsoft.com/office/drawing/2014/main" id="{627AEF91-6492-4B0C-A844-2296473B58DE}"/>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51" name="Text Placeholder 2">
            <a:extLst>
              <a:ext uri="{FF2B5EF4-FFF2-40B4-BE49-F238E27FC236}">
                <a16:creationId xmlns=""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52" name="Text Placeholder 2">
            <a:extLst>
              <a:ext uri="{FF2B5EF4-FFF2-40B4-BE49-F238E27FC236}">
                <a16:creationId xmlns=""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56"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7"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B71B1C"/>
                    </a:gs>
                    <a:gs pos="100000">
                      <a:srgbClr val="ED524F"/>
                    </a:gs>
                  </a:gsLst>
                  <a:lin ang="0" scaled="1"/>
                </a:gradFill>
                <a:effectLst/>
                <a:latin typeface="+mn-lt"/>
                <a:ea typeface="+mn-ea"/>
                <a:cs typeface="+mn-cs"/>
              </a:defRPr>
            </a:lvl1pPr>
          </a:lstStyle>
          <a:p>
            <a:pPr lvl="0"/>
            <a:r>
              <a:rPr lang="en-US"/>
              <a:t>Write here your Author Name (i.e. Prof. Jay R Dhamsaniya)</a:t>
            </a:r>
          </a:p>
        </p:txBody>
      </p:sp>
      <p:pic>
        <p:nvPicPr>
          <p:cNvPr id="58" name="Picture 57">
            <a:extLst>
              <a:ext uri="{FF2B5EF4-FFF2-40B4-BE49-F238E27FC236}">
                <a16:creationId xmlns="" xmlns:a16="http://schemas.microsoft.com/office/drawing/2014/main" id="{77B7B864-C091-4493-B14B-F5B61B586EED}"/>
              </a:ext>
            </a:extLst>
          </p:cNvPr>
          <p:cNvPicPr>
            <a:picLocks noChangeAspect="1"/>
          </p:cNvPicPr>
          <p:nvPr userDrawn="1"/>
        </p:nvPicPr>
        <p:blipFill>
          <a:blip r:embed="rId9">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59" name="Picture 58" descr="User icon Royalty Free Vector Image - VectorStock">
            <a:extLst>
              <a:ext uri="{FF2B5EF4-FFF2-40B4-BE49-F238E27FC236}">
                <a16:creationId xmlns="" xmlns:a16="http://schemas.microsoft.com/office/drawing/2014/main" id="{177B86E9-222D-4757-BE64-59540DB794E6}"/>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60" name="Picture Placeholder 29">
            <a:extLst>
              <a:ext uri="{FF2B5EF4-FFF2-40B4-BE49-F238E27FC236}">
                <a16:creationId xmlns=""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94182793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a:solidFill>
                  <a:srgbClr val="FF0000"/>
                </a:solidFill>
              </a:rPr>
              <a:t>How to Crop Circular Photo?</a:t>
            </a:r>
          </a:p>
        </p:txBody>
      </p:sp>
      <p:sp>
        <p:nvSpPr>
          <p:cNvPr id="11" name="Picture Placeholder 10">
            <a:extLst>
              <a:ext uri="{FF2B5EF4-FFF2-40B4-BE49-F238E27FC236}">
                <a16:creationId xmlns=""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4">
                        <a:lumMod val="50000"/>
                      </a:schemeClr>
                    </a:gs>
                    <a:gs pos="100000">
                      <a:srgbClr val="009788"/>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descr="User icon Royalty Free Vector Image - VectorStock">
            <a:extLst>
              <a:ext uri="{FF2B5EF4-FFF2-40B4-BE49-F238E27FC236}">
                <a16:creationId xmlns="" xmlns:a16="http://schemas.microsoft.com/office/drawing/2014/main" id="{4A8E0F54-DC01-449D-B951-DC7CBAFD9546}"/>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2">
                        <a:lumMod val="50000"/>
                      </a:schemeClr>
                    </a:gs>
                    <a:gs pos="100000">
                      <a:schemeClr val="accent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0" name="Picture 29" descr="User icon Royalty Free Vector Image - VectorStock">
            <a:extLst>
              <a:ext uri="{FF2B5EF4-FFF2-40B4-BE49-F238E27FC236}">
                <a16:creationId xmlns="" xmlns:a16="http://schemas.microsoft.com/office/drawing/2014/main" id="{5F55812D-505A-4B1A-9EB5-16DCD08F2B8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3">
                        <a:lumMod val="50000"/>
                      </a:schemeClr>
                    </a:gs>
                    <a:gs pos="100000">
                      <a:schemeClr val="accent3"/>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 xmlns:a16="http://schemas.microsoft.com/office/drawing/2014/main" id="{AE6570A8-081D-45CE-A0DD-F78F5EDB0F9B}"/>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5">
                        <a:lumMod val="75000"/>
                      </a:schemeClr>
                    </a:gs>
                    <a:gs pos="100000">
                      <a:schemeClr val="accent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 xmlns:a16="http://schemas.microsoft.com/office/drawing/2014/main" id="{00C9ED70-1CC8-4EF2-BE10-AAFE24AAC5D7}"/>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34" name="Picture 4" descr="https://cdn5.vectorstock.com/i/1000x1000/21/59/dbms-database-management-system-computer-data-vector-8212159.jpg"/>
          <p:cNvPicPr>
            <a:picLocks noChangeAspect="1" noChangeArrowheads="1"/>
          </p:cNvPicPr>
          <p:nvPr userDrawn="1"/>
        </p:nvPicPr>
        <p:blipFill>
          <a:blip r:embed="rId2">
            <a:extLst>
              <a:ext uri="{28A0092B-C50C-407E-A947-70E740481C1C}">
                <a14:useLocalDpi xmlns:a14="http://schemas.microsoft.com/office/drawing/2010/main" val="0"/>
              </a:ext>
            </a:extLst>
          </a:blip>
          <a:srcRect l="6294" t="9689" r="5315" b="18089"/>
          <a:stretch>
            <a:fillRect/>
          </a:stretch>
        </p:blipFill>
        <p:spPr bwMode="auto">
          <a:xfrm>
            <a:off x="8407803" y="2089594"/>
            <a:ext cx="2880000" cy="26788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2302233" cy="338554"/>
          </a:xfrm>
          <a:prstGeom prst="rect">
            <a:avLst/>
          </a:prstGeom>
          <a:noFill/>
        </p:spPr>
        <p:txBody>
          <a:bodyPr wrap="none" rtlCol="0">
            <a:spAutoFit/>
          </a:bodyPr>
          <a:lstStyle/>
          <a:p>
            <a:r>
              <a:rPr lang="en-US" sz="1600" dirty="0"/>
              <a:t>Nepal Engineering College</a:t>
            </a:r>
          </a:p>
        </p:txBody>
      </p:sp>
      <p:sp>
        <p:nvSpPr>
          <p:cNvPr id="22" name="Freeform 13">
            <a:extLst>
              <a:ext uri="{FF2B5EF4-FFF2-40B4-BE49-F238E27FC236}">
                <a16:creationId xmlns=""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4">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6">
                        <a:lumMod val="50000"/>
                      </a:schemeClr>
                    </a:gs>
                    <a:gs pos="100000">
                      <a:schemeClr val="accent6"/>
                    </a:gs>
                  </a:gsLst>
                  <a:lin ang="0" scaled="1"/>
                </a:gradFill>
                <a:effectLst/>
                <a:latin typeface="+mn-lt"/>
                <a:ea typeface="+mn-ea"/>
                <a:cs typeface="+mn-cs"/>
              </a:defRPr>
            </a:lvl1pPr>
          </a:lstStyle>
          <a:p>
            <a:pPr lvl="0"/>
            <a:r>
              <a:rPr lang="en-US"/>
              <a:t>Write here your Author Name (i.e. Prof. Jay R Dhamsaniya)</a:t>
            </a:r>
          </a:p>
        </p:txBody>
      </p:sp>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a:blip r:embed="rId7">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1" name="Picture 30"/>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8454789" y="1795212"/>
            <a:ext cx="2880360" cy="2774747"/>
          </a:xfrm>
          <a:prstGeom prst="rect">
            <a:avLst/>
          </a:prstGeom>
        </p:spPr>
      </p:pic>
    </p:spTree>
    <p:extLst>
      <p:ext uri="{BB962C8B-B14F-4D97-AF65-F5344CB8AC3E}">
        <p14:creationId xmlns:p14="http://schemas.microsoft.com/office/powerpoint/2010/main" val="273162591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273238"/>
                    </a:gs>
                    <a:gs pos="100000">
                      <a:srgbClr val="607D8B"/>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 xmlns:a16="http://schemas.microsoft.com/office/drawing/2014/main" id="{AEB45C91-0DA6-4973-9AEA-FF1388508ACC}"/>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3E2622"/>
                    </a:gs>
                    <a:gs pos="100000">
                      <a:srgbClr val="79554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 xmlns:a16="http://schemas.microsoft.com/office/drawing/2014/main" id="{7E386D9D-B92A-4F40-9089-A1FD00CD387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301B92"/>
                    </a:gs>
                    <a:gs pos="100000">
                      <a:srgbClr val="673BB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 xmlns:a16="http://schemas.microsoft.com/office/drawing/2014/main" id="{BE300026-40E8-4FB1-998A-9CEB5F7A1B8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0E47A1"/>
                    </a:gs>
                    <a:gs pos="100000">
                      <a:srgbClr val="03A9F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 xmlns:a16="http://schemas.microsoft.com/office/drawing/2014/main" id="{C3A13D11-EC6C-4E81-AD83-7AC73D273FD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B71B1C"/>
                    </a:gs>
                    <a:gs pos="100000">
                      <a:srgbClr val="ED524F"/>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1" name="Picture 30">
            <a:extLst>
              <a:ext uri="{FF2B5EF4-FFF2-40B4-BE49-F238E27FC236}">
                <a16:creationId xmlns="" xmlns:a16="http://schemas.microsoft.com/office/drawing/2014/main" id="{77B7B864-C091-4493-B14B-F5B61B586EED}"/>
              </a:ext>
            </a:extLst>
          </p:cNvPr>
          <p:cNvPicPr>
            <a:picLocks noChangeAspect="1"/>
          </p:cNvPicPr>
          <p:nvPr userDrawn="1"/>
        </p:nvPicPr>
        <p:blipFill>
          <a:blip r:embed="rId10">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 xmlns:a16="http://schemas.microsoft.com/office/drawing/2014/main" id="{177B86E9-222D-4757-BE64-59540DB794E6}"/>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 xmlns:a16="http://schemas.microsoft.com/office/drawing/2014/main"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 xmlns:a16="http://schemas.microsoft.com/office/drawing/2014/main"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 xmlns:a16="http://schemas.microsoft.com/office/drawing/2014/main"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 xmlns:a16="http://schemas.microsoft.com/office/drawing/2014/main"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 xmlns:a16="http://schemas.microsoft.com/office/drawing/2014/main"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 xmlns:a16="http://schemas.microsoft.com/office/drawing/2014/main"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890E4F"/>
                    </a:gs>
                    <a:gs pos="100000">
                      <a:srgbClr val="D81A60"/>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 xmlns:a16="http://schemas.microsoft.com/office/drawing/2014/main"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 xmlns:a16="http://schemas.microsoft.com/office/drawing/2014/main" id="{A2F1AAAC-C051-4A31-837B-4A9977722A4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1/9/2024</a:t>
            </a:fld>
            <a:endParaRPr lang="en-US"/>
          </a:p>
        </p:txBody>
      </p:sp>
      <p:sp>
        <p:nvSpPr>
          <p:cNvPr id="5" name="Footer Placeholder 4">
            <a:extLst>
              <a:ext uri="{FF2B5EF4-FFF2-40B4-BE49-F238E27FC236}">
                <a16:creationId xmlns=""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3" r:id="rId10"/>
    <p:sldLayoutId id="2147483692" r:id="rId11"/>
    <p:sldLayoutId id="2147483691" r:id="rId12"/>
    <p:sldLayoutId id="2147483674" r:id="rId13"/>
    <p:sldLayoutId id="2147483676" r:id="rId14"/>
    <p:sldLayoutId id="2147483677" r:id="rId15"/>
    <p:sldLayoutId id="2147483678" r:id="rId16"/>
    <p:sldLayoutId id="2147483679" r:id="rId17"/>
    <p:sldLayoutId id="2147483681" r:id="rId18"/>
    <p:sldLayoutId id="2147483683" r:id="rId19"/>
    <p:sldLayoutId id="2147483682" r:id="rId20"/>
    <p:sldLayoutId id="2147483684" r:id="rId21"/>
    <p:sldLayoutId id="2147483685" r:id="rId22"/>
    <p:sldLayoutId id="2147483686" r:id="rId23"/>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03F305CB-DBE2-45D5-8D0B-92106F27C4BB}"/>
              </a:ext>
            </a:extLst>
          </p:cNvPr>
          <p:cNvSpPr>
            <a:spLocks noGrp="1"/>
          </p:cNvSpPr>
          <p:nvPr>
            <p:ph type="ctrTitle"/>
          </p:nvPr>
        </p:nvSpPr>
        <p:spPr>
          <a:xfrm>
            <a:off x="559490" y="1122364"/>
            <a:ext cx="9853752" cy="3566160"/>
          </a:xfrm>
        </p:spPr>
        <p:txBody>
          <a:bodyPr/>
          <a:lstStyle/>
          <a:p>
            <a:r>
              <a:rPr lang="en-US" b="0" dirty="0" smtClean="0"/>
              <a:t>Unit </a:t>
            </a:r>
            <a:r>
              <a:rPr lang="en-US" b="0" dirty="0"/>
              <a:t>5: </a:t>
            </a:r>
            <a:r>
              <a:rPr lang="en-US" b="0" dirty="0" smtClean="0"/>
              <a:t/>
            </a:r>
            <a:br>
              <a:rPr lang="en-US" b="0" dirty="0" smtClean="0"/>
            </a:br>
            <a:r>
              <a:rPr lang="en-US" dirty="0" smtClean="0"/>
              <a:t>Deadlock</a:t>
            </a:r>
            <a:endParaRPr lang="en-US" dirty="0"/>
          </a:p>
        </p:txBody>
      </p:sp>
      <p:sp>
        <p:nvSpPr>
          <p:cNvPr id="10" name="Text Placeholder 9">
            <a:extLst>
              <a:ext uri="{FF2B5EF4-FFF2-40B4-BE49-F238E27FC236}">
                <a16:creationId xmlns="" xmlns:a16="http://schemas.microsoft.com/office/drawing/2014/main" id="{4F27F027-AAC9-4C88-B3AF-3C4A20BDDDA6}"/>
              </a:ext>
            </a:extLst>
          </p:cNvPr>
          <p:cNvSpPr>
            <a:spLocks noGrp="1"/>
          </p:cNvSpPr>
          <p:nvPr>
            <p:ph type="body" sz="quarter" idx="11"/>
          </p:nvPr>
        </p:nvSpPr>
        <p:spPr/>
        <p:txBody>
          <a:bodyPr/>
          <a:lstStyle/>
          <a:p>
            <a:endParaRPr lang="en-US" dirty="0"/>
          </a:p>
        </p:txBody>
      </p:sp>
      <p:sp>
        <p:nvSpPr>
          <p:cNvPr id="11" name="Text Placeholder 10">
            <a:extLst>
              <a:ext uri="{FF2B5EF4-FFF2-40B4-BE49-F238E27FC236}">
                <a16:creationId xmlns="" xmlns:a16="http://schemas.microsoft.com/office/drawing/2014/main" id="{59B646FF-BD32-4C5A-94AF-AC4347EADA2E}"/>
              </a:ext>
            </a:extLst>
          </p:cNvPr>
          <p:cNvSpPr>
            <a:spLocks noGrp="1"/>
          </p:cNvSpPr>
          <p:nvPr>
            <p:ph type="body" sz="quarter" idx="12"/>
          </p:nvPr>
        </p:nvSpPr>
        <p:spPr/>
        <p:txBody>
          <a:bodyPr/>
          <a:lstStyle/>
          <a:p>
            <a:endParaRPr lang="en-US" dirty="0"/>
          </a:p>
        </p:txBody>
      </p:sp>
      <p:sp>
        <p:nvSpPr>
          <p:cNvPr id="12" name="Text Placeholder 11">
            <a:extLst>
              <a:ext uri="{FF2B5EF4-FFF2-40B4-BE49-F238E27FC236}">
                <a16:creationId xmlns="" xmlns:a16="http://schemas.microsoft.com/office/drawing/2014/main" id="{915CF252-06A8-43C0-BB69-DA7109EA62D1}"/>
              </a:ext>
            </a:extLst>
          </p:cNvPr>
          <p:cNvSpPr>
            <a:spLocks noGrp="1"/>
          </p:cNvSpPr>
          <p:nvPr>
            <p:ph type="body" sz="quarter" idx="13"/>
          </p:nvPr>
        </p:nvSpPr>
        <p:spPr/>
        <p:txBody>
          <a:bodyPr/>
          <a:lstStyle/>
          <a:p>
            <a:r>
              <a:rPr lang="en-US"/>
              <a:t>Computer Engineering Department</a:t>
            </a:r>
          </a:p>
        </p:txBody>
      </p:sp>
      <p:sp>
        <p:nvSpPr>
          <p:cNvPr id="13" name="Text Placeholder 12">
            <a:extLst>
              <a:ext uri="{FF2B5EF4-FFF2-40B4-BE49-F238E27FC236}">
                <a16:creationId xmlns="" xmlns:a16="http://schemas.microsoft.com/office/drawing/2014/main" id="{89F5B5F8-350F-4941-B9DE-36BF8B014803}"/>
              </a:ext>
            </a:extLst>
          </p:cNvPr>
          <p:cNvSpPr>
            <a:spLocks noGrp="1"/>
          </p:cNvSpPr>
          <p:nvPr>
            <p:ph type="body" sz="quarter" idx="14"/>
          </p:nvPr>
        </p:nvSpPr>
        <p:spPr/>
        <p:txBody>
          <a:bodyPr/>
          <a:lstStyle/>
          <a:p>
            <a:r>
              <a:rPr lang="en-US" dirty="0"/>
              <a:t>Asst. </a:t>
            </a:r>
            <a:r>
              <a:rPr lang="en-US" dirty="0" smtClean="0"/>
              <a:t>Prof. </a:t>
            </a:r>
            <a:r>
              <a:rPr lang="en-US" dirty="0" err="1" smtClean="0"/>
              <a:t>Jhumi</a:t>
            </a:r>
            <a:r>
              <a:rPr lang="en-US" dirty="0" smtClean="0"/>
              <a:t> </a:t>
            </a:r>
            <a:r>
              <a:rPr lang="en-US" dirty="0" err="1" smtClean="0"/>
              <a:t>Thapa</a:t>
            </a:r>
            <a:endParaRPr lang="en-US" dirty="0"/>
          </a:p>
        </p:txBody>
      </p:sp>
      <p:sp>
        <p:nvSpPr>
          <p:cNvPr id="14" name="Text Placeholder 13">
            <a:extLst>
              <a:ext uri="{FF2B5EF4-FFF2-40B4-BE49-F238E27FC236}">
                <a16:creationId xmlns="" xmlns:a16="http://schemas.microsoft.com/office/drawing/2014/main" id="{E2AD8B6E-51EA-4A15-8752-4F221E5E02C5}"/>
              </a:ext>
            </a:extLst>
          </p:cNvPr>
          <p:cNvSpPr>
            <a:spLocks noGrp="1"/>
          </p:cNvSpPr>
          <p:nvPr>
            <p:ph type="body" sz="quarter" idx="16"/>
          </p:nvPr>
        </p:nvSpPr>
        <p:spPr/>
        <p:txBody>
          <a:bodyPr/>
          <a:lstStyle/>
          <a:p>
            <a:r>
              <a:rPr lang="en-US" b="1" dirty="0"/>
              <a:t>Operating System </a:t>
            </a:r>
            <a:r>
              <a:rPr lang="en-US" dirty="0">
                <a:latin typeface="Roboto Condensed Light" panose="02000000000000000000" pitchFamily="2" charset="0"/>
                <a:ea typeface="Roboto Condensed Light" panose="02000000000000000000" pitchFamily="2" charset="0"/>
              </a:rPr>
              <a:t>(OS)</a:t>
            </a:r>
          </a:p>
        </p:txBody>
      </p:sp>
    </p:spTree>
    <p:extLst>
      <p:ext uri="{BB962C8B-B14F-4D97-AF65-F5344CB8AC3E}">
        <p14:creationId xmlns:p14="http://schemas.microsoft.com/office/powerpoint/2010/main" val="1600834761"/>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 xmlns:a16="http://schemas.microsoft.com/office/drawing/2014/main" id="{D9EBF344-4A7B-4C4A-AF6D-6441BD040AB3}"/>
              </a:ext>
            </a:extLst>
          </p:cNvPr>
          <p:cNvCxnSpPr>
            <a:endCxn id="6" idx="0"/>
          </p:cNvCxnSpPr>
          <p:nvPr/>
        </p:nvCxnSpPr>
        <p:spPr>
          <a:xfrm flipH="1">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 xmlns:a16="http://schemas.microsoft.com/office/drawing/2014/main" id="{CA925EF2-D58F-4AC0-ACED-F747CC08D69F}"/>
              </a:ext>
            </a:extLst>
          </p:cNvPr>
          <p:cNvCxnSpPr/>
          <p:nvPr/>
        </p:nvCxnSpPr>
        <p:spPr>
          <a:xfrm flipH="1">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a:sym typeface="Wingdings 2" panose="05020102010507070707" pitchFamily="18" charset="2"/>
              </a:rPr>
              <a:t></a:t>
            </a:r>
            <a:endParaRPr lang="en-US" sz="2800"/>
          </a:p>
        </p:txBody>
      </p:sp>
      <p:sp>
        <p:nvSpPr>
          <p:cNvPr id="7" name="TextBox 6">
            <a:extLst>
              <a:ext uri="{FF2B5EF4-FFF2-40B4-BE49-F238E27FC236}">
                <a16:creationId xmlns=""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a:solidFill>
                  <a:schemeClr val="bg1"/>
                </a:solidFill>
              </a:rPr>
              <a:t>Looping</a:t>
            </a:r>
          </a:p>
        </p:txBody>
      </p:sp>
      <p:cxnSp>
        <p:nvCxnSpPr>
          <p:cNvPr id="8" name="Straight Connector 7">
            <a:extLst>
              <a:ext uri="{FF2B5EF4-FFF2-40B4-BE49-F238E27FC236}">
                <a16:creationId xmlns="" xmlns:a16="http://schemas.microsoft.com/office/drawing/2014/main" id="{F34260FD-CAA3-43A0-977C-7E4B57013872}"/>
              </a:ext>
            </a:extLst>
          </p:cNvPr>
          <p:cNvCxnSpPr/>
          <p:nvPr/>
        </p:nvCxnSpPr>
        <p:spPr>
          <a:xfrm flipH="1">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 xmlns:a16="http://schemas.microsoft.com/office/drawing/2014/main" id="{BDA2F9A4-6988-4274-8384-12496EC9D59D}"/>
              </a:ext>
            </a:extLst>
          </p:cNvPr>
          <p:cNvSpPr txBox="1"/>
          <p:nvPr/>
        </p:nvSpPr>
        <p:spPr>
          <a:xfrm>
            <a:off x="1458961" y="731706"/>
            <a:ext cx="8814591" cy="3416320"/>
          </a:xfrm>
          <a:prstGeom prst="rect">
            <a:avLst/>
          </a:prstGeom>
          <a:noFill/>
        </p:spPr>
        <p:txBody>
          <a:bodyPr wrap="square" rtlCol="0">
            <a:spAutoFit/>
          </a:bodyPr>
          <a:lstStyle/>
          <a:p>
            <a:r>
              <a:rPr lang="en-US" sz="2400" b="1"/>
              <a:t>Outline</a:t>
            </a:r>
          </a:p>
          <a:p>
            <a:pPr marL="742950" lvl="1" indent="-285750">
              <a:buFont typeface="Arial" panose="020B0604020202020204" pitchFamily="34" charset="0"/>
              <a:buChar char="•"/>
            </a:pPr>
            <a:r>
              <a:rPr lang="en-US" sz="2400">
                <a:solidFill>
                  <a:schemeClr val="bg1">
                    <a:lumMod val="50000"/>
                  </a:schemeClr>
                </a:solidFill>
              </a:rPr>
              <a:t>Basic concepts of Deadlock</a:t>
            </a:r>
          </a:p>
          <a:p>
            <a:pPr marL="742950" lvl="1" indent="-285750">
              <a:buFont typeface="Arial" panose="020B0604020202020204" pitchFamily="34" charset="0"/>
              <a:buChar char="•"/>
            </a:pPr>
            <a:r>
              <a:rPr lang="en-US" sz="2400">
                <a:solidFill>
                  <a:schemeClr val="bg1">
                    <a:lumMod val="50000"/>
                  </a:schemeClr>
                </a:solidFill>
              </a:rPr>
              <a:t>Deadlock characteristics</a:t>
            </a:r>
          </a:p>
          <a:p>
            <a:pPr marL="742950" lvl="1" indent="-285750">
              <a:buFont typeface="Arial" panose="020B0604020202020204" pitchFamily="34" charset="0"/>
              <a:buChar char="•"/>
            </a:pPr>
            <a:r>
              <a:rPr lang="en-US" sz="2400">
                <a:solidFill>
                  <a:schemeClr val="bg1">
                    <a:lumMod val="50000"/>
                  </a:schemeClr>
                </a:solidFill>
              </a:rPr>
              <a:t>Deadlock ignorance</a:t>
            </a:r>
          </a:p>
          <a:p>
            <a:pPr marL="1200150" lvl="2" indent="-285750">
              <a:buFont typeface="Arial" panose="020B0604020202020204" pitchFamily="34" charset="0"/>
              <a:buChar char="•"/>
            </a:pPr>
            <a:r>
              <a:rPr lang="en-US" sz="2000">
                <a:solidFill>
                  <a:schemeClr val="bg1">
                    <a:lumMod val="50000"/>
                  </a:schemeClr>
                </a:solidFill>
              </a:rPr>
              <a:t>Ostrich algorithm</a:t>
            </a:r>
          </a:p>
          <a:p>
            <a:pPr marL="742950" lvl="1" indent="-285750">
              <a:buFont typeface="Arial" panose="020B0604020202020204" pitchFamily="34" charset="0"/>
              <a:buChar char="•"/>
            </a:pPr>
            <a:r>
              <a:rPr lang="en-US" sz="2400">
                <a:solidFill>
                  <a:schemeClr val="bg1">
                    <a:lumMod val="50000"/>
                  </a:schemeClr>
                </a:solidFill>
              </a:rPr>
              <a:t>Deadlock detection and recovery</a:t>
            </a:r>
          </a:p>
          <a:p>
            <a:pPr marL="742950" lvl="1" indent="-285750">
              <a:buFont typeface="Arial" panose="020B0604020202020204" pitchFamily="34" charset="0"/>
              <a:buChar char="•"/>
            </a:pPr>
            <a:r>
              <a:rPr lang="en-US" sz="2400">
                <a:solidFill>
                  <a:schemeClr val="bg1">
                    <a:lumMod val="50000"/>
                  </a:schemeClr>
                </a:solidFill>
              </a:rPr>
              <a:t>Deadlock avoidance</a:t>
            </a:r>
          </a:p>
          <a:p>
            <a:pPr marL="1200150" lvl="2" indent="-285750">
              <a:buFont typeface="Arial" panose="020B0604020202020204" pitchFamily="34" charset="0"/>
              <a:buChar char="•"/>
            </a:pPr>
            <a:r>
              <a:rPr lang="en-US" sz="2000">
                <a:solidFill>
                  <a:schemeClr val="bg1">
                    <a:lumMod val="50000"/>
                  </a:schemeClr>
                </a:solidFill>
              </a:rPr>
              <a:t>Banker’s algorithm</a:t>
            </a:r>
          </a:p>
          <a:p>
            <a:pPr marL="742950" lvl="1" indent="-285750">
              <a:buFont typeface="Arial" panose="020B0604020202020204" pitchFamily="34" charset="0"/>
              <a:buChar char="•"/>
            </a:pPr>
            <a:r>
              <a:rPr lang="en-US" sz="2400">
                <a:solidFill>
                  <a:schemeClr val="bg1">
                    <a:lumMod val="50000"/>
                  </a:schemeClr>
                </a:solidFill>
              </a:rPr>
              <a:t>Deadlock prevention</a:t>
            </a:r>
          </a:p>
        </p:txBody>
      </p:sp>
    </p:spTree>
    <p:extLst>
      <p:ext uri="{BB962C8B-B14F-4D97-AF65-F5344CB8AC3E}">
        <p14:creationId xmlns:p14="http://schemas.microsoft.com/office/powerpoint/2010/main" val="421630569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par>
                          <p:cTn id="11" fill="hold" nodeType="afterGroup">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nodeType="afterGroup">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par>
                          <p:cTn id="23" fill="hold" nodeType="afterGroup">
                            <p:stCondLst>
                              <p:cond delay="1001"/>
                            </p:stCondLst>
                            <p:childTnLst>
                              <p:par>
                                <p:cTn id="24" presetID="22" presetClass="entr" presetSubtype="1"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childTnLst>
                          </p:cTn>
                        </p:par>
                        <p:par>
                          <p:cTn id="27" fill="hold" nodeType="afterGroup">
                            <p:stCondLst>
                              <p:cond delay="1501"/>
                            </p:stCondLst>
                            <p:childTnLst>
                              <p:par>
                                <p:cTn id="28" presetID="22" presetClass="entr" presetSubtype="1"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up)">
                                      <p:cBhvr>
                                        <p:cTn id="30" dur="500"/>
                                        <p:tgtEl>
                                          <p:spTgt spid="5"/>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animEffect transition="in" filter="fade">
                                      <p:cBhvr>
                                        <p:cTn id="35" dur="500"/>
                                        <p:tgtEl>
                                          <p:spTgt spid="9">
                                            <p:txEl>
                                              <p:pRg st="8" end="8"/>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9">
                                            <p:txEl>
                                              <p:pRg st="1" end="1"/>
                                            </p:txEl>
                                          </p:spTgt>
                                        </p:tgtEl>
                                        <p:attrNameLst>
                                          <p:attrName>style.visibility</p:attrName>
                                        </p:attrNameLst>
                                      </p:cBhvr>
                                      <p:to>
                                        <p:strVal val="visible"/>
                                      </p:to>
                                    </p:set>
                                    <p:animEffect transition="in" filter="fade">
                                      <p:cBhvr>
                                        <p:cTn id="38" dur="500"/>
                                        <p:tgtEl>
                                          <p:spTgt spid="9">
                                            <p:txEl>
                                              <p:pRg st="1" end="1"/>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9">
                                            <p:txEl>
                                              <p:pRg st="2" end="2"/>
                                            </p:txEl>
                                          </p:spTgt>
                                        </p:tgtEl>
                                        <p:attrNameLst>
                                          <p:attrName>style.visibility</p:attrName>
                                        </p:attrNameLst>
                                      </p:cBhvr>
                                      <p:to>
                                        <p:strVal val="visible"/>
                                      </p:to>
                                    </p:set>
                                    <p:animEffect transition="in" filter="fade">
                                      <p:cBhvr>
                                        <p:cTn id="41" dur="500"/>
                                        <p:tgtEl>
                                          <p:spTgt spid="9">
                                            <p:txEl>
                                              <p:pRg st="2" end="2"/>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9">
                                            <p:txEl>
                                              <p:pRg st="3" end="3"/>
                                            </p:txEl>
                                          </p:spTgt>
                                        </p:tgtEl>
                                        <p:attrNameLst>
                                          <p:attrName>style.visibility</p:attrName>
                                        </p:attrNameLst>
                                      </p:cBhvr>
                                      <p:to>
                                        <p:strVal val="visible"/>
                                      </p:to>
                                    </p:set>
                                    <p:animEffect transition="in" filter="fade">
                                      <p:cBhvr>
                                        <p:cTn id="44" dur="500"/>
                                        <p:tgtEl>
                                          <p:spTgt spid="9">
                                            <p:txEl>
                                              <p:pRg st="3" end="3"/>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9">
                                            <p:txEl>
                                              <p:pRg st="4" end="4"/>
                                            </p:txEl>
                                          </p:spTgt>
                                        </p:tgtEl>
                                        <p:attrNameLst>
                                          <p:attrName>style.visibility</p:attrName>
                                        </p:attrNameLst>
                                      </p:cBhvr>
                                      <p:to>
                                        <p:strVal val="visible"/>
                                      </p:to>
                                    </p:set>
                                    <p:animEffect transition="in" filter="fade">
                                      <p:cBhvr>
                                        <p:cTn id="47" dur="500"/>
                                        <p:tgtEl>
                                          <p:spTgt spid="9">
                                            <p:txEl>
                                              <p:pRg st="4" end="4"/>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9">
                                            <p:txEl>
                                              <p:pRg st="5" end="5"/>
                                            </p:txEl>
                                          </p:spTgt>
                                        </p:tgtEl>
                                        <p:attrNameLst>
                                          <p:attrName>style.visibility</p:attrName>
                                        </p:attrNameLst>
                                      </p:cBhvr>
                                      <p:to>
                                        <p:strVal val="visible"/>
                                      </p:to>
                                    </p:set>
                                    <p:animEffect transition="in" filter="fade">
                                      <p:cBhvr>
                                        <p:cTn id="50" dur="500"/>
                                        <p:tgtEl>
                                          <p:spTgt spid="9">
                                            <p:txEl>
                                              <p:pRg st="5" end="5"/>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9">
                                            <p:txEl>
                                              <p:pRg st="6" end="6"/>
                                            </p:txEl>
                                          </p:spTgt>
                                        </p:tgtEl>
                                        <p:attrNameLst>
                                          <p:attrName>style.visibility</p:attrName>
                                        </p:attrNameLst>
                                      </p:cBhvr>
                                      <p:to>
                                        <p:strVal val="visible"/>
                                      </p:to>
                                    </p:set>
                                    <p:animEffect transition="in" filter="fade">
                                      <p:cBhvr>
                                        <p:cTn id="53" dur="500"/>
                                        <p:tgtEl>
                                          <p:spTgt spid="9">
                                            <p:txEl>
                                              <p:pRg st="6" end="6"/>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9">
                                            <p:txEl>
                                              <p:pRg st="7" end="7"/>
                                            </p:txEl>
                                          </p:spTgt>
                                        </p:tgtEl>
                                        <p:attrNameLst>
                                          <p:attrName>style.visibility</p:attrName>
                                        </p:attrNameLst>
                                      </p:cBhvr>
                                      <p:to>
                                        <p:strVal val="visible"/>
                                      </p:to>
                                    </p:set>
                                    <p:animEffect transition="in" filter="fade">
                                      <p:cBhvr>
                                        <p:cTn id="56"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gradFill flip="none" rotWithShape="1">
                  <a:gsLst>
                    <a:gs pos="10000">
                      <a:schemeClr val="accent6">
                        <a:lumMod val="50000"/>
                      </a:schemeClr>
                    </a:gs>
                    <a:gs pos="100000">
                      <a:schemeClr val="accent6"/>
                    </a:gs>
                  </a:gsLst>
                  <a:lin ang="0" scaled="1"/>
                </a:gradFill>
              </a:rPr>
              <a:t>Basic concepts of Deadlock</a:t>
            </a:r>
          </a:p>
        </p:txBody>
      </p:sp>
      <p:sp>
        <p:nvSpPr>
          <p:cNvPr id="5" name="Text Placeholder 4"/>
          <p:cNvSpPr>
            <a:spLocks noGrp="1"/>
          </p:cNvSpPr>
          <p:nvPr>
            <p:ph type="body" idx="1"/>
          </p:nvPr>
        </p:nvSpPr>
        <p:spPr/>
        <p:txBody>
          <a:bodyPr/>
          <a:lstStyle/>
          <a:p>
            <a:r>
              <a:rPr lang="en-US"/>
              <a:t>Section - 1</a:t>
            </a:r>
          </a:p>
          <a:p>
            <a:endParaRPr lang="en-US"/>
          </a:p>
        </p:txBody>
      </p:sp>
    </p:spTree>
    <p:extLst>
      <p:ext uri="{BB962C8B-B14F-4D97-AF65-F5344CB8AC3E}">
        <p14:creationId xmlns:p14="http://schemas.microsoft.com/office/powerpoint/2010/main" val="971437569"/>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Deadlock?</a:t>
            </a:r>
          </a:p>
        </p:txBody>
      </p:sp>
      <p:sp>
        <p:nvSpPr>
          <p:cNvPr id="3" name="Content Placeholder 2"/>
          <p:cNvSpPr>
            <a:spLocks noGrp="1"/>
          </p:cNvSpPr>
          <p:nvPr>
            <p:ph idx="1"/>
          </p:nvPr>
        </p:nvSpPr>
        <p:spPr>
          <a:xfrm>
            <a:off x="131181" y="863444"/>
            <a:ext cx="9055682" cy="5590565"/>
          </a:xfrm>
        </p:spPr>
        <p:txBody>
          <a:bodyPr/>
          <a:lstStyle/>
          <a:p>
            <a:r>
              <a:rPr lang="en-US"/>
              <a:t>A set of processes is deadlocked if </a:t>
            </a:r>
            <a:r>
              <a:rPr lang="en-US" b="1">
                <a:solidFill>
                  <a:schemeClr val="accent6"/>
                </a:solidFill>
              </a:rPr>
              <a:t>each process in the set is waiting for an event that only another process in the set can cause</a:t>
            </a:r>
            <a:r>
              <a:rPr lang="en-US"/>
              <a:t>.</a:t>
            </a:r>
          </a:p>
          <a:p>
            <a:r>
              <a:rPr lang="en-US"/>
              <a:t>Deadlocks are a </a:t>
            </a:r>
            <a:r>
              <a:rPr lang="en-US" b="1">
                <a:solidFill>
                  <a:schemeClr val="accent6"/>
                </a:solidFill>
              </a:rPr>
              <a:t>set of blocked processes each holding a resource and waiting to acquire a resource held by another process</a:t>
            </a:r>
            <a:r>
              <a:rPr lang="en-US"/>
              <a:t>.</a:t>
            </a:r>
          </a:p>
        </p:txBody>
      </p:sp>
      <p:cxnSp>
        <p:nvCxnSpPr>
          <p:cNvPr id="15" name="Straight Connector 14"/>
          <p:cNvCxnSpPr/>
          <p:nvPr/>
        </p:nvCxnSpPr>
        <p:spPr>
          <a:xfrm>
            <a:off x="492344" y="6367376"/>
            <a:ext cx="502920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16" name="Content Placeholder 4">
            <a:extLst>
              <a:ext uri="{FF2B5EF4-FFF2-40B4-BE49-F238E27FC236}">
                <a16:creationId xmlns="" xmlns:a16="http://schemas.microsoft.com/office/drawing/2014/main" id="{26B864CA-85CD-4666-B9D1-870ED08B272C}"/>
              </a:ext>
            </a:extLst>
          </p:cNvPr>
          <p:cNvGraphicFramePr/>
          <p:nvPr>
            <p:extLst>
              <p:ext uri="{D42A27DB-BD31-4B8C-83A1-F6EECF244321}">
                <p14:modId xmlns:p14="http://schemas.microsoft.com/office/powerpoint/2010/main" val="2433898277"/>
              </p:ext>
            </p:extLst>
          </p:nvPr>
        </p:nvGraphicFramePr>
        <p:xfrm>
          <a:off x="492344" y="5979391"/>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 xmlns:a16="http://schemas.microsoft.com/office/drawing/2014/main" val="20000"/>
                    </a:ext>
                  </a:extLst>
                </a:gridCol>
              </a:tblGrid>
              <a:tr h="285488">
                <a:tc>
                  <a:txBody>
                    <a:bodyPr/>
                    <a:lstStyle/>
                    <a:p>
                      <a:pPr algn="l"/>
                      <a:r>
                        <a:rPr lang="en-US" sz="2000" b="1">
                          <a:solidFill>
                            <a:schemeClr val="bg1"/>
                          </a:solidFill>
                        </a:rPr>
                        <a:t>Exercise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 xmlns:a16="http://schemas.microsoft.com/office/drawing/2014/main" val="10001"/>
                  </a:ext>
                </a:extLst>
              </a:tr>
            </a:tbl>
          </a:graphicData>
        </a:graphic>
      </p:graphicFrame>
      <p:graphicFrame>
        <p:nvGraphicFramePr>
          <p:cNvPr id="17" name="Content Placeholder 4">
            <a:extLst>
              <a:ext uri="{FF2B5EF4-FFF2-40B4-BE49-F238E27FC236}">
                <a16:creationId xmlns="" xmlns:a16="http://schemas.microsoft.com/office/drawing/2014/main" id="{26B864CA-85CD-4666-B9D1-870ED08B272C}"/>
              </a:ext>
            </a:extLst>
          </p:cNvPr>
          <p:cNvGraphicFramePr/>
          <p:nvPr>
            <p:extLst>
              <p:ext uri="{D42A27DB-BD31-4B8C-83A1-F6EECF244321}">
                <p14:modId xmlns:p14="http://schemas.microsoft.com/office/powerpoint/2010/main" val="4119068323"/>
              </p:ext>
            </p:extLst>
          </p:nvPr>
        </p:nvGraphicFramePr>
        <p:xfrm>
          <a:off x="1591273" y="5970503"/>
          <a:ext cx="4023360" cy="396240"/>
        </p:xfrm>
        <a:graphic>
          <a:graphicData uri="http://schemas.openxmlformats.org/drawingml/2006/table">
            <a:tbl>
              <a:tblPr firstRow="1" bandRow="1">
                <a:tableStyleId>{8EC20E35-A176-4012-BC5E-935CFFF8708E}</a:tableStyleId>
              </a:tblPr>
              <a:tblGrid>
                <a:gridCol w="4023360">
                  <a:extLst>
                    <a:ext uri="{9D8B030D-6E8A-4147-A177-3AD203B41FA5}">
                      <a16:colId xmlns="" xmlns:a16="http://schemas.microsoft.com/office/drawing/2014/main" val="20000"/>
                    </a:ext>
                  </a:extLst>
                </a:gridCol>
              </a:tblGrid>
              <a:tr h="285488">
                <a:tc>
                  <a:txBody>
                    <a:bodyPr/>
                    <a:lstStyle/>
                    <a:p>
                      <a:pPr algn="l"/>
                      <a:r>
                        <a:rPr lang="en-US" sz="2000" b="0" kern="1200">
                          <a:solidFill>
                            <a:schemeClr val="tx1"/>
                          </a:solidFill>
                          <a:latin typeface="+mn-lt"/>
                          <a:ea typeface="+mn-ea"/>
                          <a:cs typeface="+mn-cs"/>
                        </a:rPr>
                        <a:t>Give an real life example of deadlock?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bl>
          </a:graphicData>
        </a:graphic>
      </p:graphicFrame>
      <p:pic>
        <p:nvPicPr>
          <p:cNvPr id="12" name="Picture 2" descr="Image result for deadlock on road"/>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372595" y="1552071"/>
            <a:ext cx="2709068" cy="233412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p:nvSpPr>
        <p:spPr>
          <a:xfrm>
            <a:off x="952496" y="4871315"/>
            <a:ext cx="914400" cy="4572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Resource</a:t>
            </a:r>
          </a:p>
        </p:txBody>
      </p:sp>
      <p:sp>
        <p:nvSpPr>
          <p:cNvPr id="18" name="Oval 17"/>
          <p:cNvSpPr/>
          <p:nvPr/>
        </p:nvSpPr>
        <p:spPr>
          <a:xfrm>
            <a:off x="876296" y="2652704"/>
            <a:ext cx="1066800" cy="9906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Process</a:t>
            </a:r>
            <a:endParaRPr lang="en-US"/>
          </a:p>
        </p:txBody>
      </p:sp>
      <p:cxnSp>
        <p:nvCxnSpPr>
          <p:cNvPr id="19" name="Straight Arrow Connector 18"/>
          <p:cNvCxnSpPr>
            <a:stCxn id="18" idx="4"/>
            <a:endCxn id="14" idx="0"/>
          </p:cNvCxnSpPr>
          <p:nvPr/>
        </p:nvCxnSpPr>
        <p:spPr>
          <a:xfrm flipH="1">
            <a:off x="1409696" y="3643304"/>
            <a:ext cx="0" cy="1228011"/>
          </a:xfrm>
          <a:prstGeom prst="straightConnector1">
            <a:avLst/>
          </a:prstGeom>
          <a:ln w="38100">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586032" y="4059292"/>
            <a:ext cx="566244" cy="307777"/>
          </a:xfrm>
          <a:prstGeom prst="rect">
            <a:avLst/>
          </a:prstGeom>
          <a:noFill/>
          <a:ln>
            <a:noFill/>
          </a:ln>
        </p:spPr>
        <p:txBody>
          <a:bodyPr wrap="square" rtlCol="0">
            <a:spAutoFit/>
          </a:bodyPr>
          <a:lstStyle/>
          <a:p>
            <a:pPr algn="r"/>
            <a:r>
              <a:rPr lang="en-US" sz="1400"/>
              <a:t>Hold</a:t>
            </a:r>
          </a:p>
        </p:txBody>
      </p:sp>
      <p:sp>
        <p:nvSpPr>
          <p:cNvPr id="21" name="Rectangle 20"/>
          <p:cNvSpPr/>
          <p:nvPr/>
        </p:nvSpPr>
        <p:spPr>
          <a:xfrm>
            <a:off x="2705096" y="4871315"/>
            <a:ext cx="914400" cy="4572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Resource</a:t>
            </a:r>
          </a:p>
        </p:txBody>
      </p:sp>
      <p:sp>
        <p:nvSpPr>
          <p:cNvPr id="22" name="Oval 21"/>
          <p:cNvSpPr/>
          <p:nvPr/>
        </p:nvSpPr>
        <p:spPr>
          <a:xfrm>
            <a:off x="2628896" y="2652704"/>
            <a:ext cx="1066800" cy="9906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Process</a:t>
            </a:r>
          </a:p>
        </p:txBody>
      </p:sp>
      <p:cxnSp>
        <p:nvCxnSpPr>
          <p:cNvPr id="23" name="Straight Arrow Connector 22"/>
          <p:cNvCxnSpPr>
            <a:stCxn id="21" idx="0"/>
            <a:endCxn id="22" idx="4"/>
          </p:cNvCxnSpPr>
          <p:nvPr/>
        </p:nvCxnSpPr>
        <p:spPr>
          <a:xfrm flipH="1" flipV="1">
            <a:off x="3162296" y="3643304"/>
            <a:ext cx="0" cy="1228011"/>
          </a:xfrm>
          <a:prstGeom prst="straightConnector1">
            <a:avLst/>
          </a:prstGeom>
          <a:ln w="38100">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71498" y="4059427"/>
            <a:ext cx="838199" cy="307777"/>
          </a:xfrm>
          <a:prstGeom prst="rect">
            <a:avLst/>
          </a:prstGeom>
          <a:noFill/>
          <a:ln>
            <a:noFill/>
          </a:ln>
        </p:spPr>
        <p:txBody>
          <a:bodyPr wrap="square" rtlCol="0">
            <a:spAutoFit/>
          </a:bodyPr>
          <a:lstStyle/>
          <a:p>
            <a:pPr algn="r"/>
            <a:r>
              <a:rPr lang="en-US" sz="1400"/>
              <a:t>Request</a:t>
            </a:r>
          </a:p>
        </p:txBody>
      </p:sp>
      <p:sp>
        <p:nvSpPr>
          <p:cNvPr id="25" name="Oval 24"/>
          <p:cNvSpPr/>
          <p:nvPr/>
        </p:nvSpPr>
        <p:spPr>
          <a:xfrm>
            <a:off x="5986944" y="2757478"/>
            <a:ext cx="604345" cy="5715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P1</a:t>
            </a:r>
          </a:p>
        </p:txBody>
      </p:sp>
      <p:sp>
        <p:nvSpPr>
          <p:cNvPr id="26" name="Oval 25"/>
          <p:cNvSpPr/>
          <p:nvPr/>
        </p:nvSpPr>
        <p:spPr>
          <a:xfrm>
            <a:off x="5986944" y="4319578"/>
            <a:ext cx="604345" cy="5715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P2</a:t>
            </a:r>
          </a:p>
        </p:txBody>
      </p:sp>
      <p:sp>
        <p:nvSpPr>
          <p:cNvPr id="27" name="Rectangle 26"/>
          <p:cNvSpPr/>
          <p:nvPr/>
        </p:nvSpPr>
        <p:spPr>
          <a:xfrm>
            <a:off x="4838690" y="3595610"/>
            <a:ext cx="609600" cy="571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R1</a:t>
            </a:r>
          </a:p>
        </p:txBody>
      </p:sp>
      <p:sp>
        <p:nvSpPr>
          <p:cNvPr id="28" name="Rectangle 27"/>
          <p:cNvSpPr/>
          <p:nvPr/>
        </p:nvSpPr>
        <p:spPr>
          <a:xfrm>
            <a:off x="7129944" y="3595610"/>
            <a:ext cx="609600" cy="571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R2</a:t>
            </a:r>
          </a:p>
        </p:txBody>
      </p:sp>
      <p:cxnSp>
        <p:nvCxnSpPr>
          <p:cNvPr id="29" name="Curved Connector 28"/>
          <p:cNvCxnSpPr>
            <a:stCxn id="28" idx="2"/>
            <a:endCxn id="26" idx="6"/>
          </p:cNvCxnSpPr>
          <p:nvPr/>
        </p:nvCxnSpPr>
        <p:spPr>
          <a:xfrm rot="5400000">
            <a:off x="6793908" y="3964492"/>
            <a:ext cx="438218" cy="843455"/>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urved Connector 29"/>
          <p:cNvCxnSpPr>
            <a:stCxn id="26" idx="2"/>
            <a:endCxn id="27" idx="2"/>
          </p:cNvCxnSpPr>
          <p:nvPr/>
        </p:nvCxnSpPr>
        <p:spPr>
          <a:xfrm rot="10800000">
            <a:off x="5143490" y="4167110"/>
            <a:ext cx="843454" cy="438218"/>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p:cNvCxnSpPr>
            <a:stCxn id="27" idx="0"/>
            <a:endCxn id="25" idx="2"/>
          </p:cNvCxnSpPr>
          <p:nvPr/>
        </p:nvCxnSpPr>
        <p:spPr>
          <a:xfrm rot="5400000" flipH="1" flipV="1">
            <a:off x="5289026" y="2897692"/>
            <a:ext cx="552382" cy="843454"/>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urved Connector 31"/>
          <p:cNvCxnSpPr>
            <a:stCxn id="25" idx="6"/>
            <a:endCxn id="28" idx="0"/>
          </p:cNvCxnSpPr>
          <p:nvPr/>
        </p:nvCxnSpPr>
        <p:spPr>
          <a:xfrm>
            <a:off x="6591289" y="3043228"/>
            <a:ext cx="843455" cy="552382"/>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5011673" y="2911416"/>
            <a:ext cx="566244" cy="307777"/>
          </a:xfrm>
          <a:prstGeom prst="rect">
            <a:avLst/>
          </a:prstGeom>
          <a:noFill/>
          <a:ln>
            <a:noFill/>
          </a:ln>
        </p:spPr>
        <p:txBody>
          <a:bodyPr wrap="square" rtlCol="0">
            <a:spAutoFit/>
          </a:bodyPr>
          <a:lstStyle/>
          <a:p>
            <a:pPr algn="r"/>
            <a:r>
              <a:rPr lang="en-US" sz="1400"/>
              <a:t>Hold</a:t>
            </a:r>
          </a:p>
        </p:txBody>
      </p:sp>
      <p:sp>
        <p:nvSpPr>
          <p:cNvPr id="34" name="TextBox 33"/>
          <p:cNvSpPr txBox="1"/>
          <p:nvPr/>
        </p:nvSpPr>
        <p:spPr>
          <a:xfrm>
            <a:off x="6891821" y="4487307"/>
            <a:ext cx="566244" cy="307777"/>
          </a:xfrm>
          <a:prstGeom prst="rect">
            <a:avLst/>
          </a:prstGeom>
          <a:noFill/>
          <a:ln>
            <a:noFill/>
          </a:ln>
        </p:spPr>
        <p:txBody>
          <a:bodyPr wrap="square" rtlCol="0">
            <a:spAutoFit/>
          </a:bodyPr>
          <a:lstStyle/>
          <a:p>
            <a:r>
              <a:rPr lang="en-US" sz="1400"/>
              <a:t>Hold</a:t>
            </a:r>
          </a:p>
        </p:txBody>
      </p:sp>
      <p:sp>
        <p:nvSpPr>
          <p:cNvPr id="35" name="TextBox 34"/>
          <p:cNvSpPr txBox="1"/>
          <p:nvPr/>
        </p:nvSpPr>
        <p:spPr>
          <a:xfrm>
            <a:off x="4843945" y="4487307"/>
            <a:ext cx="838199" cy="307777"/>
          </a:xfrm>
          <a:prstGeom prst="rect">
            <a:avLst/>
          </a:prstGeom>
          <a:noFill/>
          <a:ln>
            <a:noFill/>
          </a:ln>
        </p:spPr>
        <p:txBody>
          <a:bodyPr wrap="square" rtlCol="0">
            <a:spAutoFit/>
          </a:bodyPr>
          <a:lstStyle/>
          <a:p>
            <a:pPr algn="r"/>
            <a:r>
              <a:rPr lang="en-US" sz="1400"/>
              <a:t>Request</a:t>
            </a:r>
          </a:p>
        </p:txBody>
      </p:sp>
      <p:sp>
        <p:nvSpPr>
          <p:cNvPr id="36" name="TextBox 35"/>
          <p:cNvSpPr txBox="1"/>
          <p:nvPr/>
        </p:nvSpPr>
        <p:spPr>
          <a:xfrm>
            <a:off x="6896087" y="2898716"/>
            <a:ext cx="838199" cy="307777"/>
          </a:xfrm>
          <a:prstGeom prst="rect">
            <a:avLst/>
          </a:prstGeom>
          <a:noFill/>
          <a:ln>
            <a:noFill/>
          </a:ln>
        </p:spPr>
        <p:txBody>
          <a:bodyPr wrap="square" rtlCol="0">
            <a:spAutoFit/>
          </a:bodyPr>
          <a:lstStyle/>
          <a:p>
            <a:r>
              <a:rPr lang="en-US" sz="1400"/>
              <a:t>Request</a:t>
            </a:r>
          </a:p>
        </p:txBody>
      </p:sp>
      <p:sp>
        <p:nvSpPr>
          <p:cNvPr id="37" name="TextBox 36"/>
          <p:cNvSpPr txBox="1"/>
          <p:nvPr/>
        </p:nvSpPr>
        <p:spPr>
          <a:xfrm>
            <a:off x="5661779" y="3696694"/>
            <a:ext cx="1254673" cy="369332"/>
          </a:xfrm>
          <a:prstGeom prst="rect">
            <a:avLst/>
          </a:prstGeom>
          <a:noFill/>
          <a:ln>
            <a:noFill/>
          </a:ln>
        </p:spPr>
        <p:txBody>
          <a:bodyPr wrap="square" rtlCol="0">
            <a:spAutoFit/>
          </a:bodyPr>
          <a:lstStyle/>
          <a:p>
            <a:pPr algn="ctr"/>
            <a:r>
              <a:rPr lang="en-US" b="1">
                <a:solidFill>
                  <a:srgbClr val="C00000"/>
                </a:solidFill>
              </a:rPr>
              <a:t>DEADLOCK</a:t>
            </a:r>
          </a:p>
        </p:txBody>
      </p:sp>
      <p:pic>
        <p:nvPicPr>
          <p:cNvPr id="61" name="Picture 6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9115" y="5015734"/>
            <a:ext cx="5753100" cy="1438275"/>
          </a:xfrm>
          <a:prstGeom prst="rect">
            <a:avLst/>
          </a:prstGeom>
        </p:spPr>
      </p:pic>
    </p:spTree>
    <p:extLst>
      <p:ext uri="{BB962C8B-B14F-4D97-AF65-F5344CB8AC3E}">
        <p14:creationId xmlns:p14="http://schemas.microsoft.com/office/powerpoint/2010/main" val="15493506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up)">
                                      <p:cBhvr>
                                        <p:cTn id="17" dur="500"/>
                                        <p:tgtEl>
                                          <p:spTgt spid="19"/>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down)">
                                      <p:cBhvr>
                                        <p:cTn id="32" dur="500"/>
                                        <p:tgtEl>
                                          <p:spTgt spid="23"/>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p:stCondLst>
                              <p:cond delay="0"/>
                            </p:stCondLst>
                            <p:childTnLst>
                              <p:par>
                                <p:cTn id="51" presetID="22" presetClass="entr" presetSubtype="2" fill="hold"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wipe(right)">
                                      <p:cBhvr>
                                        <p:cTn id="53" dur="500"/>
                                        <p:tgtEl>
                                          <p:spTgt spid="29"/>
                                        </p:tgtEl>
                                      </p:cBhvr>
                                    </p:animEffect>
                                  </p:childTnLst>
                                </p:cTn>
                              </p:par>
                              <p:par>
                                <p:cTn id="54" presetID="22" presetClass="entr" presetSubtype="8" fill="hold" nodeType="with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wipe(left)">
                                      <p:cBhvr>
                                        <p:cTn id="56" dur="500"/>
                                        <p:tgtEl>
                                          <p:spTgt spid="31"/>
                                        </p:tgtEl>
                                      </p:cBhvr>
                                    </p:animEffect>
                                  </p:childTnLst>
                                </p:cTn>
                              </p:par>
                            </p:childTnLst>
                          </p:cTn>
                        </p:par>
                      </p:childTnLst>
                    </p:cTn>
                  </p:par>
                  <p:par>
                    <p:cTn id="57" fill="hold" nodeType="clickPar">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wipe(left)">
                                      <p:cBhvr>
                                        <p:cTn id="67" dur="500"/>
                                        <p:tgtEl>
                                          <p:spTgt spid="32"/>
                                        </p:tgtEl>
                                      </p:cBhvr>
                                    </p:animEffect>
                                  </p:childTnLst>
                                </p:cTn>
                              </p:par>
                              <p:par>
                                <p:cTn id="68" presetID="22" presetClass="entr" presetSubtype="2" fill="hold"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wipe(right)">
                                      <p:cBhvr>
                                        <p:cTn id="70" dur="500"/>
                                        <p:tgtEl>
                                          <p:spTgt spid="30"/>
                                        </p:tgtEl>
                                      </p:cBhvr>
                                    </p:animEffect>
                                  </p:childTnLst>
                                </p:cTn>
                              </p:par>
                            </p:childTnLst>
                          </p:cTn>
                        </p:par>
                      </p:childTnLst>
                    </p:cTn>
                  </p:par>
                  <p:par>
                    <p:cTn id="71" fill="hold" nodeType="clickPar">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7"/>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
                                            <p:txEl>
                                              <p:pRg st="0" end="0"/>
                                            </p:txEl>
                                          </p:spTgt>
                                        </p:tgtEl>
                                        <p:attrNameLst>
                                          <p:attrName>style.visibility</p:attrName>
                                        </p:attrNameLst>
                                      </p:cBhvr>
                                      <p:to>
                                        <p:strVal val="visible"/>
                                      </p:to>
                                    </p:set>
                                    <p:animEffect transition="in" filter="fade">
                                      <p:cBhvr>
                                        <p:cTn id="85" dur="500"/>
                                        <p:tgtEl>
                                          <p:spTgt spid="3">
                                            <p:txEl>
                                              <p:pRg st="0" end="0"/>
                                            </p:txEl>
                                          </p:spTgt>
                                        </p:tgtEl>
                                      </p:cBhvr>
                                    </p:animEffect>
                                  </p:childTnLst>
                                </p:cTn>
                              </p:par>
                            </p:childTnLst>
                          </p:cTn>
                        </p:par>
                      </p:childTnLst>
                    </p:cTn>
                  </p:par>
                  <p:par>
                    <p:cTn id="86" fill="hold" nodeType="clickPar">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3">
                                            <p:txEl>
                                              <p:pRg st="1" end="1"/>
                                            </p:txEl>
                                          </p:spTgt>
                                        </p:tgtEl>
                                        <p:attrNameLst>
                                          <p:attrName>style.visibility</p:attrName>
                                        </p:attrNameLst>
                                      </p:cBhvr>
                                      <p:to>
                                        <p:strVal val="visible"/>
                                      </p:to>
                                    </p:set>
                                    <p:animEffect transition="in" filter="fade">
                                      <p:cBhvr>
                                        <p:cTn id="90" dur="500"/>
                                        <p:tgtEl>
                                          <p:spTgt spid="3">
                                            <p:txEl>
                                              <p:pRg st="1" end="1"/>
                                            </p:txEl>
                                          </p:spTgt>
                                        </p:tgtEl>
                                      </p:cBhvr>
                                    </p:animEffect>
                                  </p:childTnLst>
                                </p:cTn>
                              </p:par>
                            </p:childTnLst>
                          </p:cTn>
                        </p:par>
                      </p:childTnLst>
                    </p:cTn>
                  </p:par>
                  <p:par>
                    <p:cTn id="91" fill="hold" nodeType="clickPar">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wipe(left)">
                                      <p:cBhvr>
                                        <p:cTn id="95" dur="500"/>
                                        <p:tgtEl>
                                          <p:spTgt spid="15"/>
                                        </p:tgtEl>
                                      </p:cBhvr>
                                    </p:animEffect>
                                  </p:childTnLst>
                                </p:cTn>
                              </p:par>
                              <p:par>
                                <p:cTn id="96" presetID="22" presetClass="entr" presetSubtype="8" fill="hold" nodeType="with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wipe(left)">
                                      <p:cBhvr>
                                        <p:cTn id="98" dur="500"/>
                                        <p:tgtEl>
                                          <p:spTgt spid="16"/>
                                        </p:tgtEl>
                                      </p:cBhvr>
                                    </p:animEffect>
                                  </p:childTnLst>
                                </p:cTn>
                              </p:par>
                              <p:par>
                                <p:cTn id="99" presetID="22" presetClass="entr" presetSubtype="8" fill="hold" nodeType="withEffect">
                                  <p:stCondLst>
                                    <p:cond delay="0"/>
                                  </p:stCondLst>
                                  <p:childTnLst>
                                    <p:set>
                                      <p:cBhvr>
                                        <p:cTn id="100" dur="1" fill="hold">
                                          <p:stCondLst>
                                            <p:cond delay="0"/>
                                          </p:stCondLst>
                                        </p:cTn>
                                        <p:tgtEl>
                                          <p:spTgt spid="17"/>
                                        </p:tgtEl>
                                        <p:attrNameLst>
                                          <p:attrName>style.visibility</p:attrName>
                                        </p:attrNameLst>
                                      </p:cBhvr>
                                      <p:to>
                                        <p:strVal val="visible"/>
                                      </p:to>
                                    </p:set>
                                    <p:animEffect transition="in" filter="wipe(left)">
                                      <p:cBhvr>
                                        <p:cTn id="101" dur="500"/>
                                        <p:tgtEl>
                                          <p:spTgt spid="17"/>
                                        </p:tgtEl>
                                      </p:cBhvr>
                                    </p:animEffect>
                                  </p:childTnLst>
                                </p:cTn>
                              </p:par>
                            </p:childTnLst>
                          </p:cTn>
                        </p:par>
                      </p:childTnLst>
                    </p:cTn>
                  </p:par>
                  <p:par>
                    <p:cTn id="102" fill="hold" nodeType="clickPar">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61"/>
                                        </p:tgtEl>
                                        <p:attrNameLst>
                                          <p:attrName>style.visibility</p:attrName>
                                        </p:attrNameLst>
                                      </p:cBhvr>
                                      <p:to>
                                        <p:strVal val="visible"/>
                                      </p:to>
                                    </p:set>
                                    <p:animEffect transition="in" filter="fade">
                                      <p:cBhvr>
                                        <p:cTn id="106"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20" grpId="0"/>
      <p:bldP spid="21" grpId="0" animBg="1"/>
      <p:bldP spid="22" grpId="0" animBg="1"/>
      <p:bldP spid="24" grpId="0"/>
      <p:bldP spid="25" grpId="0" animBg="1"/>
      <p:bldP spid="26" grpId="0" animBg="1"/>
      <p:bldP spid="27" grpId="0" animBg="1"/>
      <p:bldP spid="28" grpId="0" animBg="1"/>
      <p:bldP spid="33" grpId="0"/>
      <p:bldP spid="34" grpId="0"/>
      <p:bldP spid="35" grpId="0"/>
      <p:bldP spid="36" grpId="0"/>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Preemptable and non-preemptable resource</a:t>
            </a:r>
          </a:p>
        </p:txBody>
      </p:sp>
      <p:sp>
        <p:nvSpPr>
          <p:cNvPr id="3" name="Content Placeholder 2"/>
          <p:cNvSpPr>
            <a:spLocks noGrp="1"/>
          </p:cNvSpPr>
          <p:nvPr>
            <p:ph idx="1"/>
          </p:nvPr>
        </p:nvSpPr>
        <p:spPr/>
        <p:txBody>
          <a:bodyPr/>
          <a:lstStyle/>
          <a:p>
            <a:r>
              <a:rPr lang="en-US" err="1"/>
              <a:t>Preemptable:- Preemptive resources are those </a:t>
            </a:r>
            <a:r>
              <a:rPr lang="en-US" b="1">
                <a:solidFill>
                  <a:schemeClr val="accent6"/>
                </a:solidFill>
              </a:rPr>
              <a:t>which can be taken away from a process without causing any ill effects</a:t>
            </a:r>
            <a:r>
              <a:rPr lang="en-US"/>
              <a:t> to the process. </a:t>
            </a:r>
          </a:p>
          <a:p>
            <a:pPr lvl="1"/>
            <a:r>
              <a:rPr lang="en-US"/>
              <a:t>Example:- </a:t>
            </a:r>
            <a:r>
              <a:rPr lang="en-US">
                <a:solidFill>
                  <a:schemeClr val="accent6"/>
                </a:solidFill>
              </a:rPr>
              <a:t>Memory</a:t>
            </a:r>
            <a:r>
              <a:rPr lang="en-US"/>
              <a:t>.</a:t>
            </a:r>
          </a:p>
          <a:p>
            <a:r>
              <a:rPr lang="en-US"/>
              <a:t>Non-preemptable:- Non-pre-emptive resources are those </a:t>
            </a:r>
            <a:r>
              <a:rPr lang="en-US" b="1">
                <a:solidFill>
                  <a:schemeClr val="accent6"/>
                </a:solidFill>
              </a:rPr>
              <a:t>which cannot be taken away from the process without causing any ill effects</a:t>
            </a:r>
            <a:r>
              <a:rPr lang="en-US"/>
              <a:t> to the process.</a:t>
            </a:r>
          </a:p>
          <a:p>
            <a:pPr lvl="1"/>
            <a:r>
              <a:rPr lang="en-US"/>
              <a:t>Example:- </a:t>
            </a:r>
            <a:r>
              <a:rPr lang="en-US">
                <a:solidFill>
                  <a:schemeClr val="accent6"/>
                </a:solidFill>
              </a:rPr>
              <a:t>CD-ROM (CD recorder), Printer</a:t>
            </a:r>
            <a:r>
              <a:rPr lang="en-US"/>
              <a:t>.</a:t>
            </a:r>
          </a:p>
        </p:txBody>
      </p:sp>
    </p:spTree>
    <p:extLst>
      <p:ext uri="{BB962C8B-B14F-4D97-AF65-F5344CB8AC3E}">
        <p14:creationId xmlns:p14="http://schemas.microsoft.com/office/powerpoint/2010/main" val="14876319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Deadlock v/s Starvation</a:t>
            </a:r>
          </a:p>
        </p:txBody>
      </p:sp>
      <p:graphicFrame>
        <p:nvGraphicFramePr>
          <p:cNvPr id="19" name="Content Placeholder 4">
            <a:extLst>
              <a:ext uri="{FF2B5EF4-FFF2-40B4-BE49-F238E27FC236}">
                <a16:creationId xmlns="" xmlns:a16="http://schemas.microsoft.com/office/drawing/2014/main" id="{26B864CA-85CD-4666-B9D1-870ED08B272C}"/>
              </a:ext>
            </a:extLst>
          </p:cNvPr>
          <p:cNvGraphicFramePr/>
          <p:nvPr>
            <p:extLst>
              <p:ext uri="{D42A27DB-BD31-4B8C-83A1-F6EECF244321}">
                <p14:modId xmlns:p14="http://schemas.microsoft.com/office/powerpoint/2010/main" val="889316911"/>
              </p:ext>
            </p:extLst>
          </p:nvPr>
        </p:nvGraphicFramePr>
        <p:xfrm>
          <a:off x="248411" y="871110"/>
          <a:ext cx="11795760" cy="630000"/>
        </p:xfrm>
        <a:graphic>
          <a:graphicData uri="http://schemas.openxmlformats.org/drawingml/2006/table">
            <a:tbl>
              <a:tblPr firstRow="1" bandRow="1">
                <a:tableStyleId>{8EC20E35-A176-4012-BC5E-935CFFF8708E}</a:tableStyleId>
              </a:tblPr>
              <a:tblGrid>
                <a:gridCol w="5897880">
                  <a:extLst>
                    <a:ext uri="{9D8B030D-6E8A-4147-A177-3AD203B41FA5}">
                      <a16:colId xmlns="" xmlns:a16="http://schemas.microsoft.com/office/drawing/2014/main" val="20000"/>
                    </a:ext>
                  </a:extLst>
                </a:gridCol>
                <a:gridCol w="5897880">
                  <a:extLst>
                    <a:ext uri="{9D8B030D-6E8A-4147-A177-3AD203B41FA5}">
                      <a16:colId xmlns="" xmlns:a16="http://schemas.microsoft.com/office/drawing/2014/main" val="20001"/>
                    </a:ext>
                  </a:extLst>
                </a:gridCol>
              </a:tblGrid>
              <a:tr h="630000">
                <a:tc>
                  <a:txBody>
                    <a:bodyPr/>
                    <a:lstStyle/>
                    <a:p>
                      <a:pPr algn="l"/>
                      <a:r>
                        <a:rPr lang="en-US" sz="2400" b="1">
                          <a:solidFill>
                            <a:schemeClr val="tx1"/>
                          </a:solidFill>
                        </a:rPr>
                        <a:t>Deadlock</a:t>
                      </a:r>
                      <a:endParaRPr lang="en-US" b="1">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2400" b="1">
                          <a:solidFill>
                            <a:schemeClr val="tx1"/>
                          </a:solidFill>
                        </a:rPr>
                        <a:t>Starvation</a:t>
                      </a:r>
                      <a:endParaRPr lang="en-US" sz="1800" b="1" kern="120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val="10001"/>
                  </a:ext>
                </a:extLst>
              </a:tr>
            </a:tbl>
          </a:graphicData>
        </a:graphic>
      </p:graphicFrame>
      <p:graphicFrame>
        <p:nvGraphicFramePr>
          <p:cNvPr id="21" name="Content Placeholder 4">
            <a:extLst>
              <a:ext uri="{FF2B5EF4-FFF2-40B4-BE49-F238E27FC236}">
                <a16:creationId xmlns="" xmlns:a16="http://schemas.microsoft.com/office/drawing/2014/main" id="{26B864CA-85CD-4666-B9D1-870ED08B272C}"/>
              </a:ext>
            </a:extLst>
          </p:cNvPr>
          <p:cNvGraphicFramePr/>
          <p:nvPr>
            <p:extLst>
              <p:ext uri="{D42A27DB-BD31-4B8C-83A1-F6EECF244321}">
                <p14:modId xmlns:p14="http://schemas.microsoft.com/office/powerpoint/2010/main" val="2771805944"/>
              </p:ext>
            </p:extLst>
          </p:nvPr>
        </p:nvGraphicFramePr>
        <p:xfrm>
          <a:off x="253173" y="1506107"/>
          <a:ext cx="11795760" cy="1680006"/>
        </p:xfrm>
        <a:graphic>
          <a:graphicData uri="http://schemas.openxmlformats.org/drawingml/2006/table">
            <a:tbl>
              <a:tblPr firstRow="1" bandRow="1">
                <a:tableStyleId>{8EC20E35-A176-4012-BC5E-935CFFF8708E}</a:tableStyleId>
              </a:tblPr>
              <a:tblGrid>
                <a:gridCol w="5897880">
                  <a:extLst>
                    <a:ext uri="{9D8B030D-6E8A-4147-A177-3AD203B41FA5}">
                      <a16:colId xmlns="" xmlns:a16="http://schemas.microsoft.com/office/drawing/2014/main" val="20000"/>
                    </a:ext>
                  </a:extLst>
                </a:gridCol>
                <a:gridCol w="5897880">
                  <a:extLst>
                    <a:ext uri="{9D8B030D-6E8A-4147-A177-3AD203B41FA5}">
                      <a16:colId xmlns="" xmlns:a16="http://schemas.microsoft.com/office/drawing/2014/main" val="20001"/>
                    </a:ext>
                  </a:extLst>
                </a:gridCol>
              </a:tblGrid>
              <a:tr h="1680006">
                <a:tc>
                  <a:txBody>
                    <a:bodyPr/>
                    <a:lstStyle/>
                    <a:p>
                      <a:endParaRPr lang="en-US" sz="2400" b="0" kern="120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endParaRPr lang="en-US" sz="2400" b="0" kern="120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619" y="1635895"/>
            <a:ext cx="5752381" cy="1438095"/>
          </a:xfrm>
          <a:prstGeom prst="rect">
            <a:avLst/>
          </a:prstGeom>
        </p:spPr>
      </p:pic>
      <p:pic>
        <p:nvPicPr>
          <p:cNvPr id="31" name="Picture 30"/>
          <p:cNvPicPr>
            <a:picLocks noChangeAspect="1"/>
          </p:cNvPicPr>
          <p:nvPr/>
        </p:nvPicPr>
        <p:blipFill>
          <a:blip r:embed="rId3" cstate="print">
            <a:extLst>
              <a:ext uri="{28A0092B-C50C-407E-A947-70E740481C1C}">
                <a14:useLocalDpi xmlns:a14="http://schemas.microsoft.com/office/drawing/2010/main" val="0"/>
              </a:ext>
            </a:extLst>
          </a:blip>
          <a:srcRect t="26999" b="27341"/>
          <a:stretch>
            <a:fillRect/>
          </a:stretch>
        </p:blipFill>
        <p:spPr>
          <a:xfrm>
            <a:off x="1325562" y="1876424"/>
            <a:ext cx="914400" cy="417513"/>
          </a:xfrm>
          <a:prstGeom prst="rect">
            <a:avLst/>
          </a:prstGeom>
        </p:spPr>
      </p:pic>
      <p:pic>
        <p:nvPicPr>
          <p:cNvPr id="32" name="Picture 31"/>
          <p:cNvPicPr>
            <a:picLocks noChangeAspect="1"/>
          </p:cNvPicPr>
          <p:nvPr/>
        </p:nvPicPr>
        <p:blipFill>
          <a:blip r:embed="rId3" cstate="print">
            <a:extLst>
              <a:ext uri="{28A0092B-C50C-407E-A947-70E740481C1C}">
                <a14:useLocalDpi xmlns:a14="http://schemas.microsoft.com/office/drawing/2010/main" val="0"/>
              </a:ext>
            </a:extLst>
          </a:blip>
          <a:srcRect t="26999" b="27341"/>
          <a:stretch>
            <a:fillRect/>
          </a:stretch>
        </p:blipFill>
        <p:spPr>
          <a:xfrm>
            <a:off x="411162" y="1876423"/>
            <a:ext cx="914400" cy="417513"/>
          </a:xfrm>
          <a:prstGeom prst="rect">
            <a:avLst/>
          </a:prstGeom>
        </p:spPr>
      </p:pic>
      <p:pic>
        <p:nvPicPr>
          <p:cNvPr id="33" name="Picture 32"/>
          <p:cNvPicPr>
            <a:picLocks noChangeAspect="1"/>
          </p:cNvPicPr>
          <p:nvPr/>
        </p:nvPicPr>
        <p:blipFill>
          <a:blip r:embed="rId3" cstate="print">
            <a:extLst>
              <a:ext uri="{28A0092B-C50C-407E-A947-70E740481C1C}">
                <a14:useLocalDpi xmlns:a14="http://schemas.microsoft.com/office/drawing/2010/main" val="0"/>
              </a:ext>
            </a:extLst>
          </a:blip>
          <a:srcRect t="26999" b="27341"/>
          <a:stretch>
            <a:fillRect/>
          </a:stretch>
        </p:blipFill>
        <p:spPr>
          <a:xfrm flipH="1">
            <a:off x="5068887" y="2466974"/>
            <a:ext cx="914400" cy="417513"/>
          </a:xfrm>
          <a:prstGeom prst="rect">
            <a:avLst/>
          </a:prstGeom>
        </p:spPr>
      </p:pic>
      <p:pic>
        <p:nvPicPr>
          <p:cNvPr id="34" name="Picture 33"/>
          <p:cNvPicPr>
            <a:picLocks noChangeAspect="1"/>
          </p:cNvPicPr>
          <p:nvPr/>
        </p:nvPicPr>
        <p:blipFill>
          <a:blip r:embed="rId3" cstate="print">
            <a:extLst>
              <a:ext uri="{28A0092B-C50C-407E-A947-70E740481C1C}">
                <a14:useLocalDpi xmlns:a14="http://schemas.microsoft.com/office/drawing/2010/main" val="0"/>
              </a:ext>
            </a:extLst>
          </a:blip>
          <a:srcRect t="26999" b="27341"/>
          <a:stretch>
            <a:fillRect/>
          </a:stretch>
        </p:blipFill>
        <p:spPr>
          <a:xfrm flipH="1">
            <a:off x="4154487" y="2466973"/>
            <a:ext cx="914400" cy="417513"/>
          </a:xfrm>
          <a:prstGeom prst="rect">
            <a:avLst/>
          </a:prstGeom>
        </p:spPr>
      </p:pic>
      <p:pic>
        <p:nvPicPr>
          <p:cNvPr id="35" name="Picture 3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8386" y="1635895"/>
            <a:ext cx="5752381" cy="1438095"/>
          </a:xfrm>
          <a:prstGeom prst="rect">
            <a:avLst/>
          </a:prstGeom>
        </p:spPr>
      </p:pic>
      <p:pic>
        <p:nvPicPr>
          <p:cNvPr id="36" name="Picture 35"/>
          <p:cNvPicPr>
            <a:picLocks noChangeAspect="1"/>
          </p:cNvPicPr>
          <p:nvPr/>
        </p:nvPicPr>
        <p:blipFill>
          <a:blip r:embed="rId3" cstate="print">
            <a:extLst>
              <a:ext uri="{28A0092B-C50C-407E-A947-70E740481C1C}">
                <a14:useLocalDpi xmlns:a14="http://schemas.microsoft.com/office/drawing/2010/main" val="0"/>
              </a:ext>
            </a:extLst>
          </a:blip>
          <a:srcRect t="26999" b="27341"/>
          <a:stretch>
            <a:fillRect/>
          </a:stretch>
        </p:blipFill>
        <p:spPr>
          <a:xfrm>
            <a:off x="7200329" y="1876424"/>
            <a:ext cx="914400" cy="417513"/>
          </a:xfrm>
          <a:prstGeom prst="rect">
            <a:avLst/>
          </a:prstGeom>
        </p:spPr>
      </p:pic>
      <p:pic>
        <p:nvPicPr>
          <p:cNvPr id="37" name="Picture 36"/>
          <p:cNvPicPr>
            <a:picLocks noChangeAspect="1"/>
          </p:cNvPicPr>
          <p:nvPr/>
        </p:nvPicPr>
        <p:blipFill>
          <a:blip r:embed="rId3" cstate="print">
            <a:extLst>
              <a:ext uri="{28A0092B-C50C-407E-A947-70E740481C1C}">
                <a14:useLocalDpi xmlns:a14="http://schemas.microsoft.com/office/drawing/2010/main" val="0"/>
              </a:ext>
            </a:extLst>
          </a:blip>
          <a:srcRect t="26999" b="27341"/>
          <a:stretch>
            <a:fillRect/>
          </a:stretch>
        </p:blipFill>
        <p:spPr>
          <a:xfrm>
            <a:off x="6285929" y="1876423"/>
            <a:ext cx="914400" cy="417513"/>
          </a:xfrm>
          <a:prstGeom prst="rect">
            <a:avLst/>
          </a:prstGeom>
        </p:spPr>
      </p:pic>
      <p:pic>
        <p:nvPicPr>
          <p:cNvPr id="38" name="Picture 37"/>
          <p:cNvPicPr>
            <a:picLocks noChangeAspect="1"/>
          </p:cNvPicPr>
          <p:nvPr/>
        </p:nvPicPr>
        <p:blipFill>
          <a:blip r:embed="rId3" cstate="print">
            <a:extLst>
              <a:ext uri="{28A0092B-C50C-407E-A947-70E740481C1C}">
                <a14:useLocalDpi xmlns:a14="http://schemas.microsoft.com/office/drawing/2010/main" val="0"/>
              </a:ext>
            </a:extLst>
          </a:blip>
          <a:srcRect t="26999" b="27341"/>
          <a:stretch>
            <a:fillRect/>
          </a:stretch>
        </p:blipFill>
        <p:spPr>
          <a:xfrm flipH="1">
            <a:off x="10943654" y="2466974"/>
            <a:ext cx="914400" cy="417513"/>
          </a:xfrm>
          <a:prstGeom prst="rect">
            <a:avLst/>
          </a:prstGeom>
        </p:spPr>
      </p:pic>
      <p:pic>
        <p:nvPicPr>
          <p:cNvPr id="39" name="Picture 38"/>
          <p:cNvPicPr>
            <a:picLocks noChangeAspect="1"/>
          </p:cNvPicPr>
          <p:nvPr/>
        </p:nvPicPr>
        <p:blipFill>
          <a:blip r:embed="rId3" cstate="print">
            <a:extLst>
              <a:ext uri="{28A0092B-C50C-407E-A947-70E740481C1C}">
                <a14:useLocalDpi xmlns:a14="http://schemas.microsoft.com/office/drawing/2010/main" val="0"/>
              </a:ext>
            </a:extLst>
          </a:blip>
          <a:srcRect t="26999" b="27341"/>
          <a:stretch>
            <a:fillRect/>
          </a:stretch>
        </p:blipFill>
        <p:spPr>
          <a:xfrm flipH="1">
            <a:off x="10029254" y="2466973"/>
            <a:ext cx="914400" cy="417513"/>
          </a:xfrm>
          <a:prstGeom prst="rect">
            <a:avLst/>
          </a:prstGeom>
        </p:spPr>
      </p:pic>
    </p:spTree>
    <p:extLst>
      <p:ext uri="{BB962C8B-B14F-4D97-AF65-F5344CB8AC3E}">
        <p14:creationId xmlns:p14="http://schemas.microsoft.com/office/powerpoint/2010/main" val="22253615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10" presetClass="entr" presetSubtype="0" fill="hold"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par>
                                <p:cTn id="21" presetID="10" presetClass="entr" presetSubtype="0" fill="hold" nodeType="with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par>
                                <p:cTn id="24" presetID="10" presetClass="entr" presetSubtype="0" fill="hold"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par>
                                <p:cTn id="27" presetID="10" presetClass="entr" presetSubtype="0" fill="hold"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500"/>
                                        <p:tgtEl>
                                          <p:spTgt spid="34"/>
                                        </p:tgtEl>
                                      </p:cBhvr>
                                    </p:animEffect>
                                  </p:childTnLst>
                                </p:cTn>
                              </p:par>
                            </p:childTnLst>
                          </p:cTn>
                        </p:par>
                      </p:childTnLst>
                    </p:cTn>
                  </p:par>
                  <p:par>
                    <p:cTn id="30" fill="hold" nodeType="clickPar">
                      <p:stCondLst>
                        <p:cond delay="indefinite"/>
                      </p:stCondLst>
                      <p:childTnLst>
                        <p:par>
                          <p:cTn id="31" fill="hold">
                            <p:stCondLst>
                              <p:cond delay="0"/>
                            </p:stCondLst>
                            <p:childTnLst>
                              <p:par>
                                <p:cTn id="32" presetID="63" presetClass="path" presetSubtype="0" accel="50000" decel="50000" fill="hold" nodeType="clickEffect">
                                  <p:stCondLst>
                                    <p:cond delay="0"/>
                                  </p:stCondLst>
                                  <p:childTnLst>
                                    <p:animMotion origin="layout" path="M -3.95833E-06 4.81481E-06 L 0.08607 0.04328" pathEditMode="relative" rAng="0" ptsTypes="AA">
                                      <p:cBhvr>
                                        <p:cTn id="33" dur="2000" fill="hold"/>
                                        <p:tgtEl>
                                          <p:spTgt spid="31"/>
                                        </p:tgtEl>
                                        <p:attrNameLst>
                                          <p:attrName>ppt_x</p:attrName>
                                          <p:attrName>ppt_y</p:attrName>
                                        </p:attrNameLst>
                                      </p:cBhvr>
                                      <p:rCtr x="4297" y="2153"/>
                                    </p:animMotion>
                                  </p:childTnLst>
                                </p:cTn>
                              </p:par>
                              <p:par>
                                <p:cTn id="34" presetID="56" presetClass="path" presetSubtype="0" accel="50000" decel="50000" fill="hold" nodeType="withEffect">
                                  <p:stCondLst>
                                    <p:cond delay="0"/>
                                  </p:stCondLst>
                                  <p:childTnLst>
                                    <p:animMotion origin="layout" path="M 4.79167E-06 3.7037E-06 L -0.07253 -0.04283" pathEditMode="relative" rAng="0" ptsTypes="AA">
                                      <p:cBhvr>
                                        <p:cTn id="35" dur="2000" fill="hold"/>
                                        <p:tgtEl>
                                          <p:spTgt spid="34"/>
                                        </p:tgtEl>
                                        <p:attrNameLst>
                                          <p:attrName>ppt_x</p:attrName>
                                          <p:attrName>ppt_y</p:attrName>
                                        </p:attrNameLst>
                                      </p:cBhvr>
                                      <p:rCtr x="-3633" y="-2153"/>
                                    </p:animMotion>
                                  </p:childTnLst>
                                </p:cTn>
                              </p:par>
                            </p:childTnLst>
                          </p:cTn>
                        </p:par>
                      </p:childTnLst>
                    </p:cTn>
                  </p:par>
                  <p:par>
                    <p:cTn id="36" fill="hold" nodeType="clickPar">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500"/>
                                        <p:tgtEl>
                                          <p:spTgt spid="35"/>
                                        </p:tgtEl>
                                      </p:cBhvr>
                                    </p:animEffect>
                                  </p:childTnLst>
                                </p:cTn>
                              </p:par>
                              <p:par>
                                <p:cTn id="41" presetID="10" presetClass="entr" presetSubtype="0" fill="hold"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500"/>
                                        <p:tgtEl>
                                          <p:spTgt spid="36"/>
                                        </p:tgtEl>
                                      </p:cBhvr>
                                    </p:animEffect>
                                  </p:childTnLst>
                                </p:cTn>
                              </p:par>
                              <p:par>
                                <p:cTn id="44" presetID="10" presetClass="entr" presetSubtype="0" fill="hold"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par>
                                <p:cTn id="47" presetID="10" presetClass="entr" presetSubtype="0"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nodeType="with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500"/>
                                        <p:tgtEl>
                                          <p:spTgt spid="38"/>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0" presetClass="path" presetSubtype="0" repeatCount="indefinite" accel="50000" decel="50000" fill="hold" nodeType="clickEffect">
                                  <p:stCondLst>
                                    <p:cond delay="0"/>
                                  </p:stCondLst>
                                  <p:endCondLst>
                                    <p:cond evt="onNext" delay="0">
                                      <p:tgtEl>
                                        <p:sldTgt/>
                                      </p:tgtEl>
                                    </p:cond>
                                  </p:endCondLst>
                                  <p:childTnLst>
                                    <p:animMotion origin="layout" path="M 0.00117 -0.00348 L -0.09831 -0.04144 L -0.16797 -0.04352 L -0.20378 0.00555 L -0.26146 0.00439 L -0.30834 0.00092 L -0.30795 0.00208" pathEditMode="relative" rAng="0" ptsTypes="AAAAAAA">
                                      <p:cBhvr>
                                        <p:cTn id="56" dur="2000" fill="hold"/>
                                        <p:tgtEl>
                                          <p:spTgt spid="39"/>
                                        </p:tgtEl>
                                        <p:attrNameLst>
                                          <p:attrName>ppt_x</p:attrName>
                                          <p:attrName>ppt_y</p:attrName>
                                        </p:attrNameLst>
                                      </p:cBhvr>
                                      <p:rCtr x="-15482" y="-1551"/>
                                    </p:animMotion>
                                  </p:childTnLst>
                                </p:cTn>
                              </p:par>
                              <p:par>
                                <p:cTn id="57" presetID="0" presetClass="path" presetSubtype="0" repeatCount="indefinite" accel="50000" decel="50000" fill="hold" nodeType="withEffect">
                                  <p:stCondLst>
                                    <p:cond delay="0"/>
                                  </p:stCondLst>
                                  <p:endCondLst>
                                    <p:cond evt="onNext" delay="0">
                                      <p:tgtEl>
                                        <p:sldTgt/>
                                      </p:tgtEl>
                                    </p:cond>
                                  </p:endCondLst>
                                  <p:childTnLst>
                                    <p:animMotion origin="layout" path="M 3.75E-06 -0.00301 L -0.16524 -0.03912 L -0.22956 -0.04213 L -0.2655 0.00555 L -0.31016 0.00324 L -0.30977 0.00324" pathEditMode="relative" rAng="0" ptsTypes="AAAAAA">
                                      <p:cBhvr>
                                        <p:cTn id="58" dur="2000" fill="hold"/>
                                        <p:tgtEl>
                                          <p:spTgt spid="38"/>
                                        </p:tgtEl>
                                        <p:attrNameLst>
                                          <p:attrName>ppt_x</p:attrName>
                                          <p:attrName>ppt_y</p:attrName>
                                        </p:attrNameLst>
                                      </p:cBhvr>
                                      <p:rCtr x="-15508" y="-152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Deadlock v/s Starvation</a:t>
            </a:r>
          </a:p>
        </p:txBody>
      </p:sp>
      <p:graphicFrame>
        <p:nvGraphicFramePr>
          <p:cNvPr id="19" name="Content Placeholder 4">
            <a:extLst>
              <a:ext uri="{FF2B5EF4-FFF2-40B4-BE49-F238E27FC236}">
                <a16:creationId xmlns="" xmlns:a16="http://schemas.microsoft.com/office/drawing/2014/main" id="{26B864CA-85CD-4666-B9D1-870ED08B272C}"/>
              </a:ext>
            </a:extLst>
          </p:cNvPr>
          <p:cNvGraphicFramePr/>
          <p:nvPr>
            <p:extLst>
              <p:ext uri="{D42A27DB-BD31-4B8C-83A1-F6EECF244321}">
                <p14:modId xmlns:p14="http://schemas.microsoft.com/office/powerpoint/2010/main" val="889316911"/>
              </p:ext>
            </p:extLst>
          </p:nvPr>
        </p:nvGraphicFramePr>
        <p:xfrm>
          <a:off x="248411" y="871110"/>
          <a:ext cx="11795760" cy="630000"/>
        </p:xfrm>
        <a:graphic>
          <a:graphicData uri="http://schemas.openxmlformats.org/drawingml/2006/table">
            <a:tbl>
              <a:tblPr firstRow="1" bandRow="1">
                <a:tableStyleId>{8EC20E35-A176-4012-BC5E-935CFFF8708E}</a:tableStyleId>
              </a:tblPr>
              <a:tblGrid>
                <a:gridCol w="5897880">
                  <a:extLst>
                    <a:ext uri="{9D8B030D-6E8A-4147-A177-3AD203B41FA5}">
                      <a16:colId xmlns="" xmlns:a16="http://schemas.microsoft.com/office/drawing/2014/main" val="20000"/>
                    </a:ext>
                  </a:extLst>
                </a:gridCol>
                <a:gridCol w="5897880">
                  <a:extLst>
                    <a:ext uri="{9D8B030D-6E8A-4147-A177-3AD203B41FA5}">
                      <a16:colId xmlns="" xmlns:a16="http://schemas.microsoft.com/office/drawing/2014/main" val="20001"/>
                    </a:ext>
                  </a:extLst>
                </a:gridCol>
              </a:tblGrid>
              <a:tr h="630000">
                <a:tc>
                  <a:txBody>
                    <a:bodyPr/>
                    <a:lstStyle/>
                    <a:p>
                      <a:pPr algn="l"/>
                      <a:r>
                        <a:rPr lang="en-US" sz="2400" b="1">
                          <a:solidFill>
                            <a:schemeClr val="tx1"/>
                          </a:solidFill>
                        </a:rPr>
                        <a:t>Deadlock</a:t>
                      </a:r>
                      <a:endParaRPr lang="en-US" b="1">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2400" b="1">
                          <a:solidFill>
                            <a:schemeClr val="tx1"/>
                          </a:solidFill>
                        </a:rPr>
                        <a:t>Starvation</a:t>
                      </a:r>
                      <a:endParaRPr lang="en-US" sz="1800" b="1" kern="120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val="10001"/>
                  </a:ext>
                </a:extLst>
              </a:tr>
            </a:tbl>
          </a:graphicData>
        </a:graphic>
      </p:graphicFrame>
      <p:graphicFrame>
        <p:nvGraphicFramePr>
          <p:cNvPr id="21" name="Content Placeholder 4">
            <a:extLst>
              <a:ext uri="{FF2B5EF4-FFF2-40B4-BE49-F238E27FC236}">
                <a16:creationId xmlns="" xmlns:a16="http://schemas.microsoft.com/office/drawing/2014/main" id="{26B864CA-85CD-4666-B9D1-870ED08B272C}"/>
              </a:ext>
            </a:extLst>
          </p:cNvPr>
          <p:cNvGraphicFramePr/>
          <p:nvPr>
            <p:extLst>
              <p:ext uri="{D42A27DB-BD31-4B8C-83A1-F6EECF244321}">
                <p14:modId xmlns:p14="http://schemas.microsoft.com/office/powerpoint/2010/main" val="2699543365"/>
              </p:ext>
            </p:extLst>
          </p:nvPr>
        </p:nvGraphicFramePr>
        <p:xfrm>
          <a:off x="253173" y="1506107"/>
          <a:ext cx="11795760" cy="822960"/>
        </p:xfrm>
        <a:graphic>
          <a:graphicData uri="http://schemas.openxmlformats.org/drawingml/2006/table">
            <a:tbl>
              <a:tblPr firstRow="1" bandRow="1">
                <a:tableStyleId>{8EC20E35-A176-4012-BC5E-935CFFF8708E}</a:tableStyleId>
              </a:tblPr>
              <a:tblGrid>
                <a:gridCol w="5897880">
                  <a:extLst>
                    <a:ext uri="{9D8B030D-6E8A-4147-A177-3AD203B41FA5}">
                      <a16:colId xmlns="" xmlns:a16="http://schemas.microsoft.com/office/drawing/2014/main" val="20000"/>
                    </a:ext>
                  </a:extLst>
                </a:gridCol>
                <a:gridCol w="5897880">
                  <a:extLst>
                    <a:ext uri="{9D8B030D-6E8A-4147-A177-3AD203B41FA5}">
                      <a16:colId xmlns="" xmlns:a16="http://schemas.microsoft.com/office/drawing/2014/main" val="20001"/>
                    </a:ext>
                  </a:extLst>
                </a:gridCol>
              </a:tblGrid>
              <a:tr h="540000">
                <a:tc>
                  <a:txBody>
                    <a:bodyPr/>
                    <a:lstStyle/>
                    <a:p>
                      <a:r>
                        <a:rPr lang="en-US" sz="2400" b="0" kern="1200">
                          <a:solidFill>
                            <a:schemeClr val="dk1"/>
                          </a:solidFill>
                          <a:latin typeface="+mn-lt"/>
                          <a:ea typeface="+mn-ea"/>
                          <a:cs typeface="+mn-cs"/>
                        </a:rPr>
                        <a:t>All processes </a:t>
                      </a:r>
                      <a:r>
                        <a:rPr lang="en-US" sz="2400" b="0" kern="1200">
                          <a:solidFill>
                            <a:schemeClr val="accent6"/>
                          </a:solidFill>
                          <a:latin typeface="+mn-lt"/>
                          <a:ea typeface="+mn-ea"/>
                          <a:cs typeface="+mn-cs"/>
                        </a:rPr>
                        <a:t>keep waiting for each other to complete and none get executed</a:t>
                      </a:r>
                      <a:r>
                        <a:rPr lang="en-US" sz="2400" b="0" kern="1200">
                          <a:solidFill>
                            <a:schemeClr val="dk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a:solidFill>
                            <a:schemeClr val="accent6"/>
                          </a:solidFill>
                          <a:latin typeface="+mn-lt"/>
                          <a:ea typeface="+mn-ea"/>
                          <a:cs typeface="+mn-cs"/>
                        </a:rPr>
                        <a:t>High priority process keep executing</a:t>
                      </a:r>
                      <a:r>
                        <a:rPr lang="en-US" sz="2400" b="0" kern="1200">
                          <a:solidFill>
                            <a:schemeClr val="dk1"/>
                          </a:solidFill>
                          <a:latin typeface="+mn-lt"/>
                          <a:ea typeface="+mn-ea"/>
                          <a:cs typeface="+mn-cs"/>
                        </a:rPr>
                        <a:t> and </a:t>
                      </a:r>
                      <a:r>
                        <a:rPr lang="en-US" sz="2400" b="0" kern="1200">
                          <a:solidFill>
                            <a:schemeClr val="accent6"/>
                          </a:solidFill>
                          <a:latin typeface="+mn-lt"/>
                          <a:ea typeface="+mn-ea"/>
                          <a:cs typeface="+mn-cs"/>
                        </a:rPr>
                        <a:t>low priority process are blocked</a:t>
                      </a:r>
                      <a:r>
                        <a:rPr lang="en-US" sz="2400" b="0" kern="1200">
                          <a:solidFill>
                            <a:schemeClr val="dk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graphicFrame>
        <p:nvGraphicFramePr>
          <p:cNvPr id="23" name="Content Placeholder 4">
            <a:extLst>
              <a:ext uri="{FF2B5EF4-FFF2-40B4-BE49-F238E27FC236}">
                <a16:creationId xmlns="" xmlns:a16="http://schemas.microsoft.com/office/drawing/2014/main" id="{26B864CA-85CD-4666-B9D1-870ED08B272C}"/>
              </a:ext>
            </a:extLst>
          </p:cNvPr>
          <p:cNvGraphicFramePr/>
          <p:nvPr>
            <p:extLst>
              <p:ext uri="{D42A27DB-BD31-4B8C-83A1-F6EECF244321}">
                <p14:modId xmlns:p14="http://schemas.microsoft.com/office/powerpoint/2010/main" val="4130774141"/>
              </p:ext>
            </p:extLst>
          </p:nvPr>
        </p:nvGraphicFramePr>
        <p:xfrm>
          <a:off x="253173" y="2331523"/>
          <a:ext cx="11795760" cy="822960"/>
        </p:xfrm>
        <a:graphic>
          <a:graphicData uri="http://schemas.openxmlformats.org/drawingml/2006/table">
            <a:tbl>
              <a:tblPr firstRow="1" bandRow="1">
                <a:tableStyleId>{8EC20E35-A176-4012-BC5E-935CFFF8708E}</a:tableStyleId>
              </a:tblPr>
              <a:tblGrid>
                <a:gridCol w="5897880">
                  <a:extLst>
                    <a:ext uri="{9D8B030D-6E8A-4147-A177-3AD203B41FA5}">
                      <a16:colId xmlns="" xmlns:a16="http://schemas.microsoft.com/office/drawing/2014/main" val="20000"/>
                    </a:ext>
                  </a:extLst>
                </a:gridCol>
                <a:gridCol w="5897880">
                  <a:extLst>
                    <a:ext uri="{9D8B030D-6E8A-4147-A177-3AD203B41FA5}">
                      <a16:colId xmlns="" xmlns:a16="http://schemas.microsoft.com/office/drawing/2014/main" val="20001"/>
                    </a:ext>
                  </a:extLst>
                </a:gridCol>
              </a:tblGrid>
              <a:tr h="540000">
                <a:tc>
                  <a:txBody>
                    <a:bodyPr/>
                    <a:lstStyle/>
                    <a:p>
                      <a:r>
                        <a:rPr lang="en-US" sz="2400" b="0" kern="1200">
                          <a:solidFill>
                            <a:schemeClr val="accent6"/>
                          </a:solidFill>
                          <a:latin typeface="+mn-lt"/>
                          <a:ea typeface="+mn-ea"/>
                          <a:cs typeface="+mn-cs"/>
                        </a:rPr>
                        <a:t>Resources are blocked </a:t>
                      </a:r>
                      <a:r>
                        <a:rPr lang="en-US" sz="2400" b="0" kern="1200">
                          <a:solidFill>
                            <a:schemeClr val="dk1"/>
                          </a:solidFill>
                          <a:latin typeface="+mn-lt"/>
                          <a:ea typeface="+mn-ea"/>
                          <a:cs typeface="+mn-cs"/>
                        </a:rPr>
                        <a:t>by the process.</a:t>
                      </a:r>
                      <a:endParaRPr lang="en-GB" sz="2400" b="0" kern="120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a:solidFill>
                            <a:schemeClr val="accent6"/>
                          </a:solidFill>
                          <a:latin typeface="+mn-lt"/>
                          <a:ea typeface="+mn-ea"/>
                          <a:cs typeface="+mn-cs"/>
                        </a:rPr>
                        <a:t>Resources are continuously utilized </a:t>
                      </a:r>
                      <a:r>
                        <a:rPr lang="en-US" sz="2400" b="0" kern="1200">
                          <a:solidFill>
                            <a:schemeClr val="dk1"/>
                          </a:solidFill>
                          <a:latin typeface="+mn-lt"/>
                          <a:ea typeface="+mn-ea"/>
                          <a:cs typeface="+mn-cs"/>
                        </a:rPr>
                        <a:t>by the higher priority process.</a:t>
                      </a:r>
                      <a:endParaRPr lang="en-GB" sz="2400" b="0" kern="120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graphicFrame>
        <p:nvGraphicFramePr>
          <p:cNvPr id="25" name="Content Placeholder 4">
            <a:extLst>
              <a:ext uri="{FF2B5EF4-FFF2-40B4-BE49-F238E27FC236}">
                <a16:creationId xmlns="" xmlns:a16="http://schemas.microsoft.com/office/drawing/2014/main" id="{26B864CA-85CD-4666-B9D1-870ED08B272C}"/>
              </a:ext>
            </a:extLst>
          </p:cNvPr>
          <p:cNvGraphicFramePr/>
          <p:nvPr>
            <p:extLst>
              <p:ext uri="{D42A27DB-BD31-4B8C-83A1-F6EECF244321}">
                <p14:modId xmlns:p14="http://schemas.microsoft.com/office/powerpoint/2010/main" val="758227736"/>
              </p:ext>
            </p:extLst>
          </p:nvPr>
        </p:nvGraphicFramePr>
        <p:xfrm>
          <a:off x="253173" y="3156939"/>
          <a:ext cx="11795760" cy="822960"/>
        </p:xfrm>
        <a:graphic>
          <a:graphicData uri="http://schemas.openxmlformats.org/drawingml/2006/table">
            <a:tbl>
              <a:tblPr firstRow="1" bandRow="1">
                <a:tableStyleId>{8EC20E35-A176-4012-BC5E-935CFFF8708E}</a:tableStyleId>
              </a:tblPr>
              <a:tblGrid>
                <a:gridCol w="5897880">
                  <a:extLst>
                    <a:ext uri="{9D8B030D-6E8A-4147-A177-3AD203B41FA5}">
                      <a16:colId xmlns="" xmlns:a16="http://schemas.microsoft.com/office/drawing/2014/main" val="20000"/>
                    </a:ext>
                  </a:extLst>
                </a:gridCol>
                <a:gridCol w="5897880">
                  <a:extLst>
                    <a:ext uri="{9D8B030D-6E8A-4147-A177-3AD203B41FA5}">
                      <a16:colId xmlns="" xmlns:a16="http://schemas.microsoft.com/office/drawing/2014/main" val="20001"/>
                    </a:ext>
                  </a:extLst>
                </a:gridCol>
              </a:tblGrid>
              <a:tr h="540000">
                <a:tc>
                  <a:txBody>
                    <a:bodyPr/>
                    <a:lstStyle/>
                    <a:p>
                      <a:r>
                        <a:rPr lang="en-US" sz="2400" b="0" kern="1200">
                          <a:solidFill>
                            <a:schemeClr val="accent6"/>
                          </a:solidFill>
                          <a:latin typeface="+mn-lt"/>
                          <a:ea typeface="+mn-ea"/>
                          <a:cs typeface="+mn-cs"/>
                        </a:rPr>
                        <a:t>Necessary conditions </a:t>
                      </a:r>
                      <a:r>
                        <a:rPr lang="en-US" sz="2400" b="0" kern="1200">
                          <a:solidFill>
                            <a:schemeClr val="dk1"/>
                          </a:solidFill>
                          <a:latin typeface="+mn-lt"/>
                          <a:ea typeface="+mn-ea"/>
                          <a:cs typeface="+mn-cs"/>
                        </a:rPr>
                        <a:t>are mutual exclusion, hold and wait, no preemption, circular wait.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a:solidFill>
                            <a:schemeClr val="accent6"/>
                          </a:solidFill>
                          <a:latin typeface="+mn-lt"/>
                          <a:ea typeface="+mn-ea"/>
                          <a:cs typeface="+mn-cs"/>
                        </a:rPr>
                        <a:t>Priorities</a:t>
                      </a:r>
                      <a:r>
                        <a:rPr lang="en-US" sz="2400" b="0" kern="1200">
                          <a:solidFill>
                            <a:schemeClr val="dk1"/>
                          </a:solidFill>
                          <a:latin typeface="+mn-lt"/>
                          <a:ea typeface="+mn-ea"/>
                          <a:cs typeface="+mn-cs"/>
                        </a:rPr>
                        <a:t> are assigned to the process.</a:t>
                      </a:r>
                      <a:endParaRPr lang="en-GB" sz="2400" b="0" kern="120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graphicFrame>
        <p:nvGraphicFramePr>
          <p:cNvPr id="26" name="Content Placeholder 4">
            <a:extLst>
              <a:ext uri="{FF2B5EF4-FFF2-40B4-BE49-F238E27FC236}">
                <a16:creationId xmlns="" xmlns:a16="http://schemas.microsoft.com/office/drawing/2014/main" id="{26B864CA-85CD-4666-B9D1-870ED08B272C}"/>
              </a:ext>
            </a:extLst>
          </p:cNvPr>
          <p:cNvGraphicFramePr/>
          <p:nvPr>
            <p:extLst>
              <p:ext uri="{D42A27DB-BD31-4B8C-83A1-F6EECF244321}">
                <p14:modId xmlns:p14="http://schemas.microsoft.com/office/powerpoint/2010/main" val="2968499971"/>
              </p:ext>
            </p:extLst>
          </p:nvPr>
        </p:nvGraphicFramePr>
        <p:xfrm>
          <a:off x="253173" y="3982355"/>
          <a:ext cx="11795760" cy="540000"/>
        </p:xfrm>
        <a:graphic>
          <a:graphicData uri="http://schemas.openxmlformats.org/drawingml/2006/table">
            <a:tbl>
              <a:tblPr firstRow="1" bandRow="1">
                <a:tableStyleId>{8EC20E35-A176-4012-BC5E-935CFFF8708E}</a:tableStyleId>
              </a:tblPr>
              <a:tblGrid>
                <a:gridCol w="5897880">
                  <a:extLst>
                    <a:ext uri="{9D8B030D-6E8A-4147-A177-3AD203B41FA5}">
                      <a16:colId xmlns="" xmlns:a16="http://schemas.microsoft.com/office/drawing/2014/main" val="20000"/>
                    </a:ext>
                  </a:extLst>
                </a:gridCol>
                <a:gridCol w="5897880">
                  <a:extLst>
                    <a:ext uri="{9D8B030D-6E8A-4147-A177-3AD203B41FA5}">
                      <a16:colId xmlns="" xmlns:a16="http://schemas.microsoft.com/office/drawing/2014/main" val="20001"/>
                    </a:ext>
                  </a:extLst>
                </a:gridCol>
              </a:tblGrid>
              <a:tr h="540000">
                <a:tc>
                  <a:txBody>
                    <a:bodyPr/>
                    <a:lstStyle/>
                    <a:p>
                      <a:r>
                        <a:rPr lang="en-US" sz="2400" b="0" kern="1200">
                          <a:solidFill>
                            <a:schemeClr val="dk1"/>
                          </a:solidFill>
                          <a:latin typeface="+mn-lt"/>
                          <a:ea typeface="+mn-ea"/>
                          <a:cs typeface="+mn-cs"/>
                        </a:rPr>
                        <a:t>Also known as </a:t>
                      </a:r>
                      <a:r>
                        <a:rPr lang="en-US" sz="2400" b="0" kern="1200">
                          <a:solidFill>
                            <a:schemeClr val="accent6"/>
                          </a:solidFill>
                          <a:latin typeface="+mn-lt"/>
                          <a:ea typeface="+mn-ea"/>
                          <a:cs typeface="+mn-cs"/>
                        </a:rPr>
                        <a:t>circular wait</a:t>
                      </a:r>
                      <a:r>
                        <a:rPr lang="en-US" sz="2400" b="0" kern="1200">
                          <a:solidFill>
                            <a:schemeClr val="dk1"/>
                          </a:solidFill>
                          <a:latin typeface="+mn-lt"/>
                          <a:ea typeface="+mn-ea"/>
                          <a:cs typeface="+mn-cs"/>
                        </a:rPr>
                        <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a:solidFill>
                            <a:schemeClr val="dk1"/>
                          </a:solidFill>
                          <a:latin typeface="+mn-lt"/>
                          <a:ea typeface="+mn-ea"/>
                          <a:cs typeface="+mn-cs"/>
                        </a:rPr>
                        <a:t>Also known as </a:t>
                      </a:r>
                      <a:r>
                        <a:rPr lang="en-US" sz="2400" b="0" kern="1200">
                          <a:solidFill>
                            <a:schemeClr val="accent6"/>
                          </a:solidFill>
                          <a:latin typeface="+mn-lt"/>
                          <a:ea typeface="+mn-ea"/>
                          <a:cs typeface="+mn-cs"/>
                        </a:rPr>
                        <a:t>lived lock</a:t>
                      </a:r>
                      <a:r>
                        <a:rPr lang="en-US" sz="2400" b="0" kern="1200">
                          <a:solidFill>
                            <a:schemeClr val="dk1"/>
                          </a:solidFill>
                          <a:latin typeface="+mn-lt"/>
                          <a:ea typeface="+mn-ea"/>
                          <a:cs typeface="+mn-cs"/>
                        </a:rPr>
                        <a:t>.</a:t>
                      </a:r>
                      <a:endParaRPr lang="en-GB" sz="2400" b="0" kern="120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graphicFrame>
        <p:nvGraphicFramePr>
          <p:cNvPr id="27" name="Content Placeholder 4">
            <a:extLst>
              <a:ext uri="{FF2B5EF4-FFF2-40B4-BE49-F238E27FC236}">
                <a16:creationId xmlns="" xmlns:a16="http://schemas.microsoft.com/office/drawing/2014/main" id="{26B864CA-85CD-4666-B9D1-870ED08B272C}"/>
              </a:ext>
            </a:extLst>
          </p:cNvPr>
          <p:cNvGraphicFramePr/>
          <p:nvPr>
            <p:extLst>
              <p:ext uri="{D42A27DB-BD31-4B8C-83A1-F6EECF244321}">
                <p14:modId xmlns:p14="http://schemas.microsoft.com/office/powerpoint/2010/main" val="2442755917"/>
              </p:ext>
            </p:extLst>
          </p:nvPr>
        </p:nvGraphicFramePr>
        <p:xfrm>
          <a:off x="253173" y="4524809"/>
          <a:ext cx="11795760" cy="822960"/>
        </p:xfrm>
        <a:graphic>
          <a:graphicData uri="http://schemas.openxmlformats.org/drawingml/2006/table">
            <a:tbl>
              <a:tblPr firstRow="1" bandRow="1">
                <a:tableStyleId>{8EC20E35-A176-4012-BC5E-935CFFF8708E}</a:tableStyleId>
              </a:tblPr>
              <a:tblGrid>
                <a:gridCol w="5897880">
                  <a:extLst>
                    <a:ext uri="{9D8B030D-6E8A-4147-A177-3AD203B41FA5}">
                      <a16:colId xmlns="" xmlns:a16="http://schemas.microsoft.com/office/drawing/2014/main" val="20000"/>
                    </a:ext>
                  </a:extLst>
                </a:gridCol>
                <a:gridCol w="5897880">
                  <a:extLst>
                    <a:ext uri="{9D8B030D-6E8A-4147-A177-3AD203B41FA5}">
                      <a16:colId xmlns="" xmlns:a16="http://schemas.microsoft.com/office/drawing/2014/main" val="20001"/>
                    </a:ext>
                  </a:extLst>
                </a:gridCol>
              </a:tblGrid>
              <a:tr h="540000">
                <a:tc>
                  <a:txBody>
                    <a:bodyPr/>
                    <a:lstStyle/>
                    <a:p>
                      <a:r>
                        <a:rPr lang="en-US" sz="2400" b="0" kern="1200">
                          <a:solidFill>
                            <a:schemeClr val="dk1"/>
                          </a:solidFill>
                          <a:latin typeface="+mn-lt"/>
                          <a:ea typeface="+mn-ea"/>
                          <a:cs typeface="+mn-cs"/>
                        </a:rPr>
                        <a:t>It can be prevented by </a:t>
                      </a:r>
                      <a:r>
                        <a:rPr lang="en-US" sz="2400" b="0" kern="1200">
                          <a:solidFill>
                            <a:schemeClr val="accent6"/>
                          </a:solidFill>
                          <a:latin typeface="+mn-lt"/>
                          <a:ea typeface="+mn-ea"/>
                          <a:cs typeface="+mn-cs"/>
                        </a:rPr>
                        <a:t>avoiding the necessary conditions</a:t>
                      </a:r>
                      <a:r>
                        <a:rPr lang="en-US" sz="2400" b="0" kern="1200">
                          <a:solidFill>
                            <a:schemeClr val="dk1"/>
                          </a:solidFill>
                          <a:latin typeface="+mn-lt"/>
                          <a:ea typeface="+mn-ea"/>
                          <a:cs typeface="+mn-cs"/>
                        </a:rPr>
                        <a:t> for deadlock.</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a:solidFill>
                            <a:schemeClr val="dk1"/>
                          </a:solidFill>
                          <a:latin typeface="+mn-lt"/>
                          <a:ea typeface="+mn-ea"/>
                          <a:cs typeface="+mn-cs"/>
                        </a:rPr>
                        <a:t>It can be prevented by </a:t>
                      </a:r>
                      <a:r>
                        <a:rPr lang="en-US" sz="2400" b="0" kern="1200">
                          <a:solidFill>
                            <a:schemeClr val="accent6"/>
                          </a:solidFill>
                          <a:latin typeface="+mn-lt"/>
                          <a:ea typeface="+mn-ea"/>
                          <a:cs typeface="+mn-cs"/>
                        </a:rPr>
                        <a:t>Aging</a:t>
                      </a:r>
                      <a:r>
                        <a:rPr lang="en-US" sz="2400" b="0" kern="1200">
                          <a:solidFill>
                            <a:schemeClr val="dk1"/>
                          </a:solidFill>
                          <a:latin typeface="+mn-lt"/>
                          <a:ea typeface="+mn-ea"/>
                          <a:cs typeface="+mn-cs"/>
                        </a:rPr>
                        <a:t>.</a:t>
                      </a:r>
                      <a:endParaRPr lang="en-GB" sz="2400" b="0" kern="120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5624938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gradFill flip="none" rotWithShape="1">
                  <a:gsLst>
                    <a:gs pos="10000">
                      <a:schemeClr val="accent6">
                        <a:lumMod val="50000"/>
                      </a:schemeClr>
                    </a:gs>
                    <a:gs pos="100000">
                      <a:schemeClr val="accent6"/>
                    </a:gs>
                  </a:gsLst>
                  <a:lin ang="0" scaled="1"/>
                </a:gradFill>
              </a:rPr>
              <a:t>Deadlock characteristics</a:t>
            </a:r>
          </a:p>
        </p:txBody>
      </p:sp>
      <p:sp>
        <p:nvSpPr>
          <p:cNvPr id="5" name="Text Placeholder 4"/>
          <p:cNvSpPr>
            <a:spLocks noGrp="1"/>
          </p:cNvSpPr>
          <p:nvPr>
            <p:ph type="body" idx="1"/>
          </p:nvPr>
        </p:nvSpPr>
        <p:spPr/>
        <p:txBody>
          <a:bodyPr/>
          <a:lstStyle/>
          <a:p>
            <a:r>
              <a:rPr lang="en-US"/>
              <a:t>Section - 2</a:t>
            </a:r>
          </a:p>
          <a:p>
            <a:endParaRPr lang="en-US"/>
          </a:p>
        </p:txBody>
      </p:sp>
    </p:spTree>
    <p:extLst>
      <p:ext uri="{BB962C8B-B14F-4D97-AF65-F5344CB8AC3E}">
        <p14:creationId xmlns:p14="http://schemas.microsoft.com/office/powerpoint/2010/main" val="1346572454"/>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Conditions that lead to deadlock (Deadlock characteristics)</a:t>
            </a:r>
          </a:p>
        </p:txBody>
      </p:sp>
      <p:sp>
        <p:nvSpPr>
          <p:cNvPr id="3" name="Content Placeholder 2"/>
          <p:cNvSpPr>
            <a:spLocks noGrp="1"/>
          </p:cNvSpPr>
          <p:nvPr>
            <p:ph idx="1"/>
          </p:nvPr>
        </p:nvSpPr>
        <p:spPr/>
        <p:txBody>
          <a:bodyPr/>
          <a:lstStyle/>
          <a:p>
            <a:pPr marL="457200" indent="-457200">
              <a:buFont typeface="+mj-lt"/>
              <a:buAutoNum type="arabicPeriod"/>
            </a:pPr>
            <a:r>
              <a:rPr lang="en-US"/>
              <a:t>Mutual exclusion</a:t>
            </a:r>
          </a:p>
          <a:p>
            <a:pPr lvl="1"/>
            <a:r>
              <a:rPr lang="en-US" b="1">
                <a:solidFill>
                  <a:schemeClr val="accent6"/>
                </a:solidFill>
              </a:rPr>
              <a:t>Each resource is either</a:t>
            </a:r>
            <a:r>
              <a:rPr lang="en-US"/>
              <a:t> currently </a:t>
            </a:r>
            <a:r>
              <a:rPr lang="en-US" b="1">
                <a:solidFill>
                  <a:schemeClr val="accent6"/>
                </a:solidFill>
              </a:rPr>
              <a:t>assigned to exactly one process </a:t>
            </a:r>
            <a:r>
              <a:rPr lang="en-US"/>
              <a:t>or </a:t>
            </a:r>
            <a:r>
              <a:rPr lang="en-US" b="1">
                <a:solidFill>
                  <a:schemeClr val="accent6"/>
                </a:solidFill>
              </a:rPr>
              <a:t>is available</a:t>
            </a:r>
            <a:r>
              <a:rPr lang="en-US"/>
              <a:t>.</a:t>
            </a:r>
          </a:p>
          <a:p>
            <a:pPr lvl="1"/>
            <a:r>
              <a:rPr lang="en-US"/>
              <a:t>Only </a:t>
            </a:r>
            <a:r>
              <a:rPr lang="en-US" b="1">
                <a:solidFill>
                  <a:schemeClr val="accent6"/>
                </a:solidFill>
              </a:rPr>
              <a:t>one process at a time can use a resource.</a:t>
            </a:r>
          </a:p>
          <a:p>
            <a:pPr marL="457200" indent="-457200">
              <a:buFont typeface="+mj-lt"/>
              <a:buAutoNum type="arabicPeriod"/>
            </a:pPr>
            <a:r>
              <a:rPr lang="en-US"/>
              <a:t>Hold and wait</a:t>
            </a:r>
          </a:p>
          <a:p>
            <a:pPr lvl="1"/>
            <a:r>
              <a:rPr lang="en-US"/>
              <a:t>Process currently holding resources granted earlier can </a:t>
            </a:r>
            <a:r>
              <a:rPr lang="en-US" b="1">
                <a:solidFill>
                  <a:schemeClr val="accent6"/>
                </a:solidFill>
              </a:rPr>
              <a:t>request more resources</a:t>
            </a:r>
            <a:r>
              <a:rPr lang="en-US"/>
              <a:t>.</a:t>
            </a:r>
          </a:p>
          <a:p>
            <a:pPr marL="457200" indent="-457200">
              <a:buFont typeface="+mj-lt"/>
              <a:buAutoNum type="arabicPeriod"/>
            </a:pPr>
            <a:r>
              <a:rPr lang="en-US"/>
              <a:t>No preemption</a:t>
            </a:r>
          </a:p>
          <a:p>
            <a:pPr lvl="1"/>
            <a:r>
              <a:rPr lang="en-US"/>
              <a:t>Previously granted resources </a:t>
            </a:r>
            <a:r>
              <a:rPr lang="en-US" b="1">
                <a:solidFill>
                  <a:schemeClr val="accent6"/>
                </a:solidFill>
              </a:rPr>
              <a:t>cannot be forcibly taken away </a:t>
            </a:r>
            <a:r>
              <a:rPr lang="en-US"/>
              <a:t>from process.</a:t>
            </a:r>
          </a:p>
          <a:p>
            <a:pPr marL="457200" indent="-457200">
              <a:buFont typeface="+mj-lt"/>
              <a:buAutoNum type="arabicPeriod"/>
            </a:pPr>
            <a:r>
              <a:rPr lang="en-US"/>
              <a:t>Circular wait</a:t>
            </a:r>
          </a:p>
          <a:p>
            <a:pPr lvl="1"/>
            <a:r>
              <a:rPr lang="en-US"/>
              <a:t>There must be a </a:t>
            </a:r>
            <a:r>
              <a:rPr lang="en-US" b="1">
                <a:solidFill>
                  <a:schemeClr val="accent6"/>
                </a:solidFill>
              </a:rPr>
              <a:t>circular chain of 2 or more processes</a:t>
            </a:r>
            <a:r>
              <a:rPr lang="en-US"/>
              <a:t>. Each process is waiting for resource that is held by next member of the chain.</a:t>
            </a:r>
          </a:p>
          <a:p>
            <a:r>
              <a:rPr lang="en-US" b="1">
                <a:solidFill>
                  <a:schemeClr val="accent6"/>
                </a:solidFill>
              </a:rPr>
              <a:t>All four of these conditions must be present for a deadlock to occur.</a:t>
            </a:r>
          </a:p>
        </p:txBody>
      </p:sp>
    </p:spTree>
    <p:extLst>
      <p:ext uri="{BB962C8B-B14F-4D97-AF65-F5344CB8AC3E}">
        <p14:creationId xmlns:p14="http://schemas.microsoft.com/office/powerpoint/2010/main" val="283747154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Strategies for dealing with deadlock</a:t>
            </a:r>
          </a:p>
        </p:txBody>
      </p:sp>
      <p:sp>
        <p:nvSpPr>
          <p:cNvPr id="3" name="Content Placeholder 2"/>
          <p:cNvSpPr>
            <a:spLocks noGrp="1"/>
          </p:cNvSpPr>
          <p:nvPr>
            <p:ph idx="1"/>
          </p:nvPr>
        </p:nvSpPr>
        <p:spPr/>
        <p:txBody>
          <a:bodyPr/>
          <a:lstStyle/>
          <a:p>
            <a:pPr marL="457200" indent="-457200">
              <a:buFont typeface="+mj-lt"/>
              <a:buAutoNum type="arabicPeriod"/>
            </a:pPr>
            <a:r>
              <a:rPr lang="en-US"/>
              <a:t>Just </a:t>
            </a:r>
            <a:r>
              <a:rPr lang="en-US" b="1">
                <a:solidFill>
                  <a:schemeClr val="accent6"/>
                </a:solidFill>
              </a:rPr>
              <a:t>ignore</a:t>
            </a:r>
            <a:r>
              <a:rPr lang="en-US"/>
              <a:t> the problem</a:t>
            </a:r>
          </a:p>
          <a:p>
            <a:pPr marL="457200" indent="-457200">
              <a:buFont typeface="+mj-lt"/>
              <a:buAutoNum type="arabicPeriod"/>
            </a:pPr>
            <a:r>
              <a:rPr lang="en-US" b="1">
                <a:solidFill>
                  <a:schemeClr val="accent6"/>
                </a:solidFill>
              </a:rPr>
              <a:t>Detection and recovery</a:t>
            </a:r>
            <a:r>
              <a:rPr lang="en-US"/>
              <a:t>.</a:t>
            </a:r>
          </a:p>
          <a:p>
            <a:pPr marL="1001712" lvl="1" indent="-457200">
              <a:buFont typeface="Wingdings" panose="05000000000000000000" pitchFamily="2" charset="2"/>
              <a:buChar char="§"/>
            </a:pPr>
            <a:r>
              <a:rPr lang="en-US"/>
              <a:t>Let deadlocks occur, detect them and take action.</a:t>
            </a:r>
          </a:p>
          <a:p>
            <a:pPr marL="457200" indent="-457200">
              <a:buFont typeface="+mj-lt"/>
              <a:buAutoNum type="arabicPeriod"/>
            </a:pPr>
            <a:r>
              <a:rPr lang="en-US"/>
              <a:t>Dynamic </a:t>
            </a:r>
            <a:r>
              <a:rPr lang="en-US" b="1">
                <a:solidFill>
                  <a:schemeClr val="accent6"/>
                </a:solidFill>
              </a:rPr>
              <a:t>avoidance</a:t>
            </a:r>
            <a:r>
              <a:rPr lang="en-US"/>
              <a:t> by careful resource allocation.</a:t>
            </a:r>
          </a:p>
          <a:p>
            <a:pPr marL="457200" indent="-457200">
              <a:buFont typeface="+mj-lt"/>
              <a:buAutoNum type="arabicPeriod"/>
            </a:pPr>
            <a:r>
              <a:rPr lang="en-US" b="1">
                <a:solidFill>
                  <a:schemeClr val="accent6"/>
                </a:solidFill>
              </a:rPr>
              <a:t>Prevention</a:t>
            </a:r>
            <a:r>
              <a:rPr lang="en-US"/>
              <a:t>, by structurally negating (killing) one of the four required conditions.</a:t>
            </a:r>
          </a:p>
        </p:txBody>
      </p:sp>
    </p:spTree>
    <p:extLst>
      <p:ext uri="{BB962C8B-B14F-4D97-AF65-F5344CB8AC3E}">
        <p14:creationId xmlns:p14="http://schemas.microsoft.com/office/powerpoint/2010/main" val="11102284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gradFill flip="none" rotWithShape="1">
                  <a:gsLst>
                    <a:gs pos="10000">
                      <a:schemeClr val="accent6">
                        <a:lumMod val="50000"/>
                      </a:schemeClr>
                    </a:gs>
                    <a:gs pos="100000">
                      <a:schemeClr val="accent6"/>
                    </a:gs>
                  </a:gsLst>
                  <a:lin ang="0" scaled="1"/>
                </a:gradFill>
              </a:rPr>
              <a:t>Deadlock ignorance</a:t>
            </a:r>
            <a:br>
              <a:rPr lang="en-US">
                <a:gradFill flip="none" rotWithShape="1">
                  <a:gsLst>
                    <a:gs pos="10000">
                      <a:schemeClr val="accent6">
                        <a:lumMod val="50000"/>
                      </a:schemeClr>
                    </a:gs>
                    <a:gs pos="100000">
                      <a:schemeClr val="accent6"/>
                    </a:gs>
                  </a:gsLst>
                  <a:lin ang="0" scaled="1"/>
                </a:gradFill>
              </a:rPr>
            </a:br>
            <a:r>
              <a:rPr lang="en-US">
                <a:gradFill flip="none" rotWithShape="1">
                  <a:gsLst>
                    <a:gs pos="10000">
                      <a:schemeClr val="accent6">
                        <a:lumMod val="50000"/>
                      </a:schemeClr>
                    </a:gs>
                    <a:gs pos="100000">
                      <a:schemeClr val="accent6"/>
                    </a:gs>
                  </a:gsLst>
                  <a:lin ang="0" scaled="1"/>
                </a:gradFill>
              </a:rPr>
              <a:t>(Ostrich Algorithm)</a:t>
            </a:r>
          </a:p>
        </p:txBody>
      </p:sp>
      <p:sp>
        <p:nvSpPr>
          <p:cNvPr id="5" name="Text Placeholder 4"/>
          <p:cNvSpPr>
            <a:spLocks noGrp="1"/>
          </p:cNvSpPr>
          <p:nvPr>
            <p:ph type="body" idx="1"/>
          </p:nvPr>
        </p:nvSpPr>
        <p:spPr/>
        <p:txBody>
          <a:bodyPr/>
          <a:lstStyle/>
          <a:p>
            <a:r>
              <a:rPr lang="en-US"/>
              <a:t>Section - 3</a:t>
            </a:r>
          </a:p>
          <a:p>
            <a:endParaRPr lang="en-US"/>
          </a:p>
        </p:txBody>
      </p:sp>
    </p:spTree>
    <p:extLst>
      <p:ext uri="{BB962C8B-B14F-4D97-AF65-F5344CB8AC3E}">
        <p14:creationId xmlns:p14="http://schemas.microsoft.com/office/powerpoint/2010/main" val="2167940866"/>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Deadlock ignorance (Ostrich Algorithm)</a:t>
            </a:r>
          </a:p>
        </p:txBody>
      </p:sp>
      <p:sp>
        <p:nvSpPr>
          <p:cNvPr id="3" name="Content Placeholder 2"/>
          <p:cNvSpPr>
            <a:spLocks noGrp="1"/>
          </p:cNvSpPr>
          <p:nvPr>
            <p:ph idx="1"/>
          </p:nvPr>
        </p:nvSpPr>
        <p:spPr>
          <a:xfrm>
            <a:off x="131181" y="863444"/>
            <a:ext cx="8327020" cy="5590565"/>
          </a:xfrm>
        </p:spPr>
        <p:txBody>
          <a:bodyPr/>
          <a:lstStyle/>
          <a:p>
            <a:r>
              <a:rPr lang="en-US"/>
              <a:t>When </a:t>
            </a:r>
            <a:r>
              <a:rPr lang="en-US" b="1">
                <a:solidFill>
                  <a:schemeClr val="accent6"/>
                </a:solidFill>
              </a:rPr>
              <a:t>storm approaches</a:t>
            </a:r>
            <a:r>
              <a:rPr lang="en-US"/>
              <a:t>, an </a:t>
            </a:r>
            <a:r>
              <a:rPr lang="en-US" b="1">
                <a:solidFill>
                  <a:schemeClr val="accent6"/>
                </a:solidFill>
              </a:rPr>
              <a:t>ostrich puts his head in the sand (ground)</a:t>
            </a:r>
            <a:r>
              <a:rPr lang="en-US"/>
              <a:t> and </a:t>
            </a:r>
            <a:r>
              <a:rPr lang="en-US" b="1">
                <a:solidFill>
                  <a:schemeClr val="accent6"/>
                </a:solidFill>
              </a:rPr>
              <a:t>pretend (imagine) that there is no problem at all</a:t>
            </a:r>
            <a:r>
              <a:rPr lang="en-US"/>
              <a:t>.</a:t>
            </a:r>
          </a:p>
          <a:p>
            <a:r>
              <a:rPr lang="en-US" b="1">
                <a:solidFill>
                  <a:schemeClr val="accent6"/>
                </a:solidFill>
              </a:rPr>
              <a:t>Ignore</a:t>
            </a:r>
            <a:r>
              <a:rPr lang="en-US">
                <a:solidFill>
                  <a:schemeClr val="accent6"/>
                </a:solidFill>
              </a:rPr>
              <a:t> </a:t>
            </a:r>
            <a:r>
              <a:rPr lang="en-US"/>
              <a:t>the </a:t>
            </a:r>
            <a:r>
              <a:rPr lang="en-US" b="1">
                <a:solidFill>
                  <a:schemeClr val="accent6"/>
                </a:solidFill>
              </a:rPr>
              <a:t>deadlock</a:t>
            </a:r>
            <a:r>
              <a:rPr lang="en-US"/>
              <a:t> and </a:t>
            </a:r>
            <a:r>
              <a:rPr lang="en-US" b="1">
                <a:solidFill>
                  <a:schemeClr val="accent6"/>
                </a:solidFill>
              </a:rPr>
              <a:t>pretend</a:t>
            </a:r>
            <a:r>
              <a:rPr lang="en-US"/>
              <a:t> that </a:t>
            </a:r>
            <a:r>
              <a:rPr lang="en-US" b="1">
                <a:solidFill>
                  <a:schemeClr val="accent6"/>
                </a:solidFill>
              </a:rPr>
              <a:t>deadlock never occur</a:t>
            </a:r>
            <a:r>
              <a:rPr lang="en-US"/>
              <a:t>.</a:t>
            </a:r>
          </a:p>
          <a:p>
            <a:r>
              <a:rPr lang="en-US"/>
              <a:t>Reasonable if </a:t>
            </a:r>
          </a:p>
          <a:p>
            <a:pPr lvl="1"/>
            <a:r>
              <a:rPr lang="en-US"/>
              <a:t>deadlocks occur very rarely </a:t>
            </a:r>
          </a:p>
          <a:p>
            <a:pPr lvl="1"/>
            <a:r>
              <a:rPr lang="en-US"/>
              <a:t>difficult to detect</a:t>
            </a:r>
          </a:p>
          <a:p>
            <a:pPr lvl="1"/>
            <a:r>
              <a:rPr lang="en-US"/>
              <a:t>cost of prevention is high</a:t>
            </a:r>
          </a:p>
          <a:p>
            <a:r>
              <a:rPr lang="en-US" b="1">
                <a:solidFill>
                  <a:schemeClr val="accent6"/>
                </a:solidFill>
              </a:rPr>
              <a:t>UNIX</a:t>
            </a:r>
            <a:r>
              <a:rPr lang="en-US"/>
              <a:t> and </a:t>
            </a:r>
            <a:r>
              <a:rPr lang="en-US" b="1">
                <a:solidFill>
                  <a:schemeClr val="accent6"/>
                </a:solidFill>
              </a:rPr>
              <a:t>Windows</a:t>
            </a:r>
            <a:r>
              <a:rPr lang="en-US"/>
              <a:t> takes this approach</a:t>
            </a:r>
          </a:p>
        </p:txBody>
      </p:sp>
      <p:pic>
        <p:nvPicPr>
          <p:cNvPr id="4" name="Picture 2" descr="Image result for ostrich head in sand"/>
          <p:cNvPicPr>
            <a:picLocks noChangeAspect="1" noChangeArrowheads="1"/>
          </p:cNvPicPr>
          <p:nvPr/>
        </p:nvPicPr>
        <p:blipFill>
          <a:blip r:embed="rId2">
            <a:extLst>
              <a:ext uri="{28A0092B-C50C-407E-A947-70E740481C1C}">
                <a14:useLocalDpi xmlns:a14="http://schemas.microsoft.com/office/drawing/2010/main" val="0"/>
              </a:ext>
            </a:extLst>
          </a:blip>
          <a:srcRect l="23437" t="8333" r="29688" b="12500"/>
          <a:stretch>
            <a:fillRect/>
          </a:stretch>
        </p:blipFill>
        <p:spPr bwMode="auto">
          <a:xfrm>
            <a:off x="8643936" y="944126"/>
            <a:ext cx="3383280" cy="357124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Related image"/>
          <p:cNvPicPr>
            <a:picLocks noChangeAspect="1" noChangeArrowheads="1"/>
          </p:cNvPicPr>
          <p:nvPr/>
        </p:nvPicPr>
        <p:blipFill>
          <a:blip r:embed="rId3">
            <a:extLst>
              <a:ext uri="{28A0092B-C50C-407E-A947-70E740481C1C}">
                <a14:useLocalDpi xmlns:a14="http://schemas.microsoft.com/office/drawing/2010/main" val="0"/>
              </a:ext>
            </a:extLst>
          </a:blip>
          <a:srcRect l="22902" t="25173" r="21313" b="11493"/>
          <a:stretch>
            <a:fillRect/>
          </a:stretch>
        </p:blipFill>
        <p:spPr bwMode="auto">
          <a:xfrm>
            <a:off x="8643936" y="863444"/>
            <a:ext cx="3383280" cy="3781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045800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nodeType="clickPar">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500"/>
                                        <p:tgtEl>
                                          <p:spTgt spid="3">
                                            <p:txEl>
                                              <p:pRg st="3" end="3"/>
                                            </p:txEl>
                                          </p:spTgt>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500"/>
                                        <p:tgtEl>
                                          <p:spTgt spid="3">
                                            <p:txEl>
                                              <p:pRg st="4" end="4"/>
                                            </p:txEl>
                                          </p:spTgt>
                                        </p:tgtEl>
                                      </p:cBhvr>
                                    </p:animEffect>
                                  </p:childTnLst>
                                </p:cTn>
                              </p:par>
                            </p:childTnLst>
                          </p:cTn>
                        </p:par>
                      </p:childTnLst>
                    </p:cTn>
                  </p:par>
                  <p:par>
                    <p:cTn id="36" fill="hold" nodeType="clickPar">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500"/>
                                        <p:tgtEl>
                                          <p:spTgt spid="3">
                                            <p:txEl>
                                              <p:pRg st="5" end="5"/>
                                            </p:txEl>
                                          </p:spTgt>
                                        </p:tgtEl>
                                      </p:cBhvr>
                                    </p:animEffect>
                                  </p:childTnLst>
                                </p:cTn>
                              </p:par>
                            </p:childTnLst>
                          </p:cTn>
                        </p:par>
                      </p:childTnLst>
                    </p:cTn>
                  </p:par>
                  <p:par>
                    <p:cTn id="41" fill="hold" nodeType="clickPar">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fade">
                                      <p:cBhvr>
                                        <p:cTn id="4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gradFill flip="none" rotWithShape="1">
                  <a:gsLst>
                    <a:gs pos="10000">
                      <a:schemeClr val="accent6">
                        <a:lumMod val="50000"/>
                      </a:schemeClr>
                    </a:gs>
                    <a:gs pos="100000">
                      <a:schemeClr val="accent6"/>
                    </a:gs>
                  </a:gsLst>
                  <a:lin ang="0" scaled="1"/>
                </a:gradFill>
              </a:rPr>
              <a:t>Deadlock detection and recovery</a:t>
            </a:r>
          </a:p>
        </p:txBody>
      </p:sp>
      <p:sp>
        <p:nvSpPr>
          <p:cNvPr id="5" name="Text Placeholder 4"/>
          <p:cNvSpPr>
            <a:spLocks noGrp="1"/>
          </p:cNvSpPr>
          <p:nvPr>
            <p:ph type="body" idx="1"/>
          </p:nvPr>
        </p:nvSpPr>
        <p:spPr/>
        <p:txBody>
          <a:bodyPr/>
          <a:lstStyle/>
          <a:p>
            <a:r>
              <a:rPr lang="en-US"/>
              <a:t>Section - 4</a:t>
            </a:r>
          </a:p>
          <a:p>
            <a:endParaRPr lang="en-US"/>
          </a:p>
        </p:txBody>
      </p:sp>
    </p:spTree>
    <p:extLst>
      <p:ext uri="{BB962C8B-B14F-4D97-AF65-F5344CB8AC3E}">
        <p14:creationId xmlns:p14="http://schemas.microsoft.com/office/powerpoint/2010/main" val="1463701309"/>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a:t>Deadlock detection for single resource (RAG - </a:t>
            </a:r>
            <a:r>
              <a:rPr lang="en-US" sz="3100"/>
              <a:t>Resource Allocation Graph</a:t>
            </a:r>
            <a:r>
              <a:rPr lang="en-US"/>
              <a:t>)</a:t>
            </a:r>
          </a:p>
        </p:txBody>
      </p:sp>
      <p:sp>
        <p:nvSpPr>
          <p:cNvPr id="22" name="TextBox 21"/>
          <p:cNvSpPr txBox="1"/>
          <p:nvPr/>
        </p:nvSpPr>
        <p:spPr>
          <a:xfrm>
            <a:off x="5553635" y="846976"/>
            <a:ext cx="6507186" cy="3785652"/>
          </a:xfrm>
          <a:prstGeom prst="rect">
            <a:avLst/>
          </a:prstGeom>
          <a:noFill/>
          <a:ln>
            <a:solidFill>
              <a:schemeClr val="accent6">
                <a:lumMod val="60000"/>
                <a:lumOff val="40000"/>
              </a:schemeClr>
            </a:solidFill>
          </a:ln>
        </p:spPr>
        <p:txBody>
          <a:bodyPr wrap="square" rtlCol="0">
            <a:spAutoFit/>
          </a:bodyPr>
          <a:lstStyle/>
          <a:p>
            <a:pPr marL="285750" indent="-285750">
              <a:buFont typeface="Wingdings" panose="05000000000000000000" pitchFamily="2" charset="2"/>
              <a:buChar char="§"/>
            </a:pPr>
            <a:r>
              <a:rPr lang="en-US" sz="2400"/>
              <a:t>We are starting from node D.</a:t>
            </a:r>
          </a:p>
          <a:p>
            <a:pPr marL="285750" indent="-285750">
              <a:buFont typeface="Wingdings" panose="05000000000000000000" pitchFamily="2" charset="2"/>
              <a:buChar char="§"/>
            </a:pPr>
            <a:r>
              <a:rPr lang="en-US" sz="2400"/>
              <a:t>Empty list L = ()</a:t>
            </a:r>
          </a:p>
          <a:p>
            <a:pPr marL="285750" indent="-285750">
              <a:buFont typeface="Wingdings" panose="05000000000000000000" pitchFamily="2" charset="2"/>
              <a:buChar char="§"/>
            </a:pPr>
            <a:r>
              <a:rPr lang="en-US" sz="2400"/>
              <a:t>Add current node so Empty list = (D).</a:t>
            </a:r>
          </a:p>
          <a:p>
            <a:pPr marL="285750" indent="-285750">
              <a:buFont typeface="Wingdings" panose="05000000000000000000" pitchFamily="2" charset="2"/>
              <a:buChar char="§"/>
            </a:pPr>
            <a:r>
              <a:rPr lang="en-US" sz="2400"/>
              <a:t>From this node there is one outgoing arc to T so add T to list.</a:t>
            </a:r>
          </a:p>
          <a:p>
            <a:pPr marL="285750" indent="-285750">
              <a:buFont typeface="Wingdings" panose="05000000000000000000" pitchFamily="2" charset="2"/>
              <a:buChar char="§"/>
            </a:pPr>
            <a:r>
              <a:rPr lang="en-US" sz="2400"/>
              <a:t>So list become L = (D, T).</a:t>
            </a:r>
          </a:p>
          <a:p>
            <a:pPr marL="285750" indent="-285750">
              <a:buFont typeface="Wingdings" panose="05000000000000000000" pitchFamily="2" charset="2"/>
              <a:buChar char="§"/>
            </a:pPr>
            <a:r>
              <a:rPr lang="en-US" sz="2400"/>
              <a:t>Continue this step….so we get list as below</a:t>
            </a:r>
          </a:p>
          <a:p>
            <a:r>
              <a:rPr lang="en-US" sz="2400"/>
              <a:t>	L = (D, T, E)………… L = (</a:t>
            </a:r>
            <a:r>
              <a:rPr lang="en-US" sz="2400" b="1">
                <a:solidFill>
                  <a:schemeClr val="accent6"/>
                </a:solidFill>
              </a:rPr>
              <a:t>D</a:t>
            </a:r>
            <a:r>
              <a:rPr lang="en-US" sz="2400"/>
              <a:t>, T, E, V, G, U, </a:t>
            </a:r>
            <a:r>
              <a:rPr lang="en-US" sz="2400" b="1">
                <a:solidFill>
                  <a:schemeClr val="accent6"/>
                </a:solidFill>
              </a:rPr>
              <a:t>D</a:t>
            </a:r>
            <a:r>
              <a:rPr lang="en-US" sz="2400"/>
              <a:t>)</a:t>
            </a:r>
          </a:p>
          <a:p>
            <a:pPr marL="285750" indent="-285750">
              <a:buFont typeface="Wingdings" panose="05000000000000000000" pitchFamily="2" charset="2"/>
              <a:buChar char="§"/>
            </a:pPr>
            <a:r>
              <a:rPr lang="en-US" sz="2400"/>
              <a:t>In the above step in list the node </a:t>
            </a:r>
            <a:r>
              <a:rPr lang="en-US" sz="2400" b="1">
                <a:solidFill>
                  <a:schemeClr val="accent6"/>
                </a:solidFill>
              </a:rPr>
              <a:t>D appears twice</a:t>
            </a:r>
            <a:r>
              <a:rPr lang="en-US" sz="2400"/>
              <a:t>, </a:t>
            </a:r>
            <a:r>
              <a:rPr lang="en-US" sz="2400" b="1">
                <a:solidFill>
                  <a:schemeClr val="accent6"/>
                </a:solidFill>
              </a:rPr>
              <a:t>so deadlock</a:t>
            </a:r>
            <a:r>
              <a:rPr lang="en-US" sz="2400"/>
              <a:t>.</a:t>
            </a:r>
          </a:p>
        </p:txBody>
      </p:sp>
      <p:sp>
        <p:nvSpPr>
          <p:cNvPr id="27" name="TextBox 26"/>
          <p:cNvSpPr txBox="1"/>
          <p:nvPr/>
        </p:nvSpPr>
        <p:spPr>
          <a:xfrm>
            <a:off x="304800" y="1209668"/>
            <a:ext cx="457200" cy="38100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t>R</a:t>
            </a:r>
          </a:p>
        </p:txBody>
      </p:sp>
      <p:sp>
        <p:nvSpPr>
          <p:cNvPr id="28" name="Oval 27"/>
          <p:cNvSpPr/>
          <p:nvPr/>
        </p:nvSpPr>
        <p:spPr>
          <a:xfrm>
            <a:off x="1323975" y="1171568"/>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a:t>
            </a:r>
          </a:p>
        </p:txBody>
      </p:sp>
      <p:sp>
        <p:nvSpPr>
          <p:cNvPr id="29" name="TextBox 28"/>
          <p:cNvSpPr txBox="1"/>
          <p:nvPr/>
        </p:nvSpPr>
        <p:spPr>
          <a:xfrm>
            <a:off x="1323975" y="1971668"/>
            <a:ext cx="457200" cy="38100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t>S</a:t>
            </a:r>
          </a:p>
        </p:txBody>
      </p:sp>
      <p:sp>
        <p:nvSpPr>
          <p:cNvPr id="30" name="Oval 29"/>
          <p:cNvSpPr/>
          <p:nvPr/>
        </p:nvSpPr>
        <p:spPr>
          <a:xfrm>
            <a:off x="314325" y="1933568"/>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a:t>
            </a:r>
          </a:p>
        </p:txBody>
      </p:sp>
      <p:sp>
        <p:nvSpPr>
          <p:cNvPr id="31" name="Oval 30"/>
          <p:cNvSpPr/>
          <p:nvPr/>
        </p:nvSpPr>
        <p:spPr>
          <a:xfrm>
            <a:off x="2333625" y="1933568"/>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D</a:t>
            </a:r>
          </a:p>
        </p:txBody>
      </p:sp>
      <p:sp>
        <p:nvSpPr>
          <p:cNvPr id="32" name="TextBox 31"/>
          <p:cNvSpPr txBox="1"/>
          <p:nvPr/>
        </p:nvSpPr>
        <p:spPr>
          <a:xfrm>
            <a:off x="3343275" y="1966904"/>
            <a:ext cx="457200" cy="38100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t>T</a:t>
            </a:r>
          </a:p>
        </p:txBody>
      </p:sp>
      <p:sp>
        <p:nvSpPr>
          <p:cNvPr id="33" name="Oval 32"/>
          <p:cNvSpPr/>
          <p:nvPr/>
        </p:nvSpPr>
        <p:spPr>
          <a:xfrm>
            <a:off x="4429125" y="1938328"/>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E</a:t>
            </a:r>
          </a:p>
        </p:txBody>
      </p:sp>
      <p:sp>
        <p:nvSpPr>
          <p:cNvPr id="34" name="Oval 33"/>
          <p:cNvSpPr/>
          <p:nvPr/>
        </p:nvSpPr>
        <p:spPr>
          <a:xfrm>
            <a:off x="3338512" y="1171568"/>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B</a:t>
            </a:r>
          </a:p>
        </p:txBody>
      </p:sp>
      <p:sp>
        <p:nvSpPr>
          <p:cNvPr id="35" name="TextBox 34"/>
          <p:cNvSpPr txBox="1"/>
          <p:nvPr/>
        </p:nvSpPr>
        <p:spPr>
          <a:xfrm>
            <a:off x="4429125" y="2924168"/>
            <a:ext cx="457200" cy="38100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t>V</a:t>
            </a:r>
          </a:p>
        </p:txBody>
      </p:sp>
      <p:sp>
        <p:nvSpPr>
          <p:cNvPr id="36" name="TextBox 35"/>
          <p:cNvSpPr txBox="1"/>
          <p:nvPr/>
        </p:nvSpPr>
        <p:spPr>
          <a:xfrm>
            <a:off x="2327763" y="2924168"/>
            <a:ext cx="457200" cy="38100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t>U</a:t>
            </a:r>
          </a:p>
        </p:txBody>
      </p:sp>
      <p:sp>
        <p:nvSpPr>
          <p:cNvPr id="37" name="Oval 36"/>
          <p:cNvSpPr/>
          <p:nvPr/>
        </p:nvSpPr>
        <p:spPr>
          <a:xfrm>
            <a:off x="1323975" y="2886068"/>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F</a:t>
            </a:r>
          </a:p>
        </p:txBody>
      </p:sp>
      <p:sp>
        <p:nvSpPr>
          <p:cNvPr id="38" name="Oval 37"/>
          <p:cNvSpPr/>
          <p:nvPr/>
        </p:nvSpPr>
        <p:spPr>
          <a:xfrm>
            <a:off x="2333625" y="3838568"/>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
            </a:r>
          </a:p>
        </p:txBody>
      </p:sp>
      <p:sp>
        <p:nvSpPr>
          <p:cNvPr id="39" name="TextBox 38"/>
          <p:cNvSpPr txBox="1"/>
          <p:nvPr/>
        </p:nvSpPr>
        <p:spPr>
          <a:xfrm>
            <a:off x="1323975" y="3868364"/>
            <a:ext cx="457200" cy="38100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t>W</a:t>
            </a:r>
          </a:p>
        </p:txBody>
      </p:sp>
      <p:cxnSp>
        <p:nvCxnSpPr>
          <p:cNvPr id="40" name="Straight Arrow Connector 39"/>
          <p:cNvCxnSpPr>
            <a:endCxn id="28" idx="2"/>
          </p:cNvCxnSpPr>
          <p:nvPr/>
        </p:nvCxnSpPr>
        <p:spPr>
          <a:xfrm>
            <a:off x="771525" y="1400168"/>
            <a:ext cx="55245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a:xfrm>
            <a:off x="762000" y="2162168"/>
            <a:ext cx="55245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p:cNvCxnSpPr>
            <a:stCxn id="31" idx="6"/>
            <a:endCxn id="32" idx="1"/>
          </p:cNvCxnSpPr>
          <p:nvPr/>
        </p:nvCxnSpPr>
        <p:spPr>
          <a:xfrm flipV="1">
            <a:off x="2790825" y="2157404"/>
            <a:ext cx="552450" cy="47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p:cNvCxnSpPr>
            <a:stCxn id="32" idx="3"/>
            <a:endCxn id="33" idx="2"/>
          </p:cNvCxnSpPr>
          <p:nvPr/>
        </p:nvCxnSpPr>
        <p:spPr>
          <a:xfrm>
            <a:off x="3800475" y="2157404"/>
            <a:ext cx="628650" cy="952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p:cNvCxnSpPr>
            <a:stCxn id="31" idx="2"/>
            <a:endCxn id="29" idx="3"/>
          </p:cNvCxnSpPr>
          <p:nvPr/>
        </p:nvCxnSpPr>
        <p:spPr>
          <a:xfrm flipH="1">
            <a:off x="1781175" y="2162168"/>
            <a:ext cx="55245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p:cNvCxnSpPr>
            <a:endCxn id="32" idx="0"/>
          </p:cNvCxnSpPr>
          <p:nvPr/>
        </p:nvCxnSpPr>
        <p:spPr>
          <a:xfrm>
            <a:off x="3567112" y="1634081"/>
            <a:ext cx="4763" cy="33282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p:cNvCxnSpPr>
            <a:stCxn id="33" idx="4"/>
            <a:endCxn id="35" idx="0"/>
          </p:cNvCxnSpPr>
          <p:nvPr/>
        </p:nvCxnSpPr>
        <p:spPr>
          <a:xfrm flipH="1">
            <a:off x="4657725" y="2395528"/>
            <a:ext cx="0" cy="52864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p:cNvCxnSpPr/>
          <p:nvPr/>
        </p:nvCxnSpPr>
        <p:spPr>
          <a:xfrm>
            <a:off x="1553674" y="1634081"/>
            <a:ext cx="4763" cy="33282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a:stCxn id="36" idx="0"/>
          </p:cNvCxnSpPr>
          <p:nvPr/>
        </p:nvCxnSpPr>
        <p:spPr>
          <a:xfrm flipH="1" flipV="1">
            <a:off x="2556363" y="2390768"/>
            <a:ext cx="0" cy="5334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p:cNvCxnSpPr>
            <a:stCxn id="37" idx="0"/>
            <a:endCxn id="29" idx="2"/>
          </p:cNvCxnSpPr>
          <p:nvPr/>
        </p:nvCxnSpPr>
        <p:spPr>
          <a:xfrm flipH="1" flipV="1">
            <a:off x="1552575" y="2352668"/>
            <a:ext cx="0" cy="5334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p:cNvCxnSpPr/>
          <p:nvPr/>
        </p:nvCxnSpPr>
        <p:spPr>
          <a:xfrm flipH="1" flipV="1">
            <a:off x="2556363" y="3305168"/>
            <a:ext cx="0" cy="5334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p:nvPr/>
        </p:nvCxnSpPr>
        <p:spPr>
          <a:xfrm flipH="1" flipV="1">
            <a:off x="1552575" y="3343268"/>
            <a:ext cx="0" cy="5334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2" name="Elbow Connector 51"/>
          <p:cNvCxnSpPr/>
          <p:nvPr/>
        </p:nvCxnSpPr>
        <p:spPr>
          <a:xfrm rot="10800000" flipV="1">
            <a:off x="2784963" y="3319454"/>
            <a:ext cx="1872762" cy="747714"/>
          </a:xfrm>
          <a:prstGeom prst="bentConnector3">
            <a:avLst>
              <a:gd name="adj1" fmla="val 563"/>
            </a:avLst>
          </a:prstGeom>
          <a:ln w="28575">
            <a:tailEnd type="triangle"/>
          </a:ln>
        </p:spPr>
        <p:style>
          <a:lnRef idx="1">
            <a:schemeClr val="dk1"/>
          </a:lnRef>
          <a:fillRef idx="0">
            <a:schemeClr val="dk1"/>
          </a:fillRef>
          <a:effectRef idx="0">
            <a:schemeClr val="dk1"/>
          </a:effectRef>
          <a:fontRef idx="minor">
            <a:schemeClr val="tx1"/>
          </a:fontRef>
        </p:style>
      </p:cxnSp>
      <p:sp>
        <p:nvSpPr>
          <p:cNvPr id="53" name="Rounded Rectangle 52"/>
          <p:cNvSpPr/>
          <p:nvPr/>
        </p:nvSpPr>
        <p:spPr>
          <a:xfrm>
            <a:off x="2238375" y="1781168"/>
            <a:ext cx="2699238" cy="2667000"/>
          </a:xfrm>
          <a:prstGeom prst="roundRect">
            <a:avLst>
              <a:gd name="adj" fmla="val 3810"/>
            </a:avLst>
          </a:prstGeom>
          <a:noFill/>
          <a:ln w="28575">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TextBox 53"/>
          <p:cNvSpPr txBox="1"/>
          <p:nvPr/>
        </p:nvSpPr>
        <p:spPr>
          <a:xfrm>
            <a:off x="2979708" y="2933686"/>
            <a:ext cx="1254673" cy="369332"/>
          </a:xfrm>
          <a:prstGeom prst="rect">
            <a:avLst/>
          </a:prstGeom>
          <a:noFill/>
          <a:ln>
            <a:noFill/>
          </a:ln>
        </p:spPr>
        <p:txBody>
          <a:bodyPr wrap="square" rtlCol="0">
            <a:spAutoFit/>
          </a:bodyPr>
          <a:lstStyle/>
          <a:p>
            <a:pPr algn="ctr"/>
            <a:r>
              <a:rPr lang="en-US" b="1">
                <a:solidFill>
                  <a:srgbClr val="C00000"/>
                </a:solidFill>
              </a:rPr>
              <a:t>DEADLOCK</a:t>
            </a:r>
          </a:p>
        </p:txBody>
      </p:sp>
    </p:spTree>
    <p:extLst>
      <p:ext uri="{BB962C8B-B14F-4D97-AF65-F5344CB8AC3E}">
        <p14:creationId xmlns:p14="http://schemas.microsoft.com/office/powerpoint/2010/main" val="23014928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500"/>
                                        <p:tgtEl>
                                          <p:spTgt spid="3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500"/>
                                        <p:tgtEl>
                                          <p:spTgt spid="3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500"/>
                                        <p:tgtEl>
                                          <p:spTgt spid="3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500"/>
                                        <p:tgtEl>
                                          <p:spTgt spid="39"/>
                                        </p:tgtEl>
                                      </p:cBhvr>
                                    </p:animEffect>
                                  </p:childTnLst>
                                </p:cTn>
                              </p:par>
                              <p:par>
                                <p:cTn id="44" presetID="10" presetClass="entr" presetSubtype="0" fill="hold" nodeType="with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500"/>
                                        <p:tgtEl>
                                          <p:spTgt spid="40"/>
                                        </p:tgtEl>
                                      </p:cBhvr>
                                    </p:animEffect>
                                  </p:childTnLst>
                                </p:cTn>
                              </p:par>
                              <p:par>
                                <p:cTn id="47" presetID="10" presetClass="entr" presetSubtype="0" fill="hold" nodeType="with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fade">
                                      <p:cBhvr>
                                        <p:cTn id="49" dur="500"/>
                                        <p:tgtEl>
                                          <p:spTgt spid="41"/>
                                        </p:tgtEl>
                                      </p:cBhvr>
                                    </p:animEffect>
                                  </p:childTnLst>
                                </p:cTn>
                              </p:par>
                              <p:par>
                                <p:cTn id="50" presetID="10" presetClass="entr" presetSubtype="0" fill="hold" nodeType="with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500"/>
                                        <p:tgtEl>
                                          <p:spTgt spid="42"/>
                                        </p:tgtEl>
                                      </p:cBhvr>
                                    </p:animEffect>
                                  </p:childTnLst>
                                </p:cTn>
                              </p:par>
                              <p:par>
                                <p:cTn id="53" presetID="10" presetClass="entr" presetSubtype="0" fill="hold" nodeType="withEffect">
                                  <p:stCondLst>
                                    <p:cond delay="0"/>
                                  </p:stCondLst>
                                  <p:childTnLst>
                                    <p:set>
                                      <p:cBhvr>
                                        <p:cTn id="54" dur="1" fill="hold">
                                          <p:stCondLst>
                                            <p:cond delay="0"/>
                                          </p:stCondLst>
                                        </p:cTn>
                                        <p:tgtEl>
                                          <p:spTgt spid="43"/>
                                        </p:tgtEl>
                                        <p:attrNameLst>
                                          <p:attrName>style.visibility</p:attrName>
                                        </p:attrNameLst>
                                      </p:cBhvr>
                                      <p:to>
                                        <p:strVal val="visible"/>
                                      </p:to>
                                    </p:set>
                                    <p:animEffect transition="in" filter="fade">
                                      <p:cBhvr>
                                        <p:cTn id="55" dur="500"/>
                                        <p:tgtEl>
                                          <p:spTgt spid="43"/>
                                        </p:tgtEl>
                                      </p:cBhvr>
                                    </p:animEffect>
                                  </p:childTnLst>
                                </p:cTn>
                              </p:par>
                              <p:par>
                                <p:cTn id="56" presetID="10" presetClass="entr" presetSubtype="0" fill="hold" nodeType="withEffect">
                                  <p:stCondLst>
                                    <p:cond delay="0"/>
                                  </p:stCondLst>
                                  <p:childTnLst>
                                    <p:set>
                                      <p:cBhvr>
                                        <p:cTn id="57" dur="1" fill="hold">
                                          <p:stCondLst>
                                            <p:cond delay="0"/>
                                          </p:stCondLst>
                                        </p:cTn>
                                        <p:tgtEl>
                                          <p:spTgt spid="44"/>
                                        </p:tgtEl>
                                        <p:attrNameLst>
                                          <p:attrName>style.visibility</p:attrName>
                                        </p:attrNameLst>
                                      </p:cBhvr>
                                      <p:to>
                                        <p:strVal val="visible"/>
                                      </p:to>
                                    </p:set>
                                    <p:animEffect transition="in" filter="fade">
                                      <p:cBhvr>
                                        <p:cTn id="58" dur="500"/>
                                        <p:tgtEl>
                                          <p:spTgt spid="44"/>
                                        </p:tgtEl>
                                      </p:cBhvr>
                                    </p:animEffect>
                                  </p:childTnLst>
                                </p:cTn>
                              </p:par>
                              <p:par>
                                <p:cTn id="59" presetID="10" presetClass="entr" presetSubtype="0" fill="hold" nodeType="withEffect">
                                  <p:stCondLst>
                                    <p:cond delay="0"/>
                                  </p:stCondLst>
                                  <p:childTnLst>
                                    <p:set>
                                      <p:cBhvr>
                                        <p:cTn id="60" dur="1" fill="hold">
                                          <p:stCondLst>
                                            <p:cond delay="0"/>
                                          </p:stCondLst>
                                        </p:cTn>
                                        <p:tgtEl>
                                          <p:spTgt spid="45"/>
                                        </p:tgtEl>
                                        <p:attrNameLst>
                                          <p:attrName>style.visibility</p:attrName>
                                        </p:attrNameLst>
                                      </p:cBhvr>
                                      <p:to>
                                        <p:strVal val="visible"/>
                                      </p:to>
                                    </p:set>
                                    <p:animEffect transition="in" filter="fade">
                                      <p:cBhvr>
                                        <p:cTn id="61" dur="500"/>
                                        <p:tgtEl>
                                          <p:spTgt spid="45"/>
                                        </p:tgtEl>
                                      </p:cBhvr>
                                    </p:animEffect>
                                  </p:childTnLst>
                                </p:cTn>
                              </p:par>
                              <p:par>
                                <p:cTn id="62" presetID="10" presetClass="entr" presetSubtype="0" fill="hold" nodeType="with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500"/>
                                        <p:tgtEl>
                                          <p:spTgt spid="46"/>
                                        </p:tgtEl>
                                      </p:cBhvr>
                                    </p:animEffect>
                                  </p:childTnLst>
                                </p:cTn>
                              </p:par>
                              <p:par>
                                <p:cTn id="65" presetID="10" presetClass="entr" presetSubtype="0" fill="hold"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500"/>
                                        <p:tgtEl>
                                          <p:spTgt spid="47"/>
                                        </p:tgtEl>
                                      </p:cBhvr>
                                    </p:animEffect>
                                  </p:childTnLst>
                                </p:cTn>
                              </p:par>
                              <p:par>
                                <p:cTn id="68" presetID="10" presetClass="entr" presetSubtype="0" fill="hold" nodeType="withEffect">
                                  <p:stCondLst>
                                    <p:cond delay="0"/>
                                  </p:stCondLst>
                                  <p:childTnLst>
                                    <p:set>
                                      <p:cBhvr>
                                        <p:cTn id="69" dur="1" fill="hold">
                                          <p:stCondLst>
                                            <p:cond delay="0"/>
                                          </p:stCondLst>
                                        </p:cTn>
                                        <p:tgtEl>
                                          <p:spTgt spid="48"/>
                                        </p:tgtEl>
                                        <p:attrNameLst>
                                          <p:attrName>style.visibility</p:attrName>
                                        </p:attrNameLst>
                                      </p:cBhvr>
                                      <p:to>
                                        <p:strVal val="visible"/>
                                      </p:to>
                                    </p:set>
                                    <p:animEffect transition="in" filter="fade">
                                      <p:cBhvr>
                                        <p:cTn id="70" dur="500"/>
                                        <p:tgtEl>
                                          <p:spTgt spid="48"/>
                                        </p:tgtEl>
                                      </p:cBhvr>
                                    </p:animEffect>
                                  </p:childTnLst>
                                </p:cTn>
                              </p:par>
                              <p:par>
                                <p:cTn id="71" presetID="10" presetClass="entr" presetSubtype="0" fill="hold" nodeType="withEffect">
                                  <p:stCondLst>
                                    <p:cond delay="0"/>
                                  </p:stCondLst>
                                  <p:childTnLst>
                                    <p:set>
                                      <p:cBhvr>
                                        <p:cTn id="72" dur="1" fill="hold">
                                          <p:stCondLst>
                                            <p:cond delay="0"/>
                                          </p:stCondLst>
                                        </p:cTn>
                                        <p:tgtEl>
                                          <p:spTgt spid="49"/>
                                        </p:tgtEl>
                                        <p:attrNameLst>
                                          <p:attrName>style.visibility</p:attrName>
                                        </p:attrNameLst>
                                      </p:cBhvr>
                                      <p:to>
                                        <p:strVal val="visible"/>
                                      </p:to>
                                    </p:set>
                                    <p:animEffect transition="in" filter="fade">
                                      <p:cBhvr>
                                        <p:cTn id="73" dur="500"/>
                                        <p:tgtEl>
                                          <p:spTgt spid="49"/>
                                        </p:tgtEl>
                                      </p:cBhvr>
                                    </p:animEffect>
                                  </p:childTnLst>
                                </p:cTn>
                              </p:par>
                              <p:par>
                                <p:cTn id="74" presetID="10" presetClass="entr" presetSubtype="0" fill="hold" nodeType="withEffect">
                                  <p:stCondLst>
                                    <p:cond delay="0"/>
                                  </p:stCondLst>
                                  <p:childTnLst>
                                    <p:set>
                                      <p:cBhvr>
                                        <p:cTn id="75" dur="1" fill="hold">
                                          <p:stCondLst>
                                            <p:cond delay="0"/>
                                          </p:stCondLst>
                                        </p:cTn>
                                        <p:tgtEl>
                                          <p:spTgt spid="50"/>
                                        </p:tgtEl>
                                        <p:attrNameLst>
                                          <p:attrName>style.visibility</p:attrName>
                                        </p:attrNameLst>
                                      </p:cBhvr>
                                      <p:to>
                                        <p:strVal val="visible"/>
                                      </p:to>
                                    </p:set>
                                    <p:animEffect transition="in" filter="fade">
                                      <p:cBhvr>
                                        <p:cTn id="76" dur="500"/>
                                        <p:tgtEl>
                                          <p:spTgt spid="50"/>
                                        </p:tgtEl>
                                      </p:cBhvr>
                                    </p:animEffect>
                                  </p:childTnLst>
                                </p:cTn>
                              </p:par>
                              <p:par>
                                <p:cTn id="77" presetID="10" presetClass="entr" presetSubtype="0" fill="hold" nodeType="withEffect">
                                  <p:stCondLst>
                                    <p:cond delay="0"/>
                                  </p:stCondLst>
                                  <p:childTnLst>
                                    <p:set>
                                      <p:cBhvr>
                                        <p:cTn id="78" dur="1" fill="hold">
                                          <p:stCondLst>
                                            <p:cond delay="0"/>
                                          </p:stCondLst>
                                        </p:cTn>
                                        <p:tgtEl>
                                          <p:spTgt spid="51"/>
                                        </p:tgtEl>
                                        <p:attrNameLst>
                                          <p:attrName>style.visibility</p:attrName>
                                        </p:attrNameLst>
                                      </p:cBhvr>
                                      <p:to>
                                        <p:strVal val="visible"/>
                                      </p:to>
                                    </p:set>
                                    <p:animEffect transition="in" filter="fade">
                                      <p:cBhvr>
                                        <p:cTn id="79" dur="500"/>
                                        <p:tgtEl>
                                          <p:spTgt spid="51"/>
                                        </p:tgtEl>
                                      </p:cBhvr>
                                    </p:animEffect>
                                  </p:childTnLst>
                                </p:cTn>
                              </p:par>
                              <p:par>
                                <p:cTn id="80" presetID="10" presetClass="entr" presetSubtype="0" fill="hold" nodeType="with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fade">
                                      <p:cBhvr>
                                        <p:cTn id="82" dur="500"/>
                                        <p:tgtEl>
                                          <p:spTgt spid="52"/>
                                        </p:tgtEl>
                                      </p:cBhvr>
                                    </p:animEffect>
                                  </p:childTnLst>
                                </p:cTn>
                              </p:par>
                            </p:childTnLst>
                          </p:cTn>
                        </p:par>
                      </p:childTnLst>
                    </p:cTn>
                  </p:par>
                  <p:par>
                    <p:cTn id="83" fill="hold" nodeType="clickPar">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500"/>
                                        <p:tgtEl>
                                          <p:spTgt spid="22"/>
                                        </p:tgtEl>
                                      </p:cBhvr>
                                    </p:animEffect>
                                  </p:childTnLst>
                                </p:cTn>
                              </p:par>
                              <p:par>
                                <p:cTn id="88" presetID="10" presetClass="entr" presetSubtype="0" fill="hold" nodeType="withEffect">
                                  <p:stCondLst>
                                    <p:cond delay="0"/>
                                  </p:stCondLst>
                                  <p:childTnLst>
                                    <p:set>
                                      <p:cBhvr>
                                        <p:cTn id="89" dur="1" fill="hold">
                                          <p:stCondLst>
                                            <p:cond delay="0"/>
                                          </p:stCondLst>
                                        </p:cTn>
                                        <p:tgtEl>
                                          <p:spTgt spid="22">
                                            <p:txEl>
                                              <p:pRg st="0" end="0"/>
                                            </p:txEl>
                                          </p:spTgt>
                                        </p:tgtEl>
                                        <p:attrNameLst>
                                          <p:attrName>style.visibility</p:attrName>
                                        </p:attrNameLst>
                                      </p:cBhvr>
                                      <p:to>
                                        <p:strVal val="visible"/>
                                      </p:to>
                                    </p:set>
                                    <p:animEffect transition="in" filter="fade">
                                      <p:cBhvr>
                                        <p:cTn id="90" dur="500"/>
                                        <p:tgtEl>
                                          <p:spTgt spid="22">
                                            <p:txEl>
                                              <p:pRg st="0" end="0"/>
                                            </p:txEl>
                                          </p:spTgt>
                                        </p:tgtEl>
                                      </p:cBhvr>
                                    </p:animEffect>
                                  </p:childTnLst>
                                </p:cTn>
                              </p:par>
                            </p:childTnLst>
                          </p:cTn>
                        </p:par>
                      </p:childTnLst>
                    </p:cTn>
                  </p:par>
                  <p:par>
                    <p:cTn id="91" fill="hold" nodeType="clickPar">
                      <p:stCondLst>
                        <p:cond delay="indefinite"/>
                      </p:stCondLst>
                      <p:childTnLst>
                        <p:par>
                          <p:cTn id="92" fill="hold">
                            <p:stCondLst>
                              <p:cond delay="0"/>
                            </p:stCondLst>
                            <p:childTnLst>
                              <p:par>
                                <p:cTn id="93" presetID="35" presetClass="emph" presetSubtype="0" repeatCount="indefinite" fill="hold" grpId="0" nodeType="clickEffect">
                                  <p:stCondLst>
                                    <p:cond delay="0"/>
                                  </p:stCondLst>
                                  <p:endCondLst>
                                    <p:cond evt="onNext" delay="0">
                                      <p:tgtEl>
                                        <p:sldTgt/>
                                      </p:tgtEl>
                                    </p:cond>
                                  </p:endCondLst>
                                  <p:childTnLst>
                                    <p:anim calcmode="discrete" valueType="str">
                                      <p:cBhvr>
                                        <p:cTn id="94" dur="1000" fill="hold"/>
                                        <p:tgtEl>
                                          <p:spTgt spid="31"/>
                                        </p:tgtEl>
                                        <p:attrNameLst>
                                          <p:attrName>style.visibility</p:attrName>
                                        </p:attrNameLst>
                                      </p:cBhvr>
                                      <p:tavLst>
                                        <p:tav tm="0">
                                          <p:val>
                                            <p:strVal val="hidden"/>
                                          </p:val>
                                        </p:tav>
                                        <p:tav tm="50000">
                                          <p:val>
                                            <p:strVal val="visible"/>
                                          </p:val>
                                        </p:tav>
                                      </p:tavLst>
                                    </p:anim>
                                  </p:childTnLst>
                                </p:cTn>
                              </p:par>
                            </p:childTnLst>
                          </p:cTn>
                        </p:par>
                      </p:childTnLst>
                    </p:cTn>
                  </p:par>
                  <p:par>
                    <p:cTn id="95" fill="hold" nodeType="clickPar">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22">
                                            <p:txEl>
                                              <p:pRg st="1" end="1"/>
                                            </p:txEl>
                                          </p:spTgt>
                                        </p:tgtEl>
                                        <p:attrNameLst>
                                          <p:attrName>style.visibility</p:attrName>
                                        </p:attrNameLst>
                                      </p:cBhvr>
                                      <p:to>
                                        <p:strVal val="visible"/>
                                      </p:to>
                                    </p:set>
                                    <p:animEffect transition="in" filter="fade">
                                      <p:cBhvr>
                                        <p:cTn id="99" dur="500"/>
                                        <p:tgtEl>
                                          <p:spTgt spid="22">
                                            <p:txEl>
                                              <p:pRg st="1" end="1"/>
                                            </p:txEl>
                                          </p:spTgt>
                                        </p:tgtEl>
                                      </p:cBhvr>
                                    </p:animEffect>
                                  </p:childTnLst>
                                </p:cTn>
                              </p:par>
                            </p:childTnLst>
                          </p:cTn>
                        </p:par>
                      </p:childTnLst>
                    </p:cTn>
                  </p:par>
                  <p:par>
                    <p:cTn id="100" fill="hold" nodeType="clickPar">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22">
                                            <p:txEl>
                                              <p:pRg st="2" end="2"/>
                                            </p:txEl>
                                          </p:spTgt>
                                        </p:tgtEl>
                                        <p:attrNameLst>
                                          <p:attrName>style.visibility</p:attrName>
                                        </p:attrNameLst>
                                      </p:cBhvr>
                                      <p:to>
                                        <p:strVal val="visible"/>
                                      </p:to>
                                    </p:set>
                                    <p:animEffect transition="in" filter="fade">
                                      <p:cBhvr>
                                        <p:cTn id="104" dur="500"/>
                                        <p:tgtEl>
                                          <p:spTgt spid="22">
                                            <p:txEl>
                                              <p:pRg st="2" end="2"/>
                                            </p:txEl>
                                          </p:spTgt>
                                        </p:tgtEl>
                                      </p:cBhvr>
                                    </p:animEffect>
                                  </p:childTnLst>
                                </p:cTn>
                              </p:par>
                            </p:childTnLst>
                          </p:cTn>
                        </p:par>
                      </p:childTnLst>
                    </p:cTn>
                  </p:par>
                  <p:par>
                    <p:cTn id="105" fill="hold" nodeType="clickPar">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22">
                                            <p:txEl>
                                              <p:pRg st="3" end="3"/>
                                            </p:txEl>
                                          </p:spTgt>
                                        </p:tgtEl>
                                        <p:attrNameLst>
                                          <p:attrName>style.visibility</p:attrName>
                                        </p:attrNameLst>
                                      </p:cBhvr>
                                      <p:to>
                                        <p:strVal val="visible"/>
                                      </p:to>
                                    </p:set>
                                    <p:animEffect transition="in" filter="fade">
                                      <p:cBhvr>
                                        <p:cTn id="109" dur="500"/>
                                        <p:tgtEl>
                                          <p:spTgt spid="22">
                                            <p:txEl>
                                              <p:pRg st="3" end="3"/>
                                            </p:txEl>
                                          </p:spTgt>
                                        </p:tgtEl>
                                      </p:cBhvr>
                                    </p:animEffect>
                                  </p:childTnLst>
                                </p:cTn>
                              </p:par>
                            </p:childTnLst>
                          </p:cTn>
                        </p:par>
                      </p:childTnLst>
                    </p:cTn>
                  </p:par>
                  <p:par>
                    <p:cTn id="110" fill="hold" nodeType="clickPar">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22">
                                            <p:txEl>
                                              <p:pRg st="4" end="4"/>
                                            </p:txEl>
                                          </p:spTgt>
                                        </p:tgtEl>
                                        <p:attrNameLst>
                                          <p:attrName>style.visibility</p:attrName>
                                        </p:attrNameLst>
                                      </p:cBhvr>
                                      <p:to>
                                        <p:strVal val="visible"/>
                                      </p:to>
                                    </p:set>
                                    <p:animEffect transition="in" filter="fade">
                                      <p:cBhvr>
                                        <p:cTn id="114" dur="500"/>
                                        <p:tgtEl>
                                          <p:spTgt spid="22">
                                            <p:txEl>
                                              <p:pRg st="4" end="4"/>
                                            </p:txEl>
                                          </p:spTgt>
                                        </p:tgtEl>
                                      </p:cBhvr>
                                    </p:animEffect>
                                  </p:childTnLst>
                                </p:cTn>
                              </p:par>
                            </p:childTnLst>
                          </p:cTn>
                        </p:par>
                      </p:childTnLst>
                    </p:cTn>
                  </p:par>
                  <p:par>
                    <p:cTn id="115" fill="hold" nodeType="clickPar">
                      <p:stCondLst>
                        <p:cond delay="indefinite"/>
                      </p:stCondLst>
                      <p:childTnLst>
                        <p:par>
                          <p:cTn id="116"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22">
                                            <p:txEl>
                                              <p:pRg st="5" end="5"/>
                                            </p:txEl>
                                          </p:spTgt>
                                        </p:tgtEl>
                                        <p:attrNameLst>
                                          <p:attrName>style.visibility</p:attrName>
                                        </p:attrNameLst>
                                      </p:cBhvr>
                                      <p:to>
                                        <p:strVal val="visible"/>
                                      </p:to>
                                    </p:set>
                                    <p:animEffect transition="in" filter="fade">
                                      <p:cBhvr>
                                        <p:cTn id="119" dur="500"/>
                                        <p:tgtEl>
                                          <p:spTgt spid="22">
                                            <p:txEl>
                                              <p:pRg st="5" end="5"/>
                                            </p:txEl>
                                          </p:spTgt>
                                        </p:tgtEl>
                                      </p:cBhvr>
                                    </p:animEffect>
                                  </p:childTnLst>
                                </p:cTn>
                              </p:par>
                            </p:childTnLst>
                          </p:cTn>
                        </p:par>
                      </p:childTnLst>
                    </p:cTn>
                  </p:par>
                  <p:par>
                    <p:cTn id="120" fill="hold" nodeType="clickPar">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22">
                                            <p:txEl>
                                              <p:pRg st="6" end="6"/>
                                            </p:txEl>
                                          </p:spTgt>
                                        </p:tgtEl>
                                        <p:attrNameLst>
                                          <p:attrName>style.visibility</p:attrName>
                                        </p:attrNameLst>
                                      </p:cBhvr>
                                      <p:to>
                                        <p:strVal val="visible"/>
                                      </p:to>
                                    </p:set>
                                    <p:animEffect transition="in" filter="fade">
                                      <p:cBhvr>
                                        <p:cTn id="124" dur="500"/>
                                        <p:tgtEl>
                                          <p:spTgt spid="22">
                                            <p:txEl>
                                              <p:pRg st="6" end="6"/>
                                            </p:txEl>
                                          </p:spTgt>
                                        </p:tgtEl>
                                      </p:cBhvr>
                                    </p:animEffect>
                                  </p:childTnLst>
                                </p:cTn>
                              </p:par>
                            </p:childTnLst>
                          </p:cTn>
                        </p:par>
                      </p:childTnLst>
                    </p:cTn>
                  </p:par>
                  <p:par>
                    <p:cTn id="125" fill="hold" nodeType="clickPar">
                      <p:stCondLst>
                        <p:cond delay="indefinite"/>
                      </p:stCondLst>
                      <p:childTnLst>
                        <p:par>
                          <p:cTn id="126"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22">
                                            <p:txEl>
                                              <p:pRg st="7" end="7"/>
                                            </p:txEl>
                                          </p:spTgt>
                                        </p:tgtEl>
                                        <p:attrNameLst>
                                          <p:attrName>style.visibility</p:attrName>
                                        </p:attrNameLst>
                                      </p:cBhvr>
                                      <p:to>
                                        <p:strVal val="visible"/>
                                      </p:to>
                                    </p:set>
                                    <p:animEffect transition="in" filter="fade">
                                      <p:cBhvr>
                                        <p:cTn id="129" dur="500"/>
                                        <p:tgtEl>
                                          <p:spTgt spid="22">
                                            <p:txEl>
                                              <p:pRg st="7" end="7"/>
                                            </p:txEl>
                                          </p:spTgt>
                                        </p:tgtEl>
                                      </p:cBhvr>
                                    </p:animEffect>
                                  </p:childTnLst>
                                </p:cTn>
                              </p:par>
                            </p:childTnLst>
                          </p:cTn>
                        </p:par>
                      </p:childTnLst>
                    </p:cTn>
                  </p:par>
                  <p:par>
                    <p:cTn id="130" fill="hold" nodeType="clickPar">
                      <p:stCondLst>
                        <p:cond delay="indefinite"/>
                      </p:stCondLst>
                      <p:childTnLst>
                        <p:par>
                          <p:cTn id="131" fill="hold">
                            <p:stCondLst>
                              <p:cond delay="0"/>
                            </p:stCondLst>
                            <p:childTnLst>
                              <p:par>
                                <p:cTn id="132" presetID="10" presetClass="entr" presetSubtype="0" fill="hold" grpId="1" nodeType="clickEffect">
                                  <p:stCondLst>
                                    <p:cond delay="0"/>
                                  </p:stCondLst>
                                  <p:childTnLst>
                                    <p:set>
                                      <p:cBhvr>
                                        <p:cTn id="133" dur="1" fill="hold">
                                          <p:stCondLst>
                                            <p:cond delay="0"/>
                                          </p:stCondLst>
                                        </p:cTn>
                                        <p:tgtEl>
                                          <p:spTgt spid="53"/>
                                        </p:tgtEl>
                                        <p:attrNameLst>
                                          <p:attrName>style.visibility</p:attrName>
                                        </p:attrNameLst>
                                      </p:cBhvr>
                                      <p:to>
                                        <p:strVal val="visible"/>
                                      </p:to>
                                    </p:set>
                                    <p:animEffect transition="in" filter="fade">
                                      <p:cBhvr>
                                        <p:cTn id="134" dur="500"/>
                                        <p:tgtEl>
                                          <p:spTgt spid="53"/>
                                        </p:tgtEl>
                                      </p:cBhvr>
                                    </p:animEffect>
                                  </p:childTnLst>
                                </p:cTn>
                              </p:par>
                            </p:childTnLst>
                          </p:cTn>
                        </p:par>
                      </p:childTnLst>
                    </p:cTn>
                  </p:par>
                  <p:par>
                    <p:cTn id="135" fill="hold" nodeType="clickPar">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7" grpId="0" animBg="1"/>
      <p:bldP spid="28" grpId="0" animBg="1"/>
      <p:bldP spid="29" grpId="0" animBg="1"/>
      <p:bldP spid="30" grpId="0" animBg="1"/>
      <p:bldP spid="31" grpId="0" animBg="1"/>
      <p:bldP spid="31" grpId="1" animBg="1"/>
      <p:bldP spid="32" grpId="0" animBg="1"/>
      <p:bldP spid="33" grpId="0" animBg="1"/>
      <p:bldP spid="34" grpId="0" animBg="1"/>
      <p:bldP spid="35" grpId="0" animBg="1"/>
      <p:bldP spid="36" grpId="0" animBg="1"/>
      <p:bldP spid="37" grpId="0" animBg="1"/>
      <p:bldP spid="38" grpId="0" animBg="1"/>
      <p:bldP spid="39" grpId="0" animBg="1"/>
      <p:bldP spid="53" grpId="1" animBg="1"/>
      <p:bldP spid="5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Deadlock detection for single resource (RAG - </a:t>
            </a:r>
            <a:r>
              <a:rPr lang="en-US" sz="2800"/>
              <a:t>Resource Allocation Graph</a:t>
            </a:r>
            <a:r>
              <a:rPr lang="en-US"/>
              <a:t>)</a:t>
            </a:r>
          </a:p>
        </p:txBody>
      </p:sp>
      <p:sp>
        <p:nvSpPr>
          <p:cNvPr id="3" name="Content Placeholder 2"/>
          <p:cNvSpPr>
            <a:spLocks noGrp="1"/>
          </p:cNvSpPr>
          <p:nvPr>
            <p:ph idx="1"/>
          </p:nvPr>
        </p:nvSpPr>
        <p:spPr/>
        <p:txBody>
          <a:bodyPr/>
          <a:lstStyle/>
          <a:p>
            <a:r>
              <a:rPr lang="en-US"/>
              <a:t>Algorithm for detecting deadlock for single resource</a:t>
            </a:r>
          </a:p>
          <a:p>
            <a:pPr lvl="1"/>
            <a:r>
              <a:rPr lang="en-US"/>
              <a:t>For each node, N in the graph, perform the following five steps with N as the starting node.</a:t>
            </a:r>
          </a:p>
          <a:p>
            <a:pPr marL="1257300" lvl="2" indent="-342900">
              <a:buFont typeface="+mj-lt"/>
              <a:buAutoNum type="arabicParenR"/>
            </a:pPr>
            <a:r>
              <a:rPr lang="en-US"/>
              <a:t>Initialize L to the empty list, designate all arcs as unmarked.</a:t>
            </a:r>
          </a:p>
          <a:p>
            <a:pPr marL="1257300" lvl="2" indent="-342900">
              <a:buFont typeface="+mj-lt"/>
              <a:buAutoNum type="arabicParenR"/>
            </a:pPr>
            <a:r>
              <a:rPr lang="en-US"/>
              <a:t>Add current node to end of L, check to see if node now appears in L two times. If it does, graph contains a cycle (listed in L), algorithm terminates.</a:t>
            </a:r>
          </a:p>
          <a:p>
            <a:pPr marL="1257300" lvl="2" indent="-342900">
              <a:buFont typeface="+mj-lt"/>
              <a:buAutoNum type="arabicParenR"/>
            </a:pPr>
            <a:r>
              <a:rPr lang="en-US"/>
              <a:t>From given node, see if any unmarked outgoing arcs. If so, go to step 4; if not, go to step 5.</a:t>
            </a:r>
          </a:p>
          <a:p>
            <a:pPr marL="1257300" lvl="2" indent="-342900">
              <a:buFont typeface="+mj-lt"/>
              <a:buAutoNum type="arabicParenR"/>
            </a:pPr>
            <a:r>
              <a:rPr lang="en-US"/>
              <a:t>Pick an unmarked outgoing arc at random and mark it. Then follow it to the new current node and go to step 2.</a:t>
            </a:r>
          </a:p>
          <a:p>
            <a:pPr marL="1257300" lvl="2" indent="-342900">
              <a:buFont typeface="+mj-lt"/>
              <a:buAutoNum type="arabicParenR"/>
            </a:pPr>
            <a:r>
              <a:rPr lang="en-US"/>
              <a:t>If this is initial node, graph does not contain any cycles, algorithm terminates. Otherwise, dead end. Remove it, go back to previous node, make that one current node, go to step 2.</a:t>
            </a:r>
          </a:p>
        </p:txBody>
      </p:sp>
    </p:spTree>
    <p:extLst>
      <p:ext uri="{BB962C8B-B14F-4D97-AF65-F5344CB8AC3E}">
        <p14:creationId xmlns:p14="http://schemas.microsoft.com/office/powerpoint/2010/main" val="38993107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a:t>Deadlock detection for multiple resources</a:t>
            </a:r>
            <a:endParaRPr lang="en-US"/>
          </a:p>
        </p:txBody>
      </p:sp>
      <p:graphicFrame>
        <p:nvGraphicFramePr>
          <p:cNvPr id="55" name="Table 54"/>
          <p:cNvGraphicFramePr>
            <a:graphicFrameLocks noGrp="1"/>
          </p:cNvGraphicFramePr>
          <p:nvPr>
            <p:extLst>
              <p:ext uri="{D42A27DB-BD31-4B8C-83A1-F6EECF244321}">
                <p14:modId xmlns:p14="http://schemas.microsoft.com/office/powerpoint/2010/main" val="659857123"/>
              </p:ext>
            </p:extLst>
          </p:nvPr>
        </p:nvGraphicFramePr>
        <p:xfrm>
          <a:off x="762000" y="990600"/>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4</a:t>
                      </a:r>
                    </a:p>
                  </a:txBody>
                  <a:tcPr anchor="ctr"/>
                </a:tc>
                <a:tc>
                  <a:txBody>
                    <a:bodyPr/>
                    <a:lstStyle/>
                    <a:p>
                      <a:pPr algn="ctr"/>
                      <a:r>
                        <a:rPr lang="en-US"/>
                        <a:t>2</a:t>
                      </a:r>
                    </a:p>
                  </a:txBody>
                  <a:tcPr anchor="ctr"/>
                </a:tc>
                <a:tc>
                  <a:txBody>
                    <a:bodyPr/>
                    <a:lstStyle/>
                    <a:p>
                      <a:pPr algn="ctr"/>
                      <a:r>
                        <a:rPr lang="en-US"/>
                        <a:t>3</a:t>
                      </a:r>
                    </a:p>
                  </a:txBody>
                  <a:tcPr anchor="ctr"/>
                </a:tc>
                <a:tc>
                  <a:txBody>
                    <a:bodyPr/>
                    <a:lstStyle/>
                    <a:p>
                      <a:pPr algn="ctr"/>
                      <a:r>
                        <a:rPr lang="en-US"/>
                        <a:t>1</a:t>
                      </a:r>
                    </a:p>
                  </a:txBody>
                  <a:tcPr anchor="ctr"/>
                </a:tc>
                <a:extLst>
                  <a:ext uri="{0D108BD9-81ED-4DB2-BD59-A6C34878D82A}">
                    <a16:rowId xmlns="" xmlns:a16="http://schemas.microsoft.com/office/drawing/2014/main" val="10001"/>
                  </a:ext>
                </a:extLst>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1063045650"/>
              </p:ext>
            </p:extLst>
          </p:nvPr>
        </p:nvGraphicFramePr>
        <p:xfrm>
          <a:off x="5605462" y="990600"/>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2</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1"/>
                  </a:ext>
                </a:extLst>
              </a:tr>
            </a:tbl>
          </a:graphicData>
        </a:graphic>
      </p:graphicFrame>
      <p:sp>
        <p:nvSpPr>
          <p:cNvPr id="57" name="TextBox 56"/>
          <p:cNvSpPr txBox="1"/>
          <p:nvPr/>
        </p:nvSpPr>
        <p:spPr>
          <a:xfrm>
            <a:off x="4965526" y="1367135"/>
            <a:ext cx="633412" cy="461665"/>
          </a:xfrm>
          <a:prstGeom prst="rect">
            <a:avLst/>
          </a:prstGeom>
          <a:noFill/>
        </p:spPr>
        <p:txBody>
          <a:bodyPr wrap="square" rtlCol="0">
            <a:spAutoFit/>
          </a:bodyPr>
          <a:lstStyle/>
          <a:p>
            <a:r>
              <a:rPr lang="en-US" sz="2400"/>
              <a:t>A =</a:t>
            </a:r>
          </a:p>
        </p:txBody>
      </p:sp>
      <p:graphicFrame>
        <p:nvGraphicFramePr>
          <p:cNvPr id="58" name="Table 57"/>
          <p:cNvGraphicFramePr>
            <a:graphicFrameLocks noGrp="1"/>
          </p:cNvGraphicFramePr>
          <p:nvPr>
            <p:extLst>
              <p:ext uri="{D42A27DB-BD31-4B8C-83A1-F6EECF244321}">
                <p14:modId xmlns:p14="http://schemas.microsoft.com/office/powerpoint/2010/main" val="3320992217"/>
              </p:ext>
            </p:extLst>
          </p:nvPr>
        </p:nvGraphicFramePr>
        <p:xfrm>
          <a:off x="762000" y="3263504"/>
          <a:ext cx="3200400" cy="2527696"/>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P1</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2</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1</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2</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bl>
          </a:graphicData>
        </a:graphic>
      </p:graphicFrame>
      <p:sp>
        <p:nvSpPr>
          <p:cNvPr id="59" name="TextBox 58"/>
          <p:cNvSpPr txBox="1"/>
          <p:nvPr/>
        </p:nvSpPr>
        <p:spPr>
          <a:xfrm>
            <a:off x="140396" y="3606157"/>
            <a:ext cx="633412" cy="461665"/>
          </a:xfrm>
          <a:prstGeom prst="rect">
            <a:avLst/>
          </a:prstGeom>
          <a:noFill/>
        </p:spPr>
        <p:txBody>
          <a:bodyPr wrap="square" rtlCol="0">
            <a:spAutoFit/>
          </a:bodyPr>
          <a:lstStyle/>
          <a:p>
            <a:r>
              <a:rPr lang="en-US" sz="2400"/>
              <a:t>C =</a:t>
            </a:r>
          </a:p>
        </p:txBody>
      </p:sp>
      <p:sp>
        <p:nvSpPr>
          <p:cNvPr id="60" name="TextBox 59"/>
          <p:cNvSpPr txBox="1"/>
          <p:nvPr/>
        </p:nvSpPr>
        <p:spPr>
          <a:xfrm>
            <a:off x="4965526" y="3606157"/>
            <a:ext cx="633412" cy="461665"/>
          </a:xfrm>
          <a:prstGeom prst="rect">
            <a:avLst/>
          </a:prstGeom>
          <a:noFill/>
        </p:spPr>
        <p:txBody>
          <a:bodyPr wrap="square" rtlCol="0">
            <a:spAutoFit/>
          </a:bodyPr>
          <a:lstStyle/>
          <a:p>
            <a:r>
              <a:rPr lang="en-US" sz="2400"/>
              <a:t>R =</a:t>
            </a:r>
          </a:p>
        </p:txBody>
      </p:sp>
      <p:graphicFrame>
        <p:nvGraphicFramePr>
          <p:cNvPr id="61" name="Table 60"/>
          <p:cNvGraphicFramePr>
            <a:graphicFrameLocks noGrp="1"/>
          </p:cNvGraphicFramePr>
          <p:nvPr>
            <p:extLst>
              <p:ext uri="{D42A27DB-BD31-4B8C-83A1-F6EECF244321}">
                <p14:modId xmlns:p14="http://schemas.microsoft.com/office/powerpoint/2010/main" val="3254295400"/>
              </p:ext>
            </p:extLst>
          </p:nvPr>
        </p:nvGraphicFramePr>
        <p:xfrm>
          <a:off x="5605462" y="3253344"/>
          <a:ext cx="3200400" cy="2527696"/>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P1</a:t>
                      </a:r>
                    </a:p>
                  </a:txBody>
                  <a:tcPr anchor="ctr"/>
                </a:tc>
                <a:tc>
                  <a:txBody>
                    <a:bodyPr/>
                    <a:lstStyle/>
                    <a:p>
                      <a:pPr algn="ctr"/>
                      <a:r>
                        <a:rPr lang="en-US"/>
                        <a:t>2</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1</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1</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2</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bl>
          </a:graphicData>
        </a:graphic>
      </p:graphicFrame>
      <p:sp>
        <p:nvSpPr>
          <p:cNvPr id="62" name="TextBox 61"/>
          <p:cNvSpPr txBox="1"/>
          <p:nvPr/>
        </p:nvSpPr>
        <p:spPr>
          <a:xfrm>
            <a:off x="762000" y="2501900"/>
            <a:ext cx="2514600" cy="369332"/>
          </a:xfrm>
          <a:prstGeom prst="rect">
            <a:avLst/>
          </a:prstGeom>
          <a:noFill/>
        </p:spPr>
        <p:txBody>
          <a:bodyPr wrap="square" rtlCol="0">
            <a:spAutoFit/>
          </a:bodyPr>
          <a:lstStyle/>
          <a:p>
            <a:r>
              <a:rPr lang="en-US"/>
              <a:t>total no of each resource</a:t>
            </a:r>
          </a:p>
        </p:txBody>
      </p:sp>
      <p:sp>
        <p:nvSpPr>
          <p:cNvPr id="63" name="TextBox 62"/>
          <p:cNvSpPr txBox="1"/>
          <p:nvPr/>
        </p:nvSpPr>
        <p:spPr>
          <a:xfrm>
            <a:off x="5605462" y="2500314"/>
            <a:ext cx="2514600" cy="646331"/>
          </a:xfrm>
          <a:prstGeom prst="rect">
            <a:avLst/>
          </a:prstGeom>
          <a:noFill/>
        </p:spPr>
        <p:txBody>
          <a:bodyPr wrap="square" rtlCol="0">
            <a:spAutoFit/>
          </a:bodyPr>
          <a:lstStyle/>
          <a:p>
            <a:r>
              <a:rPr lang="en-US"/>
              <a:t>no of resources that are available (free)</a:t>
            </a:r>
          </a:p>
        </p:txBody>
      </p:sp>
      <p:sp>
        <p:nvSpPr>
          <p:cNvPr id="64" name="TextBox 63"/>
          <p:cNvSpPr txBox="1"/>
          <p:nvPr/>
        </p:nvSpPr>
        <p:spPr>
          <a:xfrm>
            <a:off x="762000" y="5791200"/>
            <a:ext cx="3187700" cy="646331"/>
          </a:xfrm>
          <a:prstGeom prst="rect">
            <a:avLst/>
          </a:prstGeom>
          <a:noFill/>
        </p:spPr>
        <p:txBody>
          <a:bodyPr wrap="square" rtlCol="0">
            <a:spAutoFit/>
          </a:bodyPr>
          <a:lstStyle/>
          <a:p>
            <a:r>
              <a:rPr lang="en-US"/>
              <a:t>no of resources held by each process</a:t>
            </a:r>
          </a:p>
        </p:txBody>
      </p:sp>
      <p:sp>
        <p:nvSpPr>
          <p:cNvPr id="65" name="TextBox 64"/>
          <p:cNvSpPr txBox="1"/>
          <p:nvPr/>
        </p:nvSpPr>
        <p:spPr>
          <a:xfrm>
            <a:off x="5605462" y="5777705"/>
            <a:ext cx="3157536" cy="646331"/>
          </a:xfrm>
          <a:prstGeom prst="rect">
            <a:avLst/>
          </a:prstGeom>
          <a:noFill/>
        </p:spPr>
        <p:txBody>
          <a:bodyPr wrap="square" rtlCol="0">
            <a:spAutoFit/>
          </a:bodyPr>
          <a:lstStyle/>
          <a:p>
            <a:r>
              <a:rPr lang="en-US"/>
              <a:t>no of resources still needed by each process to proceed</a:t>
            </a:r>
          </a:p>
        </p:txBody>
      </p:sp>
      <p:sp>
        <p:nvSpPr>
          <p:cNvPr id="66" name="Rounded Rectangle 65"/>
          <p:cNvSpPr/>
          <p:nvPr/>
        </p:nvSpPr>
        <p:spPr>
          <a:xfrm>
            <a:off x="5618159" y="4283869"/>
            <a:ext cx="3173415" cy="474688"/>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7" name="Rounded Rectangle 66"/>
          <p:cNvSpPr/>
          <p:nvPr/>
        </p:nvSpPr>
        <p:spPr>
          <a:xfrm>
            <a:off x="5615940" y="4785913"/>
            <a:ext cx="3175634" cy="475488"/>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ounded Rectangle 67"/>
          <p:cNvSpPr/>
          <p:nvPr/>
        </p:nvSpPr>
        <p:spPr>
          <a:xfrm>
            <a:off x="5617050" y="5288757"/>
            <a:ext cx="3175634" cy="475488"/>
          </a:xfrm>
          <a:prstGeom prst="roundRect">
            <a:avLst/>
          </a:prstGeom>
          <a:noFill/>
          <a:ln w="38100"/>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9" name="Oval 68"/>
          <p:cNvSpPr/>
          <p:nvPr/>
        </p:nvSpPr>
        <p:spPr>
          <a:xfrm>
            <a:off x="8328102" y="4363496"/>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0" name="Oval 69"/>
          <p:cNvSpPr/>
          <p:nvPr/>
        </p:nvSpPr>
        <p:spPr>
          <a:xfrm>
            <a:off x="7686152" y="4866752"/>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1" name="Oval 70"/>
          <p:cNvSpPr/>
          <p:nvPr/>
        </p:nvSpPr>
        <p:spPr>
          <a:xfrm>
            <a:off x="8337396" y="4865649"/>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72" name="Straight Arrow Connector 71"/>
          <p:cNvCxnSpPr/>
          <p:nvPr/>
        </p:nvCxnSpPr>
        <p:spPr>
          <a:xfrm flipH="1">
            <a:off x="1809750" y="2344463"/>
            <a:ext cx="4024996" cy="3122887"/>
          </a:xfrm>
          <a:prstGeom prst="straightConnector1">
            <a:avLst/>
          </a:prstGeom>
          <a:ln w="28575">
            <a:solidFill>
              <a:schemeClr val="tx2"/>
            </a:solidFill>
            <a:tailEnd type="triangle"/>
          </a:ln>
        </p:spPr>
        <p:style>
          <a:lnRef idx="2">
            <a:schemeClr val="accent2"/>
          </a:lnRef>
          <a:fillRef idx="0">
            <a:schemeClr val="accent2"/>
          </a:fillRef>
          <a:effectRef idx="1">
            <a:schemeClr val="accent2"/>
          </a:effectRef>
          <a:fontRef idx="minor">
            <a:schemeClr val="tx1"/>
          </a:fontRef>
        </p:style>
      </p:cxnSp>
      <p:sp>
        <p:nvSpPr>
          <p:cNvPr id="74" name="TextBox 73"/>
          <p:cNvSpPr txBox="1"/>
          <p:nvPr/>
        </p:nvSpPr>
        <p:spPr>
          <a:xfrm>
            <a:off x="140396" y="1367135"/>
            <a:ext cx="633412" cy="461665"/>
          </a:xfrm>
          <a:prstGeom prst="rect">
            <a:avLst/>
          </a:prstGeom>
          <a:noFill/>
        </p:spPr>
        <p:txBody>
          <a:bodyPr wrap="square" rtlCol="0">
            <a:spAutoFit/>
          </a:bodyPr>
          <a:lstStyle/>
          <a:p>
            <a:r>
              <a:rPr lang="en-US" sz="2400"/>
              <a:t>T =</a:t>
            </a:r>
          </a:p>
        </p:txBody>
      </p:sp>
      <p:cxnSp>
        <p:nvCxnSpPr>
          <p:cNvPr id="76" name="Straight Arrow Connector 75"/>
          <p:cNvCxnSpPr/>
          <p:nvPr/>
        </p:nvCxnSpPr>
        <p:spPr>
          <a:xfrm flipH="1">
            <a:off x="2472680" y="2344463"/>
            <a:ext cx="4024996" cy="3122887"/>
          </a:xfrm>
          <a:prstGeom prst="straightConnector1">
            <a:avLst/>
          </a:prstGeom>
          <a:ln w="28575">
            <a:solidFill>
              <a:schemeClr val="tx2"/>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6600522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5"/>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6"/>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1"/>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8"/>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72"/>
                                        </p:tgtEl>
                                        <p:attrNameLst>
                                          <p:attrName>style.visibility</p:attrName>
                                        </p:attrNameLst>
                                      </p:cBhvr>
                                      <p:to>
                                        <p:strVal val="visible"/>
                                      </p:to>
                                    </p:set>
                                    <p:animEffect transition="in" filter="wipe(up)">
                                      <p:cBhvr>
                                        <p:cTn id="61" dur="500"/>
                                        <p:tgtEl>
                                          <p:spTgt spid="72"/>
                                        </p:tgtEl>
                                      </p:cBhvr>
                                    </p:animEffect>
                                  </p:childTnLst>
                                </p:cTn>
                              </p:par>
                            </p:childTnLst>
                          </p:cTn>
                        </p:par>
                      </p:childTnLst>
                    </p:cTn>
                  </p:par>
                  <p:par>
                    <p:cTn id="62" fill="hold" nodeType="clickPar">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76"/>
                                        </p:tgtEl>
                                        <p:attrNameLst>
                                          <p:attrName>style.visibility</p:attrName>
                                        </p:attrNameLst>
                                      </p:cBhvr>
                                      <p:to>
                                        <p:strVal val="visible"/>
                                      </p:to>
                                    </p:set>
                                    <p:animEffect transition="in" filter="wipe(up)">
                                      <p:cBhvr>
                                        <p:cTn id="66"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9" grpId="0"/>
      <p:bldP spid="60" grpId="0"/>
      <p:bldP spid="62" grpId="0"/>
      <p:bldP spid="63" grpId="0"/>
      <p:bldP spid="64" grpId="0"/>
      <p:bldP spid="65" grpId="0"/>
      <p:bldP spid="66" grpId="0" animBg="1"/>
      <p:bldP spid="67" grpId="0" animBg="1"/>
      <p:bldP spid="68" grpId="0" animBg="1"/>
      <p:bldP spid="69" grpId="0" animBg="1"/>
      <p:bldP spid="70" grpId="0" animBg="1"/>
      <p:bldP spid="71" grpId="0" animBg="1"/>
      <p:bldP spid="7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a:t>Deadlock detection for multiple resources</a:t>
            </a:r>
            <a:endParaRPr lang="en-US"/>
          </a:p>
        </p:txBody>
      </p:sp>
      <p:graphicFrame>
        <p:nvGraphicFramePr>
          <p:cNvPr id="55" name="Table 54"/>
          <p:cNvGraphicFramePr>
            <a:graphicFrameLocks noGrp="1"/>
          </p:cNvGraphicFramePr>
          <p:nvPr>
            <p:extLst>
              <p:ext uri="{D42A27DB-BD31-4B8C-83A1-F6EECF244321}">
                <p14:modId xmlns:p14="http://schemas.microsoft.com/office/powerpoint/2010/main" val="659857123"/>
              </p:ext>
            </p:extLst>
          </p:nvPr>
        </p:nvGraphicFramePr>
        <p:xfrm>
          <a:off x="762000" y="990600"/>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4</a:t>
                      </a:r>
                    </a:p>
                  </a:txBody>
                  <a:tcPr anchor="ctr"/>
                </a:tc>
                <a:tc>
                  <a:txBody>
                    <a:bodyPr/>
                    <a:lstStyle/>
                    <a:p>
                      <a:pPr algn="ctr"/>
                      <a:r>
                        <a:rPr lang="en-US"/>
                        <a:t>2</a:t>
                      </a:r>
                    </a:p>
                  </a:txBody>
                  <a:tcPr anchor="ctr"/>
                </a:tc>
                <a:tc>
                  <a:txBody>
                    <a:bodyPr/>
                    <a:lstStyle/>
                    <a:p>
                      <a:pPr algn="ctr"/>
                      <a:r>
                        <a:rPr lang="en-US"/>
                        <a:t>3</a:t>
                      </a:r>
                    </a:p>
                  </a:txBody>
                  <a:tcPr anchor="ctr"/>
                </a:tc>
                <a:tc>
                  <a:txBody>
                    <a:bodyPr/>
                    <a:lstStyle/>
                    <a:p>
                      <a:pPr algn="ctr"/>
                      <a:r>
                        <a:rPr lang="en-US"/>
                        <a:t>1</a:t>
                      </a:r>
                    </a:p>
                  </a:txBody>
                  <a:tcPr anchor="ctr"/>
                </a:tc>
                <a:extLst>
                  <a:ext uri="{0D108BD9-81ED-4DB2-BD59-A6C34878D82A}">
                    <a16:rowId xmlns="" xmlns:a16="http://schemas.microsoft.com/office/drawing/2014/main" val="10001"/>
                  </a:ext>
                </a:extLst>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605849291"/>
              </p:ext>
            </p:extLst>
          </p:nvPr>
        </p:nvGraphicFramePr>
        <p:xfrm>
          <a:off x="5605462" y="990600"/>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1"/>
                  </a:ext>
                </a:extLst>
              </a:tr>
            </a:tbl>
          </a:graphicData>
        </a:graphic>
      </p:graphicFrame>
      <p:sp>
        <p:nvSpPr>
          <p:cNvPr id="57" name="TextBox 56"/>
          <p:cNvSpPr txBox="1"/>
          <p:nvPr/>
        </p:nvSpPr>
        <p:spPr>
          <a:xfrm>
            <a:off x="4965526" y="1367135"/>
            <a:ext cx="633412" cy="461665"/>
          </a:xfrm>
          <a:prstGeom prst="rect">
            <a:avLst/>
          </a:prstGeom>
          <a:noFill/>
        </p:spPr>
        <p:txBody>
          <a:bodyPr wrap="square" rtlCol="0">
            <a:spAutoFit/>
          </a:bodyPr>
          <a:lstStyle/>
          <a:p>
            <a:r>
              <a:rPr lang="en-US" sz="2400"/>
              <a:t>A =</a:t>
            </a:r>
          </a:p>
        </p:txBody>
      </p:sp>
      <p:graphicFrame>
        <p:nvGraphicFramePr>
          <p:cNvPr id="58" name="Table 57"/>
          <p:cNvGraphicFramePr>
            <a:graphicFrameLocks noGrp="1"/>
          </p:cNvGraphicFramePr>
          <p:nvPr>
            <p:extLst>
              <p:ext uri="{D42A27DB-BD31-4B8C-83A1-F6EECF244321}">
                <p14:modId xmlns:p14="http://schemas.microsoft.com/office/powerpoint/2010/main" val="2016224813"/>
              </p:ext>
            </p:extLst>
          </p:nvPr>
        </p:nvGraphicFramePr>
        <p:xfrm>
          <a:off x="762000" y="3263504"/>
          <a:ext cx="3200400" cy="2527696"/>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P1</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2</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1</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2</a:t>
                      </a:r>
                    </a:p>
                  </a:txBody>
                  <a:tcPr anchor="ctr"/>
                </a:tc>
                <a:tc>
                  <a:txBody>
                    <a:bodyPr/>
                    <a:lstStyle/>
                    <a:p>
                      <a:pPr algn="ctr"/>
                      <a:r>
                        <a:rPr lang="en-US"/>
                        <a:t>2</a:t>
                      </a:r>
                    </a:p>
                  </a:txBody>
                  <a:tcPr anchor="ctr"/>
                </a:tc>
                <a:tc>
                  <a:txBody>
                    <a:bodyPr/>
                    <a:lstStyle/>
                    <a:p>
                      <a:pPr algn="ctr"/>
                      <a:r>
                        <a:rPr lang="en-US"/>
                        <a:t>2</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bl>
          </a:graphicData>
        </a:graphic>
      </p:graphicFrame>
      <p:sp>
        <p:nvSpPr>
          <p:cNvPr id="59" name="TextBox 58"/>
          <p:cNvSpPr txBox="1"/>
          <p:nvPr/>
        </p:nvSpPr>
        <p:spPr>
          <a:xfrm>
            <a:off x="140396" y="3606157"/>
            <a:ext cx="633412" cy="461665"/>
          </a:xfrm>
          <a:prstGeom prst="rect">
            <a:avLst/>
          </a:prstGeom>
          <a:noFill/>
        </p:spPr>
        <p:txBody>
          <a:bodyPr wrap="square" rtlCol="0">
            <a:spAutoFit/>
          </a:bodyPr>
          <a:lstStyle/>
          <a:p>
            <a:r>
              <a:rPr lang="en-US" sz="2400"/>
              <a:t>C =</a:t>
            </a:r>
          </a:p>
        </p:txBody>
      </p:sp>
      <p:sp>
        <p:nvSpPr>
          <p:cNvPr id="60" name="TextBox 59"/>
          <p:cNvSpPr txBox="1"/>
          <p:nvPr/>
        </p:nvSpPr>
        <p:spPr>
          <a:xfrm>
            <a:off x="4965526" y="3606157"/>
            <a:ext cx="633412" cy="461665"/>
          </a:xfrm>
          <a:prstGeom prst="rect">
            <a:avLst/>
          </a:prstGeom>
          <a:noFill/>
        </p:spPr>
        <p:txBody>
          <a:bodyPr wrap="square" rtlCol="0">
            <a:spAutoFit/>
          </a:bodyPr>
          <a:lstStyle/>
          <a:p>
            <a:r>
              <a:rPr lang="en-US" sz="2400"/>
              <a:t>R =</a:t>
            </a:r>
          </a:p>
        </p:txBody>
      </p:sp>
      <p:graphicFrame>
        <p:nvGraphicFramePr>
          <p:cNvPr id="61" name="Table 60"/>
          <p:cNvGraphicFramePr>
            <a:graphicFrameLocks noGrp="1"/>
          </p:cNvGraphicFramePr>
          <p:nvPr>
            <p:extLst>
              <p:ext uri="{D42A27DB-BD31-4B8C-83A1-F6EECF244321}">
                <p14:modId xmlns:p14="http://schemas.microsoft.com/office/powerpoint/2010/main" val="3254295400"/>
              </p:ext>
            </p:extLst>
          </p:nvPr>
        </p:nvGraphicFramePr>
        <p:xfrm>
          <a:off x="5605462" y="3253344"/>
          <a:ext cx="3200400" cy="2527696"/>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P1</a:t>
                      </a:r>
                    </a:p>
                  </a:txBody>
                  <a:tcPr anchor="ctr"/>
                </a:tc>
                <a:tc>
                  <a:txBody>
                    <a:bodyPr/>
                    <a:lstStyle/>
                    <a:p>
                      <a:pPr algn="ctr"/>
                      <a:r>
                        <a:rPr lang="en-US"/>
                        <a:t>2</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1</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1</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2</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bl>
          </a:graphicData>
        </a:graphic>
      </p:graphicFrame>
      <p:sp>
        <p:nvSpPr>
          <p:cNvPr id="62" name="TextBox 61"/>
          <p:cNvSpPr txBox="1"/>
          <p:nvPr/>
        </p:nvSpPr>
        <p:spPr>
          <a:xfrm>
            <a:off x="762000" y="2501900"/>
            <a:ext cx="2514600" cy="369332"/>
          </a:xfrm>
          <a:prstGeom prst="rect">
            <a:avLst/>
          </a:prstGeom>
          <a:noFill/>
        </p:spPr>
        <p:txBody>
          <a:bodyPr wrap="square" rtlCol="0">
            <a:spAutoFit/>
          </a:bodyPr>
          <a:lstStyle/>
          <a:p>
            <a:r>
              <a:rPr lang="en-US"/>
              <a:t>total no of each resource</a:t>
            </a:r>
          </a:p>
        </p:txBody>
      </p:sp>
      <p:sp>
        <p:nvSpPr>
          <p:cNvPr id="63" name="TextBox 62"/>
          <p:cNvSpPr txBox="1"/>
          <p:nvPr/>
        </p:nvSpPr>
        <p:spPr>
          <a:xfrm>
            <a:off x="5605462" y="2500314"/>
            <a:ext cx="2514600" cy="646331"/>
          </a:xfrm>
          <a:prstGeom prst="rect">
            <a:avLst/>
          </a:prstGeom>
          <a:noFill/>
        </p:spPr>
        <p:txBody>
          <a:bodyPr wrap="square" rtlCol="0">
            <a:spAutoFit/>
          </a:bodyPr>
          <a:lstStyle/>
          <a:p>
            <a:r>
              <a:rPr lang="en-US"/>
              <a:t>no of resources that are available (free)</a:t>
            </a:r>
          </a:p>
        </p:txBody>
      </p:sp>
      <p:sp>
        <p:nvSpPr>
          <p:cNvPr id="64" name="TextBox 63"/>
          <p:cNvSpPr txBox="1"/>
          <p:nvPr/>
        </p:nvSpPr>
        <p:spPr>
          <a:xfrm>
            <a:off x="762000" y="5791200"/>
            <a:ext cx="3187700" cy="646331"/>
          </a:xfrm>
          <a:prstGeom prst="rect">
            <a:avLst/>
          </a:prstGeom>
          <a:noFill/>
        </p:spPr>
        <p:txBody>
          <a:bodyPr wrap="square" rtlCol="0">
            <a:spAutoFit/>
          </a:bodyPr>
          <a:lstStyle/>
          <a:p>
            <a:r>
              <a:rPr lang="en-US"/>
              <a:t>no of resources held by each process</a:t>
            </a:r>
          </a:p>
        </p:txBody>
      </p:sp>
      <p:sp>
        <p:nvSpPr>
          <p:cNvPr id="65" name="TextBox 64"/>
          <p:cNvSpPr txBox="1"/>
          <p:nvPr/>
        </p:nvSpPr>
        <p:spPr>
          <a:xfrm>
            <a:off x="5605462" y="5777705"/>
            <a:ext cx="3157536" cy="646331"/>
          </a:xfrm>
          <a:prstGeom prst="rect">
            <a:avLst/>
          </a:prstGeom>
          <a:noFill/>
        </p:spPr>
        <p:txBody>
          <a:bodyPr wrap="square" rtlCol="0">
            <a:spAutoFit/>
          </a:bodyPr>
          <a:lstStyle/>
          <a:p>
            <a:r>
              <a:rPr lang="en-US"/>
              <a:t>no of resources still needed by each process to proceed</a:t>
            </a:r>
          </a:p>
        </p:txBody>
      </p:sp>
      <p:sp>
        <p:nvSpPr>
          <p:cNvPr id="66" name="Rounded Rectangle 65"/>
          <p:cNvSpPr/>
          <p:nvPr/>
        </p:nvSpPr>
        <p:spPr>
          <a:xfrm>
            <a:off x="5618159" y="4283869"/>
            <a:ext cx="3173415" cy="474688"/>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7" name="Rounded Rectangle 66"/>
          <p:cNvSpPr/>
          <p:nvPr/>
        </p:nvSpPr>
        <p:spPr>
          <a:xfrm>
            <a:off x="5615940" y="4785913"/>
            <a:ext cx="3175634" cy="475488"/>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ounded Rectangle 67"/>
          <p:cNvSpPr/>
          <p:nvPr/>
        </p:nvSpPr>
        <p:spPr>
          <a:xfrm>
            <a:off x="5617050" y="5288757"/>
            <a:ext cx="3175634" cy="475488"/>
          </a:xfrm>
          <a:prstGeom prst="roundRect">
            <a:avLst/>
          </a:prstGeom>
          <a:noFill/>
          <a:ln w="38100"/>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9" name="Oval 68"/>
          <p:cNvSpPr/>
          <p:nvPr/>
        </p:nvSpPr>
        <p:spPr>
          <a:xfrm>
            <a:off x="8328102" y="4363496"/>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0" name="Oval 69"/>
          <p:cNvSpPr/>
          <p:nvPr/>
        </p:nvSpPr>
        <p:spPr>
          <a:xfrm>
            <a:off x="7686152" y="4866752"/>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1" name="Oval 70"/>
          <p:cNvSpPr/>
          <p:nvPr/>
        </p:nvSpPr>
        <p:spPr>
          <a:xfrm>
            <a:off x="8337396" y="4865649"/>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4" name="TextBox 73"/>
          <p:cNvSpPr txBox="1"/>
          <p:nvPr/>
        </p:nvSpPr>
        <p:spPr>
          <a:xfrm>
            <a:off x="140396" y="1367135"/>
            <a:ext cx="633412" cy="461665"/>
          </a:xfrm>
          <a:prstGeom prst="rect">
            <a:avLst/>
          </a:prstGeom>
          <a:noFill/>
        </p:spPr>
        <p:txBody>
          <a:bodyPr wrap="square" rtlCol="0">
            <a:spAutoFit/>
          </a:bodyPr>
          <a:lstStyle/>
          <a:p>
            <a:r>
              <a:rPr lang="en-US" sz="2400"/>
              <a:t>T =</a:t>
            </a:r>
          </a:p>
        </p:txBody>
      </p:sp>
      <p:sp>
        <p:nvSpPr>
          <p:cNvPr id="23" name="Rounded Rectangle 22"/>
          <p:cNvSpPr/>
          <p:nvPr/>
        </p:nvSpPr>
        <p:spPr>
          <a:xfrm>
            <a:off x="774066" y="5288757"/>
            <a:ext cx="3175634" cy="475488"/>
          </a:xfrm>
          <a:prstGeom prst="roundRect">
            <a:avLst/>
          </a:prstGeom>
          <a:noFill/>
          <a:ln w="38100">
            <a:solidFill>
              <a:schemeClr val="accent4"/>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cxnSp>
        <p:nvCxnSpPr>
          <p:cNvPr id="24" name="Straight Arrow Connector 23"/>
          <p:cNvCxnSpPr/>
          <p:nvPr/>
        </p:nvCxnSpPr>
        <p:spPr>
          <a:xfrm flipV="1">
            <a:off x="3949700" y="2241550"/>
            <a:ext cx="1655762" cy="3324702"/>
          </a:xfrm>
          <a:prstGeom prst="straightConnector1">
            <a:avLst/>
          </a:prstGeom>
          <a:ln w="28575">
            <a:solidFill>
              <a:schemeClr val="tx2"/>
            </a:solidFill>
            <a:tailEnd type="triangle"/>
          </a:ln>
        </p:spPr>
        <p:style>
          <a:lnRef idx="2">
            <a:schemeClr val="accent2"/>
          </a:lnRef>
          <a:fillRef idx="0">
            <a:schemeClr val="accent2"/>
          </a:fillRef>
          <a:effectRef idx="1">
            <a:schemeClr val="accent2"/>
          </a:effectRef>
          <a:fontRef idx="minor">
            <a:schemeClr val="tx1"/>
          </a:fontRef>
        </p:style>
      </p:cxnSp>
      <p:sp>
        <p:nvSpPr>
          <p:cNvPr id="26" name="Rounded Rectangle 25"/>
          <p:cNvSpPr/>
          <p:nvPr/>
        </p:nvSpPr>
        <p:spPr>
          <a:xfrm>
            <a:off x="5615940" y="2021647"/>
            <a:ext cx="2537460" cy="475488"/>
          </a:xfrm>
          <a:prstGeom prst="roundRect">
            <a:avLst/>
          </a:prstGeom>
          <a:noFill/>
          <a:ln w="38100">
            <a:solidFill>
              <a:schemeClr val="accent4"/>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6911912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down)">
                                      <p:cBhvr>
                                        <p:cTn id="12" dur="500"/>
                                        <p:tgtEl>
                                          <p:spTgt spid="24"/>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a:t>Deadlock detection for multiple resources</a:t>
            </a:r>
            <a:endParaRPr lang="en-US"/>
          </a:p>
        </p:txBody>
      </p:sp>
      <p:graphicFrame>
        <p:nvGraphicFramePr>
          <p:cNvPr id="55" name="Table 54"/>
          <p:cNvGraphicFramePr>
            <a:graphicFrameLocks noGrp="1"/>
          </p:cNvGraphicFramePr>
          <p:nvPr>
            <p:extLst>
              <p:ext uri="{D42A27DB-BD31-4B8C-83A1-F6EECF244321}">
                <p14:modId xmlns:p14="http://schemas.microsoft.com/office/powerpoint/2010/main" val="659857123"/>
              </p:ext>
            </p:extLst>
          </p:nvPr>
        </p:nvGraphicFramePr>
        <p:xfrm>
          <a:off x="762000" y="990600"/>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4</a:t>
                      </a:r>
                    </a:p>
                  </a:txBody>
                  <a:tcPr anchor="ctr"/>
                </a:tc>
                <a:tc>
                  <a:txBody>
                    <a:bodyPr/>
                    <a:lstStyle/>
                    <a:p>
                      <a:pPr algn="ctr"/>
                      <a:r>
                        <a:rPr lang="en-US"/>
                        <a:t>2</a:t>
                      </a:r>
                    </a:p>
                  </a:txBody>
                  <a:tcPr anchor="ctr"/>
                </a:tc>
                <a:tc>
                  <a:txBody>
                    <a:bodyPr/>
                    <a:lstStyle/>
                    <a:p>
                      <a:pPr algn="ctr"/>
                      <a:r>
                        <a:rPr lang="en-US"/>
                        <a:t>3</a:t>
                      </a:r>
                    </a:p>
                  </a:txBody>
                  <a:tcPr anchor="ctr"/>
                </a:tc>
                <a:tc>
                  <a:txBody>
                    <a:bodyPr/>
                    <a:lstStyle/>
                    <a:p>
                      <a:pPr algn="ctr"/>
                      <a:r>
                        <a:rPr lang="en-US"/>
                        <a:t>1</a:t>
                      </a:r>
                    </a:p>
                  </a:txBody>
                  <a:tcPr anchor="ctr"/>
                </a:tc>
                <a:extLst>
                  <a:ext uri="{0D108BD9-81ED-4DB2-BD59-A6C34878D82A}">
                    <a16:rowId xmlns="" xmlns:a16="http://schemas.microsoft.com/office/drawing/2014/main" val="10001"/>
                  </a:ext>
                </a:extLst>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469541"/>
              </p:ext>
            </p:extLst>
          </p:nvPr>
        </p:nvGraphicFramePr>
        <p:xfrm>
          <a:off x="5605462" y="990600"/>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2</a:t>
                      </a:r>
                    </a:p>
                  </a:txBody>
                  <a:tcPr anchor="ctr"/>
                </a:tc>
                <a:tc>
                  <a:txBody>
                    <a:bodyPr/>
                    <a:lstStyle/>
                    <a:p>
                      <a:pPr algn="ctr"/>
                      <a:r>
                        <a:rPr lang="en-US"/>
                        <a:t>2</a:t>
                      </a:r>
                    </a:p>
                  </a:txBody>
                  <a:tcPr anchor="ctr"/>
                </a:tc>
                <a:tc>
                  <a:txBody>
                    <a:bodyPr/>
                    <a:lstStyle/>
                    <a:p>
                      <a:pPr algn="ctr"/>
                      <a:r>
                        <a:rPr lang="en-US"/>
                        <a:t>2</a:t>
                      </a:r>
                    </a:p>
                  </a:txBody>
                  <a:tcPr anchor="ctr"/>
                </a:tc>
                <a:tc>
                  <a:txBody>
                    <a:bodyPr/>
                    <a:lstStyle/>
                    <a:p>
                      <a:pPr algn="ctr"/>
                      <a:r>
                        <a:rPr lang="en-US"/>
                        <a:t>0</a:t>
                      </a:r>
                    </a:p>
                  </a:txBody>
                  <a:tcPr anchor="ctr"/>
                </a:tc>
                <a:extLst>
                  <a:ext uri="{0D108BD9-81ED-4DB2-BD59-A6C34878D82A}">
                    <a16:rowId xmlns="" xmlns:a16="http://schemas.microsoft.com/office/drawing/2014/main" val="10001"/>
                  </a:ext>
                </a:extLst>
              </a:tr>
            </a:tbl>
          </a:graphicData>
        </a:graphic>
      </p:graphicFrame>
      <p:sp>
        <p:nvSpPr>
          <p:cNvPr id="57" name="TextBox 56"/>
          <p:cNvSpPr txBox="1"/>
          <p:nvPr/>
        </p:nvSpPr>
        <p:spPr>
          <a:xfrm>
            <a:off x="4965526" y="1367135"/>
            <a:ext cx="633412" cy="461665"/>
          </a:xfrm>
          <a:prstGeom prst="rect">
            <a:avLst/>
          </a:prstGeom>
          <a:noFill/>
        </p:spPr>
        <p:txBody>
          <a:bodyPr wrap="square" rtlCol="0">
            <a:spAutoFit/>
          </a:bodyPr>
          <a:lstStyle/>
          <a:p>
            <a:r>
              <a:rPr lang="en-US" sz="2400"/>
              <a:t>A =</a:t>
            </a:r>
          </a:p>
        </p:txBody>
      </p:sp>
      <p:graphicFrame>
        <p:nvGraphicFramePr>
          <p:cNvPr id="58" name="Table 57"/>
          <p:cNvGraphicFramePr>
            <a:graphicFrameLocks noGrp="1"/>
          </p:cNvGraphicFramePr>
          <p:nvPr>
            <p:extLst>
              <p:ext uri="{D42A27DB-BD31-4B8C-83A1-F6EECF244321}">
                <p14:modId xmlns:p14="http://schemas.microsoft.com/office/powerpoint/2010/main" val="4245554966"/>
              </p:ext>
            </p:extLst>
          </p:nvPr>
        </p:nvGraphicFramePr>
        <p:xfrm>
          <a:off x="762000" y="3263504"/>
          <a:ext cx="3200400" cy="2527696"/>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P1</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2</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1</a:t>
                      </a:r>
                    </a:p>
                  </a:txBody>
                  <a:tcPr anchor="ctr"/>
                </a:tc>
                <a:extLst>
                  <a:ext uri="{0D108BD9-81ED-4DB2-BD59-A6C34878D82A}">
                    <a16:rowId xmlns="" xmlns:a16="http://schemas.microsoft.com/office/drawing/2014/main" val="10002"/>
                  </a:ext>
                </a:extLst>
              </a:tr>
              <a:tr h="506928">
                <a:tc>
                  <a:txBody>
                    <a:bodyPr/>
                    <a:lstStyle/>
                    <a:p>
                      <a:pPr algn="ctr"/>
                      <a:r>
                        <a:rPr lang="en-US" strike="sngStrike">
                          <a:solidFill>
                            <a:schemeClr val="bg1"/>
                          </a:solidFill>
                        </a:rPr>
                        <a:t>P3</a:t>
                      </a:r>
                    </a:p>
                  </a:txBody>
                  <a:tcPr anchor="ctr"/>
                </a:tc>
                <a:tc>
                  <a:txBody>
                    <a:bodyPr/>
                    <a:lstStyle/>
                    <a:p>
                      <a:pPr algn="ctr"/>
                      <a:r>
                        <a:rPr lang="en-US" strike="sngStrike">
                          <a:solidFill>
                            <a:schemeClr val="bg1"/>
                          </a:solidFill>
                        </a:rPr>
                        <a:t>0</a:t>
                      </a:r>
                    </a:p>
                  </a:txBody>
                  <a:tcPr anchor="ctr"/>
                </a:tc>
                <a:tc>
                  <a:txBody>
                    <a:bodyPr/>
                    <a:lstStyle/>
                    <a:p>
                      <a:pPr algn="ctr"/>
                      <a:r>
                        <a:rPr lang="en-US" strike="sngStrike">
                          <a:solidFill>
                            <a:schemeClr val="bg1"/>
                          </a:solidFill>
                        </a:rPr>
                        <a:t>0</a:t>
                      </a:r>
                    </a:p>
                  </a:txBody>
                  <a:tcPr anchor="ctr"/>
                </a:tc>
                <a:tc>
                  <a:txBody>
                    <a:bodyPr/>
                    <a:lstStyle/>
                    <a:p>
                      <a:pPr algn="ctr"/>
                      <a:r>
                        <a:rPr lang="en-US" strike="sngStrike">
                          <a:solidFill>
                            <a:schemeClr val="bg1"/>
                          </a:solidFill>
                        </a:rPr>
                        <a:t>0</a:t>
                      </a:r>
                    </a:p>
                  </a:txBody>
                  <a:tcPr anchor="ctr"/>
                </a:tc>
                <a:tc>
                  <a:txBody>
                    <a:bodyPr/>
                    <a:lstStyle/>
                    <a:p>
                      <a:pPr algn="ctr"/>
                      <a:r>
                        <a:rPr lang="en-US" strike="sngStrike">
                          <a:solidFill>
                            <a:schemeClr val="bg1"/>
                          </a:solidFill>
                        </a:rPr>
                        <a:t>0</a:t>
                      </a:r>
                    </a:p>
                  </a:txBody>
                  <a:tcPr anchor="ctr"/>
                </a:tc>
                <a:extLst>
                  <a:ext uri="{0D108BD9-81ED-4DB2-BD59-A6C34878D82A}">
                    <a16:rowId xmlns="" xmlns:a16="http://schemas.microsoft.com/office/drawing/2014/main" val="10003"/>
                  </a:ext>
                </a:extLst>
              </a:tr>
            </a:tbl>
          </a:graphicData>
        </a:graphic>
      </p:graphicFrame>
      <p:sp>
        <p:nvSpPr>
          <p:cNvPr id="59" name="TextBox 58"/>
          <p:cNvSpPr txBox="1"/>
          <p:nvPr/>
        </p:nvSpPr>
        <p:spPr>
          <a:xfrm>
            <a:off x="140396" y="3606157"/>
            <a:ext cx="633412" cy="461665"/>
          </a:xfrm>
          <a:prstGeom prst="rect">
            <a:avLst/>
          </a:prstGeom>
          <a:noFill/>
        </p:spPr>
        <p:txBody>
          <a:bodyPr wrap="square" rtlCol="0">
            <a:spAutoFit/>
          </a:bodyPr>
          <a:lstStyle/>
          <a:p>
            <a:r>
              <a:rPr lang="en-US" sz="2400"/>
              <a:t>C =</a:t>
            </a:r>
          </a:p>
        </p:txBody>
      </p:sp>
      <p:sp>
        <p:nvSpPr>
          <p:cNvPr id="60" name="TextBox 59"/>
          <p:cNvSpPr txBox="1"/>
          <p:nvPr/>
        </p:nvSpPr>
        <p:spPr>
          <a:xfrm>
            <a:off x="4965526" y="3606157"/>
            <a:ext cx="633412" cy="461665"/>
          </a:xfrm>
          <a:prstGeom prst="rect">
            <a:avLst/>
          </a:prstGeom>
          <a:noFill/>
        </p:spPr>
        <p:txBody>
          <a:bodyPr wrap="square" rtlCol="0">
            <a:spAutoFit/>
          </a:bodyPr>
          <a:lstStyle/>
          <a:p>
            <a:r>
              <a:rPr lang="en-US" sz="2400"/>
              <a:t>R =</a:t>
            </a:r>
          </a:p>
        </p:txBody>
      </p:sp>
      <p:graphicFrame>
        <p:nvGraphicFramePr>
          <p:cNvPr id="61" name="Table 60"/>
          <p:cNvGraphicFramePr>
            <a:graphicFrameLocks noGrp="1"/>
          </p:cNvGraphicFramePr>
          <p:nvPr>
            <p:extLst>
              <p:ext uri="{D42A27DB-BD31-4B8C-83A1-F6EECF244321}">
                <p14:modId xmlns:p14="http://schemas.microsoft.com/office/powerpoint/2010/main" val="2845748611"/>
              </p:ext>
            </p:extLst>
          </p:nvPr>
        </p:nvGraphicFramePr>
        <p:xfrm>
          <a:off x="5605462" y="3253344"/>
          <a:ext cx="3200400" cy="2527696"/>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P1</a:t>
                      </a:r>
                    </a:p>
                  </a:txBody>
                  <a:tcPr anchor="ctr"/>
                </a:tc>
                <a:tc>
                  <a:txBody>
                    <a:bodyPr/>
                    <a:lstStyle/>
                    <a:p>
                      <a:pPr algn="ctr"/>
                      <a:r>
                        <a:rPr lang="en-US"/>
                        <a:t>2</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1</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1</a:t>
                      </a:r>
                    </a:p>
                  </a:txBody>
                  <a:tcPr anchor="ctr"/>
                </a:tc>
                <a:extLst>
                  <a:ext uri="{0D108BD9-81ED-4DB2-BD59-A6C34878D82A}">
                    <a16:rowId xmlns="" xmlns:a16="http://schemas.microsoft.com/office/drawing/2014/main" val="10002"/>
                  </a:ext>
                </a:extLst>
              </a:tr>
              <a:tr h="506928">
                <a:tc>
                  <a:txBody>
                    <a:bodyPr/>
                    <a:lstStyle/>
                    <a:p>
                      <a:pPr algn="ctr"/>
                      <a:r>
                        <a:rPr lang="en-US" sz="1800" strike="sngStrike" kern="1200">
                          <a:solidFill>
                            <a:schemeClr val="bg1"/>
                          </a:solidFill>
                          <a:latin typeface="+mn-lt"/>
                          <a:ea typeface="+mn-ea"/>
                          <a:cs typeface="+mn-cs"/>
                        </a:rPr>
                        <a:t>P3</a:t>
                      </a:r>
                    </a:p>
                  </a:txBody>
                  <a:tcPr anchor="ctr"/>
                </a:tc>
                <a:tc>
                  <a:txBody>
                    <a:bodyPr/>
                    <a:lstStyle/>
                    <a:p>
                      <a:pPr algn="ctr"/>
                      <a:r>
                        <a:rPr lang="en-US" sz="1800" strike="sngStrike" kern="1200">
                          <a:solidFill>
                            <a:schemeClr val="bg1"/>
                          </a:solidFill>
                          <a:latin typeface="+mn-lt"/>
                          <a:ea typeface="+mn-ea"/>
                          <a:cs typeface="+mn-cs"/>
                        </a:rPr>
                        <a:t>2</a:t>
                      </a:r>
                    </a:p>
                  </a:txBody>
                  <a:tcPr anchor="ctr"/>
                </a:tc>
                <a:tc>
                  <a:txBody>
                    <a:bodyPr/>
                    <a:lstStyle/>
                    <a:p>
                      <a:pPr algn="ctr"/>
                      <a:r>
                        <a:rPr lang="en-US" sz="1800" strike="sngStrike" kern="1200">
                          <a:solidFill>
                            <a:schemeClr val="bg1"/>
                          </a:solidFill>
                          <a:latin typeface="+mn-lt"/>
                          <a:ea typeface="+mn-ea"/>
                          <a:cs typeface="+mn-cs"/>
                        </a:rPr>
                        <a:t>1</a:t>
                      </a:r>
                    </a:p>
                  </a:txBody>
                  <a:tcPr anchor="ctr"/>
                </a:tc>
                <a:tc>
                  <a:txBody>
                    <a:bodyPr/>
                    <a:lstStyle/>
                    <a:p>
                      <a:pPr algn="ctr"/>
                      <a:r>
                        <a:rPr lang="en-US" sz="1800" strike="sngStrike" kern="1200">
                          <a:solidFill>
                            <a:schemeClr val="bg1"/>
                          </a:solidFill>
                          <a:latin typeface="+mn-lt"/>
                          <a:ea typeface="+mn-ea"/>
                          <a:cs typeface="+mn-cs"/>
                        </a:rPr>
                        <a:t>0</a:t>
                      </a:r>
                    </a:p>
                  </a:txBody>
                  <a:tcPr anchor="ctr"/>
                </a:tc>
                <a:tc>
                  <a:txBody>
                    <a:bodyPr/>
                    <a:lstStyle/>
                    <a:p>
                      <a:pPr algn="ctr"/>
                      <a:r>
                        <a:rPr lang="en-US" sz="1800" strike="sngStrike" kern="1200">
                          <a:solidFill>
                            <a:schemeClr val="bg1"/>
                          </a:solidFill>
                          <a:latin typeface="+mn-lt"/>
                          <a:ea typeface="+mn-ea"/>
                          <a:cs typeface="+mn-cs"/>
                        </a:rPr>
                        <a:t>0</a:t>
                      </a:r>
                    </a:p>
                  </a:txBody>
                  <a:tcPr anchor="ctr"/>
                </a:tc>
                <a:extLst>
                  <a:ext uri="{0D108BD9-81ED-4DB2-BD59-A6C34878D82A}">
                    <a16:rowId xmlns="" xmlns:a16="http://schemas.microsoft.com/office/drawing/2014/main" val="10003"/>
                  </a:ext>
                </a:extLst>
              </a:tr>
            </a:tbl>
          </a:graphicData>
        </a:graphic>
      </p:graphicFrame>
      <p:sp>
        <p:nvSpPr>
          <p:cNvPr id="62" name="TextBox 61"/>
          <p:cNvSpPr txBox="1"/>
          <p:nvPr/>
        </p:nvSpPr>
        <p:spPr>
          <a:xfrm>
            <a:off x="762000" y="2501900"/>
            <a:ext cx="2514600" cy="369332"/>
          </a:xfrm>
          <a:prstGeom prst="rect">
            <a:avLst/>
          </a:prstGeom>
          <a:noFill/>
        </p:spPr>
        <p:txBody>
          <a:bodyPr wrap="square" rtlCol="0">
            <a:spAutoFit/>
          </a:bodyPr>
          <a:lstStyle/>
          <a:p>
            <a:r>
              <a:rPr lang="en-US"/>
              <a:t>total no of each resource</a:t>
            </a:r>
          </a:p>
        </p:txBody>
      </p:sp>
      <p:sp>
        <p:nvSpPr>
          <p:cNvPr id="63" name="TextBox 62"/>
          <p:cNvSpPr txBox="1"/>
          <p:nvPr/>
        </p:nvSpPr>
        <p:spPr>
          <a:xfrm>
            <a:off x="5605462" y="2500314"/>
            <a:ext cx="2514600" cy="646331"/>
          </a:xfrm>
          <a:prstGeom prst="rect">
            <a:avLst/>
          </a:prstGeom>
          <a:noFill/>
        </p:spPr>
        <p:txBody>
          <a:bodyPr wrap="square" rtlCol="0">
            <a:spAutoFit/>
          </a:bodyPr>
          <a:lstStyle/>
          <a:p>
            <a:r>
              <a:rPr lang="en-US"/>
              <a:t>no of resources that are available (free)</a:t>
            </a:r>
          </a:p>
        </p:txBody>
      </p:sp>
      <p:sp>
        <p:nvSpPr>
          <p:cNvPr id="64" name="TextBox 63"/>
          <p:cNvSpPr txBox="1"/>
          <p:nvPr/>
        </p:nvSpPr>
        <p:spPr>
          <a:xfrm>
            <a:off x="762000" y="5791200"/>
            <a:ext cx="3187700" cy="646331"/>
          </a:xfrm>
          <a:prstGeom prst="rect">
            <a:avLst/>
          </a:prstGeom>
          <a:noFill/>
        </p:spPr>
        <p:txBody>
          <a:bodyPr wrap="square" rtlCol="0">
            <a:spAutoFit/>
          </a:bodyPr>
          <a:lstStyle/>
          <a:p>
            <a:r>
              <a:rPr lang="en-US"/>
              <a:t>no of resources held by each process</a:t>
            </a:r>
          </a:p>
        </p:txBody>
      </p:sp>
      <p:sp>
        <p:nvSpPr>
          <p:cNvPr id="65" name="TextBox 64"/>
          <p:cNvSpPr txBox="1"/>
          <p:nvPr/>
        </p:nvSpPr>
        <p:spPr>
          <a:xfrm>
            <a:off x="5605462" y="5777705"/>
            <a:ext cx="3157536" cy="646331"/>
          </a:xfrm>
          <a:prstGeom prst="rect">
            <a:avLst/>
          </a:prstGeom>
          <a:noFill/>
        </p:spPr>
        <p:txBody>
          <a:bodyPr wrap="square" rtlCol="0">
            <a:spAutoFit/>
          </a:bodyPr>
          <a:lstStyle/>
          <a:p>
            <a:r>
              <a:rPr lang="en-US"/>
              <a:t>no of resources still needed by each process to proceed</a:t>
            </a:r>
          </a:p>
        </p:txBody>
      </p:sp>
      <p:sp>
        <p:nvSpPr>
          <p:cNvPr id="66" name="Rounded Rectangle 65"/>
          <p:cNvSpPr/>
          <p:nvPr/>
        </p:nvSpPr>
        <p:spPr>
          <a:xfrm>
            <a:off x="5618159" y="4283869"/>
            <a:ext cx="3173415" cy="474688"/>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7" name="Rounded Rectangle 66"/>
          <p:cNvSpPr/>
          <p:nvPr/>
        </p:nvSpPr>
        <p:spPr>
          <a:xfrm>
            <a:off x="5615940" y="4785913"/>
            <a:ext cx="3175634" cy="475488"/>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9" name="Oval 68"/>
          <p:cNvSpPr/>
          <p:nvPr/>
        </p:nvSpPr>
        <p:spPr>
          <a:xfrm>
            <a:off x="8328102" y="4363496"/>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0" name="Oval 69"/>
          <p:cNvSpPr/>
          <p:nvPr/>
        </p:nvSpPr>
        <p:spPr>
          <a:xfrm>
            <a:off x="7686152" y="4866752"/>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1" name="Oval 70"/>
          <p:cNvSpPr/>
          <p:nvPr/>
        </p:nvSpPr>
        <p:spPr>
          <a:xfrm>
            <a:off x="8337396" y="4865649"/>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4" name="TextBox 73"/>
          <p:cNvSpPr txBox="1"/>
          <p:nvPr/>
        </p:nvSpPr>
        <p:spPr>
          <a:xfrm>
            <a:off x="140396" y="1367135"/>
            <a:ext cx="633412" cy="461665"/>
          </a:xfrm>
          <a:prstGeom prst="rect">
            <a:avLst/>
          </a:prstGeom>
          <a:noFill/>
        </p:spPr>
        <p:txBody>
          <a:bodyPr wrap="square" rtlCol="0">
            <a:spAutoFit/>
          </a:bodyPr>
          <a:lstStyle/>
          <a:p>
            <a:r>
              <a:rPr lang="en-US" sz="2400"/>
              <a:t>T =</a:t>
            </a:r>
          </a:p>
        </p:txBody>
      </p:sp>
      <p:sp>
        <p:nvSpPr>
          <p:cNvPr id="25" name="Left Brace 24"/>
          <p:cNvSpPr/>
          <p:nvPr/>
        </p:nvSpPr>
        <p:spPr>
          <a:xfrm>
            <a:off x="5286951" y="4293457"/>
            <a:ext cx="308573" cy="962548"/>
          </a:xfrm>
          <a:prstGeom prst="leftBrace">
            <a:avLst/>
          </a:prstGeom>
          <a:ln w="28575">
            <a:solidFill>
              <a:schemeClr val="accent6"/>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27" name="TextBox 26"/>
          <p:cNvSpPr txBox="1"/>
          <p:nvPr/>
        </p:nvSpPr>
        <p:spPr>
          <a:xfrm>
            <a:off x="3992467" y="4583017"/>
            <a:ext cx="1259242" cy="369332"/>
          </a:xfrm>
          <a:prstGeom prst="rect">
            <a:avLst/>
          </a:prstGeom>
          <a:noFill/>
        </p:spPr>
        <p:txBody>
          <a:bodyPr wrap="square" rtlCol="0">
            <a:spAutoFit/>
          </a:bodyPr>
          <a:lstStyle/>
          <a:p>
            <a:pPr algn="ctr"/>
            <a:r>
              <a:rPr lang="en-US"/>
              <a:t>DEADLOCK</a:t>
            </a:r>
            <a:endParaRPr lang="en-IN"/>
          </a:p>
        </p:txBody>
      </p:sp>
      <p:pic>
        <p:nvPicPr>
          <p:cNvPr id="28" name="Picture 27"/>
          <p:cNvPicPr>
            <a:picLocks noChangeAspect="1"/>
          </p:cNvPicPr>
          <p:nvPr/>
        </p:nvPicPr>
        <p:blipFill>
          <a:blip r:embed="rId2" cstate="print">
            <a:extLst>
              <a:ext uri="{28A0092B-C50C-407E-A947-70E740481C1C}">
                <a14:useLocalDpi xmlns:a14="http://schemas.microsoft.com/office/drawing/2010/main" val="0"/>
              </a:ext>
            </a:extLst>
          </a:blip>
          <a:srcRect l="10714" t="8656" r="10714" b="9201"/>
          <a:stretch>
            <a:fillRect/>
          </a:stretch>
        </p:blipFill>
        <p:spPr>
          <a:xfrm>
            <a:off x="4103102" y="4895844"/>
            <a:ext cx="1093686" cy="1143399"/>
          </a:xfrm>
          <a:prstGeom prst="rect">
            <a:avLst/>
          </a:prstGeom>
        </p:spPr>
      </p:pic>
    </p:spTree>
    <p:extLst>
      <p:ext uri="{BB962C8B-B14F-4D97-AF65-F5344CB8AC3E}">
        <p14:creationId xmlns:p14="http://schemas.microsoft.com/office/powerpoint/2010/main" val="23348309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53" presetClass="entr" presetSubtype="16"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p:cTn id="11" dur="500" fill="hold"/>
                                        <p:tgtEl>
                                          <p:spTgt spid="28"/>
                                        </p:tgtEl>
                                        <p:attrNameLst>
                                          <p:attrName>ppt_w</p:attrName>
                                        </p:attrNameLst>
                                      </p:cBhvr>
                                      <p:tavLst>
                                        <p:tav tm="0">
                                          <p:val>
                                            <p:fltVal val="0"/>
                                          </p:val>
                                        </p:tav>
                                        <p:tav tm="100000">
                                          <p:val>
                                            <p:strVal val="#ppt_w"/>
                                          </p:val>
                                        </p:tav>
                                      </p:tavLst>
                                    </p:anim>
                                    <p:anim calcmode="lin" valueType="num">
                                      <p:cBhvr>
                                        <p:cTn id="12" dur="500" fill="hold"/>
                                        <p:tgtEl>
                                          <p:spTgt spid="28"/>
                                        </p:tgtEl>
                                        <p:attrNameLst>
                                          <p:attrName>ppt_h</p:attrName>
                                        </p:attrNameLst>
                                      </p:cBhvr>
                                      <p:tavLst>
                                        <p:tav tm="0">
                                          <p:val>
                                            <p:fltVal val="0"/>
                                          </p:val>
                                        </p:tav>
                                        <p:tav tm="100000">
                                          <p:val>
                                            <p:strVal val="#ppt_h"/>
                                          </p:val>
                                        </p:tav>
                                      </p:tavLst>
                                    </p:anim>
                                    <p:animEffect transition="in" filter="fade">
                                      <p:cBhvr>
                                        <p:cTn id="1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Deadlock recovery</a:t>
            </a:r>
          </a:p>
        </p:txBody>
      </p:sp>
      <p:sp>
        <p:nvSpPr>
          <p:cNvPr id="3" name="Content Placeholder 2"/>
          <p:cNvSpPr>
            <a:spLocks noGrp="1"/>
          </p:cNvSpPr>
          <p:nvPr>
            <p:ph idx="1"/>
          </p:nvPr>
        </p:nvSpPr>
        <p:spPr>
          <a:xfrm>
            <a:off x="126127" y="863445"/>
            <a:ext cx="8629128" cy="2297484"/>
          </a:xfrm>
        </p:spPr>
        <p:txBody>
          <a:bodyPr/>
          <a:lstStyle/>
          <a:p>
            <a:pPr marL="457200" indent="-457200">
              <a:buFont typeface="+mj-lt"/>
              <a:buAutoNum type="arabicPeriod"/>
            </a:pPr>
            <a:r>
              <a:rPr lang="en-US"/>
              <a:t>Recovery through pre-emption</a:t>
            </a:r>
          </a:p>
          <a:p>
            <a:pPr lvl="1"/>
            <a:r>
              <a:rPr lang="en-US"/>
              <a:t>In this method </a:t>
            </a:r>
            <a:r>
              <a:rPr lang="en-US" b="1">
                <a:solidFill>
                  <a:schemeClr val="accent6"/>
                </a:solidFill>
              </a:rPr>
              <a:t>resources are temporarily taken away from its current owner and give it to another process</a:t>
            </a:r>
            <a:r>
              <a:rPr lang="en-US"/>
              <a:t>.</a:t>
            </a:r>
          </a:p>
          <a:p>
            <a:pPr lvl="1"/>
            <a:r>
              <a:rPr lang="en-US"/>
              <a:t>The ability to take a resource away from a process, have another process use it, and then give it back without the process noticing it is </a:t>
            </a:r>
            <a:r>
              <a:rPr lang="en-US" b="1">
                <a:solidFill>
                  <a:schemeClr val="accent6"/>
                </a:solidFill>
              </a:rPr>
              <a:t>highly dependent on the nature of the resource</a:t>
            </a:r>
            <a:r>
              <a:rPr lang="en-US"/>
              <a:t>.</a:t>
            </a:r>
          </a:p>
          <a:p>
            <a:pPr lvl="1"/>
            <a:r>
              <a:rPr lang="en-US"/>
              <a:t>Recovering this way is frequently </a:t>
            </a:r>
            <a:r>
              <a:rPr lang="en-US" b="1">
                <a:solidFill>
                  <a:schemeClr val="accent6"/>
                </a:solidFill>
              </a:rPr>
              <a:t>difficult or impossible</a:t>
            </a:r>
            <a:r>
              <a:rPr lang="en-US"/>
              <a:t>. </a:t>
            </a:r>
          </a:p>
        </p:txBody>
      </p:sp>
      <p:sp>
        <p:nvSpPr>
          <p:cNvPr id="51" name="Oval 50"/>
          <p:cNvSpPr/>
          <p:nvPr/>
        </p:nvSpPr>
        <p:spPr>
          <a:xfrm>
            <a:off x="10144606" y="863444"/>
            <a:ext cx="604345" cy="5715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P1</a:t>
            </a:r>
          </a:p>
        </p:txBody>
      </p:sp>
      <p:sp>
        <p:nvSpPr>
          <p:cNvPr id="52" name="Oval 51"/>
          <p:cNvSpPr/>
          <p:nvPr/>
        </p:nvSpPr>
        <p:spPr>
          <a:xfrm>
            <a:off x="10144606" y="2425544"/>
            <a:ext cx="604345" cy="5715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P2</a:t>
            </a:r>
          </a:p>
        </p:txBody>
      </p:sp>
      <p:sp>
        <p:nvSpPr>
          <p:cNvPr id="53" name="Rectangle 52"/>
          <p:cNvSpPr/>
          <p:nvPr/>
        </p:nvSpPr>
        <p:spPr>
          <a:xfrm>
            <a:off x="8996352" y="1701576"/>
            <a:ext cx="609600" cy="571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R1</a:t>
            </a:r>
          </a:p>
        </p:txBody>
      </p:sp>
      <p:sp>
        <p:nvSpPr>
          <p:cNvPr id="54" name="Rectangle 53"/>
          <p:cNvSpPr/>
          <p:nvPr/>
        </p:nvSpPr>
        <p:spPr>
          <a:xfrm>
            <a:off x="11287606" y="1701576"/>
            <a:ext cx="609600" cy="571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R2</a:t>
            </a:r>
          </a:p>
        </p:txBody>
      </p:sp>
      <p:cxnSp>
        <p:nvCxnSpPr>
          <p:cNvPr id="55" name="Curved Connector 54"/>
          <p:cNvCxnSpPr>
            <a:stCxn id="54" idx="2"/>
            <a:endCxn id="52" idx="6"/>
          </p:cNvCxnSpPr>
          <p:nvPr/>
        </p:nvCxnSpPr>
        <p:spPr>
          <a:xfrm rot="5400000">
            <a:off x="10951570" y="2070458"/>
            <a:ext cx="438218" cy="843455"/>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urved Connector 55"/>
          <p:cNvCxnSpPr>
            <a:stCxn id="54" idx="0"/>
          </p:cNvCxnSpPr>
          <p:nvPr/>
        </p:nvCxnSpPr>
        <p:spPr>
          <a:xfrm rot="16200000" flipV="1">
            <a:off x="10905526" y="1014695"/>
            <a:ext cx="543006" cy="830755"/>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urved Connector 56"/>
          <p:cNvCxnSpPr>
            <a:stCxn id="53" idx="0"/>
            <a:endCxn id="51" idx="2"/>
          </p:cNvCxnSpPr>
          <p:nvPr/>
        </p:nvCxnSpPr>
        <p:spPr>
          <a:xfrm rot="5400000" flipH="1" flipV="1">
            <a:off x="9446688" y="1003658"/>
            <a:ext cx="552382" cy="843454"/>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urved Connector 57"/>
          <p:cNvCxnSpPr/>
          <p:nvPr/>
        </p:nvCxnSpPr>
        <p:spPr>
          <a:xfrm>
            <a:off x="10748951" y="1149196"/>
            <a:ext cx="843455" cy="552382"/>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9169335" y="1017382"/>
            <a:ext cx="566244" cy="307777"/>
          </a:xfrm>
          <a:prstGeom prst="rect">
            <a:avLst/>
          </a:prstGeom>
          <a:noFill/>
          <a:ln>
            <a:noFill/>
          </a:ln>
        </p:spPr>
        <p:txBody>
          <a:bodyPr wrap="square" rtlCol="0">
            <a:spAutoFit/>
          </a:bodyPr>
          <a:lstStyle/>
          <a:p>
            <a:pPr algn="r"/>
            <a:r>
              <a:rPr lang="en-US" sz="1400"/>
              <a:t>Hold</a:t>
            </a:r>
          </a:p>
        </p:txBody>
      </p:sp>
      <p:sp>
        <p:nvSpPr>
          <p:cNvPr id="60" name="TextBox 59"/>
          <p:cNvSpPr txBox="1"/>
          <p:nvPr/>
        </p:nvSpPr>
        <p:spPr>
          <a:xfrm>
            <a:off x="11049483" y="2593273"/>
            <a:ext cx="566244" cy="307777"/>
          </a:xfrm>
          <a:prstGeom prst="rect">
            <a:avLst/>
          </a:prstGeom>
          <a:noFill/>
          <a:ln>
            <a:noFill/>
          </a:ln>
        </p:spPr>
        <p:txBody>
          <a:bodyPr wrap="square" rtlCol="0">
            <a:spAutoFit/>
          </a:bodyPr>
          <a:lstStyle/>
          <a:p>
            <a:r>
              <a:rPr lang="en-US" sz="1400"/>
              <a:t>Hold</a:t>
            </a:r>
          </a:p>
        </p:txBody>
      </p:sp>
      <p:sp>
        <p:nvSpPr>
          <p:cNvPr id="62" name="TextBox 61"/>
          <p:cNvSpPr txBox="1"/>
          <p:nvPr/>
        </p:nvSpPr>
        <p:spPr>
          <a:xfrm>
            <a:off x="11053749" y="1004682"/>
            <a:ext cx="838199" cy="307777"/>
          </a:xfrm>
          <a:prstGeom prst="rect">
            <a:avLst/>
          </a:prstGeom>
          <a:noFill/>
          <a:ln>
            <a:noFill/>
          </a:ln>
        </p:spPr>
        <p:txBody>
          <a:bodyPr wrap="square" rtlCol="0">
            <a:spAutoFit/>
          </a:bodyPr>
          <a:lstStyle/>
          <a:p>
            <a:r>
              <a:rPr lang="en-US" sz="1400"/>
              <a:t>Request</a:t>
            </a:r>
          </a:p>
        </p:txBody>
      </p:sp>
      <p:cxnSp>
        <p:nvCxnSpPr>
          <p:cNvPr id="64" name="Straight Connector 63"/>
          <p:cNvCxnSpPr/>
          <p:nvPr/>
        </p:nvCxnSpPr>
        <p:spPr>
          <a:xfrm>
            <a:off x="6489814" y="3987644"/>
            <a:ext cx="557784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H="1">
            <a:off x="8166214" y="3759044"/>
            <a:ext cx="0" cy="147600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9690214" y="3759044"/>
            <a:ext cx="0" cy="147600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67" name="Oval 66"/>
          <p:cNvSpPr/>
          <p:nvPr/>
        </p:nvSpPr>
        <p:spPr>
          <a:xfrm>
            <a:off x="6479915" y="3443261"/>
            <a:ext cx="540000" cy="54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a:t>
            </a:r>
            <a:endParaRPr lang="en-IN"/>
          </a:p>
        </p:txBody>
      </p:sp>
      <p:sp>
        <p:nvSpPr>
          <p:cNvPr id="68" name="Rectangle 67"/>
          <p:cNvSpPr/>
          <p:nvPr/>
        </p:nvSpPr>
        <p:spPr>
          <a:xfrm>
            <a:off x="7464372" y="5256193"/>
            <a:ext cx="1403684" cy="581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First</a:t>
            </a:r>
          </a:p>
          <a:p>
            <a:pPr algn="ctr"/>
            <a:r>
              <a:rPr lang="en-US">
                <a:solidFill>
                  <a:schemeClr val="tx1"/>
                </a:solidFill>
              </a:rPr>
              <a:t>Checkpoints</a:t>
            </a:r>
            <a:endParaRPr lang="en-IN">
              <a:solidFill>
                <a:schemeClr val="tx1"/>
              </a:solidFill>
            </a:endParaRPr>
          </a:p>
        </p:txBody>
      </p:sp>
      <p:sp>
        <p:nvSpPr>
          <p:cNvPr id="69" name="Rectangle 68"/>
          <p:cNvSpPr/>
          <p:nvPr/>
        </p:nvSpPr>
        <p:spPr>
          <a:xfrm>
            <a:off x="8988372" y="5256193"/>
            <a:ext cx="1403684" cy="581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Second</a:t>
            </a:r>
          </a:p>
          <a:p>
            <a:pPr algn="ctr"/>
            <a:r>
              <a:rPr lang="en-US">
                <a:solidFill>
                  <a:schemeClr val="tx1"/>
                </a:solidFill>
              </a:rPr>
              <a:t>Checkpoints</a:t>
            </a:r>
            <a:endParaRPr lang="en-IN">
              <a:solidFill>
                <a:schemeClr val="tx1"/>
              </a:solidFill>
            </a:endParaRPr>
          </a:p>
        </p:txBody>
      </p:sp>
      <p:sp>
        <p:nvSpPr>
          <p:cNvPr id="70" name="Oval 69"/>
          <p:cNvSpPr/>
          <p:nvPr/>
        </p:nvSpPr>
        <p:spPr>
          <a:xfrm>
            <a:off x="7893349" y="3432278"/>
            <a:ext cx="540000" cy="54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a:t>
            </a:r>
            <a:endParaRPr lang="en-IN"/>
          </a:p>
        </p:txBody>
      </p:sp>
      <p:sp>
        <p:nvSpPr>
          <p:cNvPr id="71" name="Oval 70"/>
          <p:cNvSpPr/>
          <p:nvPr/>
        </p:nvSpPr>
        <p:spPr>
          <a:xfrm>
            <a:off x="9420214" y="3444082"/>
            <a:ext cx="540000" cy="54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a:t>
            </a:r>
            <a:endParaRPr lang="en-IN"/>
          </a:p>
        </p:txBody>
      </p:sp>
      <p:sp>
        <p:nvSpPr>
          <p:cNvPr id="72" name="TextBox 71"/>
          <p:cNvSpPr txBox="1"/>
          <p:nvPr/>
        </p:nvSpPr>
        <p:spPr>
          <a:xfrm>
            <a:off x="7902213" y="4060145"/>
            <a:ext cx="533400" cy="369332"/>
          </a:xfrm>
          <a:prstGeom prst="rect">
            <a:avLst/>
          </a:prstGeom>
          <a:solidFill>
            <a:schemeClr val="accent6">
              <a:lumMod val="20000"/>
              <a:lumOff val="80000"/>
            </a:schemeClr>
          </a:solid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F1</a:t>
            </a:r>
            <a:endParaRPr lang="en-IN"/>
          </a:p>
        </p:txBody>
      </p:sp>
      <p:sp>
        <p:nvSpPr>
          <p:cNvPr id="73" name="TextBox 72"/>
          <p:cNvSpPr txBox="1"/>
          <p:nvPr/>
        </p:nvSpPr>
        <p:spPr>
          <a:xfrm>
            <a:off x="9425404" y="4060145"/>
            <a:ext cx="533400" cy="369332"/>
          </a:xfrm>
          <a:prstGeom prst="rect">
            <a:avLst/>
          </a:prstGeom>
          <a:solidFill>
            <a:schemeClr val="accent6">
              <a:lumMod val="20000"/>
              <a:lumOff val="80000"/>
            </a:schemeClr>
          </a:solid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F2</a:t>
            </a:r>
            <a:endParaRPr lang="en-IN"/>
          </a:p>
        </p:txBody>
      </p:sp>
      <p:sp>
        <p:nvSpPr>
          <p:cNvPr id="74" name="Flowchart: Magnetic Disk 73"/>
          <p:cNvSpPr/>
          <p:nvPr/>
        </p:nvSpPr>
        <p:spPr>
          <a:xfrm>
            <a:off x="11138014" y="4206312"/>
            <a:ext cx="609600" cy="508532"/>
          </a:xfrm>
          <a:prstGeom prst="flowChartMagneticDisk">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a:t>
            </a:r>
            <a:endParaRPr lang="en-IN"/>
          </a:p>
        </p:txBody>
      </p:sp>
      <p:cxnSp>
        <p:nvCxnSpPr>
          <p:cNvPr id="75" name="Straight Arrow Connector 74"/>
          <p:cNvCxnSpPr>
            <a:stCxn id="74" idx="1"/>
          </p:cNvCxnSpPr>
          <p:nvPr/>
        </p:nvCxnSpPr>
        <p:spPr>
          <a:xfrm flipH="1" flipV="1">
            <a:off x="11442814" y="3994244"/>
            <a:ext cx="0" cy="212068"/>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6" name="Oval 75"/>
          <p:cNvSpPr/>
          <p:nvPr/>
        </p:nvSpPr>
        <p:spPr>
          <a:xfrm>
            <a:off x="11185264" y="5089244"/>
            <a:ext cx="540000" cy="54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B</a:t>
            </a:r>
            <a:endParaRPr lang="en-IN"/>
          </a:p>
        </p:txBody>
      </p:sp>
      <p:sp>
        <p:nvSpPr>
          <p:cNvPr id="77" name="Flowchart: Magnetic Disk 76"/>
          <p:cNvSpPr/>
          <p:nvPr/>
        </p:nvSpPr>
        <p:spPr>
          <a:xfrm>
            <a:off x="8623414" y="4206312"/>
            <a:ext cx="609600" cy="508532"/>
          </a:xfrm>
          <a:prstGeom prst="flowChartMagneticDisk">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a:t>
            </a:r>
            <a:endParaRPr lang="en-IN"/>
          </a:p>
        </p:txBody>
      </p:sp>
      <p:cxnSp>
        <p:nvCxnSpPr>
          <p:cNvPr id="78" name="Straight Arrow Connector 77"/>
          <p:cNvCxnSpPr>
            <a:stCxn id="77" idx="1"/>
          </p:cNvCxnSpPr>
          <p:nvPr/>
        </p:nvCxnSpPr>
        <p:spPr>
          <a:xfrm flipH="1" flipV="1">
            <a:off x="8928214" y="3689444"/>
            <a:ext cx="0" cy="516868"/>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H="1" flipV="1">
            <a:off x="11443201" y="4721683"/>
            <a:ext cx="6350" cy="374400"/>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80" name="Oval 79"/>
          <p:cNvSpPr/>
          <p:nvPr/>
        </p:nvSpPr>
        <p:spPr>
          <a:xfrm>
            <a:off x="7801256" y="3205809"/>
            <a:ext cx="745524" cy="208794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1" name="Straight Arrow Connector 80"/>
          <p:cNvCxnSpPr/>
          <p:nvPr/>
        </p:nvCxnSpPr>
        <p:spPr>
          <a:xfrm>
            <a:off x="11440151" y="4721683"/>
            <a:ext cx="12450" cy="374400"/>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7893349" y="3443261"/>
            <a:ext cx="540000" cy="54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a:t>
            </a:r>
            <a:endParaRPr lang="en-IN"/>
          </a:p>
        </p:txBody>
      </p:sp>
      <p:sp>
        <p:nvSpPr>
          <p:cNvPr id="83" name="Content Placeholder 2"/>
          <p:cNvSpPr txBox="1"/>
          <p:nvPr/>
        </p:nvSpPr>
        <p:spPr>
          <a:xfrm>
            <a:off x="126127" y="3348302"/>
            <a:ext cx="5662647" cy="315409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2"/>
            </a:pPr>
            <a:r>
              <a:rPr lang="en-US"/>
              <a:t>Recovery through rollback</a:t>
            </a:r>
          </a:p>
          <a:p>
            <a:pPr lvl="1"/>
            <a:r>
              <a:rPr lang="en-US" b="1">
                <a:solidFill>
                  <a:schemeClr val="accent6"/>
                </a:solidFill>
              </a:rPr>
              <a:t>PCB (Process Control Block) </a:t>
            </a:r>
            <a:r>
              <a:rPr lang="en-US"/>
              <a:t>and </a:t>
            </a:r>
            <a:r>
              <a:rPr lang="en-US" b="1">
                <a:solidFill>
                  <a:schemeClr val="accent6"/>
                </a:solidFill>
              </a:rPr>
              <a:t>resource state</a:t>
            </a:r>
            <a:r>
              <a:rPr lang="en-US"/>
              <a:t> are </a:t>
            </a:r>
            <a:r>
              <a:rPr lang="en-US" b="1">
                <a:solidFill>
                  <a:schemeClr val="accent6"/>
                </a:solidFill>
              </a:rPr>
              <a:t>periodically saved </a:t>
            </a:r>
            <a:r>
              <a:rPr lang="en-US"/>
              <a:t>at “</a:t>
            </a:r>
            <a:r>
              <a:rPr lang="en-US" b="1">
                <a:solidFill>
                  <a:schemeClr val="accent6"/>
                </a:solidFill>
              </a:rPr>
              <a:t>checkpoint</a:t>
            </a:r>
            <a:r>
              <a:rPr lang="en-US"/>
              <a:t>”.</a:t>
            </a:r>
          </a:p>
          <a:p>
            <a:pPr lvl="1"/>
            <a:r>
              <a:rPr lang="en-US"/>
              <a:t>When </a:t>
            </a:r>
            <a:r>
              <a:rPr lang="en-US" b="1">
                <a:solidFill>
                  <a:schemeClr val="accent6"/>
                </a:solidFill>
              </a:rPr>
              <a:t>deadlock is detected</a:t>
            </a:r>
            <a:r>
              <a:rPr lang="en-US"/>
              <a:t>, </a:t>
            </a:r>
            <a:r>
              <a:rPr lang="en-US" b="1">
                <a:solidFill>
                  <a:schemeClr val="accent6"/>
                </a:solidFill>
              </a:rPr>
              <a:t>rollback the preempted process up to the previous safe state</a:t>
            </a:r>
            <a:r>
              <a:rPr lang="en-US"/>
              <a:t> before it acquired that resource.</a:t>
            </a:r>
          </a:p>
          <a:p>
            <a:pPr lvl="1"/>
            <a:r>
              <a:rPr lang="en-US" b="1">
                <a:solidFill>
                  <a:schemeClr val="accent6"/>
                </a:solidFill>
              </a:rPr>
              <a:t>Discard the resource </a:t>
            </a:r>
            <a:r>
              <a:rPr lang="en-US"/>
              <a:t>manipulation that occurred after that checkpoint.</a:t>
            </a:r>
          </a:p>
          <a:p>
            <a:pPr lvl="1"/>
            <a:r>
              <a:rPr lang="en-US" b="1">
                <a:solidFill>
                  <a:schemeClr val="accent6"/>
                </a:solidFill>
              </a:rPr>
              <a:t>Start the process after it is determined </a:t>
            </a:r>
            <a:r>
              <a:rPr lang="en-US"/>
              <a:t>it can run again.</a:t>
            </a:r>
          </a:p>
        </p:txBody>
      </p:sp>
      <p:cxnSp>
        <p:nvCxnSpPr>
          <p:cNvPr id="40" name="Straight Connector 39"/>
          <p:cNvCxnSpPr/>
          <p:nvPr/>
        </p:nvCxnSpPr>
        <p:spPr>
          <a:xfrm>
            <a:off x="126127" y="3184659"/>
            <a:ext cx="118872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308629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par>
                                <p:cTn id="23" presetID="22" presetClass="entr" presetSubtype="2" fill="hold" nodeType="withEffect">
                                  <p:stCondLst>
                                    <p:cond delay="0"/>
                                  </p:stCondLst>
                                  <p:childTnLst>
                                    <p:set>
                                      <p:cBhvr>
                                        <p:cTn id="24" dur="1" fill="hold">
                                          <p:stCondLst>
                                            <p:cond delay="0"/>
                                          </p:stCondLst>
                                        </p:cTn>
                                        <p:tgtEl>
                                          <p:spTgt spid="55"/>
                                        </p:tgtEl>
                                        <p:attrNameLst>
                                          <p:attrName>style.visibility</p:attrName>
                                        </p:attrNameLst>
                                      </p:cBhvr>
                                      <p:to>
                                        <p:strVal val="visible"/>
                                      </p:to>
                                    </p:set>
                                    <p:animEffect transition="in" filter="wipe(right)">
                                      <p:cBhvr>
                                        <p:cTn id="25" dur="500"/>
                                        <p:tgtEl>
                                          <p:spTgt spid="55"/>
                                        </p:tgtEl>
                                      </p:cBhvr>
                                    </p:animEffect>
                                  </p:childTnLst>
                                </p:cTn>
                              </p:par>
                              <p:par>
                                <p:cTn id="26" presetID="22" presetClass="entr" presetSubtype="8" fill="hold" nodeType="withEffect">
                                  <p:stCondLst>
                                    <p:cond delay="0"/>
                                  </p:stCondLst>
                                  <p:childTnLst>
                                    <p:set>
                                      <p:cBhvr>
                                        <p:cTn id="27" dur="1" fill="hold">
                                          <p:stCondLst>
                                            <p:cond delay="0"/>
                                          </p:stCondLst>
                                        </p:cTn>
                                        <p:tgtEl>
                                          <p:spTgt spid="57"/>
                                        </p:tgtEl>
                                        <p:attrNameLst>
                                          <p:attrName>style.visibility</p:attrName>
                                        </p:attrNameLst>
                                      </p:cBhvr>
                                      <p:to>
                                        <p:strVal val="visible"/>
                                      </p:to>
                                    </p:set>
                                    <p:animEffect transition="in" filter="wipe(left)">
                                      <p:cBhvr>
                                        <p:cTn id="28" dur="500"/>
                                        <p:tgtEl>
                                          <p:spTgt spid="57"/>
                                        </p:tgtEl>
                                      </p:cBhvr>
                                    </p:animEffect>
                                  </p:childTnLst>
                                </p:cTn>
                              </p:par>
                              <p:par>
                                <p:cTn id="29" presetID="1" presetClass="entr" presetSubtype="0"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0"/>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8"/>
                                        </p:tgtEl>
                                        <p:attrNameLst>
                                          <p:attrName>style.visibility</p:attrName>
                                        </p:attrNameLst>
                                      </p:cBhvr>
                                      <p:to>
                                        <p:strVal val="visible"/>
                                      </p:to>
                                    </p:set>
                                    <p:animEffect transition="in" filter="wipe(left)">
                                      <p:cBhvr>
                                        <p:cTn id="37" dur="500"/>
                                        <p:tgtEl>
                                          <p:spTgt spid="58"/>
                                        </p:tgtEl>
                                      </p:cBhvr>
                                    </p:animEffect>
                                  </p:childTnLst>
                                </p:cTn>
                              </p:par>
                              <p:par>
                                <p:cTn id="38" presetID="1" presetClass="entr" presetSubtype="0" fill="hold" grpId="0" nodeType="withEffect">
                                  <p:stCondLst>
                                    <p:cond delay="0"/>
                                  </p:stCondLst>
                                  <p:childTnLst>
                                    <p:set>
                                      <p:cBhvr>
                                        <p:cTn id="39" dur="1" fill="hold">
                                          <p:stCondLst>
                                            <p:cond delay="0"/>
                                          </p:stCondLst>
                                        </p:cTn>
                                        <p:tgtEl>
                                          <p:spTgt spid="62"/>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500"/>
                                        <p:tgtEl>
                                          <p:spTgt spid="55"/>
                                        </p:tgtEl>
                                      </p:cBhvr>
                                    </p:animEffect>
                                    <p:set>
                                      <p:cBhvr>
                                        <p:cTn id="44" dur="1" fill="hold">
                                          <p:stCondLst>
                                            <p:cond delay="499"/>
                                          </p:stCondLst>
                                        </p:cTn>
                                        <p:tgtEl>
                                          <p:spTgt spid="55"/>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500"/>
                                        <p:tgtEl>
                                          <p:spTgt spid="58"/>
                                        </p:tgtEl>
                                      </p:cBhvr>
                                    </p:animEffect>
                                    <p:set>
                                      <p:cBhvr>
                                        <p:cTn id="47" dur="1" fill="hold">
                                          <p:stCondLst>
                                            <p:cond delay="499"/>
                                          </p:stCondLst>
                                        </p:cTn>
                                        <p:tgtEl>
                                          <p:spTgt spid="58"/>
                                        </p:tgtEl>
                                        <p:attrNameLst>
                                          <p:attrName>style.visibility</p:attrName>
                                        </p:attrNameLst>
                                      </p:cBhvr>
                                      <p:to>
                                        <p:strVal val="hidden"/>
                                      </p:to>
                                    </p:set>
                                  </p:childTnLst>
                                </p:cTn>
                              </p:par>
                              <p:par>
                                <p:cTn id="48" presetID="10" presetClass="exit" presetSubtype="0" fill="hold" grpId="1" nodeType="withEffect">
                                  <p:stCondLst>
                                    <p:cond delay="0"/>
                                  </p:stCondLst>
                                  <p:childTnLst>
                                    <p:animEffect transition="out" filter="fade">
                                      <p:cBhvr>
                                        <p:cTn id="49" dur="500"/>
                                        <p:tgtEl>
                                          <p:spTgt spid="60"/>
                                        </p:tgtEl>
                                      </p:cBhvr>
                                    </p:animEffect>
                                    <p:set>
                                      <p:cBhvr>
                                        <p:cTn id="50" dur="1" fill="hold">
                                          <p:stCondLst>
                                            <p:cond delay="499"/>
                                          </p:stCondLst>
                                        </p:cTn>
                                        <p:tgtEl>
                                          <p:spTgt spid="60"/>
                                        </p:tgtEl>
                                        <p:attrNameLst>
                                          <p:attrName>style.visibility</p:attrName>
                                        </p:attrNameLst>
                                      </p:cBhvr>
                                      <p:to>
                                        <p:strVal val="hidden"/>
                                      </p:to>
                                    </p:set>
                                  </p:childTnLst>
                                </p:cTn>
                              </p:par>
                              <p:par>
                                <p:cTn id="51" presetID="10" presetClass="exit" presetSubtype="0" fill="hold" grpId="1" nodeType="withEffect">
                                  <p:stCondLst>
                                    <p:cond delay="0"/>
                                  </p:stCondLst>
                                  <p:childTnLst>
                                    <p:animEffect transition="out" filter="fade">
                                      <p:cBhvr>
                                        <p:cTn id="52" dur="500"/>
                                        <p:tgtEl>
                                          <p:spTgt spid="62"/>
                                        </p:tgtEl>
                                      </p:cBhvr>
                                    </p:animEffect>
                                    <p:set>
                                      <p:cBhvr>
                                        <p:cTn id="53" dur="1" fill="hold">
                                          <p:stCondLst>
                                            <p:cond delay="499"/>
                                          </p:stCondLst>
                                        </p:cTn>
                                        <p:tgtEl>
                                          <p:spTgt spid="62"/>
                                        </p:tgtEl>
                                        <p:attrNameLst>
                                          <p:attrName>style.visibility</p:attrName>
                                        </p:attrNameLst>
                                      </p:cBhvr>
                                      <p:to>
                                        <p:strVal val="hidden"/>
                                      </p:to>
                                    </p:set>
                                  </p:childTnLst>
                                </p:cTn>
                              </p:par>
                            </p:childTnLst>
                          </p:cTn>
                        </p:par>
                      </p:childTnLst>
                    </p:cTn>
                  </p:par>
                  <p:par>
                    <p:cTn id="54" fill="hold" nodeType="clickPar">
                      <p:stCondLst>
                        <p:cond delay="indefinite"/>
                      </p:stCondLst>
                      <p:childTnLst>
                        <p:par>
                          <p:cTn id="55" fill="hold">
                            <p:stCondLst>
                              <p:cond delay="0"/>
                            </p:stCondLst>
                            <p:childTnLst>
                              <p:par>
                                <p:cTn id="56" presetID="22" presetClass="entr" presetSubtype="2" fill="hold" nodeType="click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wipe(right)">
                                      <p:cBhvr>
                                        <p:cTn id="58" dur="500"/>
                                        <p:tgtEl>
                                          <p:spTgt spid="56"/>
                                        </p:tgtEl>
                                      </p:cBhvr>
                                    </p:animEffect>
                                  </p:childTnLst>
                                </p:cTn>
                              </p:par>
                            </p:childTnLst>
                          </p:cTn>
                        </p:par>
                      </p:childTnLst>
                    </p:cTn>
                  </p:par>
                  <p:par>
                    <p:cTn id="59" fill="hold" nodeType="clickPar">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
                                            <p:txEl>
                                              <p:pRg st="2" end="2"/>
                                            </p:txEl>
                                          </p:spTgt>
                                        </p:tgtEl>
                                        <p:attrNameLst>
                                          <p:attrName>style.visibility</p:attrName>
                                        </p:attrNameLst>
                                      </p:cBhvr>
                                      <p:to>
                                        <p:strVal val="visible"/>
                                      </p:to>
                                    </p:set>
                                    <p:animEffect transition="in" filter="fade">
                                      <p:cBhvr>
                                        <p:cTn id="63" dur="500"/>
                                        <p:tgtEl>
                                          <p:spTgt spid="3">
                                            <p:txEl>
                                              <p:pRg st="2" end="2"/>
                                            </p:txEl>
                                          </p:spTgt>
                                        </p:tgtEl>
                                      </p:cBhvr>
                                    </p:animEffect>
                                  </p:childTnLst>
                                </p:cTn>
                              </p:par>
                            </p:childTnLst>
                          </p:cTn>
                        </p:par>
                      </p:childTnLst>
                    </p:cTn>
                  </p:par>
                  <p:par>
                    <p:cTn id="64" fill="hold" nodeType="clickPar">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3">
                                            <p:txEl>
                                              <p:pRg st="3" end="3"/>
                                            </p:txEl>
                                          </p:spTgt>
                                        </p:tgtEl>
                                        <p:attrNameLst>
                                          <p:attrName>style.visibility</p:attrName>
                                        </p:attrNameLst>
                                      </p:cBhvr>
                                      <p:to>
                                        <p:strVal val="visible"/>
                                      </p:to>
                                    </p:set>
                                    <p:animEffect transition="in" filter="fade">
                                      <p:cBhvr>
                                        <p:cTn id="68" dur="500"/>
                                        <p:tgtEl>
                                          <p:spTgt spid="3">
                                            <p:txEl>
                                              <p:pRg st="3" end="3"/>
                                            </p:txEl>
                                          </p:spTgt>
                                        </p:tgtEl>
                                      </p:cBhvr>
                                    </p:animEffect>
                                  </p:childTnLst>
                                </p:cTn>
                              </p:par>
                            </p:childTnLst>
                          </p:cTn>
                        </p:par>
                      </p:childTnLst>
                    </p:cTn>
                  </p:par>
                  <p:par>
                    <p:cTn id="69" fill="hold" nodeType="clickPar">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40"/>
                                        </p:tgtEl>
                                        <p:attrNameLst>
                                          <p:attrName>style.visibility</p:attrName>
                                        </p:attrNameLst>
                                      </p:cBhvr>
                                      <p:to>
                                        <p:strVal val="visible"/>
                                      </p:to>
                                    </p:set>
                                    <p:animEffect transition="in" filter="fade">
                                      <p:cBhvr>
                                        <p:cTn id="73" dur="500"/>
                                        <p:tgtEl>
                                          <p:spTgt spid="40"/>
                                        </p:tgtEl>
                                      </p:cBhvr>
                                    </p:animEffect>
                                  </p:childTnLst>
                                </p:cTn>
                              </p:par>
                            </p:childTnLst>
                          </p:cTn>
                        </p:par>
                      </p:childTnLst>
                    </p:cTn>
                  </p:par>
                  <p:par>
                    <p:cTn id="74" fill="hold" nodeType="clickPar">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83">
                                            <p:txEl>
                                              <p:pRg st="0" end="0"/>
                                            </p:txEl>
                                          </p:spTgt>
                                        </p:tgtEl>
                                        <p:attrNameLst>
                                          <p:attrName>style.visibility</p:attrName>
                                        </p:attrNameLst>
                                      </p:cBhvr>
                                      <p:to>
                                        <p:strVal val="visible"/>
                                      </p:to>
                                    </p:set>
                                    <p:animEffect transition="in" filter="fade">
                                      <p:cBhvr>
                                        <p:cTn id="78" dur="500"/>
                                        <p:tgtEl>
                                          <p:spTgt spid="83">
                                            <p:txEl>
                                              <p:pRg st="0" end="0"/>
                                            </p:txEl>
                                          </p:spTgt>
                                        </p:tgtEl>
                                      </p:cBhvr>
                                    </p:animEffect>
                                  </p:childTnLst>
                                </p:cTn>
                              </p:par>
                            </p:childTnLst>
                          </p:cTn>
                        </p:par>
                      </p:childTnLst>
                    </p:cTn>
                  </p:par>
                  <p:par>
                    <p:cTn id="79" fill="hold" nodeType="clickPar">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83">
                                            <p:txEl>
                                              <p:pRg st="1" end="1"/>
                                            </p:txEl>
                                          </p:spTgt>
                                        </p:tgtEl>
                                        <p:attrNameLst>
                                          <p:attrName>style.visibility</p:attrName>
                                        </p:attrNameLst>
                                      </p:cBhvr>
                                      <p:to>
                                        <p:strVal val="visible"/>
                                      </p:to>
                                    </p:set>
                                    <p:animEffect transition="in" filter="fade">
                                      <p:cBhvr>
                                        <p:cTn id="83" dur="500"/>
                                        <p:tgtEl>
                                          <p:spTgt spid="83">
                                            <p:txEl>
                                              <p:pRg st="1" end="1"/>
                                            </p:txEl>
                                          </p:spTgt>
                                        </p:tgtEl>
                                      </p:cBhvr>
                                    </p:animEffect>
                                  </p:childTnLst>
                                </p:cTn>
                              </p:par>
                            </p:childTnLst>
                          </p:cTn>
                        </p:par>
                      </p:childTnLst>
                    </p:cTn>
                  </p:par>
                  <p:par>
                    <p:cTn id="84" fill="hold" nodeType="clickPar">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64"/>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65"/>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66"/>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68"/>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69"/>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67"/>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p:stCondLst>
                              <p:cond delay="0"/>
                            </p:stCondLst>
                            <p:childTnLst>
                              <p:par>
                                <p:cTn id="104" presetID="63" presetClass="path" presetSubtype="0" accel="50000" decel="50000" fill="hold" grpId="1" nodeType="clickEffect">
                                  <p:stCondLst>
                                    <p:cond delay="0"/>
                                  </p:stCondLst>
                                  <p:childTnLst>
                                    <p:animMotion origin="layout" path="M 4.16667E-06 4.81481E-06 L 0.11588 -0.00163" pathEditMode="relative" rAng="0" ptsTypes="AA">
                                      <p:cBhvr>
                                        <p:cTn id="105" dur="2000" fill="hold"/>
                                        <p:tgtEl>
                                          <p:spTgt spid="67"/>
                                        </p:tgtEl>
                                        <p:attrNameLst>
                                          <p:attrName>ppt_x</p:attrName>
                                          <p:attrName>ppt_y</p:attrName>
                                        </p:attrNameLst>
                                      </p:cBhvr>
                                      <p:rCtr x="5807" y="-93"/>
                                    </p:animMotion>
                                  </p:childTnLst>
                                </p:cTn>
                              </p:par>
                            </p:childTnLst>
                          </p:cTn>
                        </p:par>
                      </p:childTnLst>
                    </p:cTn>
                  </p:par>
                  <p:par>
                    <p:cTn id="106" fill="hold" nodeType="clickPar">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72"/>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70"/>
                                        </p:tgtEl>
                                        <p:attrNameLst>
                                          <p:attrName>style.visibility</p:attrName>
                                        </p:attrNameLst>
                                      </p:cBhvr>
                                      <p:to>
                                        <p:strVal val="visible"/>
                                      </p:to>
                                    </p:set>
                                  </p:childTnLst>
                                </p:cTn>
                              </p:par>
                            </p:childTnLst>
                          </p:cTn>
                        </p:par>
                      </p:childTnLst>
                    </p:cTn>
                  </p:par>
                  <p:par>
                    <p:cTn id="112" fill="hold" nodeType="clickPar">
                      <p:stCondLst>
                        <p:cond delay="indefinite"/>
                      </p:stCondLst>
                      <p:childTnLst>
                        <p:par>
                          <p:cTn id="113" fill="hold">
                            <p:stCondLst>
                              <p:cond delay="0"/>
                            </p:stCondLst>
                            <p:childTnLst>
                              <p:par>
                                <p:cTn id="114" presetID="63" presetClass="path" presetSubtype="0" accel="50000" decel="50000" fill="hold" grpId="1" nodeType="clickEffect">
                                  <p:stCondLst>
                                    <p:cond delay="0"/>
                                  </p:stCondLst>
                                  <p:childTnLst>
                                    <p:animMotion origin="layout" path="M -1.25E-06 -4.81481E-06 L 0.12526 0.00185" pathEditMode="relative" rAng="0" ptsTypes="AA">
                                      <p:cBhvr>
                                        <p:cTn id="115" dur="2000" fill="hold"/>
                                        <p:tgtEl>
                                          <p:spTgt spid="70"/>
                                        </p:tgtEl>
                                        <p:attrNameLst>
                                          <p:attrName>ppt_x</p:attrName>
                                          <p:attrName>ppt_y</p:attrName>
                                        </p:attrNameLst>
                                      </p:cBhvr>
                                      <p:rCtr x="6263" y="-46"/>
                                    </p:animMotion>
                                  </p:childTnLst>
                                </p:cTn>
                              </p:par>
                            </p:childTnLst>
                          </p:cTn>
                        </p:par>
                      </p:childTnLst>
                    </p:cTn>
                  </p:par>
                  <p:par>
                    <p:cTn id="116" fill="hold" nodeType="clickPar">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73"/>
                                        </p:tgtEl>
                                        <p:attrNameLst>
                                          <p:attrName>style.visibility</p:attrName>
                                        </p:attrNameLst>
                                      </p:cBhvr>
                                      <p:to>
                                        <p:strVal val="visible"/>
                                      </p:to>
                                    </p:set>
                                  </p:childTnLst>
                                </p:cTn>
                              </p:par>
                            </p:childTnLst>
                          </p:cTn>
                        </p:par>
                      </p:childTnLst>
                    </p:cTn>
                  </p:par>
                  <p:par>
                    <p:cTn id="120" fill="hold" nodeType="clickPar">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77"/>
                                        </p:tgtEl>
                                        <p:attrNameLst>
                                          <p:attrName>style.visibility</p:attrName>
                                        </p:attrNameLst>
                                      </p:cBhvr>
                                      <p:to>
                                        <p:strVal val="visible"/>
                                      </p:to>
                                    </p:set>
                                  </p:childTnLst>
                                </p:cTn>
                              </p:par>
                              <p:par>
                                <p:cTn id="124" presetID="1" presetClass="entr" presetSubtype="0" fill="hold" nodeType="withEffect">
                                  <p:stCondLst>
                                    <p:cond delay="0"/>
                                  </p:stCondLst>
                                  <p:childTnLst>
                                    <p:set>
                                      <p:cBhvr>
                                        <p:cTn id="125" dur="1" fill="hold">
                                          <p:stCondLst>
                                            <p:cond delay="0"/>
                                          </p:stCondLst>
                                        </p:cTn>
                                        <p:tgtEl>
                                          <p:spTgt spid="78"/>
                                        </p:tgtEl>
                                        <p:attrNameLst>
                                          <p:attrName>style.visibility</p:attrName>
                                        </p:attrNameLst>
                                      </p:cBhvr>
                                      <p:to>
                                        <p:strVal val="visible"/>
                                      </p:to>
                                    </p:set>
                                  </p:childTnLst>
                                </p:cTn>
                              </p:par>
                            </p:childTnLst>
                          </p:cTn>
                        </p:par>
                      </p:childTnLst>
                    </p:cTn>
                  </p:par>
                  <p:par>
                    <p:cTn id="126" fill="hold" nodeType="clickPar">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71"/>
                                        </p:tgtEl>
                                        <p:attrNameLst>
                                          <p:attrName>style.visibility</p:attrName>
                                        </p:attrNameLst>
                                      </p:cBhvr>
                                      <p:to>
                                        <p:strVal val="visible"/>
                                      </p:to>
                                    </p:set>
                                  </p:childTnLst>
                                </p:cTn>
                              </p:par>
                            </p:childTnLst>
                          </p:cTn>
                        </p:par>
                      </p:childTnLst>
                    </p:cTn>
                  </p:par>
                  <p:par>
                    <p:cTn id="130" fill="hold" nodeType="clickPar">
                      <p:stCondLst>
                        <p:cond delay="indefinite"/>
                      </p:stCondLst>
                      <p:childTnLst>
                        <p:par>
                          <p:cTn id="131" fill="hold">
                            <p:stCondLst>
                              <p:cond delay="0"/>
                            </p:stCondLst>
                            <p:childTnLst>
                              <p:par>
                                <p:cTn id="132" presetID="63" presetClass="path" presetSubtype="0" accel="50000" decel="50000" fill="hold" grpId="1" nodeType="clickEffect">
                                  <p:stCondLst>
                                    <p:cond delay="0"/>
                                  </p:stCondLst>
                                  <p:childTnLst>
                                    <p:animMotion origin="layout" path="M -1.66667E-06 3.33333E-06 L 0.14349 0.00092" pathEditMode="relative" rAng="0" ptsTypes="AA">
                                      <p:cBhvr>
                                        <p:cTn id="133" dur="2000" fill="hold"/>
                                        <p:tgtEl>
                                          <p:spTgt spid="71"/>
                                        </p:tgtEl>
                                        <p:attrNameLst>
                                          <p:attrName>ppt_x</p:attrName>
                                          <p:attrName>ppt_y</p:attrName>
                                        </p:attrNameLst>
                                      </p:cBhvr>
                                      <p:rCtr x="7174" y="46"/>
                                    </p:animMotion>
                                  </p:childTnLst>
                                </p:cTn>
                              </p:par>
                            </p:childTnLst>
                          </p:cTn>
                        </p:par>
                      </p:childTnLst>
                    </p:cTn>
                  </p:par>
                  <p:par>
                    <p:cTn id="134" fill="hold" nodeType="clickPar">
                      <p:stCondLst>
                        <p:cond delay="indefinite"/>
                      </p:stCondLst>
                      <p:childTnLst>
                        <p:par>
                          <p:cTn id="135" fill="hold">
                            <p:stCondLst>
                              <p:cond delay="0"/>
                            </p:stCondLst>
                            <p:childTnLst>
                              <p:par>
                                <p:cTn id="136" presetID="10" presetClass="exit" presetSubtype="0" fill="hold" grpId="1" nodeType="clickEffect">
                                  <p:stCondLst>
                                    <p:cond delay="0"/>
                                  </p:stCondLst>
                                  <p:childTnLst>
                                    <p:animEffect transition="out" filter="fade">
                                      <p:cBhvr>
                                        <p:cTn id="137" dur="500"/>
                                        <p:tgtEl>
                                          <p:spTgt spid="77"/>
                                        </p:tgtEl>
                                      </p:cBhvr>
                                    </p:animEffect>
                                    <p:set>
                                      <p:cBhvr>
                                        <p:cTn id="138" dur="1" fill="hold">
                                          <p:stCondLst>
                                            <p:cond delay="499"/>
                                          </p:stCondLst>
                                        </p:cTn>
                                        <p:tgtEl>
                                          <p:spTgt spid="77"/>
                                        </p:tgtEl>
                                        <p:attrNameLst>
                                          <p:attrName>style.visibility</p:attrName>
                                        </p:attrNameLst>
                                      </p:cBhvr>
                                      <p:to>
                                        <p:strVal val="hidden"/>
                                      </p:to>
                                    </p:set>
                                  </p:childTnLst>
                                </p:cTn>
                              </p:par>
                              <p:par>
                                <p:cTn id="139" presetID="10" presetClass="exit" presetSubtype="0" fill="hold" nodeType="withEffect">
                                  <p:stCondLst>
                                    <p:cond delay="0"/>
                                  </p:stCondLst>
                                  <p:childTnLst>
                                    <p:animEffect transition="out" filter="fade">
                                      <p:cBhvr>
                                        <p:cTn id="140" dur="500"/>
                                        <p:tgtEl>
                                          <p:spTgt spid="78"/>
                                        </p:tgtEl>
                                      </p:cBhvr>
                                    </p:animEffect>
                                    <p:set>
                                      <p:cBhvr>
                                        <p:cTn id="141" dur="1" fill="hold">
                                          <p:stCondLst>
                                            <p:cond delay="499"/>
                                          </p:stCondLst>
                                        </p:cTn>
                                        <p:tgtEl>
                                          <p:spTgt spid="78"/>
                                        </p:tgtEl>
                                        <p:attrNameLst>
                                          <p:attrName>style.visibility</p:attrName>
                                        </p:attrNameLst>
                                      </p:cBhvr>
                                      <p:to>
                                        <p:strVal val="hidden"/>
                                      </p:to>
                                    </p:set>
                                  </p:childTnLst>
                                </p:cTn>
                              </p:par>
                            </p:childTnLst>
                          </p:cTn>
                        </p:par>
                      </p:childTnLst>
                    </p:cTn>
                  </p:par>
                  <p:par>
                    <p:cTn id="142" fill="hold" nodeType="clickPar">
                      <p:stCondLst>
                        <p:cond delay="indefinite"/>
                      </p:stCondLst>
                      <p:childTnLst>
                        <p:par>
                          <p:cTn id="143" fill="hold">
                            <p:stCondLst>
                              <p:cond delay="0"/>
                            </p:stCondLst>
                            <p:childTnLst>
                              <p:par>
                                <p:cTn id="144" presetID="1" presetClass="entr" presetSubtype="0" fill="hold" grpId="0" nodeType="clickEffect">
                                  <p:stCondLst>
                                    <p:cond delay="0"/>
                                  </p:stCondLst>
                                  <p:childTnLst>
                                    <p:set>
                                      <p:cBhvr>
                                        <p:cTn id="145" dur="1" fill="hold">
                                          <p:stCondLst>
                                            <p:cond delay="0"/>
                                          </p:stCondLst>
                                        </p:cTn>
                                        <p:tgtEl>
                                          <p:spTgt spid="74"/>
                                        </p:tgtEl>
                                        <p:attrNameLst>
                                          <p:attrName>style.visibility</p:attrName>
                                        </p:attrNameLst>
                                      </p:cBhvr>
                                      <p:to>
                                        <p:strVal val="visible"/>
                                      </p:to>
                                    </p:set>
                                  </p:childTnLst>
                                </p:cTn>
                              </p:par>
                              <p:par>
                                <p:cTn id="146" presetID="1" presetClass="entr" presetSubtype="0" fill="hold" nodeType="withEffect">
                                  <p:stCondLst>
                                    <p:cond delay="0"/>
                                  </p:stCondLst>
                                  <p:childTnLst>
                                    <p:set>
                                      <p:cBhvr>
                                        <p:cTn id="147" dur="1" fill="hold">
                                          <p:stCondLst>
                                            <p:cond delay="0"/>
                                          </p:stCondLst>
                                        </p:cTn>
                                        <p:tgtEl>
                                          <p:spTgt spid="75"/>
                                        </p:tgtEl>
                                        <p:attrNameLst>
                                          <p:attrName>style.visibility</p:attrName>
                                        </p:attrNameLst>
                                      </p:cBhvr>
                                      <p:to>
                                        <p:strVal val="visible"/>
                                      </p:to>
                                    </p:set>
                                  </p:childTnLst>
                                </p:cTn>
                              </p:par>
                            </p:childTnLst>
                          </p:cTn>
                        </p:par>
                      </p:childTnLst>
                    </p:cTn>
                  </p:par>
                  <p:par>
                    <p:cTn id="148" fill="hold" nodeType="clickPar">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76"/>
                                        </p:tgtEl>
                                        <p:attrNameLst>
                                          <p:attrName>style.visibility</p:attrName>
                                        </p:attrNameLst>
                                      </p:cBhvr>
                                      <p:to>
                                        <p:strVal val="visible"/>
                                      </p:to>
                                    </p:set>
                                  </p:childTnLst>
                                </p:cTn>
                              </p:par>
                              <p:par>
                                <p:cTn id="152" presetID="1" presetClass="entr" presetSubtype="0" fill="hold" nodeType="withEffect">
                                  <p:stCondLst>
                                    <p:cond delay="0"/>
                                  </p:stCondLst>
                                  <p:childTnLst>
                                    <p:set>
                                      <p:cBhvr>
                                        <p:cTn id="153" dur="1" fill="hold">
                                          <p:stCondLst>
                                            <p:cond delay="0"/>
                                          </p:stCondLst>
                                        </p:cTn>
                                        <p:tgtEl>
                                          <p:spTgt spid="79"/>
                                        </p:tgtEl>
                                        <p:attrNameLst>
                                          <p:attrName>style.visibility</p:attrName>
                                        </p:attrNameLst>
                                      </p:cBhvr>
                                      <p:to>
                                        <p:strVal val="visible"/>
                                      </p:to>
                                    </p:set>
                                  </p:childTnLst>
                                </p:cTn>
                              </p:par>
                            </p:childTnLst>
                          </p:cTn>
                        </p:par>
                      </p:childTnLst>
                    </p:cTn>
                  </p:par>
                  <p:par>
                    <p:cTn id="154" fill="hold" nodeType="clickPar">
                      <p:stCondLst>
                        <p:cond delay="indefinite"/>
                      </p:stCondLst>
                      <p:childTnLst>
                        <p:par>
                          <p:cTn id="155" fill="hold">
                            <p:stCondLst>
                              <p:cond delay="0"/>
                            </p:stCondLst>
                            <p:childTnLst>
                              <p:par>
                                <p:cTn id="156" presetID="10" presetClass="entr" presetSubtype="0" fill="hold" nodeType="clickEffect">
                                  <p:stCondLst>
                                    <p:cond delay="0"/>
                                  </p:stCondLst>
                                  <p:childTnLst>
                                    <p:set>
                                      <p:cBhvr>
                                        <p:cTn id="157" dur="1" fill="hold">
                                          <p:stCondLst>
                                            <p:cond delay="0"/>
                                          </p:stCondLst>
                                        </p:cTn>
                                        <p:tgtEl>
                                          <p:spTgt spid="83">
                                            <p:txEl>
                                              <p:pRg st="2" end="2"/>
                                            </p:txEl>
                                          </p:spTgt>
                                        </p:tgtEl>
                                        <p:attrNameLst>
                                          <p:attrName>style.visibility</p:attrName>
                                        </p:attrNameLst>
                                      </p:cBhvr>
                                      <p:to>
                                        <p:strVal val="visible"/>
                                      </p:to>
                                    </p:set>
                                    <p:animEffect transition="in" filter="fade">
                                      <p:cBhvr>
                                        <p:cTn id="158" dur="500"/>
                                        <p:tgtEl>
                                          <p:spTgt spid="83">
                                            <p:txEl>
                                              <p:pRg st="2" end="2"/>
                                            </p:txEl>
                                          </p:spTgt>
                                        </p:tgtEl>
                                      </p:cBhvr>
                                    </p:animEffect>
                                  </p:childTnLst>
                                </p:cTn>
                              </p:par>
                            </p:childTnLst>
                          </p:cTn>
                        </p:par>
                      </p:childTnLst>
                    </p:cTn>
                  </p:par>
                  <p:par>
                    <p:cTn id="159" fill="hold" nodeType="clickPar">
                      <p:stCondLst>
                        <p:cond delay="indefinite"/>
                      </p:stCondLst>
                      <p:childTnLst>
                        <p:par>
                          <p:cTn id="160" fill="hold">
                            <p:stCondLst>
                              <p:cond delay="0"/>
                            </p:stCondLst>
                            <p:childTnLst>
                              <p:par>
                                <p:cTn id="161" presetID="10" presetClass="entr" presetSubtype="0" fill="hold" nodeType="clickEffect">
                                  <p:stCondLst>
                                    <p:cond delay="0"/>
                                  </p:stCondLst>
                                  <p:childTnLst>
                                    <p:set>
                                      <p:cBhvr>
                                        <p:cTn id="162" dur="1" fill="hold">
                                          <p:stCondLst>
                                            <p:cond delay="0"/>
                                          </p:stCondLst>
                                        </p:cTn>
                                        <p:tgtEl>
                                          <p:spTgt spid="83">
                                            <p:txEl>
                                              <p:pRg st="3" end="3"/>
                                            </p:txEl>
                                          </p:spTgt>
                                        </p:tgtEl>
                                        <p:attrNameLst>
                                          <p:attrName>style.visibility</p:attrName>
                                        </p:attrNameLst>
                                      </p:cBhvr>
                                      <p:to>
                                        <p:strVal val="visible"/>
                                      </p:to>
                                    </p:set>
                                    <p:animEffect transition="in" filter="fade">
                                      <p:cBhvr>
                                        <p:cTn id="163" dur="500"/>
                                        <p:tgtEl>
                                          <p:spTgt spid="83">
                                            <p:txEl>
                                              <p:pRg st="3" end="3"/>
                                            </p:txEl>
                                          </p:spTgt>
                                        </p:tgtEl>
                                      </p:cBhvr>
                                    </p:animEffect>
                                  </p:childTnLst>
                                </p:cTn>
                              </p:par>
                            </p:childTnLst>
                          </p:cTn>
                        </p:par>
                      </p:childTnLst>
                    </p:cTn>
                  </p:par>
                  <p:par>
                    <p:cTn id="164" fill="hold" nodeType="clickPar">
                      <p:stCondLst>
                        <p:cond delay="indefinite"/>
                      </p:stCondLst>
                      <p:childTnLst>
                        <p:par>
                          <p:cTn id="165" fill="hold">
                            <p:stCondLst>
                              <p:cond delay="0"/>
                            </p:stCondLst>
                            <p:childTnLst>
                              <p:par>
                                <p:cTn id="166" presetID="10" presetClass="exit" presetSubtype="0" fill="hold" nodeType="clickEffect">
                                  <p:stCondLst>
                                    <p:cond delay="0"/>
                                  </p:stCondLst>
                                  <p:childTnLst>
                                    <p:animEffect transition="out" filter="fade">
                                      <p:cBhvr>
                                        <p:cTn id="167" dur="500"/>
                                        <p:tgtEl>
                                          <p:spTgt spid="75"/>
                                        </p:tgtEl>
                                      </p:cBhvr>
                                    </p:animEffect>
                                    <p:set>
                                      <p:cBhvr>
                                        <p:cTn id="168" dur="1" fill="hold">
                                          <p:stCondLst>
                                            <p:cond delay="499"/>
                                          </p:stCondLst>
                                        </p:cTn>
                                        <p:tgtEl>
                                          <p:spTgt spid="75"/>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170" dur="500"/>
                                        <p:tgtEl>
                                          <p:spTgt spid="79"/>
                                        </p:tgtEl>
                                      </p:cBhvr>
                                    </p:animEffect>
                                    <p:set>
                                      <p:cBhvr>
                                        <p:cTn id="171" dur="1" fill="hold">
                                          <p:stCondLst>
                                            <p:cond delay="499"/>
                                          </p:stCondLst>
                                        </p:cTn>
                                        <p:tgtEl>
                                          <p:spTgt spid="79"/>
                                        </p:tgtEl>
                                        <p:attrNameLst>
                                          <p:attrName>style.visibility</p:attrName>
                                        </p:attrNameLst>
                                      </p:cBhvr>
                                      <p:to>
                                        <p:strVal val="hidden"/>
                                      </p:to>
                                    </p:set>
                                  </p:childTnLst>
                                </p:cTn>
                              </p:par>
                              <p:par>
                                <p:cTn id="172" presetID="1" presetClass="entr" presetSubtype="0" fill="hold" nodeType="withEffect">
                                  <p:stCondLst>
                                    <p:cond delay="0"/>
                                  </p:stCondLst>
                                  <p:childTnLst>
                                    <p:set>
                                      <p:cBhvr>
                                        <p:cTn id="173" dur="1" fill="hold">
                                          <p:stCondLst>
                                            <p:cond delay="0"/>
                                          </p:stCondLst>
                                        </p:cTn>
                                        <p:tgtEl>
                                          <p:spTgt spid="81"/>
                                        </p:tgtEl>
                                        <p:attrNameLst>
                                          <p:attrName>style.visibility</p:attrName>
                                        </p:attrNameLst>
                                      </p:cBhvr>
                                      <p:to>
                                        <p:strVal val="visible"/>
                                      </p:to>
                                    </p:set>
                                  </p:childTnLst>
                                </p:cTn>
                              </p:par>
                            </p:childTnLst>
                          </p:cTn>
                        </p:par>
                      </p:childTnLst>
                    </p:cTn>
                  </p:par>
                  <p:par>
                    <p:cTn id="174" fill="hold" nodeType="clickPar">
                      <p:stCondLst>
                        <p:cond delay="indefinite"/>
                      </p:stCondLst>
                      <p:childTnLst>
                        <p:par>
                          <p:cTn id="175" fill="hold">
                            <p:stCondLst>
                              <p:cond delay="0"/>
                            </p:stCondLst>
                            <p:childTnLst>
                              <p:par>
                                <p:cTn id="176" presetID="10" presetClass="exit" presetSubtype="0" fill="hold" grpId="2" nodeType="clickEffect">
                                  <p:stCondLst>
                                    <p:cond delay="0"/>
                                  </p:stCondLst>
                                  <p:childTnLst>
                                    <p:animEffect transition="out" filter="fade">
                                      <p:cBhvr>
                                        <p:cTn id="177" dur="500"/>
                                        <p:tgtEl>
                                          <p:spTgt spid="67"/>
                                        </p:tgtEl>
                                      </p:cBhvr>
                                    </p:animEffect>
                                    <p:set>
                                      <p:cBhvr>
                                        <p:cTn id="178" dur="1" fill="hold">
                                          <p:stCondLst>
                                            <p:cond delay="499"/>
                                          </p:stCondLst>
                                        </p:cTn>
                                        <p:tgtEl>
                                          <p:spTgt spid="67"/>
                                        </p:tgtEl>
                                        <p:attrNameLst>
                                          <p:attrName>style.visibility</p:attrName>
                                        </p:attrNameLst>
                                      </p:cBhvr>
                                      <p:to>
                                        <p:strVal val="hidden"/>
                                      </p:to>
                                    </p:set>
                                  </p:childTnLst>
                                </p:cTn>
                              </p:par>
                              <p:par>
                                <p:cTn id="179" presetID="10" presetClass="exit" presetSubtype="0" fill="hold" grpId="2" nodeType="withEffect">
                                  <p:stCondLst>
                                    <p:cond delay="0"/>
                                  </p:stCondLst>
                                  <p:childTnLst>
                                    <p:animEffect transition="out" filter="fade">
                                      <p:cBhvr>
                                        <p:cTn id="180" dur="500"/>
                                        <p:tgtEl>
                                          <p:spTgt spid="70"/>
                                        </p:tgtEl>
                                      </p:cBhvr>
                                    </p:animEffect>
                                    <p:set>
                                      <p:cBhvr>
                                        <p:cTn id="181" dur="1" fill="hold">
                                          <p:stCondLst>
                                            <p:cond delay="499"/>
                                          </p:stCondLst>
                                        </p:cTn>
                                        <p:tgtEl>
                                          <p:spTgt spid="70"/>
                                        </p:tgtEl>
                                        <p:attrNameLst>
                                          <p:attrName>style.visibility</p:attrName>
                                        </p:attrNameLst>
                                      </p:cBhvr>
                                      <p:to>
                                        <p:strVal val="hidden"/>
                                      </p:to>
                                    </p:set>
                                  </p:childTnLst>
                                </p:cTn>
                              </p:par>
                              <p:par>
                                <p:cTn id="182" presetID="10" presetClass="exit" presetSubtype="0" fill="hold" grpId="2" nodeType="withEffect">
                                  <p:stCondLst>
                                    <p:cond delay="0"/>
                                  </p:stCondLst>
                                  <p:childTnLst>
                                    <p:animEffect transition="out" filter="fade">
                                      <p:cBhvr>
                                        <p:cTn id="183" dur="500"/>
                                        <p:tgtEl>
                                          <p:spTgt spid="71"/>
                                        </p:tgtEl>
                                      </p:cBhvr>
                                    </p:animEffect>
                                    <p:set>
                                      <p:cBhvr>
                                        <p:cTn id="184" dur="1" fill="hold">
                                          <p:stCondLst>
                                            <p:cond delay="499"/>
                                          </p:stCondLst>
                                        </p:cTn>
                                        <p:tgtEl>
                                          <p:spTgt spid="71"/>
                                        </p:tgtEl>
                                        <p:attrNameLst>
                                          <p:attrName>style.visibility</p:attrName>
                                        </p:attrNameLst>
                                      </p:cBhvr>
                                      <p:to>
                                        <p:strVal val="hidden"/>
                                      </p:to>
                                    </p:set>
                                  </p:childTnLst>
                                </p:cTn>
                              </p:par>
                            </p:childTnLst>
                          </p:cTn>
                        </p:par>
                      </p:childTnLst>
                    </p:cTn>
                  </p:par>
                  <p:par>
                    <p:cTn id="185" fill="hold" nodeType="clickPar">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82"/>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80"/>
                                        </p:tgtEl>
                                        <p:attrNameLst>
                                          <p:attrName>style.visibility</p:attrName>
                                        </p:attrNameLst>
                                      </p:cBhvr>
                                      <p:to>
                                        <p:strVal val="visible"/>
                                      </p:to>
                                    </p:set>
                                  </p:childTnLst>
                                </p:cTn>
                              </p:par>
                            </p:childTnLst>
                          </p:cTn>
                        </p:par>
                      </p:childTnLst>
                    </p:cTn>
                  </p:par>
                  <p:par>
                    <p:cTn id="191" fill="hold" nodeType="clickPar">
                      <p:stCondLst>
                        <p:cond delay="indefinite"/>
                      </p:stCondLst>
                      <p:childTnLst>
                        <p:par>
                          <p:cTn id="192" fill="hold">
                            <p:stCondLst>
                              <p:cond delay="0"/>
                            </p:stCondLst>
                            <p:childTnLst>
                              <p:par>
                                <p:cTn id="193" presetID="10" presetClass="entr" presetSubtype="0" fill="hold" nodeType="clickEffect">
                                  <p:stCondLst>
                                    <p:cond delay="0"/>
                                  </p:stCondLst>
                                  <p:childTnLst>
                                    <p:set>
                                      <p:cBhvr>
                                        <p:cTn id="194" dur="1" fill="hold">
                                          <p:stCondLst>
                                            <p:cond delay="0"/>
                                          </p:stCondLst>
                                        </p:cTn>
                                        <p:tgtEl>
                                          <p:spTgt spid="83">
                                            <p:txEl>
                                              <p:pRg st="4" end="4"/>
                                            </p:txEl>
                                          </p:spTgt>
                                        </p:tgtEl>
                                        <p:attrNameLst>
                                          <p:attrName>style.visibility</p:attrName>
                                        </p:attrNameLst>
                                      </p:cBhvr>
                                      <p:to>
                                        <p:strVal val="visible"/>
                                      </p:to>
                                    </p:set>
                                    <p:animEffect transition="in" filter="fade">
                                      <p:cBhvr>
                                        <p:cTn id="195" dur="500"/>
                                        <p:tgtEl>
                                          <p:spTgt spid="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3" grpId="0" animBg="1"/>
      <p:bldP spid="54" grpId="0" animBg="1"/>
      <p:bldP spid="59" grpId="0"/>
      <p:bldP spid="60" grpId="0"/>
      <p:bldP spid="60" grpId="1"/>
      <p:bldP spid="62" grpId="0"/>
      <p:bldP spid="62" grpId="1"/>
      <p:bldP spid="67" grpId="0" animBg="1"/>
      <p:bldP spid="67" grpId="1" animBg="1"/>
      <p:bldP spid="67" grpId="2" animBg="1"/>
      <p:bldP spid="68" grpId="0"/>
      <p:bldP spid="69" grpId="0"/>
      <p:bldP spid="70" grpId="0" animBg="1"/>
      <p:bldP spid="70" grpId="1" animBg="1"/>
      <p:bldP spid="70" grpId="2" animBg="1"/>
      <p:bldP spid="71" grpId="0" animBg="1"/>
      <p:bldP spid="71" grpId="1" animBg="1"/>
      <p:bldP spid="71" grpId="2" animBg="1"/>
      <p:bldP spid="72" grpId="0" animBg="1"/>
      <p:bldP spid="73" grpId="0" animBg="1"/>
      <p:bldP spid="74" grpId="0" animBg="1"/>
      <p:bldP spid="76" grpId="0" animBg="1"/>
      <p:bldP spid="77" grpId="0" animBg="1"/>
      <p:bldP spid="77" grpId="1" animBg="1"/>
      <p:bldP spid="80" grpId="0" animBg="1"/>
      <p:bldP spid="8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2656"/>
            <a:ext cx="12192000" cy="711200"/>
          </a:xfrm>
        </p:spPr>
        <p:txBody>
          <a:bodyPr/>
          <a:lstStyle/>
          <a:p>
            <a:r>
              <a:rPr lang="en-US" dirty="0"/>
              <a:t>Deadlock recovery</a:t>
            </a:r>
          </a:p>
        </p:txBody>
      </p:sp>
      <p:sp>
        <p:nvSpPr>
          <p:cNvPr id="3" name="Content Placeholder 2"/>
          <p:cNvSpPr>
            <a:spLocks noGrp="1"/>
          </p:cNvSpPr>
          <p:nvPr>
            <p:ph idx="1"/>
          </p:nvPr>
        </p:nvSpPr>
        <p:spPr>
          <a:xfrm>
            <a:off x="126126" y="863444"/>
            <a:ext cx="6652045" cy="3287641"/>
          </a:xfrm>
        </p:spPr>
        <p:txBody>
          <a:bodyPr/>
          <a:lstStyle/>
          <a:p>
            <a:pPr marL="457200" indent="-457200">
              <a:buFont typeface="+mj-lt"/>
              <a:buAutoNum type="arabicPeriod" startAt="3"/>
            </a:pPr>
            <a:r>
              <a:rPr lang="en-US" dirty="0"/>
              <a:t>Recovery through killing processes</a:t>
            </a:r>
          </a:p>
          <a:p>
            <a:pPr lvl="1"/>
            <a:r>
              <a:rPr lang="en-US" dirty="0"/>
              <a:t>The simplest way to break a deadlock is </a:t>
            </a:r>
            <a:r>
              <a:rPr lang="en-US" b="1" dirty="0">
                <a:solidFill>
                  <a:schemeClr val="accent6"/>
                </a:solidFill>
              </a:rPr>
              <a:t>to kill one or more processes</a:t>
            </a:r>
            <a:r>
              <a:rPr lang="en-US" dirty="0" smtClean="0"/>
              <a:t>.(costly)</a:t>
            </a:r>
            <a:endParaRPr lang="en-US" dirty="0"/>
          </a:p>
          <a:p>
            <a:pPr lvl="1"/>
            <a:r>
              <a:rPr lang="en-US" dirty="0"/>
              <a:t>Kill all the process involved in deadlock</a:t>
            </a:r>
          </a:p>
          <a:p>
            <a:pPr lvl="1"/>
            <a:r>
              <a:rPr lang="en-US" dirty="0"/>
              <a:t>Kill process one by one. </a:t>
            </a:r>
          </a:p>
          <a:p>
            <a:pPr lvl="1"/>
            <a:r>
              <a:rPr lang="en-US" dirty="0"/>
              <a:t>After killing each process check for deadlock</a:t>
            </a:r>
          </a:p>
          <a:p>
            <a:pPr lvl="2"/>
            <a:r>
              <a:rPr lang="en-US" dirty="0"/>
              <a:t>If </a:t>
            </a:r>
            <a:r>
              <a:rPr lang="en-US" dirty="0">
                <a:solidFill>
                  <a:schemeClr val="accent6"/>
                </a:solidFill>
              </a:rPr>
              <a:t>deadlock recovered then stop killing more process</a:t>
            </a:r>
          </a:p>
          <a:p>
            <a:pPr lvl="2"/>
            <a:r>
              <a:rPr lang="en-US" dirty="0">
                <a:solidFill>
                  <a:schemeClr val="accent6"/>
                </a:solidFill>
              </a:rPr>
              <a:t>Otherwise kill another process</a:t>
            </a:r>
          </a:p>
          <a:p>
            <a:pPr marL="457200" lvl="1" indent="0">
              <a:buNone/>
            </a:pPr>
            <a:endParaRPr lang="en-US" dirty="0"/>
          </a:p>
        </p:txBody>
      </p:sp>
      <p:sp>
        <p:nvSpPr>
          <p:cNvPr id="36" name="Oval 35"/>
          <p:cNvSpPr/>
          <p:nvPr/>
        </p:nvSpPr>
        <p:spPr>
          <a:xfrm>
            <a:off x="9622092" y="863444"/>
            <a:ext cx="604345" cy="5715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P1</a:t>
            </a:r>
          </a:p>
        </p:txBody>
      </p:sp>
      <p:sp>
        <p:nvSpPr>
          <p:cNvPr id="37" name="Oval 36"/>
          <p:cNvSpPr/>
          <p:nvPr/>
        </p:nvSpPr>
        <p:spPr>
          <a:xfrm>
            <a:off x="10770346" y="2678609"/>
            <a:ext cx="604345" cy="5715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P2</a:t>
            </a:r>
          </a:p>
        </p:txBody>
      </p:sp>
      <p:sp>
        <p:nvSpPr>
          <p:cNvPr id="38" name="Rectangle 37"/>
          <p:cNvSpPr/>
          <p:nvPr/>
        </p:nvSpPr>
        <p:spPr>
          <a:xfrm>
            <a:off x="8320343" y="1552030"/>
            <a:ext cx="609600" cy="571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R1</a:t>
            </a:r>
          </a:p>
        </p:txBody>
      </p:sp>
      <p:sp>
        <p:nvSpPr>
          <p:cNvPr id="39" name="Rectangle 38"/>
          <p:cNvSpPr/>
          <p:nvPr/>
        </p:nvSpPr>
        <p:spPr>
          <a:xfrm>
            <a:off x="10765091" y="1552030"/>
            <a:ext cx="609600" cy="571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R2</a:t>
            </a:r>
          </a:p>
        </p:txBody>
      </p:sp>
      <p:cxnSp>
        <p:nvCxnSpPr>
          <p:cNvPr id="41" name="Curved Connector 40"/>
          <p:cNvCxnSpPr>
            <a:stCxn id="49" idx="1"/>
            <a:endCxn id="48" idx="4"/>
          </p:cNvCxnSpPr>
          <p:nvPr/>
        </p:nvCxnSpPr>
        <p:spPr>
          <a:xfrm rot="10800000">
            <a:off x="8622516" y="3250109"/>
            <a:ext cx="999576" cy="424714"/>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urved Connector 42"/>
          <p:cNvCxnSpPr>
            <a:stCxn id="38" idx="0"/>
            <a:endCxn id="36" idx="2"/>
          </p:cNvCxnSpPr>
          <p:nvPr/>
        </p:nvCxnSpPr>
        <p:spPr>
          <a:xfrm rot="5400000" flipH="1" flipV="1">
            <a:off x="8922199" y="852138"/>
            <a:ext cx="402836" cy="996949"/>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urved Connector 43"/>
          <p:cNvCxnSpPr>
            <a:endCxn id="39" idx="0"/>
          </p:cNvCxnSpPr>
          <p:nvPr/>
        </p:nvCxnSpPr>
        <p:spPr>
          <a:xfrm>
            <a:off x="10238260" y="1171221"/>
            <a:ext cx="831631" cy="380809"/>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8567337" y="958505"/>
            <a:ext cx="566244" cy="307777"/>
          </a:xfrm>
          <a:prstGeom prst="rect">
            <a:avLst/>
          </a:prstGeom>
          <a:noFill/>
          <a:ln>
            <a:noFill/>
          </a:ln>
        </p:spPr>
        <p:txBody>
          <a:bodyPr wrap="square" rtlCol="0">
            <a:spAutoFit/>
          </a:bodyPr>
          <a:lstStyle/>
          <a:p>
            <a:pPr algn="r"/>
            <a:r>
              <a:rPr lang="en-US" sz="1400"/>
              <a:t>Hold</a:t>
            </a:r>
          </a:p>
        </p:txBody>
      </p:sp>
      <p:sp>
        <p:nvSpPr>
          <p:cNvPr id="46" name="TextBox 45"/>
          <p:cNvSpPr txBox="1"/>
          <p:nvPr/>
        </p:nvSpPr>
        <p:spPr>
          <a:xfrm>
            <a:off x="8516659" y="3509922"/>
            <a:ext cx="566244" cy="307777"/>
          </a:xfrm>
          <a:prstGeom prst="rect">
            <a:avLst/>
          </a:prstGeom>
          <a:noFill/>
          <a:ln>
            <a:noFill/>
          </a:ln>
        </p:spPr>
        <p:txBody>
          <a:bodyPr wrap="square" rtlCol="0">
            <a:spAutoFit/>
          </a:bodyPr>
          <a:lstStyle/>
          <a:p>
            <a:r>
              <a:rPr lang="en-US" sz="1400"/>
              <a:t>Hold</a:t>
            </a:r>
          </a:p>
        </p:txBody>
      </p:sp>
      <p:sp>
        <p:nvSpPr>
          <p:cNvPr id="47" name="TextBox 46"/>
          <p:cNvSpPr txBox="1"/>
          <p:nvPr/>
        </p:nvSpPr>
        <p:spPr>
          <a:xfrm>
            <a:off x="10612280" y="965604"/>
            <a:ext cx="777240" cy="307777"/>
          </a:xfrm>
          <a:prstGeom prst="rect">
            <a:avLst/>
          </a:prstGeom>
          <a:noFill/>
          <a:ln>
            <a:noFill/>
          </a:ln>
        </p:spPr>
        <p:txBody>
          <a:bodyPr wrap="square" rtlCol="0">
            <a:spAutoFit/>
          </a:bodyPr>
          <a:lstStyle/>
          <a:p>
            <a:r>
              <a:rPr lang="en-US" sz="1400"/>
              <a:t>Request</a:t>
            </a:r>
          </a:p>
        </p:txBody>
      </p:sp>
      <p:sp>
        <p:nvSpPr>
          <p:cNvPr id="48" name="Oval 47"/>
          <p:cNvSpPr/>
          <p:nvPr/>
        </p:nvSpPr>
        <p:spPr>
          <a:xfrm>
            <a:off x="8320343" y="2678609"/>
            <a:ext cx="604345" cy="5715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P3</a:t>
            </a:r>
          </a:p>
        </p:txBody>
      </p:sp>
      <p:sp>
        <p:nvSpPr>
          <p:cNvPr id="49" name="Rectangle 48"/>
          <p:cNvSpPr/>
          <p:nvPr/>
        </p:nvSpPr>
        <p:spPr>
          <a:xfrm>
            <a:off x="9622092" y="3389073"/>
            <a:ext cx="609600" cy="571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R3</a:t>
            </a:r>
          </a:p>
        </p:txBody>
      </p:sp>
      <p:cxnSp>
        <p:nvCxnSpPr>
          <p:cNvPr id="14" name="Straight Arrow Connector 13"/>
          <p:cNvCxnSpPr>
            <a:stCxn id="39" idx="2"/>
            <a:endCxn id="37" idx="0"/>
          </p:cNvCxnSpPr>
          <p:nvPr/>
        </p:nvCxnSpPr>
        <p:spPr>
          <a:xfrm>
            <a:off x="11069891" y="2123530"/>
            <a:ext cx="2628" cy="55507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11088942" y="2247181"/>
            <a:ext cx="566244" cy="307777"/>
          </a:xfrm>
          <a:prstGeom prst="rect">
            <a:avLst/>
          </a:prstGeom>
          <a:noFill/>
          <a:ln>
            <a:noFill/>
          </a:ln>
        </p:spPr>
        <p:txBody>
          <a:bodyPr wrap="square" rtlCol="0">
            <a:spAutoFit/>
          </a:bodyPr>
          <a:lstStyle/>
          <a:p>
            <a:r>
              <a:rPr lang="en-US" sz="1400"/>
              <a:t>Hold</a:t>
            </a:r>
          </a:p>
        </p:txBody>
      </p:sp>
      <p:cxnSp>
        <p:nvCxnSpPr>
          <p:cNvPr id="63" name="Straight Arrow Connector 62"/>
          <p:cNvCxnSpPr>
            <a:stCxn id="48" idx="0"/>
            <a:endCxn id="38" idx="2"/>
          </p:cNvCxnSpPr>
          <p:nvPr/>
        </p:nvCxnSpPr>
        <p:spPr>
          <a:xfrm flipV="1">
            <a:off x="8622516" y="2123530"/>
            <a:ext cx="2627" cy="55507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4" name="Curved Connector 83"/>
          <p:cNvCxnSpPr>
            <a:stCxn id="37" idx="4"/>
            <a:endCxn id="49" idx="3"/>
          </p:cNvCxnSpPr>
          <p:nvPr/>
        </p:nvCxnSpPr>
        <p:spPr>
          <a:xfrm rot="5400000">
            <a:off x="10439749" y="3042053"/>
            <a:ext cx="424714" cy="840827"/>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10758434" y="3528758"/>
            <a:ext cx="777240" cy="307777"/>
          </a:xfrm>
          <a:prstGeom prst="rect">
            <a:avLst/>
          </a:prstGeom>
          <a:noFill/>
          <a:ln>
            <a:noFill/>
          </a:ln>
        </p:spPr>
        <p:txBody>
          <a:bodyPr wrap="square" rtlCol="0">
            <a:spAutoFit/>
          </a:bodyPr>
          <a:lstStyle/>
          <a:p>
            <a:r>
              <a:rPr lang="en-US" sz="1400"/>
              <a:t>Request</a:t>
            </a:r>
          </a:p>
        </p:txBody>
      </p:sp>
      <p:sp>
        <p:nvSpPr>
          <p:cNvPr id="86" name="TextBox 85"/>
          <p:cNvSpPr txBox="1"/>
          <p:nvPr/>
        </p:nvSpPr>
        <p:spPr>
          <a:xfrm>
            <a:off x="7901243" y="2288381"/>
            <a:ext cx="777240" cy="307777"/>
          </a:xfrm>
          <a:prstGeom prst="rect">
            <a:avLst/>
          </a:prstGeom>
          <a:noFill/>
          <a:ln>
            <a:noFill/>
          </a:ln>
        </p:spPr>
        <p:txBody>
          <a:bodyPr wrap="square" rtlCol="0">
            <a:spAutoFit/>
          </a:bodyPr>
          <a:lstStyle/>
          <a:p>
            <a:r>
              <a:rPr lang="en-US" sz="1400"/>
              <a:t>Request</a:t>
            </a:r>
          </a:p>
        </p:txBody>
      </p:sp>
      <p:cxnSp>
        <p:nvCxnSpPr>
          <p:cNvPr id="87" name="Curved Connector 86"/>
          <p:cNvCxnSpPr/>
          <p:nvPr/>
        </p:nvCxnSpPr>
        <p:spPr>
          <a:xfrm flipV="1">
            <a:off x="10248115" y="3250109"/>
            <a:ext cx="840827" cy="424714"/>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8" name="TextBox 87"/>
          <p:cNvSpPr txBox="1"/>
          <p:nvPr/>
        </p:nvSpPr>
        <p:spPr>
          <a:xfrm>
            <a:off x="10522698" y="3682646"/>
            <a:ext cx="566244" cy="307777"/>
          </a:xfrm>
          <a:prstGeom prst="rect">
            <a:avLst/>
          </a:prstGeom>
          <a:noFill/>
          <a:ln>
            <a:noFill/>
          </a:ln>
        </p:spPr>
        <p:txBody>
          <a:bodyPr wrap="square" rtlCol="0">
            <a:spAutoFit/>
          </a:bodyPr>
          <a:lstStyle/>
          <a:p>
            <a:r>
              <a:rPr lang="en-US" sz="1400"/>
              <a:t>Hold</a:t>
            </a:r>
          </a:p>
        </p:txBody>
      </p:sp>
      <p:cxnSp>
        <p:nvCxnSpPr>
          <p:cNvPr id="89" name="Curved Connector 88"/>
          <p:cNvCxnSpPr/>
          <p:nvPr/>
        </p:nvCxnSpPr>
        <p:spPr>
          <a:xfrm rot="16200000" flipV="1">
            <a:off x="10465797" y="952655"/>
            <a:ext cx="402836" cy="843454"/>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10889490" y="1149193"/>
            <a:ext cx="566244" cy="307777"/>
          </a:xfrm>
          <a:prstGeom prst="rect">
            <a:avLst/>
          </a:prstGeom>
          <a:noFill/>
          <a:ln>
            <a:noFill/>
          </a:ln>
        </p:spPr>
        <p:txBody>
          <a:bodyPr wrap="square" rtlCol="0">
            <a:spAutoFit/>
          </a:bodyPr>
          <a:lstStyle/>
          <a:p>
            <a:r>
              <a:rPr lang="en-US" sz="1400"/>
              <a:t>Hold</a:t>
            </a:r>
          </a:p>
        </p:txBody>
      </p:sp>
    </p:spTree>
    <p:extLst>
      <p:ext uri="{BB962C8B-B14F-4D97-AF65-F5344CB8AC3E}">
        <p14:creationId xmlns:p14="http://schemas.microsoft.com/office/powerpoint/2010/main" val="24975558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500"/>
                                        <p:tgtEl>
                                          <p:spTgt spid="3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500"/>
                                        <p:tgtEl>
                                          <p:spTgt spid="3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500"/>
                                        <p:tgtEl>
                                          <p:spTgt spid="39"/>
                                        </p:tgtEl>
                                      </p:cBhvr>
                                    </p:animEffect>
                                  </p:childTnLst>
                                </p:cTn>
                              </p:par>
                              <p:par>
                                <p:cTn id="27" presetID="10" presetClass="entr" presetSubtype="0" fill="hold" nodeType="with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fade">
                                      <p:cBhvr>
                                        <p:cTn id="29" dur="500"/>
                                        <p:tgtEl>
                                          <p:spTgt spid="41"/>
                                        </p:tgtEl>
                                      </p:cBhvr>
                                    </p:animEffect>
                                  </p:childTnLst>
                                </p:cTn>
                              </p:par>
                              <p:par>
                                <p:cTn id="30" presetID="10" presetClass="entr" presetSubtype="0" fill="hold"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500"/>
                                        <p:tgtEl>
                                          <p:spTgt spid="43"/>
                                        </p:tgtEl>
                                      </p:cBhvr>
                                    </p:animEffect>
                                  </p:childTnLst>
                                </p:cTn>
                              </p:par>
                              <p:par>
                                <p:cTn id="33" presetID="10" presetClass="entr" presetSubtype="0" fill="hold" nodeType="with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500"/>
                                        <p:tgtEl>
                                          <p:spTgt spid="4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500"/>
                                        <p:tgtEl>
                                          <p:spTgt spid="4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500"/>
                                        <p:tgtEl>
                                          <p:spTgt spid="4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fade">
                                      <p:cBhvr>
                                        <p:cTn id="44" dur="500"/>
                                        <p:tgtEl>
                                          <p:spTgt spid="4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500"/>
                                        <p:tgtEl>
                                          <p:spTgt spid="4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fade">
                                      <p:cBhvr>
                                        <p:cTn id="50" dur="500"/>
                                        <p:tgtEl>
                                          <p:spTgt spid="49"/>
                                        </p:tgtEl>
                                      </p:cBhvr>
                                    </p:animEffect>
                                  </p:childTnLst>
                                </p:cTn>
                              </p:par>
                              <p:par>
                                <p:cTn id="51" presetID="10" presetClass="entr" presetSubtype="0" fill="hold"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1"/>
                                        </p:tgtEl>
                                        <p:attrNameLst>
                                          <p:attrName>style.visibility</p:attrName>
                                        </p:attrNameLst>
                                      </p:cBhvr>
                                      <p:to>
                                        <p:strVal val="visible"/>
                                      </p:to>
                                    </p:set>
                                    <p:animEffect transition="in" filter="fade">
                                      <p:cBhvr>
                                        <p:cTn id="56" dur="500"/>
                                        <p:tgtEl>
                                          <p:spTgt spid="61"/>
                                        </p:tgtEl>
                                      </p:cBhvr>
                                    </p:animEffect>
                                  </p:childTnLst>
                                </p:cTn>
                              </p:par>
                              <p:par>
                                <p:cTn id="57" presetID="10" presetClass="entr" presetSubtype="0" fill="hold" nodeType="withEffect">
                                  <p:stCondLst>
                                    <p:cond delay="0"/>
                                  </p:stCondLst>
                                  <p:childTnLst>
                                    <p:set>
                                      <p:cBhvr>
                                        <p:cTn id="58" dur="1" fill="hold">
                                          <p:stCondLst>
                                            <p:cond delay="0"/>
                                          </p:stCondLst>
                                        </p:cTn>
                                        <p:tgtEl>
                                          <p:spTgt spid="63"/>
                                        </p:tgtEl>
                                        <p:attrNameLst>
                                          <p:attrName>style.visibility</p:attrName>
                                        </p:attrNameLst>
                                      </p:cBhvr>
                                      <p:to>
                                        <p:strVal val="visible"/>
                                      </p:to>
                                    </p:set>
                                    <p:animEffect transition="in" filter="fade">
                                      <p:cBhvr>
                                        <p:cTn id="59" dur="500"/>
                                        <p:tgtEl>
                                          <p:spTgt spid="63"/>
                                        </p:tgtEl>
                                      </p:cBhvr>
                                    </p:animEffect>
                                  </p:childTnLst>
                                </p:cTn>
                              </p:par>
                              <p:par>
                                <p:cTn id="60" presetID="10" presetClass="entr" presetSubtype="0" fill="hold" nodeType="withEffect">
                                  <p:stCondLst>
                                    <p:cond delay="0"/>
                                  </p:stCondLst>
                                  <p:childTnLst>
                                    <p:set>
                                      <p:cBhvr>
                                        <p:cTn id="61" dur="1" fill="hold">
                                          <p:stCondLst>
                                            <p:cond delay="0"/>
                                          </p:stCondLst>
                                        </p:cTn>
                                        <p:tgtEl>
                                          <p:spTgt spid="84"/>
                                        </p:tgtEl>
                                        <p:attrNameLst>
                                          <p:attrName>style.visibility</p:attrName>
                                        </p:attrNameLst>
                                      </p:cBhvr>
                                      <p:to>
                                        <p:strVal val="visible"/>
                                      </p:to>
                                    </p:set>
                                    <p:animEffect transition="in" filter="fade">
                                      <p:cBhvr>
                                        <p:cTn id="62" dur="500"/>
                                        <p:tgtEl>
                                          <p:spTgt spid="8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85"/>
                                        </p:tgtEl>
                                        <p:attrNameLst>
                                          <p:attrName>style.visibility</p:attrName>
                                        </p:attrNameLst>
                                      </p:cBhvr>
                                      <p:to>
                                        <p:strVal val="visible"/>
                                      </p:to>
                                    </p:set>
                                    <p:animEffect transition="in" filter="fade">
                                      <p:cBhvr>
                                        <p:cTn id="65" dur="500"/>
                                        <p:tgtEl>
                                          <p:spTgt spid="8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86"/>
                                        </p:tgtEl>
                                        <p:attrNameLst>
                                          <p:attrName>style.visibility</p:attrName>
                                        </p:attrNameLst>
                                      </p:cBhvr>
                                      <p:to>
                                        <p:strVal val="visible"/>
                                      </p:to>
                                    </p:set>
                                    <p:animEffect transition="in" filter="fade">
                                      <p:cBhvr>
                                        <p:cTn id="68" dur="500"/>
                                        <p:tgtEl>
                                          <p:spTgt spid="86"/>
                                        </p:tgtEl>
                                      </p:cBhvr>
                                    </p:animEffect>
                                  </p:childTnLst>
                                </p:cTn>
                              </p:par>
                            </p:childTnLst>
                          </p:cTn>
                        </p:par>
                      </p:childTnLst>
                    </p:cTn>
                  </p:par>
                  <p:par>
                    <p:cTn id="69" fill="hold" nodeType="clickPar">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3">
                                            <p:txEl>
                                              <p:pRg st="2" end="2"/>
                                            </p:txEl>
                                          </p:spTgt>
                                        </p:tgtEl>
                                        <p:attrNameLst>
                                          <p:attrName>style.visibility</p:attrName>
                                        </p:attrNameLst>
                                      </p:cBhvr>
                                      <p:to>
                                        <p:strVal val="visible"/>
                                      </p:to>
                                    </p:set>
                                    <p:animEffect transition="in" filter="fade">
                                      <p:cBhvr>
                                        <p:cTn id="73" dur="500"/>
                                        <p:tgtEl>
                                          <p:spTgt spid="3">
                                            <p:txEl>
                                              <p:pRg st="2" end="2"/>
                                            </p:txEl>
                                          </p:spTgt>
                                        </p:tgtEl>
                                      </p:cBhvr>
                                    </p:animEffect>
                                  </p:childTnLst>
                                </p:cTn>
                              </p:par>
                            </p:childTnLst>
                          </p:cTn>
                        </p:par>
                      </p:childTnLst>
                    </p:cTn>
                  </p:par>
                  <p:par>
                    <p:cTn id="74" fill="hold" nodeType="clickPar">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3">
                                            <p:txEl>
                                              <p:pRg st="3" end="3"/>
                                            </p:txEl>
                                          </p:spTgt>
                                        </p:tgtEl>
                                        <p:attrNameLst>
                                          <p:attrName>style.visibility</p:attrName>
                                        </p:attrNameLst>
                                      </p:cBhvr>
                                      <p:to>
                                        <p:strVal val="visible"/>
                                      </p:to>
                                    </p:set>
                                    <p:animEffect transition="in" filter="fade">
                                      <p:cBhvr>
                                        <p:cTn id="78" dur="500"/>
                                        <p:tgtEl>
                                          <p:spTgt spid="3">
                                            <p:txEl>
                                              <p:pRg st="3" end="3"/>
                                            </p:txEl>
                                          </p:spTgt>
                                        </p:tgtEl>
                                      </p:cBhvr>
                                    </p:animEffect>
                                  </p:childTnLst>
                                </p:cTn>
                              </p:par>
                            </p:childTnLst>
                          </p:cTn>
                        </p:par>
                      </p:childTnLst>
                    </p:cTn>
                  </p:par>
                  <p:par>
                    <p:cTn id="79" fill="hold" nodeType="clickPar">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3">
                                            <p:txEl>
                                              <p:pRg st="4" end="4"/>
                                            </p:txEl>
                                          </p:spTgt>
                                        </p:tgtEl>
                                        <p:attrNameLst>
                                          <p:attrName>style.visibility</p:attrName>
                                        </p:attrNameLst>
                                      </p:cBhvr>
                                      <p:to>
                                        <p:strVal val="visible"/>
                                      </p:to>
                                    </p:set>
                                    <p:animEffect transition="in" filter="fade">
                                      <p:cBhvr>
                                        <p:cTn id="83" dur="500"/>
                                        <p:tgtEl>
                                          <p:spTgt spid="3">
                                            <p:txEl>
                                              <p:pRg st="4" end="4"/>
                                            </p:txEl>
                                          </p:spTgt>
                                        </p:tgtEl>
                                      </p:cBhvr>
                                    </p:animEffect>
                                  </p:childTnLst>
                                </p:cTn>
                              </p:par>
                            </p:childTnLst>
                          </p:cTn>
                        </p:par>
                      </p:childTnLst>
                    </p:cTn>
                  </p:par>
                  <p:par>
                    <p:cTn id="84" fill="hold" nodeType="clickPar">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
                                            <p:txEl>
                                              <p:pRg st="5" end="5"/>
                                            </p:txEl>
                                          </p:spTgt>
                                        </p:tgtEl>
                                        <p:attrNameLst>
                                          <p:attrName>style.visibility</p:attrName>
                                        </p:attrNameLst>
                                      </p:cBhvr>
                                      <p:to>
                                        <p:strVal val="visible"/>
                                      </p:to>
                                    </p:set>
                                    <p:animEffect transition="in" filter="fade">
                                      <p:cBhvr>
                                        <p:cTn id="88" dur="500"/>
                                        <p:tgtEl>
                                          <p:spTgt spid="3">
                                            <p:txEl>
                                              <p:pRg st="5" end="5"/>
                                            </p:txEl>
                                          </p:spTgt>
                                        </p:tgtEl>
                                      </p:cBhvr>
                                    </p:animEffect>
                                  </p:childTnLst>
                                </p:cTn>
                              </p:par>
                            </p:childTnLst>
                          </p:cTn>
                        </p:par>
                      </p:childTnLst>
                    </p:cTn>
                  </p:par>
                  <p:par>
                    <p:cTn id="89" fill="hold" nodeType="clickPar">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3">
                                            <p:txEl>
                                              <p:pRg st="6" end="6"/>
                                            </p:txEl>
                                          </p:spTgt>
                                        </p:tgtEl>
                                        <p:attrNameLst>
                                          <p:attrName>style.visibility</p:attrName>
                                        </p:attrNameLst>
                                      </p:cBhvr>
                                      <p:to>
                                        <p:strVal val="visible"/>
                                      </p:to>
                                    </p:set>
                                    <p:animEffect transition="in" filter="fade">
                                      <p:cBhvr>
                                        <p:cTn id="93" dur="500"/>
                                        <p:tgtEl>
                                          <p:spTgt spid="3">
                                            <p:txEl>
                                              <p:pRg st="6" end="6"/>
                                            </p:txEl>
                                          </p:spTgt>
                                        </p:tgtEl>
                                      </p:cBhvr>
                                    </p:animEffect>
                                  </p:childTnLst>
                                </p:cTn>
                              </p:par>
                            </p:childTnLst>
                          </p:cTn>
                        </p:par>
                      </p:childTnLst>
                    </p:cTn>
                  </p:par>
                  <p:par>
                    <p:cTn id="94" fill="hold" nodeType="clickPar">
                      <p:stCondLst>
                        <p:cond delay="indefinite"/>
                      </p:stCondLst>
                      <p:childTnLst>
                        <p:par>
                          <p:cTn id="95" fill="hold">
                            <p:stCondLst>
                              <p:cond delay="0"/>
                            </p:stCondLst>
                            <p:childTnLst>
                              <p:par>
                                <p:cTn id="96" presetID="10" presetClass="exit" presetSubtype="0" fill="hold" nodeType="clickEffect">
                                  <p:stCondLst>
                                    <p:cond delay="0"/>
                                  </p:stCondLst>
                                  <p:childTnLst>
                                    <p:animEffect transition="out" filter="fade">
                                      <p:cBhvr>
                                        <p:cTn id="97" dur="500"/>
                                        <p:tgtEl>
                                          <p:spTgt spid="41"/>
                                        </p:tgtEl>
                                      </p:cBhvr>
                                    </p:animEffect>
                                    <p:set>
                                      <p:cBhvr>
                                        <p:cTn id="98" dur="1" fill="hold">
                                          <p:stCondLst>
                                            <p:cond delay="499"/>
                                          </p:stCondLst>
                                        </p:cTn>
                                        <p:tgtEl>
                                          <p:spTgt spid="41"/>
                                        </p:tgtEl>
                                        <p:attrNameLst>
                                          <p:attrName>style.visibility</p:attrName>
                                        </p:attrNameLst>
                                      </p:cBhvr>
                                      <p:to>
                                        <p:strVal val="hidden"/>
                                      </p:to>
                                    </p:set>
                                  </p:childTnLst>
                                </p:cTn>
                              </p:par>
                              <p:par>
                                <p:cTn id="99" presetID="10" presetClass="exit" presetSubtype="0" fill="hold" grpId="1" nodeType="withEffect">
                                  <p:stCondLst>
                                    <p:cond delay="0"/>
                                  </p:stCondLst>
                                  <p:childTnLst>
                                    <p:animEffect transition="out" filter="fade">
                                      <p:cBhvr>
                                        <p:cTn id="100" dur="500"/>
                                        <p:tgtEl>
                                          <p:spTgt spid="46"/>
                                        </p:tgtEl>
                                      </p:cBhvr>
                                    </p:animEffect>
                                    <p:set>
                                      <p:cBhvr>
                                        <p:cTn id="101" dur="1" fill="hold">
                                          <p:stCondLst>
                                            <p:cond delay="499"/>
                                          </p:stCondLst>
                                        </p:cTn>
                                        <p:tgtEl>
                                          <p:spTgt spid="46"/>
                                        </p:tgtEl>
                                        <p:attrNameLst>
                                          <p:attrName>style.visibility</p:attrName>
                                        </p:attrNameLst>
                                      </p:cBhvr>
                                      <p:to>
                                        <p:strVal val="hidden"/>
                                      </p:to>
                                    </p:set>
                                  </p:childTnLst>
                                </p:cTn>
                              </p:par>
                              <p:par>
                                <p:cTn id="102" presetID="10" presetClass="exit" presetSubtype="0" fill="hold" grpId="1" nodeType="withEffect">
                                  <p:stCondLst>
                                    <p:cond delay="0"/>
                                  </p:stCondLst>
                                  <p:childTnLst>
                                    <p:animEffect transition="out" filter="fade">
                                      <p:cBhvr>
                                        <p:cTn id="103" dur="500"/>
                                        <p:tgtEl>
                                          <p:spTgt spid="48"/>
                                        </p:tgtEl>
                                      </p:cBhvr>
                                    </p:animEffect>
                                    <p:set>
                                      <p:cBhvr>
                                        <p:cTn id="104" dur="1" fill="hold">
                                          <p:stCondLst>
                                            <p:cond delay="499"/>
                                          </p:stCondLst>
                                        </p:cTn>
                                        <p:tgtEl>
                                          <p:spTgt spid="48"/>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500"/>
                                        <p:tgtEl>
                                          <p:spTgt spid="63"/>
                                        </p:tgtEl>
                                      </p:cBhvr>
                                    </p:animEffect>
                                    <p:set>
                                      <p:cBhvr>
                                        <p:cTn id="107" dur="1" fill="hold">
                                          <p:stCondLst>
                                            <p:cond delay="499"/>
                                          </p:stCondLst>
                                        </p:cTn>
                                        <p:tgtEl>
                                          <p:spTgt spid="63"/>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500"/>
                                        <p:tgtEl>
                                          <p:spTgt spid="84"/>
                                        </p:tgtEl>
                                      </p:cBhvr>
                                    </p:animEffect>
                                    <p:set>
                                      <p:cBhvr>
                                        <p:cTn id="110" dur="1" fill="hold">
                                          <p:stCondLst>
                                            <p:cond delay="499"/>
                                          </p:stCondLst>
                                        </p:cTn>
                                        <p:tgtEl>
                                          <p:spTgt spid="84"/>
                                        </p:tgtEl>
                                        <p:attrNameLst>
                                          <p:attrName>style.visibility</p:attrName>
                                        </p:attrNameLst>
                                      </p:cBhvr>
                                      <p:to>
                                        <p:strVal val="hidden"/>
                                      </p:to>
                                    </p:set>
                                  </p:childTnLst>
                                </p:cTn>
                              </p:par>
                              <p:par>
                                <p:cTn id="111" presetID="10" presetClass="exit" presetSubtype="0" fill="hold" grpId="1" nodeType="withEffect">
                                  <p:stCondLst>
                                    <p:cond delay="0"/>
                                  </p:stCondLst>
                                  <p:childTnLst>
                                    <p:animEffect transition="out" filter="fade">
                                      <p:cBhvr>
                                        <p:cTn id="112" dur="500"/>
                                        <p:tgtEl>
                                          <p:spTgt spid="85"/>
                                        </p:tgtEl>
                                      </p:cBhvr>
                                    </p:animEffect>
                                    <p:set>
                                      <p:cBhvr>
                                        <p:cTn id="113" dur="1" fill="hold">
                                          <p:stCondLst>
                                            <p:cond delay="499"/>
                                          </p:stCondLst>
                                        </p:cTn>
                                        <p:tgtEl>
                                          <p:spTgt spid="85"/>
                                        </p:tgtEl>
                                        <p:attrNameLst>
                                          <p:attrName>style.visibility</p:attrName>
                                        </p:attrNameLst>
                                      </p:cBhvr>
                                      <p:to>
                                        <p:strVal val="hidden"/>
                                      </p:to>
                                    </p:set>
                                  </p:childTnLst>
                                </p:cTn>
                              </p:par>
                              <p:par>
                                <p:cTn id="114" presetID="10" presetClass="exit" presetSubtype="0" fill="hold" grpId="1" nodeType="withEffect">
                                  <p:stCondLst>
                                    <p:cond delay="0"/>
                                  </p:stCondLst>
                                  <p:childTnLst>
                                    <p:animEffect transition="out" filter="fade">
                                      <p:cBhvr>
                                        <p:cTn id="115" dur="500"/>
                                        <p:tgtEl>
                                          <p:spTgt spid="86"/>
                                        </p:tgtEl>
                                      </p:cBhvr>
                                    </p:animEffect>
                                    <p:set>
                                      <p:cBhvr>
                                        <p:cTn id="116" dur="1" fill="hold">
                                          <p:stCondLst>
                                            <p:cond delay="499"/>
                                          </p:stCondLst>
                                        </p:cTn>
                                        <p:tgtEl>
                                          <p:spTgt spid="86"/>
                                        </p:tgtEl>
                                        <p:attrNameLst>
                                          <p:attrName>style.visibility</p:attrName>
                                        </p:attrNameLst>
                                      </p:cBhvr>
                                      <p:to>
                                        <p:strVal val="hidden"/>
                                      </p:to>
                                    </p:set>
                                  </p:childTnLst>
                                </p:cTn>
                              </p:par>
                              <p:par>
                                <p:cTn id="117" presetID="10" presetClass="entr" presetSubtype="0" fill="hold" nodeType="withEffect">
                                  <p:stCondLst>
                                    <p:cond delay="0"/>
                                  </p:stCondLst>
                                  <p:childTnLst>
                                    <p:set>
                                      <p:cBhvr>
                                        <p:cTn id="118" dur="1" fill="hold">
                                          <p:stCondLst>
                                            <p:cond delay="0"/>
                                          </p:stCondLst>
                                        </p:cTn>
                                        <p:tgtEl>
                                          <p:spTgt spid="87"/>
                                        </p:tgtEl>
                                        <p:attrNameLst>
                                          <p:attrName>style.visibility</p:attrName>
                                        </p:attrNameLst>
                                      </p:cBhvr>
                                      <p:to>
                                        <p:strVal val="visible"/>
                                      </p:to>
                                    </p:set>
                                    <p:animEffect transition="in" filter="fade">
                                      <p:cBhvr>
                                        <p:cTn id="119" dur="500"/>
                                        <p:tgtEl>
                                          <p:spTgt spid="87"/>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88"/>
                                        </p:tgtEl>
                                        <p:attrNameLst>
                                          <p:attrName>style.visibility</p:attrName>
                                        </p:attrNameLst>
                                      </p:cBhvr>
                                      <p:to>
                                        <p:strVal val="visible"/>
                                      </p:to>
                                    </p:set>
                                    <p:animEffect transition="in" filter="fade">
                                      <p:cBhvr>
                                        <p:cTn id="122" dur="500"/>
                                        <p:tgtEl>
                                          <p:spTgt spid="88"/>
                                        </p:tgtEl>
                                      </p:cBhvr>
                                    </p:animEffect>
                                  </p:childTnLst>
                                </p:cTn>
                              </p:par>
                            </p:childTnLst>
                          </p:cTn>
                        </p:par>
                      </p:childTnLst>
                    </p:cTn>
                  </p:par>
                  <p:par>
                    <p:cTn id="123" fill="hold" nodeType="clickPar">
                      <p:stCondLst>
                        <p:cond delay="indefinite"/>
                      </p:stCondLst>
                      <p:childTnLst>
                        <p:par>
                          <p:cTn id="124" fill="hold">
                            <p:stCondLst>
                              <p:cond delay="0"/>
                            </p:stCondLst>
                            <p:childTnLst>
                              <p:par>
                                <p:cTn id="125" presetID="10" presetClass="exit" presetSubtype="0" fill="hold" grpId="1" nodeType="clickEffect">
                                  <p:stCondLst>
                                    <p:cond delay="0"/>
                                  </p:stCondLst>
                                  <p:childTnLst>
                                    <p:animEffect transition="out" filter="fade">
                                      <p:cBhvr>
                                        <p:cTn id="126" dur="500"/>
                                        <p:tgtEl>
                                          <p:spTgt spid="37"/>
                                        </p:tgtEl>
                                      </p:cBhvr>
                                    </p:animEffect>
                                    <p:set>
                                      <p:cBhvr>
                                        <p:cTn id="127" dur="1" fill="hold">
                                          <p:stCondLst>
                                            <p:cond delay="499"/>
                                          </p:stCondLst>
                                        </p:cTn>
                                        <p:tgtEl>
                                          <p:spTgt spid="37"/>
                                        </p:tgtEl>
                                        <p:attrNameLst>
                                          <p:attrName>style.visibility</p:attrName>
                                        </p:attrNameLst>
                                      </p:cBhvr>
                                      <p:to>
                                        <p:strVal val="hidden"/>
                                      </p:to>
                                    </p:set>
                                  </p:childTnLst>
                                </p:cTn>
                              </p:par>
                              <p:par>
                                <p:cTn id="128" presetID="10" presetClass="exit" presetSubtype="0" fill="hold" grpId="1" nodeType="withEffect">
                                  <p:stCondLst>
                                    <p:cond delay="0"/>
                                  </p:stCondLst>
                                  <p:childTnLst>
                                    <p:animEffect transition="out" filter="fade">
                                      <p:cBhvr>
                                        <p:cTn id="129" dur="500"/>
                                        <p:tgtEl>
                                          <p:spTgt spid="49"/>
                                        </p:tgtEl>
                                      </p:cBhvr>
                                    </p:animEffect>
                                    <p:set>
                                      <p:cBhvr>
                                        <p:cTn id="130" dur="1" fill="hold">
                                          <p:stCondLst>
                                            <p:cond delay="499"/>
                                          </p:stCondLst>
                                        </p:cTn>
                                        <p:tgtEl>
                                          <p:spTgt spid="49"/>
                                        </p:tgtEl>
                                        <p:attrNameLst>
                                          <p:attrName>style.visibility</p:attrName>
                                        </p:attrNameLst>
                                      </p:cBhvr>
                                      <p:to>
                                        <p:strVal val="hidden"/>
                                      </p:to>
                                    </p:set>
                                  </p:childTnLst>
                                </p:cTn>
                              </p:par>
                              <p:par>
                                <p:cTn id="131" presetID="10" presetClass="exit" presetSubtype="0" fill="hold" grpId="1" nodeType="withEffect">
                                  <p:stCondLst>
                                    <p:cond delay="0"/>
                                  </p:stCondLst>
                                  <p:childTnLst>
                                    <p:animEffect transition="out" filter="fade">
                                      <p:cBhvr>
                                        <p:cTn id="132" dur="500"/>
                                        <p:tgtEl>
                                          <p:spTgt spid="61"/>
                                        </p:tgtEl>
                                      </p:cBhvr>
                                    </p:animEffect>
                                    <p:set>
                                      <p:cBhvr>
                                        <p:cTn id="133" dur="1" fill="hold">
                                          <p:stCondLst>
                                            <p:cond delay="499"/>
                                          </p:stCondLst>
                                        </p:cTn>
                                        <p:tgtEl>
                                          <p:spTgt spid="61"/>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500"/>
                                        <p:tgtEl>
                                          <p:spTgt spid="84"/>
                                        </p:tgtEl>
                                      </p:cBhvr>
                                    </p:animEffect>
                                    <p:set>
                                      <p:cBhvr>
                                        <p:cTn id="136" dur="1" fill="hold">
                                          <p:stCondLst>
                                            <p:cond delay="499"/>
                                          </p:stCondLst>
                                        </p:cTn>
                                        <p:tgtEl>
                                          <p:spTgt spid="84"/>
                                        </p:tgtEl>
                                        <p:attrNameLst>
                                          <p:attrName>style.visibility</p:attrName>
                                        </p:attrNameLst>
                                      </p:cBhvr>
                                      <p:to>
                                        <p:strVal val="hidden"/>
                                      </p:to>
                                    </p:set>
                                  </p:childTnLst>
                                </p:cTn>
                              </p:par>
                              <p:par>
                                <p:cTn id="137" presetID="10" presetClass="exit" presetSubtype="0" fill="hold" grpId="2" nodeType="withEffect">
                                  <p:stCondLst>
                                    <p:cond delay="0"/>
                                  </p:stCondLst>
                                  <p:childTnLst>
                                    <p:animEffect transition="out" filter="fade">
                                      <p:cBhvr>
                                        <p:cTn id="138" dur="500"/>
                                        <p:tgtEl>
                                          <p:spTgt spid="85"/>
                                        </p:tgtEl>
                                      </p:cBhvr>
                                    </p:animEffect>
                                    <p:set>
                                      <p:cBhvr>
                                        <p:cTn id="139" dur="1" fill="hold">
                                          <p:stCondLst>
                                            <p:cond delay="499"/>
                                          </p:stCondLst>
                                        </p:cTn>
                                        <p:tgtEl>
                                          <p:spTgt spid="85"/>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500"/>
                                        <p:tgtEl>
                                          <p:spTgt spid="87"/>
                                        </p:tgtEl>
                                      </p:cBhvr>
                                    </p:animEffect>
                                    <p:set>
                                      <p:cBhvr>
                                        <p:cTn id="142" dur="1" fill="hold">
                                          <p:stCondLst>
                                            <p:cond delay="499"/>
                                          </p:stCondLst>
                                        </p:cTn>
                                        <p:tgtEl>
                                          <p:spTgt spid="87"/>
                                        </p:tgtEl>
                                        <p:attrNameLst>
                                          <p:attrName>style.visibility</p:attrName>
                                        </p:attrNameLst>
                                      </p:cBhvr>
                                      <p:to>
                                        <p:strVal val="hidden"/>
                                      </p:to>
                                    </p:set>
                                  </p:childTnLst>
                                </p:cTn>
                              </p:par>
                              <p:par>
                                <p:cTn id="143" presetID="10" presetClass="exit" presetSubtype="0" fill="hold" grpId="1" nodeType="withEffect">
                                  <p:stCondLst>
                                    <p:cond delay="0"/>
                                  </p:stCondLst>
                                  <p:childTnLst>
                                    <p:animEffect transition="out" filter="fade">
                                      <p:cBhvr>
                                        <p:cTn id="144" dur="500"/>
                                        <p:tgtEl>
                                          <p:spTgt spid="88"/>
                                        </p:tgtEl>
                                      </p:cBhvr>
                                    </p:animEffect>
                                    <p:set>
                                      <p:cBhvr>
                                        <p:cTn id="145" dur="1" fill="hold">
                                          <p:stCondLst>
                                            <p:cond delay="499"/>
                                          </p:stCondLst>
                                        </p:cTn>
                                        <p:tgtEl>
                                          <p:spTgt spid="88"/>
                                        </p:tgtEl>
                                        <p:attrNameLst>
                                          <p:attrName>style.visibility</p:attrName>
                                        </p:attrNameLst>
                                      </p:cBhvr>
                                      <p:to>
                                        <p:strVal val="hidden"/>
                                      </p:to>
                                    </p:set>
                                  </p:childTnLst>
                                </p:cTn>
                              </p:par>
                              <p:par>
                                <p:cTn id="146" presetID="10" presetClass="exit" presetSubtype="0" fill="hold" grpId="1" nodeType="withEffect">
                                  <p:stCondLst>
                                    <p:cond delay="0"/>
                                  </p:stCondLst>
                                  <p:childTnLst>
                                    <p:animEffect transition="out" filter="fade">
                                      <p:cBhvr>
                                        <p:cTn id="147" dur="500"/>
                                        <p:tgtEl>
                                          <p:spTgt spid="47"/>
                                        </p:tgtEl>
                                      </p:cBhvr>
                                    </p:animEffect>
                                    <p:set>
                                      <p:cBhvr>
                                        <p:cTn id="148" dur="1" fill="hold">
                                          <p:stCondLst>
                                            <p:cond delay="499"/>
                                          </p:stCondLst>
                                        </p:cTn>
                                        <p:tgtEl>
                                          <p:spTgt spid="47"/>
                                        </p:tgtEl>
                                        <p:attrNameLst>
                                          <p:attrName>style.visibility</p:attrName>
                                        </p:attrNameLst>
                                      </p:cBhvr>
                                      <p:to>
                                        <p:strVal val="hidden"/>
                                      </p:to>
                                    </p:set>
                                  </p:childTnLst>
                                </p:cTn>
                              </p:par>
                              <p:par>
                                <p:cTn id="149" presetID="10" presetClass="exit" presetSubtype="0" fill="hold" nodeType="withEffect">
                                  <p:stCondLst>
                                    <p:cond delay="0"/>
                                  </p:stCondLst>
                                  <p:childTnLst>
                                    <p:animEffect transition="out" filter="fade">
                                      <p:cBhvr>
                                        <p:cTn id="150" dur="500"/>
                                        <p:tgtEl>
                                          <p:spTgt spid="44"/>
                                        </p:tgtEl>
                                      </p:cBhvr>
                                    </p:animEffect>
                                    <p:set>
                                      <p:cBhvr>
                                        <p:cTn id="151" dur="1" fill="hold">
                                          <p:stCondLst>
                                            <p:cond delay="499"/>
                                          </p:stCondLst>
                                        </p:cTn>
                                        <p:tgtEl>
                                          <p:spTgt spid="44"/>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500"/>
                                        <p:tgtEl>
                                          <p:spTgt spid="14"/>
                                        </p:tgtEl>
                                      </p:cBhvr>
                                    </p:animEffect>
                                    <p:set>
                                      <p:cBhvr>
                                        <p:cTn id="154" dur="1" fill="hold">
                                          <p:stCondLst>
                                            <p:cond delay="499"/>
                                          </p:stCondLst>
                                        </p:cTn>
                                        <p:tgtEl>
                                          <p:spTgt spid="14"/>
                                        </p:tgtEl>
                                        <p:attrNameLst>
                                          <p:attrName>style.visibility</p:attrName>
                                        </p:attrNameLst>
                                      </p:cBhvr>
                                      <p:to>
                                        <p:strVal val="hidden"/>
                                      </p:to>
                                    </p:set>
                                  </p:childTnLst>
                                </p:cTn>
                              </p:par>
                              <p:par>
                                <p:cTn id="155" presetID="10" presetClass="entr" presetSubtype="0" fill="hold" nodeType="withEffect">
                                  <p:stCondLst>
                                    <p:cond delay="0"/>
                                  </p:stCondLst>
                                  <p:childTnLst>
                                    <p:set>
                                      <p:cBhvr>
                                        <p:cTn id="156" dur="1" fill="hold">
                                          <p:stCondLst>
                                            <p:cond delay="0"/>
                                          </p:stCondLst>
                                        </p:cTn>
                                        <p:tgtEl>
                                          <p:spTgt spid="89"/>
                                        </p:tgtEl>
                                        <p:attrNameLst>
                                          <p:attrName>style.visibility</p:attrName>
                                        </p:attrNameLst>
                                      </p:cBhvr>
                                      <p:to>
                                        <p:strVal val="visible"/>
                                      </p:to>
                                    </p:set>
                                    <p:animEffect transition="in" filter="fade">
                                      <p:cBhvr>
                                        <p:cTn id="157" dur="500"/>
                                        <p:tgtEl>
                                          <p:spTgt spid="89"/>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90"/>
                                        </p:tgtEl>
                                        <p:attrNameLst>
                                          <p:attrName>style.visibility</p:attrName>
                                        </p:attrNameLst>
                                      </p:cBhvr>
                                      <p:to>
                                        <p:strVal val="visible"/>
                                      </p:to>
                                    </p:set>
                                    <p:animEffect transition="in" filter="fade">
                                      <p:cBhvr>
                                        <p:cTn id="160"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7" grpId="1" animBg="1"/>
      <p:bldP spid="38" grpId="0" animBg="1"/>
      <p:bldP spid="39" grpId="0" animBg="1"/>
      <p:bldP spid="45" grpId="0"/>
      <p:bldP spid="46" grpId="0"/>
      <p:bldP spid="46" grpId="1"/>
      <p:bldP spid="47" grpId="0"/>
      <p:bldP spid="47" grpId="1"/>
      <p:bldP spid="48" grpId="0" animBg="1"/>
      <p:bldP spid="48" grpId="1" animBg="1"/>
      <p:bldP spid="49" grpId="0" animBg="1"/>
      <p:bldP spid="49" grpId="1" animBg="1"/>
      <p:bldP spid="61" grpId="0"/>
      <p:bldP spid="61" grpId="1"/>
      <p:bldP spid="85" grpId="0"/>
      <p:bldP spid="85" grpId="1"/>
      <p:bldP spid="85" grpId="2"/>
      <p:bldP spid="86" grpId="0"/>
      <p:bldP spid="86" grpId="1"/>
      <p:bldP spid="88" grpId="0"/>
      <p:bldP spid="88" grpId="1"/>
      <p:bldP spid="9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gradFill flip="none" rotWithShape="1">
                  <a:gsLst>
                    <a:gs pos="10000">
                      <a:schemeClr val="accent6">
                        <a:lumMod val="50000"/>
                      </a:schemeClr>
                    </a:gs>
                    <a:gs pos="100000">
                      <a:schemeClr val="accent6"/>
                    </a:gs>
                  </a:gsLst>
                  <a:lin ang="0" scaled="1"/>
                </a:gradFill>
              </a:rPr>
              <a:t>Deadlock avoidance </a:t>
            </a:r>
            <a:br>
              <a:rPr lang="en-US">
                <a:gradFill flip="none" rotWithShape="1">
                  <a:gsLst>
                    <a:gs pos="10000">
                      <a:schemeClr val="accent6">
                        <a:lumMod val="50000"/>
                      </a:schemeClr>
                    </a:gs>
                    <a:gs pos="100000">
                      <a:schemeClr val="accent6"/>
                    </a:gs>
                  </a:gsLst>
                  <a:lin ang="0" scaled="1"/>
                </a:gradFill>
              </a:rPr>
            </a:br>
            <a:r>
              <a:rPr lang="en-US">
                <a:gradFill flip="none" rotWithShape="1">
                  <a:gsLst>
                    <a:gs pos="10000">
                      <a:schemeClr val="accent6">
                        <a:lumMod val="50000"/>
                      </a:schemeClr>
                    </a:gs>
                    <a:gs pos="100000">
                      <a:schemeClr val="accent6"/>
                    </a:gs>
                  </a:gsLst>
                  <a:lin ang="0" scaled="1"/>
                </a:gradFill>
              </a:rPr>
              <a:t>(Banker’s algorithm)</a:t>
            </a:r>
          </a:p>
        </p:txBody>
      </p:sp>
      <p:sp>
        <p:nvSpPr>
          <p:cNvPr id="5" name="Text Placeholder 4"/>
          <p:cNvSpPr>
            <a:spLocks noGrp="1"/>
          </p:cNvSpPr>
          <p:nvPr>
            <p:ph type="body" idx="1"/>
          </p:nvPr>
        </p:nvSpPr>
        <p:spPr/>
        <p:txBody>
          <a:bodyPr/>
          <a:lstStyle/>
          <a:p>
            <a:r>
              <a:rPr lang="en-US"/>
              <a:t>Section - 5</a:t>
            </a:r>
          </a:p>
          <a:p>
            <a:endParaRPr lang="en-US"/>
          </a:p>
        </p:txBody>
      </p:sp>
    </p:spTree>
    <p:extLst>
      <p:ext uri="{BB962C8B-B14F-4D97-AF65-F5344CB8AC3E}">
        <p14:creationId xmlns:p14="http://schemas.microsoft.com/office/powerpoint/2010/main" val="2424803616"/>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Safe and unsafe states</a:t>
            </a:r>
            <a:endParaRPr lang="en-US"/>
          </a:p>
        </p:txBody>
      </p:sp>
      <p:sp>
        <p:nvSpPr>
          <p:cNvPr id="3" name="Content Placeholder 2"/>
          <p:cNvSpPr>
            <a:spLocks noGrp="1"/>
          </p:cNvSpPr>
          <p:nvPr>
            <p:ph idx="1"/>
          </p:nvPr>
        </p:nvSpPr>
        <p:spPr/>
        <p:txBody>
          <a:bodyPr/>
          <a:lstStyle/>
          <a:p>
            <a:r>
              <a:rPr lang="en-US" dirty="0"/>
              <a:t>A state is said to be safe </a:t>
            </a:r>
            <a:r>
              <a:rPr lang="en-US" b="1" dirty="0">
                <a:solidFill>
                  <a:schemeClr val="accent6"/>
                </a:solidFill>
              </a:rPr>
              <a:t>if it is not deadlocked </a:t>
            </a:r>
            <a:r>
              <a:rPr lang="en-US" dirty="0"/>
              <a:t>and </a:t>
            </a:r>
            <a:r>
              <a:rPr lang="en-US" b="1" dirty="0">
                <a:solidFill>
                  <a:schemeClr val="accent6"/>
                </a:solidFill>
              </a:rPr>
              <a:t>there is some scheduling order in which every process can run to completion</a:t>
            </a:r>
            <a:r>
              <a:rPr lang="en-US" dirty="0"/>
              <a:t> even if all of them suddenly request their maximum number of resources immediately.</a:t>
            </a:r>
          </a:p>
          <a:p>
            <a:r>
              <a:rPr lang="en-US" dirty="0"/>
              <a:t>Total resources are 10 </a:t>
            </a:r>
          </a:p>
          <a:p>
            <a:r>
              <a:rPr lang="en-US" dirty="0"/>
              <a:t>7 resources already allocated</a:t>
            </a:r>
          </a:p>
          <a:p>
            <a:r>
              <a:rPr lang="en-US" dirty="0"/>
              <a:t>So there are 3 still free</a:t>
            </a:r>
          </a:p>
          <a:p>
            <a:r>
              <a:rPr lang="en-US" dirty="0"/>
              <a:t>A need 6 resources more to complete it. </a:t>
            </a:r>
          </a:p>
          <a:p>
            <a:r>
              <a:rPr lang="en-US" dirty="0"/>
              <a:t>B need 2 resources more to complete it.</a:t>
            </a:r>
          </a:p>
          <a:p>
            <a:r>
              <a:rPr lang="en-US" dirty="0"/>
              <a:t>C need 5 resources more to complete it</a:t>
            </a:r>
            <a:r>
              <a:rPr lang="en-US" dirty="0" smtClean="0"/>
              <a:t>.</a:t>
            </a:r>
          </a:p>
        </p:txBody>
      </p:sp>
      <p:graphicFrame>
        <p:nvGraphicFramePr>
          <p:cNvPr id="4" name="Table 3"/>
          <p:cNvGraphicFramePr>
            <a:graphicFrameLocks noGrp="1"/>
          </p:cNvGraphicFramePr>
          <p:nvPr>
            <p:extLst>
              <p:ext uri="{D42A27DB-BD31-4B8C-83A1-F6EECF244321}">
                <p14:modId xmlns:p14="http://schemas.microsoft.com/office/powerpoint/2010/main" val="2425776888"/>
              </p:ext>
            </p:extLst>
          </p:nvPr>
        </p:nvGraphicFramePr>
        <p:xfrm>
          <a:off x="7024914" y="2388809"/>
          <a:ext cx="4663440" cy="1857345"/>
        </p:xfrm>
        <a:graphic>
          <a:graphicData uri="http://schemas.openxmlformats.org/drawingml/2006/table">
            <a:tbl>
              <a:tblPr firstRow="1" bandRow="1">
                <a:tableStyleId>{93296810-A885-4BE3-A3E7-6D5BEEA58F35}</a:tableStyleId>
              </a:tblPr>
              <a:tblGrid>
                <a:gridCol w="1554480">
                  <a:extLst>
                    <a:ext uri="{9D8B030D-6E8A-4147-A177-3AD203B41FA5}">
                      <a16:colId xmlns="" xmlns:a16="http://schemas.microsoft.com/office/drawing/2014/main" val="20000"/>
                    </a:ext>
                  </a:extLst>
                </a:gridCol>
                <a:gridCol w="1554480">
                  <a:extLst>
                    <a:ext uri="{9D8B030D-6E8A-4147-A177-3AD203B41FA5}">
                      <a16:colId xmlns="" xmlns:a16="http://schemas.microsoft.com/office/drawing/2014/main" val="20001"/>
                    </a:ext>
                  </a:extLst>
                </a:gridCol>
                <a:gridCol w="1554480">
                  <a:extLst>
                    <a:ext uri="{9D8B030D-6E8A-4147-A177-3AD203B41FA5}">
                      <a16:colId xmlns="" xmlns:a16="http://schemas.microsoft.com/office/drawing/2014/main" val="20002"/>
                    </a:ext>
                  </a:extLst>
                </a:gridCol>
              </a:tblGrid>
              <a:tr h="370840">
                <a:tc>
                  <a:txBody>
                    <a:bodyPr/>
                    <a:lstStyle/>
                    <a:p>
                      <a:pPr algn="ctr"/>
                      <a:r>
                        <a:rPr lang="en-US" dirty="0"/>
                        <a:t>Process</a:t>
                      </a:r>
                    </a:p>
                  </a:txBody>
                  <a:tcPr/>
                </a:tc>
                <a:tc>
                  <a:txBody>
                    <a:bodyPr/>
                    <a:lstStyle/>
                    <a:p>
                      <a:pPr marL="0" algn="ctr" defTabSz="914400" rtl="0" eaLnBrk="1" latinLnBrk="0" hangingPunct="1"/>
                      <a:r>
                        <a:rPr lang="en-US" sz="1800" kern="1200" dirty="0"/>
                        <a:t>Has / Hold</a:t>
                      </a:r>
                      <a:endParaRPr lang="en-US" sz="1800" b="1" kern="1200" dirty="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3</a:t>
                      </a:r>
                    </a:p>
                  </a:txBody>
                  <a:tcPr/>
                </a:tc>
                <a:tc>
                  <a:txBody>
                    <a:bodyPr/>
                    <a:lstStyle/>
                    <a:p>
                      <a:pPr algn="ctr"/>
                      <a:r>
                        <a:rPr lang="en-US"/>
                        <a:t>9</a:t>
                      </a:r>
                    </a:p>
                  </a:txBody>
                  <a:tcPr/>
                </a:tc>
                <a:extLst>
                  <a:ext uri="{0D108BD9-81ED-4DB2-BD59-A6C34878D82A}">
                    <a16:rowId xmlns="" xmlns:a16="http://schemas.microsoft.com/office/drawing/2014/main" val="10001"/>
                  </a:ext>
                </a:extLst>
              </a:tr>
              <a:tr h="370840">
                <a:tc>
                  <a:txBody>
                    <a:bodyPr/>
                    <a:lstStyle/>
                    <a:p>
                      <a:pPr algn="ctr"/>
                      <a:r>
                        <a:rPr lang="en-US"/>
                        <a:t>B</a:t>
                      </a:r>
                    </a:p>
                  </a:txBody>
                  <a:tcPr/>
                </a:tc>
                <a:tc>
                  <a:txBody>
                    <a:bodyPr/>
                    <a:lstStyle/>
                    <a:p>
                      <a:pPr marL="0" algn="ctr" defTabSz="914400" rtl="0" eaLnBrk="1" latinLnBrk="0" hangingPunct="1"/>
                      <a:r>
                        <a:rPr lang="en-US" sz="1800" kern="1200">
                          <a:solidFill>
                            <a:schemeClr val="dk1"/>
                          </a:solidFill>
                          <a:latin typeface="+mn-lt"/>
                          <a:ea typeface="+mn-ea"/>
                          <a:cs typeface="+mn-cs"/>
                        </a:rPr>
                        <a:t>2</a:t>
                      </a:r>
                    </a:p>
                  </a:txBody>
                  <a:tcPr/>
                </a:tc>
                <a:tc>
                  <a:txBody>
                    <a:bodyPr/>
                    <a:lstStyle/>
                    <a:p>
                      <a:pPr algn="ctr"/>
                      <a:r>
                        <a:rPr lang="en-US"/>
                        <a:t>4</a:t>
                      </a:r>
                    </a:p>
                  </a:txBody>
                  <a:tcPr/>
                </a:tc>
                <a:extLst>
                  <a:ext uri="{0D108BD9-81ED-4DB2-BD59-A6C34878D82A}">
                    <a16:rowId xmlns="" xmlns:a16="http://schemas.microsoft.com/office/drawing/2014/main" val="10002"/>
                  </a:ext>
                </a:extLst>
              </a:tr>
              <a:tr h="373985">
                <a:tc>
                  <a:txBody>
                    <a:bodyPr/>
                    <a:lstStyle/>
                    <a:p>
                      <a:pPr algn="ctr"/>
                      <a:r>
                        <a:rPr lang="en-US"/>
                        <a:t>C</a:t>
                      </a:r>
                    </a:p>
                  </a:txBody>
                  <a:tcPr/>
                </a:tc>
                <a:tc>
                  <a:txBody>
                    <a:bodyPr/>
                    <a:lstStyle/>
                    <a:p>
                      <a:pPr marL="0" algn="ctr" defTabSz="914400" rtl="0" eaLnBrk="1" latinLnBrk="0" hangingPunct="1"/>
                      <a:r>
                        <a:rPr lang="en-US" sz="1800" kern="1200">
                          <a:solidFill>
                            <a:schemeClr val="dk1"/>
                          </a:solidFill>
                          <a:latin typeface="+mn-lt"/>
                          <a:ea typeface="+mn-ea"/>
                          <a:cs typeface="+mn-cs"/>
                        </a:rPr>
                        <a:t>2</a:t>
                      </a:r>
                    </a:p>
                  </a:txBody>
                  <a:tcPr/>
                </a:tc>
                <a:tc>
                  <a:txBody>
                    <a:bodyPr/>
                    <a:lstStyle/>
                    <a:p>
                      <a:pPr algn="ctr"/>
                      <a:r>
                        <a:rPr lang="en-US"/>
                        <a:t>7</a:t>
                      </a:r>
                    </a:p>
                  </a:txBody>
                  <a:tcPr/>
                </a:tc>
                <a:extLst>
                  <a:ext uri="{0D108BD9-81ED-4DB2-BD59-A6C34878D82A}">
                    <a16:rowId xmlns="" xmlns:a16="http://schemas.microsoft.com/office/drawing/2014/main" val="10003"/>
                  </a:ext>
                </a:extLst>
              </a:tr>
              <a:tr h="370840">
                <a:tc gridSpan="3">
                  <a:txBody>
                    <a:bodyPr/>
                    <a:lstStyle/>
                    <a:p>
                      <a:pPr algn="ctr"/>
                      <a:r>
                        <a:rPr lang="en-US"/>
                        <a:t>Free : 3</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21388365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Safe state</a:t>
            </a:r>
          </a:p>
        </p:txBody>
      </p:sp>
      <p:sp>
        <p:nvSpPr>
          <p:cNvPr id="3" name="Content Placeholder 2"/>
          <p:cNvSpPr>
            <a:spLocks noGrp="1"/>
          </p:cNvSpPr>
          <p:nvPr>
            <p:ph idx="1"/>
          </p:nvPr>
        </p:nvSpPr>
        <p:spPr/>
        <p:txBody>
          <a:bodyPr/>
          <a:lstStyle/>
          <a:p>
            <a:pPr marL="0" indent="0">
              <a:buNone/>
            </a:pPr>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093907660"/>
              </p:ext>
            </p:extLst>
          </p:nvPr>
        </p:nvGraphicFramePr>
        <p:xfrm>
          <a:off x="8251371" y="991809"/>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3</a:t>
                      </a:r>
                    </a:p>
                  </a:txBody>
                  <a:tcPr/>
                </a:tc>
                <a:tc>
                  <a:txBody>
                    <a:bodyPr/>
                    <a:lstStyle/>
                    <a:p>
                      <a:pPr algn="ctr"/>
                      <a:r>
                        <a:rPr lang="en-US"/>
                        <a:t>9</a:t>
                      </a:r>
                    </a:p>
                  </a:txBody>
                  <a:tcPr/>
                </a:tc>
                <a:extLst>
                  <a:ext uri="{0D108BD9-81ED-4DB2-BD59-A6C34878D82A}">
                    <a16:rowId xmlns="" xmlns:a16="http://schemas.microsoft.com/office/drawing/2014/main" val="10001"/>
                  </a:ext>
                </a:extLst>
              </a:tr>
              <a:tr h="370840">
                <a:tc>
                  <a:txBody>
                    <a:bodyPr/>
                    <a:lstStyle/>
                    <a:p>
                      <a:pPr algn="ctr"/>
                      <a:r>
                        <a:rPr lang="en-US">
                          <a:solidFill>
                            <a:schemeClr val="bg1"/>
                          </a:solidFill>
                        </a:rPr>
                        <a:t>B</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2"/>
                  </a:ext>
                </a:extLst>
              </a:tr>
              <a:tr h="373985">
                <a:tc>
                  <a:txBody>
                    <a:bodyPr/>
                    <a:lstStyle/>
                    <a:p>
                      <a:pPr algn="ctr"/>
                      <a:r>
                        <a:rPr lang="en-US"/>
                        <a:t>C</a:t>
                      </a:r>
                    </a:p>
                  </a:txBody>
                  <a:tcPr/>
                </a:tc>
                <a:tc>
                  <a:txBody>
                    <a:bodyPr/>
                    <a:lstStyle/>
                    <a:p>
                      <a:pPr marL="0" algn="ctr" defTabSz="914400" rtl="0" eaLnBrk="1" latinLnBrk="0" hangingPunct="1"/>
                      <a:r>
                        <a:rPr lang="en-US" sz="1800" kern="1200">
                          <a:solidFill>
                            <a:schemeClr val="dk1"/>
                          </a:solidFill>
                          <a:latin typeface="+mn-lt"/>
                          <a:ea typeface="+mn-ea"/>
                          <a:cs typeface="+mn-cs"/>
                        </a:rPr>
                        <a:t>2</a:t>
                      </a:r>
                    </a:p>
                  </a:txBody>
                  <a:tcPr/>
                </a:tc>
                <a:tc>
                  <a:txBody>
                    <a:bodyPr/>
                    <a:lstStyle/>
                    <a:p>
                      <a:pPr algn="ctr"/>
                      <a:r>
                        <a:rPr lang="en-US"/>
                        <a:t>7</a:t>
                      </a:r>
                    </a:p>
                  </a:txBody>
                  <a:tcPr/>
                </a:tc>
                <a:extLst>
                  <a:ext uri="{0D108BD9-81ED-4DB2-BD59-A6C34878D82A}">
                    <a16:rowId xmlns="" xmlns:a16="http://schemas.microsoft.com/office/drawing/2014/main" val="10003"/>
                  </a:ext>
                </a:extLst>
              </a:tr>
              <a:tr h="370840">
                <a:tc gridSpan="3">
                  <a:txBody>
                    <a:bodyPr/>
                    <a:lstStyle/>
                    <a:p>
                      <a:pPr algn="ctr"/>
                      <a:r>
                        <a:rPr lang="en-US"/>
                        <a:t>Free : 5</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632731143"/>
              </p:ext>
            </p:extLst>
          </p:nvPr>
        </p:nvGraphicFramePr>
        <p:xfrm>
          <a:off x="290285" y="991809"/>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3</a:t>
                      </a:r>
                    </a:p>
                  </a:txBody>
                  <a:tcPr/>
                </a:tc>
                <a:tc>
                  <a:txBody>
                    <a:bodyPr/>
                    <a:lstStyle/>
                    <a:p>
                      <a:pPr algn="ctr"/>
                      <a:r>
                        <a:rPr lang="en-US"/>
                        <a:t>9</a:t>
                      </a:r>
                    </a:p>
                  </a:txBody>
                  <a:tcPr/>
                </a:tc>
                <a:extLst>
                  <a:ext uri="{0D108BD9-81ED-4DB2-BD59-A6C34878D82A}">
                    <a16:rowId xmlns="" xmlns:a16="http://schemas.microsoft.com/office/drawing/2014/main" val="10001"/>
                  </a:ext>
                </a:extLst>
              </a:tr>
              <a:tr h="370840">
                <a:tc>
                  <a:txBody>
                    <a:bodyPr/>
                    <a:lstStyle/>
                    <a:p>
                      <a:pPr algn="ctr"/>
                      <a:r>
                        <a:rPr lang="en-US"/>
                        <a:t>B</a:t>
                      </a:r>
                    </a:p>
                  </a:txBody>
                  <a:tcPr/>
                </a:tc>
                <a:tc>
                  <a:txBody>
                    <a:bodyPr/>
                    <a:lstStyle/>
                    <a:p>
                      <a:pPr marL="0" algn="ctr" defTabSz="914400" rtl="0" eaLnBrk="1" latinLnBrk="0" hangingPunct="1"/>
                      <a:r>
                        <a:rPr lang="en-US" sz="1800" kern="1200">
                          <a:solidFill>
                            <a:schemeClr val="dk1"/>
                          </a:solidFill>
                          <a:latin typeface="+mn-lt"/>
                          <a:ea typeface="+mn-ea"/>
                          <a:cs typeface="+mn-cs"/>
                        </a:rPr>
                        <a:t>2</a:t>
                      </a:r>
                    </a:p>
                  </a:txBody>
                  <a:tcPr/>
                </a:tc>
                <a:tc>
                  <a:txBody>
                    <a:bodyPr/>
                    <a:lstStyle/>
                    <a:p>
                      <a:pPr algn="ctr"/>
                      <a:r>
                        <a:rPr lang="en-US"/>
                        <a:t>4</a:t>
                      </a:r>
                    </a:p>
                  </a:txBody>
                  <a:tcPr/>
                </a:tc>
                <a:extLst>
                  <a:ext uri="{0D108BD9-81ED-4DB2-BD59-A6C34878D82A}">
                    <a16:rowId xmlns="" xmlns:a16="http://schemas.microsoft.com/office/drawing/2014/main" val="10002"/>
                  </a:ext>
                </a:extLst>
              </a:tr>
              <a:tr h="373985">
                <a:tc>
                  <a:txBody>
                    <a:bodyPr/>
                    <a:lstStyle/>
                    <a:p>
                      <a:pPr algn="ctr"/>
                      <a:r>
                        <a:rPr lang="en-US"/>
                        <a:t>C</a:t>
                      </a:r>
                    </a:p>
                  </a:txBody>
                  <a:tcPr/>
                </a:tc>
                <a:tc>
                  <a:txBody>
                    <a:bodyPr/>
                    <a:lstStyle/>
                    <a:p>
                      <a:pPr marL="0" algn="ctr" defTabSz="914400" rtl="0" eaLnBrk="1" latinLnBrk="0" hangingPunct="1"/>
                      <a:r>
                        <a:rPr lang="en-US" sz="1800" kern="1200">
                          <a:solidFill>
                            <a:schemeClr val="dk1"/>
                          </a:solidFill>
                          <a:latin typeface="+mn-lt"/>
                          <a:ea typeface="+mn-ea"/>
                          <a:cs typeface="+mn-cs"/>
                        </a:rPr>
                        <a:t>2</a:t>
                      </a:r>
                    </a:p>
                  </a:txBody>
                  <a:tcPr/>
                </a:tc>
                <a:tc>
                  <a:txBody>
                    <a:bodyPr/>
                    <a:lstStyle/>
                    <a:p>
                      <a:pPr algn="ctr"/>
                      <a:r>
                        <a:rPr lang="en-US"/>
                        <a:t>7</a:t>
                      </a:r>
                    </a:p>
                  </a:txBody>
                  <a:tcPr/>
                </a:tc>
                <a:extLst>
                  <a:ext uri="{0D108BD9-81ED-4DB2-BD59-A6C34878D82A}">
                    <a16:rowId xmlns="" xmlns:a16="http://schemas.microsoft.com/office/drawing/2014/main" val="10003"/>
                  </a:ext>
                </a:extLst>
              </a:tr>
              <a:tr h="370840">
                <a:tc gridSpan="3">
                  <a:txBody>
                    <a:bodyPr/>
                    <a:lstStyle/>
                    <a:p>
                      <a:pPr algn="ctr"/>
                      <a:r>
                        <a:rPr lang="en-US"/>
                        <a:t>Free : 3</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90476418"/>
              </p:ext>
            </p:extLst>
          </p:nvPr>
        </p:nvGraphicFramePr>
        <p:xfrm>
          <a:off x="4270828" y="991809"/>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3</a:t>
                      </a:r>
                    </a:p>
                  </a:txBody>
                  <a:tcPr/>
                </a:tc>
                <a:tc>
                  <a:txBody>
                    <a:bodyPr/>
                    <a:lstStyle/>
                    <a:p>
                      <a:pPr algn="ctr"/>
                      <a:r>
                        <a:rPr lang="en-US"/>
                        <a:t>9</a:t>
                      </a:r>
                    </a:p>
                  </a:txBody>
                  <a:tcPr/>
                </a:tc>
                <a:extLst>
                  <a:ext uri="{0D108BD9-81ED-4DB2-BD59-A6C34878D82A}">
                    <a16:rowId xmlns="" xmlns:a16="http://schemas.microsoft.com/office/drawing/2014/main" val="10001"/>
                  </a:ext>
                </a:extLst>
              </a:tr>
              <a:tr h="370840">
                <a:tc>
                  <a:txBody>
                    <a:bodyPr/>
                    <a:lstStyle/>
                    <a:p>
                      <a:pPr algn="ctr"/>
                      <a:r>
                        <a:rPr lang="en-US">
                          <a:solidFill>
                            <a:schemeClr val="accent2"/>
                          </a:solidFill>
                        </a:rPr>
                        <a:t>B</a:t>
                      </a:r>
                    </a:p>
                  </a:txBody>
                  <a:tcPr/>
                </a:tc>
                <a:tc>
                  <a:txBody>
                    <a:bodyPr/>
                    <a:lstStyle/>
                    <a:p>
                      <a:pPr marL="0" algn="ctr" defTabSz="914400" rtl="0" eaLnBrk="1" latinLnBrk="0" hangingPunct="1"/>
                      <a:r>
                        <a:rPr lang="en-US" sz="1800" kern="1200">
                          <a:solidFill>
                            <a:schemeClr val="accent2"/>
                          </a:solidFill>
                          <a:latin typeface="+mn-lt"/>
                          <a:ea typeface="+mn-ea"/>
                          <a:cs typeface="+mn-cs"/>
                        </a:rPr>
                        <a:t>4</a:t>
                      </a:r>
                    </a:p>
                  </a:txBody>
                  <a:tcPr/>
                </a:tc>
                <a:tc>
                  <a:txBody>
                    <a:bodyPr/>
                    <a:lstStyle/>
                    <a:p>
                      <a:pPr algn="ctr"/>
                      <a:r>
                        <a:rPr lang="en-US">
                          <a:solidFill>
                            <a:schemeClr val="accent2"/>
                          </a:solidFill>
                        </a:rPr>
                        <a:t>4</a:t>
                      </a:r>
                    </a:p>
                  </a:txBody>
                  <a:tcPr/>
                </a:tc>
                <a:extLst>
                  <a:ext uri="{0D108BD9-81ED-4DB2-BD59-A6C34878D82A}">
                    <a16:rowId xmlns="" xmlns:a16="http://schemas.microsoft.com/office/drawing/2014/main" val="10002"/>
                  </a:ext>
                </a:extLst>
              </a:tr>
              <a:tr h="373985">
                <a:tc>
                  <a:txBody>
                    <a:bodyPr/>
                    <a:lstStyle/>
                    <a:p>
                      <a:pPr algn="ctr"/>
                      <a:r>
                        <a:rPr lang="en-US"/>
                        <a:t>C</a:t>
                      </a:r>
                    </a:p>
                  </a:txBody>
                  <a:tcPr/>
                </a:tc>
                <a:tc>
                  <a:txBody>
                    <a:bodyPr/>
                    <a:lstStyle/>
                    <a:p>
                      <a:pPr marL="0" algn="ctr" defTabSz="914400" rtl="0" eaLnBrk="1" latinLnBrk="0" hangingPunct="1"/>
                      <a:r>
                        <a:rPr lang="en-US" sz="1800" kern="1200">
                          <a:solidFill>
                            <a:schemeClr val="dk1"/>
                          </a:solidFill>
                          <a:latin typeface="+mn-lt"/>
                          <a:ea typeface="+mn-ea"/>
                          <a:cs typeface="+mn-cs"/>
                        </a:rPr>
                        <a:t>2</a:t>
                      </a:r>
                    </a:p>
                  </a:txBody>
                  <a:tcPr/>
                </a:tc>
                <a:tc>
                  <a:txBody>
                    <a:bodyPr/>
                    <a:lstStyle/>
                    <a:p>
                      <a:pPr algn="ctr"/>
                      <a:r>
                        <a:rPr lang="en-US"/>
                        <a:t>7</a:t>
                      </a:r>
                    </a:p>
                  </a:txBody>
                  <a:tcPr/>
                </a:tc>
                <a:extLst>
                  <a:ext uri="{0D108BD9-81ED-4DB2-BD59-A6C34878D82A}">
                    <a16:rowId xmlns="" xmlns:a16="http://schemas.microsoft.com/office/drawing/2014/main" val="10003"/>
                  </a:ext>
                </a:extLst>
              </a:tr>
              <a:tr h="370840">
                <a:tc gridSpan="3">
                  <a:txBody>
                    <a:bodyPr/>
                    <a:lstStyle/>
                    <a:p>
                      <a:pPr algn="ctr"/>
                      <a:r>
                        <a:rPr lang="en-US"/>
                        <a:t>Free : 1</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772648277"/>
              </p:ext>
            </p:extLst>
          </p:nvPr>
        </p:nvGraphicFramePr>
        <p:xfrm>
          <a:off x="8229599" y="3930955"/>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solidFill>
                            <a:schemeClr val="accent2"/>
                          </a:solidFill>
                        </a:rPr>
                        <a:t>A</a:t>
                      </a:r>
                    </a:p>
                  </a:txBody>
                  <a:tcPr/>
                </a:tc>
                <a:tc>
                  <a:txBody>
                    <a:bodyPr/>
                    <a:lstStyle/>
                    <a:p>
                      <a:pPr marL="0" algn="ctr" defTabSz="914400" rtl="0" eaLnBrk="1" latinLnBrk="0" hangingPunct="1"/>
                      <a:r>
                        <a:rPr lang="en-US" sz="1800" kern="1200">
                          <a:solidFill>
                            <a:schemeClr val="accent2"/>
                          </a:solidFill>
                          <a:latin typeface="+mn-lt"/>
                          <a:ea typeface="+mn-ea"/>
                          <a:cs typeface="+mn-cs"/>
                        </a:rPr>
                        <a:t>9</a:t>
                      </a:r>
                    </a:p>
                  </a:txBody>
                  <a:tcPr/>
                </a:tc>
                <a:tc>
                  <a:txBody>
                    <a:bodyPr/>
                    <a:lstStyle/>
                    <a:p>
                      <a:pPr algn="ctr"/>
                      <a:r>
                        <a:rPr lang="en-US">
                          <a:solidFill>
                            <a:schemeClr val="accent2"/>
                          </a:solidFill>
                        </a:rPr>
                        <a:t>9</a:t>
                      </a:r>
                    </a:p>
                  </a:txBody>
                  <a:tcPr/>
                </a:tc>
                <a:extLst>
                  <a:ext uri="{0D108BD9-81ED-4DB2-BD59-A6C34878D82A}">
                    <a16:rowId xmlns="" xmlns:a16="http://schemas.microsoft.com/office/drawing/2014/main" val="10001"/>
                  </a:ext>
                </a:extLst>
              </a:tr>
              <a:tr h="370840">
                <a:tc>
                  <a:txBody>
                    <a:bodyPr/>
                    <a:lstStyle/>
                    <a:p>
                      <a:pPr algn="ctr"/>
                      <a:r>
                        <a:rPr lang="en-US"/>
                        <a:t>B</a:t>
                      </a:r>
                    </a:p>
                  </a:txBody>
                  <a:tcPr/>
                </a:tc>
                <a:tc>
                  <a:txBody>
                    <a:bodyPr/>
                    <a:lstStyle/>
                    <a:p>
                      <a:pPr marL="0" algn="ctr" defTabSz="914400" rtl="0" eaLnBrk="1" latinLnBrk="0" hangingPunct="1"/>
                      <a:r>
                        <a:rPr lang="en-US" sz="1800" kern="1200">
                          <a:solidFill>
                            <a:schemeClr val="dk1"/>
                          </a:solidFill>
                          <a:latin typeface="+mn-lt"/>
                          <a:ea typeface="+mn-ea"/>
                          <a:cs typeface="+mn-cs"/>
                        </a:rPr>
                        <a:t>0</a:t>
                      </a:r>
                    </a:p>
                  </a:txBody>
                  <a:tcPr/>
                </a:tc>
                <a:tc>
                  <a:txBody>
                    <a:bodyPr/>
                    <a:lstStyle/>
                    <a:p>
                      <a:pPr algn="ctr"/>
                      <a:r>
                        <a:rPr lang="en-US"/>
                        <a:t>-</a:t>
                      </a:r>
                    </a:p>
                  </a:txBody>
                  <a:tcPr/>
                </a:tc>
                <a:extLst>
                  <a:ext uri="{0D108BD9-81ED-4DB2-BD59-A6C34878D82A}">
                    <a16:rowId xmlns="" xmlns:a16="http://schemas.microsoft.com/office/drawing/2014/main" val="10002"/>
                  </a:ext>
                </a:extLst>
              </a:tr>
              <a:tr h="373985">
                <a:tc>
                  <a:txBody>
                    <a:bodyPr/>
                    <a:lstStyle/>
                    <a:p>
                      <a:pPr algn="ctr"/>
                      <a:r>
                        <a:rPr lang="en-US"/>
                        <a:t>C</a:t>
                      </a:r>
                    </a:p>
                  </a:txBody>
                  <a:tcPr/>
                </a:tc>
                <a:tc>
                  <a:txBody>
                    <a:bodyPr/>
                    <a:lstStyle/>
                    <a:p>
                      <a:pPr marL="0" algn="ctr" defTabSz="914400" rtl="0" eaLnBrk="1" latinLnBrk="0" hangingPunct="1"/>
                      <a:r>
                        <a:rPr lang="en-US" sz="1800" kern="1200">
                          <a:solidFill>
                            <a:schemeClr val="dk1"/>
                          </a:solidFill>
                          <a:latin typeface="+mn-lt"/>
                          <a:ea typeface="+mn-ea"/>
                          <a:cs typeface="+mn-cs"/>
                        </a:rPr>
                        <a:t>0</a:t>
                      </a:r>
                    </a:p>
                  </a:txBody>
                  <a:tcPr/>
                </a:tc>
                <a:tc>
                  <a:txBody>
                    <a:bodyPr/>
                    <a:lstStyle/>
                    <a:p>
                      <a:pPr algn="ctr"/>
                      <a:r>
                        <a:rPr lang="en-US"/>
                        <a:t>-</a:t>
                      </a:r>
                    </a:p>
                  </a:txBody>
                  <a:tcPr/>
                </a:tc>
                <a:extLst>
                  <a:ext uri="{0D108BD9-81ED-4DB2-BD59-A6C34878D82A}">
                    <a16:rowId xmlns="" xmlns:a16="http://schemas.microsoft.com/office/drawing/2014/main" val="10003"/>
                  </a:ext>
                </a:extLst>
              </a:tr>
              <a:tr h="370840">
                <a:tc gridSpan="3">
                  <a:txBody>
                    <a:bodyPr/>
                    <a:lstStyle/>
                    <a:p>
                      <a:pPr algn="ctr"/>
                      <a:r>
                        <a:rPr lang="en-US"/>
                        <a:t>Free : 1</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965953741"/>
              </p:ext>
            </p:extLst>
          </p:nvPr>
        </p:nvGraphicFramePr>
        <p:xfrm>
          <a:off x="268513" y="3930955"/>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3</a:t>
                      </a:r>
                    </a:p>
                  </a:txBody>
                  <a:tcPr/>
                </a:tc>
                <a:tc>
                  <a:txBody>
                    <a:bodyPr/>
                    <a:lstStyle/>
                    <a:p>
                      <a:pPr algn="ctr"/>
                      <a:r>
                        <a:rPr lang="en-US"/>
                        <a:t>9</a:t>
                      </a:r>
                    </a:p>
                  </a:txBody>
                  <a:tcPr/>
                </a:tc>
                <a:extLst>
                  <a:ext uri="{0D108BD9-81ED-4DB2-BD59-A6C34878D82A}">
                    <a16:rowId xmlns="" xmlns:a16="http://schemas.microsoft.com/office/drawing/2014/main" val="10001"/>
                  </a:ext>
                </a:extLst>
              </a:tr>
              <a:tr h="370840">
                <a:tc>
                  <a:txBody>
                    <a:bodyPr/>
                    <a:lstStyle/>
                    <a:p>
                      <a:pPr algn="ctr"/>
                      <a:r>
                        <a:rPr lang="en-US">
                          <a:solidFill>
                            <a:schemeClr val="bg1"/>
                          </a:solidFill>
                        </a:rPr>
                        <a:t>B</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2"/>
                  </a:ext>
                </a:extLst>
              </a:tr>
              <a:tr h="373985">
                <a:tc>
                  <a:txBody>
                    <a:bodyPr/>
                    <a:lstStyle/>
                    <a:p>
                      <a:pPr algn="ctr"/>
                      <a:r>
                        <a:rPr lang="en-US">
                          <a:solidFill>
                            <a:schemeClr val="accent2"/>
                          </a:solidFill>
                        </a:rPr>
                        <a:t>C</a:t>
                      </a:r>
                    </a:p>
                  </a:txBody>
                  <a:tcPr/>
                </a:tc>
                <a:tc>
                  <a:txBody>
                    <a:bodyPr/>
                    <a:lstStyle/>
                    <a:p>
                      <a:pPr marL="0" algn="ctr" defTabSz="914400" rtl="0" eaLnBrk="1" latinLnBrk="0" hangingPunct="1"/>
                      <a:r>
                        <a:rPr lang="en-US" sz="1800" kern="1200">
                          <a:solidFill>
                            <a:schemeClr val="accent2"/>
                          </a:solidFill>
                          <a:latin typeface="+mn-lt"/>
                          <a:ea typeface="+mn-ea"/>
                          <a:cs typeface="+mn-cs"/>
                        </a:rPr>
                        <a:t>7</a:t>
                      </a:r>
                    </a:p>
                  </a:txBody>
                  <a:tcPr/>
                </a:tc>
                <a:tc>
                  <a:txBody>
                    <a:bodyPr/>
                    <a:lstStyle/>
                    <a:p>
                      <a:pPr algn="ctr"/>
                      <a:r>
                        <a:rPr lang="en-US">
                          <a:solidFill>
                            <a:schemeClr val="accent2"/>
                          </a:solidFill>
                        </a:rPr>
                        <a:t>7</a:t>
                      </a:r>
                    </a:p>
                  </a:txBody>
                  <a:tcPr/>
                </a:tc>
                <a:extLst>
                  <a:ext uri="{0D108BD9-81ED-4DB2-BD59-A6C34878D82A}">
                    <a16:rowId xmlns="" xmlns:a16="http://schemas.microsoft.com/office/drawing/2014/main" val="10003"/>
                  </a:ext>
                </a:extLst>
              </a:tr>
              <a:tr h="370840">
                <a:tc gridSpan="3">
                  <a:txBody>
                    <a:bodyPr/>
                    <a:lstStyle/>
                    <a:p>
                      <a:pPr algn="ctr"/>
                      <a:r>
                        <a:rPr lang="en-US"/>
                        <a:t>Free : 0</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478940176"/>
              </p:ext>
            </p:extLst>
          </p:nvPr>
        </p:nvGraphicFramePr>
        <p:xfrm>
          <a:off x="4249056" y="3930955"/>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3</a:t>
                      </a:r>
                    </a:p>
                  </a:txBody>
                  <a:tcPr/>
                </a:tc>
                <a:tc>
                  <a:txBody>
                    <a:bodyPr/>
                    <a:lstStyle/>
                    <a:p>
                      <a:pPr algn="ctr"/>
                      <a:r>
                        <a:rPr lang="en-US"/>
                        <a:t>9</a:t>
                      </a:r>
                    </a:p>
                  </a:txBody>
                  <a:tcPr/>
                </a:tc>
                <a:extLst>
                  <a:ext uri="{0D108BD9-81ED-4DB2-BD59-A6C34878D82A}">
                    <a16:rowId xmlns="" xmlns:a16="http://schemas.microsoft.com/office/drawing/2014/main" val="10001"/>
                  </a:ext>
                </a:extLst>
              </a:tr>
              <a:tr h="370840">
                <a:tc>
                  <a:txBody>
                    <a:bodyPr/>
                    <a:lstStyle/>
                    <a:p>
                      <a:pPr algn="ctr"/>
                      <a:r>
                        <a:rPr lang="en-US">
                          <a:solidFill>
                            <a:schemeClr val="bg1"/>
                          </a:solidFill>
                        </a:rPr>
                        <a:t>B</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2"/>
                  </a:ext>
                </a:extLst>
              </a:tr>
              <a:tr h="373985">
                <a:tc>
                  <a:txBody>
                    <a:bodyPr/>
                    <a:lstStyle/>
                    <a:p>
                      <a:pPr algn="ctr"/>
                      <a:r>
                        <a:rPr lang="en-US">
                          <a:solidFill>
                            <a:schemeClr val="bg1"/>
                          </a:solidFill>
                        </a:rPr>
                        <a:t>C</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3"/>
                  </a:ext>
                </a:extLst>
              </a:tr>
              <a:tr h="370840">
                <a:tc gridSpan="3">
                  <a:txBody>
                    <a:bodyPr/>
                    <a:lstStyle/>
                    <a:p>
                      <a:pPr algn="ctr"/>
                      <a:r>
                        <a:rPr lang="en-US"/>
                        <a:t>Free : 7</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cxnSp>
        <p:nvCxnSpPr>
          <p:cNvPr id="11" name="Straight Arrow Connector 10"/>
          <p:cNvCxnSpPr/>
          <p:nvPr/>
        </p:nvCxnSpPr>
        <p:spPr>
          <a:xfrm flipV="1">
            <a:off x="2461260" y="1909599"/>
            <a:ext cx="3299460" cy="694821"/>
          </a:xfrm>
          <a:prstGeom prst="straightConnector1">
            <a:avLst/>
          </a:prstGeom>
          <a:ln w="38100">
            <a:solidFill>
              <a:schemeClr val="tx2"/>
            </a:solidFill>
            <a:tailEnd type="triangle"/>
          </a:ln>
        </p:spPr>
        <p:style>
          <a:lnRef idx="3">
            <a:schemeClr val="accent2"/>
          </a:lnRef>
          <a:fillRef idx="0">
            <a:schemeClr val="accent2"/>
          </a:fillRef>
          <a:effectRef idx="2">
            <a:schemeClr val="accent2"/>
          </a:effectRef>
          <a:fontRef idx="minor">
            <a:schemeClr val="tx1"/>
          </a:fontRef>
        </p:style>
      </p:cxnSp>
      <p:sp>
        <p:nvSpPr>
          <p:cNvPr id="12" name="TextBox 11"/>
          <p:cNvSpPr txBox="1"/>
          <p:nvPr/>
        </p:nvSpPr>
        <p:spPr>
          <a:xfrm>
            <a:off x="3893945" y="1829582"/>
            <a:ext cx="370188" cy="369332"/>
          </a:xfrm>
          <a:prstGeom prst="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2</a:t>
            </a:r>
            <a:endParaRPr lang="en-IN"/>
          </a:p>
        </p:txBody>
      </p:sp>
      <p:cxnSp>
        <p:nvCxnSpPr>
          <p:cNvPr id="13" name="Straight Arrow Connector 12"/>
          <p:cNvCxnSpPr/>
          <p:nvPr/>
        </p:nvCxnSpPr>
        <p:spPr>
          <a:xfrm>
            <a:off x="5931440" y="1943325"/>
            <a:ext cx="3768820" cy="661095"/>
          </a:xfrm>
          <a:prstGeom prst="straightConnector1">
            <a:avLst/>
          </a:prstGeom>
          <a:ln w="38100">
            <a:solidFill>
              <a:schemeClr val="tx2"/>
            </a:solidFill>
            <a:tailEnd type="triangle"/>
          </a:ln>
        </p:spPr>
        <p:style>
          <a:lnRef idx="3">
            <a:schemeClr val="accent2"/>
          </a:lnRef>
          <a:fillRef idx="0">
            <a:schemeClr val="accent2"/>
          </a:fillRef>
          <a:effectRef idx="2">
            <a:schemeClr val="accent2"/>
          </a:effectRef>
          <a:fontRef idx="minor">
            <a:schemeClr val="tx1"/>
          </a:fontRef>
        </p:style>
      </p:cxnSp>
      <p:sp>
        <p:nvSpPr>
          <p:cNvPr id="14" name="TextBox 13"/>
          <p:cNvSpPr txBox="1"/>
          <p:nvPr/>
        </p:nvSpPr>
        <p:spPr>
          <a:xfrm>
            <a:off x="7882846" y="1829582"/>
            <a:ext cx="370188" cy="369332"/>
          </a:xfrm>
          <a:prstGeom prst="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4</a:t>
            </a:r>
            <a:endParaRPr lang="en-IN"/>
          </a:p>
        </p:txBody>
      </p:sp>
      <p:cxnSp>
        <p:nvCxnSpPr>
          <p:cNvPr id="15" name="Straight Arrow Connector 14"/>
          <p:cNvCxnSpPr/>
          <p:nvPr/>
        </p:nvCxnSpPr>
        <p:spPr>
          <a:xfrm flipH="1">
            <a:off x="1927860" y="2718163"/>
            <a:ext cx="7772400" cy="2497528"/>
          </a:xfrm>
          <a:prstGeom prst="straightConnector1">
            <a:avLst/>
          </a:prstGeom>
          <a:ln w="38100">
            <a:solidFill>
              <a:schemeClr val="tx2"/>
            </a:solidFill>
            <a:tailEnd type="triangle"/>
          </a:ln>
        </p:spPr>
        <p:style>
          <a:lnRef idx="3">
            <a:schemeClr val="accent2"/>
          </a:lnRef>
          <a:fillRef idx="0">
            <a:schemeClr val="accent2"/>
          </a:fillRef>
          <a:effectRef idx="2">
            <a:schemeClr val="accent2"/>
          </a:effectRef>
          <a:fontRef idx="minor">
            <a:schemeClr val="tx1"/>
          </a:fontRef>
        </p:style>
      </p:cxnSp>
      <p:sp>
        <p:nvSpPr>
          <p:cNvPr id="16" name="TextBox 15"/>
          <p:cNvSpPr txBox="1"/>
          <p:nvPr/>
        </p:nvSpPr>
        <p:spPr>
          <a:xfrm>
            <a:off x="3877128" y="4049171"/>
            <a:ext cx="370188" cy="369332"/>
          </a:xfrm>
          <a:prstGeom prst="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5</a:t>
            </a:r>
            <a:endParaRPr lang="en-IN"/>
          </a:p>
        </p:txBody>
      </p:sp>
      <p:cxnSp>
        <p:nvCxnSpPr>
          <p:cNvPr id="17" name="Straight Arrow Connector 16"/>
          <p:cNvCxnSpPr/>
          <p:nvPr/>
        </p:nvCxnSpPr>
        <p:spPr>
          <a:xfrm>
            <a:off x="1927860" y="5228380"/>
            <a:ext cx="3768959" cy="361835"/>
          </a:xfrm>
          <a:prstGeom prst="straightConnector1">
            <a:avLst/>
          </a:prstGeom>
          <a:ln w="38100">
            <a:solidFill>
              <a:schemeClr val="tx2"/>
            </a:solidFill>
            <a:tailEnd type="triangle"/>
          </a:ln>
        </p:spPr>
        <p:style>
          <a:lnRef idx="3">
            <a:schemeClr val="accent2"/>
          </a:lnRef>
          <a:fillRef idx="0">
            <a:schemeClr val="accent2"/>
          </a:fillRef>
          <a:effectRef idx="2">
            <a:schemeClr val="accent2"/>
          </a:effectRef>
          <a:fontRef idx="minor">
            <a:schemeClr val="tx1"/>
          </a:fontRef>
        </p:style>
      </p:cxnSp>
      <p:sp>
        <p:nvSpPr>
          <p:cNvPr id="18" name="TextBox 17"/>
          <p:cNvSpPr txBox="1"/>
          <p:nvPr/>
        </p:nvSpPr>
        <p:spPr>
          <a:xfrm>
            <a:off x="3877128" y="4998602"/>
            <a:ext cx="370188" cy="369332"/>
          </a:xfrm>
          <a:prstGeom prst="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7</a:t>
            </a:r>
            <a:endParaRPr lang="en-IN"/>
          </a:p>
        </p:txBody>
      </p:sp>
      <p:cxnSp>
        <p:nvCxnSpPr>
          <p:cNvPr id="19" name="Straight Arrow Connector 18"/>
          <p:cNvCxnSpPr/>
          <p:nvPr/>
        </p:nvCxnSpPr>
        <p:spPr>
          <a:xfrm flipV="1">
            <a:off x="6379589" y="4497948"/>
            <a:ext cx="3354961" cy="1092267"/>
          </a:xfrm>
          <a:prstGeom prst="straightConnector1">
            <a:avLst/>
          </a:prstGeom>
          <a:ln w="38100">
            <a:solidFill>
              <a:schemeClr val="tx2"/>
            </a:solidFill>
            <a:tailEnd type="triangle"/>
          </a:ln>
        </p:spPr>
        <p:style>
          <a:lnRef idx="3">
            <a:schemeClr val="accent2"/>
          </a:lnRef>
          <a:fillRef idx="0">
            <a:schemeClr val="accent2"/>
          </a:fillRef>
          <a:effectRef idx="2">
            <a:schemeClr val="accent2"/>
          </a:effectRef>
          <a:fontRef idx="minor">
            <a:schemeClr val="tx1"/>
          </a:fontRef>
        </p:style>
      </p:cxnSp>
      <p:sp>
        <p:nvSpPr>
          <p:cNvPr id="20" name="TextBox 19"/>
          <p:cNvSpPr txBox="1"/>
          <p:nvPr/>
        </p:nvSpPr>
        <p:spPr>
          <a:xfrm>
            <a:off x="7854178" y="4459139"/>
            <a:ext cx="370188" cy="369332"/>
          </a:xfrm>
          <a:prstGeom prst="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6</a:t>
            </a:r>
            <a:endParaRPr lang="en-IN"/>
          </a:p>
        </p:txBody>
      </p:sp>
    </p:spTree>
    <p:extLst>
      <p:ext uri="{BB962C8B-B14F-4D97-AF65-F5344CB8AC3E}">
        <p14:creationId xmlns:p14="http://schemas.microsoft.com/office/powerpoint/2010/main" val="38282756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500"/>
                                        <p:tgtEl>
                                          <p:spTgt spid="8"/>
                                        </p:tgtEl>
                                      </p:cBhvr>
                                    </p:animEffect>
                                  </p:childTnLst>
                                </p:cTn>
                              </p:par>
                              <p:par>
                                <p:cTn id="49" presetID="1" presetClass="entr" presetSubtype="0"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Content Placeholder 25"/>
          <p:cNvPicPr>
            <a:picLocks noGrp="1" noChangeAspect="1"/>
          </p:cNvPicPr>
          <p:nvPr>
            <p:ph idx="1"/>
          </p:nvPr>
        </p:nvPicPr>
        <p:blipFill>
          <a:blip r:embed="rId2">
            <a:extLst>
              <a:ext uri="{28A0092B-C50C-407E-A947-70E740481C1C}">
                <a14:useLocalDpi xmlns:a14="http://schemas.microsoft.com/office/drawing/2010/main" val="0"/>
              </a:ext>
            </a:extLst>
          </a:blip>
          <a:srcRect l="10714" t="10444" r="10714" b="9201"/>
          <a:stretch>
            <a:fillRect/>
          </a:stretch>
        </p:blipFill>
        <p:spPr>
          <a:xfrm>
            <a:off x="4759290" y="4459843"/>
            <a:ext cx="1336710" cy="1367042"/>
          </a:xfrm>
          <a:prstGeom prst="rect">
            <a:avLst/>
          </a:prstGeom>
        </p:spPr>
      </p:pic>
      <p:sp>
        <p:nvSpPr>
          <p:cNvPr id="2" name="Title 1"/>
          <p:cNvSpPr>
            <a:spLocks noGrp="1"/>
          </p:cNvSpPr>
          <p:nvPr>
            <p:ph type="title"/>
          </p:nvPr>
        </p:nvSpPr>
        <p:spPr/>
        <p:txBody>
          <a:bodyPr/>
          <a:lstStyle/>
          <a:p>
            <a:r>
              <a:rPr lang="en-US"/>
              <a:t>Unsafe state</a:t>
            </a:r>
          </a:p>
        </p:txBody>
      </p:sp>
      <p:graphicFrame>
        <p:nvGraphicFramePr>
          <p:cNvPr id="7" name="Table 6"/>
          <p:cNvGraphicFramePr>
            <a:graphicFrameLocks noGrp="1"/>
          </p:cNvGraphicFramePr>
          <p:nvPr>
            <p:extLst>
              <p:ext uri="{D42A27DB-BD31-4B8C-83A1-F6EECF244321}">
                <p14:modId xmlns:p14="http://schemas.microsoft.com/office/powerpoint/2010/main" val="688339889"/>
              </p:ext>
            </p:extLst>
          </p:nvPr>
        </p:nvGraphicFramePr>
        <p:xfrm>
          <a:off x="8251371" y="991809"/>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4</a:t>
                      </a:r>
                    </a:p>
                  </a:txBody>
                  <a:tcPr/>
                </a:tc>
                <a:tc>
                  <a:txBody>
                    <a:bodyPr/>
                    <a:lstStyle/>
                    <a:p>
                      <a:pPr algn="ctr"/>
                      <a:r>
                        <a:rPr lang="en-US"/>
                        <a:t>9</a:t>
                      </a:r>
                    </a:p>
                  </a:txBody>
                  <a:tcPr/>
                </a:tc>
                <a:extLst>
                  <a:ext uri="{0D108BD9-81ED-4DB2-BD59-A6C34878D82A}">
                    <a16:rowId xmlns="" xmlns:a16="http://schemas.microsoft.com/office/drawing/2014/main" val="10001"/>
                  </a:ext>
                </a:extLst>
              </a:tr>
              <a:tr h="370840">
                <a:tc>
                  <a:txBody>
                    <a:bodyPr/>
                    <a:lstStyle/>
                    <a:p>
                      <a:pPr algn="ctr"/>
                      <a:r>
                        <a:rPr lang="en-US" sz="1800" kern="1200">
                          <a:solidFill>
                            <a:schemeClr val="accent2"/>
                          </a:solidFill>
                          <a:latin typeface="+mn-lt"/>
                          <a:ea typeface="+mn-ea"/>
                          <a:cs typeface="+mn-cs"/>
                        </a:rPr>
                        <a:t>B</a:t>
                      </a:r>
                    </a:p>
                  </a:txBody>
                  <a:tcPr/>
                </a:tc>
                <a:tc>
                  <a:txBody>
                    <a:bodyPr/>
                    <a:lstStyle/>
                    <a:p>
                      <a:pPr marL="0" algn="ctr" defTabSz="914400" rtl="0" eaLnBrk="1" latinLnBrk="0" hangingPunct="1"/>
                      <a:r>
                        <a:rPr lang="en-US" sz="1800" kern="1200">
                          <a:solidFill>
                            <a:schemeClr val="accent2"/>
                          </a:solidFill>
                          <a:latin typeface="+mn-lt"/>
                          <a:ea typeface="+mn-ea"/>
                          <a:cs typeface="+mn-cs"/>
                        </a:rPr>
                        <a:t>4</a:t>
                      </a:r>
                    </a:p>
                  </a:txBody>
                  <a:tcPr/>
                </a:tc>
                <a:tc>
                  <a:txBody>
                    <a:bodyPr/>
                    <a:lstStyle/>
                    <a:p>
                      <a:pPr algn="ctr"/>
                      <a:r>
                        <a:rPr lang="en-US" sz="1800" kern="1200">
                          <a:solidFill>
                            <a:schemeClr val="accent2"/>
                          </a:solidFill>
                          <a:latin typeface="+mn-lt"/>
                          <a:ea typeface="+mn-ea"/>
                          <a:cs typeface="+mn-cs"/>
                        </a:rPr>
                        <a:t>4</a:t>
                      </a:r>
                    </a:p>
                  </a:txBody>
                  <a:tcPr/>
                </a:tc>
                <a:extLst>
                  <a:ext uri="{0D108BD9-81ED-4DB2-BD59-A6C34878D82A}">
                    <a16:rowId xmlns="" xmlns:a16="http://schemas.microsoft.com/office/drawing/2014/main" val="10002"/>
                  </a:ext>
                </a:extLst>
              </a:tr>
              <a:tr h="373985">
                <a:tc>
                  <a:txBody>
                    <a:bodyPr/>
                    <a:lstStyle/>
                    <a:p>
                      <a:pPr algn="ctr"/>
                      <a:r>
                        <a:rPr lang="en-US"/>
                        <a:t>C</a:t>
                      </a:r>
                    </a:p>
                  </a:txBody>
                  <a:tcPr/>
                </a:tc>
                <a:tc>
                  <a:txBody>
                    <a:bodyPr/>
                    <a:lstStyle/>
                    <a:p>
                      <a:pPr marL="0" algn="ctr" defTabSz="914400" rtl="0" eaLnBrk="1" latinLnBrk="0" hangingPunct="1"/>
                      <a:r>
                        <a:rPr lang="en-US" sz="1800" kern="1200">
                          <a:solidFill>
                            <a:schemeClr val="dk1"/>
                          </a:solidFill>
                          <a:latin typeface="+mn-lt"/>
                          <a:ea typeface="+mn-ea"/>
                          <a:cs typeface="+mn-cs"/>
                        </a:rPr>
                        <a:t>2</a:t>
                      </a:r>
                    </a:p>
                  </a:txBody>
                  <a:tcPr/>
                </a:tc>
                <a:tc>
                  <a:txBody>
                    <a:bodyPr/>
                    <a:lstStyle/>
                    <a:p>
                      <a:pPr algn="ctr"/>
                      <a:r>
                        <a:rPr lang="en-US"/>
                        <a:t>7</a:t>
                      </a:r>
                    </a:p>
                  </a:txBody>
                  <a:tcPr/>
                </a:tc>
                <a:extLst>
                  <a:ext uri="{0D108BD9-81ED-4DB2-BD59-A6C34878D82A}">
                    <a16:rowId xmlns="" xmlns:a16="http://schemas.microsoft.com/office/drawing/2014/main" val="10003"/>
                  </a:ext>
                </a:extLst>
              </a:tr>
              <a:tr h="370840">
                <a:tc gridSpan="3">
                  <a:txBody>
                    <a:bodyPr/>
                    <a:lstStyle/>
                    <a:p>
                      <a:pPr algn="ctr"/>
                      <a:r>
                        <a:rPr lang="en-US"/>
                        <a:t>Free : 0</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902499816"/>
              </p:ext>
            </p:extLst>
          </p:nvPr>
        </p:nvGraphicFramePr>
        <p:xfrm>
          <a:off x="290285" y="991809"/>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3</a:t>
                      </a:r>
                    </a:p>
                  </a:txBody>
                  <a:tcPr/>
                </a:tc>
                <a:tc>
                  <a:txBody>
                    <a:bodyPr/>
                    <a:lstStyle/>
                    <a:p>
                      <a:pPr algn="ctr"/>
                      <a:r>
                        <a:rPr lang="en-US"/>
                        <a:t>9</a:t>
                      </a:r>
                    </a:p>
                  </a:txBody>
                  <a:tcPr/>
                </a:tc>
                <a:extLst>
                  <a:ext uri="{0D108BD9-81ED-4DB2-BD59-A6C34878D82A}">
                    <a16:rowId xmlns="" xmlns:a16="http://schemas.microsoft.com/office/drawing/2014/main" val="10001"/>
                  </a:ext>
                </a:extLst>
              </a:tr>
              <a:tr h="370840">
                <a:tc>
                  <a:txBody>
                    <a:bodyPr/>
                    <a:lstStyle/>
                    <a:p>
                      <a:pPr algn="ctr"/>
                      <a:r>
                        <a:rPr lang="en-US"/>
                        <a:t>B</a:t>
                      </a:r>
                    </a:p>
                  </a:txBody>
                  <a:tcPr/>
                </a:tc>
                <a:tc>
                  <a:txBody>
                    <a:bodyPr/>
                    <a:lstStyle/>
                    <a:p>
                      <a:pPr marL="0" algn="ctr" defTabSz="914400" rtl="0" eaLnBrk="1" latinLnBrk="0" hangingPunct="1"/>
                      <a:r>
                        <a:rPr lang="en-US" sz="1800" kern="1200">
                          <a:solidFill>
                            <a:schemeClr val="dk1"/>
                          </a:solidFill>
                          <a:latin typeface="+mn-lt"/>
                          <a:ea typeface="+mn-ea"/>
                          <a:cs typeface="+mn-cs"/>
                        </a:rPr>
                        <a:t>2</a:t>
                      </a:r>
                    </a:p>
                  </a:txBody>
                  <a:tcPr/>
                </a:tc>
                <a:tc>
                  <a:txBody>
                    <a:bodyPr/>
                    <a:lstStyle/>
                    <a:p>
                      <a:pPr algn="ctr"/>
                      <a:r>
                        <a:rPr lang="en-US"/>
                        <a:t>4</a:t>
                      </a:r>
                    </a:p>
                  </a:txBody>
                  <a:tcPr/>
                </a:tc>
                <a:extLst>
                  <a:ext uri="{0D108BD9-81ED-4DB2-BD59-A6C34878D82A}">
                    <a16:rowId xmlns="" xmlns:a16="http://schemas.microsoft.com/office/drawing/2014/main" val="10002"/>
                  </a:ext>
                </a:extLst>
              </a:tr>
              <a:tr h="373985">
                <a:tc>
                  <a:txBody>
                    <a:bodyPr/>
                    <a:lstStyle/>
                    <a:p>
                      <a:pPr algn="ctr"/>
                      <a:r>
                        <a:rPr lang="en-US"/>
                        <a:t>C</a:t>
                      </a:r>
                    </a:p>
                  </a:txBody>
                  <a:tcPr/>
                </a:tc>
                <a:tc>
                  <a:txBody>
                    <a:bodyPr/>
                    <a:lstStyle/>
                    <a:p>
                      <a:pPr marL="0" algn="ctr" defTabSz="914400" rtl="0" eaLnBrk="1" latinLnBrk="0" hangingPunct="1"/>
                      <a:r>
                        <a:rPr lang="en-US" sz="1800" kern="1200">
                          <a:solidFill>
                            <a:schemeClr val="dk1"/>
                          </a:solidFill>
                          <a:latin typeface="+mn-lt"/>
                          <a:ea typeface="+mn-ea"/>
                          <a:cs typeface="+mn-cs"/>
                        </a:rPr>
                        <a:t>2</a:t>
                      </a:r>
                    </a:p>
                  </a:txBody>
                  <a:tcPr/>
                </a:tc>
                <a:tc>
                  <a:txBody>
                    <a:bodyPr/>
                    <a:lstStyle/>
                    <a:p>
                      <a:pPr algn="ctr"/>
                      <a:r>
                        <a:rPr lang="en-US"/>
                        <a:t>7</a:t>
                      </a:r>
                    </a:p>
                  </a:txBody>
                  <a:tcPr/>
                </a:tc>
                <a:extLst>
                  <a:ext uri="{0D108BD9-81ED-4DB2-BD59-A6C34878D82A}">
                    <a16:rowId xmlns="" xmlns:a16="http://schemas.microsoft.com/office/drawing/2014/main" val="10003"/>
                  </a:ext>
                </a:extLst>
              </a:tr>
              <a:tr h="370840">
                <a:tc gridSpan="3">
                  <a:txBody>
                    <a:bodyPr/>
                    <a:lstStyle/>
                    <a:p>
                      <a:pPr algn="ctr"/>
                      <a:r>
                        <a:rPr lang="en-US"/>
                        <a:t>Free : 3</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408530287"/>
              </p:ext>
            </p:extLst>
          </p:nvPr>
        </p:nvGraphicFramePr>
        <p:xfrm>
          <a:off x="4270828" y="991809"/>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4</a:t>
                      </a:r>
                    </a:p>
                  </a:txBody>
                  <a:tcPr/>
                </a:tc>
                <a:tc>
                  <a:txBody>
                    <a:bodyPr/>
                    <a:lstStyle/>
                    <a:p>
                      <a:pPr algn="ctr"/>
                      <a:r>
                        <a:rPr lang="en-US"/>
                        <a:t>9</a:t>
                      </a:r>
                    </a:p>
                  </a:txBody>
                  <a:tcPr/>
                </a:tc>
                <a:extLst>
                  <a:ext uri="{0D108BD9-81ED-4DB2-BD59-A6C34878D82A}">
                    <a16:rowId xmlns="" xmlns:a16="http://schemas.microsoft.com/office/drawing/2014/main" val="10001"/>
                  </a:ext>
                </a:extLst>
              </a:tr>
              <a:tr h="370840">
                <a:tc>
                  <a:txBody>
                    <a:bodyPr/>
                    <a:lstStyle/>
                    <a:p>
                      <a:pPr marL="0" algn="ctr" defTabSz="914400" rtl="0" eaLnBrk="1" latinLnBrk="0" hangingPunct="1"/>
                      <a:r>
                        <a:rPr lang="en-US" sz="1800" kern="1200">
                          <a:solidFill>
                            <a:schemeClr val="dk1"/>
                          </a:solidFill>
                          <a:latin typeface="+mn-lt"/>
                          <a:ea typeface="+mn-ea"/>
                          <a:cs typeface="+mn-cs"/>
                        </a:rPr>
                        <a:t>B</a:t>
                      </a:r>
                    </a:p>
                  </a:txBody>
                  <a:tcPr/>
                </a:tc>
                <a:tc>
                  <a:txBody>
                    <a:bodyPr/>
                    <a:lstStyle/>
                    <a:p>
                      <a:pPr marL="0" algn="ctr" defTabSz="914400" rtl="0" eaLnBrk="1" latinLnBrk="0" hangingPunct="1"/>
                      <a:r>
                        <a:rPr lang="en-US" sz="1800" kern="1200">
                          <a:solidFill>
                            <a:schemeClr val="dk1"/>
                          </a:solidFill>
                          <a:latin typeface="+mn-lt"/>
                          <a:ea typeface="+mn-ea"/>
                          <a:cs typeface="+mn-cs"/>
                        </a:rPr>
                        <a:t>2</a:t>
                      </a:r>
                    </a:p>
                  </a:txBody>
                  <a:tcPr/>
                </a:tc>
                <a:tc>
                  <a:txBody>
                    <a:bodyPr/>
                    <a:lstStyle/>
                    <a:p>
                      <a:pPr marL="0" algn="ctr" defTabSz="914400" rtl="0" eaLnBrk="1" latinLnBrk="0" hangingPunct="1"/>
                      <a:r>
                        <a:rPr lang="en-US" sz="1800" kern="1200">
                          <a:solidFill>
                            <a:schemeClr val="dk1"/>
                          </a:solidFill>
                          <a:latin typeface="+mn-lt"/>
                          <a:ea typeface="+mn-ea"/>
                          <a:cs typeface="+mn-cs"/>
                        </a:rPr>
                        <a:t>4</a:t>
                      </a:r>
                    </a:p>
                  </a:txBody>
                  <a:tcPr/>
                </a:tc>
                <a:extLst>
                  <a:ext uri="{0D108BD9-81ED-4DB2-BD59-A6C34878D82A}">
                    <a16:rowId xmlns="" xmlns:a16="http://schemas.microsoft.com/office/drawing/2014/main" val="10002"/>
                  </a:ext>
                </a:extLst>
              </a:tr>
              <a:tr h="373985">
                <a:tc>
                  <a:txBody>
                    <a:bodyPr/>
                    <a:lstStyle/>
                    <a:p>
                      <a:pPr algn="ctr"/>
                      <a:r>
                        <a:rPr lang="en-US"/>
                        <a:t>C</a:t>
                      </a:r>
                    </a:p>
                  </a:txBody>
                  <a:tcPr/>
                </a:tc>
                <a:tc>
                  <a:txBody>
                    <a:bodyPr/>
                    <a:lstStyle/>
                    <a:p>
                      <a:pPr marL="0" algn="ctr" defTabSz="914400" rtl="0" eaLnBrk="1" latinLnBrk="0" hangingPunct="1"/>
                      <a:r>
                        <a:rPr lang="en-US" sz="1800" kern="1200">
                          <a:solidFill>
                            <a:schemeClr val="dk1"/>
                          </a:solidFill>
                          <a:latin typeface="+mn-lt"/>
                          <a:ea typeface="+mn-ea"/>
                          <a:cs typeface="+mn-cs"/>
                        </a:rPr>
                        <a:t>2</a:t>
                      </a:r>
                    </a:p>
                  </a:txBody>
                  <a:tcPr/>
                </a:tc>
                <a:tc>
                  <a:txBody>
                    <a:bodyPr/>
                    <a:lstStyle/>
                    <a:p>
                      <a:pPr algn="ctr"/>
                      <a:r>
                        <a:rPr lang="en-US"/>
                        <a:t>7</a:t>
                      </a:r>
                    </a:p>
                  </a:txBody>
                  <a:tcPr/>
                </a:tc>
                <a:extLst>
                  <a:ext uri="{0D108BD9-81ED-4DB2-BD59-A6C34878D82A}">
                    <a16:rowId xmlns="" xmlns:a16="http://schemas.microsoft.com/office/drawing/2014/main" val="10003"/>
                  </a:ext>
                </a:extLst>
              </a:tr>
              <a:tr h="370840">
                <a:tc gridSpan="3">
                  <a:txBody>
                    <a:bodyPr/>
                    <a:lstStyle/>
                    <a:p>
                      <a:pPr algn="ctr"/>
                      <a:r>
                        <a:rPr lang="en-US"/>
                        <a:t>Free : 2</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302180598"/>
              </p:ext>
            </p:extLst>
          </p:nvPr>
        </p:nvGraphicFramePr>
        <p:xfrm>
          <a:off x="268513" y="3930955"/>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4</a:t>
                      </a:r>
                    </a:p>
                  </a:txBody>
                  <a:tcPr/>
                </a:tc>
                <a:tc>
                  <a:txBody>
                    <a:bodyPr/>
                    <a:lstStyle/>
                    <a:p>
                      <a:pPr algn="ctr"/>
                      <a:r>
                        <a:rPr lang="en-US"/>
                        <a:t>9</a:t>
                      </a:r>
                    </a:p>
                  </a:txBody>
                  <a:tcPr/>
                </a:tc>
                <a:extLst>
                  <a:ext uri="{0D108BD9-81ED-4DB2-BD59-A6C34878D82A}">
                    <a16:rowId xmlns="" xmlns:a16="http://schemas.microsoft.com/office/drawing/2014/main" val="10001"/>
                  </a:ext>
                </a:extLst>
              </a:tr>
              <a:tr h="370840">
                <a:tc>
                  <a:txBody>
                    <a:bodyPr/>
                    <a:lstStyle/>
                    <a:p>
                      <a:pPr algn="ctr"/>
                      <a:r>
                        <a:rPr lang="en-US">
                          <a:solidFill>
                            <a:schemeClr val="bg1"/>
                          </a:solidFill>
                        </a:rPr>
                        <a:t>B</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2"/>
                  </a:ext>
                </a:extLst>
              </a:tr>
              <a:tr h="373985">
                <a:tc>
                  <a:txBody>
                    <a:bodyPr/>
                    <a:lstStyle/>
                    <a:p>
                      <a:pPr algn="ctr"/>
                      <a:r>
                        <a:rPr lang="en-US">
                          <a:solidFill>
                            <a:schemeClr val="tx1"/>
                          </a:solidFill>
                        </a:rPr>
                        <a:t>C</a:t>
                      </a:r>
                    </a:p>
                  </a:txBody>
                  <a:tcPr/>
                </a:tc>
                <a:tc>
                  <a:txBody>
                    <a:bodyPr/>
                    <a:lstStyle/>
                    <a:p>
                      <a:pPr marL="0" algn="ctr" defTabSz="914400" rtl="0" eaLnBrk="1" latinLnBrk="0" hangingPunct="1"/>
                      <a:r>
                        <a:rPr lang="en-US" sz="1800" kern="1200">
                          <a:solidFill>
                            <a:schemeClr val="tx1"/>
                          </a:solidFill>
                          <a:latin typeface="+mn-lt"/>
                          <a:ea typeface="+mn-ea"/>
                          <a:cs typeface="+mn-cs"/>
                        </a:rPr>
                        <a:t>2</a:t>
                      </a:r>
                    </a:p>
                  </a:txBody>
                  <a:tcPr/>
                </a:tc>
                <a:tc>
                  <a:txBody>
                    <a:bodyPr/>
                    <a:lstStyle/>
                    <a:p>
                      <a:pPr algn="ctr"/>
                      <a:r>
                        <a:rPr lang="en-US">
                          <a:solidFill>
                            <a:schemeClr val="tx1"/>
                          </a:solidFill>
                        </a:rPr>
                        <a:t>7</a:t>
                      </a:r>
                    </a:p>
                  </a:txBody>
                  <a:tcPr/>
                </a:tc>
                <a:extLst>
                  <a:ext uri="{0D108BD9-81ED-4DB2-BD59-A6C34878D82A}">
                    <a16:rowId xmlns="" xmlns:a16="http://schemas.microsoft.com/office/drawing/2014/main" val="10003"/>
                  </a:ext>
                </a:extLst>
              </a:tr>
              <a:tr h="370840">
                <a:tc gridSpan="3">
                  <a:txBody>
                    <a:bodyPr/>
                    <a:lstStyle/>
                    <a:p>
                      <a:pPr algn="ctr"/>
                      <a:r>
                        <a:rPr lang="en-US"/>
                        <a:t>Free : 4</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cxnSp>
        <p:nvCxnSpPr>
          <p:cNvPr id="11" name="Straight Arrow Connector 10"/>
          <p:cNvCxnSpPr/>
          <p:nvPr/>
        </p:nvCxnSpPr>
        <p:spPr>
          <a:xfrm flipV="1">
            <a:off x="2461260" y="1582057"/>
            <a:ext cx="3235559" cy="1022364"/>
          </a:xfrm>
          <a:prstGeom prst="straightConnector1">
            <a:avLst/>
          </a:prstGeom>
          <a:ln w="38100">
            <a:solidFill>
              <a:schemeClr val="tx2"/>
            </a:solidFill>
            <a:tailEnd type="triangle"/>
          </a:ln>
        </p:spPr>
        <p:style>
          <a:lnRef idx="3">
            <a:schemeClr val="accent2"/>
          </a:lnRef>
          <a:fillRef idx="0">
            <a:schemeClr val="accent2"/>
          </a:fillRef>
          <a:effectRef idx="2">
            <a:schemeClr val="accent2"/>
          </a:effectRef>
          <a:fontRef idx="minor">
            <a:schemeClr val="tx1"/>
          </a:fontRef>
        </p:style>
      </p:cxnSp>
      <p:sp>
        <p:nvSpPr>
          <p:cNvPr id="12" name="TextBox 11"/>
          <p:cNvSpPr txBox="1"/>
          <p:nvPr/>
        </p:nvSpPr>
        <p:spPr>
          <a:xfrm>
            <a:off x="3893945" y="1626382"/>
            <a:ext cx="370188" cy="369332"/>
          </a:xfrm>
          <a:prstGeom prst="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1</a:t>
            </a:r>
            <a:endParaRPr lang="en-IN"/>
          </a:p>
        </p:txBody>
      </p:sp>
      <p:cxnSp>
        <p:nvCxnSpPr>
          <p:cNvPr id="13" name="Straight Arrow Connector 12"/>
          <p:cNvCxnSpPr/>
          <p:nvPr/>
        </p:nvCxnSpPr>
        <p:spPr>
          <a:xfrm flipV="1">
            <a:off x="6467475" y="1970936"/>
            <a:ext cx="3267075" cy="709760"/>
          </a:xfrm>
          <a:prstGeom prst="straightConnector1">
            <a:avLst/>
          </a:prstGeom>
          <a:ln w="38100">
            <a:solidFill>
              <a:schemeClr val="tx2"/>
            </a:solidFill>
            <a:tailEnd type="triangle"/>
          </a:ln>
        </p:spPr>
        <p:style>
          <a:lnRef idx="3">
            <a:schemeClr val="accent2"/>
          </a:lnRef>
          <a:fillRef idx="0">
            <a:schemeClr val="accent2"/>
          </a:fillRef>
          <a:effectRef idx="2">
            <a:schemeClr val="accent2"/>
          </a:effectRef>
          <a:fontRef idx="minor">
            <a:schemeClr val="tx1"/>
          </a:fontRef>
        </p:style>
      </p:cxnSp>
      <p:sp>
        <p:nvSpPr>
          <p:cNvPr id="14" name="TextBox 13"/>
          <p:cNvSpPr txBox="1"/>
          <p:nvPr/>
        </p:nvSpPr>
        <p:spPr>
          <a:xfrm>
            <a:off x="7882846" y="1829582"/>
            <a:ext cx="370188" cy="369332"/>
          </a:xfrm>
          <a:prstGeom prst="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2</a:t>
            </a:r>
            <a:endParaRPr lang="en-IN"/>
          </a:p>
        </p:txBody>
      </p:sp>
      <p:cxnSp>
        <p:nvCxnSpPr>
          <p:cNvPr id="15" name="Straight Arrow Connector 14"/>
          <p:cNvCxnSpPr/>
          <p:nvPr/>
        </p:nvCxnSpPr>
        <p:spPr>
          <a:xfrm flipH="1">
            <a:off x="2461260" y="1995714"/>
            <a:ext cx="7273291" cy="3617686"/>
          </a:xfrm>
          <a:prstGeom prst="straightConnector1">
            <a:avLst/>
          </a:prstGeom>
          <a:ln w="38100">
            <a:solidFill>
              <a:schemeClr val="tx2"/>
            </a:solidFill>
            <a:tailEnd type="triangle"/>
          </a:ln>
        </p:spPr>
        <p:style>
          <a:lnRef idx="3">
            <a:schemeClr val="accent2"/>
          </a:lnRef>
          <a:fillRef idx="0">
            <a:schemeClr val="accent2"/>
          </a:fillRef>
          <a:effectRef idx="2">
            <a:schemeClr val="accent2"/>
          </a:effectRef>
          <a:fontRef idx="minor">
            <a:schemeClr val="tx1"/>
          </a:fontRef>
        </p:style>
      </p:cxnSp>
      <p:sp>
        <p:nvSpPr>
          <p:cNvPr id="16" name="TextBox 15"/>
          <p:cNvSpPr txBox="1"/>
          <p:nvPr/>
        </p:nvSpPr>
        <p:spPr>
          <a:xfrm>
            <a:off x="3889828" y="4277771"/>
            <a:ext cx="370188" cy="369332"/>
          </a:xfrm>
          <a:prstGeom prst="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4</a:t>
            </a:r>
            <a:endParaRPr lang="en-IN"/>
          </a:p>
        </p:txBody>
      </p:sp>
    </p:spTree>
    <p:extLst>
      <p:ext uri="{BB962C8B-B14F-4D97-AF65-F5344CB8AC3E}">
        <p14:creationId xmlns:p14="http://schemas.microsoft.com/office/powerpoint/2010/main" val="36155015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p:stCondLst>
                              <p:cond delay="0"/>
                            </p:stCondLst>
                            <p:childTnLst>
                              <p:par>
                                <p:cTn id="37" presetID="53" presetClass="entr" presetSubtype="16"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 calcmode="lin" valueType="num">
                                      <p:cBhvr>
                                        <p:cTn id="39" dur="500" fill="hold"/>
                                        <p:tgtEl>
                                          <p:spTgt spid="26"/>
                                        </p:tgtEl>
                                        <p:attrNameLst>
                                          <p:attrName>ppt_w</p:attrName>
                                        </p:attrNameLst>
                                      </p:cBhvr>
                                      <p:tavLst>
                                        <p:tav tm="0">
                                          <p:val>
                                            <p:fltVal val="0"/>
                                          </p:val>
                                        </p:tav>
                                        <p:tav tm="100000">
                                          <p:val>
                                            <p:strVal val="#ppt_w"/>
                                          </p:val>
                                        </p:tav>
                                      </p:tavLst>
                                    </p:anim>
                                    <p:anim calcmode="lin" valueType="num">
                                      <p:cBhvr>
                                        <p:cTn id="40" dur="500" fill="hold"/>
                                        <p:tgtEl>
                                          <p:spTgt spid="26"/>
                                        </p:tgtEl>
                                        <p:attrNameLst>
                                          <p:attrName>ppt_h</p:attrName>
                                        </p:attrNameLst>
                                      </p:cBhvr>
                                      <p:tavLst>
                                        <p:tav tm="0">
                                          <p:val>
                                            <p:fltVal val="0"/>
                                          </p:val>
                                        </p:tav>
                                        <p:tav tm="100000">
                                          <p:val>
                                            <p:strVal val="#ppt_h"/>
                                          </p:val>
                                        </p:tav>
                                      </p:tavLst>
                                    </p:anim>
                                    <p:animEffect transition="in" filter="fade">
                                      <p:cBhvr>
                                        <p:cTn id="4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Deadlock avoidance</a:t>
            </a:r>
            <a:endParaRPr lang="en-US"/>
          </a:p>
        </p:txBody>
      </p:sp>
      <p:sp>
        <p:nvSpPr>
          <p:cNvPr id="3" name="Content Placeholder 2"/>
          <p:cNvSpPr>
            <a:spLocks noGrp="1"/>
          </p:cNvSpPr>
          <p:nvPr>
            <p:ph idx="1"/>
          </p:nvPr>
        </p:nvSpPr>
        <p:spPr/>
        <p:txBody>
          <a:bodyPr/>
          <a:lstStyle/>
          <a:p>
            <a:r>
              <a:rPr lang="en-US"/>
              <a:t>Deadlock can be avoided by </a:t>
            </a:r>
            <a:r>
              <a:rPr lang="en-US" b="1">
                <a:solidFill>
                  <a:schemeClr val="accent6"/>
                </a:solidFill>
              </a:rPr>
              <a:t>allocating resources carefully</a:t>
            </a:r>
            <a:r>
              <a:rPr lang="en-US"/>
              <a:t>.</a:t>
            </a:r>
          </a:p>
          <a:p>
            <a:r>
              <a:rPr lang="en-US"/>
              <a:t>Carefully </a:t>
            </a:r>
            <a:r>
              <a:rPr lang="en-US" b="1">
                <a:solidFill>
                  <a:schemeClr val="accent6"/>
                </a:solidFill>
              </a:rPr>
              <a:t>analyze each resource request </a:t>
            </a:r>
            <a:r>
              <a:rPr lang="en-US"/>
              <a:t>to see </a:t>
            </a:r>
            <a:r>
              <a:rPr lang="en-US" b="1">
                <a:solidFill>
                  <a:schemeClr val="accent6"/>
                </a:solidFill>
              </a:rPr>
              <a:t>if it can be safely granted</a:t>
            </a:r>
            <a:r>
              <a:rPr lang="en-US"/>
              <a:t>.</a:t>
            </a:r>
          </a:p>
          <a:p>
            <a:r>
              <a:rPr lang="en-US"/>
              <a:t>Need an algorithm that can always avoid deadlock by making right choice all the time </a:t>
            </a:r>
            <a:r>
              <a:rPr lang="en-US" b="1">
                <a:solidFill>
                  <a:schemeClr val="accent6"/>
                </a:solidFill>
              </a:rPr>
              <a:t>(Banker’s algorithm).</a:t>
            </a:r>
          </a:p>
          <a:p>
            <a:r>
              <a:rPr lang="en-US"/>
              <a:t>Banker’s algorithm for single resource</a:t>
            </a:r>
          </a:p>
          <a:p>
            <a:r>
              <a:rPr lang="en-US"/>
              <a:t>Banker’s algorithm for multiple resource</a:t>
            </a:r>
          </a:p>
        </p:txBody>
      </p:sp>
    </p:spTree>
    <p:extLst>
      <p:ext uri="{BB962C8B-B14F-4D97-AF65-F5344CB8AC3E}">
        <p14:creationId xmlns:p14="http://schemas.microsoft.com/office/powerpoint/2010/main" val="5162459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sz="3200"/>
              <a:t>Banker’s algorithm for single resource</a:t>
            </a:r>
            <a:endParaRPr lang="en-US"/>
          </a:p>
        </p:txBody>
      </p:sp>
      <p:sp>
        <p:nvSpPr>
          <p:cNvPr id="3" name="Content Placeholder 2"/>
          <p:cNvSpPr>
            <a:spLocks noGrp="1"/>
          </p:cNvSpPr>
          <p:nvPr>
            <p:ph idx="1"/>
          </p:nvPr>
        </p:nvSpPr>
        <p:spPr/>
        <p:txBody>
          <a:bodyPr/>
          <a:lstStyle/>
          <a:p>
            <a:r>
              <a:rPr lang="en-US"/>
              <a:t>What the algorithm does is </a:t>
            </a:r>
            <a:r>
              <a:rPr lang="en-US" b="1">
                <a:solidFill>
                  <a:schemeClr val="accent6"/>
                </a:solidFill>
              </a:rPr>
              <a:t>check to see if granting the request leads to an unsafe state</a:t>
            </a:r>
            <a:r>
              <a:rPr lang="en-US"/>
              <a:t>. If it does, the </a:t>
            </a:r>
            <a:r>
              <a:rPr lang="en-US" b="1">
                <a:solidFill>
                  <a:schemeClr val="accent6"/>
                </a:solidFill>
              </a:rPr>
              <a:t>request is denied</a:t>
            </a:r>
            <a:r>
              <a:rPr lang="en-US"/>
              <a:t>. </a:t>
            </a:r>
          </a:p>
          <a:p>
            <a:r>
              <a:rPr lang="en-US"/>
              <a:t>If </a:t>
            </a:r>
            <a:r>
              <a:rPr lang="en-US" b="1">
                <a:solidFill>
                  <a:schemeClr val="accent6"/>
                </a:solidFill>
              </a:rPr>
              <a:t>granting the request leads to a safe state</a:t>
            </a:r>
            <a:r>
              <a:rPr lang="en-US"/>
              <a:t>, it is </a:t>
            </a:r>
            <a:r>
              <a:rPr lang="en-US" b="1">
                <a:solidFill>
                  <a:schemeClr val="accent6"/>
                </a:solidFill>
              </a:rPr>
              <a:t>carried</a:t>
            </a:r>
            <a:r>
              <a:rPr lang="en-US"/>
              <a:t> </a:t>
            </a:r>
            <a:r>
              <a:rPr lang="en-US" b="1">
                <a:solidFill>
                  <a:schemeClr val="accent6"/>
                </a:solidFill>
              </a:rPr>
              <a:t>out</a:t>
            </a:r>
            <a:r>
              <a:rPr lang="en-US"/>
              <a:t>.</a:t>
            </a:r>
          </a:p>
          <a:p>
            <a:r>
              <a:rPr lang="en-US"/>
              <a:t>If we have situation as per figure </a:t>
            </a:r>
          </a:p>
          <a:p>
            <a:pPr lvl="1"/>
            <a:r>
              <a:rPr lang="en-US"/>
              <a:t>then it is safe state </a:t>
            </a:r>
          </a:p>
          <a:p>
            <a:pPr lvl="1"/>
            <a:r>
              <a:rPr lang="en-US"/>
              <a:t>because with 10 free units </a:t>
            </a:r>
          </a:p>
          <a:p>
            <a:pPr lvl="1"/>
            <a:r>
              <a:rPr lang="en-US"/>
              <a:t>one by one all customers can be served.</a:t>
            </a:r>
          </a:p>
        </p:txBody>
      </p:sp>
      <p:graphicFrame>
        <p:nvGraphicFramePr>
          <p:cNvPr id="4" name="Table 3"/>
          <p:cNvGraphicFramePr>
            <a:graphicFrameLocks noGrp="1"/>
          </p:cNvGraphicFramePr>
          <p:nvPr>
            <p:extLst>
              <p:ext uri="{D42A27DB-BD31-4B8C-83A1-F6EECF244321}">
                <p14:modId xmlns:p14="http://schemas.microsoft.com/office/powerpoint/2010/main" val="1166228369"/>
              </p:ext>
            </p:extLst>
          </p:nvPr>
        </p:nvGraphicFramePr>
        <p:xfrm>
          <a:off x="7024914" y="2388809"/>
          <a:ext cx="4663440" cy="2231330"/>
        </p:xfrm>
        <a:graphic>
          <a:graphicData uri="http://schemas.openxmlformats.org/drawingml/2006/table">
            <a:tbl>
              <a:tblPr firstRow="1" bandRow="1">
                <a:tableStyleId>{93296810-A885-4BE3-A3E7-6D5BEEA58F35}</a:tableStyleId>
              </a:tblPr>
              <a:tblGrid>
                <a:gridCol w="1554480">
                  <a:extLst>
                    <a:ext uri="{9D8B030D-6E8A-4147-A177-3AD203B41FA5}">
                      <a16:colId xmlns="" xmlns:a16="http://schemas.microsoft.com/office/drawing/2014/main" val="20000"/>
                    </a:ext>
                  </a:extLst>
                </a:gridCol>
                <a:gridCol w="1554480">
                  <a:extLst>
                    <a:ext uri="{9D8B030D-6E8A-4147-A177-3AD203B41FA5}">
                      <a16:colId xmlns="" xmlns:a16="http://schemas.microsoft.com/office/drawing/2014/main" val="20001"/>
                    </a:ext>
                  </a:extLst>
                </a:gridCol>
                <a:gridCol w="15544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0</a:t>
                      </a:r>
                    </a:p>
                  </a:txBody>
                  <a:tcPr/>
                </a:tc>
                <a:tc>
                  <a:txBody>
                    <a:bodyPr/>
                    <a:lstStyle/>
                    <a:p>
                      <a:pPr algn="ctr"/>
                      <a:r>
                        <a:rPr lang="en-US"/>
                        <a:t>6</a:t>
                      </a:r>
                    </a:p>
                  </a:txBody>
                  <a:tcPr/>
                </a:tc>
                <a:extLst>
                  <a:ext uri="{0D108BD9-81ED-4DB2-BD59-A6C34878D82A}">
                    <a16:rowId xmlns="" xmlns:a16="http://schemas.microsoft.com/office/drawing/2014/main" val="10001"/>
                  </a:ext>
                </a:extLst>
              </a:tr>
              <a:tr h="370840">
                <a:tc>
                  <a:txBody>
                    <a:bodyPr/>
                    <a:lstStyle/>
                    <a:p>
                      <a:pPr algn="ctr"/>
                      <a:r>
                        <a:rPr lang="en-US"/>
                        <a:t>B</a:t>
                      </a:r>
                    </a:p>
                  </a:txBody>
                  <a:tcPr/>
                </a:tc>
                <a:tc>
                  <a:txBody>
                    <a:bodyPr/>
                    <a:lstStyle/>
                    <a:p>
                      <a:pPr marL="0" algn="ctr" defTabSz="914400" rtl="0" eaLnBrk="1" latinLnBrk="0" hangingPunct="1"/>
                      <a:r>
                        <a:rPr lang="en-US" sz="1800" kern="1200">
                          <a:solidFill>
                            <a:schemeClr val="dk1"/>
                          </a:solidFill>
                          <a:latin typeface="+mn-lt"/>
                          <a:ea typeface="+mn-ea"/>
                          <a:cs typeface="+mn-cs"/>
                        </a:rPr>
                        <a:t>0</a:t>
                      </a:r>
                    </a:p>
                  </a:txBody>
                  <a:tcPr/>
                </a:tc>
                <a:tc>
                  <a:txBody>
                    <a:bodyPr/>
                    <a:lstStyle/>
                    <a:p>
                      <a:pPr algn="ctr"/>
                      <a:r>
                        <a:rPr lang="en-US"/>
                        <a:t>5</a:t>
                      </a:r>
                    </a:p>
                  </a:txBody>
                  <a:tcPr/>
                </a:tc>
                <a:extLst>
                  <a:ext uri="{0D108BD9-81ED-4DB2-BD59-A6C34878D82A}">
                    <a16:rowId xmlns="" xmlns:a16="http://schemas.microsoft.com/office/drawing/2014/main" val="10002"/>
                  </a:ext>
                </a:extLst>
              </a:tr>
              <a:tr h="373985">
                <a:tc>
                  <a:txBody>
                    <a:bodyPr/>
                    <a:lstStyle/>
                    <a:p>
                      <a:pPr algn="ctr"/>
                      <a:r>
                        <a:rPr lang="en-US"/>
                        <a:t>C</a:t>
                      </a:r>
                    </a:p>
                  </a:txBody>
                  <a:tcPr/>
                </a:tc>
                <a:tc>
                  <a:txBody>
                    <a:bodyPr/>
                    <a:lstStyle/>
                    <a:p>
                      <a:pPr marL="0" algn="ctr" defTabSz="914400" rtl="0" eaLnBrk="1" latinLnBrk="0" hangingPunct="1"/>
                      <a:r>
                        <a:rPr lang="en-US" sz="1800" kern="1200">
                          <a:solidFill>
                            <a:schemeClr val="dk1"/>
                          </a:solidFill>
                          <a:latin typeface="+mn-lt"/>
                          <a:ea typeface="+mn-ea"/>
                          <a:cs typeface="+mn-cs"/>
                        </a:rPr>
                        <a:t>0</a:t>
                      </a:r>
                    </a:p>
                  </a:txBody>
                  <a:tcPr/>
                </a:tc>
                <a:tc>
                  <a:txBody>
                    <a:bodyPr/>
                    <a:lstStyle/>
                    <a:p>
                      <a:pPr algn="ctr"/>
                      <a:r>
                        <a:rPr lang="en-US"/>
                        <a:t>4</a:t>
                      </a:r>
                    </a:p>
                  </a:txBody>
                  <a:tcPr/>
                </a:tc>
                <a:extLst>
                  <a:ext uri="{0D108BD9-81ED-4DB2-BD59-A6C34878D82A}">
                    <a16:rowId xmlns="" xmlns:a16="http://schemas.microsoft.com/office/drawing/2014/main" val="10003"/>
                  </a:ext>
                </a:extLst>
              </a:tr>
              <a:tr h="373985">
                <a:tc>
                  <a:txBody>
                    <a:bodyPr/>
                    <a:lstStyle/>
                    <a:p>
                      <a:pPr algn="ctr"/>
                      <a:r>
                        <a:rPr lang="en-US"/>
                        <a:t>D</a:t>
                      </a:r>
                    </a:p>
                  </a:txBody>
                  <a:tcPr/>
                </a:tc>
                <a:tc>
                  <a:txBody>
                    <a:bodyPr/>
                    <a:lstStyle/>
                    <a:p>
                      <a:pPr marL="0" algn="ctr" defTabSz="914400" rtl="0" eaLnBrk="1" latinLnBrk="0" hangingPunct="1"/>
                      <a:r>
                        <a:rPr lang="en-US" sz="1800" kern="1200">
                          <a:solidFill>
                            <a:schemeClr val="dk1"/>
                          </a:solidFill>
                          <a:latin typeface="+mn-lt"/>
                          <a:ea typeface="+mn-ea"/>
                          <a:cs typeface="+mn-cs"/>
                        </a:rPr>
                        <a:t>0</a:t>
                      </a:r>
                    </a:p>
                  </a:txBody>
                  <a:tcPr/>
                </a:tc>
                <a:tc>
                  <a:txBody>
                    <a:bodyPr/>
                    <a:lstStyle/>
                    <a:p>
                      <a:pPr algn="ctr"/>
                      <a:r>
                        <a:rPr lang="en-US"/>
                        <a:t>7</a:t>
                      </a:r>
                    </a:p>
                  </a:txBody>
                  <a:tcPr/>
                </a:tc>
                <a:extLst>
                  <a:ext uri="{0D108BD9-81ED-4DB2-BD59-A6C34878D82A}">
                    <a16:rowId xmlns="" xmlns:a16="http://schemas.microsoft.com/office/drawing/2014/main" val="10004"/>
                  </a:ext>
                </a:extLst>
              </a:tr>
              <a:tr h="370840">
                <a:tc gridSpan="3">
                  <a:txBody>
                    <a:bodyPr/>
                    <a:lstStyle/>
                    <a:p>
                      <a:pPr algn="ctr"/>
                      <a:r>
                        <a:rPr lang="en-US"/>
                        <a:t>Free : 10</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333571177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Banker’s algorithm for single resource (safe state)</a:t>
            </a:r>
            <a:endParaRPr lang="en-US"/>
          </a:p>
        </p:txBody>
      </p:sp>
      <p:sp>
        <p:nvSpPr>
          <p:cNvPr id="3" name="Content Placeholder 2"/>
          <p:cNvSpPr>
            <a:spLocks noGrp="1"/>
          </p:cNvSpPr>
          <p:nvPr>
            <p:ph idx="1"/>
          </p:nvPr>
        </p:nvSpPr>
        <p:spPr/>
        <p:txBody>
          <a:bodyPr/>
          <a:lstStyle/>
          <a:p>
            <a:pPr marL="0" indent="0">
              <a:buNone/>
            </a:pPr>
            <a:endParaRPr lang="en-US"/>
          </a:p>
        </p:txBody>
      </p:sp>
      <p:graphicFrame>
        <p:nvGraphicFramePr>
          <p:cNvPr id="7" name="Table 6"/>
          <p:cNvGraphicFramePr>
            <a:graphicFrameLocks noGrp="1"/>
          </p:cNvGraphicFramePr>
          <p:nvPr>
            <p:extLst>
              <p:ext uri="{D42A27DB-BD31-4B8C-83A1-F6EECF244321}">
                <p14:modId xmlns:p14="http://schemas.microsoft.com/office/powerpoint/2010/main" val="1015413890"/>
              </p:ext>
            </p:extLst>
          </p:nvPr>
        </p:nvGraphicFramePr>
        <p:xfrm>
          <a:off x="8251371" y="991809"/>
          <a:ext cx="3607752" cy="2231330"/>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1</a:t>
                      </a:r>
                    </a:p>
                  </a:txBody>
                  <a:tcPr/>
                </a:tc>
                <a:tc>
                  <a:txBody>
                    <a:bodyPr/>
                    <a:lstStyle/>
                    <a:p>
                      <a:pPr algn="ctr"/>
                      <a:r>
                        <a:rPr lang="en-US"/>
                        <a:t>6</a:t>
                      </a:r>
                    </a:p>
                  </a:txBody>
                  <a:tcPr/>
                </a:tc>
                <a:extLst>
                  <a:ext uri="{0D108BD9-81ED-4DB2-BD59-A6C34878D82A}">
                    <a16:rowId xmlns="" xmlns:a16="http://schemas.microsoft.com/office/drawing/2014/main" val="10001"/>
                  </a:ext>
                </a:extLst>
              </a:tr>
              <a:tr h="370840">
                <a:tc>
                  <a:txBody>
                    <a:bodyPr/>
                    <a:lstStyle/>
                    <a:p>
                      <a:pPr algn="ctr"/>
                      <a:r>
                        <a:rPr lang="en-US">
                          <a:solidFill>
                            <a:schemeClr val="tx1"/>
                          </a:solidFill>
                        </a:rPr>
                        <a:t>B</a:t>
                      </a:r>
                    </a:p>
                  </a:txBody>
                  <a:tcPr/>
                </a:tc>
                <a:tc>
                  <a:txBody>
                    <a:bodyPr/>
                    <a:lstStyle/>
                    <a:p>
                      <a:pPr marL="0" algn="ctr" defTabSz="914400" rtl="0" eaLnBrk="1" latinLnBrk="0" hangingPunct="1"/>
                      <a:r>
                        <a:rPr lang="en-US" sz="1800" kern="1200">
                          <a:solidFill>
                            <a:schemeClr val="tx1"/>
                          </a:solidFill>
                          <a:latin typeface="+mn-lt"/>
                          <a:ea typeface="+mn-ea"/>
                          <a:cs typeface="+mn-cs"/>
                        </a:rPr>
                        <a:t>1</a:t>
                      </a:r>
                    </a:p>
                  </a:txBody>
                  <a:tcPr/>
                </a:tc>
                <a:tc>
                  <a:txBody>
                    <a:bodyPr/>
                    <a:lstStyle/>
                    <a:p>
                      <a:pPr algn="ctr"/>
                      <a:r>
                        <a:rPr lang="en-US">
                          <a:solidFill>
                            <a:schemeClr val="tx1"/>
                          </a:solidFill>
                        </a:rPr>
                        <a:t>5</a:t>
                      </a:r>
                    </a:p>
                  </a:txBody>
                  <a:tcPr/>
                </a:tc>
                <a:extLst>
                  <a:ext uri="{0D108BD9-81ED-4DB2-BD59-A6C34878D82A}">
                    <a16:rowId xmlns="" xmlns:a16="http://schemas.microsoft.com/office/drawing/2014/main" val="10002"/>
                  </a:ext>
                </a:extLst>
              </a:tr>
              <a:tr h="373985">
                <a:tc>
                  <a:txBody>
                    <a:bodyPr/>
                    <a:lstStyle/>
                    <a:p>
                      <a:pPr marL="0" algn="ctr" defTabSz="914400" rtl="0" eaLnBrk="1" latinLnBrk="0" hangingPunct="1"/>
                      <a:r>
                        <a:rPr lang="en-US" sz="1800" kern="1200">
                          <a:solidFill>
                            <a:schemeClr val="bg1"/>
                          </a:solidFill>
                          <a:latin typeface="+mn-lt"/>
                          <a:ea typeface="+mn-ea"/>
                          <a:cs typeface="+mn-cs"/>
                        </a:rPr>
                        <a:t>C</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marL="0" algn="ctr" defTabSz="914400" rtl="0" eaLnBrk="1" latinLnBrk="0" hangingPunct="1"/>
                      <a:r>
                        <a:rPr lang="en-US" sz="1800" kern="1200">
                          <a:solidFill>
                            <a:schemeClr val="bg1"/>
                          </a:solidFill>
                          <a:latin typeface="+mn-lt"/>
                          <a:ea typeface="+mn-ea"/>
                          <a:cs typeface="+mn-cs"/>
                        </a:rPr>
                        <a:t>-</a:t>
                      </a:r>
                    </a:p>
                  </a:txBody>
                  <a:tcPr/>
                </a:tc>
                <a:extLst>
                  <a:ext uri="{0D108BD9-81ED-4DB2-BD59-A6C34878D82A}">
                    <a16:rowId xmlns="" xmlns:a16="http://schemas.microsoft.com/office/drawing/2014/main" val="10003"/>
                  </a:ext>
                </a:extLst>
              </a:tr>
              <a:tr h="373985">
                <a:tc>
                  <a:txBody>
                    <a:bodyPr/>
                    <a:lstStyle/>
                    <a:p>
                      <a:pPr algn="ctr"/>
                      <a:r>
                        <a:rPr lang="en-US"/>
                        <a:t>D</a:t>
                      </a:r>
                    </a:p>
                  </a:txBody>
                  <a:tcPr/>
                </a:tc>
                <a:tc>
                  <a:txBody>
                    <a:bodyPr/>
                    <a:lstStyle/>
                    <a:p>
                      <a:pPr marL="0" algn="ctr" defTabSz="914400" rtl="0" eaLnBrk="1" latinLnBrk="0" hangingPunct="1"/>
                      <a:r>
                        <a:rPr lang="en-US" sz="1800" kern="1200">
                          <a:solidFill>
                            <a:schemeClr val="dk1"/>
                          </a:solidFill>
                          <a:latin typeface="+mn-lt"/>
                          <a:ea typeface="+mn-ea"/>
                          <a:cs typeface="+mn-cs"/>
                        </a:rPr>
                        <a:t>4</a:t>
                      </a:r>
                    </a:p>
                  </a:txBody>
                  <a:tcPr/>
                </a:tc>
                <a:tc>
                  <a:txBody>
                    <a:bodyPr/>
                    <a:lstStyle/>
                    <a:p>
                      <a:pPr algn="ctr"/>
                      <a:r>
                        <a:rPr lang="en-US"/>
                        <a:t>7</a:t>
                      </a:r>
                    </a:p>
                  </a:txBody>
                  <a:tcPr/>
                </a:tc>
                <a:extLst>
                  <a:ext uri="{0D108BD9-81ED-4DB2-BD59-A6C34878D82A}">
                    <a16:rowId xmlns="" xmlns:a16="http://schemas.microsoft.com/office/drawing/2014/main" val="10004"/>
                  </a:ext>
                </a:extLst>
              </a:tr>
              <a:tr h="370840">
                <a:tc gridSpan="3">
                  <a:txBody>
                    <a:bodyPr/>
                    <a:lstStyle/>
                    <a:p>
                      <a:pPr algn="ctr"/>
                      <a:r>
                        <a:rPr lang="en-US"/>
                        <a:t>Free : 4</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5"/>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462722186"/>
              </p:ext>
            </p:extLst>
          </p:nvPr>
        </p:nvGraphicFramePr>
        <p:xfrm>
          <a:off x="290285" y="991809"/>
          <a:ext cx="3607752" cy="2231330"/>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1</a:t>
                      </a:r>
                    </a:p>
                  </a:txBody>
                  <a:tcPr/>
                </a:tc>
                <a:tc>
                  <a:txBody>
                    <a:bodyPr/>
                    <a:lstStyle/>
                    <a:p>
                      <a:pPr algn="ctr"/>
                      <a:r>
                        <a:rPr lang="en-US"/>
                        <a:t>6</a:t>
                      </a:r>
                    </a:p>
                  </a:txBody>
                  <a:tcPr/>
                </a:tc>
                <a:extLst>
                  <a:ext uri="{0D108BD9-81ED-4DB2-BD59-A6C34878D82A}">
                    <a16:rowId xmlns="" xmlns:a16="http://schemas.microsoft.com/office/drawing/2014/main" val="10001"/>
                  </a:ext>
                </a:extLst>
              </a:tr>
              <a:tr h="370840">
                <a:tc>
                  <a:txBody>
                    <a:bodyPr/>
                    <a:lstStyle/>
                    <a:p>
                      <a:pPr algn="ctr"/>
                      <a:r>
                        <a:rPr lang="en-US"/>
                        <a:t>B</a:t>
                      </a:r>
                    </a:p>
                  </a:txBody>
                  <a:tcPr/>
                </a:tc>
                <a:tc>
                  <a:txBody>
                    <a:bodyPr/>
                    <a:lstStyle/>
                    <a:p>
                      <a:pPr marL="0" algn="ctr" defTabSz="914400" rtl="0" eaLnBrk="1" latinLnBrk="0" hangingPunct="1"/>
                      <a:r>
                        <a:rPr lang="en-US" sz="1800" kern="1200">
                          <a:solidFill>
                            <a:schemeClr val="dk1"/>
                          </a:solidFill>
                          <a:latin typeface="+mn-lt"/>
                          <a:ea typeface="+mn-ea"/>
                          <a:cs typeface="+mn-cs"/>
                        </a:rPr>
                        <a:t>1</a:t>
                      </a:r>
                    </a:p>
                  </a:txBody>
                  <a:tcPr/>
                </a:tc>
                <a:tc>
                  <a:txBody>
                    <a:bodyPr/>
                    <a:lstStyle/>
                    <a:p>
                      <a:pPr algn="ctr"/>
                      <a:r>
                        <a:rPr lang="en-US"/>
                        <a:t>5</a:t>
                      </a:r>
                    </a:p>
                  </a:txBody>
                  <a:tcPr/>
                </a:tc>
                <a:extLst>
                  <a:ext uri="{0D108BD9-81ED-4DB2-BD59-A6C34878D82A}">
                    <a16:rowId xmlns="" xmlns:a16="http://schemas.microsoft.com/office/drawing/2014/main" val="10002"/>
                  </a:ext>
                </a:extLst>
              </a:tr>
              <a:tr h="373985">
                <a:tc>
                  <a:txBody>
                    <a:bodyPr/>
                    <a:lstStyle/>
                    <a:p>
                      <a:pPr algn="ctr"/>
                      <a:r>
                        <a:rPr lang="en-US"/>
                        <a:t>C</a:t>
                      </a:r>
                    </a:p>
                  </a:txBody>
                  <a:tcPr/>
                </a:tc>
                <a:tc>
                  <a:txBody>
                    <a:bodyPr/>
                    <a:lstStyle/>
                    <a:p>
                      <a:pPr marL="0" algn="ctr" defTabSz="914400" rtl="0" eaLnBrk="1" latinLnBrk="0" hangingPunct="1"/>
                      <a:r>
                        <a:rPr lang="en-US" sz="1800" kern="1200">
                          <a:solidFill>
                            <a:schemeClr val="dk1"/>
                          </a:solidFill>
                          <a:latin typeface="+mn-lt"/>
                          <a:ea typeface="+mn-ea"/>
                          <a:cs typeface="+mn-cs"/>
                        </a:rPr>
                        <a:t>2</a:t>
                      </a:r>
                    </a:p>
                  </a:txBody>
                  <a:tcPr/>
                </a:tc>
                <a:tc>
                  <a:txBody>
                    <a:bodyPr/>
                    <a:lstStyle/>
                    <a:p>
                      <a:pPr algn="ctr"/>
                      <a:r>
                        <a:rPr lang="en-US"/>
                        <a:t>4</a:t>
                      </a:r>
                    </a:p>
                  </a:txBody>
                  <a:tcPr/>
                </a:tc>
                <a:extLst>
                  <a:ext uri="{0D108BD9-81ED-4DB2-BD59-A6C34878D82A}">
                    <a16:rowId xmlns="" xmlns:a16="http://schemas.microsoft.com/office/drawing/2014/main" val="10003"/>
                  </a:ext>
                </a:extLst>
              </a:tr>
              <a:tr h="373985">
                <a:tc>
                  <a:txBody>
                    <a:bodyPr/>
                    <a:lstStyle/>
                    <a:p>
                      <a:pPr algn="ctr"/>
                      <a:r>
                        <a:rPr lang="en-US"/>
                        <a:t>D</a:t>
                      </a:r>
                    </a:p>
                  </a:txBody>
                  <a:tcPr/>
                </a:tc>
                <a:tc>
                  <a:txBody>
                    <a:bodyPr/>
                    <a:lstStyle/>
                    <a:p>
                      <a:pPr marL="0" algn="ctr" defTabSz="914400" rtl="0" eaLnBrk="1" latinLnBrk="0" hangingPunct="1"/>
                      <a:r>
                        <a:rPr lang="en-US" sz="1800" kern="1200">
                          <a:solidFill>
                            <a:schemeClr val="dk1"/>
                          </a:solidFill>
                          <a:latin typeface="+mn-lt"/>
                          <a:ea typeface="+mn-ea"/>
                          <a:cs typeface="+mn-cs"/>
                        </a:rPr>
                        <a:t>4</a:t>
                      </a:r>
                    </a:p>
                  </a:txBody>
                  <a:tcPr/>
                </a:tc>
                <a:tc>
                  <a:txBody>
                    <a:bodyPr/>
                    <a:lstStyle/>
                    <a:p>
                      <a:pPr algn="ctr"/>
                      <a:r>
                        <a:rPr lang="en-US"/>
                        <a:t>7</a:t>
                      </a:r>
                    </a:p>
                  </a:txBody>
                  <a:tcPr/>
                </a:tc>
                <a:extLst>
                  <a:ext uri="{0D108BD9-81ED-4DB2-BD59-A6C34878D82A}">
                    <a16:rowId xmlns="" xmlns:a16="http://schemas.microsoft.com/office/drawing/2014/main" val="10004"/>
                  </a:ext>
                </a:extLst>
              </a:tr>
              <a:tr h="370840">
                <a:tc gridSpan="3">
                  <a:txBody>
                    <a:bodyPr/>
                    <a:lstStyle/>
                    <a:p>
                      <a:pPr algn="ctr"/>
                      <a:r>
                        <a:rPr lang="en-US"/>
                        <a:t>Free : 2</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5"/>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01960559"/>
              </p:ext>
            </p:extLst>
          </p:nvPr>
        </p:nvGraphicFramePr>
        <p:xfrm>
          <a:off x="4270828" y="991809"/>
          <a:ext cx="3607752" cy="2231330"/>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1</a:t>
                      </a:r>
                    </a:p>
                  </a:txBody>
                  <a:tcPr/>
                </a:tc>
                <a:tc>
                  <a:txBody>
                    <a:bodyPr/>
                    <a:lstStyle/>
                    <a:p>
                      <a:pPr algn="ctr"/>
                      <a:r>
                        <a:rPr lang="en-US"/>
                        <a:t>6</a:t>
                      </a:r>
                    </a:p>
                  </a:txBody>
                  <a:tcPr/>
                </a:tc>
                <a:extLst>
                  <a:ext uri="{0D108BD9-81ED-4DB2-BD59-A6C34878D82A}">
                    <a16:rowId xmlns="" xmlns:a16="http://schemas.microsoft.com/office/drawing/2014/main" val="10001"/>
                  </a:ext>
                </a:extLst>
              </a:tr>
              <a:tr h="370840">
                <a:tc>
                  <a:txBody>
                    <a:bodyPr/>
                    <a:lstStyle/>
                    <a:p>
                      <a:pPr algn="ctr"/>
                      <a:r>
                        <a:rPr lang="en-US">
                          <a:solidFill>
                            <a:schemeClr val="tx1"/>
                          </a:solidFill>
                        </a:rPr>
                        <a:t>B</a:t>
                      </a:r>
                    </a:p>
                  </a:txBody>
                  <a:tcPr/>
                </a:tc>
                <a:tc>
                  <a:txBody>
                    <a:bodyPr/>
                    <a:lstStyle/>
                    <a:p>
                      <a:pPr marL="0" algn="ctr" defTabSz="914400" rtl="0" eaLnBrk="1" latinLnBrk="0" hangingPunct="1"/>
                      <a:r>
                        <a:rPr lang="en-US" sz="1800" kern="1200">
                          <a:solidFill>
                            <a:schemeClr val="tx1"/>
                          </a:solidFill>
                          <a:latin typeface="+mn-lt"/>
                          <a:ea typeface="+mn-ea"/>
                          <a:cs typeface="+mn-cs"/>
                        </a:rPr>
                        <a:t>1</a:t>
                      </a:r>
                    </a:p>
                  </a:txBody>
                  <a:tcPr/>
                </a:tc>
                <a:tc>
                  <a:txBody>
                    <a:bodyPr/>
                    <a:lstStyle/>
                    <a:p>
                      <a:pPr algn="ctr"/>
                      <a:r>
                        <a:rPr lang="en-US">
                          <a:solidFill>
                            <a:schemeClr val="tx1"/>
                          </a:solidFill>
                        </a:rPr>
                        <a:t>5</a:t>
                      </a:r>
                    </a:p>
                  </a:txBody>
                  <a:tcPr/>
                </a:tc>
                <a:extLst>
                  <a:ext uri="{0D108BD9-81ED-4DB2-BD59-A6C34878D82A}">
                    <a16:rowId xmlns="" xmlns:a16="http://schemas.microsoft.com/office/drawing/2014/main" val="10002"/>
                  </a:ext>
                </a:extLst>
              </a:tr>
              <a:tr h="373985">
                <a:tc>
                  <a:txBody>
                    <a:bodyPr/>
                    <a:lstStyle/>
                    <a:p>
                      <a:pPr algn="ctr"/>
                      <a:r>
                        <a:rPr lang="en-US" sz="1800" kern="1200">
                          <a:solidFill>
                            <a:schemeClr val="accent2"/>
                          </a:solidFill>
                          <a:latin typeface="+mn-lt"/>
                          <a:ea typeface="+mn-ea"/>
                          <a:cs typeface="+mn-cs"/>
                        </a:rPr>
                        <a:t>C</a:t>
                      </a:r>
                    </a:p>
                  </a:txBody>
                  <a:tcPr/>
                </a:tc>
                <a:tc>
                  <a:txBody>
                    <a:bodyPr/>
                    <a:lstStyle/>
                    <a:p>
                      <a:pPr marL="0" algn="ctr" defTabSz="914400" rtl="0" eaLnBrk="1" latinLnBrk="0" hangingPunct="1"/>
                      <a:r>
                        <a:rPr lang="en-US" sz="1800" kern="1200">
                          <a:solidFill>
                            <a:schemeClr val="accent2"/>
                          </a:solidFill>
                          <a:latin typeface="+mn-lt"/>
                          <a:ea typeface="+mn-ea"/>
                          <a:cs typeface="+mn-cs"/>
                        </a:rPr>
                        <a:t>4</a:t>
                      </a:r>
                    </a:p>
                  </a:txBody>
                  <a:tcPr/>
                </a:tc>
                <a:tc>
                  <a:txBody>
                    <a:bodyPr/>
                    <a:lstStyle/>
                    <a:p>
                      <a:pPr algn="ctr"/>
                      <a:r>
                        <a:rPr lang="en-US" sz="1800" kern="1200">
                          <a:solidFill>
                            <a:schemeClr val="accent2"/>
                          </a:solidFill>
                          <a:latin typeface="+mn-lt"/>
                          <a:ea typeface="+mn-ea"/>
                          <a:cs typeface="+mn-cs"/>
                        </a:rPr>
                        <a:t>4</a:t>
                      </a:r>
                    </a:p>
                  </a:txBody>
                  <a:tcPr/>
                </a:tc>
                <a:extLst>
                  <a:ext uri="{0D108BD9-81ED-4DB2-BD59-A6C34878D82A}">
                    <a16:rowId xmlns="" xmlns:a16="http://schemas.microsoft.com/office/drawing/2014/main" val="10003"/>
                  </a:ext>
                </a:extLst>
              </a:tr>
              <a:tr h="373985">
                <a:tc>
                  <a:txBody>
                    <a:bodyPr/>
                    <a:lstStyle/>
                    <a:p>
                      <a:pPr algn="ctr"/>
                      <a:r>
                        <a:rPr lang="en-US"/>
                        <a:t>D</a:t>
                      </a:r>
                    </a:p>
                  </a:txBody>
                  <a:tcPr/>
                </a:tc>
                <a:tc>
                  <a:txBody>
                    <a:bodyPr/>
                    <a:lstStyle/>
                    <a:p>
                      <a:pPr marL="0" algn="ctr" defTabSz="914400" rtl="0" eaLnBrk="1" latinLnBrk="0" hangingPunct="1"/>
                      <a:r>
                        <a:rPr lang="en-US" sz="1800" kern="1200">
                          <a:solidFill>
                            <a:schemeClr val="dk1"/>
                          </a:solidFill>
                          <a:latin typeface="+mn-lt"/>
                          <a:ea typeface="+mn-ea"/>
                          <a:cs typeface="+mn-cs"/>
                        </a:rPr>
                        <a:t>4</a:t>
                      </a:r>
                    </a:p>
                  </a:txBody>
                  <a:tcPr/>
                </a:tc>
                <a:tc>
                  <a:txBody>
                    <a:bodyPr/>
                    <a:lstStyle/>
                    <a:p>
                      <a:pPr algn="ctr"/>
                      <a:r>
                        <a:rPr lang="en-US"/>
                        <a:t>7</a:t>
                      </a:r>
                    </a:p>
                  </a:txBody>
                  <a:tcPr/>
                </a:tc>
                <a:extLst>
                  <a:ext uri="{0D108BD9-81ED-4DB2-BD59-A6C34878D82A}">
                    <a16:rowId xmlns="" xmlns:a16="http://schemas.microsoft.com/office/drawing/2014/main" val="10004"/>
                  </a:ext>
                </a:extLst>
              </a:tr>
              <a:tr h="370840">
                <a:tc gridSpan="3">
                  <a:txBody>
                    <a:bodyPr/>
                    <a:lstStyle/>
                    <a:p>
                      <a:pPr algn="ctr"/>
                      <a:r>
                        <a:rPr lang="en-US"/>
                        <a:t>Free : 0</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5"/>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59163739"/>
              </p:ext>
            </p:extLst>
          </p:nvPr>
        </p:nvGraphicFramePr>
        <p:xfrm>
          <a:off x="8229599" y="3597133"/>
          <a:ext cx="3607752" cy="2231330"/>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solidFill>
                            <a:schemeClr val="tx1"/>
                          </a:solidFill>
                        </a:rPr>
                        <a:t>A</a:t>
                      </a:r>
                    </a:p>
                  </a:txBody>
                  <a:tcPr/>
                </a:tc>
                <a:tc>
                  <a:txBody>
                    <a:bodyPr/>
                    <a:lstStyle/>
                    <a:p>
                      <a:pPr marL="0" algn="ctr" defTabSz="914400" rtl="0" eaLnBrk="1" latinLnBrk="0" hangingPunct="1"/>
                      <a:r>
                        <a:rPr lang="en-US" sz="1800" kern="1200">
                          <a:solidFill>
                            <a:schemeClr val="tx1"/>
                          </a:solidFill>
                          <a:latin typeface="+mn-lt"/>
                          <a:ea typeface="+mn-ea"/>
                          <a:cs typeface="+mn-cs"/>
                        </a:rPr>
                        <a:t>1</a:t>
                      </a:r>
                    </a:p>
                  </a:txBody>
                  <a:tcPr/>
                </a:tc>
                <a:tc>
                  <a:txBody>
                    <a:bodyPr/>
                    <a:lstStyle/>
                    <a:p>
                      <a:pPr algn="ctr"/>
                      <a:r>
                        <a:rPr lang="en-US">
                          <a:solidFill>
                            <a:schemeClr val="tx1"/>
                          </a:solidFill>
                        </a:rPr>
                        <a:t>6</a:t>
                      </a:r>
                    </a:p>
                  </a:txBody>
                  <a:tcPr/>
                </a:tc>
                <a:extLst>
                  <a:ext uri="{0D108BD9-81ED-4DB2-BD59-A6C34878D82A}">
                    <a16:rowId xmlns="" xmlns:a16="http://schemas.microsoft.com/office/drawing/2014/main" val="10001"/>
                  </a:ext>
                </a:extLst>
              </a:tr>
              <a:tr h="370840">
                <a:tc>
                  <a:txBody>
                    <a:bodyPr/>
                    <a:lstStyle/>
                    <a:p>
                      <a:pPr algn="ctr"/>
                      <a:r>
                        <a:rPr lang="en-US" sz="1800" kern="1200">
                          <a:solidFill>
                            <a:schemeClr val="accent2"/>
                          </a:solidFill>
                          <a:latin typeface="+mn-lt"/>
                          <a:ea typeface="+mn-ea"/>
                          <a:cs typeface="+mn-cs"/>
                        </a:rPr>
                        <a:t>B</a:t>
                      </a:r>
                    </a:p>
                  </a:txBody>
                  <a:tcPr/>
                </a:tc>
                <a:tc>
                  <a:txBody>
                    <a:bodyPr/>
                    <a:lstStyle/>
                    <a:p>
                      <a:pPr marL="0" algn="ctr" defTabSz="914400" rtl="0" eaLnBrk="1" latinLnBrk="0" hangingPunct="1"/>
                      <a:r>
                        <a:rPr lang="en-US" sz="1800" kern="1200">
                          <a:solidFill>
                            <a:schemeClr val="accent2"/>
                          </a:solidFill>
                          <a:latin typeface="+mn-lt"/>
                          <a:ea typeface="+mn-ea"/>
                          <a:cs typeface="+mn-cs"/>
                        </a:rPr>
                        <a:t>5</a:t>
                      </a:r>
                    </a:p>
                  </a:txBody>
                  <a:tcPr/>
                </a:tc>
                <a:tc>
                  <a:txBody>
                    <a:bodyPr/>
                    <a:lstStyle/>
                    <a:p>
                      <a:pPr algn="ctr"/>
                      <a:r>
                        <a:rPr lang="en-US" sz="1800" kern="1200">
                          <a:solidFill>
                            <a:schemeClr val="accent2"/>
                          </a:solidFill>
                          <a:latin typeface="+mn-lt"/>
                          <a:ea typeface="+mn-ea"/>
                          <a:cs typeface="+mn-cs"/>
                        </a:rPr>
                        <a:t>5</a:t>
                      </a:r>
                    </a:p>
                  </a:txBody>
                  <a:tcPr/>
                </a:tc>
                <a:extLst>
                  <a:ext uri="{0D108BD9-81ED-4DB2-BD59-A6C34878D82A}">
                    <a16:rowId xmlns="" xmlns:a16="http://schemas.microsoft.com/office/drawing/2014/main" val="10002"/>
                  </a:ext>
                </a:extLst>
              </a:tr>
              <a:tr h="373985">
                <a:tc>
                  <a:txBody>
                    <a:bodyPr/>
                    <a:lstStyle/>
                    <a:p>
                      <a:pPr algn="ctr"/>
                      <a:r>
                        <a:rPr lang="en-US">
                          <a:solidFill>
                            <a:schemeClr val="bg1"/>
                          </a:solidFill>
                        </a:rPr>
                        <a:t>C</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3"/>
                  </a:ext>
                </a:extLst>
              </a:tr>
              <a:tr h="373985">
                <a:tc>
                  <a:txBody>
                    <a:bodyPr/>
                    <a:lstStyle/>
                    <a:p>
                      <a:pPr algn="ctr"/>
                      <a:r>
                        <a:rPr lang="en-US">
                          <a:solidFill>
                            <a:schemeClr val="bg1"/>
                          </a:solidFill>
                        </a:rPr>
                        <a:t>D</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4"/>
                  </a:ext>
                </a:extLst>
              </a:tr>
              <a:tr h="370840">
                <a:tc gridSpan="3">
                  <a:txBody>
                    <a:bodyPr/>
                    <a:lstStyle/>
                    <a:p>
                      <a:pPr algn="ctr"/>
                      <a:r>
                        <a:rPr lang="en-US"/>
                        <a:t>Free : 4</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5"/>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984006139"/>
              </p:ext>
            </p:extLst>
          </p:nvPr>
        </p:nvGraphicFramePr>
        <p:xfrm>
          <a:off x="268513" y="3597133"/>
          <a:ext cx="3607752" cy="2231330"/>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1</a:t>
                      </a:r>
                    </a:p>
                  </a:txBody>
                  <a:tcPr/>
                </a:tc>
                <a:tc>
                  <a:txBody>
                    <a:bodyPr/>
                    <a:lstStyle/>
                    <a:p>
                      <a:pPr algn="ctr"/>
                      <a:r>
                        <a:rPr lang="en-US"/>
                        <a:t>6</a:t>
                      </a:r>
                    </a:p>
                  </a:txBody>
                  <a:tcPr/>
                </a:tc>
                <a:extLst>
                  <a:ext uri="{0D108BD9-81ED-4DB2-BD59-A6C34878D82A}">
                    <a16:rowId xmlns="" xmlns:a16="http://schemas.microsoft.com/office/drawing/2014/main" val="10001"/>
                  </a:ext>
                </a:extLst>
              </a:tr>
              <a:tr h="370840">
                <a:tc>
                  <a:txBody>
                    <a:bodyPr/>
                    <a:lstStyle/>
                    <a:p>
                      <a:pPr algn="ctr"/>
                      <a:r>
                        <a:rPr lang="en-US">
                          <a:solidFill>
                            <a:schemeClr val="tx1"/>
                          </a:solidFill>
                        </a:rPr>
                        <a:t>B</a:t>
                      </a:r>
                    </a:p>
                  </a:txBody>
                  <a:tcPr/>
                </a:tc>
                <a:tc>
                  <a:txBody>
                    <a:bodyPr/>
                    <a:lstStyle/>
                    <a:p>
                      <a:pPr marL="0" algn="ctr" defTabSz="914400" rtl="0" eaLnBrk="1" latinLnBrk="0" hangingPunct="1"/>
                      <a:r>
                        <a:rPr lang="en-US" sz="1800" kern="1200">
                          <a:solidFill>
                            <a:schemeClr val="tx1"/>
                          </a:solidFill>
                          <a:latin typeface="+mn-lt"/>
                          <a:ea typeface="+mn-ea"/>
                          <a:cs typeface="+mn-cs"/>
                        </a:rPr>
                        <a:t>1</a:t>
                      </a:r>
                    </a:p>
                  </a:txBody>
                  <a:tcPr/>
                </a:tc>
                <a:tc>
                  <a:txBody>
                    <a:bodyPr/>
                    <a:lstStyle/>
                    <a:p>
                      <a:pPr algn="ctr"/>
                      <a:r>
                        <a:rPr lang="en-US">
                          <a:solidFill>
                            <a:schemeClr val="tx1"/>
                          </a:solidFill>
                        </a:rPr>
                        <a:t>5</a:t>
                      </a:r>
                    </a:p>
                  </a:txBody>
                  <a:tcPr/>
                </a:tc>
                <a:extLst>
                  <a:ext uri="{0D108BD9-81ED-4DB2-BD59-A6C34878D82A}">
                    <a16:rowId xmlns="" xmlns:a16="http://schemas.microsoft.com/office/drawing/2014/main" val="10002"/>
                  </a:ext>
                </a:extLst>
              </a:tr>
              <a:tr h="373985">
                <a:tc>
                  <a:txBody>
                    <a:bodyPr/>
                    <a:lstStyle/>
                    <a:p>
                      <a:pPr algn="ctr"/>
                      <a:r>
                        <a:rPr lang="en-US">
                          <a:solidFill>
                            <a:schemeClr val="bg1"/>
                          </a:solidFill>
                        </a:rPr>
                        <a:t>C</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3"/>
                  </a:ext>
                </a:extLst>
              </a:tr>
              <a:tr h="373985">
                <a:tc>
                  <a:txBody>
                    <a:bodyPr/>
                    <a:lstStyle/>
                    <a:p>
                      <a:pPr marL="0" algn="ctr" defTabSz="914400" rtl="0" eaLnBrk="1" latinLnBrk="0" hangingPunct="1"/>
                      <a:r>
                        <a:rPr lang="en-US" sz="1800" kern="1200">
                          <a:solidFill>
                            <a:schemeClr val="accent2"/>
                          </a:solidFill>
                          <a:latin typeface="+mn-lt"/>
                          <a:ea typeface="+mn-ea"/>
                          <a:cs typeface="+mn-cs"/>
                        </a:rPr>
                        <a:t>D</a:t>
                      </a:r>
                    </a:p>
                  </a:txBody>
                  <a:tcPr/>
                </a:tc>
                <a:tc>
                  <a:txBody>
                    <a:bodyPr/>
                    <a:lstStyle/>
                    <a:p>
                      <a:pPr marL="0" algn="ctr" defTabSz="914400" rtl="0" eaLnBrk="1" latinLnBrk="0" hangingPunct="1"/>
                      <a:r>
                        <a:rPr lang="en-US" sz="1800" kern="1200">
                          <a:solidFill>
                            <a:schemeClr val="accent2"/>
                          </a:solidFill>
                          <a:latin typeface="+mn-lt"/>
                          <a:ea typeface="+mn-ea"/>
                          <a:cs typeface="+mn-cs"/>
                        </a:rPr>
                        <a:t>7</a:t>
                      </a:r>
                    </a:p>
                  </a:txBody>
                  <a:tcPr/>
                </a:tc>
                <a:tc>
                  <a:txBody>
                    <a:bodyPr/>
                    <a:lstStyle/>
                    <a:p>
                      <a:pPr marL="0" algn="ctr" defTabSz="914400" rtl="0" eaLnBrk="1" latinLnBrk="0" hangingPunct="1"/>
                      <a:r>
                        <a:rPr lang="en-US" sz="1800" kern="1200">
                          <a:solidFill>
                            <a:schemeClr val="accent2"/>
                          </a:solidFill>
                          <a:latin typeface="+mn-lt"/>
                          <a:ea typeface="+mn-ea"/>
                          <a:cs typeface="+mn-cs"/>
                        </a:rPr>
                        <a:t>7</a:t>
                      </a:r>
                    </a:p>
                  </a:txBody>
                  <a:tcPr/>
                </a:tc>
                <a:extLst>
                  <a:ext uri="{0D108BD9-81ED-4DB2-BD59-A6C34878D82A}">
                    <a16:rowId xmlns="" xmlns:a16="http://schemas.microsoft.com/office/drawing/2014/main" val="10004"/>
                  </a:ext>
                </a:extLst>
              </a:tr>
              <a:tr h="370840">
                <a:tc gridSpan="3">
                  <a:txBody>
                    <a:bodyPr/>
                    <a:lstStyle/>
                    <a:p>
                      <a:pPr algn="ctr"/>
                      <a:r>
                        <a:rPr lang="en-US"/>
                        <a:t>Free : 1</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5"/>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117040723"/>
              </p:ext>
            </p:extLst>
          </p:nvPr>
        </p:nvGraphicFramePr>
        <p:xfrm>
          <a:off x="4249056" y="3597133"/>
          <a:ext cx="3607752" cy="2231330"/>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1</a:t>
                      </a:r>
                    </a:p>
                  </a:txBody>
                  <a:tcPr/>
                </a:tc>
                <a:tc>
                  <a:txBody>
                    <a:bodyPr/>
                    <a:lstStyle/>
                    <a:p>
                      <a:pPr algn="ctr"/>
                      <a:r>
                        <a:rPr lang="en-US"/>
                        <a:t>6</a:t>
                      </a:r>
                    </a:p>
                  </a:txBody>
                  <a:tcPr/>
                </a:tc>
                <a:extLst>
                  <a:ext uri="{0D108BD9-81ED-4DB2-BD59-A6C34878D82A}">
                    <a16:rowId xmlns="" xmlns:a16="http://schemas.microsoft.com/office/drawing/2014/main" val="10001"/>
                  </a:ext>
                </a:extLst>
              </a:tr>
              <a:tr h="370840">
                <a:tc>
                  <a:txBody>
                    <a:bodyPr/>
                    <a:lstStyle/>
                    <a:p>
                      <a:pPr algn="ctr"/>
                      <a:r>
                        <a:rPr lang="en-US">
                          <a:solidFill>
                            <a:schemeClr val="tx1"/>
                          </a:solidFill>
                        </a:rPr>
                        <a:t>B</a:t>
                      </a:r>
                    </a:p>
                  </a:txBody>
                  <a:tcPr/>
                </a:tc>
                <a:tc>
                  <a:txBody>
                    <a:bodyPr/>
                    <a:lstStyle/>
                    <a:p>
                      <a:pPr marL="0" algn="ctr" defTabSz="914400" rtl="0" eaLnBrk="1" latinLnBrk="0" hangingPunct="1"/>
                      <a:r>
                        <a:rPr lang="en-US" sz="1800" kern="1200">
                          <a:solidFill>
                            <a:schemeClr val="tx1"/>
                          </a:solidFill>
                          <a:latin typeface="+mn-lt"/>
                          <a:ea typeface="+mn-ea"/>
                          <a:cs typeface="+mn-cs"/>
                        </a:rPr>
                        <a:t>1</a:t>
                      </a:r>
                    </a:p>
                  </a:txBody>
                  <a:tcPr/>
                </a:tc>
                <a:tc>
                  <a:txBody>
                    <a:bodyPr/>
                    <a:lstStyle/>
                    <a:p>
                      <a:pPr algn="ctr"/>
                      <a:r>
                        <a:rPr lang="en-US">
                          <a:solidFill>
                            <a:schemeClr val="tx1"/>
                          </a:solidFill>
                        </a:rPr>
                        <a:t>5</a:t>
                      </a:r>
                    </a:p>
                  </a:txBody>
                  <a:tcPr/>
                </a:tc>
                <a:extLst>
                  <a:ext uri="{0D108BD9-81ED-4DB2-BD59-A6C34878D82A}">
                    <a16:rowId xmlns="" xmlns:a16="http://schemas.microsoft.com/office/drawing/2014/main" val="10002"/>
                  </a:ext>
                </a:extLst>
              </a:tr>
              <a:tr h="373985">
                <a:tc>
                  <a:txBody>
                    <a:bodyPr/>
                    <a:lstStyle/>
                    <a:p>
                      <a:pPr algn="ctr"/>
                      <a:r>
                        <a:rPr lang="en-US">
                          <a:solidFill>
                            <a:schemeClr val="bg1"/>
                          </a:solidFill>
                        </a:rPr>
                        <a:t>C</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3"/>
                  </a:ext>
                </a:extLst>
              </a:tr>
              <a:tr h="373985">
                <a:tc>
                  <a:txBody>
                    <a:bodyPr/>
                    <a:lstStyle/>
                    <a:p>
                      <a:pPr algn="ctr"/>
                      <a:r>
                        <a:rPr lang="en-US">
                          <a:solidFill>
                            <a:schemeClr val="bg1"/>
                          </a:solidFill>
                        </a:rPr>
                        <a:t>D</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4"/>
                  </a:ext>
                </a:extLst>
              </a:tr>
              <a:tr h="370840">
                <a:tc gridSpan="3">
                  <a:txBody>
                    <a:bodyPr/>
                    <a:lstStyle/>
                    <a:p>
                      <a:pPr algn="ctr"/>
                      <a:r>
                        <a:rPr lang="en-US"/>
                        <a:t>Free : 8</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5"/>
                  </a:ext>
                </a:extLst>
              </a:tr>
            </a:tbl>
          </a:graphicData>
        </a:graphic>
      </p:graphicFrame>
      <p:sp>
        <p:nvSpPr>
          <p:cNvPr id="24" name="Rounded Rectangle 23"/>
          <p:cNvSpPr/>
          <p:nvPr/>
        </p:nvSpPr>
        <p:spPr>
          <a:xfrm>
            <a:off x="302888" y="2106734"/>
            <a:ext cx="3574239" cy="365003"/>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TextBox 11"/>
          <p:cNvSpPr txBox="1"/>
          <p:nvPr/>
        </p:nvSpPr>
        <p:spPr>
          <a:xfrm>
            <a:off x="2251395" y="2324100"/>
            <a:ext cx="370188" cy="369332"/>
          </a:xfrm>
          <a:prstGeom prst="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2</a:t>
            </a:r>
            <a:endParaRPr lang="en-IN"/>
          </a:p>
        </p:txBody>
      </p:sp>
      <p:cxnSp>
        <p:nvCxnSpPr>
          <p:cNvPr id="19" name="Straight Arrow Connector 18"/>
          <p:cNvCxnSpPr/>
          <p:nvPr/>
        </p:nvCxnSpPr>
        <p:spPr>
          <a:xfrm flipH="1" flipV="1">
            <a:off x="1947863" y="2324100"/>
            <a:ext cx="402000" cy="569688"/>
          </a:xfrm>
          <a:prstGeom prst="straightConnector1">
            <a:avLst/>
          </a:prstGeom>
          <a:ln w="38100">
            <a:solidFill>
              <a:schemeClr val="tx2"/>
            </a:solidFill>
            <a:tailEnd type="triangle"/>
          </a:ln>
        </p:spPr>
        <p:style>
          <a:lnRef idx="3">
            <a:schemeClr val="accent2"/>
          </a:lnRef>
          <a:fillRef idx="0">
            <a:schemeClr val="accent2"/>
          </a:fillRef>
          <a:effectRef idx="2">
            <a:schemeClr val="accent2"/>
          </a:effectRef>
          <a:fontRef idx="minor">
            <a:schemeClr val="tx1"/>
          </a:fontRef>
        </p:style>
      </p:cxnSp>
      <p:sp>
        <p:nvSpPr>
          <p:cNvPr id="17" name="Rounded Rectangle 16"/>
          <p:cNvSpPr/>
          <p:nvPr/>
        </p:nvSpPr>
        <p:spPr>
          <a:xfrm>
            <a:off x="8264939" y="2473745"/>
            <a:ext cx="3574239" cy="365003"/>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 name="TextBox 20"/>
          <p:cNvSpPr txBox="1"/>
          <p:nvPr/>
        </p:nvSpPr>
        <p:spPr>
          <a:xfrm>
            <a:off x="10235349" y="2489204"/>
            <a:ext cx="370188" cy="369332"/>
          </a:xfrm>
          <a:prstGeom prst="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3</a:t>
            </a:r>
            <a:endParaRPr lang="en-IN"/>
          </a:p>
        </p:txBody>
      </p:sp>
      <p:cxnSp>
        <p:nvCxnSpPr>
          <p:cNvPr id="22" name="Straight Arrow Connector 21"/>
          <p:cNvCxnSpPr/>
          <p:nvPr/>
        </p:nvCxnSpPr>
        <p:spPr>
          <a:xfrm flipH="1" flipV="1">
            <a:off x="9922669" y="2693432"/>
            <a:ext cx="381000" cy="273606"/>
          </a:xfrm>
          <a:prstGeom prst="straightConnector1">
            <a:avLst/>
          </a:prstGeom>
          <a:ln w="38100">
            <a:solidFill>
              <a:schemeClr val="tx2"/>
            </a:solidFill>
            <a:tailEnd type="triangle"/>
          </a:ln>
        </p:spPr>
        <p:style>
          <a:lnRef idx="3">
            <a:schemeClr val="accent2"/>
          </a:lnRef>
          <a:fillRef idx="0">
            <a:schemeClr val="accent2"/>
          </a:fillRef>
          <a:effectRef idx="2">
            <a:schemeClr val="accent2"/>
          </a:effectRef>
          <a:fontRef idx="minor">
            <a:schemeClr val="tx1"/>
          </a:fontRef>
        </p:style>
      </p:cxnSp>
      <p:sp>
        <p:nvSpPr>
          <p:cNvPr id="23" name="Rounded Rectangle 22"/>
          <p:cNvSpPr/>
          <p:nvPr/>
        </p:nvSpPr>
        <p:spPr>
          <a:xfrm>
            <a:off x="4279939" y="4331195"/>
            <a:ext cx="3574239" cy="365003"/>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 name="TextBox 24"/>
          <p:cNvSpPr txBox="1"/>
          <p:nvPr/>
        </p:nvSpPr>
        <p:spPr>
          <a:xfrm>
            <a:off x="6222096" y="4835990"/>
            <a:ext cx="370188" cy="369332"/>
          </a:xfrm>
          <a:prstGeom prst="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4</a:t>
            </a:r>
            <a:endParaRPr lang="en-IN"/>
          </a:p>
        </p:txBody>
      </p:sp>
      <p:cxnSp>
        <p:nvCxnSpPr>
          <p:cNvPr id="26" name="Straight Arrow Connector 25"/>
          <p:cNvCxnSpPr/>
          <p:nvPr/>
        </p:nvCxnSpPr>
        <p:spPr>
          <a:xfrm flipH="1" flipV="1">
            <a:off x="5924914" y="4529513"/>
            <a:ext cx="406036" cy="982287"/>
          </a:xfrm>
          <a:prstGeom prst="straightConnector1">
            <a:avLst/>
          </a:prstGeom>
          <a:ln w="38100">
            <a:solidFill>
              <a:schemeClr val="tx2"/>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9182789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500"/>
                                        <p:tgtEl>
                                          <p:spTgt spid="10"/>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26"/>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fade">
                                      <p:cBhvr>
                                        <p:cTn id="6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12" grpId="0" animBg="1"/>
      <p:bldP spid="17" grpId="0" animBg="1"/>
      <p:bldP spid="21" grpId="0" animBg="1"/>
      <p:bldP spid="23" grpId="0" animBg="1"/>
      <p:bldP spid="2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Banker’s algorithm for single resource (safe state)</a:t>
            </a:r>
            <a:endParaRPr lang="en-US"/>
          </a:p>
        </p:txBody>
      </p:sp>
      <p:sp>
        <p:nvSpPr>
          <p:cNvPr id="3" name="Content Placeholder 2"/>
          <p:cNvSpPr>
            <a:spLocks noGrp="1"/>
          </p:cNvSpPr>
          <p:nvPr>
            <p:ph idx="1"/>
          </p:nvPr>
        </p:nvSpPr>
        <p:spPr/>
        <p:txBody>
          <a:bodyPr/>
          <a:lstStyle/>
          <a:p>
            <a:pPr marL="0" indent="0">
              <a:buNone/>
            </a:pPr>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35018933"/>
              </p:ext>
            </p:extLst>
          </p:nvPr>
        </p:nvGraphicFramePr>
        <p:xfrm>
          <a:off x="8251371" y="991809"/>
          <a:ext cx="3607752" cy="2231330"/>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solidFill>
                            <a:schemeClr val="bg1"/>
                          </a:solidFill>
                        </a:rPr>
                        <a:t>A</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1"/>
                  </a:ext>
                </a:extLst>
              </a:tr>
              <a:tr h="370840">
                <a:tc>
                  <a:txBody>
                    <a:bodyPr/>
                    <a:lstStyle/>
                    <a:p>
                      <a:pPr algn="ctr"/>
                      <a:r>
                        <a:rPr lang="en-US">
                          <a:solidFill>
                            <a:schemeClr val="bg1"/>
                          </a:solidFill>
                        </a:rPr>
                        <a:t>B</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2"/>
                  </a:ext>
                </a:extLst>
              </a:tr>
              <a:tr h="373985">
                <a:tc>
                  <a:txBody>
                    <a:bodyPr/>
                    <a:lstStyle/>
                    <a:p>
                      <a:pPr marL="0" algn="ctr" defTabSz="914400" rtl="0" eaLnBrk="1" latinLnBrk="0" hangingPunct="1"/>
                      <a:r>
                        <a:rPr lang="en-US" sz="1800" kern="1200">
                          <a:solidFill>
                            <a:schemeClr val="bg1"/>
                          </a:solidFill>
                          <a:latin typeface="+mn-lt"/>
                          <a:ea typeface="+mn-ea"/>
                          <a:cs typeface="+mn-cs"/>
                        </a:rPr>
                        <a:t>C</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marL="0" algn="ctr" defTabSz="914400" rtl="0" eaLnBrk="1" latinLnBrk="0" hangingPunct="1"/>
                      <a:r>
                        <a:rPr lang="en-US" sz="1800" kern="1200">
                          <a:solidFill>
                            <a:schemeClr val="bg1"/>
                          </a:solidFill>
                          <a:latin typeface="+mn-lt"/>
                          <a:ea typeface="+mn-ea"/>
                          <a:cs typeface="+mn-cs"/>
                        </a:rPr>
                        <a:t>-</a:t>
                      </a:r>
                    </a:p>
                  </a:txBody>
                  <a:tcPr/>
                </a:tc>
                <a:extLst>
                  <a:ext uri="{0D108BD9-81ED-4DB2-BD59-A6C34878D82A}">
                    <a16:rowId xmlns="" xmlns:a16="http://schemas.microsoft.com/office/drawing/2014/main" val="10003"/>
                  </a:ext>
                </a:extLst>
              </a:tr>
              <a:tr h="373985">
                <a:tc>
                  <a:txBody>
                    <a:bodyPr/>
                    <a:lstStyle/>
                    <a:p>
                      <a:pPr algn="ctr"/>
                      <a:r>
                        <a:rPr lang="en-US">
                          <a:solidFill>
                            <a:schemeClr val="bg1"/>
                          </a:solidFill>
                        </a:rPr>
                        <a:t>D</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4"/>
                  </a:ext>
                </a:extLst>
              </a:tr>
              <a:tr h="370840">
                <a:tc gridSpan="3">
                  <a:txBody>
                    <a:bodyPr/>
                    <a:lstStyle/>
                    <a:p>
                      <a:pPr algn="ctr"/>
                      <a:r>
                        <a:rPr lang="en-US"/>
                        <a:t>Free : 10</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5"/>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669420544"/>
              </p:ext>
            </p:extLst>
          </p:nvPr>
        </p:nvGraphicFramePr>
        <p:xfrm>
          <a:off x="290285" y="991809"/>
          <a:ext cx="3607752" cy="2231330"/>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1</a:t>
                      </a:r>
                    </a:p>
                  </a:txBody>
                  <a:tcPr/>
                </a:tc>
                <a:tc>
                  <a:txBody>
                    <a:bodyPr/>
                    <a:lstStyle/>
                    <a:p>
                      <a:pPr algn="ctr"/>
                      <a:r>
                        <a:rPr lang="en-US"/>
                        <a:t>6</a:t>
                      </a:r>
                    </a:p>
                  </a:txBody>
                  <a:tcPr/>
                </a:tc>
                <a:extLst>
                  <a:ext uri="{0D108BD9-81ED-4DB2-BD59-A6C34878D82A}">
                    <a16:rowId xmlns="" xmlns:a16="http://schemas.microsoft.com/office/drawing/2014/main" val="10001"/>
                  </a:ext>
                </a:extLst>
              </a:tr>
              <a:tr h="370840">
                <a:tc>
                  <a:txBody>
                    <a:bodyPr/>
                    <a:lstStyle/>
                    <a:p>
                      <a:pPr algn="ctr"/>
                      <a:r>
                        <a:rPr lang="en-US">
                          <a:solidFill>
                            <a:schemeClr val="bg1"/>
                          </a:solidFill>
                        </a:rPr>
                        <a:t>B</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2"/>
                  </a:ext>
                </a:extLst>
              </a:tr>
              <a:tr h="373985">
                <a:tc>
                  <a:txBody>
                    <a:bodyPr/>
                    <a:lstStyle/>
                    <a:p>
                      <a:pPr algn="ctr"/>
                      <a:r>
                        <a:rPr lang="en-US">
                          <a:solidFill>
                            <a:schemeClr val="bg1"/>
                          </a:solidFill>
                        </a:rPr>
                        <a:t>C</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3"/>
                  </a:ext>
                </a:extLst>
              </a:tr>
              <a:tr h="373985">
                <a:tc>
                  <a:txBody>
                    <a:bodyPr/>
                    <a:lstStyle/>
                    <a:p>
                      <a:pPr algn="ctr"/>
                      <a:r>
                        <a:rPr lang="en-US">
                          <a:solidFill>
                            <a:schemeClr val="bg1"/>
                          </a:solidFill>
                        </a:rPr>
                        <a:t>D</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4"/>
                  </a:ext>
                </a:extLst>
              </a:tr>
              <a:tr h="370840">
                <a:tc gridSpan="3">
                  <a:txBody>
                    <a:bodyPr/>
                    <a:lstStyle/>
                    <a:p>
                      <a:pPr algn="ctr"/>
                      <a:r>
                        <a:rPr lang="en-US"/>
                        <a:t>Free : 9</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5"/>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96617065"/>
              </p:ext>
            </p:extLst>
          </p:nvPr>
        </p:nvGraphicFramePr>
        <p:xfrm>
          <a:off x="4270828" y="991809"/>
          <a:ext cx="3607752" cy="2231330"/>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sz="1800" kern="1200">
                          <a:solidFill>
                            <a:schemeClr val="accent2"/>
                          </a:solidFill>
                          <a:latin typeface="+mn-lt"/>
                          <a:ea typeface="+mn-ea"/>
                          <a:cs typeface="+mn-cs"/>
                        </a:rPr>
                        <a:t>A</a:t>
                      </a:r>
                    </a:p>
                  </a:txBody>
                  <a:tcPr/>
                </a:tc>
                <a:tc>
                  <a:txBody>
                    <a:bodyPr/>
                    <a:lstStyle/>
                    <a:p>
                      <a:pPr marL="0" algn="ctr" defTabSz="914400" rtl="0" eaLnBrk="1" latinLnBrk="0" hangingPunct="1"/>
                      <a:r>
                        <a:rPr lang="en-US" sz="1800" kern="1200">
                          <a:solidFill>
                            <a:schemeClr val="accent2"/>
                          </a:solidFill>
                          <a:latin typeface="+mn-lt"/>
                          <a:ea typeface="+mn-ea"/>
                          <a:cs typeface="+mn-cs"/>
                        </a:rPr>
                        <a:t>6</a:t>
                      </a:r>
                    </a:p>
                  </a:txBody>
                  <a:tcPr/>
                </a:tc>
                <a:tc>
                  <a:txBody>
                    <a:bodyPr/>
                    <a:lstStyle/>
                    <a:p>
                      <a:pPr algn="ctr"/>
                      <a:r>
                        <a:rPr lang="en-US" sz="1800" kern="1200">
                          <a:solidFill>
                            <a:schemeClr val="accent2"/>
                          </a:solidFill>
                          <a:latin typeface="+mn-lt"/>
                          <a:ea typeface="+mn-ea"/>
                          <a:cs typeface="+mn-cs"/>
                        </a:rPr>
                        <a:t>6</a:t>
                      </a:r>
                    </a:p>
                  </a:txBody>
                  <a:tcPr/>
                </a:tc>
                <a:extLst>
                  <a:ext uri="{0D108BD9-81ED-4DB2-BD59-A6C34878D82A}">
                    <a16:rowId xmlns="" xmlns:a16="http://schemas.microsoft.com/office/drawing/2014/main" val="10001"/>
                  </a:ext>
                </a:extLst>
              </a:tr>
              <a:tr h="370840">
                <a:tc>
                  <a:txBody>
                    <a:bodyPr/>
                    <a:lstStyle/>
                    <a:p>
                      <a:pPr algn="ctr"/>
                      <a:r>
                        <a:rPr lang="en-US">
                          <a:solidFill>
                            <a:schemeClr val="bg1"/>
                          </a:solidFill>
                        </a:rPr>
                        <a:t>B</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2"/>
                  </a:ext>
                </a:extLst>
              </a:tr>
              <a:tr h="373985">
                <a:tc>
                  <a:txBody>
                    <a:bodyPr/>
                    <a:lstStyle/>
                    <a:p>
                      <a:pPr algn="ctr"/>
                      <a:r>
                        <a:rPr lang="en-US" sz="1800" kern="1200">
                          <a:solidFill>
                            <a:schemeClr val="bg1"/>
                          </a:solidFill>
                          <a:latin typeface="+mn-lt"/>
                          <a:ea typeface="+mn-ea"/>
                          <a:cs typeface="+mn-cs"/>
                        </a:rPr>
                        <a:t>C</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sz="1800" kern="1200">
                          <a:solidFill>
                            <a:schemeClr val="bg1"/>
                          </a:solidFill>
                          <a:latin typeface="+mn-lt"/>
                          <a:ea typeface="+mn-ea"/>
                          <a:cs typeface="+mn-cs"/>
                        </a:rPr>
                        <a:t>-</a:t>
                      </a:r>
                    </a:p>
                  </a:txBody>
                  <a:tcPr/>
                </a:tc>
                <a:extLst>
                  <a:ext uri="{0D108BD9-81ED-4DB2-BD59-A6C34878D82A}">
                    <a16:rowId xmlns="" xmlns:a16="http://schemas.microsoft.com/office/drawing/2014/main" val="10003"/>
                  </a:ext>
                </a:extLst>
              </a:tr>
              <a:tr h="373985">
                <a:tc>
                  <a:txBody>
                    <a:bodyPr/>
                    <a:lstStyle/>
                    <a:p>
                      <a:pPr algn="ctr"/>
                      <a:r>
                        <a:rPr lang="en-US">
                          <a:solidFill>
                            <a:schemeClr val="bg1"/>
                          </a:solidFill>
                        </a:rPr>
                        <a:t>D</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4"/>
                  </a:ext>
                </a:extLst>
              </a:tr>
              <a:tr h="370840">
                <a:tc gridSpan="3">
                  <a:txBody>
                    <a:bodyPr/>
                    <a:lstStyle/>
                    <a:p>
                      <a:pPr algn="ctr"/>
                      <a:r>
                        <a:rPr lang="en-US"/>
                        <a:t>Free : 4</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5"/>
                  </a:ext>
                </a:extLst>
              </a:tr>
            </a:tbl>
          </a:graphicData>
        </a:graphic>
      </p:graphicFrame>
      <p:sp>
        <p:nvSpPr>
          <p:cNvPr id="17" name="Rounded Rectangle 16"/>
          <p:cNvSpPr/>
          <p:nvPr/>
        </p:nvSpPr>
        <p:spPr>
          <a:xfrm>
            <a:off x="311111" y="1365670"/>
            <a:ext cx="3574239" cy="365003"/>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 name="TextBox 20"/>
          <p:cNvSpPr txBox="1"/>
          <p:nvPr/>
        </p:nvSpPr>
        <p:spPr>
          <a:xfrm>
            <a:off x="2262471" y="2044700"/>
            <a:ext cx="370188" cy="369332"/>
          </a:xfrm>
          <a:prstGeom prst="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5</a:t>
            </a:r>
            <a:endParaRPr lang="en-IN"/>
          </a:p>
        </p:txBody>
      </p:sp>
      <p:cxnSp>
        <p:nvCxnSpPr>
          <p:cNvPr id="22" name="Straight Arrow Connector 21"/>
          <p:cNvCxnSpPr/>
          <p:nvPr/>
        </p:nvCxnSpPr>
        <p:spPr>
          <a:xfrm flipH="1" flipV="1">
            <a:off x="1968842" y="1575832"/>
            <a:ext cx="367958" cy="1307068"/>
          </a:xfrm>
          <a:prstGeom prst="straightConnector1">
            <a:avLst/>
          </a:prstGeom>
          <a:ln w="38100">
            <a:solidFill>
              <a:schemeClr val="tx2"/>
            </a:solidFill>
            <a:tailEnd type="triangle"/>
          </a:ln>
        </p:spPr>
        <p:style>
          <a:lnRef idx="3">
            <a:schemeClr val="accent2"/>
          </a:lnRef>
          <a:fillRef idx="0">
            <a:schemeClr val="accent2"/>
          </a:fillRef>
          <a:effectRef idx="2">
            <a:schemeClr val="accent2"/>
          </a:effectRef>
          <a:fontRef idx="minor">
            <a:schemeClr val="tx1"/>
          </a:fontRef>
        </p:style>
      </p:cxnSp>
      <p:pic>
        <p:nvPicPr>
          <p:cNvPr id="27" name="Content Placeholder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3390900"/>
            <a:ext cx="1828800" cy="1828800"/>
          </a:xfrm>
          <a:prstGeom prst="rect">
            <a:avLst/>
          </a:prstGeom>
        </p:spPr>
      </p:pic>
      <p:sp>
        <p:nvSpPr>
          <p:cNvPr id="28" name="TextBox 27"/>
          <p:cNvSpPr txBox="1"/>
          <p:nvPr/>
        </p:nvSpPr>
        <p:spPr>
          <a:xfrm>
            <a:off x="530225" y="5513689"/>
            <a:ext cx="8375650" cy="707886"/>
          </a:xfrm>
          <a:prstGeom prst="rect">
            <a:avLst/>
          </a:prstGeom>
          <a:noFill/>
        </p:spPr>
        <p:txBody>
          <a:bodyPr wrap="square" rtlCol="0">
            <a:spAutoFit/>
          </a:bodyPr>
          <a:lstStyle/>
          <a:p>
            <a:pPr marL="285750" indent="-285750">
              <a:buFont typeface="Arial" panose="020B0604020202020204" pitchFamily="34" charset="0"/>
              <a:buChar char="•"/>
            </a:pPr>
            <a:r>
              <a:rPr lang="en-US" sz="2000"/>
              <a:t>The order of execution is C, D, B, A. So if we can find proper order of execution then there is no deadlock.</a:t>
            </a:r>
          </a:p>
        </p:txBody>
      </p:sp>
    </p:spTree>
    <p:extLst>
      <p:ext uri="{BB962C8B-B14F-4D97-AF65-F5344CB8AC3E}">
        <p14:creationId xmlns:p14="http://schemas.microsoft.com/office/powerpoint/2010/main" val="20613663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2"/>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childTnLst>
                          </p:cTn>
                        </p:par>
                      </p:childTnLst>
                    </p:cTn>
                  </p:par>
                  <p:par>
                    <p:cTn id="35" fill="hold" nodeType="clickPar">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1" grpId="0" animBg="1"/>
      <p:bldP spid="2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Banker’s algorithm for single resource (unsafe state)</a:t>
            </a:r>
            <a:endParaRPr lang="en-US"/>
          </a:p>
        </p:txBody>
      </p:sp>
      <p:sp>
        <p:nvSpPr>
          <p:cNvPr id="3" name="Content Placeholder 2"/>
          <p:cNvSpPr>
            <a:spLocks noGrp="1"/>
          </p:cNvSpPr>
          <p:nvPr>
            <p:ph idx="1"/>
          </p:nvPr>
        </p:nvSpPr>
        <p:spPr/>
        <p:txBody>
          <a:bodyPr/>
          <a:lstStyle/>
          <a:p>
            <a:pPr marL="0" indent="0">
              <a:buNone/>
            </a:pP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2903818510"/>
              </p:ext>
            </p:extLst>
          </p:nvPr>
        </p:nvGraphicFramePr>
        <p:xfrm>
          <a:off x="290285" y="991809"/>
          <a:ext cx="3607752" cy="2231330"/>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1</a:t>
                      </a:r>
                    </a:p>
                  </a:txBody>
                  <a:tcPr/>
                </a:tc>
                <a:tc>
                  <a:txBody>
                    <a:bodyPr/>
                    <a:lstStyle/>
                    <a:p>
                      <a:pPr algn="ctr"/>
                      <a:r>
                        <a:rPr lang="en-US"/>
                        <a:t>6</a:t>
                      </a:r>
                    </a:p>
                  </a:txBody>
                  <a:tcPr/>
                </a:tc>
                <a:extLst>
                  <a:ext uri="{0D108BD9-81ED-4DB2-BD59-A6C34878D82A}">
                    <a16:rowId xmlns="" xmlns:a16="http://schemas.microsoft.com/office/drawing/2014/main" val="10001"/>
                  </a:ext>
                </a:extLst>
              </a:tr>
              <a:tr h="370840">
                <a:tc>
                  <a:txBody>
                    <a:bodyPr/>
                    <a:lstStyle/>
                    <a:p>
                      <a:pPr algn="ctr"/>
                      <a:r>
                        <a:rPr lang="en-US">
                          <a:solidFill>
                            <a:schemeClr val="tx1"/>
                          </a:solidFill>
                        </a:rPr>
                        <a:t>B</a:t>
                      </a:r>
                    </a:p>
                  </a:txBody>
                  <a:tcPr/>
                </a:tc>
                <a:tc>
                  <a:txBody>
                    <a:bodyPr/>
                    <a:lstStyle/>
                    <a:p>
                      <a:pPr marL="0" algn="ctr" defTabSz="914400" rtl="0" eaLnBrk="1" latinLnBrk="0" hangingPunct="1"/>
                      <a:r>
                        <a:rPr lang="en-US" sz="1800" kern="1200">
                          <a:solidFill>
                            <a:schemeClr val="tx1"/>
                          </a:solidFill>
                          <a:latin typeface="+mn-lt"/>
                          <a:ea typeface="+mn-ea"/>
                          <a:cs typeface="+mn-cs"/>
                        </a:rPr>
                        <a:t>2</a:t>
                      </a:r>
                    </a:p>
                  </a:txBody>
                  <a:tcPr/>
                </a:tc>
                <a:tc>
                  <a:txBody>
                    <a:bodyPr/>
                    <a:lstStyle/>
                    <a:p>
                      <a:pPr algn="ctr"/>
                      <a:r>
                        <a:rPr lang="en-US">
                          <a:solidFill>
                            <a:schemeClr val="tx1"/>
                          </a:solidFill>
                        </a:rPr>
                        <a:t>5</a:t>
                      </a:r>
                    </a:p>
                  </a:txBody>
                  <a:tcPr/>
                </a:tc>
                <a:extLst>
                  <a:ext uri="{0D108BD9-81ED-4DB2-BD59-A6C34878D82A}">
                    <a16:rowId xmlns="" xmlns:a16="http://schemas.microsoft.com/office/drawing/2014/main" val="10002"/>
                  </a:ext>
                </a:extLst>
              </a:tr>
              <a:tr h="373985">
                <a:tc>
                  <a:txBody>
                    <a:bodyPr/>
                    <a:lstStyle/>
                    <a:p>
                      <a:pPr algn="ctr"/>
                      <a:r>
                        <a:rPr lang="en-US">
                          <a:solidFill>
                            <a:schemeClr val="tx1"/>
                          </a:solidFill>
                        </a:rPr>
                        <a:t>C</a:t>
                      </a:r>
                    </a:p>
                  </a:txBody>
                  <a:tcPr/>
                </a:tc>
                <a:tc>
                  <a:txBody>
                    <a:bodyPr/>
                    <a:lstStyle/>
                    <a:p>
                      <a:pPr marL="0" algn="ctr" defTabSz="914400" rtl="0" eaLnBrk="1" latinLnBrk="0" hangingPunct="1"/>
                      <a:r>
                        <a:rPr lang="en-US" sz="1800" kern="1200">
                          <a:solidFill>
                            <a:schemeClr val="tx1"/>
                          </a:solidFill>
                          <a:latin typeface="+mn-lt"/>
                          <a:ea typeface="+mn-ea"/>
                          <a:cs typeface="+mn-cs"/>
                        </a:rPr>
                        <a:t>2</a:t>
                      </a:r>
                    </a:p>
                  </a:txBody>
                  <a:tcPr/>
                </a:tc>
                <a:tc>
                  <a:txBody>
                    <a:bodyPr/>
                    <a:lstStyle/>
                    <a:p>
                      <a:pPr algn="ctr"/>
                      <a:r>
                        <a:rPr lang="en-US">
                          <a:solidFill>
                            <a:schemeClr val="tx1"/>
                          </a:solidFill>
                        </a:rPr>
                        <a:t>4</a:t>
                      </a:r>
                    </a:p>
                  </a:txBody>
                  <a:tcPr/>
                </a:tc>
                <a:extLst>
                  <a:ext uri="{0D108BD9-81ED-4DB2-BD59-A6C34878D82A}">
                    <a16:rowId xmlns="" xmlns:a16="http://schemas.microsoft.com/office/drawing/2014/main" val="10003"/>
                  </a:ext>
                </a:extLst>
              </a:tr>
              <a:tr h="373985">
                <a:tc>
                  <a:txBody>
                    <a:bodyPr/>
                    <a:lstStyle/>
                    <a:p>
                      <a:pPr algn="ctr"/>
                      <a:r>
                        <a:rPr lang="en-US">
                          <a:solidFill>
                            <a:schemeClr val="tx1"/>
                          </a:solidFill>
                        </a:rPr>
                        <a:t>D</a:t>
                      </a:r>
                    </a:p>
                  </a:txBody>
                  <a:tcPr/>
                </a:tc>
                <a:tc>
                  <a:txBody>
                    <a:bodyPr/>
                    <a:lstStyle/>
                    <a:p>
                      <a:pPr marL="0" algn="ctr" defTabSz="914400" rtl="0" eaLnBrk="1" latinLnBrk="0" hangingPunct="1"/>
                      <a:r>
                        <a:rPr lang="en-US" sz="1800" kern="1200">
                          <a:solidFill>
                            <a:schemeClr val="tx1"/>
                          </a:solidFill>
                          <a:latin typeface="+mn-lt"/>
                          <a:ea typeface="+mn-ea"/>
                          <a:cs typeface="+mn-cs"/>
                        </a:rPr>
                        <a:t>4</a:t>
                      </a:r>
                    </a:p>
                  </a:txBody>
                  <a:tcPr/>
                </a:tc>
                <a:tc>
                  <a:txBody>
                    <a:bodyPr/>
                    <a:lstStyle/>
                    <a:p>
                      <a:pPr algn="ctr"/>
                      <a:r>
                        <a:rPr lang="en-US">
                          <a:solidFill>
                            <a:schemeClr val="tx1"/>
                          </a:solidFill>
                        </a:rPr>
                        <a:t>7</a:t>
                      </a:r>
                    </a:p>
                  </a:txBody>
                  <a:tcPr/>
                </a:tc>
                <a:extLst>
                  <a:ext uri="{0D108BD9-81ED-4DB2-BD59-A6C34878D82A}">
                    <a16:rowId xmlns="" xmlns:a16="http://schemas.microsoft.com/office/drawing/2014/main" val="10004"/>
                  </a:ext>
                </a:extLst>
              </a:tr>
              <a:tr h="370840">
                <a:tc gridSpan="3">
                  <a:txBody>
                    <a:bodyPr/>
                    <a:lstStyle/>
                    <a:p>
                      <a:pPr algn="ctr"/>
                      <a:r>
                        <a:rPr lang="en-US"/>
                        <a:t>Free : 1</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5"/>
                  </a:ext>
                </a:extLst>
              </a:tr>
            </a:tbl>
          </a:graphicData>
        </a:graphic>
      </p:graphicFrame>
      <p:pic>
        <p:nvPicPr>
          <p:cNvPr id="27" name="Content Placeholder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1372" y="1257300"/>
            <a:ext cx="1828800" cy="1828800"/>
          </a:xfrm>
          <a:prstGeom prst="rect">
            <a:avLst/>
          </a:prstGeom>
        </p:spPr>
      </p:pic>
    </p:spTree>
    <p:extLst>
      <p:ext uri="{BB962C8B-B14F-4D97-AF65-F5344CB8AC3E}">
        <p14:creationId xmlns:p14="http://schemas.microsoft.com/office/powerpoint/2010/main" val="208860221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cBhvr>
                                        <p:cTn id="12" dur="500" fill="hold"/>
                                        <p:tgtEl>
                                          <p:spTgt spid="27"/>
                                        </p:tgtEl>
                                        <p:attrNameLst>
                                          <p:attrName>ppt_w</p:attrName>
                                        </p:attrNameLst>
                                      </p:cBhvr>
                                      <p:tavLst>
                                        <p:tav tm="0">
                                          <p:val>
                                            <p:fltVal val="0"/>
                                          </p:val>
                                        </p:tav>
                                        <p:tav tm="100000">
                                          <p:val>
                                            <p:strVal val="#ppt_w"/>
                                          </p:val>
                                        </p:tav>
                                      </p:tavLst>
                                    </p:anim>
                                    <p:anim calcmode="lin" valueType="num">
                                      <p:cBhvr>
                                        <p:cTn id="13" dur="500" fill="hold"/>
                                        <p:tgtEl>
                                          <p:spTgt spid="27"/>
                                        </p:tgtEl>
                                        <p:attrNameLst>
                                          <p:attrName>ppt_h</p:attrName>
                                        </p:attrNameLst>
                                      </p:cBhvr>
                                      <p:tavLst>
                                        <p:tav tm="0">
                                          <p:val>
                                            <p:fltVal val="0"/>
                                          </p:val>
                                        </p:tav>
                                        <p:tav tm="100000">
                                          <p:val>
                                            <p:strVal val="#ppt_h"/>
                                          </p:val>
                                        </p:tav>
                                      </p:tavLst>
                                    </p:anim>
                                    <p:animEffect transition="in" filter="fade">
                                      <p:cBhvr>
                                        <p:cTn id="1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Banker’s algorithm for multiple resource</a:t>
            </a:r>
            <a:endParaRPr lang="en-US" dirty="0"/>
          </a:p>
        </p:txBody>
      </p:sp>
      <p:sp>
        <p:nvSpPr>
          <p:cNvPr id="3" name="Content Placeholder 2"/>
          <p:cNvSpPr>
            <a:spLocks noGrp="1"/>
          </p:cNvSpPr>
          <p:nvPr>
            <p:ph idx="1"/>
          </p:nvPr>
        </p:nvSpPr>
        <p:spPr/>
        <p:txBody>
          <a:bodyPr/>
          <a:lstStyle/>
          <a:p>
            <a:r>
              <a:rPr lang="en-US" dirty="0"/>
              <a:t>max: how many instance of each resources each process can max request</a:t>
            </a:r>
          </a:p>
          <a:p>
            <a:r>
              <a:rPr lang="en-US" dirty="0"/>
              <a:t>Allocation(has/hold): how many instances of each resource each process currently holds.</a:t>
            </a:r>
          </a:p>
          <a:p>
            <a:r>
              <a:rPr lang="en-US" dirty="0"/>
              <a:t>Available: how many instances of each resource is available in the system</a:t>
            </a:r>
          </a:p>
          <a:p>
            <a:endParaRPr lang="en-US" dirty="0"/>
          </a:p>
        </p:txBody>
      </p:sp>
    </p:spTree>
    <p:extLst>
      <p:ext uri="{BB962C8B-B14F-4D97-AF65-F5344CB8AC3E}">
        <p14:creationId xmlns:p14="http://schemas.microsoft.com/office/powerpoint/2010/main" val="730166737"/>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p:cNvGraphicFramePr>
            <a:graphicFrameLocks noGrp="1"/>
          </p:cNvGraphicFramePr>
          <p:nvPr>
            <p:extLst>
              <p:ext uri="{D42A27DB-BD31-4B8C-83A1-F6EECF244321}">
                <p14:modId xmlns:p14="http://schemas.microsoft.com/office/powerpoint/2010/main" val="1001944399"/>
              </p:ext>
            </p:extLst>
          </p:nvPr>
        </p:nvGraphicFramePr>
        <p:xfrm>
          <a:off x="5604666" y="2975304"/>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P1</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2</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3</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r h="506928">
                <a:tc>
                  <a:txBody>
                    <a:bodyPr/>
                    <a:lstStyle/>
                    <a:p>
                      <a:pPr algn="ctr"/>
                      <a:r>
                        <a:rPr lang="en-US"/>
                        <a:t>P4</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2</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26" name="TextBox 25"/>
          <p:cNvSpPr txBox="1"/>
          <p:nvPr/>
        </p:nvSpPr>
        <p:spPr>
          <a:xfrm rot="16200000">
            <a:off x="7359470" y="4431909"/>
            <a:ext cx="3523562" cy="646331"/>
          </a:xfrm>
          <a:prstGeom prst="rect">
            <a:avLst/>
          </a:prstGeom>
          <a:noFill/>
          <a:ln w="28575">
            <a:solidFill>
              <a:schemeClr val="tx2">
                <a:lumMod val="60000"/>
                <a:lumOff val="40000"/>
              </a:schemeClr>
            </a:solidFill>
          </a:ln>
        </p:spPr>
        <p:txBody>
          <a:bodyPr wrap="square" rtlCol="0">
            <a:spAutoFit/>
          </a:bodyPr>
          <a:lstStyle/>
          <a:p>
            <a:r>
              <a:rPr lang="en-US"/>
              <a:t>no of resources still needed by each process to proceed</a:t>
            </a:r>
          </a:p>
        </p:txBody>
      </p:sp>
      <p:sp>
        <p:nvSpPr>
          <p:cNvPr id="2" name="Title 1"/>
          <p:cNvSpPr>
            <a:spLocks noGrp="1"/>
          </p:cNvSpPr>
          <p:nvPr>
            <p:ph type="title"/>
          </p:nvPr>
        </p:nvSpPr>
        <p:spPr/>
        <p:txBody>
          <a:bodyPr>
            <a:normAutofit/>
          </a:bodyPr>
          <a:lstStyle/>
          <a:p>
            <a:r>
              <a:rPr lang="en-US" sz="3600" dirty="0"/>
              <a:t>Banker’s algorithm for multiple resource</a:t>
            </a:r>
            <a:endParaRPr lang="en-US" dirty="0"/>
          </a:p>
        </p:txBody>
      </p:sp>
      <p:graphicFrame>
        <p:nvGraphicFramePr>
          <p:cNvPr id="55" name="Table 54"/>
          <p:cNvGraphicFramePr>
            <a:graphicFrameLocks noGrp="1"/>
          </p:cNvGraphicFramePr>
          <p:nvPr>
            <p:extLst>
              <p:ext uri="{D42A27DB-BD31-4B8C-83A1-F6EECF244321}">
                <p14:modId xmlns:p14="http://schemas.microsoft.com/office/powerpoint/2010/main" val="2499236600"/>
              </p:ext>
            </p:extLst>
          </p:nvPr>
        </p:nvGraphicFramePr>
        <p:xfrm>
          <a:off x="762000" y="74407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dirty="0"/>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6</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dirty="0"/>
                        <a:t>2</a:t>
                      </a:r>
                    </a:p>
                  </a:txBody>
                  <a:tcPr anchor="ctr"/>
                </a:tc>
                <a:extLst>
                  <a:ext uri="{0D108BD9-81ED-4DB2-BD59-A6C34878D82A}">
                    <a16:rowId xmlns="" xmlns:a16="http://schemas.microsoft.com/office/drawing/2014/main" val="10001"/>
                  </a:ext>
                </a:extLst>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1582017423"/>
              </p:ext>
            </p:extLst>
          </p:nvPr>
        </p:nvGraphicFramePr>
        <p:xfrm>
          <a:off x="474495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5</a:t>
                      </a:r>
                    </a:p>
                  </a:txBody>
                  <a:tcPr anchor="ctr"/>
                </a:tc>
                <a:tc>
                  <a:txBody>
                    <a:bodyPr/>
                    <a:lstStyle/>
                    <a:p>
                      <a:pPr algn="ctr"/>
                      <a:r>
                        <a:rPr lang="en-US"/>
                        <a:t>3</a:t>
                      </a:r>
                    </a:p>
                  </a:txBody>
                  <a:tcPr anchor="ctr"/>
                </a:tc>
                <a:tc>
                  <a:txBody>
                    <a:bodyPr/>
                    <a:lstStyle/>
                    <a:p>
                      <a:pPr algn="ctr"/>
                      <a:r>
                        <a:rPr lang="en-US"/>
                        <a:t>2</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8" name="Table 57"/>
          <p:cNvGraphicFramePr>
            <a:graphicFrameLocks noGrp="1"/>
          </p:cNvGraphicFramePr>
          <p:nvPr>
            <p:extLst>
              <p:ext uri="{D42A27DB-BD31-4B8C-83A1-F6EECF244321}">
                <p14:modId xmlns:p14="http://schemas.microsoft.com/office/powerpoint/2010/main" val="3056583902"/>
              </p:ext>
            </p:extLst>
          </p:nvPr>
        </p:nvGraphicFramePr>
        <p:xfrm>
          <a:off x="762000" y="2977750"/>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P1</a:t>
                      </a:r>
                    </a:p>
                  </a:txBody>
                  <a:tcPr anchor="ctr"/>
                </a:tc>
                <a:tc>
                  <a:txBody>
                    <a:bodyPr/>
                    <a:lstStyle/>
                    <a:p>
                      <a:pPr algn="ctr"/>
                      <a:r>
                        <a:rPr lang="en-US"/>
                        <a:t>3</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1</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r h="506928">
                <a:tc>
                  <a:txBody>
                    <a:bodyPr/>
                    <a:lstStyle/>
                    <a:p>
                      <a:pPr algn="ctr"/>
                      <a:r>
                        <a:rPr lang="en-US"/>
                        <a:t>P4</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1</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dirty="0"/>
                        <a:t>0</a:t>
                      </a:r>
                    </a:p>
                  </a:txBody>
                  <a:tcPr anchor="ctr"/>
                </a:tc>
                <a:extLst>
                  <a:ext uri="{0D108BD9-81ED-4DB2-BD59-A6C34878D82A}">
                    <a16:rowId xmlns="" xmlns:a16="http://schemas.microsoft.com/office/drawing/2014/main" val="10005"/>
                  </a:ext>
                </a:extLst>
              </a:tr>
            </a:tbl>
          </a:graphicData>
        </a:graphic>
      </p:graphicFrame>
      <p:sp>
        <p:nvSpPr>
          <p:cNvPr id="62" name="TextBox 61"/>
          <p:cNvSpPr txBox="1"/>
          <p:nvPr/>
        </p:nvSpPr>
        <p:spPr>
          <a:xfrm>
            <a:off x="761999" y="2176519"/>
            <a:ext cx="2514600" cy="369332"/>
          </a:xfrm>
          <a:prstGeom prst="rect">
            <a:avLst/>
          </a:prstGeom>
          <a:noFill/>
        </p:spPr>
        <p:txBody>
          <a:bodyPr wrap="square" rtlCol="0">
            <a:spAutoFit/>
          </a:bodyPr>
          <a:lstStyle/>
          <a:p>
            <a:r>
              <a:rPr lang="en-US" dirty="0"/>
              <a:t>total no of each resource</a:t>
            </a:r>
          </a:p>
        </p:txBody>
      </p:sp>
      <p:sp>
        <p:nvSpPr>
          <p:cNvPr id="63" name="TextBox 62"/>
          <p:cNvSpPr txBox="1"/>
          <p:nvPr/>
        </p:nvSpPr>
        <p:spPr>
          <a:xfrm>
            <a:off x="4744959" y="2400298"/>
            <a:ext cx="2514600" cy="369332"/>
          </a:xfrm>
          <a:prstGeom prst="rect">
            <a:avLst/>
          </a:prstGeom>
          <a:noFill/>
        </p:spPr>
        <p:txBody>
          <a:bodyPr wrap="square" rtlCol="0">
            <a:spAutoFit/>
          </a:bodyPr>
          <a:lstStyle/>
          <a:p>
            <a:r>
              <a:rPr lang="en-US"/>
              <a:t>resources hold</a:t>
            </a:r>
          </a:p>
        </p:txBody>
      </p:sp>
      <p:sp>
        <p:nvSpPr>
          <p:cNvPr id="64" name="TextBox 63"/>
          <p:cNvSpPr txBox="1"/>
          <p:nvPr/>
        </p:nvSpPr>
        <p:spPr>
          <a:xfrm rot="16200000">
            <a:off x="2520571" y="4433133"/>
            <a:ext cx="3526006" cy="646331"/>
          </a:xfrm>
          <a:prstGeom prst="rect">
            <a:avLst/>
          </a:prstGeom>
          <a:noFill/>
          <a:ln w="28575">
            <a:solidFill>
              <a:schemeClr val="tx2">
                <a:lumMod val="60000"/>
                <a:lumOff val="40000"/>
              </a:schemeClr>
            </a:solidFill>
          </a:ln>
        </p:spPr>
        <p:txBody>
          <a:bodyPr wrap="square" rtlCol="0">
            <a:spAutoFit/>
          </a:bodyPr>
          <a:lstStyle/>
          <a:p>
            <a:r>
              <a:rPr lang="en-US"/>
              <a:t>no of resources held by each process</a:t>
            </a:r>
          </a:p>
        </p:txBody>
      </p:sp>
      <p:sp>
        <p:nvSpPr>
          <p:cNvPr id="66" name="Rounded Rectangle 65"/>
          <p:cNvSpPr/>
          <p:nvPr/>
        </p:nvSpPr>
        <p:spPr>
          <a:xfrm>
            <a:off x="5608956" y="5518940"/>
            <a:ext cx="3196024" cy="474688"/>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0" name="Oval 69"/>
          <p:cNvSpPr/>
          <p:nvPr/>
        </p:nvSpPr>
        <p:spPr>
          <a:xfrm>
            <a:off x="2848972" y="5601093"/>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aphicFrame>
        <p:nvGraphicFramePr>
          <p:cNvPr id="23" name="Table 22"/>
          <p:cNvGraphicFramePr>
            <a:graphicFrameLocks noGrp="1"/>
          </p:cNvGraphicFramePr>
          <p:nvPr>
            <p:extLst>
              <p:ext uri="{D42A27DB-BD31-4B8C-83A1-F6EECF244321}">
                <p14:modId xmlns:p14="http://schemas.microsoft.com/office/powerpoint/2010/main" val="3637385576"/>
              </p:ext>
            </p:extLst>
          </p:nvPr>
        </p:nvGraphicFramePr>
        <p:xfrm>
          <a:off x="872791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1</a:t>
                      </a:r>
                    </a:p>
                  </a:txBody>
                  <a:tcPr anchor="ctr"/>
                </a:tc>
                <a:tc>
                  <a:txBody>
                    <a:bodyPr/>
                    <a:lstStyle/>
                    <a:p>
                      <a:pPr algn="ctr"/>
                      <a:r>
                        <a:rPr lang="en-US"/>
                        <a:t>0</a:t>
                      </a:r>
                    </a:p>
                  </a:txBody>
                  <a:tcPr anchor="ctr"/>
                </a:tc>
                <a:tc>
                  <a:txBody>
                    <a:bodyPr/>
                    <a:lstStyle/>
                    <a:p>
                      <a:pPr algn="ctr"/>
                      <a:r>
                        <a:rPr lang="en-US"/>
                        <a:t>2</a:t>
                      </a:r>
                    </a:p>
                  </a:txBody>
                  <a:tcPr anchor="ctr"/>
                </a:tc>
                <a:tc>
                  <a:txBody>
                    <a:bodyPr/>
                    <a:lstStyle/>
                    <a:p>
                      <a:pPr algn="ctr"/>
                      <a:r>
                        <a:rPr lang="en-US"/>
                        <a:t>0</a:t>
                      </a:r>
                    </a:p>
                  </a:txBody>
                  <a:tcPr anchor="ctr"/>
                </a:tc>
                <a:extLst>
                  <a:ext uri="{0D108BD9-81ED-4DB2-BD59-A6C34878D82A}">
                    <a16:rowId xmlns="" xmlns:a16="http://schemas.microsoft.com/office/drawing/2014/main" val="10001"/>
                  </a:ext>
                </a:extLst>
              </a:tr>
            </a:tbl>
          </a:graphicData>
        </a:graphic>
      </p:graphicFrame>
      <p:sp>
        <p:nvSpPr>
          <p:cNvPr id="24" name="TextBox 23"/>
          <p:cNvSpPr txBox="1"/>
          <p:nvPr/>
        </p:nvSpPr>
        <p:spPr>
          <a:xfrm>
            <a:off x="8727919" y="2396172"/>
            <a:ext cx="2514600" cy="369332"/>
          </a:xfrm>
          <a:prstGeom prst="rect">
            <a:avLst/>
          </a:prstGeom>
          <a:noFill/>
        </p:spPr>
        <p:txBody>
          <a:bodyPr wrap="square" rtlCol="0">
            <a:spAutoFit/>
          </a:bodyPr>
          <a:lstStyle/>
          <a:p>
            <a:r>
              <a:rPr lang="en-US"/>
              <a:t>available (free) resources</a:t>
            </a:r>
          </a:p>
        </p:txBody>
      </p:sp>
      <p:sp>
        <p:nvSpPr>
          <p:cNvPr id="27" name="Oval 26"/>
          <p:cNvSpPr/>
          <p:nvPr/>
        </p:nvSpPr>
        <p:spPr>
          <a:xfrm>
            <a:off x="10169873" y="1981448"/>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 name="Rectangle 2"/>
          <p:cNvSpPr/>
          <p:nvPr/>
        </p:nvSpPr>
        <p:spPr>
          <a:xfrm>
            <a:off x="762000" y="2689817"/>
            <a:ext cx="1736373" cy="369332"/>
          </a:xfrm>
          <a:prstGeom prst="rect">
            <a:avLst/>
          </a:prstGeom>
        </p:spPr>
        <p:txBody>
          <a:bodyPr wrap="none">
            <a:spAutoFit/>
          </a:bodyPr>
          <a:lstStyle/>
          <a:p>
            <a:r>
              <a:rPr lang="en-US" dirty="0"/>
              <a:t>Allocation matrix</a:t>
            </a:r>
            <a:endParaRPr lang="en-US" dirty="0"/>
          </a:p>
        </p:txBody>
      </p:sp>
    </p:spTree>
    <p:extLst>
      <p:ext uri="{BB962C8B-B14F-4D97-AF65-F5344CB8AC3E}">
        <p14:creationId xmlns:p14="http://schemas.microsoft.com/office/powerpoint/2010/main" val="166268076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6"/>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62" grpId="0"/>
      <p:bldP spid="63" grpId="0"/>
      <p:bldP spid="64" grpId="0" animBg="1"/>
      <p:bldP spid="66" grpId="0" animBg="1"/>
      <p:bldP spid="70" grpId="0" animBg="1"/>
      <p:bldP spid="24" grpId="0"/>
      <p:bldP spid="2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p:cNvGraphicFramePr>
            <a:graphicFrameLocks noGrp="1"/>
          </p:cNvGraphicFramePr>
          <p:nvPr>
            <p:extLst>
              <p:ext uri="{D42A27DB-BD31-4B8C-83A1-F6EECF244321}">
                <p14:modId xmlns:p14="http://schemas.microsoft.com/office/powerpoint/2010/main" val="442158039"/>
              </p:ext>
            </p:extLst>
          </p:nvPr>
        </p:nvGraphicFramePr>
        <p:xfrm>
          <a:off x="5604666" y="2975304"/>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P1</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2</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3</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2</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26" name="TextBox 25"/>
          <p:cNvSpPr txBox="1"/>
          <p:nvPr/>
        </p:nvSpPr>
        <p:spPr>
          <a:xfrm rot="16200000">
            <a:off x="7359470" y="4431909"/>
            <a:ext cx="3523562" cy="646331"/>
          </a:xfrm>
          <a:prstGeom prst="rect">
            <a:avLst/>
          </a:prstGeom>
          <a:noFill/>
          <a:ln w="28575">
            <a:solidFill>
              <a:schemeClr val="tx2">
                <a:lumMod val="60000"/>
                <a:lumOff val="40000"/>
              </a:schemeClr>
            </a:solidFill>
          </a:ln>
        </p:spPr>
        <p:txBody>
          <a:bodyPr wrap="square" rtlCol="0">
            <a:spAutoFit/>
          </a:bodyPr>
          <a:lstStyle/>
          <a:p>
            <a:r>
              <a:rPr lang="en-US"/>
              <a:t>no of resources still needed by each process to proceed</a:t>
            </a:r>
          </a:p>
        </p:txBody>
      </p:sp>
      <p:sp>
        <p:nvSpPr>
          <p:cNvPr id="2" name="Title 1"/>
          <p:cNvSpPr>
            <a:spLocks noGrp="1"/>
          </p:cNvSpPr>
          <p:nvPr>
            <p:ph type="title"/>
          </p:nvPr>
        </p:nvSpPr>
        <p:spPr/>
        <p:txBody>
          <a:bodyPr>
            <a:normAutofit/>
          </a:bodyPr>
          <a:lstStyle/>
          <a:p>
            <a:r>
              <a:rPr lang="en-US" sz="3600"/>
              <a:t>Banker’s algorithm for multiple resource</a:t>
            </a:r>
            <a:endParaRPr lang="en-US"/>
          </a:p>
        </p:txBody>
      </p:sp>
      <p:graphicFrame>
        <p:nvGraphicFramePr>
          <p:cNvPr id="55" name="Table 54"/>
          <p:cNvGraphicFramePr>
            <a:graphicFrameLocks noGrp="1"/>
          </p:cNvGraphicFramePr>
          <p:nvPr>
            <p:extLst>
              <p:ext uri="{D42A27DB-BD31-4B8C-83A1-F6EECF244321}">
                <p14:modId xmlns:p14="http://schemas.microsoft.com/office/powerpoint/2010/main" val="2135593393"/>
              </p:ext>
            </p:extLst>
          </p:nvPr>
        </p:nvGraphicFramePr>
        <p:xfrm>
          <a:off x="739140" y="796766"/>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dirty="0"/>
                        <a:t>Tape Drives</a:t>
                      </a:r>
                    </a:p>
                  </a:txBody>
                  <a:tcPr vert="vert270" anchor="ctr"/>
                </a:tc>
                <a:tc>
                  <a:txBody>
                    <a:bodyPr/>
                    <a:lstStyle/>
                    <a:p>
                      <a:pPr marL="0" algn="l" defTabSz="914400" rtl="0" eaLnBrk="1" latinLnBrk="0" hangingPunct="1"/>
                      <a:r>
                        <a:rPr lang="en-US" sz="1800" kern="1200" dirty="0"/>
                        <a:t>Plotters</a:t>
                      </a:r>
                      <a:endParaRPr lang="en-US" sz="1800" b="1" kern="1200" dirty="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6</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dirty="0"/>
                        <a:t>2</a:t>
                      </a:r>
                    </a:p>
                  </a:txBody>
                  <a:tcPr anchor="ctr"/>
                </a:tc>
                <a:extLst>
                  <a:ext uri="{0D108BD9-81ED-4DB2-BD59-A6C34878D82A}">
                    <a16:rowId xmlns="" xmlns:a16="http://schemas.microsoft.com/office/drawing/2014/main" val="10001"/>
                  </a:ext>
                </a:extLst>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1582017423"/>
              </p:ext>
            </p:extLst>
          </p:nvPr>
        </p:nvGraphicFramePr>
        <p:xfrm>
          <a:off x="474495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5</a:t>
                      </a:r>
                    </a:p>
                  </a:txBody>
                  <a:tcPr anchor="ctr"/>
                </a:tc>
                <a:tc>
                  <a:txBody>
                    <a:bodyPr/>
                    <a:lstStyle/>
                    <a:p>
                      <a:pPr algn="ctr"/>
                      <a:r>
                        <a:rPr lang="en-US"/>
                        <a:t>3</a:t>
                      </a:r>
                    </a:p>
                  </a:txBody>
                  <a:tcPr anchor="ctr"/>
                </a:tc>
                <a:tc>
                  <a:txBody>
                    <a:bodyPr/>
                    <a:lstStyle/>
                    <a:p>
                      <a:pPr algn="ctr"/>
                      <a:r>
                        <a:rPr lang="en-US"/>
                        <a:t>2</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8" name="Table 57"/>
          <p:cNvGraphicFramePr>
            <a:graphicFrameLocks noGrp="1"/>
          </p:cNvGraphicFramePr>
          <p:nvPr>
            <p:extLst>
              <p:ext uri="{D42A27DB-BD31-4B8C-83A1-F6EECF244321}">
                <p14:modId xmlns:p14="http://schemas.microsoft.com/office/powerpoint/2010/main" val="2841727355"/>
              </p:ext>
            </p:extLst>
          </p:nvPr>
        </p:nvGraphicFramePr>
        <p:xfrm>
          <a:off x="762000" y="2977750"/>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dirty="0"/>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P1</a:t>
                      </a:r>
                    </a:p>
                  </a:txBody>
                  <a:tcPr anchor="ctr"/>
                </a:tc>
                <a:tc>
                  <a:txBody>
                    <a:bodyPr/>
                    <a:lstStyle/>
                    <a:p>
                      <a:pPr algn="ctr"/>
                      <a:r>
                        <a:rPr lang="en-US"/>
                        <a:t>3</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1</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r h="506928">
                <a:tc>
                  <a:txBody>
                    <a:bodyPr/>
                    <a:lstStyle/>
                    <a:p>
                      <a:pPr algn="ctr"/>
                      <a:r>
                        <a:rPr lang="en-US" sz="1800" kern="1200">
                          <a:solidFill>
                            <a:schemeClr val="accent2"/>
                          </a:solidFill>
                          <a:latin typeface="+mn-lt"/>
                          <a:ea typeface="+mn-ea"/>
                          <a:cs typeface="+mn-cs"/>
                        </a:rPr>
                        <a:t>P4</a:t>
                      </a:r>
                    </a:p>
                  </a:txBody>
                  <a:tcPr anchor="ctr"/>
                </a:tc>
                <a:tc>
                  <a:txBody>
                    <a:bodyPr/>
                    <a:lstStyle/>
                    <a:p>
                      <a:pPr algn="ctr"/>
                      <a:r>
                        <a:rPr lang="en-US" sz="1800" kern="1200">
                          <a:solidFill>
                            <a:schemeClr val="accent2"/>
                          </a:solidFill>
                          <a:latin typeface="+mn-lt"/>
                          <a:ea typeface="+mn-ea"/>
                          <a:cs typeface="+mn-cs"/>
                        </a:rPr>
                        <a:t>1</a:t>
                      </a:r>
                    </a:p>
                  </a:txBody>
                  <a:tcPr anchor="ctr"/>
                </a:tc>
                <a:tc>
                  <a:txBody>
                    <a:bodyPr/>
                    <a:lstStyle/>
                    <a:p>
                      <a:pPr algn="ctr"/>
                      <a:r>
                        <a:rPr lang="en-US" sz="1800" kern="1200">
                          <a:solidFill>
                            <a:schemeClr val="accent2"/>
                          </a:solidFill>
                          <a:latin typeface="+mn-lt"/>
                          <a:ea typeface="+mn-ea"/>
                          <a:cs typeface="+mn-cs"/>
                        </a:rPr>
                        <a:t>1</a:t>
                      </a:r>
                    </a:p>
                  </a:txBody>
                  <a:tcPr anchor="ctr"/>
                </a:tc>
                <a:tc>
                  <a:txBody>
                    <a:bodyPr/>
                    <a:lstStyle/>
                    <a:p>
                      <a:pPr algn="ctr"/>
                      <a:r>
                        <a:rPr lang="en-US" sz="1800" kern="1200">
                          <a:solidFill>
                            <a:schemeClr val="accent2"/>
                          </a:solidFill>
                          <a:latin typeface="+mn-lt"/>
                          <a:ea typeface="+mn-ea"/>
                          <a:cs typeface="+mn-cs"/>
                        </a:rPr>
                        <a:t>1</a:t>
                      </a:r>
                    </a:p>
                  </a:txBody>
                  <a:tcPr anchor="ctr"/>
                </a:tc>
                <a:tc>
                  <a:txBody>
                    <a:bodyPr/>
                    <a:lstStyle/>
                    <a:p>
                      <a:pPr algn="ctr"/>
                      <a:r>
                        <a:rPr lang="en-US" sz="1800" kern="1200">
                          <a:solidFill>
                            <a:schemeClr val="accent2"/>
                          </a:solidFill>
                          <a:latin typeface="+mn-lt"/>
                          <a:ea typeface="+mn-ea"/>
                          <a:cs typeface="+mn-cs"/>
                        </a:rPr>
                        <a:t>1</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dirty="0"/>
                        <a:t>0</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62" name="TextBox 61"/>
          <p:cNvSpPr txBox="1"/>
          <p:nvPr/>
        </p:nvSpPr>
        <p:spPr>
          <a:xfrm>
            <a:off x="747431" y="2260303"/>
            <a:ext cx="2514600" cy="369332"/>
          </a:xfrm>
          <a:prstGeom prst="rect">
            <a:avLst/>
          </a:prstGeom>
          <a:noFill/>
        </p:spPr>
        <p:txBody>
          <a:bodyPr wrap="square" rtlCol="0">
            <a:spAutoFit/>
          </a:bodyPr>
          <a:lstStyle/>
          <a:p>
            <a:r>
              <a:rPr lang="en-US" dirty="0"/>
              <a:t>total no of each resource</a:t>
            </a:r>
          </a:p>
        </p:txBody>
      </p:sp>
      <p:sp>
        <p:nvSpPr>
          <p:cNvPr id="63" name="TextBox 62"/>
          <p:cNvSpPr txBox="1"/>
          <p:nvPr/>
        </p:nvSpPr>
        <p:spPr>
          <a:xfrm>
            <a:off x="4744959" y="2400298"/>
            <a:ext cx="2514600" cy="369332"/>
          </a:xfrm>
          <a:prstGeom prst="rect">
            <a:avLst/>
          </a:prstGeom>
          <a:noFill/>
        </p:spPr>
        <p:txBody>
          <a:bodyPr wrap="square" rtlCol="0">
            <a:spAutoFit/>
          </a:bodyPr>
          <a:lstStyle/>
          <a:p>
            <a:r>
              <a:rPr lang="en-US" dirty="0"/>
              <a:t>resources hold</a:t>
            </a:r>
          </a:p>
        </p:txBody>
      </p:sp>
      <p:sp>
        <p:nvSpPr>
          <p:cNvPr id="64" name="TextBox 63"/>
          <p:cNvSpPr txBox="1"/>
          <p:nvPr/>
        </p:nvSpPr>
        <p:spPr>
          <a:xfrm rot="16200000">
            <a:off x="2520571" y="4433133"/>
            <a:ext cx="3526006" cy="646331"/>
          </a:xfrm>
          <a:prstGeom prst="rect">
            <a:avLst/>
          </a:prstGeom>
          <a:noFill/>
          <a:ln w="28575">
            <a:solidFill>
              <a:schemeClr val="tx2">
                <a:lumMod val="60000"/>
                <a:lumOff val="40000"/>
              </a:schemeClr>
            </a:solidFill>
          </a:ln>
        </p:spPr>
        <p:txBody>
          <a:bodyPr wrap="square" rtlCol="0">
            <a:spAutoFit/>
          </a:bodyPr>
          <a:lstStyle/>
          <a:p>
            <a:r>
              <a:rPr lang="en-US" dirty="0"/>
              <a:t>no of resources held by each process</a:t>
            </a:r>
          </a:p>
        </p:txBody>
      </p:sp>
      <p:graphicFrame>
        <p:nvGraphicFramePr>
          <p:cNvPr id="23" name="Table 22"/>
          <p:cNvGraphicFramePr>
            <a:graphicFrameLocks noGrp="1"/>
          </p:cNvGraphicFramePr>
          <p:nvPr>
            <p:extLst>
              <p:ext uri="{D42A27DB-BD31-4B8C-83A1-F6EECF244321}">
                <p14:modId xmlns:p14="http://schemas.microsoft.com/office/powerpoint/2010/main" val="2727629692"/>
              </p:ext>
            </p:extLst>
          </p:nvPr>
        </p:nvGraphicFramePr>
        <p:xfrm>
          <a:off x="872791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dirty="0"/>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1</a:t>
                      </a:r>
                    </a:p>
                  </a:txBody>
                  <a:tcPr anchor="ctr"/>
                </a:tc>
                <a:tc>
                  <a:txBody>
                    <a:bodyPr/>
                    <a:lstStyle/>
                    <a:p>
                      <a:pPr algn="ctr"/>
                      <a:r>
                        <a:rPr lang="en-US" dirty="0"/>
                        <a:t>0</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1"/>
                  </a:ext>
                </a:extLst>
              </a:tr>
            </a:tbl>
          </a:graphicData>
        </a:graphic>
      </p:graphicFrame>
      <p:sp>
        <p:nvSpPr>
          <p:cNvPr id="24" name="TextBox 23"/>
          <p:cNvSpPr txBox="1"/>
          <p:nvPr/>
        </p:nvSpPr>
        <p:spPr>
          <a:xfrm>
            <a:off x="8727919" y="2396172"/>
            <a:ext cx="2514600" cy="369332"/>
          </a:xfrm>
          <a:prstGeom prst="rect">
            <a:avLst/>
          </a:prstGeom>
          <a:noFill/>
        </p:spPr>
        <p:txBody>
          <a:bodyPr wrap="square" rtlCol="0">
            <a:spAutoFit/>
          </a:bodyPr>
          <a:lstStyle/>
          <a:p>
            <a:r>
              <a:rPr lang="en-US"/>
              <a:t>available (free) resources</a:t>
            </a:r>
          </a:p>
        </p:txBody>
      </p:sp>
      <p:sp>
        <p:nvSpPr>
          <p:cNvPr id="3" name="TextBox 2"/>
          <p:cNvSpPr txBox="1"/>
          <p:nvPr/>
        </p:nvSpPr>
        <p:spPr>
          <a:xfrm>
            <a:off x="9444417" y="4090552"/>
            <a:ext cx="1665027" cy="369332"/>
          </a:xfrm>
          <a:prstGeom prst="rect">
            <a:avLst/>
          </a:prstGeom>
          <a:noFill/>
        </p:spPr>
        <p:txBody>
          <a:bodyPr wrap="square" rtlCol="0">
            <a:spAutoFit/>
          </a:bodyPr>
          <a:lstStyle/>
          <a:p>
            <a:r>
              <a:rPr lang="en-US" dirty="0" smtClean="0"/>
              <a:t>Need matrix</a:t>
            </a:r>
            <a:endParaRPr lang="en-US" dirty="0"/>
          </a:p>
        </p:txBody>
      </p:sp>
    </p:spTree>
    <p:extLst>
      <p:ext uri="{BB962C8B-B14F-4D97-AF65-F5344CB8AC3E}">
        <p14:creationId xmlns:p14="http://schemas.microsoft.com/office/powerpoint/2010/main" val="4234858103"/>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p:cNvGraphicFramePr>
            <a:graphicFrameLocks noGrp="1"/>
          </p:cNvGraphicFramePr>
          <p:nvPr>
            <p:extLst>
              <p:ext uri="{D42A27DB-BD31-4B8C-83A1-F6EECF244321}">
                <p14:modId xmlns:p14="http://schemas.microsoft.com/office/powerpoint/2010/main" val="442158039"/>
              </p:ext>
            </p:extLst>
          </p:nvPr>
        </p:nvGraphicFramePr>
        <p:xfrm>
          <a:off x="5604666" y="2975304"/>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P1</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2</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3</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2</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26" name="TextBox 25"/>
          <p:cNvSpPr txBox="1"/>
          <p:nvPr/>
        </p:nvSpPr>
        <p:spPr>
          <a:xfrm rot="16200000">
            <a:off x="7359470" y="4431909"/>
            <a:ext cx="3523562" cy="646331"/>
          </a:xfrm>
          <a:prstGeom prst="rect">
            <a:avLst/>
          </a:prstGeom>
          <a:noFill/>
          <a:ln w="28575">
            <a:solidFill>
              <a:schemeClr val="tx2">
                <a:lumMod val="60000"/>
                <a:lumOff val="40000"/>
              </a:schemeClr>
            </a:solidFill>
          </a:ln>
        </p:spPr>
        <p:txBody>
          <a:bodyPr wrap="square" rtlCol="0">
            <a:spAutoFit/>
          </a:bodyPr>
          <a:lstStyle/>
          <a:p>
            <a:r>
              <a:rPr lang="en-US"/>
              <a:t>no of resources still needed by each process to proceed</a:t>
            </a:r>
          </a:p>
        </p:txBody>
      </p:sp>
      <p:sp>
        <p:nvSpPr>
          <p:cNvPr id="2" name="Title 1"/>
          <p:cNvSpPr>
            <a:spLocks noGrp="1"/>
          </p:cNvSpPr>
          <p:nvPr>
            <p:ph type="title"/>
          </p:nvPr>
        </p:nvSpPr>
        <p:spPr/>
        <p:txBody>
          <a:bodyPr>
            <a:normAutofit/>
          </a:bodyPr>
          <a:lstStyle/>
          <a:p>
            <a:r>
              <a:rPr lang="en-US" sz="3600"/>
              <a:t>Banker’s algorithm for multiple resource</a:t>
            </a:r>
            <a:endParaRPr lang="en-US"/>
          </a:p>
        </p:txBody>
      </p:sp>
      <p:graphicFrame>
        <p:nvGraphicFramePr>
          <p:cNvPr id="55" name="Table 54"/>
          <p:cNvGraphicFramePr>
            <a:graphicFrameLocks noGrp="1"/>
          </p:cNvGraphicFramePr>
          <p:nvPr>
            <p:extLst>
              <p:ext uri="{D42A27DB-BD31-4B8C-83A1-F6EECF244321}">
                <p14:modId xmlns:p14="http://schemas.microsoft.com/office/powerpoint/2010/main" val="2519133243"/>
              </p:ext>
            </p:extLst>
          </p:nvPr>
        </p:nvGraphicFramePr>
        <p:xfrm>
          <a:off x="762000"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6</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1582017423"/>
              </p:ext>
            </p:extLst>
          </p:nvPr>
        </p:nvGraphicFramePr>
        <p:xfrm>
          <a:off x="474495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5</a:t>
                      </a:r>
                    </a:p>
                  </a:txBody>
                  <a:tcPr anchor="ctr"/>
                </a:tc>
                <a:tc>
                  <a:txBody>
                    <a:bodyPr/>
                    <a:lstStyle/>
                    <a:p>
                      <a:pPr algn="ctr"/>
                      <a:r>
                        <a:rPr lang="en-US"/>
                        <a:t>3</a:t>
                      </a:r>
                    </a:p>
                  </a:txBody>
                  <a:tcPr anchor="ctr"/>
                </a:tc>
                <a:tc>
                  <a:txBody>
                    <a:bodyPr/>
                    <a:lstStyle/>
                    <a:p>
                      <a:pPr algn="ctr"/>
                      <a:r>
                        <a:rPr lang="en-US"/>
                        <a:t>2</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8" name="Table 57"/>
          <p:cNvGraphicFramePr>
            <a:graphicFrameLocks noGrp="1"/>
          </p:cNvGraphicFramePr>
          <p:nvPr>
            <p:extLst>
              <p:ext uri="{D42A27DB-BD31-4B8C-83A1-F6EECF244321}">
                <p14:modId xmlns:p14="http://schemas.microsoft.com/office/powerpoint/2010/main" val="1690510457"/>
              </p:ext>
            </p:extLst>
          </p:nvPr>
        </p:nvGraphicFramePr>
        <p:xfrm>
          <a:off x="762000" y="2977750"/>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P1</a:t>
                      </a:r>
                    </a:p>
                  </a:txBody>
                  <a:tcPr anchor="ctr"/>
                </a:tc>
                <a:tc>
                  <a:txBody>
                    <a:bodyPr/>
                    <a:lstStyle/>
                    <a:p>
                      <a:pPr algn="ctr"/>
                      <a:r>
                        <a:rPr lang="en-US"/>
                        <a:t>3</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1</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62" name="TextBox 61"/>
          <p:cNvSpPr txBox="1"/>
          <p:nvPr/>
        </p:nvSpPr>
        <p:spPr>
          <a:xfrm>
            <a:off x="762000" y="2401884"/>
            <a:ext cx="2514600" cy="369332"/>
          </a:xfrm>
          <a:prstGeom prst="rect">
            <a:avLst/>
          </a:prstGeom>
          <a:noFill/>
        </p:spPr>
        <p:txBody>
          <a:bodyPr wrap="square" rtlCol="0">
            <a:spAutoFit/>
          </a:bodyPr>
          <a:lstStyle/>
          <a:p>
            <a:r>
              <a:rPr lang="en-US"/>
              <a:t>total no of each resource</a:t>
            </a:r>
          </a:p>
        </p:txBody>
      </p:sp>
      <p:sp>
        <p:nvSpPr>
          <p:cNvPr id="63" name="TextBox 62"/>
          <p:cNvSpPr txBox="1"/>
          <p:nvPr/>
        </p:nvSpPr>
        <p:spPr>
          <a:xfrm>
            <a:off x="4744959" y="2400298"/>
            <a:ext cx="2514600" cy="369332"/>
          </a:xfrm>
          <a:prstGeom prst="rect">
            <a:avLst/>
          </a:prstGeom>
          <a:noFill/>
        </p:spPr>
        <p:txBody>
          <a:bodyPr wrap="square" rtlCol="0">
            <a:spAutoFit/>
          </a:bodyPr>
          <a:lstStyle/>
          <a:p>
            <a:r>
              <a:rPr lang="en-US"/>
              <a:t>resources hold</a:t>
            </a:r>
          </a:p>
        </p:txBody>
      </p:sp>
      <p:sp>
        <p:nvSpPr>
          <p:cNvPr id="64" name="TextBox 63"/>
          <p:cNvSpPr txBox="1"/>
          <p:nvPr/>
        </p:nvSpPr>
        <p:spPr>
          <a:xfrm rot="16200000">
            <a:off x="2520571" y="4433133"/>
            <a:ext cx="3526006" cy="646331"/>
          </a:xfrm>
          <a:prstGeom prst="rect">
            <a:avLst/>
          </a:prstGeom>
          <a:noFill/>
          <a:ln w="28575">
            <a:solidFill>
              <a:schemeClr val="tx2">
                <a:lumMod val="60000"/>
                <a:lumOff val="40000"/>
              </a:schemeClr>
            </a:solidFill>
          </a:ln>
        </p:spPr>
        <p:txBody>
          <a:bodyPr wrap="square" rtlCol="0">
            <a:spAutoFit/>
          </a:bodyPr>
          <a:lstStyle/>
          <a:p>
            <a:r>
              <a:rPr lang="en-US"/>
              <a:t>no of resources held by each process</a:t>
            </a:r>
          </a:p>
        </p:txBody>
      </p:sp>
      <p:graphicFrame>
        <p:nvGraphicFramePr>
          <p:cNvPr id="23" name="Table 22"/>
          <p:cNvGraphicFramePr>
            <a:graphicFrameLocks noGrp="1"/>
          </p:cNvGraphicFramePr>
          <p:nvPr>
            <p:extLst>
              <p:ext uri="{D42A27DB-BD31-4B8C-83A1-F6EECF244321}">
                <p14:modId xmlns:p14="http://schemas.microsoft.com/office/powerpoint/2010/main" val="2704790479"/>
              </p:ext>
            </p:extLst>
          </p:nvPr>
        </p:nvGraphicFramePr>
        <p:xfrm>
          <a:off x="872791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2</a:t>
                      </a:r>
                    </a:p>
                  </a:txBody>
                  <a:tcPr anchor="ctr"/>
                </a:tc>
                <a:tc>
                  <a:txBody>
                    <a:bodyPr/>
                    <a:lstStyle/>
                    <a:p>
                      <a:pPr algn="ctr"/>
                      <a:r>
                        <a:rPr lang="en-US"/>
                        <a:t>1</a:t>
                      </a:r>
                    </a:p>
                  </a:txBody>
                  <a:tcPr anchor="ctr"/>
                </a:tc>
                <a:tc>
                  <a:txBody>
                    <a:bodyPr/>
                    <a:lstStyle/>
                    <a:p>
                      <a:pPr algn="ctr"/>
                      <a:r>
                        <a:rPr lang="en-US"/>
                        <a:t>2</a:t>
                      </a:r>
                    </a:p>
                  </a:txBody>
                  <a:tcPr anchor="ctr"/>
                </a:tc>
                <a:tc>
                  <a:txBody>
                    <a:bodyPr/>
                    <a:lstStyle/>
                    <a:p>
                      <a:pPr algn="ctr"/>
                      <a:r>
                        <a:rPr lang="en-US"/>
                        <a:t>1</a:t>
                      </a:r>
                    </a:p>
                  </a:txBody>
                  <a:tcPr anchor="ctr"/>
                </a:tc>
                <a:extLst>
                  <a:ext uri="{0D108BD9-81ED-4DB2-BD59-A6C34878D82A}">
                    <a16:rowId xmlns="" xmlns:a16="http://schemas.microsoft.com/office/drawing/2014/main" val="10001"/>
                  </a:ext>
                </a:extLst>
              </a:tr>
            </a:tbl>
          </a:graphicData>
        </a:graphic>
      </p:graphicFrame>
      <p:sp>
        <p:nvSpPr>
          <p:cNvPr id="24" name="TextBox 23"/>
          <p:cNvSpPr txBox="1"/>
          <p:nvPr/>
        </p:nvSpPr>
        <p:spPr>
          <a:xfrm>
            <a:off x="8727919" y="2396172"/>
            <a:ext cx="2514600" cy="369332"/>
          </a:xfrm>
          <a:prstGeom prst="rect">
            <a:avLst/>
          </a:prstGeom>
          <a:noFill/>
        </p:spPr>
        <p:txBody>
          <a:bodyPr wrap="square" rtlCol="0">
            <a:spAutoFit/>
          </a:bodyPr>
          <a:lstStyle/>
          <a:p>
            <a:r>
              <a:rPr lang="en-US"/>
              <a:t>available (free) resources</a:t>
            </a:r>
          </a:p>
        </p:txBody>
      </p:sp>
      <p:sp>
        <p:nvSpPr>
          <p:cNvPr id="13" name="Rounded Rectangle 12"/>
          <p:cNvSpPr/>
          <p:nvPr/>
        </p:nvSpPr>
        <p:spPr>
          <a:xfrm>
            <a:off x="5608956" y="3989951"/>
            <a:ext cx="3196024" cy="474688"/>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4" name="Oval 13"/>
          <p:cNvSpPr/>
          <p:nvPr/>
        </p:nvSpPr>
        <p:spPr>
          <a:xfrm>
            <a:off x="9531698" y="1990973"/>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5" name="Oval 14"/>
          <p:cNvSpPr/>
          <p:nvPr/>
        </p:nvSpPr>
        <p:spPr>
          <a:xfrm>
            <a:off x="8893523" y="1990973"/>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6" name="Oval 15"/>
          <p:cNvSpPr/>
          <p:nvPr/>
        </p:nvSpPr>
        <p:spPr>
          <a:xfrm>
            <a:off x="2202966" y="4083677"/>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7" name="Oval 16"/>
          <p:cNvSpPr/>
          <p:nvPr/>
        </p:nvSpPr>
        <p:spPr>
          <a:xfrm>
            <a:off x="1564791" y="4083677"/>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69348421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p:cNvGraphicFramePr>
            <a:graphicFrameLocks noGrp="1"/>
          </p:cNvGraphicFramePr>
          <p:nvPr>
            <p:extLst>
              <p:ext uri="{D42A27DB-BD31-4B8C-83A1-F6EECF244321}">
                <p14:modId xmlns:p14="http://schemas.microsoft.com/office/powerpoint/2010/main" val="1394201947"/>
              </p:ext>
            </p:extLst>
          </p:nvPr>
        </p:nvGraphicFramePr>
        <p:xfrm>
          <a:off x="5604666" y="2975304"/>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bg2"/>
                          </a:solidFill>
                        </a:rPr>
                        <a:t>P1</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2</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3</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2</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26" name="TextBox 25"/>
          <p:cNvSpPr txBox="1"/>
          <p:nvPr/>
        </p:nvSpPr>
        <p:spPr>
          <a:xfrm rot="16200000">
            <a:off x="7359470" y="4431909"/>
            <a:ext cx="3523562" cy="646331"/>
          </a:xfrm>
          <a:prstGeom prst="rect">
            <a:avLst/>
          </a:prstGeom>
          <a:noFill/>
          <a:ln w="28575">
            <a:solidFill>
              <a:schemeClr val="tx2">
                <a:lumMod val="60000"/>
                <a:lumOff val="40000"/>
              </a:schemeClr>
            </a:solidFill>
          </a:ln>
        </p:spPr>
        <p:txBody>
          <a:bodyPr wrap="square" rtlCol="0">
            <a:spAutoFit/>
          </a:bodyPr>
          <a:lstStyle/>
          <a:p>
            <a:r>
              <a:rPr lang="en-US"/>
              <a:t>no of resources still needed by each process to proceed</a:t>
            </a:r>
          </a:p>
        </p:txBody>
      </p:sp>
      <p:sp>
        <p:nvSpPr>
          <p:cNvPr id="2" name="Title 1"/>
          <p:cNvSpPr>
            <a:spLocks noGrp="1"/>
          </p:cNvSpPr>
          <p:nvPr>
            <p:ph type="title"/>
          </p:nvPr>
        </p:nvSpPr>
        <p:spPr/>
        <p:txBody>
          <a:bodyPr>
            <a:normAutofit/>
          </a:bodyPr>
          <a:lstStyle/>
          <a:p>
            <a:r>
              <a:rPr lang="en-US" sz="3600"/>
              <a:t>Banker’s algorithm for multiple resource</a:t>
            </a:r>
            <a:endParaRPr lang="en-US"/>
          </a:p>
        </p:txBody>
      </p:sp>
      <p:graphicFrame>
        <p:nvGraphicFramePr>
          <p:cNvPr id="55" name="Table 54"/>
          <p:cNvGraphicFramePr>
            <a:graphicFrameLocks noGrp="1"/>
          </p:cNvGraphicFramePr>
          <p:nvPr>
            <p:extLst>
              <p:ext uri="{D42A27DB-BD31-4B8C-83A1-F6EECF244321}">
                <p14:modId xmlns:p14="http://schemas.microsoft.com/office/powerpoint/2010/main" val="2519133243"/>
              </p:ext>
            </p:extLst>
          </p:nvPr>
        </p:nvGraphicFramePr>
        <p:xfrm>
          <a:off x="762000"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6</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1582017423"/>
              </p:ext>
            </p:extLst>
          </p:nvPr>
        </p:nvGraphicFramePr>
        <p:xfrm>
          <a:off x="474495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5</a:t>
                      </a:r>
                    </a:p>
                  </a:txBody>
                  <a:tcPr anchor="ctr"/>
                </a:tc>
                <a:tc>
                  <a:txBody>
                    <a:bodyPr/>
                    <a:lstStyle/>
                    <a:p>
                      <a:pPr algn="ctr"/>
                      <a:r>
                        <a:rPr lang="en-US"/>
                        <a:t>3</a:t>
                      </a:r>
                    </a:p>
                  </a:txBody>
                  <a:tcPr anchor="ctr"/>
                </a:tc>
                <a:tc>
                  <a:txBody>
                    <a:bodyPr/>
                    <a:lstStyle/>
                    <a:p>
                      <a:pPr algn="ctr"/>
                      <a:r>
                        <a:rPr lang="en-US"/>
                        <a:t>2</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8" name="Table 57"/>
          <p:cNvGraphicFramePr>
            <a:graphicFrameLocks noGrp="1"/>
          </p:cNvGraphicFramePr>
          <p:nvPr>
            <p:extLst>
              <p:ext uri="{D42A27DB-BD31-4B8C-83A1-F6EECF244321}">
                <p14:modId xmlns:p14="http://schemas.microsoft.com/office/powerpoint/2010/main" val="833721620"/>
              </p:ext>
            </p:extLst>
          </p:nvPr>
        </p:nvGraphicFramePr>
        <p:xfrm>
          <a:off x="762000" y="2977750"/>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sz="1800" kern="1200">
                          <a:solidFill>
                            <a:schemeClr val="accent2"/>
                          </a:solidFill>
                          <a:latin typeface="+mn-lt"/>
                          <a:ea typeface="+mn-ea"/>
                          <a:cs typeface="+mn-cs"/>
                        </a:rPr>
                        <a:t>P1</a:t>
                      </a:r>
                    </a:p>
                  </a:txBody>
                  <a:tcPr anchor="ctr"/>
                </a:tc>
                <a:tc>
                  <a:txBody>
                    <a:bodyPr/>
                    <a:lstStyle/>
                    <a:p>
                      <a:pPr algn="ctr"/>
                      <a:r>
                        <a:rPr lang="en-US" sz="1800" kern="1200">
                          <a:solidFill>
                            <a:schemeClr val="accent2"/>
                          </a:solidFill>
                          <a:latin typeface="+mn-lt"/>
                          <a:ea typeface="+mn-ea"/>
                          <a:cs typeface="+mn-cs"/>
                        </a:rPr>
                        <a:t>4</a:t>
                      </a:r>
                    </a:p>
                  </a:txBody>
                  <a:tcPr anchor="ctr"/>
                </a:tc>
                <a:tc>
                  <a:txBody>
                    <a:bodyPr/>
                    <a:lstStyle/>
                    <a:p>
                      <a:pPr algn="ctr"/>
                      <a:r>
                        <a:rPr lang="en-US" sz="1800" kern="1200">
                          <a:solidFill>
                            <a:schemeClr val="accent2"/>
                          </a:solidFill>
                          <a:latin typeface="+mn-lt"/>
                          <a:ea typeface="+mn-ea"/>
                          <a:cs typeface="+mn-cs"/>
                        </a:rPr>
                        <a:t>1</a:t>
                      </a:r>
                    </a:p>
                  </a:txBody>
                  <a:tcPr anchor="ctr"/>
                </a:tc>
                <a:tc>
                  <a:txBody>
                    <a:bodyPr/>
                    <a:lstStyle/>
                    <a:p>
                      <a:pPr algn="ctr"/>
                      <a:r>
                        <a:rPr lang="en-US" sz="1800" kern="1200">
                          <a:solidFill>
                            <a:schemeClr val="accent2"/>
                          </a:solidFill>
                          <a:latin typeface="+mn-lt"/>
                          <a:ea typeface="+mn-ea"/>
                          <a:cs typeface="+mn-cs"/>
                        </a:rPr>
                        <a:t>1</a:t>
                      </a:r>
                    </a:p>
                  </a:txBody>
                  <a:tcPr anchor="ctr"/>
                </a:tc>
                <a:tc>
                  <a:txBody>
                    <a:bodyPr/>
                    <a:lstStyle/>
                    <a:p>
                      <a:pPr algn="ctr"/>
                      <a:r>
                        <a:rPr lang="en-US" sz="1800" kern="1200">
                          <a:solidFill>
                            <a:schemeClr val="accent2"/>
                          </a:solidFill>
                          <a:latin typeface="+mn-lt"/>
                          <a:ea typeface="+mn-ea"/>
                          <a:cs typeface="+mn-cs"/>
                        </a:rPr>
                        <a:t>1</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62" name="TextBox 61"/>
          <p:cNvSpPr txBox="1"/>
          <p:nvPr/>
        </p:nvSpPr>
        <p:spPr>
          <a:xfrm>
            <a:off x="762000" y="2401884"/>
            <a:ext cx="2514600" cy="369332"/>
          </a:xfrm>
          <a:prstGeom prst="rect">
            <a:avLst/>
          </a:prstGeom>
          <a:noFill/>
        </p:spPr>
        <p:txBody>
          <a:bodyPr wrap="square" rtlCol="0">
            <a:spAutoFit/>
          </a:bodyPr>
          <a:lstStyle/>
          <a:p>
            <a:r>
              <a:rPr lang="en-US"/>
              <a:t>total no of each resource</a:t>
            </a:r>
          </a:p>
        </p:txBody>
      </p:sp>
      <p:sp>
        <p:nvSpPr>
          <p:cNvPr id="63" name="TextBox 62"/>
          <p:cNvSpPr txBox="1"/>
          <p:nvPr/>
        </p:nvSpPr>
        <p:spPr>
          <a:xfrm>
            <a:off x="4744959" y="2400298"/>
            <a:ext cx="2514600" cy="369332"/>
          </a:xfrm>
          <a:prstGeom prst="rect">
            <a:avLst/>
          </a:prstGeom>
          <a:noFill/>
        </p:spPr>
        <p:txBody>
          <a:bodyPr wrap="square" rtlCol="0">
            <a:spAutoFit/>
          </a:bodyPr>
          <a:lstStyle/>
          <a:p>
            <a:r>
              <a:rPr lang="en-US"/>
              <a:t>resources hold</a:t>
            </a:r>
          </a:p>
        </p:txBody>
      </p:sp>
      <p:sp>
        <p:nvSpPr>
          <p:cNvPr id="64" name="TextBox 63"/>
          <p:cNvSpPr txBox="1"/>
          <p:nvPr/>
        </p:nvSpPr>
        <p:spPr>
          <a:xfrm rot="16200000">
            <a:off x="2520571" y="4433133"/>
            <a:ext cx="3526006" cy="646331"/>
          </a:xfrm>
          <a:prstGeom prst="rect">
            <a:avLst/>
          </a:prstGeom>
          <a:noFill/>
          <a:ln w="28575">
            <a:solidFill>
              <a:schemeClr val="tx2">
                <a:lumMod val="60000"/>
                <a:lumOff val="40000"/>
              </a:schemeClr>
            </a:solidFill>
          </a:ln>
        </p:spPr>
        <p:txBody>
          <a:bodyPr wrap="square" rtlCol="0">
            <a:spAutoFit/>
          </a:bodyPr>
          <a:lstStyle/>
          <a:p>
            <a:r>
              <a:rPr lang="en-US"/>
              <a:t>no of resources held by each process</a:t>
            </a:r>
          </a:p>
        </p:txBody>
      </p:sp>
      <p:graphicFrame>
        <p:nvGraphicFramePr>
          <p:cNvPr id="23" name="Table 22"/>
          <p:cNvGraphicFramePr>
            <a:graphicFrameLocks noGrp="1"/>
          </p:cNvGraphicFramePr>
          <p:nvPr>
            <p:extLst>
              <p:ext uri="{D42A27DB-BD31-4B8C-83A1-F6EECF244321}">
                <p14:modId xmlns:p14="http://schemas.microsoft.com/office/powerpoint/2010/main" val="38717566"/>
              </p:ext>
            </p:extLst>
          </p:nvPr>
        </p:nvGraphicFramePr>
        <p:xfrm>
          <a:off x="872791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1</a:t>
                      </a:r>
                    </a:p>
                  </a:txBody>
                  <a:tcPr anchor="ctr"/>
                </a:tc>
                <a:tc>
                  <a:txBody>
                    <a:bodyPr/>
                    <a:lstStyle/>
                    <a:p>
                      <a:pPr algn="ctr"/>
                      <a:r>
                        <a:rPr lang="en-US"/>
                        <a:t>0</a:t>
                      </a:r>
                    </a:p>
                  </a:txBody>
                  <a:tcPr anchor="ctr"/>
                </a:tc>
                <a:tc>
                  <a:txBody>
                    <a:bodyPr/>
                    <a:lstStyle/>
                    <a:p>
                      <a:pPr algn="ctr"/>
                      <a:r>
                        <a:rPr lang="en-US"/>
                        <a:t>2</a:t>
                      </a:r>
                    </a:p>
                  </a:txBody>
                  <a:tcPr anchor="ctr"/>
                </a:tc>
                <a:tc>
                  <a:txBody>
                    <a:bodyPr/>
                    <a:lstStyle/>
                    <a:p>
                      <a:pPr algn="ctr"/>
                      <a:r>
                        <a:rPr lang="en-US"/>
                        <a:t>1</a:t>
                      </a:r>
                    </a:p>
                  </a:txBody>
                  <a:tcPr anchor="ctr"/>
                </a:tc>
                <a:extLst>
                  <a:ext uri="{0D108BD9-81ED-4DB2-BD59-A6C34878D82A}">
                    <a16:rowId xmlns="" xmlns:a16="http://schemas.microsoft.com/office/drawing/2014/main" val="10001"/>
                  </a:ext>
                </a:extLst>
              </a:tr>
            </a:tbl>
          </a:graphicData>
        </a:graphic>
      </p:graphicFrame>
      <p:sp>
        <p:nvSpPr>
          <p:cNvPr id="24" name="TextBox 23"/>
          <p:cNvSpPr txBox="1"/>
          <p:nvPr/>
        </p:nvSpPr>
        <p:spPr>
          <a:xfrm>
            <a:off x="8727919" y="2396172"/>
            <a:ext cx="2514600" cy="369332"/>
          </a:xfrm>
          <a:prstGeom prst="rect">
            <a:avLst/>
          </a:prstGeom>
          <a:noFill/>
        </p:spPr>
        <p:txBody>
          <a:bodyPr wrap="square" rtlCol="0">
            <a:spAutoFit/>
          </a:bodyPr>
          <a:lstStyle/>
          <a:p>
            <a:r>
              <a:rPr lang="en-US"/>
              <a:t>available (free) resources</a:t>
            </a:r>
          </a:p>
        </p:txBody>
      </p:sp>
    </p:spTree>
    <p:extLst>
      <p:ext uri="{BB962C8B-B14F-4D97-AF65-F5344CB8AC3E}">
        <p14:creationId xmlns:p14="http://schemas.microsoft.com/office/powerpoint/2010/main" val="513135414"/>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p:cNvGraphicFramePr>
            <a:graphicFrameLocks noGrp="1"/>
          </p:cNvGraphicFramePr>
          <p:nvPr>
            <p:extLst>
              <p:ext uri="{D42A27DB-BD31-4B8C-83A1-F6EECF244321}">
                <p14:modId xmlns:p14="http://schemas.microsoft.com/office/powerpoint/2010/main" val="3956922488"/>
              </p:ext>
            </p:extLst>
          </p:nvPr>
        </p:nvGraphicFramePr>
        <p:xfrm>
          <a:off x="5604666" y="2975304"/>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bg2"/>
                          </a:solidFill>
                        </a:rPr>
                        <a:t>P1</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2</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3</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2</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26" name="TextBox 25"/>
          <p:cNvSpPr txBox="1"/>
          <p:nvPr/>
        </p:nvSpPr>
        <p:spPr>
          <a:xfrm rot="16200000">
            <a:off x="7359470" y="4431909"/>
            <a:ext cx="3523562" cy="646331"/>
          </a:xfrm>
          <a:prstGeom prst="rect">
            <a:avLst/>
          </a:prstGeom>
          <a:noFill/>
          <a:ln w="28575">
            <a:solidFill>
              <a:schemeClr val="tx2">
                <a:lumMod val="60000"/>
                <a:lumOff val="40000"/>
              </a:schemeClr>
            </a:solidFill>
          </a:ln>
        </p:spPr>
        <p:txBody>
          <a:bodyPr wrap="square" rtlCol="0">
            <a:spAutoFit/>
          </a:bodyPr>
          <a:lstStyle/>
          <a:p>
            <a:r>
              <a:rPr lang="en-US"/>
              <a:t>no of resources still needed by each process to proceed</a:t>
            </a:r>
          </a:p>
        </p:txBody>
      </p:sp>
      <p:sp>
        <p:nvSpPr>
          <p:cNvPr id="2" name="Title 1"/>
          <p:cNvSpPr>
            <a:spLocks noGrp="1"/>
          </p:cNvSpPr>
          <p:nvPr>
            <p:ph type="title"/>
          </p:nvPr>
        </p:nvSpPr>
        <p:spPr/>
        <p:txBody>
          <a:bodyPr>
            <a:normAutofit/>
          </a:bodyPr>
          <a:lstStyle/>
          <a:p>
            <a:r>
              <a:rPr lang="en-US" sz="3600"/>
              <a:t>Banker’s algorithm for multiple resource</a:t>
            </a:r>
            <a:endParaRPr lang="en-US"/>
          </a:p>
        </p:txBody>
      </p:sp>
      <p:graphicFrame>
        <p:nvGraphicFramePr>
          <p:cNvPr id="55" name="Table 54"/>
          <p:cNvGraphicFramePr>
            <a:graphicFrameLocks noGrp="1"/>
          </p:cNvGraphicFramePr>
          <p:nvPr>
            <p:extLst>
              <p:ext uri="{D42A27DB-BD31-4B8C-83A1-F6EECF244321}">
                <p14:modId xmlns:p14="http://schemas.microsoft.com/office/powerpoint/2010/main" val="2519133243"/>
              </p:ext>
            </p:extLst>
          </p:nvPr>
        </p:nvGraphicFramePr>
        <p:xfrm>
          <a:off x="762000"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6</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1582017423"/>
              </p:ext>
            </p:extLst>
          </p:nvPr>
        </p:nvGraphicFramePr>
        <p:xfrm>
          <a:off x="474495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5</a:t>
                      </a:r>
                    </a:p>
                  </a:txBody>
                  <a:tcPr anchor="ctr"/>
                </a:tc>
                <a:tc>
                  <a:txBody>
                    <a:bodyPr/>
                    <a:lstStyle/>
                    <a:p>
                      <a:pPr algn="ctr"/>
                      <a:r>
                        <a:rPr lang="en-US"/>
                        <a:t>3</a:t>
                      </a:r>
                    </a:p>
                  </a:txBody>
                  <a:tcPr anchor="ctr"/>
                </a:tc>
                <a:tc>
                  <a:txBody>
                    <a:bodyPr/>
                    <a:lstStyle/>
                    <a:p>
                      <a:pPr algn="ctr"/>
                      <a:r>
                        <a:rPr lang="en-US"/>
                        <a:t>2</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8" name="Table 57"/>
          <p:cNvGraphicFramePr>
            <a:graphicFrameLocks noGrp="1"/>
          </p:cNvGraphicFramePr>
          <p:nvPr>
            <p:extLst>
              <p:ext uri="{D42A27DB-BD31-4B8C-83A1-F6EECF244321}">
                <p14:modId xmlns:p14="http://schemas.microsoft.com/office/powerpoint/2010/main" val="1125474443"/>
              </p:ext>
            </p:extLst>
          </p:nvPr>
        </p:nvGraphicFramePr>
        <p:xfrm>
          <a:off x="762000" y="2977750"/>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bg2"/>
                          </a:solidFill>
                        </a:rPr>
                        <a:t>P1</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1"/>
                  </a:ext>
                </a:extLst>
              </a:tr>
              <a:tr h="506928">
                <a:tc>
                  <a:txBody>
                    <a:bodyPr/>
                    <a:lstStyle/>
                    <a:p>
                      <a:pPr algn="ctr"/>
                      <a:r>
                        <a:rPr lang="en-US"/>
                        <a:t>P2</a:t>
                      </a:r>
                    </a:p>
                  </a:txBody>
                  <a:tcPr anchor="ctr"/>
                </a:tc>
                <a:tc>
                  <a:txBody>
                    <a:bodyPr/>
                    <a:lstStyle/>
                    <a:p>
                      <a:pPr algn="ctr"/>
                      <a:r>
                        <a:rPr lang="en-US"/>
                        <a:t>0</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62" name="TextBox 61"/>
          <p:cNvSpPr txBox="1"/>
          <p:nvPr/>
        </p:nvSpPr>
        <p:spPr>
          <a:xfrm>
            <a:off x="762000" y="2401884"/>
            <a:ext cx="2514600" cy="369332"/>
          </a:xfrm>
          <a:prstGeom prst="rect">
            <a:avLst/>
          </a:prstGeom>
          <a:noFill/>
        </p:spPr>
        <p:txBody>
          <a:bodyPr wrap="square" rtlCol="0">
            <a:spAutoFit/>
          </a:bodyPr>
          <a:lstStyle/>
          <a:p>
            <a:r>
              <a:rPr lang="en-US"/>
              <a:t>total no of each resource</a:t>
            </a:r>
          </a:p>
        </p:txBody>
      </p:sp>
      <p:sp>
        <p:nvSpPr>
          <p:cNvPr id="63" name="TextBox 62"/>
          <p:cNvSpPr txBox="1"/>
          <p:nvPr/>
        </p:nvSpPr>
        <p:spPr>
          <a:xfrm>
            <a:off x="4744959" y="2400298"/>
            <a:ext cx="2514600" cy="369332"/>
          </a:xfrm>
          <a:prstGeom prst="rect">
            <a:avLst/>
          </a:prstGeom>
          <a:noFill/>
        </p:spPr>
        <p:txBody>
          <a:bodyPr wrap="square" rtlCol="0">
            <a:spAutoFit/>
          </a:bodyPr>
          <a:lstStyle/>
          <a:p>
            <a:r>
              <a:rPr lang="en-US"/>
              <a:t>resources hold</a:t>
            </a:r>
          </a:p>
        </p:txBody>
      </p:sp>
      <p:sp>
        <p:nvSpPr>
          <p:cNvPr id="64" name="TextBox 63"/>
          <p:cNvSpPr txBox="1"/>
          <p:nvPr/>
        </p:nvSpPr>
        <p:spPr>
          <a:xfrm rot="16200000">
            <a:off x="2520571" y="4433133"/>
            <a:ext cx="3526006" cy="646331"/>
          </a:xfrm>
          <a:prstGeom prst="rect">
            <a:avLst/>
          </a:prstGeom>
          <a:noFill/>
          <a:ln w="28575">
            <a:solidFill>
              <a:schemeClr val="tx2">
                <a:lumMod val="60000"/>
                <a:lumOff val="40000"/>
              </a:schemeClr>
            </a:solidFill>
          </a:ln>
        </p:spPr>
        <p:txBody>
          <a:bodyPr wrap="square" rtlCol="0">
            <a:spAutoFit/>
          </a:bodyPr>
          <a:lstStyle/>
          <a:p>
            <a:r>
              <a:rPr lang="en-US"/>
              <a:t>no of resources held by each process</a:t>
            </a:r>
          </a:p>
        </p:txBody>
      </p:sp>
      <p:graphicFrame>
        <p:nvGraphicFramePr>
          <p:cNvPr id="23" name="Table 22"/>
          <p:cNvGraphicFramePr>
            <a:graphicFrameLocks noGrp="1"/>
          </p:cNvGraphicFramePr>
          <p:nvPr>
            <p:extLst>
              <p:ext uri="{D42A27DB-BD31-4B8C-83A1-F6EECF244321}">
                <p14:modId xmlns:p14="http://schemas.microsoft.com/office/powerpoint/2010/main" val="224020494"/>
              </p:ext>
            </p:extLst>
          </p:nvPr>
        </p:nvGraphicFramePr>
        <p:xfrm>
          <a:off x="872791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5</a:t>
                      </a:r>
                    </a:p>
                  </a:txBody>
                  <a:tcPr anchor="ctr"/>
                </a:tc>
                <a:tc>
                  <a:txBody>
                    <a:bodyPr/>
                    <a:lstStyle/>
                    <a:p>
                      <a:pPr algn="ctr"/>
                      <a:r>
                        <a:rPr lang="en-US"/>
                        <a:t>1</a:t>
                      </a:r>
                    </a:p>
                  </a:txBody>
                  <a:tcPr anchor="ctr"/>
                </a:tc>
                <a:tc>
                  <a:txBody>
                    <a:bodyPr/>
                    <a:lstStyle/>
                    <a:p>
                      <a:pPr algn="ctr"/>
                      <a:r>
                        <a:rPr lang="en-US"/>
                        <a:t>3</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sp>
        <p:nvSpPr>
          <p:cNvPr id="24" name="TextBox 23"/>
          <p:cNvSpPr txBox="1"/>
          <p:nvPr/>
        </p:nvSpPr>
        <p:spPr>
          <a:xfrm>
            <a:off x="8727919" y="2396172"/>
            <a:ext cx="2514600" cy="369332"/>
          </a:xfrm>
          <a:prstGeom prst="rect">
            <a:avLst/>
          </a:prstGeom>
          <a:noFill/>
        </p:spPr>
        <p:txBody>
          <a:bodyPr wrap="square" rtlCol="0">
            <a:spAutoFit/>
          </a:bodyPr>
          <a:lstStyle/>
          <a:p>
            <a:r>
              <a:rPr lang="en-US"/>
              <a:t>available (free) resources</a:t>
            </a:r>
          </a:p>
        </p:txBody>
      </p:sp>
      <p:sp>
        <p:nvSpPr>
          <p:cNvPr id="18" name="Rounded Rectangle 17"/>
          <p:cNvSpPr/>
          <p:nvPr/>
        </p:nvSpPr>
        <p:spPr>
          <a:xfrm>
            <a:off x="5602062" y="4507476"/>
            <a:ext cx="3196024" cy="474688"/>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 name="Oval 18"/>
          <p:cNvSpPr/>
          <p:nvPr/>
        </p:nvSpPr>
        <p:spPr>
          <a:xfrm>
            <a:off x="10179406" y="1990973"/>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Oval 19"/>
          <p:cNvSpPr/>
          <p:nvPr/>
        </p:nvSpPr>
        <p:spPr>
          <a:xfrm>
            <a:off x="9541231" y="1990973"/>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 name="Oval 20"/>
          <p:cNvSpPr/>
          <p:nvPr/>
        </p:nvSpPr>
        <p:spPr>
          <a:xfrm>
            <a:off x="10817581" y="1990973"/>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 name="Oval 21"/>
          <p:cNvSpPr/>
          <p:nvPr/>
        </p:nvSpPr>
        <p:spPr>
          <a:xfrm>
            <a:off x="2845679" y="4587891"/>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 name="Oval 26"/>
          <p:cNvSpPr/>
          <p:nvPr/>
        </p:nvSpPr>
        <p:spPr>
          <a:xfrm>
            <a:off x="2207504" y="4587891"/>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 name="Oval 27"/>
          <p:cNvSpPr/>
          <p:nvPr/>
        </p:nvSpPr>
        <p:spPr>
          <a:xfrm>
            <a:off x="3483854" y="4587891"/>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1213791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7" grpId="0" animBg="1"/>
      <p:bldP spid="2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p:cNvGraphicFramePr>
            <a:graphicFrameLocks noGrp="1"/>
          </p:cNvGraphicFramePr>
          <p:nvPr>
            <p:extLst>
              <p:ext uri="{D42A27DB-BD31-4B8C-83A1-F6EECF244321}">
                <p14:modId xmlns:p14="http://schemas.microsoft.com/office/powerpoint/2010/main" val="1678194912"/>
              </p:ext>
            </p:extLst>
          </p:nvPr>
        </p:nvGraphicFramePr>
        <p:xfrm>
          <a:off x="5604666" y="2975304"/>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bg2"/>
                          </a:solidFill>
                        </a:rPr>
                        <a:t>P1</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1"/>
                  </a:ext>
                </a:extLst>
              </a:tr>
              <a:tr h="506928">
                <a:tc>
                  <a:txBody>
                    <a:bodyPr/>
                    <a:lstStyle/>
                    <a:p>
                      <a:pPr algn="ctr"/>
                      <a:r>
                        <a:rPr lang="en-US">
                          <a:solidFill>
                            <a:schemeClr val="bg2"/>
                          </a:solidFill>
                        </a:rPr>
                        <a:t>P2</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3</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2</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26" name="TextBox 25"/>
          <p:cNvSpPr txBox="1"/>
          <p:nvPr/>
        </p:nvSpPr>
        <p:spPr>
          <a:xfrm rot="16200000">
            <a:off x="7359470" y="4431909"/>
            <a:ext cx="3523562" cy="646331"/>
          </a:xfrm>
          <a:prstGeom prst="rect">
            <a:avLst/>
          </a:prstGeom>
          <a:noFill/>
          <a:ln w="28575">
            <a:solidFill>
              <a:schemeClr val="tx2">
                <a:lumMod val="60000"/>
                <a:lumOff val="40000"/>
              </a:schemeClr>
            </a:solidFill>
          </a:ln>
        </p:spPr>
        <p:txBody>
          <a:bodyPr wrap="square" rtlCol="0">
            <a:spAutoFit/>
          </a:bodyPr>
          <a:lstStyle/>
          <a:p>
            <a:r>
              <a:rPr lang="en-US"/>
              <a:t>no of resources still needed by each process to proceed</a:t>
            </a:r>
          </a:p>
        </p:txBody>
      </p:sp>
      <p:sp>
        <p:nvSpPr>
          <p:cNvPr id="2" name="Title 1"/>
          <p:cNvSpPr>
            <a:spLocks noGrp="1"/>
          </p:cNvSpPr>
          <p:nvPr>
            <p:ph type="title"/>
          </p:nvPr>
        </p:nvSpPr>
        <p:spPr/>
        <p:txBody>
          <a:bodyPr>
            <a:normAutofit/>
          </a:bodyPr>
          <a:lstStyle/>
          <a:p>
            <a:r>
              <a:rPr lang="en-US" sz="3600"/>
              <a:t>Banker’s algorithm for multiple resource</a:t>
            </a:r>
            <a:endParaRPr lang="en-US"/>
          </a:p>
        </p:txBody>
      </p:sp>
      <p:graphicFrame>
        <p:nvGraphicFramePr>
          <p:cNvPr id="55" name="Table 54"/>
          <p:cNvGraphicFramePr>
            <a:graphicFrameLocks noGrp="1"/>
          </p:cNvGraphicFramePr>
          <p:nvPr>
            <p:extLst>
              <p:ext uri="{D42A27DB-BD31-4B8C-83A1-F6EECF244321}">
                <p14:modId xmlns:p14="http://schemas.microsoft.com/office/powerpoint/2010/main" val="2519133243"/>
              </p:ext>
            </p:extLst>
          </p:nvPr>
        </p:nvGraphicFramePr>
        <p:xfrm>
          <a:off x="762000"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6</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1582017423"/>
              </p:ext>
            </p:extLst>
          </p:nvPr>
        </p:nvGraphicFramePr>
        <p:xfrm>
          <a:off x="474495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5</a:t>
                      </a:r>
                    </a:p>
                  </a:txBody>
                  <a:tcPr anchor="ctr"/>
                </a:tc>
                <a:tc>
                  <a:txBody>
                    <a:bodyPr/>
                    <a:lstStyle/>
                    <a:p>
                      <a:pPr algn="ctr"/>
                      <a:r>
                        <a:rPr lang="en-US"/>
                        <a:t>3</a:t>
                      </a:r>
                    </a:p>
                  </a:txBody>
                  <a:tcPr anchor="ctr"/>
                </a:tc>
                <a:tc>
                  <a:txBody>
                    <a:bodyPr/>
                    <a:lstStyle/>
                    <a:p>
                      <a:pPr algn="ctr"/>
                      <a:r>
                        <a:rPr lang="en-US"/>
                        <a:t>2</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8" name="Table 57"/>
          <p:cNvGraphicFramePr>
            <a:graphicFrameLocks noGrp="1"/>
          </p:cNvGraphicFramePr>
          <p:nvPr>
            <p:extLst>
              <p:ext uri="{D42A27DB-BD31-4B8C-83A1-F6EECF244321}">
                <p14:modId xmlns:p14="http://schemas.microsoft.com/office/powerpoint/2010/main" val="1009635773"/>
              </p:ext>
            </p:extLst>
          </p:nvPr>
        </p:nvGraphicFramePr>
        <p:xfrm>
          <a:off x="762000" y="2977750"/>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bg2"/>
                          </a:solidFill>
                        </a:rPr>
                        <a:t>P1</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1"/>
                  </a:ext>
                </a:extLst>
              </a:tr>
              <a:tr h="506928">
                <a:tc>
                  <a:txBody>
                    <a:bodyPr/>
                    <a:lstStyle/>
                    <a:p>
                      <a:pPr algn="ctr"/>
                      <a:r>
                        <a:rPr lang="en-US" sz="1800" kern="1200">
                          <a:solidFill>
                            <a:schemeClr val="accent2"/>
                          </a:solidFill>
                          <a:latin typeface="+mn-lt"/>
                          <a:ea typeface="+mn-ea"/>
                          <a:cs typeface="+mn-cs"/>
                        </a:rPr>
                        <a:t>P2</a:t>
                      </a:r>
                    </a:p>
                  </a:txBody>
                  <a:tcPr anchor="ctr"/>
                </a:tc>
                <a:tc>
                  <a:txBody>
                    <a:bodyPr/>
                    <a:lstStyle/>
                    <a:p>
                      <a:pPr algn="ctr"/>
                      <a:r>
                        <a:rPr lang="en-US" sz="1800" kern="1200">
                          <a:solidFill>
                            <a:schemeClr val="accent2"/>
                          </a:solidFill>
                          <a:latin typeface="+mn-lt"/>
                          <a:ea typeface="+mn-ea"/>
                          <a:cs typeface="+mn-cs"/>
                        </a:rPr>
                        <a:t>0</a:t>
                      </a:r>
                    </a:p>
                  </a:txBody>
                  <a:tcPr anchor="ctr"/>
                </a:tc>
                <a:tc>
                  <a:txBody>
                    <a:bodyPr/>
                    <a:lstStyle/>
                    <a:p>
                      <a:pPr algn="ctr"/>
                      <a:r>
                        <a:rPr lang="en-US" sz="1800" kern="1200">
                          <a:solidFill>
                            <a:schemeClr val="accent2"/>
                          </a:solidFill>
                          <a:latin typeface="+mn-lt"/>
                          <a:ea typeface="+mn-ea"/>
                          <a:cs typeface="+mn-cs"/>
                        </a:rPr>
                        <a:t>2</a:t>
                      </a:r>
                    </a:p>
                  </a:txBody>
                  <a:tcPr anchor="ctr"/>
                </a:tc>
                <a:tc>
                  <a:txBody>
                    <a:bodyPr/>
                    <a:lstStyle/>
                    <a:p>
                      <a:pPr algn="ctr"/>
                      <a:r>
                        <a:rPr lang="en-US" sz="1800" kern="1200">
                          <a:solidFill>
                            <a:schemeClr val="accent2"/>
                          </a:solidFill>
                          <a:latin typeface="+mn-lt"/>
                          <a:ea typeface="+mn-ea"/>
                          <a:cs typeface="+mn-cs"/>
                        </a:rPr>
                        <a:t>1</a:t>
                      </a:r>
                    </a:p>
                  </a:txBody>
                  <a:tcPr anchor="ctr"/>
                </a:tc>
                <a:tc>
                  <a:txBody>
                    <a:bodyPr/>
                    <a:lstStyle/>
                    <a:p>
                      <a:pPr algn="ctr"/>
                      <a:r>
                        <a:rPr lang="en-US" sz="1800" kern="1200">
                          <a:solidFill>
                            <a:schemeClr val="accent2"/>
                          </a:solidFill>
                          <a:latin typeface="+mn-lt"/>
                          <a:ea typeface="+mn-ea"/>
                          <a:cs typeface="+mn-cs"/>
                        </a:rPr>
                        <a:t>2</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62" name="TextBox 61"/>
          <p:cNvSpPr txBox="1"/>
          <p:nvPr/>
        </p:nvSpPr>
        <p:spPr>
          <a:xfrm>
            <a:off x="762000" y="2401884"/>
            <a:ext cx="2514600" cy="369332"/>
          </a:xfrm>
          <a:prstGeom prst="rect">
            <a:avLst/>
          </a:prstGeom>
          <a:noFill/>
        </p:spPr>
        <p:txBody>
          <a:bodyPr wrap="square" rtlCol="0">
            <a:spAutoFit/>
          </a:bodyPr>
          <a:lstStyle/>
          <a:p>
            <a:r>
              <a:rPr lang="en-US"/>
              <a:t>total no of each resource</a:t>
            </a:r>
          </a:p>
        </p:txBody>
      </p:sp>
      <p:sp>
        <p:nvSpPr>
          <p:cNvPr id="63" name="TextBox 62"/>
          <p:cNvSpPr txBox="1"/>
          <p:nvPr/>
        </p:nvSpPr>
        <p:spPr>
          <a:xfrm>
            <a:off x="4744959" y="2400298"/>
            <a:ext cx="2514600" cy="369332"/>
          </a:xfrm>
          <a:prstGeom prst="rect">
            <a:avLst/>
          </a:prstGeom>
          <a:noFill/>
        </p:spPr>
        <p:txBody>
          <a:bodyPr wrap="square" rtlCol="0">
            <a:spAutoFit/>
          </a:bodyPr>
          <a:lstStyle/>
          <a:p>
            <a:r>
              <a:rPr lang="en-US"/>
              <a:t>resources hold</a:t>
            </a:r>
          </a:p>
        </p:txBody>
      </p:sp>
      <p:sp>
        <p:nvSpPr>
          <p:cNvPr id="64" name="TextBox 63"/>
          <p:cNvSpPr txBox="1"/>
          <p:nvPr/>
        </p:nvSpPr>
        <p:spPr>
          <a:xfrm rot="16200000">
            <a:off x="2520571" y="4433133"/>
            <a:ext cx="3526006" cy="646331"/>
          </a:xfrm>
          <a:prstGeom prst="rect">
            <a:avLst/>
          </a:prstGeom>
          <a:noFill/>
          <a:ln w="28575">
            <a:solidFill>
              <a:schemeClr val="tx2">
                <a:lumMod val="60000"/>
                <a:lumOff val="40000"/>
              </a:schemeClr>
            </a:solidFill>
          </a:ln>
        </p:spPr>
        <p:txBody>
          <a:bodyPr wrap="square" rtlCol="0">
            <a:spAutoFit/>
          </a:bodyPr>
          <a:lstStyle/>
          <a:p>
            <a:r>
              <a:rPr lang="en-US"/>
              <a:t>no of resources held by each process</a:t>
            </a:r>
          </a:p>
        </p:txBody>
      </p:sp>
      <p:graphicFrame>
        <p:nvGraphicFramePr>
          <p:cNvPr id="23" name="Table 22"/>
          <p:cNvGraphicFramePr>
            <a:graphicFrameLocks noGrp="1"/>
          </p:cNvGraphicFramePr>
          <p:nvPr>
            <p:extLst>
              <p:ext uri="{D42A27DB-BD31-4B8C-83A1-F6EECF244321}">
                <p14:modId xmlns:p14="http://schemas.microsoft.com/office/powerpoint/2010/main" val="3111303955"/>
              </p:ext>
            </p:extLst>
          </p:nvPr>
        </p:nvGraphicFramePr>
        <p:xfrm>
          <a:off x="872791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5</a:t>
                      </a:r>
                    </a:p>
                  </a:txBody>
                  <a:tcPr anchor="ctr"/>
                </a:tc>
                <a:tc>
                  <a:txBody>
                    <a:bodyPr/>
                    <a:lstStyle/>
                    <a:p>
                      <a:pPr algn="ctr"/>
                      <a:r>
                        <a:rPr lang="en-US"/>
                        <a:t>0</a:t>
                      </a:r>
                    </a:p>
                  </a:txBody>
                  <a:tcPr anchor="ctr"/>
                </a:tc>
                <a:tc>
                  <a:txBody>
                    <a:bodyPr/>
                    <a:lstStyle/>
                    <a:p>
                      <a:pPr algn="ctr"/>
                      <a:r>
                        <a:rPr lang="en-US"/>
                        <a:t>2</a:t>
                      </a:r>
                    </a:p>
                  </a:txBody>
                  <a:tcPr anchor="ctr"/>
                </a:tc>
                <a:tc>
                  <a:txBody>
                    <a:bodyPr/>
                    <a:lstStyle/>
                    <a:p>
                      <a:pPr algn="ctr"/>
                      <a:r>
                        <a:rPr lang="en-US"/>
                        <a:t>0</a:t>
                      </a:r>
                    </a:p>
                  </a:txBody>
                  <a:tcPr anchor="ctr"/>
                </a:tc>
                <a:extLst>
                  <a:ext uri="{0D108BD9-81ED-4DB2-BD59-A6C34878D82A}">
                    <a16:rowId xmlns="" xmlns:a16="http://schemas.microsoft.com/office/drawing/2014/main" val="10001"/>
                  </a:ext>
                </a:extLst>
              </a:tr>
            </a:tbl>
          </a:graphicData>
        </a:graphic>
      </p:graphicFrame>
      <p:sp>
        <p:nvSpPr>
          <p:cNvPr id="24" name="TextBox 23"/>
          <p:cNvSpPr txBox="1"/>
          <p:nvPr/>
        </p:nvSpPr>
        <p:spPr>
          <a:xfrm>
            <a:off x="8727919" y="2396172"/>
            <a:ext cx="2514600" cy="369332"/>
          </a:xfrm>
          <a:prstGeom prst="rect">
            <a:avLst/>
          </a:prstGeom>
          <a:noFill/>
        </p:spPr>
        <p:txBody>
          <a:bodyPr wrap="square" rtlCol="0">
            <a:spAutoFit/>
          </a:bodyPr>
          <a:lstStyle/>
          <a:p>
            <a:r>
              <a:rPr lang="en-US"/>
              <a:t>available (free) resources</a:t>
            </a:r>
          </a:p>
        </p:txBody>
      </p:sp>
    </p:spTree>
    <p:extLst>
      <p:ext uri="{BB962C8B-B14F-4D97-AF65-F5344CB8AC3E}">
        <p14:creationId xmlns:p14="http://schemas.microsoft.com/office/powerpoint/2010/main" val="606450972"/>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p:cNvGraphicFramePr>
            <a:graphicFrameLocks noGrp="1"/>
          </p:cNvGraphicFramePr>
          <p:nvPr>
            <p:extLst>
              <p:ext uri="{D42A27DB-BD31-4B8C-83A1-F6EECF244321}">
                <p14:modId xmlns:p14="http://schemas.microsoft.com/office/powerpoint/2010/main" val="1678194912"/>
              </p:ext>
            </p:extLst>
          </p:nvPr>
        </p:nvGraphicFramePr>
        <p:xfrm>
          <a:off x="5604666" y="2975304"/>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bg2"/>
                          </a:solidFill>
                        </a:rPr>
                        <a:t>P1</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1"/>
                  </a:ext>
                </a:extLst>
              </a:tr>
              <a:tr h="506928">
                <a:tc>
                  <a:txBody>
                    <a:bodyPr/>
                    <a:lstStyle/>
                    <a:p>
                      <a:pPr algn="ctr"/>
                      <a:r>
                        <a:rPr lang="en-US">
                          <a:solidFill>
                            <a:schemeClr val="bg2"/>
                          </a:solidFill>
                        </a:rPr>
                        <a:t>P2</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3</a:t>
                      </a:r>
                    </a:p>
                  </a:txBody>
                  <a:tcPr anchor="ctr"/>
                </a:tc>
                <a:tc>
                  <a:txBody>
                    <a:bodyPr/>
                    <a:lstStyle/>
                    <a:p>
                      <a:pPr algn="ctr"/>
                      <a:r>
                        <a:rPr lang="en-US"/>
                        <a:t>1</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2</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26" name="TextBox 25"/>
          <p:cNvSpPr txBox="1"/>
          <p:nvPr/>
        </p:nvSpPr>
        <p:spPr>
          <a:xfrm rot="16200000">
            <a:off x="7359470" y="4431909"/>
            <a:ext cx="3523562" cy="646331"/>
          </a:xfrm>
          <a:prstGeom prst="rect">
            <a:avLst/>
          </a:prstGeom>
          <a:noFill/>
          <a:ln w="28575">
            <a:solidFill>
              <a:schemeClr val="tx2">
                <a:lumMod val="60000"/>
                <a:lumOff val="40000"/>
              </a:schemeClr>
            </a:solidFill>
          </a:ln>
        </p:spPr>
        <p:txBody>
          <a:bodyPr wrap="square" rtlCol="0">
            <a:spAutoFit/>
          </a:bodyPr>
          <a:lstStyle/>
          <a:p>
            <a:r>
              <a:rPr lang="en-US"/>
              <a:t>no of resources still needed by each process to proceed</a:t>
            </a:r>
          </a:p>
        </p:txBody>
      </p:sp>
      <p:sp>
        <p:nvSpPr>
          <p:cNvPr id="2" name="Title 1"/>
          <p:cNvSpPr>
            <a:spLocks noGrp="1"/>
          </p:cNvSpPr>
          <p:nvPr>
            <p:ph type="title"/>
          </p:nvPr>
        </p:nvSpPr>
        <p:spPr/>
        <p:txBody>
          <a:bodyPr>
            <a:normAutofit/>
          </a:bodyPr>
          <a:lstStyle/>
          <a:p>
            <a:r>
              <a:rPr lang="en-US" sz="3600"/>
              <a:t>Banker’s algorithm for multiple resource</a:t>
            </a:r>
            <a:endParaRPr lang="en-US"/>
          </a:p>
        </p:txBody>
      </p:sp>
      <p:graphicFrame>
        <p:nvGraphicFramePr>
          <p:cNvPr id="55" name="Table 54"/>
          <p:cNvGraphicFramePr>
            <a:graphicFrameLocks noGrp="1"/>
          </p:cNvGraphicFramePr>
          <p:nvPr>
            <p:extLst>
              <p:ext uri="{D42A27DB-BD31-4B8C-83A1-F6EECF244321}">
                <p14:modId xmlns:p14="http://schemas.microsoft.com/office/powerpoint/2010/main" val="2519133243"/>
              </p:ext>
            </p:extLst>
          </p:nvPr>
        </p:nvGraphicFramePr>
        <p:xfrm>
          <a:off x="762000"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6</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1582017423"/>
              </p:ext>
            </p:extLst>
          </p:nvPr>
        </p:nvGraphicFramePr>
        <p:xfrm>
          <a:off x="474495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5</a:t>
                      </a:r>
                    </a:p>
                  </a:txBody>
                  <a:tcPr anchor="ctr"/>
                </a:tc>
                <a:tc>
                  <a:txBody>
                    <a:bodyPr/>
                    <a:lstStyle/>
                    <a:p>
                      <a:pPr algn="ctr"/>
                      <a:r>
                        <a:rPr lang="en-US"/>
                        <a:t>3</a:t>
                      </a:r>
                    </a:p>
                  </a:txBody>
                  <a:tcPr anchor="ctr"/>
                </a:tc>
                <a:tc>
                  <a:txBody>
                    <a:bodyPr/>
                    <a:lstStyle/>
                    <a:p>
                      <a:pPr algn="ctr"/>
                      <a:r>
                        <a:rPr lang="en-US"/>
                        <a:t>2</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8" name="Table 57"/>
          <p:cNvGraphicFramePr>
            <a:graphicFrameLocks noGrp="1"/>
          </p:cNvGraphicFramePr>
          <p:nvPr>
            <p:extLst>
              <p:ext uri="{D42A27DB-BD31-4B8C-83A1-F6EECF244321}">
                <p14:modId xmlns:p14="http://schemas.microsoft.com/office/powerpoint/2010/main" val="4002662935"/>
              </p:ext>
            </p:extLst>
          </p:nvPr>
        </p:nvGraphicFramePr>
        <p:xfrm>
          <a:off x="762000" y="2977750"/>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bg2"/>
                          </a:solidFill>
                        </a:rPr>
                        <a:t>P1</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1"/>
                  </a:ext>
                </a:extLst>
              </a:tr>
              <a:tr h="506928">
                <a:tc>
                  <a:txBody>
                    <a:bodyPr/>
                    <a:lstStyle/>
                    <a:p>
                      <a:pPr algn="ctr"/>
                      <a:r>
                        <a:rPr lang="en-US">
                          <a:solidFill>
                            <a:schemeClr val="bg2"/>
                          </a:solidFill>
                        </a:rPr>
                        <a:t>P2</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2"/>
                  </a:ext>
                </a:extLst>
              </a:tr>
              <a:tr h="506928">
                <a:tc>
                  <a:txBody>
                    <a:bodyPr/>
                    <a:lstStyle/>
                    <a:p>
                      <a:pPr algn="ctr"/>
                      <a:r>
                        <a:rPr lang="en-US"/>
                        <a:t>P3</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62" name="TextBox 61"/>
          <p:cNvSpPr txBox="1"/>
          <p:nvPr/>
        </p:nvSpPr>
        <p:spPr>
          <a:xfrm>
            <a:off x="762000" y="2401884"/>
            <a:ext cx="2514600" cy="369332"/>
          </a:xfrm>
          <a:prstGeom prst="rect">
            <a:avLst/>
          </a:prstGeom>
          <a:noFill/>
        </p:spPr>
        <p:txBody>
          <a:bodyPr wrap="square" rtlCol="0">
            <a:spAutoFit/>
          </a:bodyPr>
          <a:lstStyle/>
          <a:p>
            <a:r>
              <a:rPr lang="en-US"/>
              <a:t>total no of each resource</a:t>
            </a:r>
          </a:p>
        </p:txBody>
      </p:sp>
      <p:sp>
        <p:nvSpPr>
          <p:cNvPr id="63" name="TextBox 62"/>
          <p:cNvSpPr txBox="1"/>
          <p:nvPr/>
        </p:nvSpPr>
        <p:spPr>
          <a:xfrm>
            <a:off x="4744959" y="2400298"/>
            <a:ext cx="2514600" cy="369332"/>
          </a:xfrm>
          <a:prstGeom prst="rect">
            <a:avLst/>
          </a:prstGeom>
          <a:noFill/>
        </p:spPr>
        <p:txBody>
          <a:bodyPr wrap="square" rtlCol="0">
            <a:spAutoFit/>
          </a:bodyPr>
          <a:lstStyle/>
          <a:p>
            <a:r>
              <a:rPr lang="en-US"/>
              <a:t>resources hold</a:t>
            </a:r>
          </a:p>
        </p:txBody>
      </p:sp>
      <p:sp>
        <p:nvSpPr>
          <p:cNvPr id="64" name="TextBox 63"/>
          <p:cNvSpPr txBox="1"/>
          <p:nvPr/>
        </p:nvSpPr>
        <p:spPr>
          <a:xfrm rot="16200000">
            <a:off x="2520571" y="4433133"/>
            <a:ext cx="3526006" cy="646331"/>
          </a:xfrm>
          <a:prstGeom prst="rect">
            <a:avLst/>
          </a:prstGeom>
          <a:noFill/>
          <a:ln w="28575">
            <a:solidFill>
              <a:schemeClr val="tx2">
                <a:lumMod val="60000"/>
                <a:lumOff val="40000"/>
              </a:schemeClr>
            </a:solidFill>
          </a:ln>
        </p:spPr>
        <p:txBody>
          <a:bodyPr wrap="square" rtlCol="0">
            <a:spAutoFit/>
          </a:bodyPr>
          <a:lstStyle/>
          <a:p>
            <a:r>
              <a:rPr lang="en-US"/>
              <a:t>no of resources held by each process</a:t>
            </a:r>
          </a:p>
        </p:txBody>
      </p:sp>
      <p:graphicFrame>
        <p:nvGraphicFramePr>
          <p:cNvPr id="23" name="Table 22"/>
          <p:cNvGraphicFramePr>
            <a:graphicFrameLocks noGrp="1"/>
          </p:cNvGraphicFramePr>
          <p:nvPr>
            <p:extLst>
              <p:ext uri="{D42A27DB-BD31-4B8C-83A1-F6EECF244321}">
                <p14:modId xmlns:p14="http://schemas.microsoft.com/office/powerpoint/2010/main" val="3521712429"/>
              </p:ext>
            </p:extLst>
          </p:nvPr>
        </p:nvGraphicFramePr>
        <p:xfrm>
          <a:off x="872791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5</a:t>
                      </a:r>
                    </a:p>
                  </a:txBody>
                  <a:tcPr anchor="ctr"/>
                </a:tc>
                <a:tc>
                  <a:txBody>
                    <a:bodyPr/>
                    <a:lstStyle/>
                    <a:p>
                      <a:pPr algn="ctr"/>
                      <a:r>
                        <a:rPr lang="en-US"/>
                        <a:t>2</a:t>
                      </a:r>
                    </a:p>
                  </a:txBody>
                  <a:tcPr anchor="ctr"/>
                </a:tc>
                <a:tc>
                  <a:txBody>
                    <a:bodyPr/>
                    <a:lstStyle/>
                    <a:p>
                      <a:pPr algn="ctr"/>
                      <a:r>
                        <a:rPr lang="en-US"/>
                        <a:t>3</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sp>
        <p:nvSpPr>
          <p:cNvPr id="24" name="TextBox 23"/>
          <p:cNvSpPr txBox="1"/>
          <p:nvPr/>
        </p:nvSpPr>
        <p:spPr>
          <a:xfrm>
            <a:off x="8727919" y="2396172"/>
            <a:ext cx="2514600" cy="369332"/>
          </a:xfrm>
          <a:prstGeom prst="rect">
            <a:avLst/>
          </a:prstGeom>
          <a:noFill/>
        </p:spPr>
        <p:txBody>
          <a:bodyPr wrap="square" rtlCol="0">
            <a:spAutoFit/>
          </a:bodyPr>
          <a:lstStyle/>
          <a:p>
            <a:r>
              <a:rPr lang="en-US"/>
              <a:t>available (free) resources</a:t>
            </a:r>
          </a:p>
        </p:txBody>
      </p:sp>
      <p:sp>
        <p:nvSpPr>
          <p:cNvPr id="13" name="Rounded Rectangle 12"/>
          <p:cNvSpPr/>
          <p:nvPr/>
        </p:nvSpPr>
        <p:spPr>
          <a:xfrm>
            <a:off x="5602062" y="5008580"/>
            <a:ext cx="3196024" cy="474688"/>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4" name="Oval 13"/>
          <p:cNvSpPr/>
          <p:nvPr/>
        </p:nvSpPr>
        <p:spPr>
          <a:xfrm>
            <a:off x="9531698" y="1990973"/>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5" name="Oval 14"/>
          <p:cNvSpPr/>
          <p:nvPr/>
        </p:nvSpPr>
        <p:spPr>
          <a:xfrm>
            <a:off x="8893523" y="1990973"/>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7" name="Oval 16"/>
          <p:cNvSpPr/>
          <p:nvPr/>
        </p:nvSpPr>
        <p:spPr>
          <a:xfrm>
            <a:off x="2205839" y="5104418"/>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Oval 17"/>
          <p:cNvSpPr/>
          <p:nvPr/>
        </p:nvSpPr>
        <p:spPr>
          <a:xfrm>
            <a:off x="1567664" y="5104418"/>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8543874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P spid="1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p:cNvGraphicFramePr>
            <a:graphicFrameLocks noGrp="1"/>
          </p:cNvGraphicFramePr>
          <p:nvPr>
            <p:extLst>
              <p:ext uri="{D42A27DB-BD31-4B8C-83A1-F6EECF244321}">
                <p14:modId xmlns:p14="http://schemas.microsoft.com/office/powerpoint/2010/main" val="3058282332"/>
              </p:ext>
            </p:extLst>
          </p:nvPr>
        </p:nvGraphicFramePr>
        <p:xfrm>
          <a:off x="5604666" y="2975304"/>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bg2"/>
                          </a:solidFill>
                        </a:rPr>
                        <a:t>P1</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1"/>
                  </a:ext>
                </a:extLst>
              </a:tr>
              <a:tr h="506928">
                <a:tc>
                  <a:txBody>
                    <a:bodyPr/>
                    <a:lstStyle/>
                    <a:p>
                      <a:pPr algn="ctr"/>
                      <a:r>
                        <a:rPr lang="en-US">
                          <a:solidFill>
                            <a:schemeClr val="bg2"/>
                          </a:solidFill>
                        </a:rPr>
                        <a:t>P2</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2"/>
                  </a:ext>
                </a:extLst>
              </a:tr>
              <a:tr h="506928">
                <a:tc>
                  <a:txBody>
                    <a:bodyPr/>
                    <a:lstStyle/>
                    <a:p>
                      <a:pPr algn="ctr"/>
                      <a:r>
                        <a:rPr lang="en-US">
                          <a:solidFill>
                            <a:schemeClr val="bg2"/>
                          </a:solidFill>
                        </a:rPr>
                        <a:t>P3</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2</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26" name="TextBox 25"/>
          <p:cNvSpPr txBox="1"/>
          <p:nvPr/>
        </p:nvSpPr>
        <p:spPr>
          <a:xfrm rot="16200000">
            <a:off x="7359470" y="4431909"/>
            <a:ext cx="3523562" cy="646331"/>
          </a:xfrm>
          <a:prstGeom prst="rect">
            <a:avLst/>
          </a:prstGeom>
          <a:noFill/>
          <a:ln w="28575">
            <a:solidFill>
              <a:schemeClr val="tx2">
                <a:lumMod val="60000"/>
                <a:lumOff val="40000"/>
              </a:schemeClr>
            </a:solidFill>
          </a:ln>
        </p:spPr>
        <p:txBody>
          <a:bodyPr wrap="square" rtlCol="0">
            <a:spAutoFit/>
          </a:bodyPr>
          <a:lstStyle/>
          <a:p>
            <a:r>
              <a:rPr lang="en-US"/>
              <a:t>no of resources still needed by each process to proceed</a:t>
            </a:r>
          </a:p>
        </p:txBody>
      </p:sp>
      <p:sp>
        <p:nvSpPr>
          <p:cNvPr id="2" name="Title 1"/>
          <p:cNvSpPr>
            <a:spLocks noGrp="1"/>
          </p:cNvSpPr>
          <p:nvPr>
            <p:ph type="title"/>
          </p:nvPr>
        </p:nvSpPr>
        <p:spPr/>
        <p:txBody>
          <a:bodyPr>
            <a:normAutofit/>
          </a:bodyPr>
          <a:lstStyle/>
          <a:p>
            <a:r>
              <a:rPr lang="en-US" sz="3600"/>
              <a:t>Banker’s algorithm for multiple resource</a:t>
            </a:r>
            <a:endParaRPr lang="en-US"/>
          </a:p>
        </p:txBody>
      </p:sp>
      <p:graphicFrame>
        <p:nvGraphicFramePr>
          <p:cNvPr id="55" name="Table 54"/>
          <p:cNvGraphicFramePr>
            <a:graphicFrameLocks noGrp="1"/>
          </p:cNvGraphicFramePr>
          <p:nvPr>
            <p:extLst>
              <p:ext uri="{D42A27DB-BD31-4B8C-83A1-F6EECF244321}">
                <p14:modId xmlns:p14="http://schemas.microsoft.com/office/powerpoint/2010/main" val="2519133243"/>
              </p:ext>
            </p:extLst>
          </p:nvPr>
        </p:nvGraphicFramePr>
        <p:xfrm>
          <a:off x="762000"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6</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1582017423"/>
              </p:ext>
            </p:extLst>
          </p:nvPr>
        </p:nvGraphicFramePr>
        <p:xfrm>
          <a:off x="474495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5</a:t>
                      </a:r>
                    </a:p>
                  </a:txBody>
                  <a:tcPr anchor="ctr"/>
                </a:tc>
                <a:tc>
                  <a:txBody>
                    <a:bodyPr/>
                    <a:lstStyle/>
                    <a:p>
                      <a:pPr algn="ctr"/>
                      <a:r>
                        <a:rPr lang="en-US"/>
                        <a:t>3</a:t>
                      </a:r>
                    </a:p>
                  </a:txBody>
                  <a:tcPr anchor="ctr"/>
                </a:tc>
                <a:tc>
                  <a:txBody>
                    <a:bodyPr/>
                    <a:lstStyle/>
                    <a:p>
                      <a:pPr algn="ctr"/>
                      <a:r>
                        <a:rPr lang="en-US"/>
                        <a:t>2</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8" name="Table 57"/>
          <p:cNvGraphicFramePr>
            <a:graphicFrameLocks noGrp="1"/>
          </p:cNvGraphicFramePr>
          <p:nvPr>
            <p:extLst>
              <p:ext uri="{D42A27DB-BD31-4B8C-83A1-F6EECF244321}">
                <p14:modId xmlns:p14="http://schemas.microsoft.com/office/powerpoint/2010/main" val="120140324"/>
              </p:ext>
            </p:extLst>
          </p:nvPr>
        </p:nvGraphicFramePr>
        <p:xfrm>
          <a:off x="762000" y="2977750"/>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bg2"/>
                          </a:solidFill>
                        </a:rPr>
                        <a:t>P1</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1"/>
                  </a:ext>
                </a:extLst>
              </a:tr>
              <a:tr h="506928">
                <a:tc>
                  <a:txBody>
                    <a:bodyPr/>
                    <a:lstStyle/>
                    <a:p>
                      <a:pPr algn="ctr"/>
                      <a:r>
                        <a:rPr lang="en-US">
                          <a:solidFill>
                            <a:schemeClr val="bg2"/>
                          </a:solidFill>
                        </a:rPr>
                        <a:t>P2</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2"/>
                  </a:ext>
                </a:extLst>
              </a:tr>
              <a:tr h="506928">
                <a:tc>
                  <a:txBody>
                    <a:bodyPr/>
                    <a:lstStyle/>
                    <a:p>
                      <a:pPr algn="ctr"/>
                      <a:r>
                        <a:rPr lang="en-US" sz="1800" kern="1200">
                          <a:solidFill>
                            <a:schemeClr val="accent2"/>
                          </a:solidFill>
                          <a:latin typeface="+mn-lt"/>
                          <a:ea typeface="+mn-ea"/>
                          <a:cs typeface="+mn-cs"/>
                        </a:rPr>
                        <a:t>P3</a:t>
                      </a:r>
                    </a:p>
                  </a:txBody>
                  <a:tcPr anchor="ctr"/>
                </a:tc>
                <a:tc>
                  <a:txBody>
                    <a:bodyPr/>
                    <a:lstStyle/>
                    <a:p>
                      <a:pPr algn="ctr"/>
                      <a:r>
                        <a:rPr lang="en-US" sz="1800" kern="1200">
                          <a:solidFill>
                            <a:schemeClr val="accent2"/>
                          </a:solidFill>
                          <a:latin typeface="+mn-lt"/>
                          <a:ea typeface="+mn-ea"/>
                          <a:cs typeface="+mn-cs"/>
                        </a:rPr>
                        <a:t>4</a:t>
                      </a:r>
                    </a:p>
                  </a:txBody>
                  <a:tcPr anchor="ctr"/>
                </a:tc>
                <a:tc>
                  <a:txBody>
                    <a:bodyPr/>
                    <a:lstStyle/>
                    <a:p>
                      <a:pPr algn="ctr"/>
                      <a:r>
                        <a:rPr lang="en-US" sz="1800" kern="1200">
                          <a:solidFill>
                            <a:schemeClr val="accent2"/>
                          </a:solidFill>
                          <a:latin typeface="+mn-lt"/>
                          <a:ea typeface="+mn-ea"/>
                          <a:cs typeface="+mn-cs"/>
                        </a:rPr>
                        <a:t>2</a:t>
                      </a:r>
                    </a:p>
                  </a:txBody>
                  <a:tcPr anchor="ctr"/>
                </a:tc>
                <a:tc>
                  <a:txBody>
                    <a:bodyPr/>
                    <a:lstStyle/>
                    <a:p>
                      <a:pPr algn="ctr"/>
                      <a:r>
                        <a:rPr lang="en-US" sz="1800" kern="1200">
                          <a:solidFill>
                            <a:schemeClr val="accent2"/>
                          </a:solidFill>
                          <a:latin typeface="+mn-lt"/>
                          <a:ea typeface="+mn-ea"/>
                          <a:cs typeface="+mn-cs"/>
                        </a:rPr>
                        <a:t>1</a:t>
                      </a:r>
                    </a:p>
                  </a:txBody>
                  <a:tcPr anchor="ctr"/>
                </a:tc>
                <a:tc>
                  <a:txBody>
                    <a:bodyPr/>
                    <a:lstStyle/>
                    <a:p>
                      <a:pPr algn="ctr"/>
                      <a:r>
                        <a:rPr lang="en-US" sz="1800" kern="1200">
                          <a:solidFill>
                            <a:schemeClr val="accent2"/>
                          </a:solidFill>
                          <a:latin typeface="+mn-lt"/>
                          <a:ea typeface="+mn-ea"/>
                          <a:cs typeface="+mn-cs"/>
                        </a:rPr>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62" name="TextBox 61"/>
          <p:cNvSpPr txBox="1"/>
          <p:nvPr/>
        </p:nvSpPr>
        <p:spPr>
          <a:xfrm>
            <a:off x="762000" y="2401884"/>
            <a:ext cx="2514600" cy="369332"/>
          </a:xfrm>
          <a:prstGeom prst="rect">
            <a:avLst/>
          </a:prstGeom>
          <a:noFill/>
        </p:spPr>
        <p:txBody>
          <a:bodyPr wrap="square" rtlCol="0">
            <a:spAutoFit/>
          </a:bodyPr>
          <a:lstStyle/>
          <a:p>
            <a:r>
              <a:rPr lang="en-US"/>
              <a:t>total no of each resource</a:t>
            </a:r>
          </a:p>
        </p:txBody>
      </p:sp>
      <p:sp>
        <p:nvSpPr>
          <p:cNvPr id="63" name="TextBox 62"/>
          <p:cNvSpPr txBox="1"/>
          <p:nvPr/>
        </p:nvSpPr>
        <p:spPr>
          <a:xfrm>
            <a:off x="4744959" y="2400298"/>
            <a:ext cx="2514600" cy="369332"/>
          </a:xfrm>
          <a:prstGeom prst="rect">
            <a:avLst/>
          </a:prstGeom>
          <a:noFill/>
        </p:spPr>
        <p:txBody>
          <a:bodyPr wrap="square" rtlCol="0">
            <a:spAutoFit/>
          </a:bodyPr>
          <a:lstStyle/>
          <a:p>
            <a:r>
              <a:rPr lang="en-US"/>
              <a:t>resources hold</a:t>
            </a:r>
          </a:p>
        </p:txBody>
      </p:sp>
      <p:sp>
        <p:nvSpPr>
          <p:cNvPr id="64" name="TextBox 63"/>
          <p:cNvSpPr txBox="1"/>
          <p:nvPr/>
        </p:nvSpPr>
        <p:spPr>
          <a:xfrm rot="16200000">
            <a:off x="2520571" y="4433133"/>
            <a:ext cx="3526006" cy="646331"/>
          </a:xfrm>
          <a:prstGeom prst="rect">
            <a:avLst/>
          </a:prstGeom>
          <a:noFill/>
          <a:ln w="28575">
            <a:solidFill>
              <a:schemeClr val="tx2">
                <a:lumMod val="60000"/>
                <a:lumOff val="40000"/>
              </a:schemeClr>
            </a:solidFill>
          </a:ln>
        </p:spPr>
        <p:txBody>
          <a:bodyPr wrap="square" rtlCol="0">
            <a:spAutoFit/>
          </a:bodyPr>
          <a:lstStyle/>
          <a:p>
            <a:r>
              <a:rPr lang="en-US"/>
              <a:t>no of resources held by each process</a:t>
            </a:r>
          </a:p>
        </p:txBody>
      </p:sp>
      <p:graphicFrame>
        <p:nvGraphicFramePr>
          <p:cNvPr id="23" name="Table 22"/>
          <p:cNvGraphicFramePr>
            <a:graphicFrameLocks noGrp="1"/>
          </p:cNvGraphicFramePr>
          <p:nvPr>
            <p:extLst>
              <p:ext uri="{D42A27DB-BD31-4B8C-83A1-F6EECF244321}">
                <p14:modId xmlns:p14="http://schemas.microsoft.com/office/powerpoint/2010/main" val="2189822363"/>
              </p:ext>
            </p:extLst>
          </p:nvPr>
        </p:nvGraphicFramePr>
        <p:xfrm>
          <a:off x="872791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2</a:t>
                      </a:r>
                    </a:p>
                  </a:txBody>
                  <a:tcPr anchor="ctr"/>
                </a:tc>
                <a:tc>
                  <a:txBody>
                    <a:bodyPr/>
                    <a:lstStyle/>
                    <a:p>
                      <a:pPr algn="ctr"/>
                      <a:r>
                        <a:rPr lang="en-US"/>
                        <a:t>1</a:t>
                      </a:r>
                    </a:p>
                  </a:txBody>
                  <a:tcPr anchor="ctr"/>
                </a:tc>
                <a:tc>
                  <a:txBody>
                    <a:bodyPr/>
                    <a:lstStyle/>
                    <a:p>
                      <a:pPr algn="ctr"/>
                      <a:r>
                        <a:rPr lang="en-US"/>
                        <a:t>3</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sp>
        <p:nvSpPr>
          <p:cNvPr id="24" name="TextBox 23"/>
          <p:cNvSpPr txBox="1"/>
          <p:nvPr/>
        </p:nvSpPr>
        <p:spPr>
          <a:xfrm>
            <a:off x="8727919" y="2396172"/>
            <a:ext cx="2514600" cy="369332"/>
          </a:xfrm>
          <a:prstGeom prst="rect">
            <a:avLst/>
          </a:prstGeom>
          <a:noFill/>
        </p:spPr>
        <p:txBody>
          <a:bodyPr wrap="square" rtlCol="0">
            <a:spAutoFit/>
          </a:bodyPr>
          <a:lstStyle/>
          <a:p>
            <a:r>
              <a:rPr lang="en-US"/>
              <a:t>available (free) resources</a:t>
            </a:r>
          </a:p>
        </p:txBody>
      </p:sp>
    </p:spTree>
    <p:extLst>
      <p:ext uri="{BB962C8B-B14F-4D97-AF65-F5344CB8AC3E}">
        <p14:creationId xmlns:p14="http://schemas.microsoft.com/office/powerpoint/2010/main" val="3354858131"/>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p:cNvGraphicFramePr>
            <a:graphicFrameLocks noGrp="1"/>
          </p:cNvGraphicFramePr>
          <p:nvPr>
            <p:extLst>
              <p:ext uri="{D42A27DB-BD31-4B8C-83A1-F6EECF244321}">
                <p14:modId xmlns:p14="http://schemas.microsoft.com/office/powerpoint/2010/main" val="3058282332"/>
              </p:ext>
            </p:extLst>
          </p:nvPr>
        </p:nvGraphicFramePr>
        <p:xfrm>
          <a:off x="5604666" y="2975304"/>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bg2"/>
                          </a:solidFill>
                        </a:rPr>
                        <a:t>P1</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1"/>
                  </a:ext>
                </a:extLst>
              </a:tr>
              <a:tr h="506928">
                <a:tc>
                  <a:txBody>
                    <a:bodyPr/>
                    <a:lstStyle/>
                    <a:p>
                      <a:pPr algn="ctr"/>
                      <a:r>
                        <a:rPr lang="en-US">
                          <a:solidFill>
                            <a:schemeClr val="bg2"/>
                          </a:solidFill>
                        </a:rPr>
                        <a:t>P2</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2"/>
                  </a:ext>
                </a:extLst>
              </a:tr>
              <a:tr h="506928">
                <a:tc>
                  <a:txBody>
                    <a:bodyPr/>
                    <a:lstStyle/>
                    <a:p>
                      <a:pPr algn="ctr"/>
                      <a:r>
                        <a:rPr lang="en-US">
                          <a:solidFill>
                            <a:schemeClr val="bg2"/>
                          </a:solidFill>
                        </a:rPr>
                        <a:t>P3</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2</a:t>
                      </a:r>
                    </a:p>
                  </a:txBody>
                  <a:tcPr anchor="ctr"/>
                </a:tc>
                <a:tc>
                  <a:txBody>
                    <a:bodyPr/>
                    <a:lstStyle/>
                    <a:p>
                      <a:pPr algn="ctr"/>
                      <a:r>
                        <a:rPr lang="en-US"/>
                        <a:t>1</a:t>
                      </a:r>
                    </a:p>
                  </a:txBody>
                  <a:tcPr anchor="ctr"/>
                </a:tc>
                <a:tc>
                  <a:txBody>
                    <a:bodyPr/>
                    <a:lstStyle/>
                    <a:p>
                      <a:pPr algn="ctr"/>
                      <a:r>
                        <a:rPr lang="en-US"/>
                        <a:t>1</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26" name="TextBox 25"/>
          <p:cNvSpPr txBox="1"/>
          <p:nvPr/>
        </p:nvSpPr>
        <p:spPr>
          <a:xfrm rot="16200000">
            <a:off x="7359470" y="4431909"/>
            <a:ext cx="3523562" cy="646331"/>
          </a:xfrm>
          <a:prstGeom prst="rect">
            <a:avLst/>
          </a:prstGeom>
          <a:noFill/>
          <a:ln w="28575">
            <a:solidFill>
              <a:schemeClr val="tx2">
                <a:lumMod val="60000"/>
                <a:lumOff val="40000"/>
              </a:schemeClr>
            </a:solidFill>
          </a:ln>
        </p:spPr>
        <p:txBody>
          <a:bodyPr wrap="square" rtlCol="0">
            <a:spAutoFit/>
          </a:bodyPr>
          <a:lstStyle/>
          <a:p>
            <a:r>
              <a:rPr lang="en-US"/>
              <a:t>no of resources still needed by each process to proceed</a:t>
            </a:r>
          </a:p>
        </p:txBody>
      </p:sp>
      <p:sp>
        <p:nvSpPr>
          <p:cNvPr id="2" name="Title 1"/>
          <p:cNvSpPr>
            <a:spLocks noGrp="1"/>
          </p:cNvSpPr>
          <p:nvPr>
            <p:ph type="title"/>
          </p:nvPr>
        </p:nvSpPr>
        <p:spPr/>
        <p:txBody>
          <a:bodyPr>
            <a:normAutofit/>
          </a:bodyPr>
          <a:lstStyle/>
          <a:p>
            <a:r>
              <a:rPr lang="en-US" sz="3600"/>
              <a:t>Banker’s algorithm for multiple resource</a:t>
            </a:r>
            <a:endParaRPr lang="en-US"/>
          </a:p>
        </p:txBody>
      </p:sp>
      <p:graphicFrame>
        <p:nvGraphicFramePr>
          <p:cNvPr id="55" name="Table 54"/>
          <p:cNvGraphicFramePr>
            <a:graphicFrameLocks noGrp="1"/>
          </p:cNvGraphicFramePr>
          <p:nvPr>
            <p:extLst>
              <p:ext uri="{D42A27DB-BD31-4B8C-83A1-F6EECF244321}">
                <p14:modId xmlns:p14="http://schemas.microsoft.com/office/powerpoint/2010/main" val="2519133243"/>
              </p:ext>
            </p:extLst>
          </p:nvPr>
        </p:nvGraphicFramePr>
        <p:xfrm>
          <a:off x="762000"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6</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1582017423"/>
              </p:ext>
            </p:extLst>
          </p:nvPr>
        </p:nvGraphicFramePr>
        <p:xfrm>
          <a:off x="474495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5</a:t>
                      </a:r>
                    </a:p>
                  </a:txBody>
                  <a:tcPr anchor="ctr"/>
                </a:tc>
                <a:tc>
                  <a:txBody>
                    <a:bodyPr/>
                    <a:lstStyle/>
                    <a:p>
                      <a:pPr algn="ctr"/>
                      <a:r>
                        <a:rPr lang="en-US"/>
                        <a:t>3</a:t>
                      </a:r>
                    </a:p>
                  </a:txBody>
                  <a:tcPr anchor="ctr"/>
                </a:tc>
                <a:tc>
                  <a:txBody>
                    <a:bodyPr/>
                    <a:lstStyle/>
                    <a:p>
                      <a:pPr algn="ctr"/>
                      <a:r>
                        <a:rPr lang="en-US"/>
                        <a:t>2</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8" name="Table 57"/>
          <p:cNvGraphicFramePr>
            <a:graphicFrameLocks noGrp="1"/>
          </p:cNvGraphicFramePr>
          <p:nvPr>
            <p:extLst>
              <p:ext uri="{D42A27DB-BD31-4B8C-83A1-F6EECF244321}">
                <p14:modId xmlns:p14="http://schemas.microsoft.com/office/powerpoint/2010/main" val="3094502478"/>
              </p:ext>
            </p:extLst>
          </p:nvPr>
        </p:nvGraphicFramePr>
        <p:xfrm>
          <a:off x="762000" y="2977750"/>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bg2"/>
                          </a:solidFill>
                        </a:rPr>
                        <a:t>P1</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1"/>
                  </a:ext>
                </a:extLst>
              </a:tr>
              <a:tr h="506928">
                <a:tc>
                  <a:txBody>
                    <a:bodyPr/>
                    <a:lstStyle/>
                    <a:p>
                      <a:pPr algn="ctr"/>
                      <a:r>
                        <a:rPr lang="en-US">
                          <a:solidFill>
                            <a:schemeClr val="bg2"/>
                          </a:solidFill>
                        </a:rPr>
                        <a:t>P2</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2"/>
                  </a:ext>
                </a:extLst>
              </a:tr>
              <a:tr h="506928">
                <a:tc>
                  <a:txBody>
                    <a:bodyPr/>
                    <a:lstStyle/>
                    <a:p>
                      <a:pPr algn="ctr"/>
                      <a:r>
                        <a:rPr lang="en-US">
                          <a:solidFill>
                            <a:schemeClr val="bg2"/>
                          </a:solidFill>
                        </a:rPr>
                        <a:t>P3</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4"/>
                  </a:ext>
                </a:extLst>
              </a:tr>
              <a:tr h="506928">
                <a:tc>
                  <a:txBody>
                    <a:bodyPr/>
                    <a:lstStyle/>
                    <a:p>
                      <a:pPr algn="ctr"/>
                      <a:r>
                        <a:rPr lang="en-US"/>
                        <a:t>P5</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tc>
                  <a:txBody>
                    <a:bodyPr/>
                    <a:lstStyle/>
                    <a:p>
                      <a:pPr algn="ctr"/>
                      <a:r>
                        <a:rPr lang="en-US"/>
                        <a:t>0</a:t>
                      </a:r>
                    </a:p>
                  </a:txBody>
                  <a:tcPr anchor="ctr"/>
                </a:tc>
                <a:extLst>
                  <a:ext uri="{0D108BD9-81ED-4DB2-BD59-A6C34878D82A}">
                    <a16:rowId xmlns="" xmlns:a16="http://schemas.microsoft.com/office/drawing/2014/main" val="10005"/>
                  </a:ext>
                </a:extLst>
              </a:tr>
            </a:tbl>
          </a:graphicData>
        </a:graphic>
      </p:graphicFrame>
      <p:sp>
        <p:nvSpPr>
          <p:cNvPr id="62" name="TextBox 61"/>
          <p:cNvSpPr txBox="1"/>
          <p:nvPr/>
        </p:nvSpPr>
        <p:spPr>
          <a:xfrm>
            <a:off x="762000" y="2401884"/>
            <a:ext cx="2514600" cy="369332"/>
          </a:xfrm>
          <a:prstGeom prst="rect">
            <a:avLst/>
          </a:prstGeom>
          <a:noFill/>
        </p:spPr>
        <p:txBody>
          <a:bodyPr wrap="square" rtlCol="0">
            <a:spAutoFit/>
          </a:bodyPr>
          <a:lstStyle/>
          <a:p>
            <a:r>
              <a:rPr lang="en-US"/>
              <a:t>total no of each resource</a:t>
            </a:r>
          </a:p>
        </p:txBody>
      </p:sp>
      <p:sp>
        <p:nvSpPr>
          <p:cNvPr id="63" name="TextBox 62"/>
          <p:cNvSpPr txBox="1"/>
          <p:nvPr/>
        </p:nvSpPr>
        <p:spPr>
          <a:xfrm>
            <a:off x="4744959" y="2400298"/>
            <a:ext cx="2514600" cy="369332"/>
          </a:xfrm>
          <a:prstGeom prst="rect">
            <a:avLst/>
          </a:prstGeom>
          <a:noFill/>
        </p:spPr>
        <p:txBody>
          <a:bodyPr wrap="square" rtlCol="0">
            <a:spAutoFit/>
          </a:bodyPr>
          <a:lstStyle/>
          <a:p>
            <a:r>
              <a:rPr lang="en-US"/>
              <a:t>resources hold</a:t>
            </a:r>
          </a:p>
        </p:txBody>
      </p:sp>
      <p:sp>
        <p:nvSpPr>
          <p:cNvPr id="64" name="TextBox 63"/>
          <p:cNvSpPr txBox="1"/>
          <p:nvPr/>
        </p:nvSpPr>
        <p:spPr>
          <a:xfrm rot="16200000">
            <a:off x="2520571" y="4433133"/>
            <a:ext cx="3526006" cy="646331"/>
          </a:xfrm>
          <a:prstGeom prst="rect">
            <a:avLst/>
          </a:prstGeom>
          <a:noFill/>
          <a:ln w="28575">
            <a:solidFill>
              <a:schemeClr val="tx2">
                <a:lumMod val="60000"/>
                <a:lumOff val="40000"/>
              </a:schemeClr>
            </a:solidFill>
          </a:ln>
        </p:spPr>
        <p:txBody>
          <a:bodyPr wrap="square" rtlCol="0">
            <a:spAutoFit/>
          </a:bodyPr>
          <a:lstStyle/>
          <a:p>
            <a:r>
              <a:rPr lang="en-US"/>
              <a:t>no of resources held by each process</a:t>
            </a:r>
          </a:p>
        </p:txBody>
      </p:sp>
      <p:graphicFrame>
        <p:nvGraphicFramePr>
          <p:cNvPr id="23" name="Table 22"/>
          <p:cNvGraphicFramePr>
            <a:graphicFrameLocks noGrp="1"/>
          </p:cNvGraphicFramePr>
          <p:nvPr>
            <p:extLst>
              <p:ext uri="{D42A27DB-BD31-4B8C-83A1-F6EECF244321}">
                <p14:modId xmlns:p14="http://schemas.microsoft.com/office/powerpoint/2010/main" val="2775510947"/>
              </p:ext>
            </p:extLst>
          </p:nvPr>
        </p:nvGraphicFramePr>
        <p:xfrm>
          <a:off x="872791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6</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sp>
        <p:nvSpPr>
          <p:cNvPr id="24" name="TextBox 23"/>
          <p:cNvSpPr txBox="1"/>
          <p:nvPr/>
        </p:nvSpPr>
        <p:spPr>
          <a:xfrm>
            <a:off x="8727919" y="2396172"/>
            <a:ext cx="2514600" cy="369332"/>
          </a:xfrm>
          <a:prstGeom prst="rect">
            <a:avLst/>
          </a:prstGeom>
          <a:noFill/>
        </p:spPr>
        <p:txBody>
          <a:bodyPr wrap="square" rtlCol="0">
            <a:spAutoFit/>
          </a:bodyPr>
          <a:lstStyle/>
          <a:p>
            <a:r>
              <a:rPr lang="en-US"/>
              <a:t>available (free) resources</a:t>
            </a:r>
          </a:p>
        </p:txBody>
      </p:sp>
      <p:sp>
        <p:nvSpPr>
          <p:cNvPr id="13" name="Rounded Rectangle 12"/>
          <p:cNvSpPr/>
          <p:nvPr/>
        </p:nvSpPr>
        <p:spPr>
          <a:xfrm>
            <a:off x="5602062" y="6022998"/>
            <a:ext cx="3196024" cy="474688"/>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4" name="Oval 13"/>
          <p:cNvSpPr/>
          <p:nvPr/>
        </p:nvSpPr>
        <p:spPr>
          <a:xfrm>
            <a:off x="9531698" y="1990973"/>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5" name="Oval 14"/>
          <p:cNvSpPr/>
          <p:nvPr/>
        </p:nvSpPr>
        <p:spPr>
          <a:xfrm>
            <a:off x="8893523" y="1990973"/>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6" name="Oval 15"/>
          <p:cNvSpPr/>
          <p:nvPr/>
        </p:nvSpPr>
        <p:spPr>
          <a:xfrm>
            <a:off x="10169873" y="1990973"/>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7" name="Oval 16"/>
          <p:cNvSpPr/>
          <p:nvPr/>
        </p:nvSpPr>
        <p:spPr>
          <a:xfrm>
            <a:off x="2203434" y="6111104"/>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Oval 17"/>
          <p:cNvSpPr/>
          <p:nvPr/>
        </p:nvSpPr>
        <p:spPr>
          <a:xfrm>
            <a:off x="1565259" y="6111104"/>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 name="Oval 18"/>
          <p:cNvSpPr/>
          <p:nvPr/>
        </p:nvSpPr>
        <p:spPr>
          <a:xfrm>
            <a:off x="2841609" y="6111104"/>
            <a:ext cx="304800" cy="3048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86847509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p:cNvGraphicFramePr>
            <a:graphicFrameLocks noGrp="1"/>
          </p:cNvGraphicFramePr>
          <p:nvPr>
            <p:extLst>
              <p:ext uri="{D42A27DB-BD31-4B8C-83A1-F6EECF244321}">
                <p14:modId xmlns:p14="http://schemas.microsoft.com/office/powerpoint/2010/main" val="1538085589"/>
              </p:ext>
            </p:extLst>
          </p:nvPr>
        </p:nvGraphicFramePr>
        <p:xfrm>
          <a:off x="5604666" y="2975304"/>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bg2"/>
                          </a:solidFill>
                        </a:rPr>
                        <a:t>P1</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1"/>
                  </a:ext>
                </a:extLst>
              </a:tr>
              <a:tr h="506928">
                <a:tc>
                  <a:txBody>
                    <a:bodyPr/>
                    <a:lstStyle/>
                    <a:p>
                      <a:pPr algn="ctr"/>
                      <a:r>
                        <a:rPr lang="en-US">
                          <a:solidFill>
                            <a:schemeClr val="bg2"/>
                          </a:solidFill>
                        </a:rPr>
                        <a:t>P2</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2"/>
                  </a:ext>
                </a:extLst>
              </a:tr>
              <a:tr h="506928">
                <a:tc>
                  <a:txBody>
                    <a:bodyPr/>
                    <a:lstStyle/>
                    <a:p>
                      <a:pPr algn="ctr"/>
                      <a:r>
                        <a:rPr lang="en-US">
                          <a:solidFill>
                            <a:schemeClr val="bg2"/>
                          </a:solidFill>
                        </a:rPr>
                        <a:t>P3</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4"/>
                  </a:ext>
                </a:extLst>
              </a:tr>
              <a:tr h="506928">
                <a:tc>
                  <a:txBody>
                    <a:bodyPr/>
                    <a:lstStyle/>
                    <a:p>
                      <a:pPr algn="ctr"/>
                      <a:r>
                        <a:rPr lang="en-US">
                          <a:solidFill>
                            <a:schemeClr val="bg2"/>
                          </a:solidFill>
                        </a:rPr>
                        <a:t>P5</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5"/>
                  </a:ext>
                </a:extLst>
              </a:tr>
            </a:tbl>
          </a:graphicData>
        </a:graphic>
      </p:graphicFrame>
      <p:sp>
        <p:nvSpPr>
          <p:cNvPr id="26" name="TextBox 25"/>
          <p:cNvSpPr txBox="1"/>
          <p:nvPr/>
        </p:nvSpPr>
        <p:spPr>
          <a:xfrm rot="16200000">
            <a:off x="7359470" y="4431909"/>
            <a:ext cx="3523562" cy="646331"/>
          </a:xfrm>
          <a:prstGeom prst="rect">
            <a:avLst/>
          </a:prstGeom>
          <a:noFill/>
          <a:ln w="28575">
            <a:solidFill>
              <a:schemeClr val="tx2">
                <a:lumMod val="60000"/>
                <a:lumOff val="40000"/>
              </a:schemeClr>
            </a:solidFill>
          </a:ln>
        </p:spPr>
        <p:txBody>
          <a:bodyPr wrap="square" rtlCol="0">
            <a:spAutoFit/>
          </a:bodyPr>
          <a:lstStyle/>
          <a:p>
            <a:r>
              <a:rPr lang="en-US"/>
              <a:t>no of resources still needed by each process to proceed</a:t>
            </a:r>
          </a:p>
        </p:txBody>
      </p:sp>
      <p:sp>
        <p:nvSpPr>
          <p:cNvPr id="2" name="Title 1"/>
          <p:cNvSpPr>
            <a:spLocks noGrp="1"/>
          </p:cNvSpPr>
          <p:nvPr>
            <p:ph type="title"/>
          </p:nvPr>
        </p:nvSpPr>
        <p:spPr/>
        <p:txBody>
          <a:bodyPr>
            <a:normAutofit/>
          </a:bodyPr>
          <a:lstStyle/>
          <a:p>
            <a:r>
              <a:rPr lang="en-US" sz="3600"/>
              <a:t>Banker’s algorithm for multiple resource</a:t>
            </a:r>
            <a:endParaRPr lang="en-US"/>
          </a:p>
        </p:txBody>
      </p:sp>
      <p:graphicFrame>
        <p:nvGraphicFramePr>
          <p:cNvPr id="55" name="Table 54"/>
          <p:cNvGraphicFramePr>
            <a:graphicFrameLocks noGrp="1"/>
          </p:cNvGraphicFramePr>
          <p:nvPr>
            <p:extLst>
              <p:ext uri="{D42A27DB-BD31-4B8C-83A1-F6EECF244321}">
                <p14:modId xmlns:p14="http://schemas.microsoft.com/office/powerpoint/2010/main" val="2519133243"/>
              </p:ext>
            </p:extLst>
          </p:nvPr>
        </p:nvGraphicFramePr>
        <p:xfrm>
          <a:off x="762000"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6</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1582017423"/>
              </p:ext>
            </p:extLst>
          </p:nvPr>
        </p:nvGraphicFramePr>
        <p:xfrm>
          <a:off x="474495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5</a:t>
                      </a:r>
                    </a:p>
                  </a:txBody>
                  <a:tcPr anchor="ctr"/>
                </a:tc>
                <a:tc>
                  <a:txBody>
                    <a:bodyPr/>
                    <a:lstStyle/>
                    <a:p>
                      <a:pPr algn="ctr"/>
                      <a:r>
                        <a:rPr lang="en-US"/>
                        <a:t>3</a:t>
                      </a:r>
                    </a:p>
                  </a:txBody>
                  <a:tcPr anchor="ctr"/>
                </a:tc>
                <a:tc>
                  <a:txBody>
                    <a:bodyPr/>
                    <a:lstStyle/>
                    <a:p>
                      <a:pPr algn="ctr"/>
                      <a:r>
                        <a:rPr lang="en-US"/>
                        <a:t>2</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8" name="Table 57"/>
          <p:cNvGraphicFramePr>
            <a:graphicFrameLocks noGrp="1"/>
          </p:cNvGraphicFramePr>
          <p:nvPr>
            <p:extLst>
              <p:ext uri="{D42A27DB-BD31-4B8C-83A1-F6EECF244321}">
                <p14:modId xmlns:p14="http://schemas.microsoft.com/office/powerpoint/2010/main" val="2121882984"/>
              </p:ext>
            </p:extLst>
          </p:nvPr>
        </p:nvGraphicFramePr>
        <p:xfrm>
          <a:off x="762000" y="2977750"/>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bg2"/>
                          </a:solidFill>
                        </a:rPr>
                        <a:t>P1</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1"/>
                  </a:ext>
                </a:extLst>
              </a:tr>
              <a:tr h="506928">
                <a:tc>
                  <a:txBody>
                    <a:bodyPr/>
                    <a:lstStyle/>
                    <a:p>
                      <a:pPr algn="ctr"/>
                      <a:r>
                        <a:rPr lang="en-US">
                          <a:solidFill>
                            <a:schemeClr val="bg2"/>
                          </a:solidFill>
                        </a:rPr>
                        <a:t>P2</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2"/>
                  </a:ext>
                </a:extLst>
              </a:tr>
              <a:tr h="506928">
                <a:tc>
                  <a:txBody>
                    <a:bodyPr/>
                    <a:lstStyle/>
                    <a:p>
                      <a:pPr algn="ctr"/>
                      <a:r>
                        <a:rPr lang="en-US">
                          <a:solidFill>
                            <a:schemeClr val="bg2"/>
                          </a:solidFill>
                        </a:rPr>
                        <a:t>P3</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4"/>
                  </a:ext>
                </a:extLst>
              </a:tr>
              <a:tr h="506928">
                <a:tc>
                  <a:txBody>
                    <a:bodyPr/>
                    <a:lstStyle/>
                    <a:p>
                      <a:pPr algn="ctr"/>
                      <a:r>
                        <a:rPr lang="en-US" sz="1800" kern="1200">
                          <a:solidFill>
                            <a:schemeClr val="accent2"/>
                          </a:solidFill>
                          <a:latin typeface="+mn-lt"/>
                          <a:ea typeface="+mn-ea"/>
                          <a:cs typeface="+mn-cs"/>
                        </a:rPr>
                        <a:t>P5</a:t>
                      </a:r>
                    </a:p>
                  </a:txBody>
                  <a:tcPr anchor="ctr"/>
                </a:tc>
                <a:tc>
                  <a:txBody>
                    <a:bodyPr/>
                    <a:lstStyle/>
                    <a:p>
                      <a:pPr algn="ctr"/>
                      <a:r>
                        <a:rPr lang="en-US" sz="1800" kern="1200">
                          <a:solidFill>
                            <a:schemeClr val="accent2"/>
                          </a:solidFill>
                          <a:latin typeface="+mn-lt"/>
                          <a:ea typeface="+mn-ea"/>
                          <a:cs typeface="+mn-cs"/>
                        </a:rPr>
                        <a:t>2</a:t>
                      </a:r>
                    </a:p>
                  </a:txBody>
                  <a:tcPr anchor="ctr"/>
                </a:tc>
                <a:tc>
                  <a:txBody>
                    <a:bodyPr/>
                    <a:lstStyle/>
                    <a:p>
                      <a:pPr algn="ctr"/>
                      <a:r>
                        <a:rPr lang="en-US" sz="1800" kern="1200">
                          <a:solidFill>
                            <a:schemeClr val="accent2"/>
                          </a:solidFill>
                          <a:latin typeface="+mn-lt"/>
                          <a:ea typeface="+mn-ea"/>
                          <a:cs typeface="+mn-cs"/>
                        </a:rPr>
                        <a:t>1</a:t>
                      </a:r>
                    </a:p>
                  </a:txBody>
                  <a:tcPr anchor="ctr"/>
                </a:tc>
                <a:tc>
                  <a:txBody>
                    <a:bodyPr/>
                    <a:lstStyle/>
                    <a:p>
                      <a:pPr algn="ctr"/>
                      <a:r>
                        <a:rPr lang="en-US" sz="1800" kern="1200">
                          <a:solidFill>
                            <a:schemeClr val="accent2"/>
                          </a:solidFill>
                          <a:latin typeface="+mn-lt"/>
                          <a:ea typeface="+mn-ea"/>
                          <a:cs typeface="+mn-cs"/>
                        </a:rPr>
                        <a:t>1</a:t>
                      </a:r>
                    </a:p>
                  </a:txBody>
                  <a:tcPr anchor="ctr"/>
                </a:tc>
                <a:tc>
                  <a:txBody>
                    <a:bodyPr/>
                    <a:lstStyle/>
                    <a:p>
                      <a:pPr algn="ctr"/>
                      <a:r>
                        <a:rPr lang="en-US" sz="1800" kern="1200">
                          <a:solidFill>
                            <a:schemeClr val="accent2"/>
                          </a:solidFill>
                          <a:latin typeface="+mn-lt"/>
                          <a:ea typeface="+mn-ea"/>
                          <a:cs typeface="+mn-cs"/>
                        </a:rPr>
                        <a:t>0</a:t>
                      </a:r>
                    </a:p>
                  </a:txBody>
                  <a:tcPr anchor="ctr"/>
                </a:tc>
                <a:extLst>
                  <a:ext uri="{0D108BD9-81ED-4DB2-BD59-A6C34878D82A}">
                    <a16:rowId xmlns="" xmlns:a16="http://schemas.microsoft.com/office/drawing/2014/main" val="10005"/>
                  </a:ext>
                </a:extLst>
              </a:tr>
            </a:tbl>
          </a:graphicData>
        </a:graphic>
      </p:graphicFrame>
      <p:sp>
        <p:nvSpPr>
          <p:cNvPr id="62" name="TextBox 61"/>
          <p:cNvSpPr txBox="1"/>
          <p:nvPr/>
        </p:nvSpPr>
        <p:spPr>
          <a:xfrm>
            <a:off x="762000" y="2401884"/>
            <a:ext cx="2514600" cy="369332"/>
          </a:xfrm>
          <a:prstGeom prst="rect">
            <a:avLst/>
          </a:prstGeom>
          <a:noFill/>
        </p:spPr>
        <p:txBody>
          <a:bodyPr wrap="square" rtlCol="0">
            <a:spAutoFit/>
          </a:bodyPr>
          <a:lstStyle/>
          <a:p>
            <a:r>
              <a:rPr lang="en-US"/>
              <a:t>total no of each resource</a:t>
            </a:r>
          </a:p>
        </p:txBody>
      </p:sp>
      <p:sp>
        <p:nvSpPr>
          <p:cNvPr id="63" name="TextBox 62"/>
          <p:cNvSpPr txBox="1"/>
          <p:nvPr/>
        </p:nvSpPr>
        <p:spPr>
          <a:xfrm>
            <a:off x="4744959" y="2400298"/>
            <a:ext cx="2514600" cy="369332"/>
          </a:xfrm>
          <a:prstGeom prst="rect">
            <a:avLst/>
          </a:prstGeom>
          <a:noFill/>
        </p:spPr>
        <p:txBody>
          <a:bodyPr wrap="square" rtlCol="0">
            <a:spAutoFit/>
          </a:bodyPr>
          <a:lstStyle/>
          <a:p>
            <a:r>
              <a:rPr lang="en-US"/>
              <a:t>resources hold</a:t>
            </a:r>
          </a:p>
        </p:txBody>
      </p:sp>
      <p:sp>
        <p:nvSpPr>
          <p:cNvPr id="64" name="TextBox 63"/>
          <p:cNvSpPr txBox="1"/>
          <p:nvPr/>
        </p:nvSpPr>
        <p:spPr>
          <a:xfrm rot="16200000">
            <a:off x="2520571" y="4433133"/>
            <a:ext cx="3526006" cy="646331"/>
          </a:xfrm>
          <a:prstGeom prst="rect">
            <a:avLst/>
          </a:prstGeom>
          <a:noFill/>
          <a:ln w="28575">
            <a:solidFill>
              <a:schemeClr val="tx2">
                <a:lumMod val="60000"/>
                <a:lumOff val="40000"/>
              </a:schemeClr>
            </a:solidFill>
          </a:ln>
        </p:spPr>
        <p:txBody>
          <a:bodyPr wrap="square" rtlCol="0">
            <a:spAutoFit/>
          </a:bodyPr>
          <a:lstStyle/>
          <a:p>
            <a:r>
              <a:rPr lang="en-US"/>
              <a:t>no of resources held by each process</a:t>
            </a:r>
          </a:p>
        </p:txBody>
      </p:sp>
      <p:graphicFrame>
        <p:nvGraphicFramePr>
          <p:cNvPr id="23" name="Table 22"/>
          <p:cNvGraphicFramePr>
            <a:graphicFrameLocks noGrp="1"/>
          </p:cNvGraphicFramePr>
          <p:nvPr>
            <p:extLst>
              <p:ext uri="{D42A27DB-BD31-4B8C-83A1-F6EECF244321}">
                <p14:modId xmlns:p14="http://schemas.microsoft.com/office/powerpoint/2010/main" val="1647395958"/>
              </p:ext>
            </p:extLst>
          </p:nvPr>
        </p:nvGraphicFramePr>
        <p:xfrm>
          <a:off x="872791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4</a:t>
                      </a:r>
                    </a:p>
                  </a:txBody>
                  <a:tcPr anchor="ctr"/>
                </a:tc>
                <a:tc>
                  <a:txBody>
                    <a:bodyPr/>
                    <a:lstStyle/>
                    <a:p>
                      <a:pPr algn="ctr"/>
                      <a:r>
                        <a:rPr lang="en-US"/>
                        <a:t>2</a:t>
                      </a:r>
                    </a:p>
                  </a:txBody>
                  <a:tcPr anchor="ctr"/>
                </a:tc>
                <a:tc>
                  <a:txBody>
                    <a:bodyPr/>
                    <a:lstStyle/>
                    <a:p>
                      <a:pPr algn="ctr"/>
                      <a:r>
                        <a:rPr lang="en-US"/>
                        <a:t>3</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sp>
        <p:nvSpPr>
          <p:cNvPr id="24" name="TextBox 23"/>
          <p:cNvSpPr txBox="1"/>
          <p:nvPr/>
        </p:nvSpPr>
        <p:spPr>
          <a:xfrm>
            <a:off x="8727919" y="2396172"/>
            <a:ext cx="2514600" cy="369332"/>
          </a:xfrm>
          <a:prstGeom prst="rect">
            <a:avLst/>
          </a:prstGeom>
          <a:noFill/>
        </p:spPr>
        <p:txBody>
          <a:bodyPr wrap="square" rtlCol="0">
            <a:spAutoFit/>
          </a:bodyPr>
          <a:lstStyle/>
          <a:p>
            <a:r>
              <a:rPr lang="en-US"/>
              <a:t>available (free) resources</a:t>
            </a:r>
          </a:p>
        </p:txBody>
      </p:sp>
    </p:spTree>
    <p:extLst>
      <p:ext uri="{BB962C8B-B14F-4D97-AF65-F5344CB8AC3E}">
        <p14:creationId xmlns:p14="http://schemas.microsoft.com/office/powerpoint/2010/main" val="2262064670"/>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p:cNvGraphicFramePr>
            <a:graphicFrameLocks noGrp="1"/>
          </p:cNvGraphicFramePr>
          <p:nvPr>
            <p:extLst>
              <p:ext uri="{D42A27DB-BD31-4B8C-83A1-F6EECF244321}">
                <p14:modId xmlns:p14="http://schemas.microsoft.com/office/powerpoint/2010/main" val="1538085589"/>
              </p:ext>
            </p:extLst>
          </p:nvPr>
        </p:nvGraphicFramePr>
        <p:xfrm>
          <a:off x="5604666" y="2975304"/>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bg2"/>
                          </a:solidFill>
                        </a:rPr>
                        <a:t>P1</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1"/>
                  </a:ext>
                </a:extLst>
              </a:tr>
              <a:tr h="506928">
                <a:tc>
                  <a:txBody>
                    <a:bodyPr/>
                    <a:lstStyle/>
                    <a:p>
                      <a:pPr algn="ctr"/>
                      <a:r>
                        <a:rPr lang="en-US">
                          <a:solidFill>
                            <a:schemeClr val="bg2"/>
                          </a:solidFill>
                        </a:rPr>
                        <a:t>P2</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2"/>
                  </a:ext>
                </a:extLst>
              </a:tr>
              <a:tr h="506928">
                <a:tc>
                  <a:txBody>
                    <a:bodyPr/>
                    <a:lstStyle/>
                    <a:p>
                      <a:pPr algn="ctr"/>
                      <a:r>
                        <a:rPr lang="en-US">
                          <a:solidFill>
                            <a:schemeClr val="bg2"/>
                          </a:solidFill>
                        </a:rPr>
                        <a:t>P3</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4"/>
                  </a:ext>
                </a:extLst>
              </a:tr>
              <a:tr h="506928">
                <a:tc>
                  <a:txBody>
                    <a:bodyPr/>
                    <a:lstStyle/>
                    <a:p>
                      <a:pPr algn="ctr"/>
                      <a:r>
                        <a:rPr lang="en-US">
                          <a:solidFill>
                            <a:schemeClr val="bg2"/>
                          </a:solidFill>
                        </a:rPr>
                        <a:t>P5</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tc>
                  <a:txBody>
                    <a:bodyPr/>
                    <a:lstStyle/>
                    <a:p>
                      <a:pPr algn="ctr"/>
                      <a:r>
                        <a:rPr lang="en-US">
                          <a:solidFill>
                            <a:schemeClr val="bg2"/>
                          </a:solidFill>
                        </a:rPr>
                        <a:t>0</a:t>
                      </a:r>
                    </a:p>
                  </a:txBody>
                  <a:tcPr anchor="ctr"/>
                </a:tc>
                <a:extLst>
                  <a:ext uri="{0D108BD9-81ED-4DB2-BD59-A6C34878D82A}">
                    <a16:rowId xmlns="" xmlns:a16="http://schemas.microsoft.com/office/drawing/2014/main" val="10005"/>
                  </a:ext>
                </a:extLst>
              </a:tr>
            </a:tbl>
          </a:graphicData>
        </a:graphic>
      </p:graphicFrame>
      <p:sp>
        <p:nvSpPr>
          <p:cNvPr id="26" name="TextBox 25"/>
          <p:cNvSpPr txBox="1"/>
          <p:nvPr/>
        </p:nvSpPr>
        <p:spPr>
          <a:xfrm rot="16200000">
            <a:off x="7359470" y="4431909"/>
            <a:ext cx="3523562" cy="646331"/>
          </a:xfrm>
          <a:prstGeom prst="rect">
            <a:avLst/>
          </a:prstGeom>
          <a:noFill/>
          <a:ln w="28575">
            <a:solidFill>
              <a:schemeClr val="tx2">
                <a:lumMod val="60000"/>
                <a:lumOff val="40000"/>
              </a:schemeClr>
            </a:solidFill>
          </a:ln>
        </p:spPr>
        <p:txBody>
          <a:bodyPr wrap="square" rtlCol="0">
            <a:spAutoFit/>
          </a:bodyPr>
          <a:lstStyle/>
          <a:p>
            <a:r>
              <a:rPr lang="en-US"/>
              <a:t>no of resources still needed by each process to proceed</a:t>
            </a:r>
          </a:p>
        </p:txBody>
      </p:sp>
      <p:sp>
        <p:nvSpPr>
          <p:cNvPr id="2" name="Title 1"/>
          <p:cNvSpPr>
            <a:spLocks noGrp="1"/>
          </p:cNvSpPr>
          <p:nvPr>
            <p:ph type="title"/>
          </p:nvPr>
        </p:nvSpPr>
        <p:spPr/>
        <p:txBody>
          <a:bodyPr>
            <a:normAutofit/>
          </a:bodyPr>
          <a:lstStyle/>
          <a:p>
            <a:r>
              <a:rPr lang="en-US" sz="3600"/>
              <a:t>Banker’s algorithm for multiple resource</a:t>
            </a:r>
            <a:endParaRPr lang="en-US"/>
          </a:p>
        </p:txBody>
      </p:sp>
      <p:graphicFrame>
        <p:nvGraphicFramePr>
          <p:cNvPr id="55" name="Table 54"/>
          <p:cNvGraphicFramePr>
            <a:graphicFrameLocks noGrp="1"/>
          </p:cNvGraphicFramePr>
          <p:nvPr>
            <p:extLst>
              <p:ext uri="{D42A27DB-BD31-4B8C-83A1-F6EECF244321}">
                <p14:modId xmlns:p14="http://schemas.microsoft.com/office/powerpoint/2010/main" val="2519133243"/>
              </p:ext>
            </p:extLst>
          </p:nvPr>
        </p:nvGraphicFramePr>
        <p:xfrm>
          <a:off x="762000"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6</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1582017423"/>
              </p:ext>
            </p:extLst>
          </p:nvPr>
        </p:nvGraphicFramePr>
        <p:xfrm>
          <a:off x="474495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5</a:t>
                      </a:r>
                    </a:p>
                  </a:txBody>
                  <a:tcPr anchor="ctr"/>
                </a:tc>
                <a:tc>
                  <a:txBody>
                    <a:bodyPr/>
                    <a:lstStyle/>
                    <a:p>
                      <a:pPr algn="ctr"/>
                      <a:r>
                        <a:rPr lang="en-US"/>
                        <a:t>3</a:t>
                      </a:r>
                    </a:p>
                  </a:txBody>
                  <a:tcPr anchor="ctr"/>
                </a:tc>
                <a:tc>
                  <a:txBody>
                    <a:bodyPr/>
                    <a:lstStyle/>
                    <a:p>
                      <a:pPr algn="ctr"/>
                      <a:r>
                        <a:rPr lang="en-US"/>
                        <a:t>2</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8" name="Table 57"/>
          <p:cNvGraphicFramePr>
            <a:graphicFrameLocks noGrp="1"/>
          </p:cNvGraphicFramePr>
          <p:nvPr>
            <p:extLst>
              <p:ext uri="{D42A27DB-BD31-4B8C-83A1-F6EECF244321}">
                <p14:modId xmlns:p14="http://schemas.microsoft.com/office/powerpoint/2010/main" val="2505906074"/>
              </p:ext>
            </p:extLst>
          </p:nvPr>
        </p:nvGraphicFramePr>
        <p:xfrm>
          <a:off x="762000" y="2977750"/>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bg2"/>
                          </a:solidFill>
                        </a:rPr>
                        <a:t>P1</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1"/>
                  </a:ext>
                </a:extLst>
              </a:tr>
              <a:tr h="506928">
                <a:tc>
                  <a:txBody>
                    <a:bodyPr/>
                    <a:lstStyle/>
                    <a:p>
                      <a:pPr algn="ctr"/>
                      <a:r>
                        <a:rPr lang="en-US">
                          <a:solidFill>
                            <a:schemeClr val="bg2"/>
                          </a:solidFill>
                        </a:rPr>
                        <a:t>P2</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2"/>
                  </a:ext>
                </a:extLst>
              </a:tr>
              <a:tr h="506928">
                <a:tc>
                  <a:txBody>
                    <a:bodyPr/>
                    <a:lstStyle/>
                    <a:p>
                      <a:pPr algn="ctr"/>
                      <a:r>
                        <a:rPr lang="en-US">
                          <a:solidFill>
                            <a:schemeClr val="bg2"/>
                          </a:solidFill>
                        </a:rPr>
                        <a:t>P3</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bg2"/>
                          </a:solidFill>
                        </a:rPr>
                        <a:t>P4</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4"/>
                  </a:ext>
                </a:extLst>
              </a:tr>
              <a:tr h="506928">
                <a:tc>
                  <a:txBody>
                    <a:bodyPr/>
                    <a:lstStyle/>
                    <a:p>
                      <a:pPr algn="ctr"/>
                      <a:r>
                        <a:rPr lang="en-US">
                          <a:solidFill>
                            <a:schemeClr val="bg2"/>
                          </a:solidFill>
                        </a:rPr>
                        <a:t>P5</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tc>
                  <a:txBody>
                    <a:bodyPr/>
                    <a:lstStyle/>
                    <a:p>
                      <a:pPr algn="ctr"/>
                      <a:r>
                        <a:rPr lang="en-US">
                          <a:solidFill>
                            <a:schemeClr val="bg2"/>
                          </a:solidFill>
                        </a:rPr>
                        <a:t>-</a:t>
                      </a:r>
                    </a:p>
                  </a:txBody>
                  <a:tcPr anchor="ctr"/>
                </a:tc>
                <a:extLst>
                  <a:ext uri="{0D108BD9-81ED-4DB2-BD59-A6C34878D82A}">
                    <a16:rowId xmlns="" xmlns:a16="http://schemas.microsoft.com/office/drawing/2014/main" val="10005"/>
                  </a:ext>
                </a:extLst>
              </a:tr>
            </a:tbl>
          </a:graphicData>
        </a:graphic>
      </p:graphicFrame>
      <p:sp>
        <p:nvSpPr>
          <p:cNvPr id="62" name="TextBox 61"/>
          <p:cNvSpPr txBox="1"/>
          <p:nvPr/>
        </p:nvSpPr>
        <p:spPr>
          <a:xfrm>
            <a:off x="762000" y="2401884"/>
            <a:ext cx="2514600" cy="369332"/>
          </a:xfrm>
          <a:prstGeom prst="rect">
            <a:avLst/>
          </a:prstGeom>
          <a:noFill/>
        </p:spPr>
        <p:txBody>
          <a:bodyPr wrap="square" rtlCol="0">
            <a:spAutoFit/>
          </a:bodyPr>
          <a:lstStyle/>
          <a:p>
            <a:r>
              <a:rPr lang="en-US"/>
              <a:t>total no of each resource</a:t>
            </a:r>
          </a:p>
        </p:txBody>
      </p:sp>
      <p:sp>
        <p:nvSpPr>
          <p:cNvPr id="63" name="TextBox 62"/>
          <p:cNvSpPr txBox="1"/>
          <p:nvPr/>
        </p:nvSpPr>
        <p:spPr>
          <a:xfrm>
            <a:off x="4744959" y="2400298"/>
            <a:ext cx="2514600" cy="369332"/>
          </a:xfrm>
          <a:prstGeom prst="rect">
            <a:avLst/>
          </a:prstGeom>
          <a:noFill/>
        </p:spPr>
        <p:txBody>
          <a:bodyPr wrap="square" rtlCol="0">
            <a:spAutoFit/>
          </a:bodyPr>
          <a:lstStyle/>
          <a:p>
            <a:r>
              <a:rPr lang="en-US"/>
              <a:t>resources hold</a:t>
            </a:r>
          </a:p>
        </p:txBody>
      </p:sp>
      <p:sp>
        <p:nvSpPr>
          <p:cNvPr id="64" name="TextBox 63"/>
          <p:cNvSpPr txBox="1"/>
          <p:nvPr/>
        </p:nvSpPr>
        <p:spPr>
          <a:xfrm rot="16200000">
            <a:off x="2520571" y="4433133"/>
            <a:ext cx="3526006" cy="646331"/>
          </a:xfrm>
          <a:prstGeom prst="rect">
            <a:avLst/>
          </a:prstGeom>
          <a:noFill/>
          <a:ln w="28575">
            <a:solidFill>
              <a:schemeClr val="tx2">
                <a:lumMod val="60000"/>
                <a:lumOff val="40000"/>
              </a:schemeClr>
            </a:solidFill>
          </a:ln>
        </p:spPr>
        <p:txBody>
          <a:bodyPr wrap="square" rtlCol="0">
            <a:spAutoFit/>
          </a:bodyPr>
          <a:lstStyle/>
          <a:p>
            <a:r>
              <a:rPr lang="en-US"/>
              <a:t>no of resources held by each process</a:t>
            </a:r>
          </a:p>
        </p:txBody>
      </p:sp>
      <p:graphicFrame>
        <p:nvGraphicFramePr>
          <p:cNvPr id="23" name="Table 22"/>
          <p:cNvGraphicFramePr>
            <a:graphicFrameLocks noGrp="1"/>
          </p:cNvGraphicFramePr>
          <p:nvPr>
            <p:extLst>
              <p:ext uri="{D42A27DB-BD31-4B8C-83A1-F6EECF244321}">
                <p14:modId xmlns:p14="http://schemas.microsoft.com/office/powerpoint/2010/main" val="3605533149"/>
              </p:ext>
            </p:extLst>
          </p:nvPr>
        </p:nvGraphicFramePr>
        <p:xfrm>
          <a:off x="872791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6</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sp>
        <p:nvSpPr>
          <p:cNvPr id="24" name="TextBox 23"/>
          <p:cNvSpPr txBox="1"/>
          <p:nvPr/>
        </p:nvSpPr>
        <p:spPr>
          <a:xfrm>
            <a:off x="8727919" y="2396172"/>
            <a:ext cx="2514600" cy="369332"/>
          </a:xfrm>
          <a:prstGeom prst="rect">
            <a:avLst/>
          </a:prstGeom>
          <a:noFill/>
        </p:spPr>
        <p:txBody>
          <a:bodyPr wrap="square" rtlCol="0">
            <a:spAutoFit/>
          </a:bodyPr>
          <a:lstStyle/>
          <a:p>
            <a:r>
              <a:rPr lang="en-US"/>
              <a:t>available (free) resources</a:t>
            </a:r>
          </a:p>
        </p:txBody>
      </p:sp>
      <p:pic>
        <p:nvPicPr>
          <p:cNvPr id="14" name="Content Placeholder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5219" y="3739506"/>
            <a:ext cx="1828800" cy="1828800"/>
          </a:xfrm>
          <a:prstGeom prst="rect">
            <a:avLst/>
          </a:prstGeom>
        </p:spPr>
      </p:pic>
    </p:spTree>
    <p:extLst>
      <p:ext uri="{BB962C8B-B14F-4D97-AF65-F5344CB8AC3E}">
        <p14:creationId xmlns:p14="http://schemas.microsoft.com/office/powerpoint/2010/main" val="324537157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p:cNvGraphicFramePr>
            <a:graphicFrameLocks noGrp="1"/>
          </p:cNvGraphicFramePr>
          <p:nvPr>
            <p:extLst>
              <p:ext uri="{D42A27DB-BD31-4B8C-83A1-F6EECF244321}">
                <p14:modId xmlns:p14="http://schemas.microsoft.com/office/powerpoint/2010/main" val="3786090081"/>
              </p:ext>
            </p:extLst>
          </p:nvPr>
        </p:nvGraphicFramePr>
        <p:xfrm>
          <a:off x="5604666" y="2975304"/>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tx1"/>
                          </a:solidFill>
                        </a:rPr>
                        <a:t>P1</a:t>
                      </a:r>
                    </a:p>
                  </a:txBody>
                  <a:tcPr anchor="ctr"/>
                </a:tc>
                <a:tc>
                  <a:txBody>
                    <a:bodyPr/>
                    <a:lstStyle/>
                    <a:p>
                      <a:pPr algn="ctr"/>
                      <a:r>
                        <a:rPr lang="en-US">
                          <a:solidFill>
                            <a:schemeClr val="tx1"/>
                          </a:solidFill>
                        </a:rPr>
                        <a:t>1</a:t>
                      </a:r>
                    </a:p>
                  </a:txBody>
                  <a:tcPr anchor="ctr"/>
                </a:tc>
                <a:tc>
                  <a:txBody>
                    <a:bodyPr/>
                    <a:lstStyle/>
                    <a:p>
                      <a:pPr algn="ctr"/>
                      <a:r>
                        <a:rPr lang="en-US">
                          <a:solidFill>
                            <a:schemeClr val="tx1"/>
                          </a:solidFill>
                        </a:rPr>
                        <a:t>1</a:t>
                      </a:r>
                    </a:p>
                  </a:txBody>
                  <a:tcPr anchor="ctr"/>
                </a:tc>
                <a:tc>
                  <a:txBody>
                    <a:bodyPr/>
                    <a:lstStyle/>
                    <a:p>
                      <a:pPr algn="ctr"/>
                      <a:r>
                        <a:rPr lang="en-US">
                          <a:solidFill>
                            <a:schemeClr val="tx1"/>
                          </a:solidFill>
                        </a:rPr>
                        <a:t>0</a:t>
                      </a:r>
                    </a:p>
                  </a:txBody>
                  <a:tcPr anchor="ctr"/>
                </a:tc>
                <a:tc>
                  <a:txBody>
                    <a:bodyPr/>
                    <a:lstStyle/>
                    <a:p>
                      <a:pPr algn="ctr"/>
                      <a:r>
                        <a:rPr lang="en-US">
                          <a:solidFill>
                            <a:schemeClr val="tx1"/>
                          </a:solidFill>
                        </a:rPr>
                        <a:t>0</a:t>
                      </a:r>
                    </a:p>
                  </a:txBody>
                  <a:tcPr anchor="ctr"/>
                </a:tc>
                <a:extLst>
                  <a:ext uri="{0D108BD9-81ED-4DB2-BD59-A6C34878D82A}">
                    <a16:rowId xmlns="" xmlns:a16="http://schemas.microsoft.com/office/drawing/2014/main" val="10001"/>
                  </a:ext>
                </a:extLst>
              </a:tr>
              <a:tr h="506928">
                <a:tc>
                  <a:txBody>
                    <a:bodyPr/>
                    <a:lstStyle/>
                    <a:p>
                      <a:pPr algn="ctr"/>
                      <a:r>
                        <a:rPr lang="en-US">
                          <a:solidFill>
                            <a:schemeClr val="tx1"/>
                          </a:solidFill>
                        </a:rPr>
                        <a:t>P2</a:t>
                      </a:r>
                    </a:p>
                  </a:txBody>
                  <a:tcPr anchor="ctr"/>
                </a:tc>
                <a:tc>
                  <a:txBody>
                    <a:bodyPr/>
                    <a:lstStyle/>
                    <a:p>
                      <a:pPr algn="ctr"/>
                      <a:r>
                        <a:rPr lang="en-US">
                          <a:solidFill>
                            <a:schemeClr val="tx1"/>
                          </a:solidFill>
                        </a:rPr>
                        <a:t>0</a:t>
                      </a:r>
                    </a:p>
                  </a:txBody>
                  <a:tcPr anchor="ctr"/>
                </a:tc>
                <a:tc>
                  <a:txBody>
                    <a:bodyPr/>
                    <a:lstStyle/>
                    <a:p>
                      <a:pPr algn="ctr"/>
                      <a:r>
                        <a:rPr lang="en-US">
                          <a:solidFill>
                            <a:schemeClr val="tx1"/>
                          </a:solidFill>
                        </a:rPr>
                        <a:t>1</a:t>
                      </a:r>
                    </a:p>
                  </a:txBody>
                  <a:tcPr anchor="ctr"/>
                </a:tc>
                <a:tc>
                  <a:txBody>
                    <a:bodyPr/>
                    <a:lstStyle/>
                    <a:p>
                      <a:pPr algn="ctr"/>
                      <a:r>
                        <a:rPr lang="en-US">
                          <a:solidFill>
                            <a:schemeClr val="tx1"/>
                          </a:solidFill>
                        </a:rPr>
                        <a:t>1</a:t>
                      </a:r>
                    </a:p>
                  </a:txBody>
                  <a:tcPr anchor="ctr"/>
                </a:tc>
                <a:tc>
                  <a:txBody>
                    <a:bodyPr/>
                    <a:lstStyle/>
                    <a:p>
                      <a:pPr algn="ctr"/>
                      <a:r>
                        <a:rPr lang="en-US">
                          <a:solidFill>
                            <a:schemeClr val="tx1"/>
                          </a:solidFill>
                        </a:rPr>
                        <a:t>2</a:t>
                      </a:r>
                    </a:p>
                  </a:txBody>
                  <a:tcPr anchor="ctr"/>
                </a:tc>
                <a:extLst>
                  <a:ext uri="{0D108BD9-81ED-4DB2-BD59-A6C34878D82A}">
                    <a16:rowId xmlns="" xmlns:a16="http://schemas.microsoft.com/office/drawing/2014/main" val="10002"/>
                  </a:ext>
                </a:extLst>
              </a:tr>
              <a:tr h="506928">
                <a:tc>
                  <a:txBody>
                    <a:bodyPr/>
                    <a:lstStyle/>
                    <a:p>
                      <a:pPr algn="ctr"/>
                      <a:r>
                        <a:rPr lang="en-US">
                          <a:solidFill>
                            <a:schemeClr val="tx1"/>
                          </a:solidFill>
                        </a:rPr>
                        <a:t>P3</a:t>
                      </a:r>
                    </a:p>
                  </a:txBody>
                  <a:tcPr anchor="ctr"/>
                </a:tc>
                <a:tc>
                  <a:txBody>
                    <a:bodyPr/>
                    <a:lstStyle/>
                    <a:p>
                      <a:pPr algn="ctr"/>
                      <a:r>
                        <a:rPr lang="en-US">
                          <a:solidFill>
                            <a:schemeClr val="tx1"/>
                          </a:solidFill>
                        </a:rPr>
                        <a:t>3</a:t>
                      </a:r>
                    </a:p>
                  </a:txBody>
                  <a:tcPr anchor="ctr"/>
                </a:tc>
                <a:tc>
                  <a:txBody>
                    <a:bodyPr/>
                    <a:lstStyle/>
                    <a:p>
                      <a:pPr algn="ctr"/>
                      <a:r>
                        <a:rPr lang="en-US">
                          <a:solidFill>
                            <a:schemeClr val="tx1"/>
                          </a:solidFill>
                        </a:rPr>
                        <a:t>1</a:t>
                      </a:r>
                    </a:p>
                  </a:txBody>
                  <a:tcPr anchor="ctr"/>
                </a:tc>
                <a:tc>
                  <a:txBody>
                    <a:bodyPr/>
                    <a:lstStyle/>
                    <a:p>
                      <a:pPr algn="ctr"/>
                      <a:r>
                        <a:rPr lang="en-US">
                          <a:solidFill>
                            <a:schemeClr val="tx1"/>
                          </a:solidFill>
                        </a:rPr>
                        <a:t>0</a:t>
                      </a:r>
                    </a:p>
                  </a:txBody>
                  <a:tcPr anchor="ctr"/>
                </a:tc>
                <a:tc>
                  <a:txBody>
                    <a:bodyPr/>
                    <a:lstStyle/>
                    <a:p>
                      <a:pPr algn="ctr"/>
                      <a:r>
                        <a:rPr lang="en-US">
                          <a:solidFill>
                            <a:schemeClr val="tx1"/>
                          </a:solidFill>
                        </a:rPr>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tx1"/>
                          </a:solidFill>
                        </a:rPr>
                        <a:t>P4</a:t>
                      </a:r>
                    </a:p>
                  </a:txBody>
                  <a:tcPr anchor="ctr"/>
                </a:tc>
                <a:tc>
                  <a:txBody>
                    <a:bodyPr/>
                    <a:lstStyle/>
                    <a:p>
                      <a:pPr algn="ctr"/>
                      <a:r>
                        <a:rPr lang="en-US">
                          <a:solidFill>
                            <a:schemeClr val="tx1"/>
                          </a:solidFill>
                        </a:rPr>
                        <a:t>0</a:t>
                      </a:r>
                    </a:p>
                  </a:txBody>
                  <a:tcPr anchor="ctr"/>
                </a:tc>
                <a:tc>
                  <a:txBody>
                    <a:bodyPr/>
                    <a:lstStyle/>
                    <a:p>
                      <a:pPr algn="ctr"/>
                      <a:r>
                        <a:rPr lang="en-US">
                          <a:solidFill>
                            <a:schemeClr val="tx1"/>
                          </a:solidFill>
                        </a:rPr>
                        <a:t>0</a:t>
                      </a:r>
                    </a:p>
                  </a:txBody>
                  <a:tcPr anchor="ctr"/>
                </a:tc>
                <a:tc>
                  <a:txBody>
                    <a:bodyPr/>
                    <a:lstStyle/>
                    <a:p>
                      <a:pPr algn="ctr"/>
                      <a:r>
                        <a:rPr lang="en-US">
                          <a:solidFill>
                            <a:schemeClr val="tx1"/>
                          </a:solidFill>
                        </a:rPr>
                        <a:t>1</a:t>
                      </a:r>
                    </a:p>
                  </a:txBody>
                  <a:tcPr anchor="ctr"/>
                </a:tc>
                <a:tc>
                  <a:txBody>
                    <a:bodyPr/>
                    <a:lstStyle/>
                    <a:p>
                      <a:pPr algn="ctr"/>
                      <a:r>
                        <a:rPr lang="en-US">
                          <a:solidFill>
                            <a:schemeClr val="tx1"/>
                          </a:solidFill>
                        </a:rPr>
                        <a:t>1</a:t>
                      </a:r>
                    </a:p>
                  </a:txBody>
                  <a:tcPr anchor="ctr"/>
                </a:tc>
                <a:extLst>
                  <a:ext uri="{0D108BD9-81ED-4DB2-BD59-A6C34878D82A}">
                    <a16:rowId xmlns="" xmlns:a16="http://schemas.microsoft.com/office/drawing/2014/main" val="10004"/>
                  </a:ext>
                </a:extLst>
              </a:tr>
              <a:tr h="506928">
                <a:tc>
                  <a:txBody>
                    <a:bodyPr/>
                    <a:lstStyle/>
                    <a:p>
                      <a:pPr algn="ctr"/>
                      <a:r>
                        <a:rPr lang="en-US">
                          <a:solidFill>
                            <a:schemeClr val="tx1"/>
                          </a:solidFill>
                        </a:rPr>
                        <a:t>P5</a:t>
                      </a:r>
                    </a:p>
                  </a:txBody>
                  <a:tcPr anchor="ctr"/>
                </a:tc>
                <a:tc>
                  <a:txBody>
                    <a:bodyPr/>
                    <a:lstStyle/>
                    <a:p>
                      <a:pPr algn="ctr"/>
                      <a:r>
                        <a:rPr lang="en-US">
                          <a:solidFill>
                            <a:schemeClr val="tx1"/>
                          </a:solidFill>
                        </a:rPr>
                        <a:t>2</a:t>
                      </a:r>
                    </a:p>
                  </a:txBody>
                  <a:tcPr anchor="ctr"/>
                </a:tc>
                <a:tc>
                  <a:txBody>
                    <a:bodyPr/>
                    <a:lstStyle/>
                    <a:p>
                      <a:pPr algn="ctr"/>
                      <a:r>
                        <a:rPr lang="en-US">
                          <a:solidFill>
                            <a:schemeClr val="tx1"/>
                          </a:solidFill>
                        </a:rPr>
                        <a:t>1</a:t>
                      </a:r>
                    </a:p>
                  </a:txBody>
                  <a:tcPr anchor="ctr"/>
                </a:tc>
                <a:tc>
                  <a:txBody>
                    <a:bodyPr/>
                    <a:lstStyle/>
                    <a:p>
                      <a:pPr algn="ctr"/>
                      <a:r>
                        <a:rPr lang="en-US">
                          <a:solidFill>
                            <a:schemeClr val="tx1"/>
                          </a:solidFill>
                        </a:rPr>
                        <a:t>1</a:t>
                      </a:r>
                    </a:p>
                  </a:txBody>
                  <a:tcPr anchor="ctr"/>
                </a:tc>
                <a:tc>
                  <a:txBody>
                    <a:bodyPr/>
                    <a:lstStyle/>
                    <a:p>
                      <a:pPr algn="ctr"/>
                      <a:r>
                        <a:rPr lang="en-US">
                          <a:solidFill>
                            <a:schemeClr val="tx1"/>
                          </a:solidFill>
                        </a:rPr>
                        <a:t>0</a:t>
                      </a:r>
                    </a:p>
                  </a:txBody>
                  <a:tcPr anchor="ctr"/>
                </a:tc>
                <a:extLst>
                  <a:ext uri="{0D108BD9-81ED-4DB2-BD59-A6C34878D82A}">
                    <a16:rowId xmlns="" xmlns:a16="http://schemas.microsoft.com/office/drawing/2014/main" val="10005"/>
                  </a:ext>
                </a:extLst>
              </a:tr>
            </a:tbl>
          </a:graphicData>
        </a:graphic>
      </p:graphicFrame>
      <p:sp>
        <p:nvSpPr>
          <p:cNvPr id="26" name="TextBox 25"/>
          <p:cNvSpPr txBox="1"/>
          <p:nvPr/>
        </p:nvSpPr>
        <p:spPr>
          <a:xfrm rot="16200000">
            <a:off x="7359470" y="4431909"/>
            <a:ext cx="3523562" cy="646331"/>
          </a:xfrm>
          <a:prstGeom prst="rect">
            <a:avLst/>
          </a:prstGeom>
          <a:noFill/>
          <a:ln w="28575">
            <a:solidFill>
              <a:schemeClr val="tx2">
                <a:lumMod val="60000"/>
                <a:lumOff val="40000"/>
              </a:schemeClr>
            </a:solidFill>
          </a:ln>
        </p:spPr>
        <p:txBody>
          <a:bodyPr wrap="square" rtlCol="0">
            <a:spAutoFit/>
          </a:bodyPr>
          <a:lstStyle/>
          <a:p>
            <a:r>
              <a:rPr lang="en-US"/>
              <a:t>no of resources still needed by each process to proceed</a:t>
            </a:r>
          </a:p>
        </p:txBody>
      </p:sp>
      <p:sp>
        <p:nvSpPr>
          <p:cNvPr id="2" name="Title 1"/>
          <p:cNvSpPr>
            <a:spLocks noGrp="1"/>
          </p:cNvSpPr>
          <p:nvPr>
            <p:ph type="title"/>
          </p:nvPr>
        </p:nvSpPr>
        <p:spPr/>
        <p:txBody>
          <a:bodyPr>
            <a:normAutofit/>
          </a:bodyPr>
          <a:lstStyle/>
          <a:p>
            <a:r>
              <a:rPr lang="en-US" sz="3600"/>
              <a:t>Banker’s algorithm for multiple resource</a:t>
            </a:r>
            <a:endParaRPr lang="en-US"/>
          </a:p>
        </p:txBody>
      </p:sp>
      <p:graphicFrame>
        <p:nvGraphicFramePr>
          <p:cNvPr id="55" name="Table 54"/>
          <p:cNvGraphicFramePr>
            <a:graphicFrameLocks noGrp="1"/>
          </p:cNvGraphicFramePr>
          <p:nvPr>
            <p:extLst>
              <p:ext uri="{D42A27DB-BD31-4B8C-83A1-F6EECF244321}">
                <p14:modId xmlns:p14="http://schemas.microsoft.com/office/powerpoint/2010/main" val="2519133243"/>
              </p:ext>
            </p:extLst>
          </p:nvPr>
        </p:nvGraphicFramePr>
        <p:xfrm>
          <a:off x="762000"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6</a:t>
                      </a:r>
                    </a:p>
                  </a:txBody>
                  <a:tcPr anchor="ctr"/>
                </a:tc>
                <a:tc>
                  <a:txBody>
                    <a:bodyPr/>
                    <a:lstStyle/>
                    <a:p>
                      <a:pPr algn="ctr"/>
                      <a:r>
                        <a:rPr lang="en-US"/>
                        <a:t>3</a:t>
                      </a:r>
                    </a:p>
                  </a:txBody>
                  <a:tcPr anchor="ctr"/>
                </a:tc>
                <a:tc>
                  <a:txBody>
                    <a:bodyPr/>
                    <a:lstStyle/>
                    <a:p>
                      <a:pPr algn="ctr"/>
                      <a:r>
                        <a:rPr lang="en-US"/>
                        <a:t>4</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6" name="Table 55"/>
          <p:cNvGraphicFramePr>
            <a:graphicFrameLocks noGrp="1"/>
          </p:cNvGraphicFramePr>
          <p:nvPr>
            <p:extLst>
              <p:ext uri="{D42A27DB-BD31-4B8C-83A1-F6EECF244321}">
                <p14:modId xmlns:p14="http://schemas.microsoft.com/office/powerpoint/2010/main" val="1582017423"/>
              </p:ext>
            </p:extLst>
          </p:nvPr>
        </p:nvGraphicFramePr>
        <p:xfrm>
          <a:off x="474495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5</a:t>
                      </a:r>
                    </a:p>
                  </a:txBody>
                  <a:tcPr anchor="ctr"/>
                </a:tc>
                <a:tc>
                  <a:txBody>
                    <a:bodyPr/>
                    <a:lstStyle/>
                    <a:p>
                      <a:pPr algn="ctr"/>
                      <a:r>
                        <a:rPr lang="en-US"/>
                        <a:t>3</a:t>
                      </a:r>
                    </a:p>
                  </a:txBody>
                  <a:tcPr anchor="ctr"/>
                </a:tc>
                <a:tc>
                  <a:txBody>
                    <a:bodyPr/>
                    <a:lstStyle/>
                    <a:p>
                      <a:pPr algn="ctr"/>
                      <a:r>
                        <a:rPr lang="en-US"/>
                        <a:t>2</a:t>
                      </a:r>
                    </a:p>
                  </a:txBody>
                  <a:tcPr anchor="ctr"/>
                </a:tc>
                <a:tc>
                  <a:txBody>
                    <a:bodyPr/>
                    <a:lstStyle/>
                    <a:p>
                      <a:pPr algn="ctr"/>
                      <a:r>
                        <a:rPr lang="en-US"/>
                        <a:t>2</a:t>
                      </a:r>
                    </a:p>
                  </a:txBody>
                  <a:tcPr anchor="ctr"/>
                </a:tc>
                <a:extLst>
                  <a:ext uri="{0D108BD9-81ED-4DB2-BD59-A6C34878D82A}">
                    <a16:rowId xmlns="" xmlns:a16="http://schemas.microsoft.com/office/drawing/2014/main" val="10001"/>
                  </a:ext>
                </a:extLst>
              </a:tr>
            </a:tbl>
          </a:graphicData>
        </a:graphic>
      </p:graphicFrame>
      <p:graphicFrame>
        <p:nvGraphicFramePr>
          <p:cNvPr id="58" name="Table 57"/>
          <p:cNvGraphicFramePr>
            <a:graphicFrameLocks noGrp="1"/>
          </p:cNvGraphicFramePr>
          <p:nvPr>
            <p:extLst>
              <p:ext uri="{D42A27DB-BD31-4B8C-83A1-F6EECF244321}">
                <p14:modId xmlns:p14="http://schemas.microsoft.com/office/powerpoint/2010/main" val="1780875688"/>
              </p:ext>
            </p:extLst>
          </p:nvPr>
        </p:nvGraphicFramePr>
        <p:xfrm>
          <a:off x="762000" y="2977750"/>
          <a:ext cx="3200400" cy="3541552"/>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tblGrid>
              <a:tr h="1006912">
                <a:tc>
                  <a:txBody>
                    <a:bodyPr/>
                    <a:lstStyle/>
                    <a:p>
                      <a:pPr algn="l"/>
                      <a:r>
                        <a:rPr lang="en-US"/>
                        <a:t>Process</a:t>
                      </a:r>
                    </a:p>
                  </a:txBody>
                  <a:tcPr vert="vert270" anchor="ctr"/>
                </a:tc>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solidFill>
                            <a:schemeClr val="tx1"/>
                          </a:solidFill>
                        </a:rPr>
                        <a:t>P1</a:t>
                      </a:r>
                    </a:p>
                  </a:txBody>
                  <a:tcPr anchor="ctr"/>
                </a:tc>
                <a:tc>
                  <a:txBody>
                    <a:bodyPr/>
                    <a:lstStyle/>
                    <a:p>
                      <a:pPr algn="ctr"/>
                      <a:r>
                        <a:rPr lang="en-US">
                          <a:solidFill>
                            <a:schemeClr val="tx1"/>
                          </a:solidFill>
                        </a:rPr>
                        <a:t>3</a:t>
                      </a:r>
                    </a:p>
                  </a:txBody>
                  <a:tcPr anchor="ctr"/>
                </a:tc>
                <a:tc>
                  <a:txBody>
                    <a:bodyPr/>
                    <a:lstStyle/>
                    <a:p>
                      <a:pPr algn="ctr"/>
                      <a:r>
                        <a:rPr lang="en-US">
                          <a:solidFill>
                            <a:schemeClr val="tx1"/>
                          </a:solidFill>
                        </a:rPr>
                        <a:t>0</a:t>
                      </a:r>
                    </a:p>
                  </a:txBody>
                  <a:tcPr anchor="ctr"/>
                </a:tc>
                <a:tc>
                  <a:txBody>
                    <a:bodyPr/>
                    <a:lstStyle/>
                    <a:p>
                      <a:pPr algn="ctr"/>
                      <a:r>
                        <a:rPr lang="en-US">
                          <a:solidFill>
                            <a:schemeClr val="tx1"/>
                          </a:solidFill>
                        </a:rPr>
                        <a:t>1</a:t>
                      </a:r>
                    </a:p>
                  </a:txBody>
                  <a:tcPr anchor="ctr"/>
                </a:tc>
                <a:tc>
                  <a:txBody>
                    <a:bodyPr/>
                    <a:lstStyle/>
                    <a:p>
                      <a:pPr algn="ctr"/>
                      <a:r>
                        <a:rPr lang="en-US">
                          <a:solidFill>
                            <a:schemeClr val="tx1"/>
                          </a:solidFill>
                        </a:rPr>
                        <a:t>1</a:t>
                      </a:r>
                    </a:p>
                  </a:txBody>
                  <a:tcPr anchor="ctr"/>
                </a:tc>
                <a:extLst>
                  <a:ext uri="{0D108BD9-81ED-4DB2-BD59-A6C34878D82A}">
                    <a16:rowId xmlns="" xmlns:a16="http://schemas.microsoft.com/office/drawing/2014/main" val="10001"/>
                  </a:ext>
                </a:extLst>
              </a:tr>
              <a:tr h="506928">
                <a:tc>
                  <a:txBody>
                    <a:bodyPr/>
                    <a:lstStyle/>
                    <a:p>
                      <a:pPr algn="ctr"/>
                      <a:r>
                        <a:rPr lang="en-US">
                          <a:solidFill>
                            <a:schemeClr val="tx1"/>
                          </a:solidFill>
                        </a:rPr>
                        <a:t>P2</a:t>
                      </a:r>
                    </a:p>
                  </a:txBody>
                  <a:tcPr anchor="ctr"/>
                </a:tc>
                <a:tc>
                  <a:txBody>
                    <a:bodyPr/>
                    <a:lstStyle/>
                    <a:p>
                      <a:pPr algn="ctr"/>
                      <a:r>
                        <a:rPr lang="en-US">
                          <a:solidFill>
                            <a:schemeClr val="tx1"/>
                          </a:solidFill>
                        </a:rPr>
                        <a:t>0</a:t>
                      </a:r>
                    </a:p>
                  </a:txBody>
                  <a:tcPr anchor="ctr"/>
                </a:tc>
                <a:tc>
                  <a:txBody>
                    <a:bodyPr/>
                    <a:lstStyle/>
                    <a:p>
                      <a:pPr algn="ctr"/>
                      <a:r>
                        <a:rPr lang="en-US">
                          <a:solidFill>
                            <a:schemeClr val="tx1"/>
                          </a:solidFill>
                        </a:rPr>
                        <a:t>1</a:t>
                      </a:r>
                    </a:p>
                  </a:txBody>
                  <a:tcPr anchor="ctr"/>
                </a:tc>
                <a:tc>
                  <a:txBody>
                    <a:bodyPr/>
                    <a:lstStyle/>
                    <a:p>
                      <a:pPr algn="ctr"/>
                      <a:r>
                        <a:rPr lang="en-US">
                          <a:solidFill>
                            <a:schemeClr val="tx1"/>
                          </a:solidFill>
                        </a:rPr>
                        <a:t>0</a:t>
                      </a:r>
                    </a:p>
                  </a:txBody>
                  <a:tcPr anchor="ctr"/>
                </a:tc>
                <a:tc>
                  <a:txBody>
                    <a:bodyPr/>
                    <a:lstStyle/>
                    <a:p>
                      <a:pPr algn="ctr"/>
                      <a:r>
                        <a:rPr lang="en-US">
                          <a:solidFill>
                            <a:schemeClr val="tx1"/>
                          </a:solidFill>
                        </a:rPr>
                        <a:t>0</a:t>
                      </a:r>
                    </a:p>
                  </a:txBody>
                  <a:tcPr anchor="ctr"/>
                </a:tc>
                <a:extLst>
                  <a:ext uri="{0D108BD9-81ED-4DB2-BD59-A6C34878D82A}">
                    <a16:rowId xmlns="" xmlns:a16="http://schemas.microsoft.com/office/drawing/2014/main" val="10002"/>
                  </a:ext>
                </a:extLst>
              </a:tr>
              <a:tr h="506928">
                <a:tc>
                  <a:txBody>
                    <a:bodyPr/>
                    <a:lstStyle/>
                    <a:p>
                      <a:pPr algn="ctr"/>
                      <a:r>
                        <a:rPr lang="en-US">
                          <a:solidFill>
                            <a:schemeClr val="tx1"/>
                          </a:solidFill>
                        </a:rPr>
                        <a:t>P3</a:t>
                      </a:r>
                    </a:p>
                  </a:txBody>
                  <a:tcPr anchor="ctr"/>
                </a:tc>
                <a:tc>
                  <a:txBody>
                    <a:bodyPr/>
                    <a:lstStyle/>
                    <a:p>
                      <a:pPr algn="ctr"/>
                      <a:r>
                        <a:rPr lang="en-US">
                          <a:solidFill>
                            <a:schemeClr val="tx1"/>
                          </a:solidFill>
                        </a:rPr>
                        <a:t>1</a:t>
                      </a:r>
                    </a:p>
                  </a:txBody>
                  <a:tcPr anchor="ctr"/>
                </a:tc>
                <a:tc>
                  <a:txBody>
                    <a:bodyPr/>
                    <a:lstStyle/>
                    <a:p>
                      <a:pPr algn="ctr"/>
                      <a:r>
                        <a:rPr lang="en-US">
                          <a:solidFill>
                            <a:schemeClr val="tx1"/>
                          </a:solidFill>
                        </a:rPr>
                        <a:t>1</a:t>
                      </a:r>
                    </a:p>
                  </a:txBody>
                  <a:tcPr anchor="ctr"/>
                </a:tc>
                <a:tc>
                  <a:txBody>
                    <a:bodyPr/>
                    <a:lstStyle/>
                    <a:p>
                      <a:pPr algn="ctr"/>
                      <a:r>
                        <a:rPr lang="en-US">
                          <a:solidFill>
                            <a:schemeClr val="tx1"/>
                          </a:solidFill>
                        </a:rPr>
                        <a:t>1</a:t>
                      </a:r>
                    </a:p>
                  </a:txBody>
                  <a:tcPr anchor="ctr"/>
                </a:tc>
                <a:tc>
                  <a:txBody>
                    <a:bodyPr/>
                    <a:lstStyle/>
                    <a:p>
                      <a:pPr algn="ctr"/>
                      <a:r>
                        <a:rPr lang="en-US">
                          <a:solidFill>
                            <a:schemeClr val="tx1"/>
                          </a:solidFill>
                        </a:rPr>
                        <a:t>0</a:t>
                      </a:r>
                    </a:p>
                  </a:txBody>
                  <a:tcPr anchor="ctr"/>
                </a:tc>
                <a:extLst>
                  <a:ext uri="{0D108BD9-81ED-4DB2-BD59-A6C34878D82A}">
                    <a16:rowId xmlns="" xmlns:a16="http://schemas.microsoft.com/office/drawing/2014/main" val="10003"/>
                  </a:ext>
                </a:extLst>
              </a:tr>
              <a:tr h="506928">
                <a:tc>
                  <a:txBody>
                    <a:bodyPr/>
                    <a:lstStyle/>
                    <a:p>
                      <a:pPr algn="ctr"/>
                      <a:r>
                        <a:rPr lang="en-US">
                          <a:solidFill>
                            <a:schemeClr val="tx1"/>
                          </a:solidFill>
                        </a:rPr>
                        <a:t>P4</a:t>
                      </a:r>
                    </a:p>
                  </a:txBody>
                  <a:tcPr anchor="ctr"/>
                </a:tc>
                <a:tc>
                  <a:txBody>
                    <a:bodyPr/>
                    <a:lstStyle/>
                    <a:p>
                      <a:pPr algn="ctr"/>
                      <a:r>
                        <a:rPr lang="en-US">
                          <a:solidFill>
                            <a:schemeClr val="tx1"/>
                          </a:solidFill>
                        </a:rPr>
                        <a:t>1</a:t>
                      </a:r>
                    </a:p>
                  </a:txBody>
                  <a:tcPr anchor="ctr"/>
                </a:tc>
                <a:tc>
                  <a:txBody>
                    <a:bodyPr/>
                    <a:lstStyle/>
                    <a:p>
                      <a:pPr algn="ctr"/>
                      <a:r>
                        <a:rPr lang="en-US">
                          <a:solidFill>
                            <a:schemeClr val="tx1"/>
                          </a:solidFill>
                        </a:rPr>
                        <a:t>1</a:t>
                      </a:r>
                    </a:p>
                  </a:txBody>
                  <a:tcPr anchor="ctr"/>
                </a:tc>
                <a:tc>
                  <a:txBody>
                    <a:bodyPr/>
                    <a:lstStyle/>
                    <a:p>
                      <a:pPr algn="ctr"/>
                      <a:r>
                        <a:rPr lang="en-US">
                          <a:solidFill>
                            <a:schemeClr val="tx1"/>
                          </a:solidFill>
                        </a:rPr>
                        <a:t>0</a:t>
                      </a:r>
                    </a:p>
                  </a:txBody>
                  <a:tcPr anchor="ctr"/>
                </a:tc>
                <a:tc>
                  <a:txBody>
                    <a:bodyPr/>
                    <a:lstStyle/>
                    <a:p>
                      <a:pPr algn="ctr"/>
                      <a:r>
                        <a:rPr lang="en-US">
                          <a:solidFill>
                            <a:schemeClr val="tx1"/>
                          </a:solidFill>
                        </a:rPr>
                        <a:t>1</a:t>
                      </a:r>
                    </a:p>
                  </a:txBody>
                  <a:tcPr anchor="ctr"/>
                </a:tc>
                <a:extLst>
                  <a:ext uri="{0D108BD9-81ED-4DB2-BD59-A6C34878D82A}">
                    <a16:rowId xmlns="" xmlns:a16="http://schemas.microsoft.com/office/drawing/2014/main" val="10004"/>
                  </a:ext>
                </a:extLst>
              </a:tr>
              <a:tr h="506928">
                <a:tc>
                  <a:txBody>
                    <a:bodyPr/>
                    <a:lstStyle/>
                    <a:p>
                      <a:pPr algn="ctr"/>
                      <a:r>
                        <a:rPr lang="en-US">
                          <a:solidFill>
                            <a:schemeClr val="tx1"/>
                          </a:solidFill>
                        </a:rPr>
                        <a:t>P5</a:t>
                      </a:r>
                    </a:p>
                  </a:txBody>
                  <a:tcPr anchor="ctr"/>
                </a:tc>
                <a:tc>
                  <a:txBody>
                    <a:bodyPr/>
                    <a:lstStyle/>
                    <a:p>
                      <a:pPr algn="ctr"/>
                      <a:r>
                        <a:rPr lang="en-US">
                          <a:solidFill>
                            <a:schemeClr val="tx1"/>
                          </a:solidFill>
                        </a:rPr>
                        <a:t>0</a:t>
                      </a:r>
                    </a:p>
                  </a:txBody>
                  <a:tcPr anchor="ctr"/>
                </a:tc>
                <a:tc>
                  <a:txBody>
                    <a:bodyPr/>
                    <a:lstStyle/>
                    <a:p>
                      <a:pPr algn="ctr"/>
                      <a:r>
                        <a:rPr lang="en-US">
                          <a:solidFill>
                            <a:schemeClr val="tx1"/>
                          </a:solidFill>
                        </a:rPr>
                        <a:t>0</a:t>
                      </a:r>
                    </a:p>
                  </a:txBody>
                  <a:tcPr anchor="ctr"/>
                </a:tc>
                <a:tc>
                  <a:txBody>
                    <a:bodyPr/>
                    <a:lstStyle/>
                    <a:p>
                      <a:pPr algn="ctr"/>
                      <a:r>
                        <a:rPr lang="en-US">
                          <a:solidFill>
                            <a:schemeClr val="tx1"/>
                          </a:solidFill>
                        </a:rPr>
                        <a:t>0</a:t>
                      </a:r>
                    </a:p>
                  </a:txBody>
                  <a:tcPr anchor="ctr"/>
                </a:tc>
                <a:tc>
                  <a:txBody>
                    <a:bodyPr/>
                    <a:lstStyle/>
                    <a:p>
                      <a:pPr algn="ctr"/>
                      <a:r>
                        <a:rPr lang="en-US">
                          <a:solidFill>
                            <a:schemeClr val="tx1"/>
                          </a:solidFill>
                        </a:rPr>
                        <a:t>0</a:t>
                      </a:r>
                    </a:p>
                  </a:txBody>
                  <a:tcPr anchor="ctr"/>
                </a:tc>
                <a:extLst>
                  <a:ext uri="{0D108BD9-81ED-4DB2-BD59-A6C34878D82A}">
                    <a16:rowId xmlns="" xmlns:a16="http://schemas.microsoft.com/office/drawing/2014/main" val="10005"/>
                  </a:ext>
                </a:extLst>
              </a:tr>
            </a:tbl>
          </a:graphicData>
        </a:graphic>
      </p:graphicFrame>
      <p:sp>
        <p:nvSpPr>
          <p:cNvPr id="62" name="TextBox 61"/>
          <p:cNvSpPr txBox="1"/>
          <p:nvPr/>
        </p:nvSpPr>
        <p:spPr>
          <a:xfrm>
            <a:off x="762000" y="2401884"/>
            <a:ext cx="2514600" cy="369332"/>
          </a:xfrm>
          <a:prstGeom prst="rect">
            <a:avLst/>
          </a:prstGeom>
          <a:noFill/>
        </p:spPr>
        <p:txBody>
          <a:bodyPr wrap="square" rtlCol="0">
            <a:spAutoFit/>
          </a:bodyPr>
          <a:lstStyle/>
          <a:p>
            <a:r>
              <a:rPr lang="en-US"/>
              <a:t>total no of each resource</a:t>
            </a:r>
          </a:p>
        </p:txBody>
      </p:sp>
      <p:sp>
        <p:nvSpPr>
          <p:cNvPr id="63" name="TextBox 62"/>
          <p:cNvSpPr txBox="1"/>
          <p:nvPr/>
        </p:nvSpPr>
        <p:spPr>
          <a:xfrm>
            <a:off x="4744959" y="2400298"/>
            <a:ext cx="2514600" cy="369332"/>
          </a:xfrm>
          <a:prstGeom prst="rect">
            <a:avLst/>
          </a:prstGeom>
          <a:noFill/>
        </p:spPr>
        <p:txBody>
          <a:bodyPr wrap="square" rtlCol="0">
            <a:spAutoFit/>
          </a:bodyPr>
          <a:lstStyle/>
          <a:p>
            <a:r>
              <a:rPr lang="en-US"/>
              <a:t>resources hold</a:t>
            </a:r>
          </a:p>
        </p:txBody>
      </p:sp>
      <p:sp>
        <p:nvSpPr>
          <p:cNvPr id="64" name="TextBox 63"/>
          <p:cNvSpPr txBox="1"/>
          <p:nvPr/>
        </p:nvSpPr>
        <p:spPr>
          <a:xfrm rot="16200000">
            <a:off x="2520571" y="4433133"/>
            <a:ext cx="3526006" cy="646331"/>
          </a:xfrm>
          <a:prstGeom prst="rect">
            <a:avLst/>
          </a:prstGeom>
          <a:noFill/>
          <a:ln w="28575">
            <a:solidFill>
              <a:schemeClr val="tx2">
                <a:lumMod val="60000"/>
                <a:lumOff val="40000"/>
              </a:schemeClr>
            </a:solidFill>
          </a:ln>
        </p:spPr>
        <p:txBody>
          <a:bodyPr wrap="square" rtlCol="0">
            <a:spAutoFit/>
          </a:bodyPr>
          <a:lstStyle/>
          <a:p>
            <a:r>
              <a:rPr lang="en-US"/>
              <a:t>no of resources held by each process</a:t>
            </a:r>
          </a:p>
        </p:txBody>
      </p:sp>
      <p:graphicFrame>
        <p:nvGraphicFramePr>
          <p:cNvPr id="23" name="Table 22"/>
          <p:cNvGraphicFramePr>
            <a:graphicFrameLocks noGrp="1"/>
          </p:cNvGraphicFramePr>
          <p:nvPr>
            <p:extLst>
              <p:ext uri="{D42A27DB-BD31-4B8C-83A1-F6EECF244321}">
                <p14:modId xmlns:p14="http://schemas.microsoft.com/office/powerpoint/2010/main" val="3650180980"/>
              </p:ext>
            </p:extLst>
          </p:nvPr>
        </p:nvGraphicFramePr>
        <p:xfrm>
          <a:off x="8727919" y="886458"/>
          <a:ext cx="2560320" cy="1513840"/>
        </p:xfrm>
        <a:graphic>
          <a:graphicData uri="http://schemas.openxmlformats.org/drawingml/2006/table">
            <a:tbl>
              <a:tblPr firstRow="1" bandRow="1">
                <a:tableStyleId>{93296810-A885-4BE3-A3E7-6D5BEEA58F35}</a:tableStyleId>
              </a:tblPr>
              <a:tblGrid>
                <a:gridCol w="640080">
                  <a:extLst>
                    <a:ext uri="{9D8B030D-6E8A-4147-A177-3AD203B41FA5}">
                      <a16:colId xmlns="" xmlns:a16="http://schemas.microsoft.com/office/drawing/2014/main" val="20000"/>
                    </a:ext>
                  </a:extLst>
                </a:gridCol>
                <a:gridCol w="64008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640080">
                  <a:extLst>
                    <a:ext uri="{9D8B030D-6E8A-4147-A177-3AD203B41FA5}">
                      <a16:colId xmlns="" xmlns:a16="http://schemas.microsoft.com/office/drawing/2014/main" val="20003"/>
                    </a:ext>
                  </a:extLst>
                </a:gridCol>
              </a:tblGrid>
              <a:tr h="1006912">
                <a:tc>
                  <a:txBody>
                    <a:bodyPr/>
                    <a:lstStyle/>
                    <a:p>
                      <a:pPr algn="l"/>
                      <a:r>
                        <a:rPr lang="en-US"/>
                        <a:t>Tape Drives</a:t>
                      </a:r>
                    </a:p>
                  </a:txBody>
                  <a:tcPr vert="vert270" anchor="ctr"/>
                </a:tc>
                <a:tc>
                  <a:txBody>
                    <a:bodyPr/>
                    <a:lstStyle/>
                    <a:p>
                      <a:pPr marL="0" algn="l" defTabSz="914400" rtl="0" eaLnBrk="1" latinLnBrk="0" hangingPunct="1"/>
                      <a:r>
                        <a:rPr lang="en-US" sz="1800" kern="1200"/>
                        <a:t>Plotters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Scanners</a:t>
                      </a:r>
                      <a:endParaRPr lang="en-US" sz="1800" b="1" kern="1200">
                        <a:solidFill>
                          <a:schemeClr val="lt1"/>
                        </a:solidFill>
                        <a:latin typeface="+mn-lt"/>
                        <a:ea typeface="+mn-ea"/>
                        <a:cs typeface="+mn-cs"/>
                      </a:endParaRPr>
                    </a:p>
                  </a:txBody>
                  <a:tcPr vert="vert270" anchor="ctr"/>
                </a:tc>
                <a:tc>
                  <a:txBody>
                    <a:bodyPr/>
                    <a:lstStyle/>
                    <a:p>
                      <a:pPr marL="0" algn="l" defTabSz="914400" rtl="0" eaLnBrk="1" latinLnBrk="0" hangingPunct="1"/>
                      <a:r>
                        <a:rPr lang="en-US" sz="1800" kern="1200"/>
                        <a:t>CD Roms</a:t>
                      </a:r>
                      <a:endParaRPr lang="en-US" sz="1800" b="1" kern="1200">
                        <a:solidFill>
                          <a:schemeClr val="lt1"/>
                        </a:solidFill>
                        <a:latin typeface="+mn-lt"/>
                        <a:ea typeface="+mn-ea"/>
                        <a:cs typeface="+mn-cs"/>
                      </a:endParaRPr>
                    </a:p>
                  </a:txBody>
                  <a:tcPr vert="vert270" anchor="ctr"/>
                </a:tc>
                <a:extLst>
                  <a:ext uri="{0D108BD9-81ED-4DB2-BD59-A6C34878D82A}">
                    <a16:rowId xmlns="" xmlns:a16="http://schemas.microsoft.com/office/drawing/2014/main" val="10000"/>
                  </a:ext>
                </a:extLst>
              </a:tr>
              <a:tr h="506928">
                <a:tc>
                  <a:txBody>
                    <a:bodyPr/>
                    <a:lstStyle/>
                    <a:p>
                      <a:pPr algn="ctr"/>
                      <a:r>
                        <a:rPr lang="en-US"/>
                        <a:t>1</a:t>
                      </a:r>
                    </a:p>
                  </a:txBody>
                  <a:tcPr anchor="ctr"/>
                </a:tc>
                <a:tc>
                  <a:txBody>
                    <a:bodyPr/>
                    <a:lstStyle/>
                    <a:p>
                      <a:pPr algn="ctr"/>
                      <a:r>
                        <a:rPr lang="en-US"/>
                        <a:t>0</a:t>
                      </a:r>
                    </a:p>
                  </a:txBody>
                  <a:tcPr anchor="ctr"/>
                </a:tc>
                <a:tc>
                  <a:txBody>
                    <a:bodyPr/>
                    <a:lstStyle/>
                    <a:p>
                      <a:pPr algn="ctr"/>
                      <a:r>
                        <a:rPr lang="en-US"/>
                        <a:t>2</a:t>
                      </a:r>
                    </a:p>
                  </a:txBody>
                  <a:tcPr anchor="ctr"/>
                </a:tc>
                <a:tc>
                  <a:txBody>
                    <a:bodyPr/>
                    <a:lstStyle/>
                    <a:p>
                      <a:pPr algn="ctr"/>
                      <a:r>
                        <a:rPr lang="en-US"/>
                        <a:t>0</a:t>
                      </a:r>
                    </a:p>
                  </a:txBody>
                  <a:tcPr anchor="ctr"/>
                </a:tc>
                <a:extLst>
                  <a:ext uri="{0D108BD9-81ED-4DB2-BD59-A6C34878D82A}">
                    <a16:rowId xmlns="" xmlns:a16="http://schemas.microsoft.com/office/drawing/2014/main" val="10001"/>
                  </a:ext>
                </a:extLst>
              </a:tr>
            </a:tbl>
          </a:graphicData>
        </a:graphic>
      </p:graphicFrame>
      <p:sp>
        <p:nvSpPr>
          <p:cNvPr id="24" name="TextBox 23"/>
          <p:cNvSpPr txBox="1"/>
          <p:nvPr/>
        </p:nvSpPr>
        <p:spPr>
          <a:xfrm>
            <a:off x="8727919" y="2396172"/>
            <a:ext cx="2514600" cy="369332"/>
          </a:xfrm>
          <a:prstGeom prst="rect">
            <a:avLst/>
          </a:prstGeom>
          <a:noFill/>
        </p:spPr>
        <p:txBody>
          <a:bodyPr wrap="square" rtlCol="0">
            <a:spAutoFit/>
          </a:bodyPr>
          <a:lstStyle/>
          <a:p>
            <a:r>
              <a:rPr lang="en-US"/>
              <a:t>available (free) resources</a:t>
            </a:r>
          </a:p>
        </p:txBody>
      </p:sp>
      <p:pic>
        <p:nvPicPr>
          <p:cNvPr id="15" name="Content Placeholder 7"/>
          <p:cNvPicPr>
            <a:picLocks noChangeAspect="1"/>
          </p:cNvPicPr>
          <p:nvPr/>
        </p:nvPicPr>
        <p:blipFill>
          <a:blip r:embed="rId2">
            <a:extLst>
              <a:ext uri="{28A0092B-C50C-407E-A947-70E740481C1C}">
                <a14:useLocalDpi xmlns:a14="http://schemas.microsoft.com/office/drawing/2010/main" val="0"/>
              </a:ext>
            </a:extLst>
          </a:blip>
          <a:srcRect l="10714" t="8656" r="10714" b="9201"/>
          <a:stretch>
            <a:fillRect/>
          </a:stretch>
        </p:blipFill>
        <p:spPr>
          <a:xfrm>
            <a:off x="9985219" y="3671332"/>
            <a:ext cx="1749297" cy="1828800"/>
          </a:xfrm>
          <a:prstGeom prst="rect">
            <a:avLst/>
          </a:prstGeom>
        </p:spPr>
      </p:pic>
      <p:sp>
        <p:nvSpPr>
          <p:cNvPr id="16" name="Oval 15"/>
          <p:cNvSpPr/>
          <p:nvPr/>
        </p:nvSpPr>
        <p:spPr>
          <a:xfrm>
            <a:off x="8327869" y="5607299"/>
            <a:ext cx="304800" cy="304800"/>
          </a:xfrm>
          <a:prstGeom prst="ellipse">
            <a:avLst/>
          </a:prstGeom>
          <a:noFill/>
          <a:ln w="19050">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64430529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Algorithm </a:t>
            </a:r>
            <a:endParaRPr lang="en-US" dirty="0"/>
          </a:p>
        </p:txBody>
      </p:sp>
      <p:sp>
        <p:nvSpPr>
          <p:cNvPr id="3" name="Content Placeholder 2"/>
          <p:cNvSpPr>
            <a:spLocks noGrp="1"/>
          </p:cNvSpPr>
          <p:nvPr>
            <p:ph idx="1"/>
          </p:nvPr>
        </p:nvSpPr>
        <p:spPr/>
        <p:txBody>
          <a:bodyPr/>
          <a:lstStyle/>
          <a:p>
            <a:r>
              <a:rPr lang="en-US" dirty="0" smtClean="0"/>
              <a:t>Input: processes, Any 2 out of 3 is given(max, need ,allocation)</a:t>
            </a:r>
          </a:p>
          <a:p>
            <a:pPr marL="0" indent="0">
              <a:buNone/>
            </a:pPr>
            <a:r>
              <a:rPr lang="en-US" dirty="0" smtClean="0"/>
              <a:t>                                     Available or total no. of resources is given</a:t>
            </a:r>
          </a:p>
          <a:p>
            <a:r>
              <a:rPr lang="en-US" dirty="0" smtClean="0"/>
              <a:t>Step1: flag [</a:t>
            </a:r>
            <a:r>
              <a:rPr lang="en-US" dirty="0" err="1" smtClean="0"/>
              <a:t>i</a:t>
            </a:r>
            <a:r>
              <a:rPr lang="en-US" dirty="0" smtClean="0"/>
              <a:t>]=0 for </a:t>
            </a:r>
            <a:r>
              <a:rPr lang="en-US" dirty="0" err="1" smtClean="0"/>
              <a:t>i</a:t>
            </a:r>
            <a:r>
              <a:rPr lang="en-US" dirty="0" smtClean="0"/>
              <a:t>=0to n-1 and find need[n][m]=max[n][m]-allocation[n][m]</a:t>
            </a:r>
          </a:p>
          <a:p>
            <a:r>
              <a:rPr lang="en-US" dirty="0" smtClean="0"/>
              <a:t>Step2: Find a process  Pi such that: flag[</a:t>
            </a:r>
            <a:r>
              <a:rPr lang="en-US" dirty="0" err="1" smtClean="0"/>
              <a:t>i</a:t>
            </a:r>
            <a:r>
              <a:rPr lang="en-US" dirty="0" smtClean="0"/>
              <a:t>]=0 and need(</a:t>
            </a:r>
            <a:r>
              <a:rPr lang="en-US" dirty="0" err="1" smtClean="0"/>
              <a:t>i</a:t>
            </a:r>
            <a:r>
              <a:rPr lang="en-US" dirty="0" smtClean="0"/>
              <a:t>)&lt;=available</a:t>
            </a:r>
          </a:p>
          <a:p>
            <a:r>
              <a:rPr lang="en-US" dirty="0" smtClean="0"/>
              <a:t>Step3: if such </a:t>
            </a:r>
            <a:r>
              <a:rPr lang="en-US" dirty="0" err="1" smtClean="0"/>
              <a:t>i</a:t>
            </a:r>
            <a:r>
              <a:rPr lang="en-US" dirty="0" smtClean="0"/>
              <a:t> exists then</a:t>
            </a:r>
          </a:p>
          <a:p>
            <a:pPr marL="0" indent="0">
              <a:buNone/>
            </a:pPr>
            <a:r>
              <a:rPr lang="en-US" dirty="0"/>
              <a:t> </a:t>
            </a:r>
            <a:r>
              <a:rPr lang="en-US" dirty="0" smtClean="0"/>
              <a:t>               flag[</a:t>
            </a:r>
            <a:r>
              <a:rPr lang="en-US" dirty="0" err="1" smtClean="0"/>
              <a:t>i</a:t>
            </a:r>
            <a:r>
              <a:rPr lang="en-US" dirty="0" smtClean="0"/>
              <a:t>]=1, available= available  + allocation;</a:t>
            </a:r>
          </a:p>
          <a:p>
            <a:pPr marL="0" indent="0">
              <a:buNone/>
            </a:pPr>
            <a:r>
              <a:rPr lang="en-US" dirty="0"/>
              <a:t>	</a:t>
            </a:r>
            <a:r>
              <a:rPr lang="en-US" dirty="0" smtClean="0"/>
              <a:t>	go to step 2</a:t>
            </a:r>
          </a:p>
          <a:p>
            <a:r>
              <a:rPr lang="en-US" dirty="0" smtClean="0"/>
              <a:t>Step4: if flag[</a:t>
            </a:r>
            <a:r>
              <a:rPr lang="en-US" dirty="0" err="1" smtClean="0"/>
              <a:t>i</a:t>
            </a:r>
            <a:r>
              <a:rPr lang="en-US" dirty="0" smtClean="0"/>
              <a:t>]=1 for all </a:t>
            </a:r>
            <a:r>
              <a:rPr lang="en-US" dirty="0" err="1" smtClean="0"/>
              <a:t>i</a:t>
            </a:r>
            <a:r>
              <a:rPr lang="en-US" dirty="0" smtClean="0"/>
              <a:t> then system is n safe state </a:t>
            </a:r>
          </a:p>
          <a:p>
            <a:pPr marL="0" indent="0">
              <a:buNone/>
            </a:pPr>
            <a:r>
              <a:rPr lang="en-US" dirty="0"/>
              <a:t>	</a:t>
            </a:r>
            <a:r>
              <a:rPr lang="en-US" dirty="0" smtClean="0"/>
              <a:t>	otherwise unsafe state </a:t>
            </a:r>
            <a:endParaRPr lang="en-US" dirty="0"/>
          </a:p>
        </p:txBody>
      </p:sp>
    </p:spTree>
    <p:extLst>
      <p:ext uri="{BB962C8B-B14F-4D97-AF65-F5344CB8AC3E}">
        <p14:creationId xmlns:p14="http://schemas.microsoft.com/office/powerpoint/2010/main" val="1940167502"/>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gradFill flip="none" rotWithShape="1">
                  <a:gsLst>
                    <a:gs pos="10000">
                      <a:schemeClr val="accent6">
                        <a:lumMod val="50000"/>
                      </a:schemeClr>
                    </a:gs>
                    <a:gs pos="100000">
                      <a:schemeClr val="accent6"/>
                    </a:gs>
                  </a:gsLst>
                  <a:lin ang="0" scaled="1"/>
                </a:gradFill>
              </a:rPr>
              <a:t>Deadlock prevention</a:t>
            </a:r>
          </a:p>
        </p:txBody>
      </p:sp>
      <p:sp>
        <p:nvSpPr>
          <p:cNvPr id="5" name="Text Placeholder 4"/>
          <p:cNvSpPr>
            <a:spLocks noGrp="1"/>
          </p:cNvSpPr>
          <p:nvPr>
            <p:ph type="body" idx="1"/>
          </p:nvPr>
        </p:nvSpPr>
        <p:spPr/>
        <p:txBody>
          <a:bodyPr/>
          <a:lstStyle/>
          <a:p>
            <a:r>
              <a:rPr lang="en-US"/>
              <a:t>Section - 6</a:t>
            </a:r>
          </a:p>
          <a:p>
            <a:endParaRPr lang="en-US"/>
          </a:p>
        </p:txBody>
      </p:sp>
    </p:spTree>
    <p:extLst>
      <p:ext uri="{BB962C8B-B14F-4D97-AF65-F5344CB8AC3E}">
        <p14:creationId xmlns:p14="http://schemas.microsoft.com/office/powerpoint/2010/main" val="2461260373"/>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Deadlock prevention</a:t>
            </a:r>
            <a:endParaRPr lang="en-US"/>
          </a:p>
        </p:txBody>
      </p:sp>
      <p:sp>
        <p:nvSpPr>
          <p:cNvPr id="3" name="Content Placeholder 2"/>
          <p:cNvSpPr>
            <a:spLocks noGrp="1"/>
          </p:cNvSpPr>
          <p:nvPr>
            <p:ph idx="1"/>
          </p:nvPr>
        </p:nvSpPr>
        <p:spPr/>
        <p:txBody>
          <a:bodyPr/>
          <a:lstStyle/>
          <a:p>
            <a:r>
              <a:rPr lang="en-US"/>
              <a:t>Deadlock can be prevented by </a:t>
            </a:r>
            <a:r>
              <a:rPr lang="en-US" b="1">
                <a:solidFill>
                  <a:schemeClr val="accent6"/>
                </a:solidFill>
              </a:rPr>
              <a:t>attacking the one of the four conditions </a:t>
            </a:r>
            <a:r>
              <a:rPr lang="en-US"/>
              <a:t>that leads to deadlock.</a:t>
            </a:r>
          </a:p>
          <a:p>
            <a:pPr marL="914400" lvl="1" indent="-457200">
              <a:buFont typeface="+mj-lt"/>
              <a:buAutoNum type="arabicPeriod"/>
            </a:pPr>
            <a:r>
              <a:rPr lang="en-US"/>
              <a:t>Attacking the </a:t>
            </a:r>
            <a:r>
              <a:rPr lang="en-US" b="1">
                <a:solidFill>
                  <a:schemeClr val="tx2"/>
                </a:solidFill>
              </a:rPr>
              <a:t>Mutual Exclusion Condition</a:t>
            </a:r>
          </a:p>
          <a:p>
            <a:pPr lvl="2"/>
            <a:r>
              <a:rPr lang="en-US"/>
              <a:t>No deadlock </a:t>
            </a:r>
            <a:r>
              <a:rPr lang="en-US" b="1">
                <a:solidFill>
                  <a:schemeClr val="accent6"/>
                </a:solidFill>
              </a:rPr>
              <a:t>if each resource can be assigned to more than one process</a:t>
            </a:r>
            <a:r>
              <a:rPr lang="en-US"/>
              <a:t>.</a:t>
            </a:r>
          </a:p>
          <a:p>
            <a:pPr lvl="2"/>
            <a:r>
              <a:rPr lang="en-US"/>
              <a:t>We </a:t>
            </a:r>
            <a:r>
              <a:rPr lang="en-US" b="1">
                <a:solidFill>
                  <a:schemeClr val="accent6"/>
                </a:solidFill>
              </a:rPr>
              <a:t>can not assign some resources to more than one process at a time </a:t>
            </a:r>
            <a:r>
              <a:rPr lang="en-US"/>
              <a:t>such as </a:t>
            </a:r>
            <a:r>
              <a:rPr lang="en-US" b="1">
                <a:solidFill>
                  <a:schemeClr val="accent6"/>
                </a:solidFill>
              </a:rPr>
              <a:t>CD-Recorder, Printer </a:t>
            </a:r>
            <a:r>
              <a:rPr lang="en-US"/>
              <a:t>etc…</a:t>
            </a:r>
          </a:p>
          <a:p>
            <a:pPr lvl="2"/>
            <a:r>
              <a:rPr lang="en-US"/>
              <a:t>So this solution is </a:t>
            </a:r>
            <a:r>
              <a:rPr lang="en-US" b="1">
                <a:solidFill>
                  <a:schemeClr val="accent6"/>
                </a:solidFill>
              </a:rPr>
              <a:t>not feasible</a:t>
            </a:r>
            <a:r>
              <a:rPr lang="en-US"/>
              <a:t>.</a:t>
            </a:r>
          </a:p>
          <a:p>
            <a:pPr marL="914400" lvl="1" indent="-457200">
              <a:buFont typeface="+mj-lt"/>
              <a:buAutoNum type="arabicPeriod"/>
            </a:pPr>
            <a:r>
              <a:rPr lang="en-US"/>
              <a:t>Attacking the </a:t>
            </a:r>
            <a:r>
              <a:rPr lang="en-US" b="1">
                <a:solidFill>
                  <a:schemeClr val="tx2"/>
                </a:solidFill>
              </a:rPr>
              <a:t>Hold and Wait Condition</a:t>
            </a:r>
          </a:p>
          <a:p>
            <a:pPr lvl="2"/>
            <a:r>
              <a:rPr lang="en-US"/>
              <a:t>Require processes to </a:t>
            </a:r>
            <a:r>
              <a:rPr lang="en-US" b="1">
                <a:solidFill>
                  <a:schemeClr val="accent6"/>
                </a:solidFill>
              </a:rPr>
              <a:t>request all their resources before starting execution</a:t>
            </a:r>
            <a:r>
              <a:rPr lang="en-US"/>
              <a:t>.</a:t>
            </a:r>
          </a:p>
          <a:p>
            <a:pPr lvl="2"/>
            <a:r>
              <a:rPr lang="en-US"/>
              <a:t>A process is </a:t>
            </a:r>
            <a:r>
              <a:rPr lang="en-US" b="1">
                <a:solidFill>
                  <a:schemeClr val="accent6"/>
                </a:solidFill>
              </a:rPr>
              <a:t>allowed to run if all resources it needed is available</a:t>
            </a:r>
            <a:r>
              <a:rPr lang="en-US"/>
              <a:t>. Otherwise nothing will be allocated and it will just wait.</a:t>
            </a:r>
          </a:p>
          <a:p>
            <a:pPr lvl="2"/>
            <a:r>
              <a:rPr lang="en-US"/>
              <a:t>Problem with this strategy is that a </a:t>
            </a:r>
            <a:r>
              <a:rPr lang="en-US" b="1">
                <a:solidFill>
                  <a:schemeClr val="accent6"/>
                </a:solidFill>
              </a:rPr>
              <a:t>process may not know required resources at start of run</a:t>
            </a:r>
            <a:r>
              <a:rPr lang="en-US"/>
              <a:t>.</a:t>
            </a:r>
          </a:p>
          <a:p>
            <a:pPr lvl="2"/>
            <a:r>
              <a:rPr lang="en-US"/>
              <a:t>Resource will </a:t>
            </a:r>
            <a:r>
              <a:rPr lang="en-US" b="1">
                <a:solidFill>
                  <a:schemeClr val="accent6"/>
                </a:solidFill>
              </a:rPr>
              <a:t>not be used optimally</a:t>
            </a:r>
            <a:r>
              <a:rPr lang="en-US"/>
              <a:t>.</a:t>
            </a:r>
          </a:p>
          <a:p>
            <a:pPr marL="914400" lvl="1" indent="-457200">
              <a:buFont typeface="+mj-lt"/>
              <a:buAutoNum type="arabicPeriod"/>
            </a:pPr>
            <a:r>
              <a:rPr lang="en-US"/>
              <a:t>Attacking the </a:t>
            </a:r>
            <a:r>
              <a:rPr lang="en-US" b="1">
                <a:solidFill>
                  <a:schemeClr val="tx2"/>
                </a:solidFill>
              </a:rPr>
              <a:t>No Preemption Condition</a:t>
            </a:r>
          </a:p>
          <a:p>
            <a:pPr lvl="2"/>
            <a:r>
              <a:rPr lang="en-US"/>
              <a:t>When a process P0 request some resource R which is held by another process P1 then resource R is </a:t>
            </a:r>
            <a:r>
              <a:rPr lang="en-US" b="1">
                <a:solidFill>
                  <a:schemeClr val="accent6"/>
                </a:solidFill>
              </a:rPr>
              <a:t>forcibly taken away from the process P1 and allocated to P0</a:t>
            </a:r>
            <a:r>
              <a:rPr lang="en-US"/>
              <a:t>. </a:t>
            </a:r>
          </a:p>
          <a:p>
            <a:pPr lvl="2"/>
            <a:r>
              <a:rPr lang="en-US"/>
              <a:t>Consider a process holds the </a:t>
            </a:r>
            <a:r>
              <a:rPr lang="en-US" b="1">
                <a:solidFill>
                  <a:schemeClr val="accent6"/>
                </a:solidFill>
              </a:rPr>
              <a:t>printer</a:t>
            </a:r>
            <a:r>
              <a:rPr lang="en-US"/>
              <a:t>, halfway through its job; </a:t>
            </a:r>
            <a:r>
              <a:rPr lang="en-US" b="1">
                <a:solidFill>
                  <a:schemeClr val="accent6"/>
                </a:solidFill>
              </a:rPr>
              <a:t>taking the printer away from this process without having any ill effect is not possible</a:t>
            </a:r>
            <a:r>
              <a:rPr lang="en-US"/>
              <a:t>.</a:t>
            </a:r>
          </a:p>
          <a:p>
            <a:pPr lvl="2"/>
            <a:r>
              <a:rPr lang="en-US"/>
              <a:t>This is not a </a:t>
            </a:r>
            <a:r>
              <a:rPr lang="en-US" b="1">
                <a:solidFill>
                  <a:schemeClr val="accent6"/>
                </a:solidFill>
              </a:rPr>
              <a:t>possible option</a:t>
            </a:r>
            <a:r>
              <a:rPr lang="en-US"/>
              <a:t>.</a:t>
            </a:r>
          </a:p>
        </p:txBody>
      </p:sp>
    </p:spTree>
    <p:extLst>
      <p:ext uri="{BB962C8B-B14F-4D97-AF65-F5344CB8AC3E}">
        <p14:creationId xmlns:p14="http://schemas.microsoft.com/office/powerpoint/2010/main" val="35270439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nodeType="clickPar">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nodeType="clickPar">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par>
                    <p:cTn id="68" fill="hold" nodeType="clickPar">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Deadlock prevention</a:t>
            </a:r>
            <a:endParaRPr lang="en-US"/>
          </a:p>
        </p:txBody>
      </p:sp>
      <p:sp>
        <p:nvSpPr>
          <p:cNvPr id="3" name="Content Placeholder 2"/>
          <p:cNvSpPr>
            <a:spLocks noGrp="1"/>
          </p:cNvSpPr>
          <p:nvPr>
            <p:ph idx="1"/>
          </p:nvPr>
        </p:nvSpPr>
        <p:spPr/>
        <p:txBody>
          <a:bodyPr/>
          <a:lstStyle/>
          <a:p>
            <a:r>
              <a:rPr lang="en-US"/>
              <a:t>Deadlock can be prevented by </a:t>
            </a:r>
            <a:r>
              <a:rPr lang="en-US" b="1">
                <a:solidFill>
                  <a:schemeClr val="accent6"/>
                </a:solidFill>
              </a:rPr>
              <a:t>attacking the one of the four conditions </a:t>
            </a:r>
            <a:r>
              <a:rPr lang="en-US"/>
              <a:t>that leads to deadlock.</a:t>
            </a:r>
          </a:p>
          <a:p>
            <a:pPr marL="914400" lvl="1" indent="-457200">
              <a:buFont typeface="+mj-lt"/>
              <a:buAutoNum type="arabicPeriod" startAt="4"/>
            </a:pPr>
            <a:r>
              <a:rPr lang="en-US"/>
              <a:t>Attacking the </a:t>
            </a:r>
            <a:r>
              <a:rPr lang="en-US" b="1">
                <a:solidFill>
                  <a:schemeClr val="tx2"/>
                </a:solidFill>
              </a:rPr>
              <a:t>Circular Wait Condition</a:t>
            </a:r>
          </a:p>
          <a:p>
            <a:pPr lvl="2"/>
            <a:r>
              <a:rPr lang="en-US"/>
              <a:t>Provide a </a:t>
            </a:r>
            <a:r>
              <a:rPr lang="en-US" b="1">
                <a:solidFill>
                  <a:schemeClr val="accent6"/>
                </a:solidFill>
              </a:rPr>
              <a:t>global numbering of all the resources</a:t>
            </a:r>
            <a:r>
              <a:rPr lang="en-US"/>
              <a:t>. </a:t>
            </a:r>
          </a:p>
          <a:p>
            <a:pPr marL="1714500" lvl="3" indent="-342900">
              <a:buFont typeface="+mj-lt"/>
              <a:buAutoNum type="arabicParenR"/>
            </a:pPr>
            <a:r>
              <a:rPr lang="en-US"/>
              <a:t>Printer</a:t>
            </a:r>
          </a:p>
          <a:p>
            <a:pPr marL="1714500" lvl="3" indent="-342900">
              <a:buFont typeface="+mj-lt"/>
              <a:buAutoNum type="arabicParenR"/>
            </a:pPr>
            <a:r>
              <a:rPr lang="en-US"/>
              <a:t>Scanner</a:t>
            </a:r>
          </a:p>
          <a:p>
            <a:pPr marL="1714500" lvl="3" indent="-342900">
              <a:buFont typeface="+mj-lt"/>
              <a:buAutoNum type="arabicParenR"/>
            </a:pPr>
            <a:r>
              <a:rPr lang="en-US"/>
              <a:t>Plotter</a:t>
            </a:r>
          </a:p>
          <a:p>
            <a:pPr marL="1714500" lvl="3" indent="-342900">
              <a:buFont typeface="+mj-lt"/>
              <a:buAutoNum type="arabicParenR"/>
            </a:pPr>
            <a:r>
              <a:rPr lang="en-US"/>
              <a:t>Tape Drive</a:t>
            </a:r>
          </a:p>
          <a:p>
            <a:pPr marL="1714500" lvl="3" indent="-342900">
              <a:buFont typeface="+mj-lt"/>
              <a:buAutoNum type="arabicParenR"/>
            </a:pPr>
            <a:r>
              <a:rPr lang="en-US"/>
              <a:t>CD Rom</a:t>
            </a:r>
          </a:p>
          <a:p>
            <a:pPr lvl="2"/>
            <a:r>
              <a:rPr lang="en-US"/>
              <a:t>Now the rule is that: </a:t>
            </a:r>
            <a:r>
              <a:rPr lang="en-US" b="1">
                <a:solidFill>
                  <a:schemeClr val="accent6"/>
                </a:solidFill>
              </a:rPr>
              <a:t>processes can request resources whenever they want to, but all requests must be made in numerical order</a:t>
            </a:r>
            <a:r>
              <a:rPr lang="en-US"/>
              <a:t>. </a:t>
            </a:r>
          </a:p>
          <a:p>
            <a:pPr lvl="2"/>
            <a:r>
              <a:rPr lang="en-US"/>
              <a:t>A process </a:t>
            </a:r>
            <a:r>
              <a:rPr lang="en-US" b="1">
                <a:solidFill>
                  <a:schemeClr val="accent6"/>
                </a:solidFill>
              </a:rPr>
              <a:t>need not acquire them all at once</a:t>
            </a:r>
            <a:r>
              <a:rPr lang="en-US"/>
              <a:t>.</a:t>
            </a:r>
          </a:p>
          <a:p>
            <a:pPr lvl="2"/>
            <a:r>
              <a:rPr lang="en-US"/>
              <a:t>Circular wait is prevented if a </a:t>
            </a:r>
            <a:r>
              <a:rPr lang="en-US" b="1">
                <a:solidFill>
                  <a:schemeClr val="accent6"/>
                </a:solidFill>
              </a:rPr>
              <a:t>process holding resource n cannot wait for resource m, if m &gt; n</a:t>
            </a:r>
            <a:r>
              <a:rPr lang="en-US"/>
              <a:t>.</a:t>
            </a:r>
          </a:p>
          <a:p>
            <a:pPr lvl="2"/>
            <a:r>
              <a:rPr lang="en-US"/>
              <a:t>A process </a:t>
            </a:r>
            <a:r>
              <a:rPr lang="en-US" b="1">
                <a:solidFill>
                  <a:schemeClr val="accent6"/>
                </a:solidFill>
              </a:rPr>
              <a:t>may request 1st a CD ROM, then tape drive</a:t>
            </a:r>
            <a:r>
              <a:rPr lang="en-US"/>
              <a:t>. But it </a:t>
            </a:r>
            <a:r>
              <a:rPr lang="en-US" b="1">
                <a:solidFill>
                  <a:schemeClr val="accent6"/>
                </a:solidFill>
              </a:rPr>
              <a:t>may not request 1st a tape drive, then CD ROM.</a:t>
            </a:r>
          </a:p>
          <a:p>
            <a:pPr lvl="2"/>
            <a:r>
              <a:rPr lang="en-US" b="1">
                <a:solidFill>
                  <a:schemeClr val="accent6"/>
                </a:solidFill>
              </a:rPr>
              <a:t>Resource graph can never have cycle.</a:t>
            </a:r>
          </a:p>
        </p:txBody>
      </p:sp>
    </p:spTree>
    <p:extLst>
      <p:ext uri="{BB962C8B-B14F-4D97-AF65-F5344CB8AC3E}">
        <p14:creationId xmlns:p14="http://schemas.microsoft.com/office/powerpoint/2010/main" val="42878296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500"/>
                                        <p:tgtEl>
                                          <p:spTgt spid="3">
                                            <p:txEl>
                                              <p:pRg st="11" end="11"/>
                                            </p:txEl>
                                          </p:spTgt>
                                        </p:tgtEl>
                                      </p:cBhvr>
                                    </p:animEffect>
                                  </p:childTnLst>
                                </p:cTn>
                              </p:par>
                            </p:childTnLst>
                          </p:cTn>
                        </p:par>
                      </p:childTnLst>
                    </p:cTn>
                  </p:par>
                  <p:par>
                    <p:cTn id="58" fill="hold" nodeType="clickPar">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Example</a:t>
            </a:r>
            <a:endParaRPr lang="en-US"/>
          </a:p>
        </p:txBody>
      </p:sp>
      <p:sp>
        <p:nvSpPr>
          <p:cNvPr id="3" name="Content Placeholder 2"/>
          <p:cNvSpPr>
            <a:spLocks noGrp="1"/>
          </p:cNvSpPr>
          <p:nvPr>
            <p:ph idx="1"/>
          </p:nvPr>
        </p:nvSpPr>
        <p:spPr/>
        <p:txBody>
          <a:bodyPr/>
          <a:lstStyle/>
          <a:p>
            <a:r>
              <a:rPr lang="en-US"/>
              <a:t>Consider a system consisting of four resources of same type that are shared by three processes, each of which needs at most two resources. Show the system is deadlock free.</a:t>
            </a:r>
          </a:p>
          <a:p>
            <a:pPr marL="0" indent="0">
              <a:buNone/>
            </a:pPr>
            <a:endParaRPr lang="en-US" b="1">
              <a:solidFill>
                <a:schemeClr val="accent6"/>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751047463"/>
              </p:ext>
            </p:extLst>
          </p:nvPr>
        </p:nvGraphicFramePr>
        <p:xfrm>
          <a:off x="8222793" y="1834783"/>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sz="1800" kern="1200">
                          <a:solidFill>
                            <a:schemeClr val="bg1"/>
                          </a:solidFill>
                          <a:latin typeface="+mn-lt"/>
                          <a:ea typeface="+mn-ea"/>
                          <a:cs typeface="+mn-cs"/>
                        </a:rPr>
                        <a:t>A</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sz="1800" kern="1200">
                          <a:solidFill>
                            <a:schemeClr val="bg1"/>
                          </a:solidFill>
                          <a:latin typeface="+mn-lt"/>
                          <a:ea typeface="+mn-ea"/>
                          <a:cs typeface="+mn-cs"/>
                        </a:rPr>
                        <a:t>-</a:t>
                      </a:r>
                    </a:p>
                  </a:txBody>
                  <a:tcPr/>
                </a:tc>
                <a:extLst>
                  <a:ext uri="{0D108BD9-81ED-4DB2-BD59-A6C34878D82A}">
                    <a16:rowId xmlns="" xmlns:a16="http://schemas.microsoft.com/office/drawing/2014/main" val="10001"/>
                  </a:ext>
                </a:extLst>
              </a:tr>
              <a:tr h="370840">
                <a:tc>
                  <a:txBody>
                    <a:bodyPr/>
                    <a:lstStyle/>
                    <a:p>
                      <a:pPr algn="ctr"/>
                      <a:r>
                        <a:rPr lang="en-US" sz="1800" kern="1200">
                          <a:solidFill>
                            <a:schemeClr val="tx1"/>
                          </a:solidFill>
                          <a:latin typeface="+mn-lt"/>
                          <a:ea typeface="+mn-ea"/>
                          <a:cs typeface="+mn-cs"/>
                        </a:rPr>
                        <a:t>B</a:t>
                      </a:r>
                    </a:p>
                  </a:txBody>
                  <a:tcPr/>
                </a:tc>
                <a:tc>
                  <a:txBody>
                    <a:bodyPr/>
                    <a:lstStyle/>
                    <a:p>
                      <a:pPr marL="0" algn="ctr" defTabSz="914400" rtl="0" eaLnBrk="1" latinLnBrk="0" hangingPunct="1"/>
                      <a:r>
                        <a:rPr lang="en-US" sz="1800" kern="1200">
                          <a:solidFill>
                            <a:schemeClr val="tx1"/>
                          </a:solidFill>
                          <a:latin typeface="+mn-lt"/>
                          <a:ea typeface="+mn-ea"/>
                          <a:cs typeface="+mn-cs"/>
                        </a:rPr>
                        <a:t>1</a:t>
                      </a:r>
                    </a:p>
                  </a:txBody>
                  <a:tcPr/>
                </a:tc>
                <a:tc>
                  <a:txBody>
                    <a:bodyPr/>
                    <a:lstStyle/>
                    <a:p>
                      <a:pPr algn="ctr"/>
                      <a:r>
                        <a:rPr lang="en-US" sz="1800" kern="1200">
                          <a:solidFill>
                            <a:schemeClr val="tx1"/>
                          </a:solidFill>
                          <a:latin typeface="+mn-lt"/>
                          <a:ea typeface="+mn-ea"/>
                          <a:cs typeface="+mn-cs"/>
                        </a:rPr>
                        <a:t>2</a:t>
                      </a:r>
                    </a:p>
                  </a:txBody>
                  <a:tcPr/>
                </a:tc>
                <a:extLst>
                  <a:ext uri="{0D108BD9-81ED-4DB2-BD59-A6C34878D82A}">
                    <a16:rowId xmlns="" xmlns:a16="http://schemas.microsoft.com/office/drawing/2014/main" val="10002"/>
                  </a:ext>
                </a:extLst>
              </a:tr>
              <a:tr h="373985">
                <a:tc>
                  <a:txBody>
                    <a:bodyPr/>
                    <a:lstStyle/>
                    <a:p>
                      <a:pPr algn="ctr"/>
                      <a:r>
                        <a:rPr lang="en-US"/>
                        <a:t>C</a:t>
                      </a:r>
                    </a:p>
                  </a:txBody>
                  <a:tcPr/>
                </a:tc>
                <a:tc>
                  <a:txBody>
                    <a:bodyPr/>
                    <a:lstStyle/>
                    <a:p>
                      <a:pPr marL="0" algn="ctr" defTabSz="914400" rtl="0" eaLnBrk="1" latinLnBrk="0" hangingPunct="1"/>
                      <a:r>
                        <a:rPr lang="en-US" sz="1800" kern="1200">
                          <a:solidFill>
                            <a:schemeClr val="dk1"/>
                          </a:solidFill>
                          <a:latin typeface="+mn-lt"/>
                          <a:ea typeface="+mn-ea"/>
                          <a:cs typeface="+mn-cs"/>
                        </a:rPr>
                        <a:t>2</a:t>
                      </a:r>
                    </a:p>
                  </a:txBody>
                  <a:tcPr/>
                </a:tc>
                <a:tc>
                  <a:txBody>
                    <a:bodyPr/>
                    <a:lstStyle/>
                    <a:p>
                      <a:pPr algn="ctr"/>
                      <a:r>
                        <a:rPr lang="en-US"/>
                        <a:t>7</a:t>
                      </a:r>
                    </a:p>
                  </a:txBody>
                  <a:tcPr/>
                </a:tc>
                <a:extLst>
                  <a:ext uri="{0D108BD9-81ED-4DB2-BD59-A6C34878D82A}">
                    <a16:rowId xmlns="" xmlns:a16="http://schemas.microsoft.com/office/drawing/2014/main" val="10003"/>
                  </a:ext>
                </a:extLst>
              </a:tr>
              <a:tr h="370840">
                <a:tc gridSpan="3">
                  <a:txBody>
                    <a:bodyPr/>
                    <a:lstStyle/>
                    <a:p>
                      <a:pPr algn="ctr"/>
                      <a:r>
                        <a:rPr lang="en-US"/>
                        <a:t>Free : 2</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866780372"/>
              </p:ext>
            </p:extLst>
          </p:nvPr>
        </p:nvGraphicFramePr>
        <p:xfrm>
          <a:off x="361722" y="1834783"/>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a:t>A</a:t>
                      </a:r>
                    </a:p>
                  </a:txBody>
                  <a:tcPr/>
                </a:tc>
                <a:tc>
                  <a:txBody>
                    <a:bodyPr/>
                    <a:lstStyle/>
                    <a:p>
                      <a:pPr marL="0" algn="ctr" defTabSz="914400" rtl="0" eaLnBrk="1" latinLnBrk="0" hangingPunct="1"/>
                      <a:r>
                        <a:rPr lang="en-US" sz="1800" kern="1200">
                          <a:solidFill>
                            <a:schemeClr val="dk1"/>
                          </a:solidFill>
                          <a:latin typeface="+mn-lt"/>
                          <a:ea typeface="+mn-ea"/>
                          <a:cs typeface="+mn-cs"/>
                        </a:rPr>
                        <a:t>1</a:t>
                      </a:r>
                    </a:p>
                  </a:txBody>
                  <a:tcPr/>
                </a:tc>
                <a:tc>
                  <a:txBody>
                    <a:bodyPr/>
                    <a:lstStyle/>
                    <a:p>
                      <a:pPr algn="ctr"/>
                      <a:r>
                        <a:rPr lang="en-US"/>
                        <a:t>2</a:t>
                      </a:r>
                    </a:p>
                  </a:txBody>
                  <a:tcPr/>
                </a:tc>
                <a:extLst>
                  <a:ext uri="{0D108BD9-81ED-4DB2-BD59-A6C34878D82A}">
                    <a16:rowId xmlns="" xmlns:a16="http://schemas.microsoft.com/office/drawing/2014/main" val="10001"/>
                  </a:ext>
                </a:extLst>
              </a:tr>
              <a:tr h="370840">
                <a:tc>
                  <a:txBody>
                    <a:bodyPr/>
                    <a:lstStyle/>
                    <a:p>
                      <a:pPr algn="ctr"/>
                      <a:r>
                        <a:rPr lang="en-US"/>
                        <a:t>B</a:t>
                      </a:r>
                    </a:p>
                  </a:txBody>
                  <a:tcPr/>
                </a:tc>
                <a:tc>
                  <a:txBody>
                    <a:bodyPr/>
                    <a:lstStyle/>
                    <a:p>
                      <a:pPr marL="0" algn="ctr" defTabSz="914400" rtl="0" eaLnBrk="1" latinLnBrk="0" hangingPunct="1"/>
                      <a:r>
                        <a:rPr lang="en-US" sz="1800" kern="1200">
                          <a:solidFill>
                            <a:schemeClr val="dk1"/>
                          </a:solidFill>
                          <a:latin typeface="+mn-lt"/>
                          <a:ea typeface="+mn-ea"/>
                          <a:cs typeface="+mn-cs"/>
                        </a:rPr>
                        <a:t>1</a:t>
                      </a:r>
                    </a:p>
                  </a:txBody>
                  <a:tcPr/>
                </a:tc>
                <a:tc>
                  <a:txBody>
                    <a:bodyPr/>
                    <a:lstStyle/>
                    <a:p>
                      <a:pPr algn="ctr"/>
                      <a:r>
                        <a:rPr lang="en-US"/>
                        <a:t>2</a:t>
                      </a:r>
                    </a:p>
                  </a:txBody>
                  <a:tcPr/>
                </a:tc>
                <a:extLst>
                  <a:ext uri="{0D108BD9-81ED-4DB2-BD59-A6C34878D82A}">
                    <a16:rowId xmlns="" xmlns:a16="http://schemas.microsoft.com/office/drawing/2014/main" val="10002"/>
                  </a:ext>
                </a:extLst>
              </a:tr>
              <a:tr h="373985">
                <a:tc>
                  <a:txBody>
                    <a:bodyPr/>
                    <a:lstStyle/>
                    <a:p>
                      <a:pPr algn="ctr"/>
                      <a:r>
                        <a:rPr lang="en-US"/>
                        <a:t>C</a:t>
                      </a:r>
                    </a:p>
                  </a:txBody>
                  <a:tcPr/>
                </a:tc>
                <a:tc>
                  <a:txBody>
                    <a:bodyPr/>
                    <a:lstStyle/>
                    <a:p>
                      <a:pPr marL="0" algn="ctr" defTabSz="914400" rtl="0" eaLnBrk="1" latinLnBrk="0" hangingPunct="1"/>
                      <a:r>
                        <a:rPr lang="en-US" sz="1800" kern="1200">
                          <a:solidFill>
                            <a:schemeClr val="dk1"/>
                          </a:solidFill>
                          <a:latin typeface="+mn-lt"/>
                          <a:ea typeface="+mn-ea"/>
                          <a:cs typeface="+mn-cs"/>
                        </a:rPr>
                        <a:t>1</a:t>
                      </a:r>
                    </a:p>
                  </a:txBody>
                  <a:tcPr/>
                </a:tc>
                <a:tc>
                  <a:txBody>
                    <a:bodyPr/>
                    <a:lstStyle/>
                    <a:p>
                      <a:pPr algn="ctr"/>
                      <a:r>
                        <a:rPr lang="en-US"/>
                        <a:t>2</a:t>
                      </a:r>
                    </a:p>
                  </a:txBody>
                  <a:tcPr/>
                </a:tc>
                <a:extLst>
                  <a:ext uri="{0D108BD9-81ED-4DB2-BD59-A6C34878D82A}">
                    <a16:rowId xmlns="" xmlns:a16="http://schemas.microsoft.com/office/drawing/2014/main" val="10003"/>
                  </a:ext>
                </a:extLst>
              </a:tr>
              <a:tr h="370840">
                <a:tc gridSpan="3">
                  <a:txBody>
                    <a:bodyPr/>
                    <a:lstStyle/>
                    <a:p>
                      <a:pPr algn="ctr"/>
                      <a:r>
                        <a:rPr lang="en-US"/>
                        <a:t>Total : 4  &amp;  Free : 1</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168444750"/>
              </p:ext>
            </p:extLst>
          </p:nvPr>
        </p:nvGraphicFramePr>
        <p:xfrm>
          <a:off x="4313690" y="1834783"/>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sz="1800" kern="1200">
                          <a:solidFill>
                            <a:schemeClr val="accent2"/>
                          </a:solidFill>
                          <a:latin typeface="+mn-lt"/>
                          <a:ea typeface="+mn-ea"/>
                          <a:cs typeface="+mn-cs"/>
                        </a:rPr>
                        <a:t>A</a:t>
                      </a:r>
                    </a:p>
                  </a:txBody>
                  <a:tcPr/>
                </a:tc>
                <a:tc>
                  <a:txBody>
                    <a:bodyPr/>
                    <a:lstStyle/>
                    <a:p>
                      <a:pPr marL="0" algn="ctr" defTabSz="914400" rtl="0" eaLnBrk="1" latinLnBrk="0" hangingPunct="1"/>
                      <a:r>
                        <a:rPr lang="en-US" sz="1800" kern="1200">
                          <a:solidFill>
                            <a:schemeClr val="accent2"/>
                          </a:solidFill>
                          <a:latin typeface="+mn-lt"/>
                          <a:ea typeface="+mn-ea"/>
                          <a:cs typeface="+mn-cs"/>
                        </a:rPr>
                        <a:t>2</a:t>
                      </a:r>
                    </a:p>
                  </a:txBody>
                  <a:tcPr/>
                </a:tc>
                <a:tc>
                  <a:txBody>
                    <a:bodyPr/>
                    <a:lstStyle/>
                    <a:p>
                      <a:pPr algn="ctr"/>
                      <a:r>
                        <a:rPr lang="en-US" sz="1800" kern="1200">
                          <a:solidFill>
                            <a:schemeClr val="accent2"/>
                          </a:solidFill>
                          <a:latin typeface="+mn-lt"/>
                          <a:ea typeface="+mn-ea"/>
                          <a:cs typeface="+mn-cs"/>
                        </a:rPr>
                        <a:t>2</a:t>
                      </a:r>
                    </a:p>
                  </a:txBody>
                  <a:tcPr/>
                </a:tc>
                <a:extLst>
                  <a:ext uri="{0D108BD9-81ED-4DB2-BD59-A6C34878D82A}">
                    <a16:rowId xmlns="" xmlns:a16="http://schemas.microsoft.com/office/drawing/2014/main" val="10001"/>
                  </a:ext>
                </a:extLst>
              </a:tr>
              <a:tr h="370840">
                <a:tc>
                  <a:txBody>
                    <a:bodyPr/>
                    <a:lstStyle/>
                    <a:p>
                      <a:pPr algn="ctr"/>
                      <a:r>
                        <a:rPr lang="en-US">
                          <a:solidFill>
                            <a:schemeClr val="tx1"/>
                          </a:solidFill>
                        </a:rPr>
                        <a:t>B</a:t>
                      </a:r>
                    </a:p>
                  </a:txBody>
                  <a:tcPr/>
                </a:tc>
                <a:tc>
                  <a:txBody>
                    <a:bodyPr/>
                    <a:lstStyle/>
                    <a:p>
                      <a:pPr marL="0" algn="ctr" defTabSz="914400" rtl="0" eaLnBrk="1" latinLnBrk="0" hangingPunct="1"/>
                      <a:r>
                        <a:rPr lang="en-US" sz="1800" kern="1200">
                          <a:solidFill>
                            <a:schemeClr val="tx1"/>
                          </a:solidFill>
                          <a:latin typeface="+mn-lt"/>
                          <a:ea typeface="+mn-ea"/>
                          <a:cs typeface="+mn-cs"/>
                        </a:rPr>
                        <a:t>1</a:t>
                      </a:r>
                    </a:p>
                  </a:txBody>
                  <a:tcPr/>
                </a:tc>
                <a:tc>
                  <a:txBody>
                    <a:bodyPr/>
                    <a:lstStyle/>
                    <a:p>
                      <a:pPr algn="ctr"/>
                      <a:r>
                        <a:rPr lang="en-US">
                          <a:solidFill>
                            <a:schemeClr val="tx1"/>
                          </a:solidFill>
                        </a:rPr>
                        <a:t>2</a:t>
                      </a:r>
                    </a:p>
                  </a:txBody>
                  <a:tcPr/>
                </a:tc>
                <a:extLst>
                  <a:ext uri="{0D108BD9-81ED-4DB2-BD59-A6C34878D82A}">
                    <a16:rowId xmlns="" xmlns:a16="http://schemas.microsoft.com/office/drawing/2014/main" val="10002"/>
                  </a:ext>
                </a:extLst>
              </a:tr>
              <a:tr h="373985">
                <a:tc>
                  <a:txBody>
                    <a:bodyPr/>
                    <a:lstStyle/>
                    <a:p>
                      <a:pPr algn="ctr"/>
                      <a:r>
                        <a:rPr lang="en-US"/>
                        <a:t>C</a:t>
                      </a:r>
                    </a:p>
                  </a:txBody>
                  <a:tcPr/>
                </a:tc>
                <a:tc>
                  <a:txBody>
                    <a:bodyPr/>
                    <a:lstStyle/>
                    <a:p>
                      <a:pPr marL="0" algn="ctr" defTabSz="914400" rtl="0" eaLnBrk="1" latinLnBrk="0" hangingPunct="1"/>
                      <a:r>
                        <a:rPr lang="en-US" sz="1800" kern="1200">
                          <a:solidFill>
                            <a:schemeClr val="dk1"/>
                          </a:solidFill>
                          <a:latin typeface="+mn-lt"/>
                          <a:ea typeface="+mn-ea"/>
                          <a:cs typeface="+mn-cs"/>
                        </a:rPr>
                        <a:t>1</a:t>
                      </a:r>
                    </a:p>
                  </a:txBody>
                  <a:tcPr/>
                </a:tc>
                <a:tc>
                  <a:txBody>
                    <a:bodyPr/>
                    <a:lstStyle/>
                    <a:p>
                      <a:pPr algn="ctr"/>
                      <a:r>
                        <a:rPr lang="en-US"/>
                        <a:t>2</a:t>
                      </a:r>
                    </a:p>
                  </a:txBody>
                  <a:tcPr/>
                </a:tc>
                <a:extLst>
                  <a:ext uri="{0D108BD9-81ED-4DB2-BD59-A6C34878D82A}">
                    <a16:rowId xmlns="" xmlns:a16="http://schemas.microsoft.com/office/drawing/2014/main" val="10003"/>
                  </a:ext>
                </a:extLst>
              </a:tr>
              <a:tr h="370840">
                <a:tc gridSpan="3">
                  <a:txBody>
                    <a:bodyPr/>
                    <a:lstStyle/>
                    <a:p>
                      <a:pPr algn="ctr"/>
                      <a:r>
                        <a:rPr lang="en-US"/>
                        <a:t>Free : 0</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496523519"/>
              </p:ext>
            </p:extLst>
          </p:nvPr>
        </p:nvGraphicFramePr>
        <p:xfrm>
          <a:off x="8201021" y="3930955"/>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sz="1800" kern="1200">
                          <a:solidFill>
                            <a:schemeClr val="bg1"/>
                          </a:solidFill>
                          <a:latin typeface="+mn-lt"/>
                          <a:ea typeface="+mn-ea"/>
                          <a:cs typeface="+mn-cs"/>
                        </a:rPr>
                        <a:t>A</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sz="1800" kern="1200">
                          <a:solidFill>
                            <a:schemeClr val="bg1"/>
                          </a:solidFill>
                          <a:latin typeface="+mn-lt"/>
                          <a:ea typeface="+mn-ea"/>
                          <a:cs typeface="+mn-cs"/>
                        </a:rPr>
                        <a:t>-</a:t>
                      </a:r>
                    </a:p>
                  </a:txBody>
                  <a:tcPr/>
                </a:tc>
                <a:extLst>
                  <a:ext uri="{0D108BD9-81ED-4DB2-BD59-A6C34878D82A}">
                    <a16:rowId xmlns="" xmlns:a16="http://schemas.microsoft.com/office/drawing/2014/main" val="10001"/>
                  </a:ext>
                </a:extLst>
              </a:tr>
              <a:tr h="370840">
                <a:tc>
                  <a:txBody>
                    <a:bodyPr/>
                    <a:lstStyle/>
                    <a:p>
                      <a:pPr algn="ctr"/>
                      <a:r>
                        <a:rPr lang="en-US">
                          <a:solidFill>
                            <a:schemeClr val="bg1"/>
                          </a:solidFill>
                        </a:rPr>
                        <a:t>B</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2"/>
                  </a:ext>
                </a:extLst>
              </a:tr>
              <a:tr h="373985">
                <a:tc>
                  <a:txBody>
                    <a:bodyPr/>
                    <a:lstStyle/>
                    <a:p>
                      <a:pPr algn="ctr"/>
                      <a:r>
                        <a:rPr lang="en-US" sz="1800" kern="1200">
                          <a:solidFill>
                            <a:schemeClr val="accent2"/>
                          </a:solidFill>
                          <a:latin typeface="+mn-lt"/>
                          <a:ea typeface="+mn-ea"/>
                          <a:cs typeface="+mn-cs"/>
                        </a:rPr>
                        <a:t>C</a:t>
                      </a:r>
                    </a:p>
                  </a:txBody>
                  <a:tcPr/>
                </a:tc>
                <a:tc>
                  <a:txBody>
                    <a:bodyPr/>
                    <a:lstStyle/>
                    <a:p>
                      <a:pPr marL="0" algn="ctr" defTabSz="914400" rtl="0" eaLnBrk="1" latinLnBrk="0" hangingPunct="1"/>
                      <a:r>
                        <a:rPr lang="en-US" sz="1800" kern="1200">
                          <a:solidFill>
                            <a:schemeClr val="accent2"/>
                          </a:solidFill>
                          <a:latin typeface="+mn-lt"/>
                          <a:ea typeface="+mn-ea"/>
                          <a:cs typeface="+mn-cs"/>
                        </a:rPr>
                        <a:t>2</a:t>
                      </a:r>
                    </a:p>
                  </a:txBody>
                  <a:tcPr/>
                </a:tc>
                <a:tc>
                  <a:txBody>
                    <a:bodyPr/>
                    <a:lstStyle/>
                    <a:p>
                      <a:pPr algn="ctr"/>
                      <a:r>
                        <a:rPr lang="en-US" sz="1800" kern="1200">
                          <a:solidFill>
                            <a:schemeClr val="accent2"/>
                          </a:solidFill>
                          <a:latin typeface="+mn-lt"/>
                          <a:ea typeface="+mn-ea"/>
                          <a:cs typeface="+mn-cs"/>
                        </a:rPr>
                        <a:t>2</a:t>
                      </a:r>
                    </a:p>
                  </a:txBody>
                  <a:tcPr/>
                </a:tc>
                <a:extLst>
                  <a:ext uri="{0D108BD9-81ED-4DB2-BD59-A6C34878D82A}">
                    <a16:rowId xmlns="" xmlns:a16="http://schemas.microsoft.com/office/drawing/2014/main" val="10003"/>
                  </a:ext>
                </a:extLst>
              </a:tr>
              <a:tr h="370840">
                <a:tc gridSpan="3">
                  <a:txBody>
                    <a:bodyPr/>
                    <a:lstStyle/>
                    <a:p>
                      <a:pPr algn="ctr"/>
                      <a:r>
                        <a:rPr lang="en-US"/>
                        <a:t>Free : 2</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677175625"/>
              </p:ext>
            </p:extLst>
          </p:nvPr>
        </p:nvGraphicFramePr>
        <p:xfrm>
          <a:off x="339950" y="3930955"/>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sz="1800" kern="1200">
                          <a:solidFill>
                            <a:schemeClr val="bg1"/>
                          </a:solidFill>
                          <a:latin typeface="+mn-lt"/>
                          <a:ea typeface="+mn-ea"/>
                          <a:cs typeface="+mn-cs"/>
                        </a:rPr>
                        <a:t>A</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sz="1800" kern="1200">
                          <a:solidFill>
                            <a:schemeClr val="bg1"/>
                          </a:solidFill>
                          <a:latin typeface="+mn-lt"/>
                          <a:ea typeface="+mn-ea"/>
                          <a:cs typeface="+mn-cs"/>
                        </a:rPr>
                        <a:t>-</a:t>
                      </a:r>
                    </a:p>
                  </a:txBody>
                  <a:tcPr/>
                </a:tc>
                <a:extLst>
                  <a:ext uri="{0D108BD9-81ED-4DB2-BD59-A6C34878D82A}">
                    <a16:rowId xmlns="" xmlns:a16="http://schemas.microsoft.com/office/drawing/2014/main" val="10001"/>
                  </a:ext>
                </a:extLst>
              </a:tr>
              <a:tr h="370840">
                <a:tc>
                  <a:txBody>
                    <a:bodyPr/>
                    <a:lstStyle/>
                    <a:p>
                      <a:pPr algn="ctr"/>
                      <a:r>
                        <a:rPr lang="en-US" sz="1800" kern="1200">
                          <a:solidFill>
                            <a:schemeClr val="accent2"/>
                          </a:solidFill>
                          <a:latin typeface="+mn-lt"/>
                          <a:ea typeface="+mn-ea"/>
                          <a:cs typeface="+mn-cs"/>
                        </a:rPr>
                        <a:t>B</a:t>
                      </a:r>
                    </a:p>
                  </a:txBody>
                  <a:tcPr/>
                </a:tc>
                <a:tc>
                  <a:txBody>
                    <a:bodyPr/>
                    <a:lstStyle/>
                    <a:p>
                      <a:pPr marL="0" algn="ctr" defTabSz="914400" rtl="0" eaLnBrk="1" latinLnBrk="0" hangingPunct="1"/>
                      <a:r>
                        <a:rPr lang="en-US" sz="1800" kern="1200">
                          <a:solidFill>
                            <a:schemeClr val="accent2"/>
                          </a:solidFill>
                          <a:latin typeface="+mn-lt"/>
                          <a:ea typeface="+mn-ea"/>
                          <a:cs typeface="+mn-cs"/>
                        </a:rPr>
                        <a:t>2</a:t>
                      </a:r>
                    </a:p>
                  </a:txBody>
                  <a:tcPr/>
                </a:tc>
                <a:tc>
                  <a:txBody>
                    <a:bodyPr/>
                    <a:lstStyle/>
                    <a:p>
                      <a:pPr algn="ctr"/>
                      <a:r>
                        <a:rPr lang="en-US" sz="1800" kern="1200">
                          <a:solidFill>
                            <a:schemeClr val="accent2"/>
                          </a:solidFill>
                          <a:latin typeface="+mn-lt"/>
                          <a:ea typeface="+mn-ea"/>
                          <a:cs typeface="+mn-cs"/>
                        </a:rPr>
                        <a:t>2</a:t>
                      </a:r>
                    </a:p>
                  </a:txBody>
                  <a:tcPr/>
                </a:tc>
                <a:extLst>
                  <a:ext uri="{0D108BD9-81ED-4DB2-BD59-A6C34878D82A}">
                    <a16:rowId xmlns="" xmlns:a16="http://schemas.microsoft.com/office/drawing/2014/main" val="10002"/>
                  </a:ext>
                </a:extLst>
              </a:tr>
              <a:tr h="373985">
                <a:tc>
                  <a:txBody>
                    <a:bodyPr/>
                    <a:lstStyle/>
                    <a:p>
                      <a:pPr algn="ctr"/>
                      <a:r>
                        <a:rPr lang="en-US" sz="1800" kern="1200">
                          <a:solidFill>
                            <a:schemeClr val="dk1"/>
                          </a:solidFill>
                          <a:latin typeface="+mn-lt"/>
                          <a:ea typeface="+mn-ea"/>
                          <a:cs typeface="+mn-cs"/>
                        </a:rPr>
                        <a:t>C</a:t>
                      </a:r>
                    </a:p>
                  </a:txBody>
                  <a:tcPr/>
                </a:tc>
                <a:tc>
                  <a:txBody>
                    <a:bodyPr/>
                    <a:lstStyle/>
                    <a:p>
                      <a:pPr marL="0" algn="ctr" defTabSz="914400" rtl="0" eaLnBrk="1" latinLnBrk="0" hangingPunct="1"/>
                      <a:r>
                        <a:rPr lang="en-US" sz="1800" kern="1200">
                          <a:solidFill>
                            <a:schemeClr val="dk1"/>
                          </a:solidFill>
                          <a:latin typeface="+mn-lt"/>
                          <a:ea typeface="+mn-ea"/>
                          <a:cs typeface="+mn-cs"/>
                        </a:rPr>
                        <a:t>7</a:t>
                      </a:r>
                    </a:p>
                  </a:txBody>
                  <a:tcPr/>
                </a:tc>
                <a:tc>
                  <a:txBody>
                    <a:bodyPr/>
                    <a:lstStyle/>
                    <a:p>
                      <a:pPr algn="ctr"/>
                      <a:r>
                        <a:rPr lang="en-US" sz="1800" kern="1200">
                          <a:solidFill>
                            <a:schemeClr val="dk1"/>
                          </a:solidFill>
                          <a:latin typeface="+mn-lt"/>
                          <a:ea typeface="+mn-ea"/>
                          <a:cs typeface="+mn-cs"/>
                        </a:rPr>
                        <a:t>7</a:t>
                      </a:r>
                    </a:p>
                  </a:txBody>
                  <a:tcPr/>
                </a:tc>
                <a:extLst>
                  <a:ext uri="{0D108BD9-81ED-4DB2-BD59-A6C34878D82A}">
                    <a16:rowId xmlns="" xmlns:a16="http://schemas.microsoft.com/office/drawing/2014/main" val="10003"/>
                  </a:ext>
                </a:extLst>
              </a:tr>
              <a:tr h="370840">
                <a:tc gridSpan="3">
                  <a:txBody>
                    <a:bodyPr/>
                    <a:lstStyle/>
                    <a:p>
                      <a:pPr algn="ctr"/>
                      <a:r>
                        <a:rPr lang="en-US"/>
                        <a:t>Free : 1</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258245429"/>
              </p:ext>
            </p:extLst>
          </p:nvPr>
        </p:nvGraphicFramePr>
        <p:xfrm>
          <a:off x="4291918" y="3930955"/>
          <a:ext cx="3607752" cy="1857345"/>
        </p:xfrm>
        <a:graphic>
          <a:graphicData uri="http://schemas.openxmlformats.org/drawingml/2006/table">
            <a:tbl>
              <a:tblPr firstRow="1" bandRow="1">
                <a:tableStyleId>{93296810-A885-4BE3-A3E7-6D5BEEA58F35}</a:tableStyleId>
              </a:tblPr>
              <a:tblGrid>
                <a:gridCol w="976630">
                  <a:extLst>
                    <a:ext uri="{9D8B030D-6E8A-4147-A177-3AD203B41FA5}">
                      <a16:colId xmlns="" xmlns:a16="http://schemas.microsoft.com/office/drawing/2014/main" val="20000"/>
                    </a:ext>
                  </a:extLst>
                </a:gridCol>
                <a:gridCol w="1190942">
                  <a:extLst>
                    <a:ext uri="{9D8B030D-6E8A-4147-A177-3AD203B41FA5}">
                      <a16:colId xmlns="" xmlns:a16="http://schemas.microsoft.com/office/drawing/2014/main" val="20001"/>
                    </a:ext>
                  </a:extLst>
                </a:gridCol>
                <a:gridCol w="1440180">
                  <a:extLst>
                    <a:ext uri="{9D8B030D-6E8A-4147-A177-3AD203B41FA5}">
                      <a16:colId xmlns="" xmlns:a16="http://schemas.microsoft.com/office/drawing/2014/main" val="20002"/>
                    </a:ext>
                  </a:extLst>
                </a:gridCol>
              </a:tblGrid>
              <a:tr h="370840">
                <a:tc>
                  <a:txBody>
                    <a:bodyPr/>
                    <a:lstStyle/>
                    <a:p>
                      <a:pPr algn="ctr"/>
                      <a:r>
                        <a:rPr lang="en-US"/>
                        <a:t>Process</a:t>
                      </a:r>
                    </a:p>
                  </a:txBody>
                  <a:tcPr/>
                </a:tc>
                <a:tc>
                  <a:txBody>
                    <a:bodyPr/>
                    <a:lstStyle/>
                    <a:p>
                      <a:pPr marL="0" algn="ctr" defTabSz="914400" rtl="0" eaLnBrk="1" latinLnBrk="0" hangingPunct="1"/>
                      <a:r>
                        <a:rPr lang="en-US" sz="1800" kern="1200"/>
                        <a:t>Has / Hold</a:t>
                      </a:r>
                      <a:endParaRPr lang="en-US" sz="1800" b="1" kern="1200">
                        <a:solidFill>
                          <a:schemeClr val="lt1"/>
                        </a:solidFill>
                        <a:latin typeface="+mn-lt"/>
                        <a:ea typeface="+mn-ea"/>
                        <a:cs typeface="+mn-cs"/>
                      </a:endParaRPr>
                    </a:p>
                  </a:txBody>
                  <a:tcPr/>
                </a:tc>
                <a:tc>
                  <a:txBody>
                    <a:bodyPr/>
                    <a:lstStyle/>
                    <a:p>
                      <a:pPr algn="ctr"/>
                      <a:r>
                        <a:rPr lang="en-US"/>
                        <a:t>Max required</a:t>
                      </a:r>
                    </a:p>
                  </a:txBody>
                  <a:tcPr/>
                </a:tc>
                <a:extLst>
                  <a:ext uri="{0D108BD9-81ED-4DB2-BD59-A6C34878D82A}">
                    <a16:rowId xmlns="" xmlns:a16="http://schemas.microsoft.com/office/drawing/2014/main" val="10000"/>
                  </a:ext>
                </a:extLst>
              </a:tr>
              <a:tr h="370840">
                <a:tc>
                  <a:txBody>
                    <a:bodyPr/>
                    <a:lstStyle/>
                    <a:p>
                      <a:pPr algn="ctr"/>
                      <a:r>
                        <a:rPr lang="en-US" sz="1800" kern="1200">
                          <a:solidFill>
                            <a:schemeClr val="bg1"/>
                          </a:solidFill>
                          <a:latin typeface="+mn-lt"/>
                          <a:ea typeface="+mn-ea"/>
                          <a:cs typeface="+mn-cs"/>
                        </a:rPr>
                        <a:t>A</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sz="1800" kern="1200">
                          <a:solidFill>
                            <a:schemeClr val="bg1"/>
                          </a:solidFill>
                          <a:latin typeface="+mn-lt"/>
                          <a:ea typeface="+mn-ea"/>
                          <a:cs typeface="+mn-cs"/>
                        </a:rPr>
                        <a:t>-</a:t>
                      </a:r>
                    </a:p>
                  </a:txBody>
                  <a:tcPr/>
                </a:tc>
                <a:extLst>
                  <a:ext uri="{0D108BD9-81ED-4DB2-BD59-A6C34878D82A}">
                    <a16:rowId xmlns="" xmlns:a16="http://schemas.microsoft.com/office/drawing/2014/main" val="10001"/>
                  </a:ext>
                </a:extLst>
              </a:tr>
              <a:tr h="370840">
                <a:tc>
                  <a:txBody>
                    <a:bodyPr/>
                    <a:lstStyle/>
                    <a:p>
                      <a:pPr algn="ctr"/>
                      <a:r>
                        <a:rPr lang="en-US">
                          <a:solidFill>
                            <a:schemeClr val="bg1"/>
                          </a:solidFill>
                        </a:rPr>
                        <a:t>B</a:t>
                      </a:r>
                    </a:p>
                  </a:txBody>
                  <a:tcPr/>
                </a:tc>
                <a:tc>
                  <a:txBody>
                    <a:bodyPr/>
                    <a:lstStyle/>
                    <a:p>
                      <a:pPr marL="0" algn="ctr" defTabSz="914400" rtl="0" eaLnBrk="1" latinLnBrk="0" hangingPunct="1"/>
                      <a:r>
                        <a:rPr lang="en-US" sz="1800" kern="1200">
                          <a:solidFill>
                            <a:schemeClr val="bg1"/>
                          </a:solidFill>
                          <a:latin typeface="+mn-lt"/>
                          <a:ea typeface="+mn-ea"/>
                          <a:cs typeface="+mn-cs"/>
                        </a:rPr>
                        <a:t>0</a:t>
                      </a:r>
                    </a:p>
                  </a:txBody>
                  <a:tcPr/>
                </a:tc>
                <a:tc>
                  <a:txBody>
                    <a:bodyPr/>
                    <a:lstStyle/>
                    <a:p>
                      <a:pPr algn="ctr"/>
                      <a:r>
                        <a:rPr lang="en-US">
                          <a:solidFill>
                            <a:schemeClr val="bg1"/>
                          </a:solidFill>
                        </a:rPr>
                        <a:t>-</a:t>
                      </a:r>
                    </a:p>
                  </a:txBody>
                  <a:tcPr/>
                </a:tc>
                <a:extLst>
                  <a:ext uri="{0D108BD9-81ED-4DB2-BD59-A6C34878D82A}">
                    <a16:rowId xmlns="" xmlns:a16="http://schemas.microsoft.com/office/drawing/2014/main" val="10002"/>
                  </a:ext>
                </a:extLst>
              </a:tr>
              <a:tr h="373985">
                <a:tc>
                  <a:txBody>
                    <a:bodyPr/>
                    <a:lstStyle/>
                    <a:p>
                      <a:pPr algn="ctr"/>
                      <a:r>
                        <a:rPr lang="en-US">
                          <a:solidFill>
                            <a:schemeClr val="tx1"/>
                          </a:solidFill>
                        </a:rPr>
                        <a:t>C</a:t>
                      </a:r>
                    </a:p>
                  </a:txBody>
                  <a:tcPr/>
                </a:tc>
                <a:tc>
                  <a:txBody>
                    <a:bodyPr/>
                    <a:lstStyle/>
                    <a:p>
                      <a:pPr marL="0" algn="ctr" defTabSz="914400" rtl="0" eaLnBrk="1" latinLnBrk="0" hangingPunct="1"/>
                      <a:r>
                        <a:rPr lang="en-US" sz="1800" kern="1200">
                          <a:solidFill>
                            <a:schemeClr val="tx1"/>
                          </a:solidFill>
                          <a:latin typeface="+mn-lt"/>
                          <a:ea typeface="+mn-ea"/>
                          <a:cs typeface="+mn-cs"/>
                        </a:rPr>
                        <a:t>1</a:t>
                      </a:r>
                    </a:p>
                  </a:txBody>
                  <a:tcPr/>
                </a:tc>
                <a:tc>
                  <a:txBody>
                    <a:bodyPr/>
                    <a:lstStyle/>
                    <a:p>
                      <a:pPr algn="ctr"/>
                      <a:r>
                        <a:rPr lang="en-US">
                          <a:solidFill>
                            <a:schemeClr val="tx1"/>
                          </a:solidFill>
                        </a:rPr>
                        <a:t>2</a:t>
                      </a:r>
                    </a:p>
                  </a:txBody>
                  <a:tcPr/>
                </a:tc>
                <a:extLst>
                  <a:ext uri="{0D108BD9-81ED-4DB2-BD59-A6C34878D82A}">
                    <a16:rowId xmlns="" xmlns:a16="http://schemas.microsoft.com/office/drawing/2014/main" val="10003"/>
                  </a:ext>
                </a:extLst>
              </a:tr>
              <a:tr h="370840">
                <a:tc gridSpan="3">
                  <a:txBody>
                    <a:bodyPr/>
                    <a:lstStyle/>
                    <a:p>
                      <a:pPr algn="ctr"/>
                      <a:r>
                        <a:rPr lang="en-US"/>
                        <a:t>Free : 3</a:t>
                      </a:r>
                    </a:p>
                  </a:txBody>
                  <a:tcPr/>
                </a:tc>
                <a:tc hMerge="1">
                  <a:txBody>
                    <a:bodyPr/>
                    <a:lstStyle/>
                    <a:p>
                      <a:pPr marL="0" algn="ctr" defTabSz="914400" rtl="0" eaLnBrk="1" latinLnBrk="0" hangingPunct="1"/>
                      <a:endParaRPr lang="en-US" sz="1800" kern="1200">
                        <a:solidFill>
                          <a:schemeClr val="dk1"/>
                        </a:solidFill>
                        <a:latin typeface="+mn-lt"/>
                        <a:ea typeface="+mn-ea"/>
                        <a:cs typeface="+mn-cs"/>
                      </a:endParaRPr>
                    </a:p>
                  </a:txBody>
                  <a:tcPr/>
                </a:tc>
                <a:tc hMerge="1">
                  <a:txBody>
                    <a:bodyPr/>
                    <a:lstStyle/>
                    <a:p>
                      <a:pPr algn="ctr"/>
                      <a:endParaRPr lang="en-US"/>
                    </a:p>
                  </a:txBody>
                  <a:tcPr/>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5179629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Assignment</a:t>
            </a:r>
          </a:p>
        </p:txBody>
      </p:sp>
      <p:sp>
        <p:nvSpPr>
          <p:cNvPr id="3" name="Content Placeholder 2"/>
          <p:cNvSpPr>
            <a:spLocks noGrp="1"/>
          </p:cNvSpPr>
          <p:nvPr>
            <p:ph idx="1"/>
          </p:nvPr>
        </p:nvSpPr>
        <p:spPr>
          <a:xfrm>
            <a:off x="178805" y="863444"/>
            <a:ext cx="11929641" cy="5590565"/>
          </a:xfrm>
        </p:spPr>
        <p:txBody>
          <a:bodyPr/>
          <a:lstStyle/>
          <a:p>
            <a:pPr marL="457200" indent="-457200">
              <a:buFont typeface="+mj-lt"/>
              <a:buAutoNum type="arabicPeriod"/>
            </a:pPr>
            <a:r>
              <a:rPr lang="en-US"/>
              <a:t>What is RAG? Explain briefly.</a:t>
            </a:r>
          </a:p>
          <a:p>
            <a:pPr marL="457200" indent="-457200">
              <a:buFont typeface="+mj-lt"/>
              <a:buAutoNum type="arabicPeriod"/>
            </a:pPr>
            <a:r>
              <a:rPr lang="en-US"/>
              <a:t>What is Deadlock? List the conditions that lead to deadlock. How Deadlock can be prevented?</a:t>
            </a:r>
          </a:p>
          <a:p>
            <a:pPr marL="457200" indent="-457200">
              <a:buFont typeface="+mj-lt"/>
              <a:buAutoNum type="arabicPeriod"/>
            </a:pPr>
            <a:r>
              <a:rPr lang="en-US"/>
              <a:t>Which are the necessary conditions for Deadlock? Explain Deadlock recovery in brief.</a:t>
            </a:r>
          </a:p>
          <a:p>
            <a:pPr marL="457200" indent="-457200">
              <a:buFont typeface="+mj-lt"/>
              <a:buAutoNum type="arabicPeriod"/>
            </a:pPr>
            <a:r>
              <a:rPr lang="en-US"/>
              <a:t>Consider the snapshot of the system with Five Processes and Four types of resources A,B,C,D.</a:t>
            </a:r>
          </a:p>
          <a:p>
            <a:pPr marL="1001712" lvl="1" indent="-457200">
              <a:buFont typeface="Wingdings" panose="05000000000000000000" pitchFamily="2" charset="2"/>
              <a:buChar char="§"/>
            </a:pPr>
            <a:r>
              <a:rPr lang="en-US"/>
              <a:t>Currently available set of resources is </a:t>
            </a:r>
          </a:p>
          <a:p>
            <a:pPr marL="542925" lvl="1" indent="428625">
              <a:buNone/>
            </a:pPr>
            <a:r>
              <a:rPr lang="en-US"/>
              <a:t>(1,5,2,0). </a:t>
            </a:r>
          </a:p>
          <a:p>
            <a:pPr marL="1001712" lvl="1" indent="-457200">
              <a:buFont typeface="Wingdings" panose="05000000000000000000" pitchFamily="2" charset="2"/>
              <a:buChar char="§"/>
            </a:pPr>
            <a:r>
              <a:rPr lang="en-US"/>
              <a:t>Answer the following Questions using </a:t>
            </a:r>
          </a:p>
          <a:p>
            <a:pPr marL="542925" lvl="1" indent="485775">
              <a:buNone/>
            </a:pPr>
            <a:r>
              <a:rPr lang="en-US"/>
              <a:t>bankers algorithm.</a:t>
            </a:r>
          </a:p>
          <a:p>
            <a:pPr marL="1335087" lvl="2" indent="-457200">
              <a:buFont typeface="+mj-lt"/>
              <a:buAutoNum type="arabicPeriod"/>
            </a:pPr>
            <a:r>
              <a:rPr lang="en-US"/>
              <a:t>Find the content of Need Matrix.</a:t>
            </a:r>
          </a:p>
          <a:p>
            <a:pPr marL="1335087" lvl="2" indent="-457200">
              <a:buFont typeface="+mj-lt"/>
              <a:buAutoNum type="arabicPeriod"/>
            </a:pPr>
            <a:r>
              <a:rPr lang="en-US"/>
              <a:t>Is the System in Safe State?</a:t>
            </a:r>
          </a:p>
          <a:p>
            <a:pPr marL="1335087" lvl="2" indent="-457200">
              <a:buFont typeface="+mj-lt"/>
              <a:buAutoNum type="arabicPeriod"/>
            </a:pPr>
            <a:r>
              <a:rPr lang="en-US"/>
              <a:t>If request from Process P1 arrives </a:t>
            </a:r>
          </a:p>
          <a:p>
            <a:pPr marL="876300" lvl="2" indent="438150">
              <a:buNone/>
            </a:pPr>
            <a:r>
              <a:rPr lang="en-US"/>
              <a:t>for (0,4,2,0) can the request </a:t>
            </a:r>
          </a:p>
          <a:p>
            <a:pPr marL="876300" lvl="2" indent="438150">
              <a:buNone/>
            </a:pPr>
            <a:r>
              <a:rPr lang="en-US"/>
              <a:t>be granted immediately</a:t>
            </a:r>
            <a:endParaRPr lang="en-GB"/>
          </a:p>
        </p:txBody>
      </p:sp>
      <p:graphicFrame>
        <p:nvGraphicFramePr>
          <p:cNvPr id="4" name="Table 3"/>
          <p:cNvGraphicFramePr>
            <a:graphicFrameLocks noGrp="1"/>
          </p:cNvGraphicFramePr>
          <p:nvPr>
            <p:extLst>
              <p:ext uri="{D42A27DB-BD31-4B8C-83A1-F6EECF244321}">
                <p14:modId xmlns:p14="http://schemas.microsoft.com/office/powerpoint/2010/main" val="2098986296"/>
              </p:ext>
            </p:extLst>
          </p:nvPr>
        </p:nvGraphicFramePr>
        <p:xfrm>
          <a:off x="5653354" y="2709545"/>
          <a:ext cx="6455092" cy="2595880"/>
        </p:xfrm>
        <a:graphic>
          <a:graphicData uri="http://schemas.openxmlformats.org/drawingml/2006/table">
            <a:tbl>
              <a:tblPr firstRow="1" bandRow="1">
                <a:tableStyleId>{10A1B5D5-9B99-4C35-A422-299274C87663}</a:tableStyleId>
              </a:tblPr>
              <a:tblGrid>
                <a:gridCol w="968692">
                  <a:extLst>
                    <a:ext uri="{9D8B030D-6E8A-4147-A177-3AD203B41FA5}">
                      <a16:colId xmlns="" xmlns:a16="http://schemas.microsoft.com/office/drawing/2014/main" val="20000"/>
                    </a:ext>
                  </a:extLst>
                </a:gridCol>
                <a:gridCol w="609600">
                  <a:extLst>
                    <a:ext uri="{9D8B030D-6E8A-4147-A177-3AD203B41FA5}">
                      <a16:colId xmlns="" xmlns:a16="http://schemas.microsoft.com/office/drawing/2014/main" val="20001"/>
                    </a:ext>
                  </a:extLst>
                </a:gridCol>
                <a:gridCol w="609600">
                  <a:extLst>
                    <a:ext uri="{9D8B030D-6E8A-4147-A177-3AD203B41FA5}">
                      <a16:colId xmlns="" xmlns:a16="http://schemas.microsoft.com/office/drawing/2014/main" val="20002"/>
                    </a:ext>
                  </a:extLst>
                </a:gridCol>
                <a:gridCol w="609600">
                  <a:extLst>
                    <a:ext uri="{9D8B030D-6E8A-4147-A177-3AD203B41FA5}">
                      <a16:colId xmlns="" xmlns:a16="http://schemas.microsoft.com/office/drawing/2014/main" val="20003"/>
                    </a:ext>
                  </a:extLst>
                </a:gridCol>
                <a:gridCol w="609600">
                  <a:extLst>
                    <a:ext uri="{9D8B030D-6E8A-4147-A177-3AD203B41FA5}">
                      <a16:colId xmlns="" xmlns:a16="http://schemas.microsoft.com/office/drawing/2014/main" val="20004"/>
                    </a:ext>
                  </a:extLst>
                </a:gridCol>
                <a:gridCol w="609600">
                  <a:extLst>
                    <a:ext uri="{9D8B030D-6E8A-4147-A177-3AD203B41FA5}">
                      <a16:colId xmlns="" xmlns:a16="http://schemas.microsoft.com/office/drawing/2014/main" val="20005"/>
                    </a:ext>
                  </a:extLst>
                </a:gridCol>
                <a:gridCol w="609600">
                  <a:extLst>
                    <a:ext uri="{9D8B030D-6E8A-4147-A177-3AD203B41FA5}">
                      <a16:colId xmlns="" xmlns:a16="http://schemas.microsoft.com/office/drawing/2014/main" val="20006"/>
                    </a:ext>
                  </a:extLst>
                </a:gridCol>
                <a:gridCol w="609600">
                  <a:extLst>
                    <a:ext uri="{9D8B030D-6E8A-4147-A177-3AD203B41FA5}">
                      <a16:colId xmlns="" xmlns:a16="http://schemas.microsoft.com/office/drawing/2014/main" val="20007"/>
                    </a:ext>
                  </a:extLst>
                </a:gridCol>
                <a:gridCol w="609600">
                  <a:extLst>
                    <a:ext uri="{9D8B030D-6E8A-4147-A177-3AD203B41FA5}">
                      <a16:colId xmlns="" xmlns:a16="http://schemas.microsoft.com/office/drawing/2014/main" val="20008"/>
                    </a:ext>
                  </a:extLst>
                </a:gridCol>
                <a:gridCol w="609600">
                  <a:extLst>
                    <a:ext uri="{9D8B030D-6E8A-4147-A177-3AD203B41FA5}">
                      <a16:colId xmlns="" xmlns:a16="http://schemas.microsoft.com/office/drawing/2014/main" val="20009"/>
                    </a:ext>
                  </a:extLst>
                </a:gridCol>
              </a:tblGrid>
              <a:tr h="370840">
                <a:tc gridSpan="5">
                  <a:txBody>
                    <a:bodyPr/>
                    <a:lstStyle/>
                    <a:p>
                      <a:pPr algn="ctr"/>
                      <a:r>
                        <a:rPr lang="en-US"/>
                        <a:t>Allocation</a:t>
                      </a:r>
                    </a:p>
                  </a:txBody>
                  <a:tcPr>
                    <a:lnR w="12700" cap="flat" cmpd="sng" algn="ctr">
                      <a:solidFill>
                        <a:schemeClr val="accent6">
                          <a:lumMod val="60000"/>
                          <a:lumOff val="40000"/>
                        </a:schemeClr>
                      </a:solidFill>
                      <a:prstDash val="solid"/>
                      <a:round/>
                      <a:headEnd type="none" w="med" len="med"/>
                      <a:tailEnd type="none" w="med" len="med"/>
                    </a:ln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7">
                  <a:txBody>
                    <a:bodyPr/>
                    <a:lstStyle/>
                    <a:p>
                      <a:pPr algn="ctr"/>
                      <a:endParaRPr lang="en-US"/>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solidFill>
                      <a:schemeClr val="bg1"/>
                    </a:solidFill>
                  </a:tcPr>
                </a:tc>
                <a:tc gridSpan="4">
                  <a:txBody>
                    <a:bodyPr/>
                    <a:lstStyle/>
                    <a:p>
                      <a:pPr algn="ctr"/>
                      <a:r>
                        <a:rPr lang="en-US"/>
                        <a:t>Max</a:t>
                      </a:r>
                    </a:p>
                  </a:txBody>
                  <a:tcPr>
                    <a:lnL w="12700" cap="flat" cmpd="sng" algn="ctr">
                      <a:solidFill>
                        <a:schemeClr val="accent6">
                          <a:lumMod val="60000"/>
                          <a:lumOff val="40000"/>
                        </a:schemeClr>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0000"/>
                  </a:ext>
                </a:extLst>
              </a:tr>
              <a:tr h="370840">
                <a:tc>
                  <a:txBody>
                    <a:bodyPr/>
                    <a:lstStyle/>
                    <a:p>
                      <a:pPr algn="ctr"/>
                      <a:r>
                        <a:rPr lang="en-US"/>
                        <a:t>Process</a:t>
                      </a:r>
                    </a:p>
                  </a:txBody>
                  <a:tcPr/>
                </a:tc>
                <a:tc>
                  <a:txBody>
                    <a:bodyPr/>
                    <a:lstStyle/>
                    <a:p>
                      <a:pPr algn="ctr"/>
                      <a:r>
                        <a:rPr lang="en-US"/>
                        <a:t>A</a:t>
                      </a:r>
                    </a:p>
                  </a:txBody>
                  <a:tcPr/>
                </a:tc>
                <a:tc>
                  <a:txBody>
                    <a:bodyPr/>
                    <a:lstStyle/>
                    <a:p>
                      <a:pPr algn="ctr"/>
                      <a:r>
                        <a:rPr lang="en-US"/>
                        <a:t>B</a:t>
                      </a:r>
                    </a:p>
                  </a:txBody>
                  <a:tcPr/>
                </a:tc>
                <a:tc>
                  <a:txBody>
                    <a:bodyPr/>
                    <a:lstStyle/>
                    <a:p>
                      <a:pPr algn="ctr"/>
                      <a:r>
                        <a:rPr lang="en-US"/>
                        <a:t>C</a:t>
                      </a:r>
                    </a:p>
                  </a:txBody>
                  <a:tcPr/>
                </a:tc>
                <a:tc>
                  <a:txBody>
                    <a:bodyPr/>
                    <a:lstStyle/>
                    <a:p>
                      <a:pPr algn="ctr"/>
                      <a:r>
                        <a:rPr lang="en-US"/>
                        <a:t>D</a:t>
                      </a:r>
                    </a:p>
                  </a:txBody>
                  <a:tcPr>
                    <a:lnR w="12700" cap="flat" cmpd="sng" algn="ctr">
                      <a:solidFill>
                        <a:schemeClr val="accent6">
                          <a:lumMod val="60000"/>
                          <a:lumOff val="40000"/>
                        </a:schemeClr>
                      </a:solidFill>
                      <a:prstDash val="solid"/>
                      <a:round/>
                      <a:headEnd type="none" w="med" len="med"/>
                      <a:tailEnd type="none" w="med" len="med"/>
                    </a:lnR>
                  </a:tcPr>
                </a:tc>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t>A</a:t>
                      </a:r>
                    </a:p>
                  </a:txBody>
                  <a:tcPr>
                    <a:lnL w="12700" cap="flat" cmpd="sng" algn="ctr">
                      <a:solidFill>
                        <a:schemeClr val="accent6">
                          <a:lumMod val="60000"/>
                          <a:lumOff val="40000"/>
                        </a:schemeClr>
                      </a:solidFill>
                      <a:prstDash val="solid"/>
                      <a:round/>
                      <a:headEnd type="none" w="med" len="med"/>
                      <a:tailEnd type="none" w="med" len="med"/>
                    </a:lnL>
                  </a:tcPr>
                </a:tc>
                <a:tc>
                  <a:txBody>
                    <a:bodyPr/>
                    <a:lstStyle/>
                    <a:p>
                      <a:pPr algn="ctr"/>
                      <a:r>
                        <a:rPr lang="en-US"/>
                        <a:t>B</a:t>
                      </a:r>
                    </a:p>
                  </a:txBody>
                  <a:tcPr/>
                </a:tc>
                <a:tc>
                  <a:txBody>
                    <a:bodyPr/>
                    <a:lstStyle/>
                    <a:p>
                      <a:pPr algn="ctr"/>
                      <a:r>
                        <a:rPr lang="en-US"/>
                        <a:t>C</a:t>
                      </a:r>
                    </a:p>
                  </a:txBody>
                  <a:tcPr/>
                </a:tc>
                <a:tc>
                  <a:txBody>
                    <a:bodyPr/>
                    <a:lstStyle/>
                    <a:p>
                      <a:pPr algn="ctr"/>
                      <a:r>
                        <a:rPr lang="en-US"/>
                        <a:t>D</a:t>
                      </a:r>
                    </a:p>
                  </a:txBody>
                  <a:tcPr/>
                </a:tc>
                <a:extLst>
                  <a:ext uri="{0D108BD9-81ED-4DB2-BD59-A6C34878D82A}">
                    <a16:rowId xmlns="" xmlns:a16="http://schemas.microsoft.com/office/drawing/2014/main" val="10001"/>
                  </a:ext>
                </a:extLst>
              </a:tr>
              <a:tr h="370840">
                <a:tc>
                  <a:txBody>
                    <a:bodyPr/>
                    <a:lstStyle/>
                    <a:p>
                      <a:pPr algn="ctr"/>
                      <a:r>
                        <a:rPr lang="en-US"/>
                        <a:t>P0</a:t>
                      </a:r>
                    </a:p>
                  </a:txBody>
                  <a:tcPr/>
                </a:tc>
                <a:tc>
                  <a:txBody>
                    <a:bodyPr/>
                    <a:lstStyle/>
                    <a:p>
                      <a:pPr algn="ctr"/>
                      <a:r>
                        <a:rPr lang="en-US"/>
                        <a:t>0</a:t>
                      </a:r>
                    </a:p>
                  </a:txBody>
                  <a:tcPr/>
                </a:tc>
                <a:tc>
                  <a:txBody>
                    <a:bodyPr/>
                    <a:lstStyle/>
                    <a:p>
                      <a:pPr algn="ctr"/>
                      <a:r>
                        <a:rPr lang="en-US"/>
                        <a:t>0</a:t>
                      </a:r>
                    </a:p>
                  </a:txBody>
                  <a:tcPr/>
                </a:tc>
                <a:tc>
                  <a:txBody>
                    <a:bodyPr/>
                    <a:lstStyle/>
                    <a:p>
                      <a:pPr algn="ctr"/>
                      <a:r>
                        <a:rPr lang="en-US"/>
                        <a:t>1</a:t>
                      </a:r>
                    </a:p>
                  </a:txBody>
                  <a:tcPr/>
                </a:tc>
                <a:tc>
                  <a:txBody>
                    <a:bodyPr/>
                    <a:lstStyle/>
                    <a:p>
                      <a:pPr algn="ctr"/>
                      <a:r>
                        <a:rPr lang="en-US"/>
                        <a:t>2</a:t>
                      </a:r>
                    </a:p>
                  </a:txBody>
                  <a:tcPr>
                    <a:lnR w="12700" cap="flat" cmpd="sng" algn="ctr">
                      <a:solidFill>
                        <a:schemeClr val="accent6">
                          <a:lumMod val="60000"/>
                          <a:lumOff val="40000"/>
                        </a:schemeClr>
                      </a:solidFill>
                      <a:prstDash val="solid"/>
                      <a:round/>
                      <a:headEnd type="none" w="med" len="med"/>
                      <a:tailEnd type="none" w="med" len="med"/>
                    </a:lnR>
                  </a:tcPr>
                </a:tc>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t>0</a:t>
                      </a:r>
                    </a:p>
                  </a:txBody>
                  <a:tcPr>
                    <a:lnL w="12700" cap="flat" cmpd="sng" algn="ctr">
                      <a:solidFill>
                        <a:schemeClr val="accent6">
                          <a:lumMod val="60000"/>
                          <a:lumOff val="40000"/>
                        </a:schemeClr>
                      </a:solidFill>
                      <a:prstDash val="solid"/>
                      <a:round/>
                      <a:headEnd type="none" w="med" len="med"/>
                      <a:tailEnd type="none" w="med" len="med"/>
                    </a:lnL>
                  </a:tcPr>
                </a:tc>
                <a:tc>
                  <a:txBody>
                    <a:bodyPr/>
                    <a:lstStyle/>
                    <a:p>
                      <a:pPr algn="ctr"/>
                      <a:r>
                        <a:rPr lang="en-US"/>
                        <a:t>0</a:t>
                      </a:r>
                    </a:p>
                  </a:txBody>
                  <a:tcPr/>
                </a:tc>
                <a:tc>
                  <a:txBody>
                    <a:bodyPr/>
                    <a:lstStyle/>
                    <a:p>
                      <a:pPr algn="ctr"/>
                      <a:r>
                        <a:rPr lang="en-US"/>
                        <a:t>1</a:t>
                      </a:r>
                    </a:p>
                  </a:txBody>
                  <a:tcPr/>
                </a:tc>
                <a:tc>
                  <a:txBody>
                    <a:bodyPr/>
                    <a:lstStyle/>
                    <a:p>
                      <a:pPr algn="ctr"/>
                      <a:r>
                        <a:rPr lang="en-US"/>
                        <a:t>2</a:t>
                      </a:r>
                    </a:p>
                  </a:txBody>
                  <a:tcPr/>
                </a:tc>
                <a:extLst>
                  <a:ext uri="{0D108BD9-81ED-4DB2-BD59-A6C34878D82A}">
                    <a16:rowId xmlns="" xmlns:a16="http://schemas.microsoft.com/office/drawing/2014/main" val="10002"/>
                  </a:ext>
                </a:extLst>
              </a:tr>
              <a:tr h="370840">
                <a:tc>
                  <a:txBody>
                    <a:bodyPr/>
                    <a:lstStyle/>
                    <a:p>
                      <a:pPr algn="ctr"/>
                      <a:r>
                        <a:rPr lang="en-US"/>
                        <a:t>P1</a:t>
                      </a:r>
                    </a:p>
                  </a:txBody>
                  <a:tcPr/>
                </a:tc>
                <a:tc>
                  <a:txBody>
                    <a:bodyPr/>
                    <a:lstStyle/>
                    <a:p>
                      <a:pPr algn="ctr"/>
                      <a:r>
                        <a:rPr lang="en-US"/>
                        <a:t>1</a:t>
                      </a:r>
                    </a:p>
                  </a:txBody>
                  <a:tcPr/>
                </a:tc>
                <a:tc>
                  <a:txBody>
                    <a:bodyPr/>
                    <a:lstStyle/>
                    <a:p>
                      <a:pPr algn="ctr"/>
                      <a:r>
                        <a:rPr lang="en-US"/>
                        <a:t>0</a:t>
                      </a:r>
                    </a:p>
                  </a:txBody>
                  <a:tcPr/>
                </a:tc>
                <a:tc>
                  <a:txBody>
                    <a:bodyPr/>
                    <a:lstStyle/>
                    <a:p>
                      <a:pPr algn="ctr"/>
                      <a:r>
                        <a:rPr lang="en-US"/>
                        <a:t>0</a:t>
                      </a:r>
                    </a:p>
                  </a:txBody>
                  <a:tcPr/>
                </a:tc>
                <a:tc>
                  <a:txBody>
                    <a:bodyPr/>
                    <a:lstStyle/>
                    <a:p>
                      <a:pPr algn="ctr"/>
                      <a:r>
                        <a:rPr lang="en-US"/>
                        <a:t>0</a:t>
                      </a:r>
                    </a:p>
                  </a:txBody>
                  <a:tcPr>
                    <a:lnR w="12700" cap="flat" cmpd="sng" algn="ctr">
                      <a:solidFill>
                        <a:schemeClr val="accent6">
                          <a:lumMod val="60000"/>
                          <a:lumOff val="40000"/>
                        </a:schemeClr>
                      </a:solidFill>
                      <a:prstDash val="solid"/>
                      <a:round/>
                      <a:headEnd type="none" w="med" len="med"/>
                      <a:tailEnd type="none" w="med" len="med"/>
                    </a:lnR>
                  </a:tcPr>
                </a:tc>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t>1</a:t>
                      </a:r>
                    </a:p>
                  </a:txBody>
                  <a:tcPr>
                    <a:lnL w="12700" cap="flat" cmpd="sng" algn="ctr">
                      <a:solidFill>
                        <a:schemeClr val="accent6">
                          <a:lumMod val="60000"/>
                          <a:lumOff val="40000"/>
                        </a:schemeClr>
                      </a:solidFill>
                      <a:prstDash val="solid"/>
                      <a:round/>
                      <a:headEnd type="none" w="med" len="med"/>
                      <a:tailEnd type="none" w="med" len="med"/>
                    </a:lnL>
                  </a:tcPr>
                </a:tc>
                <a:tc>
                  <a:txBody>
                    <a:bodyPr/>
                    <a:lstStyle/>
                    <a:p>
                      <a:pPr algn="ctr"/>
                      <a:r>
                        <a:rPr lang="en-US"/>
                        <a:t>7</a:t>
                      </a:r>
                    </a:p>
                  </a:txBody>
                  <a:tcPr/>
                </a:tc>
                <a:tc>
                  <a:txBody>
                    <a:bodyPr/>
                    <a:lstStyle/>
                    <a:p>
                      <a:pPr algn="ctr"/>
                      <a:r>
                        <a:rPr lang="en-US"/>
                        <a:t>5</a:t>
                      </a:r>
                    </a:p>
                  </a:txBody>
                  <a:tcPr/>
                </a:tc>
                <a:tc>
                  <a:txBody>
                    <a:bodyPr/>
                    <a:lstStyle/>
                    <a:p>
                      <a:pPr algn="ctr"/>
                      <a:r>
                        <a:rPr lang="en-US"/>
                        <a:t>0</a:t>
                      </a:r>
                    </a:p>
                  </a:txBody>
                  <a:tcPr/>
                </a:tc>
                <a:extLst>
                  <a:ext uri="{0D108BD9-81ED-4DB2-BD59-A6C34878D82A}">
                    <a16:rowId xmlns="" xmlns:a16="http://schemas.microsoft.com/office/drawing/2014/main" val="10003"/>
                  </a:ext>
                </a:extLst>
              </a:tr>
              <a:tr h="370840">
                <a:tc>
                  <a:txBody>
                    <a:bodyPr/>
                    <a:lstStyle/>
                    <a:p>
                      <a:pPr algn="ctr"/>
                      <a:r>
                        <a:rPr lang="en-US"/>
                        <a:t>P2</a:t>
                      </a:r>
                    </a:p>
                  </a:txBody>
                  <a:tcPr/>
                </a:tc>
                <a:tc>
                  <a:txBody>
                    <a:bodyPr/>
                    <a:lstStyle/>
                    <a:p>
                      <a:pPr algn="ctr"/>
                      <a:r>
                        <a:rPr lang="en-US"/>
                        <a:t>1</a:t>
                      </a:r>
                    </a:p>
                  </a:txBody>
                  <a:tcPr/>
                </a:tc>
                <a:tc>
                  <a:txBody>
                    <a:bodyPr/>
                    <a:lstStyle/>
                    <a:p>
                      <a:pPr algn="ctr"/>
                      <a:r>
                        <a:rPr lang="en-US"/>
                        <a:t>3</a:t>
                      </a:r>
                    </a:p>
                  </a:txBody>
                  <a:tcPr/>
                </a:tc>
                <a:tc>
                  <a:txBody>
                    <a:bodyPr/>
                    <a:lstStyle/>
                    <a:p>
                      <a:pPr algn="ctr"/>
                      <a:r>
                        <a:rPr lang="en-US"/>
                        <a:t>5</a:t>
                      </a:r>
                    </a:p>
                  </a:txBody>
                  <a:tcPr/>
                </a:tc>
                <a:tc>
                  <a:txBody>
                    <a:bodyPr/>
                    <a:lstStyle/>
                    <a:p>
                      <a:pPr algn="ctr"/>
                      <a:r>
                        <a:rPr lang="en-US"/>
                        <a:t>4</a:t>
                      </a:r>
                    </a:p>
                  </a:txBody>
                  <a:tcPr>
                    <a:lnR w="12700" cap="flat" cmpd="sng" algn="ctr">
                      <a:solidFill>
                        <a:schemeClr val="accent6">
                          <a:lumMod val="60000"/>
                          <a:lumOff val="40000"/>
                        </a:schemeClr>
                      </a:solidFill>
                      <a:prstDash val="solid"/>
                      <a:round/>
                      <a:headEnd type="none" w="med" len="med"/>
                      <a:tailEnd type="none" w="med" len="med"/>
                    </a:lnR>
                  </a:tcPr>
                </a:tc>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t>2</a:t>
                      </a:r>
                    </a:p>
                  </a:txBody>
                  <a:tcPr>
                    <a:lnL w="12700" cap="flat" cmpd="sng" algn="ctr">
                      <a:solidFill>
                        <a:schemeClr val="accent6">
                          <a:lumMod val="60000"/>
                          <a:lumOff val="40000"/>
                        </a:schemeClr>
                      </a:solidFill>
                      <a:prstDash val="solid"/>
                      <a:round/>
                      <a:headEnd type="none" w="med" len="med"/>
                      <a:tailEnd type="none" w="med" len="med"/>
                    </a:lnL>
                  </a:tcPr>
                </a:tc>
                <a:tc>
                  <a:txBody>
                    <a:bodyPr/>
                    <a:lstStyle/>
                    <a:p>
                      <a:pPr algn="ctr"/>
                      <a:r>
                        <a:rPr lang="en-US"/>
                        <a:t>3</a:t>
                      </a:r>
                    </a:p>
                  </a:txBody>
                  <a:tcPr/>
                </a:tc>
                <a:tc>
                  <a:txBody>
                    <a:bodyPr/>
                    <a:lstStyle/>
                    <a:p>
                      <a:pPr algn="ctr"/>
                      <a:r>
                        <a:rPr lang="en-US"/>
                        <a:t>5</a:t>
                      </a:r>
                    </a:p>
                  </a:txBody>
                  <a:tcPr/>
                </a:tc>
                <a:tc>
                  <a:txBody>
                    <a:bodyPr/>
                    <a:lstStyle/>
                    <a:p>
                      <a:pPr algn="ctr"/>
                      <a:r>
                        <a:rPr lang="en-US"/>
                        <a:t>6</a:t>
                      </a:r>
                    </a:p>
                  </a:txBody>
                  <a:tcPr/>
                </a:tc>
                <a:extLst>
                  <a:ext uri="{0D108BD9-81ED-4DB2-BD59-A6C34878D82A}">
                    <a16:rowId xmlns="" xmlns:a16="http://schemas.microsoft.com/office/drawing/2014/main" val="10004"/>
                  </a:ext>
                </a:extLst>
              </a:tr>
              <a:tr h="370840">
                <a:tc>
                  <a:txBody>
                    <a:bodyPr/>
                    <a:lstStyle/>
                    <a:p>
                      <a:pPr algn="ctr"/>
                      <a:r>
                        <a:rPr lang="en-US"/>
                        <a:t>P3</a:t>
                      </a:r>
                    </a:p>
                  </a:txBody>
                  <a:tcPr/>
                </a:tc>
                <a:tc>
                  <a:txBody>
                    <a:bodyPr/>
                    <a:lstStyle/>
                    <a:p>
                      <a:pPr algn="ctr"/>
                      <a:r>
                        <a:rPr lang="en-US"/>
                        <a:t>0</a:t>
                      </a:r>
                    </a:p>
                  </a:txBody>
                  <a:tcPr/>
                </a:tc>
                <a:tc>
                  <a:txBody>
                    <a:bodyPr/>
                    <a:lstStyle/>
                    <a:p>
                      <a:pPr algn="ctr"/>
                      <a:r>
                        <a:rPr lang="en-US"/>
                        <a:t>6</a:t>
                      </a:r>
                    </a:p>
                  </a:txBody>
                  <a:tcPr/>
                </a:tc>
                <a:tc>
                  <a:txBody>
                    <a:bodyPr/>
                    <a:lstStyle/>
                    <a:p>
                      <a:pPr algn="ctr"/>
                      <a:r>
                        <a:rPr lang="en-US"/>
                        <a:t>3</a:t>
                      </a:r>
                    </a:p>
                  </a:txBody>
                  <a:tcPr/>
                </a:tc>
                <a:tc>
                  <a:txBody>
                    <a:bodyPr/>
                    <a:lstStyle/>
                    <a:p>
                      <a:pPr algn="ctr"/>
                      <a:r>
                        <a:rPr lang="en-US"/>
                        <a:t>2</a:t>
                      </a:r>
                    </a:p>
                  </a:txBody>
                  <a:tcPr>
                    <a:lnR w="12700" cap="flat" cmpd="sng" algn="ctr">
                      <a:solidFill>
                        <a:schemeClr val="accent6">
                          <a:lumMod val="60000"/>
                          <a:lumOff val="40000"/>
                        </a:schemeClr>
                      </a:solidFill>
                      <a:prstDash val="solid"/>
                      <a:round/>
                      <a:headEnd type="none" w="med" len="med"/>
                      <a:tailEnd type="none" w="med" len="med"/>
                    </a:lnR>
                  </a:tcPr>
                </a:tc>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t>0</a:t>
                      </a:r>
                    </a:p>
                  </a:txBody>
                  <a:tcPr>
                    <a:lnL w="12700" cap="flat" cmpd="sng" algn="ctr">
                      <a:solidFill>
                        <a:schemeClr val="accent6">
                          <a:lumMod val="60000"/>
                          <a:lumOff val="40000"/>
                        </a:schemeClr>
                      </a:solidFill>
                      <a:prstDash val="solid"/>
                      <a:round/>
                      <a:headEnd type="none" w="med" len="med"/>
                      <a:tailEnd type="none" w="med" len="med"/>
                    </a:lnL>
                  </a:tcPr>
                </a:tc>
                <a:tc>
                  <a:txBody>
                    <a:bodyPr/>
                    <a:lstStyle/>
                    <a:p>
                      <a:pPr algn="ctr"/>
                      <a:r>
                        <a:rPr lang="en-US"/>
                        <a:t>6</a:t>
                      </a:r>
                    </a:p>
                  </a:txBody>
                  <a:tcPr/>
                </a:tc>
                <a:tc>
                  <a:txBody>
                    <a:bodyPr/>
                    <a:lstStyle/>
                    <a:p>
                      <a:pPr algn="ctr"/>
                      <a:r>
                        <a:rPr lang="en-US"/>
                        <a:t>5</a:t>
                      </a:r>
                    </a:p>
                  </a:txBody>
                  <a:tcPr/>
                </a:tc>
                <a:tc>
                  <a:txBody>
                    <a:bodyPr/>
                    <a:lstStyle/>
                    <a:p>
                      <a:pPr algn="ctr"/>
                      <a:r>
                        <a:rPr lang="en-US"/>
                        <a:t>2</a:t>
                      </a:r>
                    </a:p>
                  </a:txBody>
                  <a:tcPr/>
                </a:tc>
                <a:extLst>
                  <a:ext uri="{0D108BD9-81ED-4DB2-BD59-A6C34878D82A}">
                    <a16:rowId xmlns="" xmlns:a16="http://schemas.microsoft.com/office/drawing/2014/main" val="10005"/>
                  </a:ext>
                </a:extLst>
              </a:tr>
              <a:tr h="370840">
                <a:tc>
                  <a:txBody>
                    <a:bodyPr/>
                    <a:lstStyle/>
                    <a:p>
                      <a:pPr algn="ctr"/>
                      <a:r>
                        <a:rPr lang="en-US"/>
                        <a:t>P4</a:t>
                      </a:r>
                    </a:p>
                  </a:txBody>
                  <a:tcPr/>
                </a:tc>
                <a:tc>
                  <a:txBody>
                    <a:bodyPr/>
                    <a:lstStyle/>
                    <a:p>
                      <a:pPr algn="ctr"/>
                      <a:r>
                        <a:rPr lang="en-US"/>
                        <a:t>0</a:t>
                      </a:r>
                    </a:p>
                  </a:txBody>
                  <a:tcPr/>
                </a:tc>
                <a:tc>
                  <a:txBody>
                    <a:bodyPr/>
                    <a:lstStyle/>
                    <a:p>
                      <a:pPr algn="ctr"/>
                      <a:r>
                        <a:rPr lang="en-US"/>
                        <a:t>0</a:t>
                      </a:r>
                    </a:p>
                  </a:txBody>
                  <a:tcPr/>
                </a:tc>
                <a:tc>
                  <a:txBody>
                    <a:bodyPr/>
                    <a:lstStyle/>
                    <a:p>
                      <a:pPr algn="ctr"/>
                      <a:r>
                        <a:rPr lang="en-US"/>
                        <a:t>1</a:t>
                      </a:r>
                    </a:p>
                  </a:txBody>
                  <a:tcPr/>
                </a:tc>
                <a:tc>
                  <a:txBody>
                    <a:bodyPr/>
                    <a:lstStyle/>
                    <a:p>
                      <a:pPr algn="ctr"/>
                      <a:r>
                        <a:rPr lang="en-US"/>
                        <a:t>4</a:t>
                      </a:r>
                    </a:p>
                  </a:txBody>
                  <a:tcPr>
                    <a:lnR w="12700" cap="flat" cmpd="sng" algn="ctr">
                      <a:solidFill>
                        <a:schemeClr val="accent6">
                          <a:lumMod val="60000"/>
                          <a:lumOff val="40000"/>
                        </a:schemeClr>
                      </a:solidFill>
                      <a:prstDash val="solid"/>
                      <a:round/>
                      <a:headEnd type="none" w="med" len="med"/>
                      <a:tailEnd type="none" w="med" len="med"/>
                    </a:lnR>
                  </a:tcPr>
                </a:tc>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a:t>0</a:t>
                      </a:r>
                    </a:p>
                  </a:txBody>
                  <a:tcPr>
                    <a:lnL w="12700" cap="flat" cmpd="sng" algn="ctr">
                      <a:solidFill>
                        <a:schemeClr val="accent6">
                          <a:lumMod val="60000"/>
                          <a:lumOff val="40000"/>
                        </a:schemeClr>
                      </a:solidFill>
                      <a:prstDash val="solid"/>
                      <a:round/>
                      <a:headEnd type="none" w="med" len="med"/>
                      <a:tailEnd type="none" w="med" len="med"/>
                    </a:lnL>
                  </a:tcPr>
                </a:tc>
                <a:tc>
                  <a:txBody>
                    <a:bodyPr/>
                    <a:lstStyle/>
                    <a:p>
                      <a:pPr algn="ctr"/>
                      <a:r>
                        <a:rPr lang="en-US"/>
                        <a:t>6</a:t>
                      </a:r>
                    </a:p>
                  </a:txBody>
                  <a:tcPr/>
                </a:tc>
                <a:tc>
                  <a:txBody>
                    <a:bodyPr/>
                    <a:lstStyle/>
                    <a:p>
                      <a:pPr algn="ctr"/>
                      <a:r>
                        <a:rPr lang="en-US"/>
                        <a:t>5</a:t>
                      </a:r>
                    </a:p>
                  </a:txBody>
                  <a:tcPr/>
                </a:tc>
                <a:tc>
                  <a:txBody>
                    <a:bodyPr/>
                    <a:lstStyle/>
                    <a:p>
                      <a:pPr algn="ctr"/>
                      <a:r>
                        <a:rPr lang="en-US"/>
                        <a:t>6</a:t>
                      </a:r>
                    </a:p>
                  </a:txBody>
                  <a:tcPr/>
                </a:tc>
                <a:extLst>
                  <a:ext uri="{0D108BD9-81ED-4DB2-BD59-A6C34878D82A}">
                    <a16:rowId xmlns="" xmlns:a16="http://schemas.microsoft.com/office/drawing/2014/main" val="10006"/>
                  </a:ext>
                </a:extLst>
              </a:tr>
            </a:tbl>
          </a:graphicData>
        </a:graphic>
      </p:graphicFrame>
    </p:spTree>
    <p:extLst>
      <p:ext uri="{BB962C8B-B14F-4D97-AF65-F5344CB8AC3E}">
        <p14:creationId xmlns:p14="http://schemas.microsoft.com/office/powerpoint/2010/main" val="16108404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500"/>
                                        <p:tgtEl>
                                          <p:spTgt spid="3">
                                            <p:txEl>
                                              <p:pRg st="6" end="6"/>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childTnLst>
                          </p:cTn>
                        </p:par>
                      </p:childTnLst>
                    </p:cTn>
                  </p:par>
                  <p:par>
                    <p:cTn id="42" fill="hold" nodeType="clickPar">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8" end="8"/>
                                            </p:txEl>
                                          </p:spTgt>
                                        </p:tgtEl>
                                        <p:attrNameLst>
                                          <p:attrName>style.visibility</p:attrName>
                                        </p:attrNameLst>
                                      </p:cBhvr>
                                      <p:to>
                                        <p:strVal val="visible"/>
                                      </p:to>
                                    </p:set>
                                    <p:animEffect transition="in" filter="fade">
                                      <p:cBhvr>
                                        <p:cTn id="46" dur="500"/>
                                        <p:tgtEl>
                                          <p:spTgt spid="3">
                                            <p:txEl>
                                              <p:pRg st="8" end="8"/>
                                            </p:txEl>
                                          </p:spTgt>
                                        </p:tgtEl>
                                      </p:cBhvr>
                                    </p:animEffect>
                                  </p:childTnLst>
                                </p:cTn>
                              </p:par>
                            </p:childTnLst>
                          </p:cTn>
                        </p:par>
                      </p:childTnLst>
                    </p:cTn>
                  </p:par>
                  <p:par>
                    <p:cTn id="47" fill="hold" nodeType="clickPar">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animEffect transition="in" filter="fade">
                                      <p:cBhvr>
                                        <p:cTn id="51" dur="500"/>
                                        <p:tgtEl>
                                          <p:spTgt spid="3">
                                            <p:txEl>
                                              <p:pRg st="9" end="9"/>
                                            </p:txEl>
                                          </p:spTgt>
                                        </p:tgtEl>
                                      </p:cBhvr>
                                    </p:animEffect>
                                  </p:childTnLst>
                                </p:cTn>
                              </p:par>
                            </p:childTnLst>
                          </p:cTn>
                        </p:par>
                      </p:childTnLst>
                    </p:cTn>
                  </p:par>
                  <p:par>
                    <p:cTn id="52" fill="hold" nodeType="clickPar">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
                                            <p:txEl>
                                              <p:pRg st="10" end="10"/>
                                            </p:txEl>
                                          </p:spTgt>
                                        </p:tgtEl>
                                        <p:attrNameLst>
                                          <p:attrName>style.visibility</p:attrName>
                                        </p:attrNameLst>
                                      </p:cBhvr>
                                      <p:to>
                                        <p:strVal val="visible"/>
                                      </p:to>
                                    </p:set>
                                    <p:animEffect transition="in" filter="fade">
                                      <p:cBhvr>
                                        <p:cTn id="56" dur="500"/>
                                        <p:tgtEl>
                                          <p:spTgt spid="3">
                                            <p:txEl>
                                              <p:pRg st="10" end="10"/>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3">
                                            <p:txEl>
                                              <p:pRg st="11" end="11"/>
                                            </p:txEl>
                                          </p:spTgt>
                                        </p:tgtEl>
                                        <p:attrNameLst>
                                          <p:attrName>style.visibility</p:attrName>
                                        </p:attrNameLst>
                                      </p:cBhvr>
                                      <p:to>
                                        <p:strVal val="visible"/>
                                      </p:to>
                                    </p:set>
                                    <p:animEffect transition="in" filter="fade">
                                      <p:cBhvr>
                                        <p:cTn id="59" dur="500"/>
                                        <p:tgtEl>
                                          <p:spTgt spid="3">
                                            <p:txEl>
                                              <p:pRg st="11" end="11"/>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S_NET" val="6.0.25"/>
  <p:tag name="AS_OS" val="Unix 5.4.0.1103"/>
  <p:tag name="AS_RELEASE_DATE" val="2023.09.14"/>
  <p:tag name="AS_TITLE" val="Aspose.Slides for .NET6"/>
  <p:tag name="AS_VERSION" val="23.9"/>
</p:tagLst>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Roboto Condensed"/>
        <a:cs typeface="Arial"/>
      </a:majorFont>
      <a:minorFont>
        <a:latin typeface="Roboto Condensed"/>
        <a:ea typeface="Roboto Condensed"/>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11670</TotalTime>
  <Words>4370</Words>
  <Application>Microsoft Office PowerPoint</Application>
  <PresentationFormat>Widescreen</PresentationFormat>
  <Paragraphs>2006</Paragraphs>
  <Slides>48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Wingdings 3</vt:lpstr>
      <vt:lpstr>Roboto Condensed Light</vt:lpstr>
      <vt:lpstr>Calibri</vt:lpstr>
      <vt:lpstr>Wingdings 2</vt:lpstr>
      <vt:lpstr>Roboto Condensed</vt:lpstr>
      <vt:lpstr>Segoe UI Black</vt:lpstr>
      <vt:lpstr>Wingdings</vt:lpstr>
      <vt:lpstr>Arial</vt:lpstr>
      <vt:lpstr>Office Theme</vt:lpstr>
      <vt:lpstr>Unit 5:  Deadlock</vt:lpstr>
      <vt:lpstr>PowerPoint Presentation</vt:lpstr>
      <vt:lpstr>Basic concepts of Deadlock</vt:lpstr>
      <vt:lpstr>What is Deadlock?</vt:lpstr>
      <vt:lpstr>Preemptable and non-preemptable resource</vt:lpstr>
      <vt:lpstr>Deadlock v/s Starvation</vt:lpstr>
      <vt:lpstr>Deadlock v/s Starvation</vt:lpstr>
      <vt:lpstr>Deadlock characteristics</vt:lpstr>
      <vt:lpstr>Conditions that lead to deadlock (Deadlock characteristics)</vt:lpstr>
      <vt:lpstr>Strategies for dealing with deadlock</vt:lpstr>
      <vt:lpstr>Deadlock ignorance (Ostrich Algorithm)</vt:lpstr>
      <vt:lpstr>Deadlock ignorance (Ostrich Algorithm)</vt:lpstr>
      <vt:lpstr>Deadlock detection and recovery</vt:lpstr>
      <vt:lpstr>Deadlock detection for single resource (RAG - Resource Allocation Graph)</vt:lpstr>
      <vt:lpstr>Deadlock detection for single resource (RAG - Resource Allocation Graph)</vt:lpstr>
      <vt:lpstr>Deadlock detection for multiple resources</vt:lpstr>
      <vt:lpstr>Deadlock detection for multiple resources</vt:lpstr>
      <vt:lpstr>Deadlock detection for multiple resources</vt:lpstr>
      <vt:lpstr>Deadlock recovery</vt:lpstr>
      <vt:lpstr>Deadlock recovery</vt:lpstr>
      <vt:lpstr>Deadlock avoidance  (Banker’s algorithm)</vt:lpstr>
      <vt:lpstr>Safe and unsafe states</vt:lpstr>
      <vt:lpstr>Safe state</vt:lpstr>
      <vt:lpstr>Unsafe state</vt:lpstr>
      <vt:lpstr>Deadlock avoidance</vt:lpstr>
      <vt:lpstr>Banker’s algorithm for single resource</vt:lpstr>
      <vt:lpstr>Banker’s algorithm for single resource (safe state)</vt:lpstr>
      <vt:lpstr>Banker’s algorithm for single resource (safe state)</vt:lpstr>
      <vt:lpstr>Banker’s algorithm for single resource (unsafe state)</vt:lpstr>
      <vt:lpstr>Banker’s algorithm for multiple resource</vt:lpstr>
      <vt:lpstr>Banker’s algorithm for multiple resource</vt:lpstr>
      <vt:lpstr>Banker’s algorithm for multiple resource</vt:lpstr>
      <vt:lpstr>Banker’s algorithm for multiple resource</vt:lpstr>
      <vt:lpstr>Banker’s algorithm for multiple resource</vt:lpstr>
      <vt:lpstr>Banker’s algorithm for multiple resource</vt:lpstr>
      <vt:lpstr>Banker’s algorithm for multiple resource</vt:lpstr>
      <vt:lpstr>Banker’s algorithm for multiple resource</vt:lpstr>
      <vt:lpstr>Banker’s algorithm for multiple resource</vt:lpstr>
      <vt:lpstr>Banker’s algorithm for multiple resource</vt:lpstr>
      <vt:lpstr>Banker’s algorithm for multiple resource</vt:lpstr>
      <vt:lpstr>Banker’s algorithm for multiple resource</vt:lpstr>
      <vt:lpstr>Banker’s algorithm for multiple resource</vt:lpstr>
      <vt:lpstr>Algorithm </vt:lpstr>
      <vt:lpstr>Deadlock prevention</vt:lpstr>
      <vt:lpstr>Deadlock prevention</vt:lpstr>
      <vt:lpstr>Deadlock prevention</vt:lpstr>
      <vt:lpstr>Example</vt:lpstr>
      <vt:lpstr>Assignment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1161</cp:revision>
  <cp:lastPrinted>2021-03-04T06:44:00Z</cp:lastPrinted>
  <dcterms:created xsi:type="dcterms:W3CDTF">2020-05-01T05:09:15Z</dcterms:created>
  <dcterms:modified xsi:type="dcterms:W3CDTF">2024-01-11T04:21:52Z</dcterms:modified>
</cp:coreProperties>
</file>