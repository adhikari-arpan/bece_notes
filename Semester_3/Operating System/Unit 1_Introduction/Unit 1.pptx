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9"/>
  </p:notesMasterIdLst>
  <p:sldIdLst>
    <p:sldId id="309" r:id="rId2"/>
    <p:sldId id="292" r:id="rId3"/>
    <p:sldId id="310" r:id="rId4"/>
    <p:sldId id="311" r:id="rId5"/>
    <p:sldId id="312" r:id="rId6"/>
    <p:sldId id="350" r:id="rId7"/>
    <p:sldId id="349" r:id="rId8"/>
    <p:sldId id="348" r:id="rId9"/>
    <p:sldId id="313" r:id="rId10"/>
    <p:sldId id="347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3" r:id="rId23"/>
    <p:sldId id="364" r:id="rId24"/>
    <p:sldId id="365" r:id="rId25"/>
    <p:sldId id="366" r:id="rId26"/>
    <p:sldId id="367" r:id="rId27"/>
    <p:sldId id="368" r:id="rId28"/>
    <p:sldId id="369" r:id="rId29"/>
    <p:sldId id="370" r:id="rId30"/>
    <p:sldId id="371" r:id="rId31"/>
    <p:sldId id="372" r:id="rId32"/>
    <p:sldId id="373" r:id="rId33"/>
    <p:sldId id="374" r:id="rId34"/>
    <p:sldId id="375" r:id="rId35"/>
    <p:sldId id="376" r:id="rId36"/>
    <p:sldId id="377" r:id="rId37"/>
    <p:sldId id="378" r:id="rId38"/>
    <p:sldId id="379" r:id="rId39"/>
    <p:sldId id="380" r:id="rId40"/>
    <p:sldId id="381" r:id="rId41"/>
    <p:sldId id="382" r:id="rId42"/>
    <p:sldId id="383" r:id="rId43"/>
    <p:sldId id="384" r:id="rId44"/>
    <p:sldId id="385" r:id="rId45"/>
    <p:sldId id="386" r:id="rId46"/>
    <p:sldId id="387" r:id="rId47"/>
    <p:sldId id="388" r:id="rId48"/>
    <p:sldId id="390" r:id="rId49"/>
    <p:sldId id="391" r:id="rId50"/>
    <p:sldId id="392" r:id="rId51"/>
    <p:sldId id="393" r:id="rId52"/>
    <p:sldId id="394" r:id="rId53"/>
    <p:sldId id="395" r:id="rId54"/>
    <p:sldId id="396" r:id="rId55"/>
    <p:sldId id="397" r:id="rId56"/>
    <p:sldId id="398" r:id="rId57"/>
    <p:sldId id="399" r:id="rId58"/>
    <p:sldId id="400" r:id="rId59"/>
    <p:sldId id="401" r:id="rId60"/>
    <p:sldId id="402" r:id="rId61"/>
    <p:sldId id="403" r:id="rId62"/>
    <p:sldId id="404" r:id="rId63"/>
    <p:sldId id="405" r:id="rId64"/>
    <p:sldId id="406" r:id="rId65"/>
    <p:sldId id="407" r:id="rId66"/>
    <p:sldId id="408" r:id="rId67"/>
    <p:sldId id="409" r:id="rId68"/>
    <p:sldId id="410" r:id="rId69"/>
    <p:sldId id="411" r:id="rId70"/>
    <p:sldId id="412" r:id="rId71"/>
    <p:sldId id="415" r:id="rId72"/>
    <p:sldId id="416" r:id="rId73"/>
    <p:sldId id="417" r:id="rId74"/>
    <p:sldId id="418" r:id="rId75"/>
    <p:sldId id="419" r:id="rId76"/>
    <p:sldId id="424" r:id="rId77"/>
    <p:sldId id="425" r:id="rId78"/>
    <p:sldId id="426" r:id="rId79"/>
    <p:sldId id="442" r:id="rId80"/>
    <p:sldId id="429" r:id="rId81"/>
    <p:sldId id="430" r:id="rId82"/>
    <p:sldId id="431" r:id="rId83"/>
    <p:sldId id="432" r:id="rId84"/>
    <p:sldId id="433" r:id="rId85"/>
    <p:sldId id="434" r:id="rId86"/>
    <p:sldId id="435" r:id="rId87"/>
    <p:sldId id="436" r:id="rId88"/>
    <p:sldId id="420" r:id="rId89"/>
    <p:sldId id="437" r:id="rId90"/>
    <p:sldId id="438" r:id="rId91"/>
    <p:sldId id="421" r:id="rId92"/>
    <p:sldId id="439" r:id="rId93"/>
    <p:sldId id="422" r:id="rId94"/>
    <p:sldId id="440" r:id="rId95"/>
    <p:sldId id="423" r:id="rId96"/>
    <p:sldId id="441" r:id="rId97"/>
    <p:sldId id="346" r:id="rId98"/>
  </p:sldIdLst>
  <p:sldSz cx="12192000" cy="6858000"/>
  <p:notesSz cx="6954838" cy="9309100"/>
  <p:embeddedFontLst>
    <p:embeddedFont>
      <p:font typeface="Segoe UI Black" panose="020B0A02040204020203" pitchFamily="34" charset="0"/>
      <p:bold r:id="rId100"/>
      <p:boldItalic r:id="rId101"/>
    </p:embeddedFont>
    <p:embeddedFont>
      <p:font typeface="Wingdings 3" panose="05040102010807070707" pitchFamily="18" charset="2"/>
      <p:regular r:id="rId102"/>
    </p:embeddedFont>
    <p:embeddedFont>
      <p:font typeface="Roboto Condensed Light" panose="020B0604020202020204" charset="0"/>
      <p:regular r:id="rId103"/>
      <p:italic r:id="rId104"/>
    </p:embeddedFont>
    <p:embeddedFont>
      <p:font typeface="Calibri" panose="020F0502020204030204" pitchFamily="34" charset="0"/>
      <p:regular r:id="rId105"/>
      <p:bold r:id="rId106"/>
      <p:italic r:id="rId107"/>
      <p:boldItalic r:id="rId108"/>
    </p:embeddedFont>
    <p:embeddedFont>
      <p:font typeface="Wingdings 2" panose="05020102010507070707" pitchFamily="18" charset="2"/>
      <p:regular r:id="rId109"/>
    </p:embeddedFont>
    <p:embeddedFont>
      <p:font typeface="Roboto Condensed" panose="020B0604020202020204" charset="0"/>
      <p:regular r:id="rId110"/>
      <p:bold r:id="rId111"/>
      <p:italic r:id="rId112"/>
      <p:boldItalic r:id="rId113"/>
    </p:embeddedFont>
  </p:embeddedFontLst>
  <p:custDataLst>
    <p:tags r:id="rId1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/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/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/>
        <a:schemeClr val="dk1"/>
      </a:tcTxStyle>
      <a:tcStyle>
        <a:tcBdr/>
      </a:tcStyle>
    </a:seCell>
    <a:swCell>
      <a:tcTxStyle b="on">
        <a:fontRef idx="minor"/>
        <a:schemeClr val="dk1"/>
      </a:tcTxStyle>
      <a:tcStyle>
        <a:tcBdr/>
      </a:tcStyle>
    </a:swCell>
    <a:firstRow>
      <a:tcTxStyle b="on">
        <a:fontRef idx="minor"/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13.fntdata"/><Relationship Id="rId16" Type="http://schemas.openxmlformats.org/officeDocument/2006/relationships/slide" Target="slides/slide15.xml"/><Relationship Id="rId107" Type="http://schemas.openxmlformats.org/officeDocument/2006/relationships/font" Target="fonts/font8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font" Target="fonts/font3.fntdata"/><Relationship Id="rId110" Type="http://schemas.openxmlformats.org/officeDocument/2006/relationships/font" Target="fonts/font11.fntdata"/><Relationship Id="rId115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font" Target="fonts/font1.fntdata"/><Relationship Id="rId105" Type="http://schemas.openxmlformats.org/officeDocument/2006/relationships/font" Target="fonts/font6.fntdata"/><Relationship Id="rId113" Type="http://schemas.openxmlformats.org/officeDocument/2006/relationships/font" Target="fonts/font14.fntdata"/><Relationship Id="rId11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font" Target="fonts/font4.fntdata"/><Relationship Id="rId108" Type="http://schemas.openxmlformats.org/officeDocument/2006/relationships/font" Target="fonts/font9.fntdata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7.fntdata"/><Relationship Id="rId114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10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74D1A2-E6BA-496B-9C17-001A2D555DC1}" type="doc">
      <dgm:prSet loTypeId="urn:microsoft.com/office/officeart/2005/8/layout/radial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308070-1D7B-437D-892F-917093B96329}" type="parTrans" cxnId="{F18F1BA3-006C-48FC-871A-B2160806EAA3}">
      <dgm:prSet/>
      <dgm:spPr/>
      <dgm:t>
        <a:bodyPr/>
        <a:lstStyle/>
        <a:p>
          <a:endParaRPr lang="en-US"/>
        </a:p>
      </dgm:t>
    </dgm:pt>
    <dgm:pt modelId="{BAFEBBD0-6A5E-4C21-ACD7-D8B766CAAFD8}">
      <dgm:prSet phldrT="[Text]" custT="1"/>
      <dgm:spPr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</dgm:spPr>
      <dgm:t>
        <a:bodyPr/>
        <a:lstStyle/>
        <a:p>
          <a:r>
            <a:rPr lang="en-US" sz="4400"/>
            <a:t>Examples </a:t>
          </a:r>
        </a:p>
        <a:p>
          <a:r>
            <a:rPr lang="en-US" sz="4400"/>
            <a:t>of </a:t>
          </a:r>
          <a:r>
            <a:rPr lang="en-US" sz="4900">
              <a:solidFill>
                <a:srgbClr val="C00000"/>
              </a:solidFill>
            </a:rPr>
            <a:t>Operating System</a:t>
          </a:r>
        </a:p>
      </dgm:t>
    </dgm:pt>
    <dgm:pt modelId="{C6AC10AD-CD66-461D-95C5-1EF4774F16C1}" type="sibTrans" cxnId="{F18F1BA3-006C-48FC-871A-B2160806EAA3}">
      <dgm:prSet/>
      <dgm:spPr/>
      <dgm:t>
        <a:bodyPr/>
        <a:lstStyle/>
        <a:p>
          <a:endParaRPr lang="en-US"/>
        </a:p>
      </dgm:t>
    </dgm:pt>
    <dgm:pt modelId="{CF29C98E-2E5A-4C4B-9F0F-0CECAAEE39B0}" type="pres">
      <dgm:prSet presAssocID="{C674D1A2-E6BA-496B-9C17-001A2D555DC1}" presName="composite" presStyleCnt="0">
        <dgm:presLayoutVars>
          <dgm:chMax val="1"/>
          <dgm:dir val="rev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A22FAB2-702B-4C69-84A6-817C9406C316}" type="pres">
      <dgm:prSet presAssocID="{C674D1A2-E6BA-496B-9C17-001A2D555DC1}" presName="radial" presStyleCnt="0">
        <dgm:presLayoutVars>
          <dgm:animLvl val="ctr"/>
        </dgm:presLayoutVars>
      </dgm:prSet>
      <dgm:spPr/>
    </dgm:pt>
    <dgm:pt modelId="{A90D9F14-0AE6-4FBB-89D0-B50F4418BF4C}" type="pres">
      <dgm:prSet presAssocID="{BAFEBBD0-6A5E-4C21-ACD7-D8B766CAAFD8}" presName="centerShape" presStyleLbl="vennNode1" presStyleIdx="0" presStyleCnt="1"/>
      <dgm:spPr/>
      <dgm:t>
        <a:bodyPr/>
        <a:lstStyle/>
        <a:p>
          <a:endParaRPr lang="en-US"/>
        </a:p>
      </dgm:t>
    </dgm:pt>
  </dgm:ptLst>
  <dgm:cxnLst>
    <dgm:cxn modelId="{F18F1BA3-006C-48FC-871A-B2160806EAA3}" srcId="{C674D1A2-E6BA-496B-9C17-001A2D555DC1}" destId="{BAFEBBD0-6A5E-4C21-ACD7-D8B766CAAFD8}" srcOrd="0" destOrd="0" parTransId="{9F308070-1D7B-437D-892F-917093B96329}" sibTransId="{C6AC10AD-CD66-461D-95C5-1EF4774F16C1}"/>
    <dgm:cxn modelId="{9884C8B4-1C69-4A68-BD92-B3BB0E8B2A35}" type="presOf" srcId="{BAFEBBD0-6A5E-4C21-ACD7-D8B766CAAFD8}" destId="{A90D9F14-0AE6-4FBB-89D0-B50F4418BF4C}" srcOrd="0" destOrd="0" presId="urn:microsoft.com/office/officeart/2005/8/layout/radial3"/>
    <dgm:cxn modelId="{5AD90A47-3802-49ED-A4E8-4F3E2DD94324}" type="presOf" srcId="{C674D1A2-E6BA-496B-9C17-001A2D555DC1}" destId="{CF29C98E-2E5A-4C4B-9F0F-0CECAAEE39B0}" srcOrd="0" destOrd="0" presId="urn:microsoft.com/office/officeart/2005/8/layout/radial3"/>
    <dgm:cxn modelId="{F4B66D3F-FED8-4AB4-91BE-D60F515AB8A0}" type="presParOf" srcId="{CF29C98E-2E5A-4C4B-9F0F-0CECAAEE39B0}" destId="{8A22FAB2-702B-4C69-84A6-817C9406C316}" srcOrd="0" destOrd="0" presId="urn:microsoft.com/office/officeart/2005/8/layout/radial3"/>
    <dgm:cxn modelId="{D2C2853F-FEA8-4EB9-9730-67CFFB5ABBD4}" type="presParOf" srcId="{8A22FAB2-702B-4C69-84A6-817C9406C316}" destId="{A90D9F14-0AE6-4FBB-89D0-B50F4418BF4C}" srcOrd="0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0D9F14-0AE6-4FBB-89D0-B50F4418BF4C}">
      <dsp:nvSpPr>
        <dsp:cNvPr id="0" name=""/>
        <dsp:cNvSpPr/>
      </dsp:nvSpPr>
      <dsp:spPr>
        <a:xfrm>
          <a:off x="1016000" y="0"/>
          <a:ext cx="4064000" cy="40640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/>
            <a:t>Examples </a:t>
          </a:r>
        </a:p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/>
            <a:t>of </a:t>
          </a:r>
          <a:r>
            <a:rPr lang="en-US" sz="4900" kern="1200">
              <a:solidFill>
                <a:srgbClr val="C00000"/>
              </a:solidFill>
            </a:rPr>
            <a:t>Operating System</a:t>
          </a:r>
        </a:p>
      </dsp:txBody>
      <dsp:txXfrm>
        <a:off x="1611159" y="595159"/>
        <a:ext cx="2873682" cy="28736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12.png"/><Relationship Id="rId10" Type="http://schemas.openxmlformats.org/officeDocument/2006/relationships/image" Target="../media/image9.jpeg"/><Relationship Id="rId4" Type="http://schemas.openxmlformats.org/officeDocument/2006/relationships/image" Target="../media/image6.png"/><Relationship Id="rId9" Type="http://schemas.openxmlformats.org/officeDocument/2006/relationships/image" Target="../media/image13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5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6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>
            <a:fillRect/>
          </a:stretch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xmlns="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51CA48-443D-451E-B34D-CA93DF17F0DF}" type="datetime4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December 19, 2023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Operating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System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9DCE32-496C-42C2-B938-32B9DAACDE83}" type="datetime4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December 19, 2023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Operating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System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Firoz A Sherasiya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#3140702 (OS)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Operating</a:t>
            </a:r>
            <a:r>
              <a:rPr lang="en-US" baseline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System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>
            <a:fillRect/>
          </a:stretch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/>
              <a:t>Thank</a:t>
            </a:r>
          </a:p>
          <a:p>
            <a:pPr algn="ctr"/>
            <a:r>
              <a:rPr lang="en-US" sz="6000" b="1" i="1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829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/>
              <a:t>Thank</a:t>
            </a:r>
          </a:p>
          <a:p>
            <a:pPr algn="ctr"/>
            <a:r>
              <a:rPr lang="en-US" sz="6000" b="1" i="1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xmlns="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xmlns="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xmlns="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2793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xmlns="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xmlns="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xmlns="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>
            <a:fillRect/>
          </a:stretch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302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Nepal Engineering College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789" y="1795212"/>
            <a:ext cx="2880360" cy="277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3" r:id="rId10"/>
    <p:sldLayoutId id="2147483692" r:id="rId11"/>
    <p:sldLayoutId id="2147483691" r:id="rId12"/>
    <p:sldLayoutId id="2147483674" r:id="rId13"/>
    <p:sldLayoutId id="2147483676" r:id="rId14"/>
    <p:sldLayoutId id="2147483677" r:id="rId15"/>
    <p:sldLayoutId id="2147483678" r:id="rId16"/>
    <p:sldLayoutId id="2147483679" r:id="rId17"/>
    <p:sldLayoutId id="2147483681" r:id="rId18"/>
    <p:sldLayoutId id="2147483683" r:id="rId19"/>
    <p:sldLayoutId id="2147483682" r:id="rId20"/>
    <p:sldLayoutId id="2147483684" r:id="rId21"/>
    <p:sldLayoutId id="2147483685" r:id="rId22"/>
    <p:sldLayoutId id="2147483686" r:id="rId23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openxmlformats.org/officeDocument/2006/relationships/image" Target="../media/image36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35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gif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gif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4.jpeg"/><Relationship Id="rId4" Type="http://schemas.openxmlformats.org/officeDocument/2006/relationships/image" Target="../media/image83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gif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6.jpe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03F305CB-DBE2-45D5-8D0B-92106F27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992436"/>
          </a:xfrm>
        </p:spPr>
        <p:txBody>
          <a:bodyPr/>
          <a:lstStyle/>
          <a:p>
            <a:r>
              <a:rPr lang="en-US" sz="4800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Chapter- 1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Introduction to Operating System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Asst. Prof. </a:t>
            </a:r>
            <a:r>
              <a:rPr lang="en-US" dirty="0" err="1" smtClean="0"/>
              <a:t>Jhumi</a:t>
            </a:r>
            <a:r>
              <a:rPr lang="en-US" dirty="0" smtClean="0"/>
              <a:t> </a:t>
            </a:r>
            <a:r>
              <a:rPr lang="en-US" dirty="0" err="1" smtClean="0"/>
              <a:t>Thapa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Operating System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(OS)</a:t>
            </a:r>
          </a:p>
        </p:txBody>
      </p:sp>
    </p:spTree>
    <p:extLst>
      <p:ext uri="{BB962C8B-B14F-4D97-AF65-F5344CB8AC3E}">
        <p14:creationId xmlns:p14="http://schemas.microsoft.com/office/powerpoint/2010/main" val="160083476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D9EBF344-4A7B-4C4A-AF6D-6441BD040AB3}"/>
              </a:ext>
            </a:extLst>
          </p:cNvPr>
          <p:cNvCxnSpPr>
            <a:endCxn id="6" idx="0"/>
          </p:cNvCxnSpPr>
          <p:nvPr/>
        </p:nvCxnSpPr>
        <p:spPr>
          <a:xfrm flipH="1"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CA925EF2-D58F-4AC0-ACED-F747CC08D69F}"/>
              </a:ext>
            </a:extLst>
          </p:cNvPr>
          <p:cNvCxnSpPr/>
          <p:nvPr/>
        </p:nvCxnSpPr>
        <p:spPr>
          <a:xfrm flipH="1"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ym typeface="Wingdings 2" panose="05020102010507070707" pitchFamily="18" charset="2"/>
              </a:rPr>
              <a:t></a:t>
            </a:r>
            <a:endParaRPr lang="en-US" sz="2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F34260FD-CAA3-43A0-977C-7E4B57013872}"/>
              </a:ext>
            </a:extLst>
          </p:cNvPr>
          <p:cNvCxnSpPr/>
          <p:nvPr/>
        </p:nvCxnSpPr>
        <p:spPr>
          <a:xfrm flipH="1"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7772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Computer system 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Computer system architecture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What is Operating System (OS)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Roles of Operating System (OS)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Objectives / Goals of Operating System (OS)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History of Operating Systems (OS)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Operating Systems (OS)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Types of Operating Systems (OS)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System calls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Operating Systems (OS)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Multiprogramming v/s Multiprocessing v/s Multitasking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Time Sharing Operating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Parallel Processing Operating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Distributed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Computer system overview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375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elements of computer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455464" y="1668972"/>
            <a:ext cx="1769283" cy="1123495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grpSp>
        <p:nvGrpSpPr>
          <p:cNvPr id="24" name="Group 23"/>
          <p:cNvGrpSpPr/>
          <p:nvPr/>
        </p:nvGrpSpPr>
        <p:grpSpPr>
          <a:xfrm>
            <a:off x="1652051" y="1855730"/>
            <a:ext cx="1769283" cy="1123495"/>
            <a:chOff x="1263395" y="491558"/>
            <a:chExt cx="1769283" cy="1123495"/>
          </a:xfrm>
        </p:grpSpPr>
        <p:sp>
          <p:nvSpPr>
            <p:cNvPr id="25" name="Rounded Rectangle 24"/>
            <p:cNvSpPr/>
            <p:nvPr/>
          </p:nvSpPr>
          <p:spPr>
            <a:xfrm>
              <a:off x="1263395" y="491558"/>
              <a:ext cx="1769283" cy="1123495"/>
            </a:xfrm>
            <a:prstGeom prst="roundRect">
              <a:avLst>
                <a:gd name="adj" fmla="val 10000"/>
              </a:avLst>
            </a:prstGeom>
            <a:solidFill>
              <a:sysClr val="window" lastClr="FFFFFF">
                <a:alpha val="90000"/>
                <a:hueOff val="0"/>
                <a:satOff val="0"/>
                <a:lumOff val="0"/>
                <a:alphaOff val="0"/>
              </a:sysClr>
            </a:solidFill>
            <a:ln w="9525" cap="flat" cmpd="sng" algn="ctr">
              <a:solidFill>
                <a:srgbClr val="4F81BD">
                  <a:hueOff val="0"/>
                  <a:satOff val="0"/>
                  <a:lumOff val="0"/>
                  <a:alphaOff val="0"/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26" name="Rounded Rectangle 5"/>
            <p:cNvSpPr/>
            <p:nvPr/>
          </p:nvSpPr>
          <p:spPr>
            <a:xfrm>
              <a:off x="1296301" y="524464"/>
              <a:ext cx="1703471" cy="10576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marL="0" marR="0" lvl="0" indent="0" algn="ctr" defTabSz="12001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sz="2700" b="1" i="0" u="none" strike="noStrike" kern="0" cap="none" spc="0" normalizeH="0" baseline="0" noProof="0">
                  <a:ln>
                    <a:noFill/>
                  </a:ln>
                  <a:solidFill>
                    <a:srgbClr val="8064A2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Processor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1455464" y="3840671"/>
            <a:ext cx="1769283" cy="1123495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grpSp>
        <p:nvGrpSpPr>
          <p:cNvPr id="28" name="Group 27"/>
          <p:cNvGrpSpPr/>
          <p:nvPr/>
        </p:nvGrpSpPr>
        <p:grpSpPr>
          <a:xfrm>
            <a:off x="1652051" y="4027429"/>
            <a:ext cx="1769283" cy="1123495"/>
            <a:chOff x="1415787" y="2701361"/>
            <a:chExt cx="1769283" cy="1123495"/>
          </a:xfrm>
        </p:grpSpPr>
        <p:sp>
          <p:nvSpPr>
            <p:cNvPr id="29" name="Rounded Rectangle 28"/>
            <p:cNvSpPr/>
            <p:nvPr/>
          </p:nvSpPr>
          <p:spPr>
            <a:xfrm>
              <a:off x="1415787" y="2701361"/>
              <a:ext cx="1769283" cy="1123495"/>
            </a:xfrm>
            <a:prstGeom prst="roundRect">
              <a:avLst>
                <a:gd name="adj" fmla="val 10000"/>
              </a:avLst>
            </a:prstGeom>
            <a:solidFill>
              <a:sysClr val="window" lastClr="FFFFFF">
                <a:alpha val="90000"/>
                <a:hueOff val="0"/>
                <a:satOff val="0"/>
                <a:lumOff val="0"/>
                <a:alphaOff val="0"/>
              </a:sysClr>
            </a:solidFill>
            <a:ln w="9525" cap="flat" cmpd="sng" algn="ctr">
              <a:solidFill>
                <a:srgbClr val="4F81BD">
                  <a:hueOff val="0"/>
                  <a:satOff val="0"/>
                  <a:lumOff val="0"/>
                  <a:alphaOff val="0"/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30" name="Rounded Rectangle 8"/>
            <p:cNvSpPr/>
            <p:nvPr/>
          </p:nvSpPr>
          <p:spPr>
            <a:xfrm>
              <a:off x="1448693" y="2734267"/>
              <a:ext cx="1703471" cy="10576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marL="0" marR="0" lvl="0" indent="0" algn="ctr" defTabSz="12001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sz="2700" b="1" i="0" u="none" strike="noStrike" kern="0" cap="none" spc="0" normalizeH="0" baseline="0" noProof="0">
                  <a:ln>
                    <a:noFill/>
                  </a:ln>
                  <a:solidFill>
                    <a:srgbClr val="8064A2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Memory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5684564" y="1668972"/>
            <a:ext cx="1769283" cy="1123495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grpSp>
        <p:nvGrpSpPr>
          <p:cNvPr id="32" name="Group 31"/>
          <p:cNvGrpSpPr/>
          <p:nvPr/>
        </p:nvGrpSpPr>
        <p:grpSpPr>
          <a:xfrm>
            <a:off x="5881151" y="1855730"/>
            <a:ext cx="1769283" cy="1123495"/>
            <a:chOff x="5454393" y="415363"/>
            <a:chExt cx="1769283" cy="1123495"/>
          </a:xfrm>
        </p:grpSpPr>
        <p:sp>
          <p:nvSpPr>
            <p:cNvPr id="33" name="Rounded Rectangle 32"/>
            <p:cNvSpPr/>
            <p:nvPr/>
          </p:nvSpPr>
          <p:spPr>
            <a:xfrm>
              <a:off x="5454393" y="415363"/>
              <a:ext cx="1769283" cy="1123495"/>
            </a:xfrm>
            <a:prstGeom prst="roundRect">
              <a:avLst>
                <a:gd name="adj" fmla="val 10000"/>
              </a:avLst>
            </a:prstGeom>
            <a:solidFill>
              <a:sysClr val="window" lastClr="FFFFFF">
                <a:alpha val="90000"/>
                <a:hueOff val="0"/>
                <a:satOff val="0"/>
                <a:lumOff val="0"/>
                <a:alphaOff val="0"/>
              </a:sysClr>
            </a:solidFill>
            <a:ln w="9525" cap="flat" cmpd="sng" algn="ctr">
              <a:solidFill>
                <a:srgbClr val="4F81BD">
                  <a:hueOff val="0"/>
                  <a:satOff val="0"/>
                  <a:lumOff val="0"/>
                  <a:alphaOff val="0"/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34" name="Rounded Rectangle 11"/>
            <p:cNvSpPr/>
            <p:nvPr/>
          </p:nvSpPr>
          <p:spPr>
            <a:xfrm>
              <a:off x="5487299" y="448269"/>
              <a:ext cx="1703471" cy="10576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marL="0" marR="0" lvl="0" indent="0" algn="ctr" defTabSz="12001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sz="2700" b="1" i="0" u="none" strike="noStrike" kern="0" cap="none" spc="0" normalizeH="0" baseline="0" noProof="0">
                  <a:ln>
                    <a:noFill/>
                  </a:ln>
                  <a:solidFill>
                    <a:srgbClr val="8064A2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I/O Modules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5684564" y="3840671"/>
            <a:ext cx="1769283" cy="1123495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grpSp>
        <p:nvGrpSpPr>
          <p:cNvPr id="36" name="Group 35"/>
          <p:cNvGrpSpPr/>
          <p:nvPr/>
        </p:nvGrpSpPr>
        <p:grpSpPr>
          <a:xfrm>
            <a:off x="5881151" y="4027429"/>
            <a:ext cx="1769283" cy="1123495"/>
            <a:chOff x="5682989" y="2548959"/>
            <a:chExt cx="1769283" cy="1123495"/>
          </a:xfrm>
        </p:grpSpPr>
        <p:sp>
          <p:nvSpPr>
            <p:cNvPr id="37" name="Rounded Rectangle 36"/>
            <p:cNvSpPr/>
            <p:nvPr/>
          </p:nvSpPr>
          <p:spPr>
            <a:xfrm>
              <a:off x="5682989" y="2548959"/>
              <a:ext cx="1769283" cy="1123495"/>
            </a:xfrm>
            <a:prstGeom prst="roundRect">
              <a:avLst>
                <a:gd name="adj" fmla="val 10000"/>
              </a:avLst>
            </a:prstGeom>
            <a:solidFill>
              <a:sysClr val="window" lastClr="FFFFFF">
                <a:alpha val="90000"/>
                <a:hueOff val="0"/>
                <a:satOff val="0"/>
                <a:lumOff val="0"/>
                <a:alphaOff val="0"/>
              </a:sysClr>
            </a:solidFill>
            <a:ln w="9525" cap="flat" cmpd="sng" algn="ctr">
              <a:solidFill>
                <a:srgbClr val="4F81BD">
                  <a:hueOff val="0"/>
                  <a:satOff val="0"/>
                  <a:lumOff val="0"/>
                  <a:alphaOff val="0"/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38" name="Rounded Rectangle 14"/>
            <p:cNvSpPr/>
            <p:nvPr/>
          </p:nvSpPr>
          <p:spPr>
            <a:xfrm>
              <a:off x="5715895" y="2581865"/>
              <a:ext cx="1703471" cy="10576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marL="0" marR="0" lvl="0" indent="0" algn="ctr" defTabSz="12001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NZ" sz="2700" b="1" i="0" u="none" strike="noStrike" kern="0" cap="none" spc="0" normalizeH="0" baseline="0" noProof="0">
                  <a:ln>
                    <a:noFill/>
                  </a:ln>
                  <a:solidFill>
                    <a:srgbClr val="8064A2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System Bus</a:t>
              </a:r>
            </a:p>
          </p:txBody>
        </p:sp>
      </p:grpSp>
      <p:pic>
        <p:nvPicPr>
          <p:cNvPr id="39" name="Pictur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200" y="2760662"/>
            <a:ext cx="19812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93922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Processor</a:t>
            </a:r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0576">
            <a:off x="6301518" y="769204"/>
            <a:ext cx="2145218" cy="1817981"/>
          </a:xfrm>
        </p:spPr>
      </p:pic>
      <p:cxnSp>
        <p:nvCxnSpPr>
          <p:cNvPr id="4" name="Straight Connector 3"/>
          <p:cNvCxnSpPr/>
          <p:nvPr/>
        </p:nvCxnSpPr>
        <p:spPr>
          <a:xfrm>
            <a:off x="688878" y="6135540"/>
            <a:ext cx="87782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7252319"/>
              </p:ext>
            </p:extLst>
          </p:nvPr>
        </p:nvGraphicFramePr>
        <p:xfrm>
          <a:off x="688878" y="5747555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846732"/>
              </p:ext>
            </p:extLst>
          </p:nvPr>
        </p:nvGraphicFramePr>
        <p:xfrm>
          <a:off x="1787807" y="5738667"/>
          <a:ext cx="777240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Which two companies are famous for manufacturing computer processors?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8" name="Freeform 7"/>
          <p:cNvSpPr/>
          <p:nvPr/>
        </p:nvSpPr>
        <p:spPr>
          <a:xfrm>
            <a:off x="798754" y="3989131"/>
            <a:ext cx="3337917" cy="1463040"/>
          </a:xfrm>
          <a:custGeom>
            <a:avLst/>
            <a:gdLst>
              <a:gd name="connsiteX0" fmla="*/ 0 w 3337917"/>
              <a:gd name="connsiteY0" fmla="*/ 0 h 2002750"/>
              <a:gd name="connsiteX1" fmla="*/ 3337917 w 3337917"/>
              <a:gd name="connsiteY1" fmla="*/ 0 h 2002750"/>
              <a:gd name="connsiteX2" fmla="*/ 3337917 w 3337917"/>
              <a:gd name="connsiteY2" fmla="*/ 2002750 h 2002750"/>
              <a:gd name="connsiteX3" fmla="*/ 0 w 3337917"/>
              <a:gd name="connsiteY3" fmla="*/ 2002750 h 2002750"/>
              <a:gd name="connsiteX4" fmla="*/ 0 w 3337917"/>
              <a:gd name="connsiteY4" fmla="*/ 0 h 200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7917" h="2002750">
                <a:moveTo>
                  <a:pt x="0" y="0"/>
                </a:moveTo>
                <a:lnTo>
                  <a:pt x="3337917" y="0"/>
                </a:lnTo>
                <a:lnTo>
                  <a:pt x="3337917" y="2002750"/>
                </a:lnTo>
                <a:lnTo>
                  <a:pt x="0" y="2002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110" tIns="118110" rIns="118110" bIns="118110" numCol="1" spcCol="1270" anchor="ctr" anchorCtr="0">
            <a:noAutofit/>
          </a:bodyPr>
          <a:lstStyle/>
          <a:p>
            <a:pPr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>
                <a:solidFill>
                  <a:schemeClr val="tx1"/>
                </a:solidFill>
              </a:rPr>
              <a:t>Performs the </a:t>
            </a:r>
            <a:r>
              <a:rPr lang="en-US" sz="3100" b="1">
                <a:solidFill>
                  <a:schemeClr val="tx1"/>
                </a:solidFill>
              </a:rPr>
              <a:t>data processing </a:t>
            </a:r>
            <a:r>
              <a:rPr lang="en-US" sz="3100"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9" name="Freeform 8"/>
          <p:cNvSpPr/>
          <p:nvPr/>
        </p:nvSpPr>
        <p:spPr>
          <a:xfrm>
            <a:off x="5205411" y="3989131"/>
            <a:ext cx="3337917" cy="1463040"/>
          </a:xfrm>
          <a:custGeom>
            <a:avLst/>
            <a:gdLst>
              <a:gd name="connsiteX0" fmla="*/ 0 w 3337917"/>
              <a:gd name="connsiteY0" fmla="*/ 0 h 2002750"/>
              <a:gd name="connsiteX1" fmla="*/ 3337917 w 3337917"/>
              <a:gd name="connsiteY1" fmla="*/ 0 h 2002750"/>
              <a:gd name="connsiteX2" fmla="*/ 3337917 w 3337917"/>
              <a:gd name="connsiteY2" fmla="*/ 2002750 h 2002750"/>
              <a:gd name="connsiteX3" fmla="*/ 0 w 3337917"/>
              <a:gd name="connsiteY3" fmla="*/ 2002750 h 2002750"/>
              <a:gd name="connsiteX4" fmla="*/ 0 w 3337917"/>
              <a:gd name="connsiteY4" fmla="*/ 0 h 200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7917" h="2002750">
                <a:moveTo>
                  <a:pt x="0" y="0"/>
                </a:moveTo>
                <a:lnTo>
                  <a:pt x="3337917" y="0"/>
                </a:lnTo>
                <a:lnTo>
                  <a:pt x="3337917" y="2002750"/>
                </a:lnTo>
                <a:lnTo>
                  <a:pt x="0" y="2002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110" tIns="118110" rIns="118110" bIns="118110" numCol="1" spcCol="1270" anchor="ctr" anchorCtr="0">
            <a:noAutofit/>
          </a:bodyPr>
          <a:lstStyle/>
          <a:p>
            <a:pPr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>
                <a:solidFill>
                  <a:schemeClr val="tx1"/>
                </a:solidFill>
              </a:rPr>
              <a:t>Controls the operation </a:t>
            </a:r>
            <a:r>
              <a:rPr lang="en-US" sz="3100">
                <a:solidFill>
                  <a:schemeClr val="tx1"/>
                </a:solidFill>
              </a:rPr>
              <a:t>of the computer</a:t>
            </a:r>
          </a:p>
        </p:txBody>
      </p:sp>
      <p:sp>
        <p:nvSpPr>
          <p:cNvPr id="10" name="Freeform 9"/>
          <p:cNvSpPr/>
          <p:nvPr/>
        </p:nvSpPr>
        <p:spPr>
          <a:xfrm>
            <a:off x="2971810" y="900956"/>
            <a:ext cx="3337917" cy="1554480"/>
          </a:xfrm>
          <a:custGeom>
            <a:avLst/>
            <a:gdLst>
              <a:gd name="connsiteX0" fmla="*/ 0 w 3337917"/>
              <a:gd name="connsiteY0" fmla="*/ 0 h 2002750"/>
              <a:gd name="connsiteX1" fmla="*/ 3337917 w 3337917"/>
              <a:gd name="connsiteY1" fmla="*/ 0 h 2002750"/>
              <a:gd name="connsiteX2" fmla="*/ 3337917 w 3337917"/>
              <a:gd name="connsiteY2" fmla="*/ 2002750 h 2002750"/>
              <a:gd name="connsiteX3" fmla="*/ 0 w 3337917"/>
              <a:gd name="connsiteY3" fmla="*/ 2002750 h 2002750"/>
              <a:gd name="connsiteX4" fmla="*/ 0 w 3337917"/>
              <a:gd name="connsiteY4" fmla="*/ 0 h 200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7917" h="2002750">
                <a:moveTo>
                  <a:pt x="0" y="0"/>
                </a:moveTo>
                <a:lnTo>
                  <a:pt x="3337917" y="0"/>
                </a:lnTo>
                <a:lnTo>
                  <a:pt x="3337917" y="2002750"/>
                </a:lnTo>
                <a:lnTo>
                  <a:pt x="0" y="2002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110" tIns="118110" rIns="118110" bIns="118110" numCol="1" spcCol="1270" anchor="ctr" anchorCtr="0">
            <a:noAutofit/>
          </a:bodyPr>
          <a:lstStyle/>
          <a:p>
            <a:pPr lvl="0" algn="ctr" defTabSz="1377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kern="1200">
                <a:solidFill>
                  <a:schemeClr val="tx1"/>
                </a:solidFill>
              </a:rPr>
              <a:t>Referred to as the </a:t>
            </a:r>
            <a:r>
              <a:rPr lang="en-US" sz="3100" b="1" i="1" kern="1200">
                <a:solidFill>
                  <a:schemeClr val="tx1"/>
                </a:solidFill>
              </a:rPr>
              <a:t>Central Processing Unit </a:t>
            </a:r>
            <a:r>
              <a:rPr lang="en-US" sz="3100" b="1" kern="1200">
                <a:solidFill>
                  <a:schemeClr val="tx1"/>
                </a:solidFill>
              </a:rPr>
              <a:t>(CPU)</a:t>
            </a:r>
          </a:p>
        </p:txBody>
      </p:sp>
      <p:sp>
        <p:nvSpPr>
          <p:cNvPr id="11" name="Freeform 10"/>
          <p:cNvSpPr/>
          <p:nvPr/>
        </p:nvSpPr>
        <p:spPr>
          <a:xfrm>
            <a:off x="798754" y="3373004"/>
            <a:ext cx="3337917" cy="581790"/>
          </a:xfrm>
          <a:custGeom>
            <a:avLst/>
            <a:gdLst>
              <a:gd name="connsiteX0" fmla="*/ 0 w 3337917"/>
              <a:gd name="connsiteY0" fmla="*/ 0 h 2002750"/>
              <a:gd name="connsiteX1" fmla="*/ 3337917 w 3337917"/>
              <a:gd name="connsiteY1" fmla="*/ 0 h 2002750"/>
              <a:gd name="connsiteX2" fmla="*/ 3337917 w 3337917"/>
              <a:gd name="connsiteY2" fmla="*/ 2002750 h 2002750"/>
              <a:gd name="connsiteX3" fmla="*/ 0 w 3337917"/>
              <a:gd name="connsiteY3" fmla="*/ 2002750 h 2002750"/>
              <a:gd name="connsiteX4" fmla="*/ 0 w 3337917"/>
              <a:gd name="connsiteY4" fmla="*/ 0 h 200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7917" h="2002750">
                <a:moveTo>
                  <a:pt x="0" y="0"/>
                </a:moveTo>
                <a:lnTo>
                  <a:pt x="3337917" y="0"/>
                </a:lnTo>
                <a:lnTo>
                  <a:pt x="3337917" y="2002750"/>
                </a:lnTo>
                <a:lnTo>
                  <a:pt x="0" y="2002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110" tIns="118110" rIns="118110" bIns="118110" numCol="1" spcCol="1270" anchor="ctr" anchorCtr="0">
            <a:noAutofit/>
          </a:bodyPr>
          <a:lstStyle/>
          <a:p>
            <a:pPr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/>
              <a:t>Arithmetic &amp; Logic Unit </a:t>
            </a:r>
            <a:endParaRPr lang="en-US" sz="2400" b="1"/>
          </a:p>
        </p:txBody>
      </p:sp>
      <p:sp>
        <p:nvSpPr>
          <p:cNvPr id="12" name="Freeform 11"/>
          <p:cNvSpPr/>
          <p:nvPr/>
        </p:nvSpPr>
        <p:spPr>
          <a:xfrm>
            <a:off x="5205411" y="3373004"/>
            <a:ext cx="3337917" cy="581790"/>
          </a:xfrm>
          <a:custGeom>
            <a:avLst/>
            <a:gdLst>
              <a:gd name="connsiteX0" fmla="*/ 0 w 3337917"/>
              <a:gd name="connsiteY0" fmla="*/ 0 h 2002750"/>
              <a:gd name="connsiteX1" fmla="*/ 3337917 w 3337917"/>
              <a:gd name="connsiteY1" fmla="*/ 0 h 2002750"/>
              <a:gd name="connsiteX2" fmla="*/ 3337917 w 3337917"/>
              <a:gd name="connsiteY2" fmla="*/ 2002750 h 2002750"/>
              <a:gd name="connsiteX3" fmla="*/ 0 w 3337917"/>
              <a:gd name="connsiteY3" fmla="*/ 2002750 h 2002750"/>
              <a:gd name="connsiteX4" fmla="*/ 0 w 3337917"/>
              <a:gd name="connsiteY4" fmla="*/ 0 h 200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7917" h="2002750">
                <a:moveTo>
                  <a:pt x="0" y="0"/>
                </a:moveTo>
                <a:lnTo>
                  <a:pt x="3337917" y="0"/>
                </a:lnTo>
                <a:lnTo>
                  <a:pt x="3337917" y="2002750"/>
                </a:lnTo>
                <a:lnTo>
                  <a:pt x="0" y="2002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110" tIns="118110" rIns="118110" bIns="118110" numCol="1" spcCol="1270" anchor="ctr" anchorCtr="0">
            <a:noAutofit/>
          </a:bodyPr>
          <a:lstStyle/>
          <a:p>
            <a:pPr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/>
              <a:t>Control Unit </a:t>
            </a:r>
            <a:endParaRPr lang="en-US" sz="2400" b="1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4640768" y="2450674"/>
            <a:ext cx="0" cy="4572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476500" y="2886922"/>
            <a:ext cx="4389120" cy="171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2467712" y="2877394"/>
            <a:ext cx="0" cy="50292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6874369" y="2891680"/>
            <a:ext cx="0" cy="484632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473" y="5097492"/>
            <a:ext cx="2597557" cy="1050748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634091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960" y="935807"/>
            <a:ext cx="3728074" cy="240286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688878" y="6135540"/>
            <a:ext cx="813816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7252319"/>
              </p:ext>
            </p:extLst>
          </p:nvPr>
        </p:nvGraphicFramePr>
        <p:xfrm>
          <a:off x="688878" y="5747555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5446818"/>
              </p:ext>
            </p:extLst>
          </p:nvPr>
        </p:nvGraphicFramePr>
        <p:xfrm>
          <a:off x="1787807" y="5738667"/>
          <a:ext cx="713232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1323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Give the difference</a:t>
                      </a:r>
                      <a:r>
                        <a:rPr lang="en-US" sz="20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between primary memory and secondary memory.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8" name="Freeform 7"/>
          <p:cNvSpPr/>
          <p:nvPr/>
        </p:nvSpPr>
        <p:spPr>
          <a:xfrm>
            <a:off x="1335781" y="3989131"/>
            <a:ext cx="3337917" cy="1463040"/>
          </a:xfrm>
          <a:custGeom>
            <a:avLst/>
            <a:gdLst>
              <a:gd name="connsiteX0" fmla="*/ 0 w 3337917"/>
              <a:gd name="connsiteY0" fmla="*/ 0 h 2002750"/>
              <a:gd name="connsiteX1" fmla="*/ 3337917 w 3337917"/>
              <a:gd name="connsiteY1" fmla="*/ 0 h 2002750"/>
              <a:gd name="connsiteX2" fmla="*/ 3337917 w 3337917"/>
              <a:gd name="connsiteY2" fmla="*/ 2002750 h 2002750"/>
              <a:gd name="connsiteX3" fmla="*/ 0 w 3337917"/>
              <a:gd name="connsiteY3" fmla="*/ 2002750 h 2002750"/>
              <a:gd name="connsiteX4" fmla="*/ 0 w 3337917"/>
              <a:gd name="connsiteY4" fmla="*/ 0 h 200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7917" h="2002750">
                <a:moveTo>
                  <a:pt x="0" y="0"/>
                </a:moveTo>
                <a:lnTo>
                  <a:pt x="3337917" y="0"/>
                </a:lnTo>
                <a:lnTo>
                  <a:pt x="3337917" y="2002750"/>
                </a:lnTo>
                <a:lnTo>
                  <a:pt x="0" y="2002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110" tIns="118110" rIns="118110" bIns="118110" numCol="1" spcCol="1270" anchor="t" anchorCtr="0">
            <a:noAutofit/>
          </a:bodyPr>
          <a:lstStyle/>
          <a:p>
            <a:pPr marL="457200" indent="-457200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3100">
                <a:solidFill>
                  <a:schemeClr val="tx1"/>
                </a:solidFill>
              </a:rPr>
              <a:t>Volatile</a:t>
            </a:r>
          </a:p>
          <a:p>
            <a:pPr marL="457200" indent="-457200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3100">
                <a:solidFill>
                  <a:schemeClr val="tx1"/>
                </a:solidFill>
              </a:rPr>
              <a:t>RAM &amp; ROM</a:t>
            </a:r>
          </a:p>
        </p:txBody>
      </p:sp>
      <p:sp>
        <p:nvSpPr>
          <p:cNvPr id="9" name="Freeform 8"/>
          <p:cNvSpPr/>
          <p:nvPr/>
        </p:nvSpPr>
        <p:spPr>
          <a:xfrm>
            <a:off x="5742438" y="3989131"/>
            <a:ext cx="3337917" cy="1463040"/>
          </a:xfrm>
          <a:custGeom>
            <a:avLst/>
            <a:gdLst>
              <a:gd name="connsiteX0" fmla="*/ 0 w 3337917"/>
              <a:gd name="connsiteY0" fmla="*/ 0 h 2002750"/>
              <a:gd name="connsiteX1" fmla="*/ 3337917 w 3337917"/>
              <a:gd name="connsiteY1" fmla="*/ 0 h 2002750"/>
              <a:gd name="connsiteX2" fmla="*/ 3337917 w 3337917"/>
              <a:gd name="connsiteY2" fmla="*/ 2002750 h 2002750"/>
              <a:gd name="connsiteX3" fmla="*/ 0 w 3337917"/>
              <a:gd name="connsiteY3" fmla="*/ 2002750 h 2002750"/>
              <a:gd name="connsiteX4" fmla="*/ 0 w 3337917"/>
              <a:gd name="connsiteY4" fmla="*/ 0 h 200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7917" h="2002750">
                <a:moveTo>
                  <a:pt x="0" y="0"/>
                </a:moveTo>
                <a:lnTo>
                  <a:pt x="3337917" y="0"/>
                </a:lnTo>
                <a:lnTo>
                  <a:pt x="3337917" y="2002750"/>
                </a:lnTo>
                <a:lnTo>
                  <a:pt x="0" y="2002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110" tIns="118110" rIns="118110" bIns="118110" numCol="1" spcCol="1270" anchor="t" anchorCtr="0">
            <a:noAutofit/>
          </a:bodyPr>
          <a:lstStyle/>
          <a:p>
            <a:pPr marL="457200" indent="-457200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3100">
                <a:solidFill>
                  <a:schemeClr val="tx1"/>
                </a:solidFill>
              </a:rPr>
              <a:t>Non-Volatile</a:t>
            </a:r>
          </a:p>
          <a:p>
            <a:pPr marL="457200" indent="-457200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3100">
                <a:solidFill>
                  <a:schemeClr val="tx1"/>
                </a:solidFill>
              </a:rPr>
              <a:t>HDD, CD &amp; DVD</a:t>
            </a:r>
          </a:p>
        </p:txBody>
      </p:sp>
      <p:sp>
        <p:nvSpPr>
          <p:cNvPr id="10" name="Freeform 9"/>
          <p:cNvSpPr/>
          <p:nvPr/>
        </p:nvSpPr>
        <p:spPr>
          <a:xfrm>
            <a:off x="3508837" y="900956"/>
            <a:ext cx="3337917" cy="1554480"/>
          </a:xfrm>
          <a:custGeom>
            <a:avLst/>
            <a:gdLst>
              <a:gd name="connsiteX0" fmla="*/ 0 w 3337917"/>
              <a:gd name="connsiteY0" fmla="*/ 0 h 2002750"/>
              <a:gd name="connsiteX1" fmla="*/ 3337917 w 3337917"/>
              <a:gd name="connsiteY1" fmla="*/ 0 h 2002750"/>
              <a:gd name="connsiteX2" fmla="*/ 3337917 w 3337917"/>
              <a:gd name="connsiteY2" fmla="*/ 2002750 h 2002750"/>
              <a:gd name="connsiteX3" fmla="*/ 0 w 3337917"/>
              <a:gd name="connsiteY3" fmla="*/ 2002750 h 2002750"/>
              <a:gd name="connsiteX4" fmla="*/ 0 w 3337917"/>
              <a:gd name="connsiteY4" fmla="*/ 0 h 200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7917" h="2002750">
                <a:moveTo>
                  <a:pt x="0" y="0"/>
                </a:moveTo>
                <a:lnTo>
                  <a:pt x="3337917" y="0"/>
                </a:lnTo>
                <a:lnTo>
                  <a:pt x="3337917" y="2002750"/>
                </a:lnTo>
                <a:lnTo>
                  <a:pt x="0" y="2002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110" tIns="118110" rIns="118110" bIns="118110" numCol="1" spcCol="1270" anchor="ctr" anchorCtr="0">
            <a:noAutofit/>
          </a:bodyPr>
          <a:lstStyle/>
          <a:p>
            <a:pPr lvl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>
                <a:solidFill>
                  <a:schemeClr val="tx1"/>
                </a:solidFill>
              </a:rPr>
              <a:t>Memory is device that is used to store data/information</a:t>
            </a:r>
            <a:endParaRPr lang="en-US" sz="3100" b="1" kern="1200">
              <a:solidFill>
                <a:schemeClr val="tx1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335781" y="3373004"/>
            <a:ext cx="3337917" cy="581790"/>
          </a:xfrm>
          <a:custGeom>
            <a:avLst/>
            <a:gdLst>
              <a:gd name="connsiteX0" fmla="*/ 0 w 3337917"/>
              <a:gd name="connsiteY0" fmla="*/ 0 h 2002750"/>
              <a:gd name="connsiteX1" fmla="*/ 3337917 w 3337917"/>
              <a:gd name="connsiteY1" fmla="*/ 0 h 2002750"/>
              <a:gd name="connsiteX2" fmla="*/ 3337917 w 3337917"/>
              <a:gd name="connsiteY2" fmla="*/ 2002750 h 2002750"/>
              <a:gd name="connsiteX3" fmla="*/ 0 w 3337917"/>
              <a:gd name="connsiteY3" fmla="*/ 2002750 h 2002750"/>
              <a:gd name="connsiteX4" fmla="*/ 0 w 3337917"/>
              <a:gd name="connsiteY4" fmla="*/ 0 h 200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7917" h="2002750">
                <a:moveTo>
                  <a:pt x="0" y="0"/>
                </a:moveTo>
                <a:lnTo>
                  <a:pt x="3337917" y="0"/>
                </a:lnTo>
                <a:lnTo>
                  <a:pt x="3337917" y="2002750"/>
                </a:lnTo>
                <a:lnTo>
                  <a:pt x="0" y="2002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110" tIns="118110" rIns="118110" bIns="118110" numCol="1" spcCol="1270" anchor="ctr" anchorCtr="0">
            <a:noAutofit/>
          </a:bodyPr>
          <a:lstStyle/>
          <a:p>
            <a:pPr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/>
              <a:t>Primary Memory </a:t>
            </a:r>
            <a:endParaRPr lang="en-US" sz="2400" b="1"/>
          </a:p>
        </p:txBody>
      </p:sp>
      <p:sp>
        <p:nvSpPr>
          <p:cNvPr id="12" name="Freeform 11"/>
          <p:cNvSpPr/>
          <p:nvPr/>
        </p:nvSpPr>
        <p:spPr>
          <a:xfrm>
            <a:off x="5742438" y="3373004"/>
            <a:ext cx="3337917" cy="581790"/>
          </a:xfrm>
          <a:custGeom>
            <a:avLst/>
            <a:gdLst>
              <a:gd name="connsiteX0" fmla="*/ 0 w 3337917"/>
              <a:gd name="connsiteY0" fmla="*/ 0 h 2002750"/>
              <a:gd name="connsiteX1" fmla="*/ 3337917 w 3337917"/>
              <a:gd name="connsiteY1" fmla="*/ 0 h 2002750"/>
              <a:gd name="connsiteX2" fmla="*/ 3337917 w 3337917"/>
              <a:gd name="connsiteY2" fmla="*/ 2002750 h 2002750"/>
              <a:gd name="connsiteX3" fmla="*/ 0 w 3337917"/>
              <a:gd name="connsiteY3" fmla="*/ 2002750 h 2002750"/>
              <a:gd name="connsiteX4" fmla="*/ 0 w 3337917"/>
              <a:gd name="connsiteY4" fmla="*/ 0 h 200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7917" h="2002750">
                <a:moveTo>
                  <a:pt x="0" y="0"/>
                </a:moveTo>
                <a:lnTo>
                  <a:pt x="3337917" y="0"/>
                </a:lnTo>
                <a:lnTo>
                  <a:pt x="3337917" y="2002750"/>
                </a:lnTo>
                <a:lnTo>
                  <a:pt x="0" y="2002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110" tIns="118110" rIns="118110" bIns="118110" numCol="1" spcCol="1270" anchor="ctr" anchorCtr="0">
            <a:noAutofit/>
          </a:bodyPr>
          <a:lstStyle/>
          <a:p>
            <a:pPr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/>
              <a:t>Secondary Memory </a:t>
            </a:r>
            <a:endParaRPr lang="en-US" sz="2400" b="1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5177795" y="2450674"/>
            <a:ext cx="0" cy="4572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013527" y="2886922"/>
            <a:ext cx="4389120" cy="171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3004739" y="2877394"/>
            <a:ext cx="0" cy="50292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7411396" y="2891680"/>
            <a:ext cx="0" cy="484632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Content Placeholder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7761"/>
            <a:ext cx="3554933" cy="185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225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I/O Module (</a:t>
            </a:r>
            <a:r>
              <a:rPr lang="en-US" err="1"/>
              <a:t>Input/Output Module)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Input/output module is a </a:t>
            </a:r>
            <a:r>
              <a:rPr lang="en-US" b="1">
                <a:solidFill>
                  <a:schemeClr val="accent6"/>
                </a:solidFill>
              </a:rPr>
              <a:t>device that acts as the connective bridge between a computer system </a:t>
            </a:r>
            <a:r>
              <a:rPr lang="en-US"/>
              <a:t>at one end </a:t>
            </a:r>
            <a:r>
              <a:rPr lang="en-US" b="1">
                <a:solidFill>
                  <a:schemeClr val="accent6"/>
                </a:solidFill>
              </a:rPr>
              <a:t>and an I/O or peripheral device </a:t>
            </a:r>
            <a:r>
              <a:rPr lang="en-US"/>
              <a:t>at the other, such as a printer, webcam or scanner.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4" t="3683" r="2380" b="4424"/>
          <a:stretch>
            <a:fillRect/>
          </a:stretch>
        </p:blipFill>
        <p:spPr>
          <a:xfrm>
            <a:off x="4570809" y="1559859"/>
            <a:ext cx="7490012" cy="3334871"/>
          </a:xfrm>
          <a:prstGeom prst="rect">
            <a:avLst/>
          </a:prstGeom>
        </p:spPr>
      </p:pic>
      <p:sp>
        <p:nvSpPr>
          <p:cNvPr id="6" name="Content Placeholder 2"/>
          <p:cNvSpPr txBox="1"/>
          <p:nvPr/>
        </p:nvSpPr>
        <p:spPr>
          <a:xfrm>
            <a:off x="131180" y="1941828"/>
            <a:ext cx="4439630" cy="2560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 I/O module is a </a:t>
            </a:r>
            <a:r>
              <a:rPr lang="en-US" b="1">
                <a:solidFill>
                  <a:schemeClr val="accent6"/>
                </a:solidFill>
              </a:rPr>
              <a:t>mediator between the processor/memory  and an I/O devices</a:t>
            </a:r>
            <a:r>
              <a:rPr lang="en-US"/>
              <a:t>. </a:t>
            </a:r>
          </a:p>
          <a:p>
            <a:r>
              <a:rPr lang="en-US"/>
              <a:t>It </a:t>
            </a:r>
            <a:r>
              <a:rPr lang="en-US" b="1">
                <a:solidFill>
                  <a:schemeClr val="accent6"/>
                </a:solidFill>
              </a:rPr>
              <a:t>controls the data exchange</a:t>
            </a:r>
            <a:r>
              <a:rPr lang="en-US"/>
              <a:t> between the </a:t>
            </a:r>
            <a:r>
              <a:rPr lang="en-US" b="1">
                <a:solidFill>
                  <a:schemeClr val="accent6"/>
                </a:solidFill>
              </a:rPr>
              <a:t>external devices and main memory </a:t>
            </a:r>
            <a:r>
              <a:rPr lang="en-US"/>
              <a:t>or </a:t>
            </a:r>
            <a:r>
              <a:rPr lang="en-US" b="1">
                <a:solidFill>
                  <a:schemeClr val="accent6"/>
                </a:solidFill>
              </a:rPr>
              <a:t>external devices and CPU registers</a:t>
            </a:r>
            <a:r>
              <a:rPr lang="en-US"/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6118412" y="1941828"/>
            <a:ext cx="968188" cy="3105145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589854" y="1941828"/>
            <a:ext cx="968188" cy="3105145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319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Bus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688878" y="6135540"/>
            <a:ext cx="429768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7252319"/>
              </p:ext>
            </p:extLst>
          </p:nvPr>
        </p:nvGraphicFramePr>
        <p:xfrm>
          <a:off x="688878" y="5747555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5703779"/>
              </p:ext>
            </p:extLst>
          </p:nvPr>
        </p:nvGraphicFramePr>
        <p:xfrm>
          <a:off x="1787807" y="5738667"/>
          <a:ext cx="329184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 are the 3 types of buses?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9402785" cy="5590565"/>
          </a:xfrm>
        </p:spPr>
        <p:txBody>
          <a:bodyPr/>
          <a:lstStyle/>
          <a:p>
            <a:r>
              <a:rPr lang="en-US" altLang="en-US" b="1">
                <a:solidFill>
                  <a:srgbClr val="C00000"/>
                </a:solidFill>
              </a:rPr>
              <a:t>Provides communication among processors, main memory, and I/O devices</a:t>
            </a:r>
            <a:r>
              <a:rPr lang="en-US" altLang="en-US"/>
              <a:t>.</a:t>
            </a:r>
          </a:p>
          <a:p>
            <a:r>
              <a:rPr lang="en-US"/>
              <a:t>The system bus is a pathway </a:t>
            </a:r>
            <a:r>
              <a:rPr lang="en-US" b="1">
                <a:solidFill>
                  <a:schemeClr val="accent6"/>
                </a:solidFill>
              </a:rPr>
              <a:t>composed of cables and connectors used to carry data</a:t>
            </a:r>
            <a:r>
              <a:rPr lang="en-US"/>
              <a:t> between a computer microprocessor and the main memory.</a:t>
            </a:r>
          </a:p>
          <a:p>
            <a:r>
              <a:rPr lang="en-US"/>
              <a:t>Types of buses</a:t>
            </a:r>
          </a:p>
          <a:p>
            <a:pPr lvl="1"/>
            <a:r>
              <a:rPr lang="en-US"/>
              <a:t>Address bus - </a:t>
            </a:r>
            <a:r>
              <a:rPr lang="en-US" b="1">
                <a:solidFill>
                  <a:schemeClr val="accent6"/>
                </a:solidFill>
              </a:rPr>
              <a:t>carries memory addresses </a:t>
            </a:r>
            <a:r>
              <a:rPr lang="en-US"/>
              <a:t>from the processor to other components such as primary storage and input/output devices.</a:t>
            </a:r>
          </a:p>
          <a:p>
            <a:pPr lvl="1"/>
            <a:r>
              <a:rPr lang="en-US"/>
              <a:t>Data bus - </a:t>
            </a:r>
            <a:r>
              <a:rPr lang="en-US" b="1">
                <a:solidFill>
                  <a:schemeClr val="accent6"/>
                </a:solidFill>
              </a:rPr>
              <a:t>carries the data</a:t>
            </a:r>
            <a:r>
              <a:rPr lang="en-US"/>
              <a:t> between the processor and other components.</a:t>
            </a:r>
          </a:p>
          <a:p>
            <a:pPr lvl="1"/>
            <a:r>
              <a:rPr lang="en-US"/>
              <a:t>Control bus - </a:t>
            </a:r>
            <a:r>
              <a:rPr lang="en-US" b="1">
                <a:solidFill>
                  <a:schemeClr val="accent6"/>
                </a:solidFill>
              </a:rPr>
              <a:t>carries control signals </a:t>
            </a:r>
            <a:r>
              <a:rPr lang="en-US"/>
              <a:t>from the processor to other components.</a:t>
            </a:r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40887" y="711201"/>
            <a:ext cx="2551113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Real-World Examples of Bus Architectures - Tech Skills Class | Study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64699" y="4165249"/>
            <a:ext cx="3333750" cy="198120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5974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Computer system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7383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Computer system architecture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9" t="3108" r="2151" b="2115"/>
          <a:stretch>
            <a:fillRect/>
          </a:stretch>
        </p:blipFill>
        <p:spPr>
          <a:xfrm>
            <a:off x="2922494" y="1216958"/>
            <a:ext cx="6347013" cy="442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50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583819" cy="5590565"/>
          </a:xfrm>
        </p:spPr>
        <p:txBody>
          <a:bodyPr/>
          <a:lstStyle/>
          <a:p>
            <a:r>
              <a:rPr lang="en-US"/>
              <a:t>It </a:t>
            </a:r>
            <a:r>
              <a:rPr lang="en-US" b="1">
                <a:solidFill>
                  <a:schemeClr val="accent6"/>
                </a:solidFill>
              </a:rPr>
              <a:t>provides data </a:t>
            </a:r>
            <a:r>
              <a:rPr lang="en-US"/>
              <a:t>and </a:t>
            </a:r>
            <a:r>
              <a:rPr lang="en-US" b="1">
                <a:solidFill>
                  <a:schemeClr val="accent6"/>
                </a:solidFill>
              </a:rPr>
              <a:t>instructions</a:t>
            </a:r>
            <a:r>
              <a:rPr lang="en-US"/>
              <a:t> to the computer system. </a:t>
            </a:r>
          </a:p>
          <a:p>
            <a:r>
              <a:rPr lang="en-US"/>
              <a:t>Commonly used input devices are keyboard, mouse, magnetic tape etc.</a:t>
            </a:r>
          </a:p>
          <a:p>
            <a:r>
              <a:rPr lang="en-US"/>
              <a:t>Input unit performs following tasks: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Accept the data </a:t>
            </a:r>
            <a:r>
              <a:rPr lang="en-US"/>
              <a:t>and </a:t>
            </a:r>
            <a:r>
              <a:rPr lang="en-US">
                <a:solidFill>
                  <a:schemeClr val="accent6"/>
                </a:solidFill>
              </a:rPr>
              <a:t>instructions</a:t>
            </a:r>
            <a:r>
              <a:rPr lang="en-US"/>
              <a:t> from the outside environment.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Convert</a:t>
            </a:r>
            <a:r>
              <a:rPr lang="en-US"/>
              <a:t> it into </a:t>
            </a:r>
            <a:r>
              <a:rPr lang="en-US">
                <a:solidFill>
                  <a:schemeClr val="accent6"/>
                </a:solidFill>
              </a:rPr>
              <a:t>machine language</a:t>
            </a:r>
            <a:r>
              <a:rPr lang="en-US"/>
              <a:t>.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Supply the converted data </a:t>
            </a:r>
            <a:r>
              <a:rPr lang="en-US"/>
              <a:t>to computer system.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9" t="3108" r="2151" b="2115"/>
          <a:stretch>
            <a:fillRect/>
          </a:stretch>
        </p:blipFill>
        <p:spPr>
          <a:xfrm>
            <a:off x="5844987" y="863444"/>
            <a:ext cx="6347013" cy="44240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80705" y="2382510"/>
            <a:ext cx="970151" cy="874059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35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583819" cy="5590565"/>
          </a:xfrm>
        </p:spPr>
        <p:txBody>
          <a:bodyPr/>
          <a:lstStyle/>
          <a:p>
            <a:r>
              <a:rPr lang="en-US"/>
              <a:t>It </a:t>
            </a:r>
            <a:r>
              <a:rPr lang="en-US" b="1">
                <a:solidFill>
                  <a:schemeClr val="accent6"/>
                </a:solidFill>
              </a:rPr>
              <a:t>connects the internal system </a:t>
            </a:r>
            <a:r>
              <a:rPr lang="en-US"/>
              <a:t>of a computer </a:t>
            </a:r>
            <a:r>
              <a:rPr lang="en-US" b="1">
                <a:solidFill>
                  <a:schemeClr val="accent6"/>
                </a:solidFill>
              </a:rPr>
              <a:t>to the external environment</a:t>
            </a:r>
            <a:r>
              <a:rPr lang="en-US"/>
              <a:t>. </a:t>
            </a:r>
          </a:p>
          <a:p>
            <a:r>
              <a:rPr lang="en-US"/>
              <a:t>It </a:t>
            </a:r>
            <a:r>
              <a:rPr lang="en-US" b="1">
                <a:solidFill>
                  <a:schemeClr val="accent6"/>
                </a:solidFill>
              </a:rPr>
              <a:t>provides the results </a:t>
            </a:r>
            <a:r>
              <a:rPr lang="en-US"/>
              <a:t>of any computation, or instructions to the outside world. </a:t>
            </a:r>
          </a:p>
          <a:p>
            <a:r>
              <a:rPr lang="en-US"/>
              <a:t>Some output devices are printers, monitor etc.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9" t="3108" r="2151" b="2115"/>
          <a:stretch>
            <a:fillRect/>
          </a:stretch>
        </p:blipFill>
        <p:spPr>
          <a:xfrm>
            <a:off x="5769831" y="863444"/>
            <a:ext cx="6347013" cy="44240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093549" y="2380129"/>
            <a:ext cx="970151" cy="874059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16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Storage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583819" cy="5590565"/>
          </a:xfrm>
        </p:spPr>
        <p:txBody>
          <a:bodyPr/>
          <a:lstStyle/>
          <a:p>
            <a:r>
              <a:rPr lang="en-US"/>
              <a:t>This unit </a:t>
            </a:r>
            <a:r>
              <a:rPr lang="en-US" b="1">
                <a:solidFill>
                  <a:schemeClr val="accent6"/>
                </a:solidFill>
              </a:rPr>
              <a:t>holds the data </a:t>
            </a:r>
            <a:r>
              <a:rPr lang="en-US"/>
              <a:t>and </a:t>
            </a:r>
            <a:r>
              <a:rPr lang="en-US" b="1">
                <a:solidFill>
                  <a:schemeClr val="accent6"/>
                </a:solidFill>
              </a:rPr>
              <a:t>instructions</a:t>
            </a:r>
            <a:r>
              <a:rPr lang="en-US"/>
              <a:t>. </a:t>
            </a:r>
          </a:p>
          <a:p>
            <a:r>
              <a:rPr lang="en-US"/>
              <a:t>It also </a:t>
            </a:r>
            <a:r>
              <a:rPr lang="en-US" b="1">
                <a:solidFill>
                  <a:schemeClr val="accent6"/>
                </a:solidFill>
              </a:rPr>
              <a:t>stores the intermediate results </a:t>
            </a:r>
            <a:r>
              <a:rPr lang="en-US"/>
              <a:t>before these are sent to the output devices. </a:t>
            </a:r>
          </a:p>
          <a:p>
            <a:r>
              <a:rPr lang="en-US"/>
              <a:t>It also </a:t>
            </a:r>
            <a:r>
              <a:rPr lang="en-US" b="1">
                <a:solidFill>
                  <a:schemeClr val="accent6"/>
                </a:solidFill>
              </a:rPr>
              <a:t>stores the data for later use</a:t>
            </a:r>
            <a:r>
              <a:rPr lang="en-US"/>
              <a:t>.</a:t>
            </a:r>
          </a:p>
          <a:p>
            <a:r>
              <a:rPr lang="en-US"/>
              <a:t>The storage unit of a computer system can be divided into two categories:</a:t>
            </a:r>
          </a:p>
          <a:p>
            <a:pPr lvl="1"/>
            <a:r>
              <a:rPr lang="en-US"/>
              <a:t>Primary Storage</a:t>
            </a:r>
          </a:p>
          <a:p>
            <a:pPr lvl="1"/>
            <a:r>
              <a:rPr lang="en-US"/>
              <a:t>Secondary Storage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9" t="3108" r="2151" b="2115"/>
          <a:stretch>
            <a:fillRect/>
          </a:stretch>
        </p:blipFill>
        <p:spPr>
          <a:xfrm>
            <a:off x="5844987" y="863444"/>
            <a:ext cx="6347013" cy="44240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84996" y="4485030"/>
            <a:ext cx="2642345" cy="53072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256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Primary storage (memory) vs Secondary storage (memory)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5843512"/>
              </p:ext>
            </p:extLst>
          </p:nvPr>
        </p:nvGraphicFramePr>
        <p:xfrm>
          <a:off x="231761" y="900138"/>
          <a:ext cx="11795760" cy="63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Primary storage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Secondary storage</a:t>
                      </a:r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2587675"/>
              </p:ext>
            </p:extLst>
          </p:nvPr>
        </p:nvGraphicFramePr>
        <p:xfrm>
          <a:off x="231761" y="1535135"/>
          <a:ext cx="1179576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Examples: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RAM, ROM, Cache memory, PROM, EPROM, Registers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etc.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Examples: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Hard Disk, Floppy Disk, Magnetic Tapes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etc.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1495927"/>
              </p:ext>
            </p:extLst>
          </p:nvPr>
        </p:nvGraphicFramePr>
        <p:xfrm>
          <a:off x="231761" y="2363092"/>
          <a:ext cx="11795760" cy="54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GB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</a:t>
                      </a:r>
                      <a:r>
                        <a:rPr lang="en-GB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temporary</a:t>
                      </a:r>
                      <a:r>
                        <a:rPr lang="en-GB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GB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volatile</a:t>
                      </a:r>
                      <a:r>
                        <a:rPr lang="en-GB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</a:t>
                      </a:r>
                      <a:r>
                        <a:rPr lang="en-GB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permanent</a:t>
                      </a:r>
                      <a:r>
                        <a:rPr lang="en-GB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GB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Non-volatile</a:t>
                      </a:r>
                      <a:r>
                        <a:rPr lang="en-GB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7917999"/>
              </p:ext>
            </p:extLst>
          </p:nvPr>
        </p:nvGraphicFramePr>
        <p:xfrm>
          <a:off x="231761" y="2908089"/>
          <a:ext cx="1179576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 memory is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directly accessible by Processor/CPU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 memory is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not directly accessible by the CPU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8032883"/>
              </p:ext>
            </p:extLst>
          </p:nvPr>
        </p:nvGraphicFramePr>
        <p:xfrm>
          <a:off x="231761" y="3736046"/>
          <a:ext cx="11795760" cy="54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 memory devices are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expensive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 memory devices are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cheaper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4156543"/>
              </p:ext>
            </p:extLst>
          </p:nvPr>
        </p:nvGraphicFramePr>
        <p:xfrm>
          <a:off x="231761" y="4281043"/>
          <a:ext cx="1179576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memory devices used for primary memory are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semiconductor memories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secondary memory devices are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magnetic and optical memories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0741579"/>
              </p:ext>
            </p:extLst>
          </p:nvPr>
        </p:nvGraphicFramePr>
        <p:xfrm>
          <a:off x="231761" y="5108998"/>
          <a:ext cx="1179576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 memory is also known as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Main memory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or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Internal memory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 memory is also known as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External memory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or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Auxiliary memory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7559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CPU (Central Processing Unit)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583819" cy="5590565"/>
          </a:xfrm>
        </p:spPr>
        <p:txBody>
          <a:bodyPr/>
          <a:lstStyle/>
          <a:p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Arithmetic Logical Unit and Control Unit are together known as CPU</a:t>
            </a:r>
            <a:r>
              <a:rPr lang="en-US"/>
              <a:t>. </a:t>
            </a:r>
          </a:p>
          <a:p>
            <a:r>
              <a:rPr lang="en-US"/>
              <a:t>CPU is the </a:t>
            </a:r>
            <a:r>
              <a:rPr lang="en-US" b="1">
                <a:solidFill>
                  <a:schemeClr val="accent6"/>
                </a:solidFill>
              </a:rPr>
              <a:t>brain</a:t>
            </a:r>
            <a:r>
              <a:rPr lang="en-US"/>
              <a:t> of computer system. </a:t>
            </a:r>
          </a:p>
          <a:p>
            <a:r>
              <a:rPr lang="en-US"/>
              <a:t>It performs following tasks:</a:t>
            </a:r>
          </a:p>
          <a:p>
            <a:pPr lvl="1"/>
            <a:r>
              <a:rPr lang="en-US"/>
              <a:t>performs all operations.</a:t>
            </a:r>
          </a:p>
          <a:p>
            <a:pPr lvl="1"/>
            <a:r>
              <a:rPr lang="en-US"/>
              <a:t>takes all decisions.</a:t>
            </a:r>
          </a:p>
          <a:p>
            <a:pPr lvl="1"/>
            <a:r>
              <a:rPr lang="en-US"/>
              <a:t>controls all the units of computer.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9" t="3108" r="2151" b="2115"/>
          <a:stretch>
            <a:fillRect/>
          </a:stretch>
        </p:blipFill>
        <p:spPr>
          <a:xfrm>
            <a:off x="5844987" y="863444"/>
            <a:ext cx="6347013" cy="44240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84996" y="1119530"/>
            <a:ext cx="2640103" cy="2957170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073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ALU (Arithmetic Logical Unit)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583819" cy="5590565"/>
          </a:xfrm>
        </p:spPr>
        <p:txBody>
          <a:bodyPr/>
          <a:lstStyle/>
          <a:p>
            <a:r>
              <a:rPr lang="en-US"/>
              <a:t>All the </a:t>
            </a:r>
            <a:r>
              <a:rPr lang="en-US" b="1">
                <a:solidFill>
                  <a:schemeClr val="accent6"/>
                </a:solidFill>
              </a:rPr>
              <a:t>calculations</a:t>
            </a:r>
            <a:r>
              <a:rPr lang="en-US"/>
              <a:t> are performed in ALU of the computer system. </a:t>
            </a:r>
          </a:p>
          <a:p>
            <a:r>
              <a:rPr lang="en-US"/>
              <a:t>The ALU can </a:t>
            </a:r>
            <a:r>
              <a:rPr lang="en-US" b="1">
                <a:solidFill>
                  <a:schemeClr val="accent6"/>
                </a:solidFill>
              </a:rPr>
              <a:t>perform basic operations </a:t>
            </a:r>
            <a:r>
              <a:rPr lang="en-US"/>
              <a:t>such as addition, subtraction, division, multiplication etc. </a:t>
            </a:r>
          </a:p>
          <a:p>
            <a:r>
              <a:rPr lang="en-US"/>
              <a:t>Whenever calculations are required, the </a:t>
            </a:r>
            <a:r>
              <a:rPr lang="en-US" b="1">
                <a:solidFill>
                  <a:schemeClr val="accent6"/>
                </a:solidFill>
              </a:rPr>
              <a:t>control unit transfers the data from storage unit to ALU</a:t>
            </a:r>
            <a:r>
              <a:rPr lang="en-US"/>
              <a:t>. </a:t>
            </a:r>
          </a:p>
          <a:p>
            <a:r>
              <a:rPr lang="en-US"/>
              <a:t>When the operations are done, the result is transferred back to the storage unit.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9" t="3108" r="2151" b="2115"/>
          <a:stretch>
            <a:fillRect/>
          </a:stretch>
        </p:blipFill>
        <p:spPr>
          <a:xfrm>
            <a:off x="5844987" y="863444"/>
            <a:ext cx="6347013" cy="44240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79977" y="2286000"/>
            <a:ext cx="2299448" cy="618565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621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 (Control Unit)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583819" cy="5590565"/>
          </a:xfrm>
        </p:spPr>
        <p:txBody>
          <a:bodyPr/>
          <a:lstStyle/>
          <a:p>
            <a:r>
              <a:rPr lang="en-US"/>
              <a:t>It </a:t>
            </a:r>
            <a:r>
              <a:rPr lang="en-US" b="1">
                <a:solidFill>
                  <a:schemeClr val="accent6"/>
                </a:solidFill>
              </a:rPr>
              <a:t>controls all other units</a:t>
            </a:r>
            <a:r>
              <a:rPr lang="en-US"/>
              <a:t> of the computer. </a:t>
            </a:r>
          </a:p>
          <a:p>
            <a:r>
              <a:rPr lang="en-US"/>
              <a:t>It </a:t>
            </a:r>
            <a:r>
              <a:rPr lang="en-US" b="1">
                <a:solidFill>
                  <a:schemeClr val="accent6"/>
                </a:solidFill>
              </a:rPr>
              <a:t>controls the flow of data and instructions</a:t>
            </a:r>
            <a:r>
              <a:rPr lang="en-US"/>
              <a:t> to and from the storage unit to ALU. </a:t>
            </a:r>
          </a:p>
          <a:p>
            <a:r>
              <a:rPr lang="en-US"/>
              <a:t>Thus it is also known as central nervous system of the computer.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9" t="3108" r="2151" b="2115"/>
          <a:stretch>
            <a:fillRect/>
          </a:stretch>
        </p:blipFill>
        <p:spPr>
          <a:xfrm>
            <a:off x="5844987" y="863444"/>
            <a:ext cx="6347013" cy="44240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79977" y="1559862"/>
            <a:ext cx="2299448" cy="618565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774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What is Operating System (OS)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104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Operating System (OS)?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Computer System consists of various hardware's such as</a:t>
            </a:r>
          </a:p>
        </p:txBody>
      </p:sp>
      <p:pic>
        <p:nvPicPr>
          <p:cNvPr id="9" name="Picture 4" descr="Related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0540316">
            <a:off x="760613" y="1708008"/>
            <a:ext cx="1844675" cy="162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2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45596" y="3972440"/>
            <a:ext cx="1826232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061711" y="3341512"/>
            <a:ext cx="124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Processor</a:t>
            </a:r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5157119" y="3341512"/>
            <a:ext cx="837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RAM</a:t>
            </a:r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8759727" y="3341512"/>
            <a:ext cx="1997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Keyboard &amp; Mouse</a:t>
            </a:r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10757" y="5412537"/>
            <a:ext cx="1144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Hard Disk	</a:t>
            </a:r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5080496" y="5412537"/>
            <a:ext cx="991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Monitor</a:t>
            </a:r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9294533" y="5412537"/>
            <a:ext cx="928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Printer</a:t>
            </a:r>
            <a:endParaRPr lang="en-IN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792" y="2132537"/>
            <a:ext cx="3272552" cy="77523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4859" y="1977229"/>
            <a:ext cx="2587707" cy="1085850"/>
          </a:xfrm>
          <a:prstGeom prst="rect">
            <a:avLst/>
          </a:prstGeom>
        </p:spPr>
      </p:pic>
      <p:pic>
        <p:nvPicPr>
          <p:cNvPr id="19" name="Picture 12" descr="Image result for hard disk driv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8536" y="3972440"/>
            <a:ext cx="1848829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8" descr="Image result for display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72"/>
          <a:stretch>
            <a:fillRect/>
          </a:stretch>
        </p:blipFill>
        <p:spPr bwMode="auto">
          <a:xfrm>
            <a:off x="4770457" y="3972440"/>
            <a:ext cx="1611223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392205" y="5890012"/>
            <a:ext cx="566928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6"/>
                </a:solidFill>
              </a:rPr>
              <a:t>Who manages (controls) these hardwares??? </a:t>
            </a:r>
            <a:endParaRPr lang="en-IN" sz="2400" b="1">
              <a:solidFill>
                <a:schemeClr val="accent6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14514" y="5797679"/>
            <a:ext cx="2468880" cy="55399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Operating</a:t>
            </a:r>
            <a:r>
              <a:rPr lang="en-US" sz="3000" b="1">
                <a:solidFill>
                  <a:schemeClr val="bg1"/>
                </a:solidFill>
              </a:rPr>
              <a:t> </a:t>
            </a:r>
            <a:r>
              <a:rPr lang="en-US" sz="2400" b="1">
                <a:solidFill>
                  <a:schemeClr val="bg1"/>
                </a:solidFill>
              </a:rPr>
              <a:t>System</a:t>
            </a:r>
            <a:endParaRPr lang="en-IN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8650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 Operating System (OS) is a </a:t>
            </a:r>
            <a:r>
              <a:rPr lang="en-US" b="1">
                <a:solidFill>
                  <a:schemeClr val="accent6"/>
                </a:solidFill>
              </a:rPr>
              <a:t>collection of software </a:t>
            </a:r>
            <a:r>
              <a:rPr lang="en-US"/>
              <a:t>that 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manages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hardware resources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provides various service </a:t>
            </a:r>
            <a:r>
              <a:rPr lang="en-US"/>
              <a:t>to the users</a:t>
            </a:r>
          </a:p>
        </p:txBody>
      </p:sp>
    </p:spTree>
    <p:extLst>
      <p:ext uri="{BB962C8B-B14F-4D97-AF65-F5344CB8AC3E}">
        <p14:creationId xmlns:p14="http://schemas.microsoft.com/office/powerpoint/2010/main" val="18912431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992918502"/>
              </p:ext>
            </p:extLst>
          </p:nvPr>
        </p:nvGraphicFramePr>
        <p:xfrm>
          <a:off x="2653548" y="1518023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45132" y="1111623"/>
            <a:ext cx="1220260" cy="1080000"/>
          </a:xfrm>
          <a:prstGeom prst="ellipse">
            <a:avLst/>
          </a:prstGeom>
          <a:ln w="12700">
            <a:solidFill>
              <a:schemeClr val="tx1"/>
            </a:solidFill>
            <a:miter lim="800000"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64548" y="3825863"/>
            <a:ext cx="1080000" cy="1293930"/>
          </a:xfrm>
          <a:prstGeom prst="ellipse">
            <a:avLst/>
          </a:prstGeom>
          <a:ln w="12700">
            <a:solidFill>
              <a:schemeClr val="tx1"/>
            </a:solidFill>
            <a:miter lim="800000"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8" descr="C:\Users\GNWEBSOFT\Desktop\ubuntu_logo (1)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19732" y="4997823"/>
            <a:ext cx="1078652" cy="1080000"/>
          </a:xfrm>
          <a:prstGeom prst="ellipse">
            <a:avLst/>
          </a:prstGeom>
          <a:ln w="12700" cap="rnd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75" t="15993" r="26975" b="13452"/>
          <a:stretch>
            <a:fillRect/>
          </a:stretch>
        </p:blipFill>
        <p:spPr bwMode="auto">
          <a:xfrm>
            <a:off x="3303976" y="3825863"/>
            <a:ext cx="1209600" cy="1080000"/>
          </a:xfrm>
          <a:prstGeom prst="ellipse">
            <a:avLst/>
          </a:prstGeom>
          <a:ln w="12700">
            <a:solidFill>
              <a:schemeClr val="tx1"/>
            </a:solidFill>
            <a:miter lim="800000"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04548" y="2076823"/>
            <a:ext cx="1200000" cy="1080000"/>
          </a:xfrm>
          <a:prstGeom prst="ellipse">
            <a:avLst/>
          </a:prstGeom>
          <a:ln w="12700">
            <a:solidFill>
              <a:schemeClr val="tx1"/>
            </a:solidFill>
            <a:miter lim="800000"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14" descr="C:\Users\GNWEBSOFT\Desktop\585px-MacOS-Logo.svg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3" r="12825" b="29915"/>
          <a:stretch>
            <a:fillRect/>
          </a:stretch>
        </p:blipFill>
        <p:spPr bwMode="auto">
          <a:xfrm>
            <a:off x="3339348" y="2071743"/>
            <a:ext cx="1174228" cy="1080000"/>
          </a:xfrm>
          <a:prstGeom prst="ellipse">
            <a:avLst/>
          </a:prstGeom>
          <a:ln w="12700" cap="rnd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9882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OS lies? (Interaction of OS &amp; Hardware)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158309" cy="5590565"/>
          </a:xfrm>
        </p:spPr>
        <p:txBody>
          <a:bodyPr/>
          <a:lstStyle/>
          <a:p>
            <a:r>
              <a:rPr lang="en-US"/>
              <a:t>OS </a:t>
            </a:r>
            <a:r>
              <a:rPr lang="en-US" b="1">
                <a:solidFill>
                  <a:schemeClr val="accent6"/>
                </a:solidFill>
              </a:rPr>
              <a:t>lies between hardware and user program</a:t>
            </a:r>
            <a:r>
              <a:rPr lang="en-US"/>
              <a:t>.</a:t>
            </a:r>
          </a:p>
          <a:p>
            <a:r>
              <a:rPr lang="en-US"/>
              <a:t>It </a:t>
            </a:r>
            <a:r>
              <a:rPr lang="en-US" b="1">
                <a:solidFill>
                  <a:schemeClr val="accent6"/>
                </a:solidFill>
              </a:rPr>
              <a:t>acts as an intermediary </a:t>
            </a:r>
            <a:r>
              <a:rPr lang="en-US"/>
              <a:t>between the user and the hardware.</a:t>
            </a:r>
          </a:p>
          <a:p>
            <a:r>
              <a:rPr lang="en-US"/>
              <a:t>Modes of operation of computer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Kernel Mode</a:t>
            </a:r>
          </a:p>
          <a:p>
            <a:pPr lvl="1"/>
            <a:r>
              <a:rPr lang="en-US"/>
              <a:t>has </a:t>
            </a:r>
            <a:r>
              <a:rPr lang="en-US" b="1">
                <a:solidFill>
                  <a:schemeClr val="accent6"/>
                </a:solidFill>
              </a:rPr>
              <a:t>complete access </a:t>
            </a:r>
            <a:r>
              <a:rPr lang="en-US"/>
              <a:t>to all the hardware</a:t>
            </a:r>
          </a:p>
          <a:p>
            <a:pPr lvl="1"/>
            <a:r>
              <a:rPr lang="en-US"/>
              <a:t>can </a:t>
            </a:r>
            <a:r>
              <a:rPr lang="en-US" b="1">
                <a:solidFill>
                  <a:schemeClr val="accent6"/>
                </a:solidFill>
              </a:rPr>
              <a:t>execute any instruction </a:t>
            </a:r>
            <a:r>
              <a:rPr lang="en-US"/>
              <a:t>that a machine is capable of executing</a:t>
            </a:r>
          </a:p>
          <a:p>
            <a:pPr lvl="1"/>
            <a:r>
              <a:rPr lang="en-US"/>
              <a:t>has </a:t>
            </a:r>
            <a:r>
              <a:rPr lang="en-US" b="1">
                <a:solidFill>
                  <a:schemeClr val="accent6"/>
                </a:solidFill>
              </a:rPr>
              <a:t>high privileged </a:t>
            </a:r>
            <a:r>
              <a:rPr lang="en-US"/>
              <a:t>(rights)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User Mode</a:t>
            </a:r>
          </a:p>
          <a:p>
            <a:pPr lvl="1"/>
            <a:r>
              <a:rPr lang="en-US"/>
              <a:t>has </a:t>
            </a:r>
            <a:r>
              <a:rPr lang="en-US" b="1">
                <a:solidFill>
                  <a:schemeClr val="accent6"/>
                </a:solidFill>
              </a:rPr>
              <a:t>limited access </a:t>
            </a:r>
            <a:r>
              <a:rPr lang="en-US"/>
              <a:t>to limited hardware</a:t>
            </a:r>
          </a:p>
          <a:p>
            <a:pPr lvl="1"/>
            <a:r>
              <a:rPr lang="en-US"/>
              <a:t>can </a:t>
            </a:r>
            <a:r>
              <a:rPr lang="en-US" b="1">
                <a:solidFill>
                  <a:schemeClr val="accent6"/>
                </a:solidFill>
              </a:rPr>
              <a:t>execute only subset (few) </a:t>
            </a:r>
            <a:r>
              <a:rPr lang="en-US"/>
              <a:t>of the machine instructions</a:t>
            </a:r>
          </a:p>
          <a:p>
            <a:pPr lvl="1"/>
            <a:r>
              <a:rPr lang="en-US"/>
              <a:t>has </a:t>
            </a:r>
            <a:r>
              <a:rPr lang="en-US" b="1">
                <a:solidFill>
                  <a:schemeClr val="accent6"/>
                </a:solidFill>
              </a:rPr>
              <a:t>less privileged</a:t>
            </a:r>
            <a:r>
              <a:rPr lang="en-US"/>
              <a:t> (rights)</a:t>
            </a:r>
          </a:p>
        </p:txBody>
      </p:sp>
      <p:pic>
        <p:nvPicPr>
          <p:cNvPr id="31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64788" y="966695"/>
            <a:ext cx="864000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/>
          <p:cNvSpPr/>
          <p:nvPr/>
        </p:nvSpPr>
        <p:spPr>
          <a:xfrm>
            <a:off x="7721852" y="2656892"/>
            <a:ext cx="3497480" cy="552450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38100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976238" y="2736544"/>
            <a:ext cx="389478" cy="389478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9241999" y="2725438"/>
            <a:ext cx="389478" cy="389478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0500650" y="2734798"/>
            <a:ext cx="389478" cy="389478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694854" y="1739834"/>
            <a:ext cx="9522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Web</a:t>
            </a:r>
          </a:p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browser</a:t>
            </a:r>
          </a:p>
        </p:txBody>
      </p:sp>
      <p:cxnSp>
        <p:nvCxnSpPr>
          <p:cNvPr id="37" name="Straight Arrow Connector 36"/>
          <p:cNvCxnSpPr>
            <a:endCxn id="33" idx="0"/>
          </p:cNvCxnSpPr>
          <p:nvPr/>
        </p:nvCxnSpPr>
        <p:spPr>
          <a:xfrm flipH="1">
            <a:off x="8170977" y="2330146"/>
            <a:ext cx="3388" cy="406398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38" name="Rectangle 37"/>
          <p:cNvSpPr/>
          <p:nvPr/>
        </p:nvSpPr>
        <p:spPr>
          <a:xfrm>
            <a:off x="9047994" y="1742764"/>
            <a:ext cx="7649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E-mail</a:t>
            </a:r>
          </a:p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reader</a:t>
            </a:r>
          </a:p>
        </p:txBody>
      </p:sp>
      <p:cxnSp>
        <p:nvCxnSpPr>
          <p:cNvPr id="39" name="Straight Arrow Connector 38"/>
          <p:cNvCxnSpPr>
            <a:endCxn id="34" idx="0"/>
          </p:cNvCxnSpPr>
          <p:nvPr/>
        </p:nvCxnSpPr>
        <p:spPr>
          <a:xfrm flipH="1">
            <a:off x="9436738" y="2337097"/>
            <a:ext cx="5183" cy="388341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40" name="Rectangle 39"/>
          <p:cNvSpPr/>
          <p:nvPr/>
        </p:nvSpPr>
        <p:spPr>
          <a:xfrm>
            <a:off x="10236095" y="1753203"/>
            <a:ext cx="9644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Music</a:t>
            </a:r>
          </a:p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player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10719705" y="2354702"/>
            <a:ext cx="683" cy="381366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7721852" y="3202181"/>
            <a:ext cx="3497480" cy="552450"/>
          </a:xfrm>
          <a:prstGeom prst="rect">
            <a:avLst/>
          </a:prstGeom>
          <a:gradFill rotWithShape="1">
            <a:gsLst>
              <a:gs pos="0">
                <a:srgbClr val="8064A2">
                  <a:shade val="51000"/>
                  <a:satMod val="130000"/>
                </a:srgbClr>
              </a:gs>
              <a:gs pos="80000">
                <a:srgbClr val="8064A2">
                  <a:shade val="93000"/>
                  <a:satMod val="130000"/>
                </a:srgbClr>
              </a:gs>
              <a:gs pos="100000">
                <a:srgbClr val="8064A2">
                  <a:shade val="94000"/>
                  <a:satMod val="135000"/>
                </a:srgbClr>
              </a:gs>
            </a:gsLst>
            <a:lin ang="16200000" scaled="0"/>
          </a:gradFill>
          <a:ln w="38100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bg1"/>
                </a:solidFill>
                <a:latin typeface="+mj-lt"/>
              </a:rPr>
              <a:t>User Program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1852" y="3754630"/>
            <a:ext cx="3497480" cy="702497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38100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bg1"/>
                </a:solidFill>
                <a:latin typeface="+mj-lt"/>
              </a:rPr>
              <a:t>Operating System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21852" y="4457127"/>
            <a:ext cx="3497480" cy="657664"/>
          </a:xfrm>
          <a:prstGeom prst="rect">
            <a:avLst/>
          </a:prstGeom>
          <a:solidFill>
            <a:sysClr val="window" lastClr="FFFFFF">
              <a:lumMod val="50000"/>
              <a:lumOff val="50000"/>
            </a:sysClr>
          </a:solidFill>
          <a:ln w="38100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Left Brace 44"/>
          <p:cNvSpPr/>
          <p:nvPr/>
        </p:nvSpPr>
        <p:spPr>
          <a:xfrm>
            <a:off x="7492665" y="2656892"/>
            <a:ext cx="202809" cy="1795269"/>
          </a:xfrm>
          <a:prstGeom prst="leftBrace">
            <a:avLst>
              <a:gd name="adj1" fmla="val 51643"/>
              <a:gd name="adj2" fmla="val 50000"/>
            </a:avLst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Left Brace 45"/>
          <p:cNvSpPr/>
          <p:nvPr/>
        </p:nvSpPr>
        <p:spPr>
          <a:xfrm>
            <a:off x="7492665" y="4471369"/>
            <a:ext cx="202810" cy="643421"/>
          </a:xfrm>
          <a:prstGeom prst="leftBrace">
            <a:avLst>
              <a:gd name="adj1" fmla="val 28426"/>
              <a:gd name="adj2" fmla="val 51159"/>
            </a:avLst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514093" y="3371849"/>
            <a:ext cx="1025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>
                <a:solidFill>
                  <a:prstClr val="black"/>
                </a:solidFill>
                <a:latin typeface="+mj-lt"/>
              </a:rPr>
              <a:t>Software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6075" y="4610819"/>
            <a:ext cx="10615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>
                <a:solidFill>
                  <a:prstClr val="black"/>
                </a:solidFill>
                <a:latin typeface="+mj-lt"/>
              </a:rPr>
              <a:t>Hardware</a:t>
            </a:r>
          </a:p>
        </p:txBody>
      </p:sp>
      <p:pic>
        <p:nvPicPr>
          <p:cNvPr id="49" name="Picture 4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65521" y="4623770"/>
            <a:ext cx="408844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8" descr="Image result for ra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80" b="30339"/>
          <a:stretch>
            <a:fillRect/>
          </a:stretch>
        </p:blipFill>
        <p:spPr bwMode="auto">
          <a:xfrm>
            <a:off x="10205759" y="4644770"/>
            <a:ext cx="940406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2" descr="Image result for dis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1565" y="462377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Image result for keyboard mous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19365" y="462377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8" descr="Image result for displa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07765" y="462258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2" descr="Related imag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64965" y="4641493"/>
            <a:ext cx="479326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Left Brace 56"/>
          <p:cNvSpPr/>
          <p:nvPr/>
        </p:nvSpPr>
        <p:spPr>
          <a:xfrm flipH="1">
            <a:off x="11253302" y="2656892"/>
            <a:ext cx="202809" cy="1097280"/>
          </a:xfrm>
          <a:prstGeom prst="leftBrace">
            <a:avLst>
              <a:gd name="adj1" fmla="val 51643"/>
              <a:gd name="adj2" fmla="val 50000"/>
            </a:avLst>
          </a:prstGeom>
          <a:noFill/>
          <a:ln w="38100" cap="flat" cmpd="sng" algn="ctr">
            <a:solidFill>
              <a:schemeClr val="accent6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Left Brace 57"/>
          <p:cNvSpPr/>
          <p:nvPr/>
        </p:nvSpPr>
        <p:spPr>
          <a:xfrm flipH="1">
            <a:off x="11253302" y="3788744"/>
            <a:ext cx="202810" cy="643421"/>
          </a:xfrm>
          <a:prstGeom prst="leftBrace">
            <a:avLst>
              <a:gd name="adj1" fmla="val 28426"/>
              <a:gd name="adj2" fmla="val 51159"/>
            </a:avLst>
          </a:prstGeom>
          <a:noFill/>
          <a:ln w="38100" cap="flat" cmpd="sng" algn="ctr">
            <a:solidFill>
              <a:schemeClr val="accent6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1431608" y="2879142"/>
            <a:ext cx="6960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User </a:t>
            </a:r>
          </a:p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Mode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399547" y="3793077"/>
            <a:ext cx="7601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Kernel</a:t>
            </a:r>
          </a:p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Mode</a:t>
            </a:r>
          </a:p>
        </p:txBody>
      </p:sp>
    </p:spTree>
    <p:extLst>
      <p:ext uri="{BB962C8B-B14F-4D97-AF65-F5344CB8AC3E}">
        <p14:creationId xmlns:p14="http://schemas.microsoft.com/office/powerpoint/2010/main" val="30040972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/>
      <p:bldP spid="38" grpId="0"/>
      <p:bldP spid="40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57" grpId="0" animBg="1"/>
      <p:bldP spid="58" grpId="0" animBg="1"/>
      <p:bldP spid="59" grpId="0"/>
      <p:bldP spid="6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and How switch occur?</a:t>
            </a:r>
          </a:p>
        </p:txBody>
      </p:sp>
      <p:pic>
        <p:nvPicPr>
          <p:cNvPr id="31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59820" y="966695"/>
            <a:ext cx="864000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/>
          <p:cNvSpPr/>
          <p:nvPr/>
        </p:nvSpPr>
        <p:spPr>
          <a:xfrm>
            <a:off x="1616884" y="2656892"/>
            <a:ext cx="3497480" cy="552450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38100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871270" y="2736544"/>
            <a:ext cx="389478" cy="389478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3137031" y="2725438"/>
            <a:ext cx="389478" cy="389478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395682" y="2734798"/>
            <a:ext cx="389478" cy="389478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589886" y="1739834"/>
            <a:ext cx="9522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Web</a:t>
            </a:r>
          </a:p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browser</a:t>
            </a:r>
          </a:p>
        </p:txBody>
      </p:sp>
      <p:cxnSp>
        <p:nvCxnSpPr>
          <p:cNvPr id="37" name="Straight Arrow Connector 36"/>
          <p:cNvCxnSpPr>
            <a:endCxn id="33" idx="0"/>
          </p:cNvCxnSpPr>
          <p:nvPr/>
        </p:nvCxnSpPr>
        <p:spPr>
          <a:xfrm flipH="1">
            <a:off x="2066009" y="2330146"/>
            <a:ext cx="3388" cy="406398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38" name="Rectangle 37"/>
          <p:cNvSpPr/>
          <p:nvPr/>
        </p:nvSpPr>
        <p:spPr>
          <a:xfrm>
            <a:off x="2943026" y="1742764"/>
            <a:ext cx="7649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E-mail</a:t>
            </a:r>
          </a:p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reader</a:t>
            </a:r>
          </a:p>
        </p:txBody>
      </p:sp>
      <p:cxnSp>
        <p:nvCxnSpPr>
          <p:cNvPr id="39" name="Straight Arrow Connector 38"/>
          <p:cNvCxnSpPr>
            <a:endCxn id="34" idx="0"/>
          </p:cNvCxnSpPr>
          <p:nvPr/>
        </p:nvCxnSpPr>
        <p:spPr>
          <a:xfrm flipH="1">
            <a:off x="3331770" y="2337097"/>
            <a:ext cx="5183" cy="388341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40" name="Rectangle 39"/>
          <p:cNvSpPr/>
          <p:nvPr/>
        </p:nvSpPr>
        <p:spPr>
          <a:xfrm>
            <a:off x="4131127" y="1753203"/>
            <a:ext cx="9644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Music</a:t>
            </a:r>
          </a:p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player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4614737" y="2354702"/>
            <a:ext cx="683" cy="381366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1616884" y="3202181"/>
            <a:ext cx="3497480" cy="552450"/>
          </a:xfrm>
          <a:prstGeom prst="rect">
            <a:avLst/>
          </a:prstGeom>
          <a:gradFill rotWithShape="1">
            <a:gsLst>
              <a:gs pos="0">
                <a:srgbClr val="8064A2">
                  <a:shade val="51000"/>
                  <a:satMod val="130000"/>
                </a:srgbClr>
              </a:gs>
              <a:gs pos="80000">
                <a:srgbClr val="8064A2">
                  <a:shade val="93000"/>
                  <a:satMod val="130000"/>
                </a:srgbClr>
              </a:gs>
              <a:gs pos="100000">
                <a:srgbClr val="8064A2">
                  <a:shade val="94000"/>
                  <a:satMod val="135000"/>
                </a:srgbClr>
              </a:gs>
            </a:gsLst>
            <a:lin ang="16200000" scaled="0"/>
          </a:gradFill>
          <a:ln w="38100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bg1"/>
                </a:solidFill>
                <a:latin typeface="+mj-lt"/>
              </a:rPr>
              <a:t>User Program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16884" y="3754630"/>
            <a:ext cx="3497480" cy="702497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38100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bg1"/>
                </a:solidFill>
                <a:latin typeface="+mj-lt"/>
              </a:rPr>
              <a:t>Operating System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16884" y="4457127"/>
            <a:ext cx="3497480" cy="657664"/>
          </a:xfrm>
          <a:prstGeom prst="rect">
            <a:avLst/>
          </a:prstGeom>
          <a:solidFill>
            <a:sysClr val="window" lastClr="FFFFFF">
              <a:lumMod val="50000"/>
              <a:lumOff val="50000"/>
            </a:sysClr>
          </a:solidFill>
          <a:ln w="38100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Left Brace 44"/>
          <p:cNvSpPr/>
          <p:nvPr/>
        </p:nvSpPr>
        <p:spPr>
          <a:xfrm>
            <a:off x="1387697" y="2656892"/>
            <a:ext cx="202809" cy="1795269"/>
          </a:xfrm>
          <a:prstGeom prst="leftBrace">
            <a:avLst>
              <a:gd name="adj1" fmla="val 51643"/>
              <a:gd name="adj2" fmla="val 50000"/>
            </a:avLst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Left Brace 45"/>
          <p:cNvSpPr/>
          <p:nvPr/>
        </p:nvSpPr>
        <p:spPr>
          <a:xfrm>
            <a:off x="1387697" y="4471369"/>
            <a:ext cx="202810" cy="643421"/>
          </a:xfrm>
          <a:prstGeom prst="leftBrace">
            <a:avLst>
              <a:gd name="adj1" fmla="val 28426"/>
              <a:gd name="adj2" fmla="val 51159"/>
            </a:avLst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09125" y="3371849"/>
            <a:ext cx="1025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>
                <a:solidFill>
                  <a:prstClr val="black"/>
                </a:solidFill>
                <a:latin typeface="+mj-lt"/>
              </a:rPr>
              <a:t>Software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1107" y="4610819"/>
            <a:ext cx="10615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>
                <a:solidFill>
                  <a:prstClr val="black"/>
                </a:solidFill>
                <a:latin typeface="+mj-lt"/>
              </a:rPr>
              <a:t>Hardware</a:t>
            </a:r>
          </a:p>
        </p:txBody>
      </p:sp>
      <p:pic>
        <p:nvPicPr>
          <p:cNvPr id="49" name="Picture 4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60553" y="4623770"/>
            <a:ext cx="408844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8" descr="Image result for ra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80" b="30339"/>
          <a:stretch>
            <a:fillRect/>
          </a:stretch>
        </p:blipFill>
        <p:spPr bwMode="auto">
          <a:xfrm>
            <a:off x="4100791" y="4644770"/>
            <a:ext cx="940406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2" descr="Image result for dis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66597" y="462377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Image result for keyboard mous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14397" y="462377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8" descr="Image result for displa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2797" y="462258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2" descr="Related imag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59997" y="4641493"/>
            <a:ext cx="479326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Left Brace 56"/>
          <p:cNvSpPr/>
          <p:nvPr/>
        </p:nvSpPr>
        <p:spPr>
          <a:xfrm flipH="1">
            <a:off x="5148334" y="2656892"/>
            <a:ext cx="202809" cy="1097280"/>
          </a:xfrm>
          <a:prstGeom prst="leftBrace">
            <a:avLst>
              <a:gd name="adj1" fmla="val 51643"/>
              <a:gd name="adj2" fmla="val 50000"/>
            </a:avLst>
          </a:prstGeom>
          <a:noFill/>
          <a:ln w="38100" cap="flat" cmpd="sng" algn="ctr">
            <a:solidFill>
              <a:schemeClr val="accent6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Left Brace 57"/>
          <p:cNvSpPr/>
          <p:nvPr/>
        </p:nvSpPr>
        <p:spPr>
          <a:xfrm flipH="1">
            <a:off x="5148334" y="3788744"/>
            <a:ext cx="202810" cy="643421"/>
          </a:xfrm>
          <a:prstGeom prst="leftBrace">
            <a:avLst>
              <a:gd name="adj1" fmla="val 28426"/>
              <a:gd name="adj2" fmla="val 51159"/>
            </a:avLst>
          </a:prstGeom>
          <a:noFill/>
          <a:ln w="38100" cap="flat" cmpd="sng" algn="ctr">
            <a:solidFill>
              <a:schemeClr val="accent6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326640" y="2879142"/>
            <a:ext cx="6960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User </a:t>
            </a:r>
          </a:p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Mode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94579" y="3793077"/>
            <a:ext cx="7601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Kernel</a:t>
            </a:r>
          </a:p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Mode</a:t>
            </a:r>
          </a:p>
        </p:txBody>
      </p:sp>
      <p:sp>
        <p:nvSpPr>
          <p:cNvPr id="67" name="Rounded Rectangular Callout 66"/>
          <p:cNvSpPr/>
          <p:nvPr/>
        </p:nvSpPr>
        <p:spPr>
          <a:xfrm>
            <a:off x="6651812" y="1841004"/>
            <a:ext cx="4023360" cy="914400"/>
          </a:xfrm>
          <a:prstGeom prst="wedgeRoundRectCallout">
            <a:avLst>
              <a:gd name="adj1" fmla="val -69847"/>
              <a:gd name="adj2" fmla="val 97871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342900" algn="just">
              <a:buFont typeface="Wingdings" panose="05000000000000000000" pitchFamily="2" charset="2"/>
              <a:buChar char="§"/>
            </a:pPr>
            <a:r>
              <a:rPr lang="en-US">
                <a:solidFill>
                  <a:prstClr val="black"/>
                </a:solidFill>
                <a:latin typeface="+mj-lt"/>
              </a:rPr>
              <a:t>User is writing program in C.</a:t>
            </a:r>
          </a:p>
          <a:p>
            <a:pPr lvl="1" indent="-342900" algn="just">
              <a:buFont typeface="Wingdings" panose="05000000000000000000" pitchFamily="2" charset="2"/>
              <a:buChar char="§"/>
            </a:pPr>
            <a:r>
              <a:rPr lang="en-US">
                <a:solidFill>
                  <a:prstClr val="black"/>
                </a:solidFill>
                <a:latin typeface="+mj-lt"/>
              </a:rPr>
              <a:t>Once finish writing will execute it.</a:t>
            </a:r>
          </a:p>
        </p:txBody>
      </p:sp>
      <p:sp>
        <p:nvSpPr>
          <p:cNvPr id="68" name="Rounded Rectangular Callout 67"/>
          <p:cNvSpPr/>
          <p:nvPr/>
        </p:nvSpPr>
        <p:spPr>
          <a:xfrm>
            <a:off x="6651812" y="3779473"/>
            <a:ext cx="4023360" cy="914400"/>
          </a:xfrm>
          <a:prstGeom prst="wedgeRoundRectCallout">
            <a:avLst>
              <a:gd name="adj1" fmla="val -69498"/>
              <a:gd name="adj2" fmla="val -1331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342900" algn="just">
              <a:buFont typeface="Wingdings" panose="05000000000000000000" pitchFamily="2" charset="2"/>
              <a:buChar char="§"/>
            </a:pPr>
            <a:r>
              <a:rPr lang="en-US">
                <a:solidFill>
                  <a:prstClr val="black"/>
                </a:solidFill>
                <a:latin typeface="+mj-lt"/>
              </a:rPr>
              <a:t>To execute this program</a:t>
            </a:r>
          </a:p>
          <a:p>
            <a:pPr marL="971550" lvl="2" indent="-457200" algn="just">
              <a:buFont typeface="+mj-lt"/>
              <a:buAutoNum type="arabicPeriod"/>
            </a:pPr>
            <a:r>
              <a:rPr lang="en-US" sz="1600">
                <a:solidFill>
                  <a:prstClr val="black"/>
                </a:solidFill>
                <a:latin typeface="+mj-lt"/>
              </a:rPr>
              <a:t>Load program into RAM</a:t>
            </a:r>
          </a:p>
          <a:p>
            <a:pPr marL="971550" lvl="2" indent="-457200" algn="just">
              <a:buFont typeface="+mj-lt"/>
              <a:buAutoNum type="arabicPeriod"/>
            </a:pPr>
            <a:r>
              <a:rPr lang="en-US" sz="1600">
                <a:solidFill>
                  <a:prstClr val="black"/>
                </a:solidFill>
                <a:latin typeface="+mj-lt"/>
              </a:rPr>
              <a:t>Program is executed by processor</a:t>
            </a:r>
          </a:p>
        </p:txBody>
      </p:sp>
      <p:sp>
        <p:nvSpPr>
          <p:cNvPr id="69" name="Flowchart: Process 68"/>
          <p:cNvSpPr/>
          <p:nvPr/>
        </p:nvSpPr>
        <p:spPr>
          <a:xfrm>
            <a:off x="7794812" y="2978246"/>
            <a:ext cx="2576139" cy="576280"/>
          </a:xfrm>
          <a:prstGeom prst="flowChart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user-mode program </a:t>
            </a:r>
          </a:p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performs trap instruction</a:t>
            </a:r>
          </a:p>
        </p:txBody>
      </p:sp>
      <p:sp>
        <p:nvSpPr>
          <p:cNvPr id="70" name="Down Arrow 69"/>
          <p:cNvSpPr/>
          <p:nvPr/>
        </p:nvSpPr>
        <p:spPr>
          <a:xfrm>
            <a:off x="7490012" y="2936689"/>
            <a:ext cx="304800" cy="82296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043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69" grpId="0" animBg="1"/>
      <p:bldP spid="7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Roles of Operating System (OS)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- 4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40867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as Extended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896713" cy="5590565"/>
          </a:xfrm>
        </p:spPr>
        <p:txBody>
          <a:bodyPr/>
          <a:lstStyle/>
          <a:p>
            <a:r>
              <a:rPr lang="en-US"/>
              <a:t>The architecture of a computer is difficult to program</a:t>
            </a:r>
          </a:p>
          <a:p>
            <a:pPr lvl="1"/>
            <a:r>
              <a:rPr lang="en-US"/>
              <a:t>Architecture (instruction set, memory organization, I/O, bus structure) of most of computer at the machine level language is primitive and awkward to program.</a:t>
            </a:r>
          </a:p>
          <a:p>
            <a:pPr lvl="1"/>
            <a:r>
              <a:rPr lang="en-US"/>
              <a:t>Example: If </a:t>
            </a:r>
            <a:r>
              <a:rPr lang="en-US" b="1">
                <a:solidFill>
                  <a:schemeClr val="accent6"/>
                </a:solidFill>
              </a:rPr>
              <a:t>user want to read from floppy or hard disk</a:t>
            </a:r>
            <a:r>
              <a:rPr lang="en-US"/>
              <a:t>:</a:t>
            </a:r>
          </a:p>
        </p:txBody>
      </p:sp>
      <p:pic>
        <p:nvPicPr>
          <p:cNvPr id="55" name="Picture 14" descr="Image result for user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91863" y="863444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4" descr="Image result for hard dis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9" t="3857" r="9731" b="4684"/>
          <a:stretch>
            <a:fillRect/>
          </a:stretch>
        </p:blipFill>
        <p:spPr bwMode="auto">
          <a:xfrm>
            <a:off x="8382000" y="1218408"/>
            <a:ext cx="802105" cy="1073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4171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as Extended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11944278" cy="5590565"/>
          </a:xfrm>
        </p:spPr>
        <p:txBody>
          <a:bodyPr/>
          <a:lstStyle/>
          <a:p>
            <a:r>
              <a:rPr lang="en-US"/>
              <a:t>Example: If </a:t>
            </a:r>
            <a:r>
              <a:rPr lang="en-US" b="1">
                <a:solidFill>
                  <a:schemeClr val="accent6"/>
                </a:solidFill>
              </a:rPr>
              <a:t>user want to read from floppy or hard disk</a:t>
            </a:r>
            <a:r>
              <a:rPr lang="en-US"/>
              <a:t>:</a:t>
            </a:r>
          </a:p>
        </p:txBody>
      </p:sp>
      <p:pic>
        <p:nvPicPr>
          <p:cNvPr id="6" name="Picture 4" descr="Image result for hard dis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9" t="3857" r="9731" b="4684"/>
          <a:stretch>
            <a:fillRect/>
          </a:stretch>
        </p:blipFill>
        <p:spPr bwMode="auto">
          <a:xfrm>
            <a:off x="1295400" y="3532094"/>
            <a:ext cx="2049137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Image result for user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9400" y="3417794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 result for person icon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0310" y="3151094"/>
            <a:ext cx="958243" cy="225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rved Right Arrow 8"/>
          <p:cNvSpPr/>
          <p:nvPr/>
        </p:nvSpPr>
        <p:spPr>
          <a:xfrm rot="5400000">
            <a:off x="6689381" y="1931927"/>
            <a:ext cx="506506" cy="2944840"/>
          </a:xfrm>
          <a:prstGeom prst="curvedRightArrow">
            <a:avLst/>
          </a:prstGeom>
          <a:solidFill>
            <a:schemeClr val="accent6"/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0" name="Rounded Rectangular Callout 9"/>
          <p:cNvSpPr/>
          <p:nvPr/>
        </p:nvSpPr>
        <p:spPr>
          <a:xfrm>
            <a:off x="5029199" y="1703294"/>
            <a:ext cx="4038600" cy="1188720"/>
          </a:xfrm>
          <a:prstGeom prst="wedgeRoundRectCallout">
            <a:avLst>
              <a:gd name="adj1" fmla="val 4391"/>
              <a:gd name="adj2" fmla="val 72323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algn="just"/>
            <a:r>
              <a:rPr lang="en-IN" sz="2000">
                <a:solidFill>
                  <a:schemeClr val="tx1"/>
                </a:solidFill>
              </a:rPr>
              <a:t>User has to write command and address to the disk controller and then initiate the I/O.</a:t>
            </a:r>
          </a:p>
        </p:txBody>
      </p:sp>
      <p:pic>
        <p:nvPicPr>
          <p:cNvPr id="11" name="Picture 2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4" t="15978" r="9775" b="16353"/>
          <a:stretch>
            <a:fillRect/>
          </a:stretch>
        </p:blipFill>
        <p:spPr bwMode="auto">
          <a:xfrm>
            <a:off x="4726635" y="5402204"/>
            <a:ext cx="945592" cy="834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Callout 11"/>
          <p:cNvSpPr/>
          <p:nvPr/>
        </p:nvSpPr>
        <p:spPr>
          <a:xfrm>
            <a:off x="2256858" y="2525452"/>
            <a:ext cx="2438400" cy="968542"/>
          </a:xfrm>
          <a:prstGeom prst="wedgeEllipseCallout">
            <a:avLst>
              <a:gd name="adj1" fmla="val 47456"/>
              <a:gd name="adj2" fmla="val 73114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/>
              <a:t>Disk Controller</a:t>
            </a:r>
          </a:p>
        </p:txBody>
      </p:sp>
    </p:spTree>
    <p:extLst>
      <p:ext uri="{BB962C8B-B14F-4D97-AF65-F5344CB8AC3E}">
        <p14:creationId xmlns:p14="http://schemas.microsoft.com/office/powerpoint/2010/main" val="22678581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as Extended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2" t="2797" r="3374" b="18881"/>
          <a:stretch>
            <a:fillRect/>
          </a:stretch>
        </p:blipFill>
        <p:spPr bwMode="auto">
          <a:xfrm>
            <a:off x="3349711" y="3151094"/>
            <a:ext cx="3458937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 result for hard dis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9" t="3857" r="9731" b="4684"/>
          <a:stretch>
            <a:fillRect/>
          </a:stretch>
        </p:blipFill>
        <p:spPr bwMode="auto">
          <a:xfrm>
            <a:off x="1295400" y="3532094"/>
            <a:ext cx="2049137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Image result for user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9400" y="3417794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4" t="15978" r="9775" b="16353"/>
          <a:stretch>
            <a:fillRect/>
          </a:stretch>
        </p:blipFill>
        <p:spPr bwMode="auto">
          <a:xfrm>
            <a:off x="3400875" y="5553400"/>
            <a:ext cx="818148" cy="72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rved Right Arrow 7"/>
          <p:cNvSpPr/>
          <p:nvPr/>
        </p:nvSpPr>
        <p:spPr>
          <a:xfrm rot="5400000">
            <a:off x="3019554" y="1865219"/>
            <a:ext cx="609600" cy="2724150"/>
          </a:xfrm>
          <a:prstGeom prst="curvedRightArrow">
            <a:avLst/>
          </a:prstGeom>
          <a:solidFill>
            <a:schemeClr val="accent6"/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9" name="Rounded Rectangular Callout 8"/>
          <p:cNvSpPr/>
          <p:nvPr/>
        </p:nvSpPr>
        <p:spPr>
          <a:xfrm>
            <a:off x="1148174" y="1423894"/>
            <a:ext cx="4724400" cy="1188720"/>
          </a:xfrm>
          <a:prstGeom prst="wedgeRoundRectCallout">
            <a:avLst>
              <a:gd name="adj1" fmla="val 1566"/>
              <a:gd name="adj2" fmla="val 76878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algn="just"/>
            <a:r>
              <a:rPr lang="en-IN" sz="2000">
                <a:solidFill>
                  <a:schemeClr val="tx1"/>
                </a:solidFill>
              </a:rPr>
              <a:t>The disk controller will find the requested data in the disk and fetch it from disk to disk controller buffer.</a:t>
            </a:r>
          </a:p>
        </p:txBody>
      </p:sp>
      <p:sp>
        <p:nvSpPr>
          <p:cNvPr id="10" name="Curved Right Arrow 9"/>
          <p:cNvSpPr/>
          <p:nvPr/>
        </p:nvSpPr>
        <p:spPr>
          <a:xfrm rot="5400000">
            <a:off x="6381556" y="1975361"/>
            <a:ext cx="609600" cy="2846765"/>
          </a:xfrm>
          <a:prstGeom prst="curvedRightArrow">
            <a:avLst/>
          </a:prstGeom>
          <a:solidFill>
            <a:schemeClr val="accent6"/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1" name="Rounded Rectangular Callout 10"/>
          <p:cNvSpPr/>
          <p:nvPr/>
        </p:nvSpPr>
        <p:spPr>
          <a:xfrm>
            <a:off x="5995833" y="1423894"/>
            <a:ext cx="3887755" cy="1188720"/>
          </a:xfrm>
          <a:prstGeom prst="wedgeRoundRectCallout">
            <a:avLst>
              <a:gd name="adj1" fmla="val -3193"/>
              <a:gd name="adj2" fmla="val 110459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algn="just"/>
            <a:r>
              <a:rPr lang="en-IN" sz="2000">
                <a:solidFill>
                  <a:schemeClr val="tx1"/>
                </a:solidFill>
              </a:rPr>
              <a:t>User has to check the status of disk controller operation where it has finished or not.</a:t>
            </a:r>
          </a:p>
        </p:txBody>
      </p:sp>
    </p:spTree>
    <p:extLst>
      <p:ext uri="{BB962C8B-B14F-4D97-AF65-F5344CB8AC3E}">
        <p14:creationId xmlns:p14="http://schemas.microsoft.com/office/powerpoint/2010/main" val="6853120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  <p:cond evt="onBegin" delay="0">
                          <p:tn val="13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as Extended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8" t="7000" r="29042" b="5000"/>
          <a:stretch>
            <a:fillRect/>
          </a:stretch>
        </p:blipFill>
        <p:spPr bwMode="auto">
          <a:xfrm>
            <a:off x="4040841" y="3284547"/>
            <a:ext cx="165215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 result for hard dis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9" t="3857" r="9731" b="4684"/>
          <a:stretch>
            <a:fillRect/>
          </a:stretch>
        </p:blipFill>
        <p:spPr bwMode="auto">
          <a:xfrm>
            <a:off x="1295400" y="3532094"/>
            <a:ext cx="2049137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Image result for user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9400" y="3417794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4" t="15978" r="9775" b="16353"/>
          <a:stretch>
            <a:fillRect/>
          </a:stretch>
        </p:blipFill>
        <p:spPr bwMode="auto">
          <a:xfrm>
            <a:off x="3400875" y="5553400"/>
            <a:ext cx="818148" cy="72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ular Callout 7"/>
          <p:cNvSpPr/>
          <p:nvPr/>
        </p:nvSpPr>
        <p:spPr>
          <a:xfrm>
            <a:off x="1205619" y="1570044"/>
            <a:ext cx="4724400" cy="1188720"/>
          </a:xfrm>
          <a:prstGeom prst="wedgeRoundRectCallout">
            <a:avLst>
              <a:gd name="adj1" fmla="val -24486"/>
              <a:gd name="adj2" fmla="val 121726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algn="just"/>
            <a:r>
              <a:rPr lang="en-IN" sz="2000">
                <a:solidFill>
                  <a:schemeClr val="tx1"/>
                </a:solidFill>
              </a:rPr>
              <a:t>If success, the data from disk controller buffer should be moved to main memory (to the application buffer).</a:t>
            </a:r>
          </a:p>
        </p:txBody>
      </p:sp>
      <p:sp>
        <p:nvSpPr>
          <p:cNvPr id="9" name="Curved Right Arrow 8"/>
          <p:cNvSpPr/>
          <p:nvPr/>
        </p:nvSpPr>
        <p:spPr>
          <a:xfrm rot="17634628">
            <a:off x="2550727" y="5311521"/>
            <a:ext cx="830028" cy="1406860"/>
          </a:xfrm>
          <a:prstGeom prst="curvedRightArrow">
            <a:avLst/>
          </a:prstGeom>
          <a:solidFill>
            <a:schemeClr val="accent6"/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0" name="Curved Right Arrow 9"/>
          <p:cNvSpPr/>
          <p:nvPr/>
        </p:nvSpPr>
        <p:spPr>
          <a:xfrm rot="14459690">
            <a:off x="5341945" y="3747938"/>
            <a:ext cx="695630" cy="3723016"/>
          </a:xfrm>
          <a:prstGeom prst="curvedRightArrow">
            <a:avLst/>
          </a:prstGeom>
          <a:solidFill>
            <a:schemeClr val="accent6"/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295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as Extended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all the users will have to do these messy details:</a:t>
            </a:r>
          </a:p>
          <a:p>
            <a:pPr lvl="1"/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program will be very difficult to write and quite long</a:t>
            </a:r>
            <a:r>
              <a:rPr lang="en-US"/>
              <a:t>.</a:t>
            </a:r>
          </a:p>
          <a:p>
            <a:pPr lvl="1"/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program will be hardware dependent</a:t>
            </a:r>
            <a:r>
              <a:rPr lang="en-US"/>
              <a:t>.</a:t>
            </a:r>
          </a:p>
          <a:p>
            <a:r>
              <a:rPr lang="en-US"/>
              <a:t>User </a:t>
            </a:r>
            <a:r>
              <a:rPr lang="en-US" b="1">
                <a:solidFill>
                  <a:schemeClr val="accent6"/>
                </a:solidFill>
              </a:rPr>
              <a:t>don’t want to be involved in programming </a:t>
            </a:r>
            <a:r>
              <a:rPr lang="en-US"/>
              <a:t>of storage devices.</a:t>
            </a:r>
          </a:p>
          <a:p>
            <a:r>
              <a:rPr lang="en-US"/>
              <a:t>Therefore, an </a:t>
            </a:r>
            <a:r>
              <a:rPr lang="en-US" b="1">
                <a:solidFill>
                  <a:schemeClr val="accent6"/>
                </a:solidFill>
              </a:rPr>
              <a:t>OS provides a set of basic commands </a:t>
            </a:r>
            <a:r>
              <a:rPr lang="en-US"/>
              <a:t>or instructions to perform various operations such as read, write, modify, save or close.</a:t>
            </a:r>
          </a:p>
          <a:p>
            <a:r>
              <a:rPr lang="en-US"/>
              <a:t>Dealing with these command is easier than directly dealing with hardware.</a:t>
            </a:r>
          </a:p>
          <a:p>
            <a:r>
              <a:rPr lang="en-US"/>
              <a:t>Operating system </a:t>
            </a:r>
            <a:r>
              <a:rPr lang="en-US" b="1">
                <a:solidFill>
                  <a:schemeClr val="accent6"/>
                </a:solidFill>
              </a:rPr>
              <a:t>hides the complexity of hardware </a:t>
            </a:r>
            <a:r>
              <a:rPr lang="en-US"/>
              <a:t>and present a </a:t>
            </a:r>
            <a:r>
              <a:rPr lang="en-US" b="1">
                <a:solidFill>
                  <a:schemeClr val="accent6"/>
                </a:solidFill>
              </a:rPr>
              <a:t>beautiful interface </a:t>
            </a:r>
            <a:r>
              <a:rPr lang="en-US"/>
              <a:t>to the users.</a:t>
            </a:r>
          </a:p>
        </p:txBody>
      </p:sp>
    </p:spTree>
    <p:extLst>
      <p:ext uri="{BB962C8B-B14F-4D97-AF65-F5344CB8AC3E}">
        <p14:creationId xmlns:p14="http://schemas.microsoft.com/office/powerpoint/2010/main" val="10362461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as Resource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8138761" cy="5590565"/>
          </a:xfrm>
        </p:spPr>
        <p:txBody>
          <a:bodyPr/>
          <a:lstStyle/>
          <a:p>
            <a:r>
              <a:rPr lang="en-US"/>
              <a:t>There are lots of resources in computer system</a:t>
            </a:r>
          </a:p>
          <a:p>
            <a:pPr lvl="1"/>
            <a:r>
              <a:rPr lang="en-US"/>
              <a:t>CPU (Processor)</a:t>
            </a:r>
          </a:p>
          <a:p>
            <a:pPr lvl="1"/>
            <a:r>
              <a:rPr lang="en-US"/>
              <a:t>Memory</a:t>
            </a:r>
          </a:p>
          <a:p>
            <a:pPr lvl="1"/>
            <a:r>
              <a:rPr lang="en-US"/>
              <a:t>I/O devices such as hard disk, mouse, keyboard, printer, scanner etc.</a:t>
            </a:r>
          </a:p>
          <a:p>
            <a:r>
              <a:rPr lang="en-US"/>
              <a:t>If a computer system is used by </a:t>
            </a:r>
            <a:r>
              <a:rPr lang="en-US" b="1">
                <a:solidFill>
                  <a:schemeClr val="accent6"/>
                </a:solidFill>
              </a:rPr>
              <a:t>multiple applications (or users)</a:t>
            </a:r>
            <a:r>
              <a:rPr lang="en-US"/>
              <a:t>, then they will </a:t>
            </a:r>
            <a:r>
              <a:rPr lang="en-US" b="1">
                <a:solidFill>
                  <a:schemeClr val="accent6"/>
                </a:solidFill>
              </a:rPr>
              <a:t>compete for these resources</a:t>
            </a:r>
            <a:r>
              <a:rPr lang="en-US"/>
              <a:t>.</a:t>
            </a:r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91996" y="970185"/>
            <a:ext cx="3359451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09267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as Resource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is the job of OS to allocate these resources to the various applications so that:</a:t>
            </a:r>
          </a:p>
          <a:p>
            <a:pPr lvl="1"/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resources are allocated fairly </a:t>
            </a:r>
            <a:r>
              <a:rPr lang="en-US"/>
              <a:t>(equally)</a:t>
            </a:r>
          </a:p>
        </p:txBody>
      </p:sp>
      <p:pic>
        <p:nvPicPr>
          <p:cNvPr id="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0" t="9449" r="7958" b="7793"/>
          <a:stretch>
            <a:fillRect/>
          </a:stretch>
        </p:blipFill>
        <p:spPr bwMode="auto">
          <a:xfrm>
            <a:off x="3709640" y="2037724"/>
            <a:ext cx="108864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0" t="9449" r="7958" b="7793"/>
          <a:stretch>
            <a:fillRect/>
          </a:stretch>
        </p:blipFill>
        <p:spPr bwMode="auto">
          <a:xfrm>
            <a:off x="3733800" y="3143250"/>
            <a:ext cx="108864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0" t="9449" r="7958" b="7793"/>
          <a:stretch>
            <a:fillRect/>
          </a:stretch>
        </p:blipFill>
        <p:spPr bwMode="auto">
          <a:xfrm>
            <a:off x="3733800" y="4218841"/>
            <a:ext cx="108864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0" t="9449" r="7958" b="7793"/>
          <a:stretch>
            <a:fillRect/>
          </a:stretch>
        </p:blipFill>
        <p:spPr bwMode="auto">
          <a:xfrm>
            <a:off x="3733800" y="5330373"/>
            <a:ext cx="108864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1973" y="3175907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5" name="Straight Connector 54"/>
          <p:cNvCxnSpPr>
            <a:endCxn id="50" idx="1"/>
          </p:cNvCxnSpPr>
          <p:nvPr/>
        </p:nvCxnSpPr>
        <p:spPr>
          <a:xfrm flipV="1">
            <a:off x="2566640" y="2577724"/>
            <a:ext cx="1143000" cy="166974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endCxn id="51" idx="1"/>
          </p:cNvCxnSpPr>
          <p:nvPr/>
        </p:nvCxnSpPr>
        <p:spPr>
          <a:xfrm flipV="1">
            <a:off x="2566640" y="3683250"/>
            <a:ext cx="1167160" cy="54079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endCxn id="52" idx="1"/>
          </p:cNvCxnSpPr>
          <p:nvPr/>
        </p:nvCxnSpPr>
        <p:spPr>
          <a:xfrm>
            <a:off x="2566640" y="4218841"/>
            <a:ext cx="1167160" cy="540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endCxn id="53" idx="1"/>
          </p:cNvCxnSpPr>
          <p:nvPr/>
        </p:nvCxnSpPr>
        <p:spPr>
          <a:xfrm>
            <a:off x="2566640" y="4218841"/>
            <a:ext cx="1167160" cy="165153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850900" y="2393058"/>
            <a:ext cx="511560" cy="369332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50900" y="3498584"/>
            <a:ext cx="511560" cy="369332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0900" y="4574175"/>
            <a:ext cx="511560" cy="369332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42730" y="5685707"/>
            <a:ext cx="511560" cy="369332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P4</a:t>
            </a:r>
          </a:p>
        </p:txBody>
      </p:sp>
      <p:sp>
        <p:nvSpPr>
          <p:cNvPr id="63" name="Rounded Rectangular Callout 62"/>
          <p:cNvSpPr/>
          <p:nvPr/>
        </p:nvSpPr>
        <p:spPr>
          <a:xfrm>
            <a:off x="5520866" y="2209800"/>
            <a:ext cx="2556334" cy="552590"/>
          </a:xfrm>
          <a:prstGeom prst="wedgeRoundRectCallout">
            <a:avLst>
              <a:gd name="adj1" fmla="val -58306"/>
              <a:gd name="adj2" fmla="val 48710"/>
              <a:gd name="adj3" fmla="val 16667"/>
            </a:avLst>
          </a:prstGeom>
          <a:solidFill>
            <a:schemeClr val="tx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Wants to print 50 lines</a:t>
            </a:r>
          </a:p>
        </p:txBody>
      </p:sp>
      <p:sp>
        <p:nvSpPr>
          <p:cNvPr id="64" name="Rounded Rectangular Callout 63"/>
          <p:cNvSpPr/>
          <p:nvPr/>
        </p:nvSpPr>
        <p:spPr>
          <a:xfrm>
            <a:off x="5520866" y="3320910"/>
            <a:ext cx="2556334" cy="552590"/>
          </a:xfrm>
          <a:prstGeom prst="wedgeRoundRectCallout">
            <a:avLst>
              <a:gd name="adj1" fmla="val -58306"/>
              <a:gd name="adj2" fmla="val 48710"/>
              <a:gd name="adj3" fmla="val 16667"/>
            </a:avLst>
          </a:prstGeom>
          <a:solidFill>
            <a:schemeClr val="tx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Wants to print 20 lines</a:t>
            </a:r>
          </a:p>
        </p:txBody>
      </p:sp>
      <p:sp>
        <p:nvSpPr>
          <p:cNvPr id="65" name="Rounded Rectangular Callout 64"/>
          <p:cNvSpPr/>
          <p:nvPr/>
        </p:nvSpPr>
        <p:spPr>
          <a:xfrm>
            <a:off x="5520866" y="4390917"/>
            <a:ext cx="2556334" cy="552590"/>
          </a:xfrm>
          <a:prstGeom prst="wedgeRoundRectCallout">
            <a:avLst>
              <a:gd name="adj1" fmla="val -58306"/>
              <a:gd name="adj2" fmla="val 48710"/>
              <a:gd name="adj3" fmla="val 16667"/>
            </a:avLst>
          </a:prstGeom>
          <a:solidFill>
            <a:schemeClr val="tx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Wants to print 15 lines</a:t>
            </a:r>
          </a:p>
        </p:txBody>
      </p:sp>
      <p:sp>
        <p:nvSpPr>
          <p:cNvPr id="66" name="Rounded Rectangular Callout 65"/>
          <p:cNvSpPr/>
          <p:nvPr/>
        </p:nvSpPr>
        <p:spPr>
          <a:xfrm>
            <a:off x="5520866" y="5499166"/>
            <a:ext cx="2556334" cy="552590"/>
          </a:xfrm>
          <a:prstGeom prst="wedgeRoundRectCallout">
            <a:avLst>
              <a:gd name="adj1" fmla="val -58306"/>
              <a:gd name="adj2" fmla="val 48710"/>
              <a:gd name="adj3" fmla="val 16667"/>
            </a:avLst>
          </a:prstGeom>
          <a:solidFill>
            <a:schemeClr val="tx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Wants to print 15 lines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72214" y="2832730"/>
            <a:ext cx="3485986" cy="4135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After printing 10 lines of P1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72214" y="3929883"/>
            <a:ext cx="3485986" cy="4135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After printing 20 lines of P1</a:t>
            </a:r>
          </a:p>
        </p:txBody>
      </p:sp>
      <p:cxnSp>
        <p:nvCxnSpPr>
          <p:cNvPr id="69" name="Straight Connector 68"/>
          <p:cNvCxnSpPr/>
          <p:nvPr/>
        </p:nvCxnSpPr>
        <p:spPr>
          <a:xfrm flipV="1">
            <a:off x="2558915" y="2575343"/>
            <a:ext cx="1143000" cy="1669746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2574606" y="4221667"/>
            <a:ext cx="1157281" cy="53479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2566640" y="4224048"/>
            <a:ext cx="1167160" cy="1646325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566640" y="3683250"/>
            <a:ext cx="1167160" cy="54238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5110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9" grpId="1" animBg="1"/>
      <p:bldP spid="60" grpId="0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as Resource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is the job of OS to allocate these resources to the various applications so that:</a:t>
            </a:r>
          </a:p>
          <a:p>
            <a:pPr lvl="1"/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resources are protected from cross-access</a:t>
            </a:r>
            <a:r>
              <a:rPr lang="en-US"/>
              <a:t>.</a:t>
            </a: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0" t="9449" r="7958" b="7793"/>
          <a:stretch>
            <a:fillRect/>
          </a:stretch>
        </p:blipFill>
        <p:spPr bwMode="auto">
          <a:xfrm>
            <a:off x="3709640" y="2037724"/>
            <a:ext cx="108864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0" t="9449" r="7958" b="7793"/>
          <a:stretch>
            <a:fillRect/>
          </a:stretch>
        </p:blipFill>
        <p:spPr bwMode="auto">
          <a:xfrm>
            <a:off x="3733800" y="3143250"/>
            <a:ext cx="108864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0" t="9449" r="7958" b="7793"/>
          <a:stretch>
            <a:fillRect/>
          </a:stretch>
        </p:blipFill>
        <p:spPr bwMode="auto">
          <a:xfrm>
            <a:off x="3733800" y="4218841"/>
            <a:ext cx="108864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0" t="9449" r="7958" b="7793"/>
          <a:stretch>
            <a:fillRect/>
          </a:stretch>
        </p:blipFill>
        <p:spPr bwMode="auto">
          <a:xfrm>
            <a:off x="3733800" y="5330373"/>
            <a:ext cx="108864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1973" y="3175907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2" name="Straight Connector 31"/>
          <p:cNvCxnSpPr>
            <a:endCxn id="27" idx="1"/>
          </p:cNvCxnSpPr>
          <p:nvPr/>
        </p:nvCxnSpPr>
        <p:spPr>
          <a:xfrm flipV="1">
            <a:off x="2566640" y="2577724"/>
            <a:ext cx="1143000" cy="166974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8" idx="1"/>
          </p:cNvCxnSpPr>
          <p:nvPr/>
        </p:nvCxnSpPr>
        <p:spPr>
          <a:xfrm flipV="1">
            <a:off x="2566640" y="3683250"/>
            <a:ext cx="1167160" cy="54079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29" idx="1"/>
          </p:cNvCxnSpPr>
          <p:nvPr/>
        </p:nvCxnSpPr>
        <p:spPr>
          <a:xfrm>
            <a:off x="2566640" y="4218841"/>
            <a:ext cx="1167160" cy="540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30" idx="1"/>
          </p:cNvCxnSpPr>
          <p:nvPr/>
        </p:nvCxnSpPr>
        <p:spPr>
          <a:xfrm>
            <a:off x="2566640" y="4218841"/>
            <a:ext cx="1167160" cy="165153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50900" y="2393058"/>
            <a:ext cx="511560" cy="369332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0900" y="3498584"/>
            <a:ext cx="511560" cy="369332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0900" y="4574175"/>
            <a:ext cx="511560" cy="369332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2730" y="5685707"/>
            <a:ext cx="511560" cy="369332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P4</a:t>
            </a:r>
          </a:p>
        </p:txBody>
      </p:sp>
      <p:sp>
        <p:nvSpPr>
          <p:cNvPr id="40" name="Rounded Rectangular Callout 39"/>
          <p:cNvSpPr/>
          <p:nvPr/>
        </p:nvSpPr>
        <p:spPr>
          <a:xfrm>
            <a:off x="5520866" y="2209800"/>
            <a:ext cx="2556334" cy="552590"/>
          </a:xfrm>
          <a:prstGeom prst="wedgeRoundRectCallout">
            <a:avLst>
              <a:gd name="adj1" fmla="val -58306"/>
              <a:gd name="adj2" fmla="val 48710"/>
              <a:gd name="adj3" fmla="val 16667"/>
            </a:avLst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Wants to print 50 lines</a:t>
            </a:r>
          </a:p>
        </p:txBody>
      </p:sp>
      <p:sp>
        <p:nvSpPr>
          <p:cNvPr id="41" name="Rounded Rectangular Callout 40"/>
          <p:cNvSpPr/>
          <p:nvPr/>
        </p:nvSpPr>
        <p:spPr>
          <a:xfrm>
            <a:off x="5520866" y="3320910"/>
            <a:ext cx="2556334" cy="552590"/>
          </a:xfrm>
          <a:prstGeom prst="wedgeRoundRectCallout">
            <a:avLst>
              <a:gd name="adj1" fmla="val -58306"/>
              <a:gd name="adj2" fmla="val 48710"/>
              <a:gd name="adj3" fmla="val 16667"/>
            </a:avLst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Wants to print 20 lines</a:t>
            </a:r>
          </a:p>
        </p:txBody>
      </p:sp>
      <p:sp>
        <p:nvSpPr>
          <p:cNvPr id="42" name="Rounded Rectangular Callout 41"/>
          <p:cNvSpPr/>
          <p:nvPr/>
        </p:nvSpPr>
        <p:spPr>
          <a:xfrm>
            <a:off x="5520866" y="4390917"/>
            <a:ext cx="2556334" cy="552590"/>
          </a:xfrm>
          <a:prstGeom prst="wedgeRoundRectCallout">
            <a:avLst>
              <a:gd name="adj1" fmla="val -58306"/>
              <a:gd name="adj2" fmla="val 48710"/>
              <a:gd name="adj3" fmla="val 16667"/>
            </a:avLst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Wants to print 15 lines</a:t>
            </a:r>
          </a:p>
        </p:txBody>
      </p:sp>
      <p:sp>
        <p:nvSpPr>
          <p:cNvPr id="43" name="Rounded Rectangular Callout 42"/>
          <p:cNvSpPr/>
          <p:nvPr/>
        </p:nvSpPr>
        <p:spPr>
          <a:xfrm>
            <a:off x="5520866" y="5499166"/>
            <a:ext cx="2556334" cy="552590"/>
          </a:xfrm>
          <a:prstGeom prst="wedgeRoundRectCallout">
            <a:avLst>
              <a:gd name="adj1" fmla="val -58306"/>
              <a:gd name="adj2" fmla="val 48710"/>
              <a:gd name="adj3" fmla="val 16667"/>
            </a:avLst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Wants to print 15 lines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2214" y="2832730"/>
            <a:ext cx="3485986" cy="4135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After printing 10 lines of P1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72214" y="3929883"/>
            <a:ext cx="3485986" cy="4135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After printing 20 lines of P1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2573775" y="4226651"/>
            <a:ext cx="1157281" cy="53479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Multiply 49"/>
          <p:cNvSpPr/>
          <p:nvPr/>
        </p:nvSpPr>
        <p:spPr>
          <a:xfrm>
            <a:off x="3200400" y="4247470"/>
            <a:ext cx="381000" cy="696037"/>
          </a:xfrm>
          <a:prstGeom prst="mathMultiply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2579664" y="2561697"/>
            <a:ext cx="1143000" cy="1669746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167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as Resource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is the job of OS to allocate these resources to the various applications so that: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Access to the resources is synchronized </a:t>
            </a:r>
            <a:r>
              <a:rPr lang="en-US"/>
              <a:t>so that operations are correct and consistent</a:t>
            </a:r>
          </a:p>
          <a:p>
            <a:pPr lvl="1"/>
            <a:r>
              <a:rPr lang="en-US"/>
              <a:t>Example: If we write a program to calculate below in C language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2057400" y="4038600"/>
            <a:ext cx="4480560" cy="0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2541372" y="3498600"/>
            <a:ext cx="540000" cy="540000"/>
          </a:xfrm>
          <a:prstGeom prst="ellipse">
            <a:avLst/>
          </a:prstGeom>
          <a:noFill/>
          <a:ln w="285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P1</a:t>
            </a:r>
          </a:p>
        </p:txBody>
      </p:sp>
      <p:sp>
        <p:nvSpPr>
          <p:cNvPr id="53" name="Oval 52"/>
          <p:cNvSpPr/>
          <p:nvPr/>
        </p:nvSpPr>
        <p:spPr>
          <a:xfrm>
            <a:off x="3446848" y="3498600"/>
            <a:ext cx="540000" cy="540000"/>
          </a:xfrm>
          <a:prstGeom prst="ellipse">
            <a:avLst/>
          </a:prstGeom>
          <a:noFill/>
          <a:ln w="285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P2</a:t>
            </a:r>
          </a:p>
        </p:txBody>
      </p:sp>
      <p:sp>
        <p:nvSpPr>
          <p:cNvPr id="54" name="Oval 53"/>
          <p:cNvSpPr/>
          <p:nvPr/>
        </p:nvSpPr>
        <p:spPr>
          <a:xfrm>
            <a:off x="4352324" y="3497666"/>
            <a:ext cx="540000" cy="540000"/>
          </a:xfrm>
          <a:prstGeom prst="ellipse">
            <a:avLst/>
          </a:prstGeom>
          <a:noFill/>
          <a:ln w="285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P3</a:t>
            </a:r>
          </a:p>
        </p:txBody>
      </p:sp>
      <p:sp>
        <p:nvSpPr>
          <p:cNvPr id="55" name="Oval 54"/>
          <p:cNvSpPr/>
          <p:nvPr/>
        </p:nvSpPr>
        <p:spPr>
          <a:xfrm>
            <a:off x="5257801" y="3500590"/>
            <a:ext cx="540000" cy="540000"/>
          </a:xfrm>
          <a:prstGeom prst="ellipse">
            <a:avLst/>
          </a:prstGeom>
          <a:noFill/>
          <a:ln w="285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P4</a:t>
            </a:r>
          </a:p>
        </p:txBody>
      </p:sp>
      <p:sp>
        <p:nvSpPr>
          <p:cNvPr id="56" name="Oval 55"/>
          <p:cNvSpPr/>
          <p:nvPr/>
        </p:nvSpPr>
        <p:spPr>
          <a:xfrm>
            <a:off x="4352324" y="4191000"/>
            <a:ext cx="540000" cy="54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/>
              <a:t>1</a:t>
            </a:r>
          </a:p>
        </p:txBody>
      </p:sp>
      <p:sp>
        <p:nvSpPr>
          <p:cNvPr id="57" name="Oval 56"/>
          <p:cNvSpPr/>
          <p:nvPr/>
        </p:nvSpPr>
        <p:spPr>
          <a:xfrm>
            <a:off x="5257801" y="4191000"/>
            <a:ext cx="540000" cy="54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/>
              <a:t>2</a:t>
            </a:r>
          </a:p>
        </p:txBody>
      </p:sp>
      <p:sp>
        <p:nvSpPr>
          <p:cNvPr id="58" name="Oval 57"/>
          <p:cNvSpPr/>
          <p:nvPr/>
        </p:nvSpPr>
        <p:spPr>
          <a:xfrm>
            <a:off x="2541372" y="4191000"/>
            <a:ext cx="540000" cy="54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/>
              <a:t>3</a:t>
            </a:r>
          </a:p>
        </p:txBody>
      </p:sp>
      <p:sp>
        <p:nvSpPr>
          <p:cNvPr id="59" name="Oval 58"/>
          <p:cNvSpPr/>
          <p:nvPr/>
        </p:nvSpPr>
        <p:spPr>
          <a:xfrm>
            <a:off x="3446848" y="4191000"/>
            <a:ext cx="540000" cy="54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/>
              <a:t>4</a:t>
            </a:r>
          </a:p>
        </p:txBody>
      </p:sp>
      <p:sp>
        <p:nvSpPr>
          <p:cNvPr id="60" name="Multiply 59"/>
          <p:cNvSpPr/>
          <p:nvPr/>
        </p:nvSpPr>
        <p:spPr>
          <a:xfrm>
            <a:off x="7229158" y="3623234"/>
            <a:ext cx="703110" cy="827867"/>
          </a:xfrm>
          <a:prstGeom prst="mathMultiply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117072" y="2789182"/>
            <a:ext cx="501472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>
                <a:solidFill>
                  <a:schemeClr val="accent6"/>
                </a:solidFill>
              </a:rPr>
              <a:t>7 + 9 – 6 * 4 / 2 = 4 </a:t>
            </a:r>
            <a:endParaRPr lang="en-US" sz="5000">
              <a:solidFill>
                <a:schemeClr val="accent6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70752" y="3652945"/>
            <a:ext cx="7425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>
                <a:solidFill>
                  <a:schemeClr val="accent6"/>
                </a:solidFill>
              </a:rPr>
              <a:t>20</a:t>
            </a:r>
            <a:endParaRPr lang="en-US" sz="44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9466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/>
      <p:bldP spid="57" grpId="0"/>
      <p:bldP spid="58" grpId="0"/>
      <p:bldP spid="59" grpId="0"/>
      <p:bldP spid="60" grpId="0" animBg="1"/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as Resource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is the job of OS to </a:t>
            </a:r>
            <a:r>
              <a:rPr lang="en-US" b="1">
                <a:solidFill>
                  <a:schemeClr val="accent6"/>
                </a:solidFill>
              </a:rPr>
              <a:t>proper allocate these resources to the various applications </a:t>
            </a:r>
            <a:r>
              <a:rPr lang="en-US"/>
              <a:t>so that: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Deadlock are detected, resolved and avoided</a:t>
            </a:r>
            <a:r>
              <a:rPr lang="en-US"/>
              <a:t>.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0" y="2279309"/>
            <a:ext cx="6180823" cy="3546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44823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as Resource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Resource manager – sharing resources in two different ways: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In </a:t>
            </a:r>
            <a:r>
              <a:rPr lang="en-US">
                <a:solidFill>
                  <a:schemeClr val="accent6"/>
                </a:solidFill>
              </a:rPr>
              <a:t>time sharing/multiplexing</a:t>
            </a:r>
            <a:r>
              <a:rPr lang="en-US"/>
              <a:t> (i.e </a:t>
            </a:r>
            <a:r>
              <a:rPr lang="en-US" b="1">
                <a:solidFill>
                  <a:schemeClr val="accent6"/>
                </a:solidFill>
              </a:rPr>
              <a:t>CPU</a:t>
            </a:r>
            <a:r>
              <a:rPr lang="en-US"/>
              <a:t>) </a:t>
            </a:r>
          </a:p>
        </p:txBody>
      </p:sp>
      <p:pic>
        <p:nvPicPr>
          <p:cNvPr id="5" name="Picture 4" descr="http://atastypixel.com/blog/wp-content/uploads/2016/06/Scheduling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7635" y="1831420"/>
            <a:ext cx="8785226" cy="2616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6977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as Resource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Resource manager – sharing resources in two different ways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-US"/>
              <a:t>In </a:t>
            </a:r>
            <a:r>
              <a:rPr lang="en-US">
                <a:solidFill>
                  <a:schemeClr val="accent6"/>
                </a:solidFill>
              </a:rPr>
              <a:t>space sharing/multiplexing</a:t>
            </a:r>
            <a:r>
              <a:rPr lang="en-US"/>
              <a:t>. (i.e </a:t>
            </a:r>
            <a:r>
              <a:rPr lang="en-US">
                <a:solidFill>
                  <a:schemeClr val="accent6"/>
                </a:solidFill>
              </a:rPr>
              <a:t>Memory</a:t>
            </a:r>
            <a:r>
              <a:rPr lang="en-US"/>
              <a:t>)</a:t>
            </a:r>
          </a:p>
        </p:txBody>
      </p:sp>
      <p:pic>
        <p:nvPicPr>
          <p:cNvPr id="6" name="Picture 2" descr="Image result for main memory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1763" y="1837071"/>
            <a:ext cx="8810790" cy="142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93679" y="1833283"/>
            <a:ext cx="1655536" cy="1153586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Process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9215" y="1833283"/>
            <a:ext cx="2873828" cy="1153586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Process </a:t>
            </a:r>
          </a:p>
          <a:p>
            <a:pPr algn="ctr"/>
            <a:r>
              <a:rPr lang="en-US" sz="3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36199" y="1833595"/>
            <a:ext cx="2047874" cy="1153586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Process </a:t>
            </a:r>
          </a:p>
          <a:p>
            <a:pPr algn="ctr"/>
            <a:r>
              <a:rPr lang="en-US" sz="3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4074" y="1833596"/>
            <a:ext cx="2194832" cy="1153586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Empty 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1884" y="3273220"/>
            <a:ext cx="2267095" cy="523220"/>
          </a:xfrm>
          <a:prstGeom prst="rect">
            <a:avLst/>
          </a:prstGeom>
          <a:solidFill>
            <a:schemeClr val="accent6"/>
          </a:solidFill>
        </p:spPr>
        <p:txBody>
          <a:bodyPr wrap="none">
            <a:spAutoFit/>
          </a:bodyPr>
          <a:lstStyle/>
          <a:p>
            <a:r>
              <a:rPr lang="en-US" sz="2800"/>
              <a:t>Main Memory</a:t>
            </a:r>
          </a:p>
        </p:txBody>
      </p:sp>
      <p:cxnSp>
        <p:nvCxnSpPr>
          <p:cNvPr id="12" name="Curved Connector 11"/>
          <p:cNvCxnSpPr>
            <a:stCxn id="11" idx="1"/>
          </p:cNvCxnSpPr>
          <p:nvPr/>
        </p:nvCxnSpPr>
        <p:spPr>
          <a:xfrm rot="10800000">
            <a:off x="1867700" y="3211826"/>
            <a:ext cx="2674185" cy="323004"/>
          </a:xfrm>
          <a:prstGeom prst="curvedConnector3">
            <a:avLst>
              <a:gd name="adj1" fmla="val 9790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932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40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Objectives / Goals of Operating System (OS)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- 5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0812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 / Goals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the computer system </a:t>
            </a:r>
            <a:r>
              <a:rPr lang="en-US" b="1">
                <a:solidFill>
                  <a:schemeClr val="accent6"/>
                </a:solidFill>
              </a:rPr>
              <a:t>convenient to use in an efficient manner</a:t>
            </a:r>
            <a:r>
              <a:rPr lang="en-US"/>
              <a:t>.</a:t>
            </a:r>
          </a:p>
          <a:p>
            <a:r>
              <a:rPr lang="en-US" b="1">
                <a:solidFill>
                  <a:schemeClr val="accent6"/>
                </a:solidFill>
              </a:rPr>
              <a:t>Hide the details of the hardware </a:t>
            </a:r>
            <a:r>
              <a:rPr lang="en-US"/>
              <a:t>resources from the users.</a:t>
            </a:r>
          </a:p>
          <a:p>
            <a:r>
              <a:rPr lang="en-US" b="1">
                <a:solidFill>
                  <a:schemeClr val="accent6"/>
                </a:solidFill>
              </a:rPr>
              <a:t>Provide</a:t>
            </a:r>
            <a:r>
              <a:rPr lang="en-US"/>
              <a:t> users a </a:t>
            </a:r>
            <a:r>
              <a:rPr lang="en-US" b="1">
                <a:solidFill>
                  <a:schemeClr val="accent6"/>
                </a:solidFill>
              </a:rPr>
              <a:t>convenient interface </a:t>
            </a:r>
            <a:r>
              <a:rPr lang="en-US"/>
              <a:t>to use the computer system.</a:t>
            </a:r>
          </a:p>
          <a:p>
            <a:r>
              <a:rPr lang="en-US" b="1">
                <a:solidFill>
                  <a:schemeClr val="accent6"/>
                </a:solidFill>
              </a:rPr>
              <a:t>Act as an intermediary </a:t>
            </a:r>
            <a:r>
              <a:rPr lang="en-US"/>
              <a:t>between the </a:t>
            </a:r>
            <a:r>
              <a:rPr lang="en-US" b="1">
                <a:solidFill>
                  <a:schemeClr val="accent6"/>
                </a:solidFill>
              </a:rPr>
              <a:t>hardware and its users</a:t>
            </a:r>
            <a:r>
              <a:rPr lang="en-US"/>
              <a:t>, making it easier for the users to access and use other resources.</a:t>
            </a:r>
          </a:p>
          <a:p>
            <a:r>
              <a:rPr lang="en-US" b="1">
                <a:solidFill>
                  <a:schemeClr val="accent6"/>
                </a:solidFill>
              </a:rPr>
              <a:t>Manage the resources </a:t>
            </a:r>
            <a:r>
              <a:rPr lang="en-US"/>
              <a:t>of a computer system.</a:t>
            </a:r>
          </a:p>
          <a:p>
            <a:r>
              <a:rPr lang="en-US" b="1">
                <a:solidFill>
                  <a:schemeClr val="accent6"/>
                </a:solidFill>
              </a:rPr>
              <a:t>Keep track </a:t>
            </a:r>
            <a:r>
              <a:rPr lang="en-US"/>
              <a:t>of who is using which resource, granting resource requests, and mediating conflicting requests from different programs and users.</a:t>
            </a:r>
          </a:p>
          <a:p>
            <a:r>
              <a:rPr lang="en-US" b="1">
                <a:solidFill>
                  <a:schemeClr val="accent6"/>
                </a:solidFill>
              </a:rPr>
              <a:t>Provide efficient </a:t>
            </a:r>
            <a:r>
              <a:rPr lang="en-US"/>
              <a:t>and </a:t>
            </a:r>
            <a:r>
              <a:rPr lang="en-US" b="1">
                <a:solidFill>
                  <a:schemeClr val="accent6"/>
                </a:solidFill>
              </a:rPr>
              <a:t>fair sharing of resources </a:t>
            </a:r>
            <a:r>
              <a:rPr lang="en-US"/>
              <a:t>among users and programs.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6455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Generations of Operating Systems (OS)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- 6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1377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Generations / History of OS (First generation)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First generation (1945-1955)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Vacuum tubes </a:t>
            </a:r>
            <a:r>
              <a:rPr lang="en-US"/>
              <a:t>and </a:t>
            </a:r>
            <a:r>
              <a:rPr lang="en-US">
                <a:solidFill>
                  <a:schemeClr val="accent6"/>
                </a:solidFill>
              </a:rPr>
              <a:t>plug-boards</a:t>
            </a:r>
            <a:r>
              <a:rPr lang="en-US"/>
              <a:t> are used in these systems.</a:t>
            </a:r>
            <a:endParaRPr lang="en-IN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6438" y="1900517"/>
            <a:ext cx="391795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057213" y="3974957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Vacuum tubes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62745" t="24510" r="12696" b="42549"/>
          <a:stretch>
            <a:fillRect/>
          </a:stretch>
        </p:blipFill>
        <p:spPr>
          <a:xfrm>
            <a:off x="5844988" y="1900517"/>
            <a:ext cx="2245659" cy="22591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/>
          <p:cNvSpPr txBox="1"/>
          <p:nvPr/>
        </p:nvSpPr>
        <p:spPr>
          <a:xfrm>
            <a:off x="6362139" y="4167366"/>
            <a:ext cx="1211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Plug board</a:t>
            </a:r>
          </a:p>
        </p:txBody>
      </p:sp>
    </p:spTree>
    <p:extLst>
      <p:ext uri="{BB962C8B-B14F-4D97-AF65-F5344CB8AC3E}">
        <p14:creationId xmlns:p14="http://schemas.microsoft.com/office/powerpoint/2010/main" val="29829495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Generations / History of OS (Second generation)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Second generation (1955-1965)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Transistors</a:t>
            </a:r>
            <a:r>
              <a:rPr lang="en-US"/>
              <a:t> are used in these systems</a:t>
            </a:r>
          </a:p>
          <a:p>
            <a:pPr lvl="1"/>
            <a:r>
              <a:rPr lang="en-US"/>
              <a:t>The machine that are produced are called </a:t>
            </a:r>
            <a:r>
              <a:rPr lang="en-US">
                <a:solidFill>
                  <a:schemeClr val="accent6"/>
                </a:solidFill>
              </a:rPr>
              <a:t>mainframes</a:t>
            </a:r>
            <a:r>
              <a:rPr lang="en-US"/>
              <a:t>.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Batch systems </a:t>
            </a:r>
            <a:r>
              <a:rPr lang="en-US"/>
              <a:t>was used for processing.</a:t>
            </a:r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17" y="2434881"/>
            <a:ext cx="8381999" cy="2658806"/>
          </a:xfrm>
          <a:prstGeom prst="rect">
            <a:avLst/>
          </a:prstGeom>
        </p:spPr>
      </p:pic>
      <p:sp>
        <p:nvSpPr>
          <p:cNvPr id="15" name="Rounded Rectangular Callout 14"/>
          <p:cNvSpPr/>
          <p:nvPr/>
        </p:nvSpPr>
        <p:spPr>
          <a:xfrm>
            <a:off x="334931" y="5661710"/>
            <a:ext cx="3383280" cy="533400"/>
          </a:xfrm>
          <a:prstGeom prst="wedgeRoundRectCallout">
            <a:avLst>
              <a:gd name="adj1" fmla="val -30751"/>
              <a:gd name="adj2" fmla="val -148294"/>
              <a:gd name="adj3" fmla="val 16667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Programmers bring cards to 1401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1685364" y="5661710"/>
            <a:ext cx="3474720" cy="533400"/>
          </a:xfrm>
          <a:prstGeom prst="wedgeRoundRectCallout">
            <a:avLst>
              <a:gd name="adj1" fmla="val -30751"/>
              <a:gd name="adj2" fmla="val -148294"/>
              <a:gd name="adj3" fmla="val 16667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1401 reads batch of jobs onto tape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3056964" y="5661710"/>
            <a:ext cx="3566160" cy="533400"/>
          </a:xfrm>
          <a:prstGeom prst="wedgeRoundRectCallout">
            <a:avLst>
              <a:gd name="adj1" fmla="val -30751"/>
              <a:gd name="adj2" fmla="val -148294"/>
              <a:gd name="adj3" fmla="val 16667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Operator carries input tape to 7094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4733364" y="5661710"/>
            <a:ext cx="2286000" cy="533400"/>
          </a:xfrm>
          <a:prstGeom prst="wedgeRoundRectCallout">
            <a:avLst>
              <a:gd name="adj1" fmla="val -30751"/>
              <a:gd name="adj2" fmla="val -148294"/>
              <a:gd name="adj3" fmla="val 16667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7094 does computing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5114364" y="5661710"/>
            <a:ext cx="3749040" cy="533400"/>
          </a:xfrm>
          <a:prstGeom prst="wedgeRoundRectCallout">
            <a:avLst>
              <a:gd name="adj1" fmla="val -12015"/>
              <a:gd name="adj2" fmla="val -148294"/>
              <a:gd name="adj3" fmla="val 16667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Operator carries output tape to 1401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7171764" y="5661710"/>
            <a:ext cx="2011680" cy="533400"/>
          </a:xfrm>
          <a:prstGeom prst="wedgeRoundRectCallout">
            <a:avLst>
              <a:gd name="adj1" fmla="val -2771"/>
              <a:gd name="adj2" fmla="val -159667"/>
              <a:gd name="adj3" fmla="val 16667"/>
            </a:avLst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1401 prints output</a:t>
            </a:r>
          </a:p>
        </p:txBody>
      </p:sp>
    </p:spTree>
    <p:extLst>
      <p:ext uri="{BB962C8B-B14F-4D97-AF65-F5344CB8AC3E}">
        <p14:creationId xmlns:p14="http://schemas.microsoft.com/office/powerpoint/2010/main" val="7759941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Generations / History of OS (Third generation)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Third generation (1965-1980)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Integrated circuits (IC's) </a:t>
            </a:r>
            <a:r>
              <a:rPr lang="en-US"/>
              <a:t>are used in place of transistors in these computers.</a:t>
            </a:r>
          </a:p>
          <a:p>
            <a:pPr lvl="1"/>
            <a:r>
              <a:rPr lang="en-US"/>
              <a:t>It </a:t>
            </a:r>
            <a:r>
              <a:rPr lang="en-US">
                <a:solidFill>
                  <a:schemeClr val="accent6"/>
                </a:solidFill>
              </a:rPr>
              <a:t>provides multiprogramming </a:t>
            </a:r>
            <a:r>
              <a:rPr lang="en-US"/>
              <a:t>(the ability to have several programs in memory at once, each in its own memory partition).</a:t>
            </a:r>
            <a:endParaRPr lang="en-IN"/>
          </a:p>
        </p:txBody>
      </p:sp>
      <p:pic>
        <p:nvPicPr>
          <p:cNvPr id="11" name="Picture 2" descr="Image result for used integrated circui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8753" y="2288872"/>
            <a:ext cx="4343400" cy="352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3646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Generations / History of OS (Forth generation)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Fourth generation (1980-present)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Personal Computers (PC)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LSI (Large Scale Integration) circuits</a:t>
            </a:r>
            <a:r>
              <a:rPr lang="en-US"/>
              <a:t>, chips containing thousands of transistors are used in these systems.</a:t>
            </a:r>
            <a:endParaRPr lang="en-IN"/>
          </a:p>
        </p:txBody>
      </p:sp>
      <p:pic>
        <p:nvPicPr>
          <p:cNvPr id="5" name="Picture 4" descr="Image result for large scale integr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77353" y="2178423"/>
            <a:ext cx="4267198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2114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Operating Systems (OS) services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- 7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78202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Services / Functions / Tasks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4400"/>
          </a:p>
          <a:p>
            <a:pPr marL="0" indent="0">
              <a:buNone/>
            </a:pPr>
            <a:r>
              <a:rPr lang="en-US" sz="4400"/>
              <a:t>Definition of Operating System</a:t>
            </a:r>
          </a:p>
          <a:p>
            <a:endParaRPr lang="en-US"/>
          </a:p>
          <a:p>
            <a:r>
              <a:rPr lang="en-US"/>
              <a:t>An Operating System (OS) is a collection of software that </a:t>
            </a:r>
          </a:p>
          <a:p>
            <a:pPr lvl="1"/>
            <a:r>
              <a:rPr lang="en-US"/>
              <a:t>manages hardware resources</a:t>
            </a:r>
          </a:p>
          <a:p>
            <a:pPr lvl="1"/>
            <a:r>
              <a:rPr lang="en-US"/>
              <a:t>provides various service to the users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533400" y="3483391"/>
            <a:ext cx="4361329" cy="416256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Image result for which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3" t="32298" r="18402" b="35252"/>
          <a:stretch>
            <a:fillRect/>
          </a:stretch>
        </p:blipFill>
        <p:spPr bwMode="auto">
          <a:xfrm>
            <a:off x="4746812" y="3691519"/>
            <a:ext cx="2985248" cy="104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7918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Services / Functions / Tasks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Program development</a:t>
            </a:r>
          </a:p>
          <a:p>
            <a:pPr lvl="1"/>
            <a:r>
              <a:rPr lang="en-US"/>
              <a:t>It </a:t>
            </a:r>
            <a:r>
              <a:rPr lang="en-US">
                <a:solidFill>
                  <a:schemeClr val="accent6"/>
                </a:solidFill>
              </a:rPr>
              <a:t>provides editors and debuggers </a:t>
            </a:r>
            <a:r>
              <a:rPr lang="en-US"/>
              <a:t>to assist (help) the programmer in creating programs. </a:t>
            </a:r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7444" y="1743636"/>
            <a:ext cx="6467368" cy="43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704886" y="6499676"/>
            <a:ext cx="630936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6987441"/>
              </p:ext>
            </p:extLst>
          </p:nvPr>
        </p:nvGraphicFramePr>
        <p:xfrm>
          <a:off x="704886" y="6111691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425562"/>
              </p:ext>
            </p:extLst>
          </p:nvPr>
        </p:nvGraphicFramePr>
        <p:xfrm>
          <a:off x="1803815" y="6102803"/>
          <a:ext cx="530352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Give the name of any five code editor for windows?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62204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Services / Functions / Tasks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/>
              <a:t>Program execution</a:t>
            </a:r>
          </a:p>
          <a:p>
            <a:pPr lvl="1"/>
            <a:r>
              <a:rPr lang="en-US"/>
              <a:t>Following tasks need to be perform to execute a program:</a:t>
            </a:r>
          </a:p>
          <a:p>
            <a:pPr lvl="2"/>
            <a:r>
              <a:rPr lang="en-US">
                <a:solidFill>
                  <a:schemeClr val="accent6"/>
                </a:solidFill>
              </a:rPr>
              <a:t>Instructions and data </a:t>
            </a:r>
            <a:r>
              <a:rPr lang="en-US"/>
              <a:t>must be </a:t>
            </a:r>
            <a:r>
              <a:rPr lang="en-US">
                <a:solidFill>
                  <a:schemeClr val="accent6"/>
                </a:solidFill>
              </a:rPr>
              <a:t>loaded</a:t>
            </a:r>
            <a:r>
              <a:rPr lang="en-US"/>
              <a:t> into </a:t>
            </a:r>
            <a:r>
              <a:rPr lang="en-US">
                <a:solidFill>
                  <a:schemeClr val="accent6"/>
                </a:solidFill>
              </a:rPr>
              <a:t>main memory</a:t>
            </a:r>
            <a:r>
              <a:rPr lang="en-US"/>
              <a:t>.</a:t>
            </a:r>
          </a:p>
          <a:p>
            <a:pPr lvl="2"/>
            <a:r>
              <a:rPr lang="en-US">
                <a:solidFill>
                  <a:schemeClr val="accent6"/>
                </a:solidFill>
              </a:rPr>
              <a:t>I/O devices and files </a:t>
            </a:r>
            <a:r>
              <a:rPr lang="en-US"/>
              <a:t>must be </a:t>
            </a:r>
            <a:r>
              <a:rPr lang="en-US">
                <a:solidFill>
                  <a:schemeClr val="accent6"/>
                </a:solidFill>
              </a:rPr>
              <a:t>initialized</a:t>
            </a:r>
            <a:r>
              <a:rPr lang="en-US"/>
              <a:t>.</a:t>
            </a:r>
          </a:p>
          <a:p>
            <a:pPr lvl="1"/>
            <a:r>
              <a:rPr lang="en-US"/>
              <a:t>The OS handles all these duties for the user.</a:t>
            </a:r>
            <a:endParaRPr lang="en-IN"/>
          </a:p>
        </p:txBody>
      </p:sp>
      <p:pic>
        <p:nvPicPr>
          <p:cNvPr id="12" name="Picture 2" descr="Image result for program execution ste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1200" y="2721429"/>
            <a:ext cx="8640000" cy="3526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1286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Services / Functions / Tasks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998961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/>
              <a:t>Access to I/O devices (Resource allocation)</a:t>
            </a:r>
          </a:p>
          <a:p>
            <a:pPr lvl="1"/>
            <a:r>
              <a:rPr lang="en-US"/>
              <a:t>A running program may require I/O, which may involve file or an I/O device.</a:t>
            </a:r>
          </a:p>
          <a:p>
            <a:pPr lvl="1"/>
            <a:r>
              <a:rPr lang="en-US"/>
              <a:t>For efficiency and protection, users cannot control I/O devices directly.</a:t>
            </a:r>
          </a:p>
          <a:p>
            <a:pPr lvl="1"/>
            <a:r>
              <a:rPr lang="en-US"/>
              <a:t>Therefore, the </a:t>
            </a:r>
            <a:r>
              <a:rPr lang="en-US">
                <a:solidFill>
                  <a:schemeClr val="accent6"/>
                </a:solidFill>
              </a:rPr>
              <a:t>OS controls these I/O devices </a:t>
            </a:r>
            <a:r>
              <a:rPr lang="en-US"/>
              <a:t>and </a:t>
            </a:r>
            <a:r>
              <a:rPr lang="en-US">
                <a:solidFill>
                  <a:schemeClr val="accent6"/>
                </a:solidFill>
              </a:rPr>
              <a:t>provides to program</a:t>
            </a:r>
            <a:r>
              <a:rPr lang="en-US"/>
              <a:t> as per requirement.</a:t>
            </a:r>
            <a:endParaRPr lang="en-IN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46257" y="966243"/>
            <a:ext cx="4724400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18920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Services / Functions / Tasks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11959219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/>
              <a:t>Memory management</a:t>
            </a:r>
          </a:p>
          <a:p>
            <a:pPr lvl="1"/>
            <a:r>
              <a:rPr lang="en-US"/>
              <a:t>OS </a:t>
            </a:r>
            <a:r>
              <a:rPr lang="en-US">
                <a:solidFill>
                  <a:schemeClr val="accent6"/>
                </a:solidFill>
              </a:rPr>
              <a:t>manages memory </a:t>
            </a:r>
            <a:r>
              <a:rPr lang="en-US"/>
              <a:t>hierarchy.</a:t>
            </a:r>
          </a:p>
          <a:p>
            <a:pPr lvl="1"/>
            <a:r>
              <a:rPr lang="en-US"/>
              <a:t>OS </a:t>
            </a:r>
            <a:r>
              <a:rPr lang="en-US">
                <a:solidFill>
                  <a:schemeClr val="accent6"/>
                </a:solidFill>
              </a:rPr>
              <a:t>keeps the track </a:t>
            </a:r>
            <a:r>
              <a:rPr lang="en-US"/>
              <a:t>of which part of memory area in use and free memory.</a:t>
            </a:r>
          </a:p>
          <a:p>
            <a:pPr lvl="1"/>
            <a:r>
              <a:rPr lang="en-US"/>
              <a:t>It </a:t>
            </a:r>
            <a:r>
              <a:rPr lang="en-US">
                <a:solidFill>
                  <a:schemeClr val="accent6"/>
                </a:solidFill>
              </a:rPr>
              <a:t>allocates memory </a:t>
            </a:r>
            <a:r>
              <a:rPr lang="en-US"/>
              <a:t>to program when they need it.</a:t>
            </a:r>
          </a:p>
          <a:p>
            <a:pPr lvl="1"/>
            <a:r>
              <a:rPr lang="en-US"/>
              <a:t>It </a:t>
            </a:r>
            <a:r>
              <a:rPr lang="en-US">
                <a:solidFill>
                  <a:schemeClr val="accent6"/>
                </a:solidFill>
              </a:rPr>
              <a:t>de-allocate the memory </a:t>
            </a:r>
            <a:r>
              <a:rPr lang="en-US"/>
              <a:t>when the program finish execution.</a:t>
            </a:r>
            <a:endParaRPr lang="en-IN"/>
          </a:p>
        </p:txBody>
      </p:sp>
      <p:sp>
        <p:nvSpPr>
          <p:cNvPr id="6" name="Flowchart: Process 5"/>
          <p:cNvSpPr/>
          <p:nvPr/>
        </p:nvSpPr>
        <p:spPr>
          <a:xfrm>
            <a:off x="1487714" y="2859314"/>
            <a:ext cx="6324600" cy="1600200"/>
          </a:xfrm>
          <a:prstGeom prst="flowChartProcess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6" idx="0"/>
            <a:endCxn id="6" idx="2"/>
          </p:cNvCxnSpPr>
          <p:nvPr/>
        </p:nvCxnSpPr>
        <p:spPr>
          <a:xfrm flipH="1">
            <a:off x="4650014" y="2859314"/>
            <a:ext cx="0" cy="16002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6288314" y="2859314"/>
            <a:ext cx="0" cy="16002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3011714" y="2859314"/>
            <a:ext cx="0" cy="16002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87964" y="4688113"/>
            <a:ext cx="685800" cy="6858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11" name="Oval 10"/>
          <p:cNvSpPr/>
          <p:nvPr/>
        </p:nvSpPr>
        <p:spPr>
          <a:xfrm>
            <a:off x="1868714" y="3316514"/>
            <a:ext cx="685800" cy="6858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29444887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06 -4.81481E-06 L 0.00144 -0.20023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10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0" grpId="1" animBg="1"/>
      <p:bldP spid="11" grpId="0" animBg="1"/>
      <p:bldP spid="11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Services / Functions / Tasks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7851676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/>
              <a:t>Controlled access to file</a:t>
            </a:r>
          </a:p>
          <a:p>
            <a:pPr lvl="1"/>
            <a:r>
              <a:rPr lang="en-US"/>
              <a:t>In case of file access, </a:t>
            </a:r>
            <a:r>
              <a:rPr lang="en-US">
                <a:solidFill>
                  <a:schemeClr val="accent6"/>
                </a:solidFill>
              </a:rPr>
              <a:t>OS provides a directory hierarchy </a:t>
            </a:r>
            <a:r>
              <a:rPr lang="en-US"/>
              <a:t>for easy access and management of file.</a:t>
            </a:r>
          </a:p>
          <a:p>
            <a:pPr lvl="1"/>
            <a:r>
              <a:rPr lang="en-US"/>
              <a:t>OS </a:t>
            </a:r>
            <a:r>
              <a:rPr lang="en-US">
                <a:solidFill>
                  <a:schemeClr val="accent6"/>
                </a:solidFill>
              </a:rPr>
              <a:t>provides various file handling commands </a:t>
            </a:r>
            <a:r>
              <a:rPr lang="en-US"/>
              <a:t>using which user can easily read, write and modify file.</a:t>
            </a:r>
            <a:endParaRPr lang="en-IN"/>
          </a:p>
        </p:txBody>
      </p:sp>
      <p:pic>
        <p:nvPicPr>
          <p:cNvPr id="12" name="Picture 4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" r="13296"/>
          <a:stretch>
            <a:fillRect/>
          </a:stretch>
        </p:blipFill>
        <p:spPr bwMode="auto">
          <a:xfrm>
            <a:off x="7982858" y="863444"/>
            <a:ext cx="4020457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0634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Services / Functions / Tasks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/>
              <a:t>Communication</a:t>
            </a:r>
          </a:p>
          <a:p>
            <a:pPr lvl="1"/>
            <a:r>
              <a:rPr lang="en-US"/>
              <a:t>In </a:t>
            </a:r>
            <a:r>
              <a:rPr lang="en-US">
                <a:solidFill>
                  <a:schemeClr val="accent6"/>
                </a:solidFill>
              </a:rPr>
              <a:t>multitasking</a:t>
            </a:r>
            <a:r>
              <a:rPr lang="en-US"/>
              <a:t> environment, the </a:t>
            </a:r>
            <a:r>
              <a:rPr lang="en-US">
                <a:solidFill>
                  <a:schemeClr val="accent6"/>
                </a:solidFill>
              </a:rPr>
              <a:t>processes need to communicate with each other </a:t>
            </a:r>
            <a:r>
              <a:rPr lang="en-US"/>
              <a:t>and to exchange their information.</a:t>
            </a:r>
          </a:p>
          <a:p>
            <a:pPr lvl="1"/>
            <a:r>
              <a:rPr lang="en-US"/>
              <a:t>Operating system </a:t>
            </a:r>
            <a:r>
              <a:rPr lang="en-US">
                <a:solidFill>
                  <a:schemeClr val="accent6"/>
                </a:solidFill>
              </a:rPr>
              <a:t>performs the communication among various types of processes </a:t>
            </a:r>
            <a:r>
              <a:rPr lang="en-US"/>
              <a:t>in the form of shared memory.</a:t>
            </a:r>
            <a:endParaRPr lang="en-IN"/>
          </a:p>
        </p:txBody>
      </p:sp>
      <p:pic>
        <p:nvPicPr>
          <p:cNvPr id="5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70254" y="2456543"/>
            <a:ext cx="5612903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8139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Services / Functions / Tasks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7"/>
            </a:pPr>
            <a:r>
              <a:rPr lang="en-US"/>
              <a:t>Error detection and response</a:t>
            </a:r>
          </a:p>
          <a:p>
            <a:pPr lvl="1"/>
            <a:r>
              <a:rPr lang="en-US"/>
              <a:t>An error may occur in CPU, in I/O devices or in the memory hardware. </a:t>
            </a:r>
          </a:p>
          <a:p>
            <a:pPr lvl="1"/>
            <a:r>
              <a:rPr lang="en-US"/>
              <a:t>Following are the major activities of an operating system with respect to error handling −</a:t>
            </a:r>
          </a:p>
          <a:p>
            <a:pPr lvl="2"/>
            <a:r>
              <a:rPr lang="en-US"/>
              <a:t>The OS </a:t>
            </a:r>
            <a:r>
              <a:rPr lang="en-US">
                <a:solidFill>
                  <a:schemeClr val="accent6"/>
                </a:solidFill>
              </a:rPr>
              <a:t>constantly checks for possible errors</a:t>
            </a:r>
            <a:r>
              <a:rPr lang="en-US"/>
              <a:t>.</a:t>
            </a:r>
          </a:p>
          <a:p>
            <a:pPr lvl="2"/>
            <a:r>
              <a:rPr lang="en-US"/>
              <a:t>The OS </a:t>
            </a:r>
            <a:r>
              <a:rPr lang="en-US">
                <a:solidFill>
                  <a:schemeClr val="accent6"/>
                </a:solidFill>
              </a:rPr>
              <a:t>takes an appropriate action </a:t>
            </a:r>
            <a:r>
              <a:rPr lang="en-US"/>
              <a:t>to ensure correct and consistent computing.</a:t>
            </a:r>
            <a:endParaRPr lang="en-IN"/>
          </a:p>
        </p:txBody>
      </p:sp>
      <p:pic>
        <p:nvPicPr>
          <p:cNvPr id="6" name="Picture 2" descr="Image result for erro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64509" y="2739571"/>
            <a:ext cx="430212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 result for printer not available ms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5252" y="2739571"/>
            <a:ext cx="265747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7930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Services / Functions / Tasks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8"/>
            </a:pPr>
            <a:r>
              <a:rPr lang="en-US"/>
              <a:t>Accounting</a:t>
            </a:r>
          </a:p>
          <a:p>
            <a:pPr lvl="1"/>
            <a:r>
              <a:rPr lang="en-US"/>
              <a:t>Keeping a </a:t>
            </a:r>
            <a:r>
              <a:rPr lang="en-US">
                <a:solidFill>
                  <a:schemeClr val="accent6"/>
                </a:solidFill>
              </a:rPr>
              <a:t>track of which users are using how much and what kinds of computer resources </a:t>
            </a:r>
            <a:r>
              <a:rPr lang="en-US"/>
              <a:t>can be used for accounting or simply for accumulating usage statistics.</a:t>
            </a:r>
          </a:p>
          <a:p>
            <a:pPr lvl="1"/>
            <a:r>
              <a:rPr lang="en-US"/>
              <a:t>Usage </a:t>
            </a:r>
            <a:r>
              <a:rPr lang="en-US">
                <a:solidFill>
                  <a:schemeClr val="accent6"/>
                </a:solidFill>
              </a:rPr>
              <a:t>statistics is used to reconfigure the system to improve computing services</a:t>
            </a:r>
            <a:r>
              <a:rPr lang="en-US"/>
              <a:t>.</a:t>
            </a:r>
            <a:endParaRPr lang="en-IN"/>
          </a:p>
        </p:txBody>
      </p:sp>
      <p:pic>
        <p:nvPicPr>
          <p:cNvPr id="8" name="Picture 3" descr="C:\Users\GNWEBSOFT\Desktop\silhouette multisea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65371" y="2420257"/>
            <a:ext cx="5619611" cy="331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3073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Services / Functions / Tasks of Operating System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9"/>
            </a:pPr>
            <a:r>
              <a:rPr lang="en-IN"/>
              <a:t>Protection &amp; Security</a:t>
            </a:r>
          </a:p>
          <a:p>
            <a:pPr lvl="1"/>
            <a:r>
              <a:rPr lang="en-US"/>
              <a:t>Protection involves ensuring that </a:t>
            </a:r>
            <a:r>
              <a:rPr lang="en-US">
                <a:solidFill>
                  <a:schemeClr val="accent6"/>
                </a:solidFill>
              </a:rPr>
              <a:t>all accesses to system resources is controlled</a:t>
            </a:r>
            <a:r>
              <a:rPr lang="en-US"/>
              <a:t>.</a:t>
            </a:r>
          </a:p>
          <a:p>
            <a:pPr lvl="1"/>
            <a:r>
              <a:rPr lang="en-US"/>
              <a:t>To </a:t>
            </a:r>
            <a:r>
              <a:rPr lang="en-US">
                <a:solidFill>
                  <a:schemeClr val="accent6"/>
                </a:solidFill>
              </a:rPr>
              <a:t>make a system secure</a:t>
            </a:r>
            <a:r>
              <a:rPr lang="en-US"/>
              <a:t>, the </a:t>
            </a:r>
            <a:r>
              <a:rPr lang="en-US">
                <a:solidFill>
                  <a:schemeClr val="accent6"/>
                </a:solidFill>
              </a:rPr>
              <a:t>user needs to authenticate himself or herself to the system</a:t>
            </a:r>
            <a:r>
              <a:rPr lang="en-US"/>
              <a:t>.</a:t>
            </a:r>
            <a:endParaRPr lang="en-IN"/>
          </a:p>
        </p:txBody>
      </p:sp>
      <p:pic>
        <p:nvPicPr>
          <p:cNvPr id="5" name="Picture 2" descr="Image result for security in operating syst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5200" y="2224314"/>
            <a:ext cx="4286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2009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Types of Operating Systems (OS)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- 8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91310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Operating Systems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/>
              <a:t>Mainframe operating systems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OS found in room sized computers </a:t>
            </a:r>
            <a:r>
              <a:rPr lang="en-US"/>
              <a:t>which are still found in major corporate data centers.</a:t>
            </a:r>
          </a:p>
          <a:p>
            <a:pPr lvl="1"/>
            <a:r>
              <a:rPr lang="en-US"/>
              <a:t>They offer three kinds of services: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/>
              <a:t>Batch OS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/>
              <a:t>Transaction processing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/>
              <a:t>Timesharing</a:t>
            </a:r>
          </a:p>
          <a:p>
            <a:pPr lvl="1"/>
            <a:r>
              <a:rPr lang="en-US"/>
              <a:t>Examples: OS/390, OS/360.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8996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Mainframe Operating Systems services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 descr="Image result for batch process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266" y="1535232"/>
            <a:ext cx="5232261" cy="2743200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086" y="2212183"/>
            <a:ext cx="4488443" cy="274320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8" name="Picture 4" descr="Image result for time sharing operating syste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7" t="13383" r="8026" b="5505"/>
          <a:stretch>
            <a:fillRect/>
          </a:stretch>
        </p:blipFill>
        <p:spPr bwMode="auto">
          <a:xfrm>
            <a:off x="1847688" y="4333095"/>
            <a:ext cx="3301829" cy="2061366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63266" y="878430"/>
            <a:ext cx="676656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/>
              <a:t>Batch OS </a:t>
            </a:r>
            <a:r>
              <a:rPr lang="en-US"/>
              <a:t>– </a:t>
            </a:r>
            <a:r>
              <a:rPr lang="en-US">
                <a:solidFill>
                  <a:schemeClr val="accent6"/>
                </a:solidFill>
              </a:rPr>
              <a:t>processes routine jobs without any interactive user presents </a:t>
            </a:r>
            <a:r>
              <a:rPr lang="en-US"/>
              <a:t>i.e. claim processing in insurance</a:t>
            </a:r>
            <a:endParaRPr lang="en-IN" b="1">
              <a:solidFill>
                <a:schemeClr val="accent6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75086" y="1564394"/>
            <a:ext cx="64008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/>
              <a:t>Transaction processing – </a:t>
            </a:r>
            <a:r>
              <a:rPr lang="en-US">
                <a:solidFill>
                  <a:schemeClr val="accent6"/>
                </a:solidFill>
              </a:rPr>
              <a:t>handles large numbers of small processes </a:t>
            </a:r>
            <a:r>
              <a:rPr lang="en-US"/>
              <a:t>i.e. cheque processing at banks</a:t>
            </a:r>
            <a:endParaRPr lang="en-IN">
              <a:solidFill>
                <a:schemeClr val="accent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9517" y="5748130"/>
            <a:ext cx="64008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/>
              <a:t>Timesharing – </a:t>
            </a:r>
            <a:r>
              <a:rPr lang="en-US">
                <a:solidFill>
                  <a:schemeClr val="accent6"/>
                </a:solidFill>
              </a:rPr>
              <a:t>allows multiple remote users </a:t>
            </a:r>
            <a:r>
              <a:rPr lang="en-US"/>
              <a:t>to run their jobs at once i.e. querying a database, airline booking system</a:t>
            </a:r>
            <a:endParaRPr lang="en-IN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8102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Operating Systems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IN"/>
              <a:t>Server operating systems</a:t>
            </a:r>
          </a:p>
          <a:p>
            <a:pPr lvl="1"/>
            <a:r>
              <a:rPr lang="en-US"/>
              <a:t>This </a:t>
            </a:r>
            <a:r>
              <a:rPr lang="en-US">
                <a:solidFill>
                  <a:schemeClr val="accent6"/>
                </a:solidFill>
              </a:rPr>
              <a:t>OS runs on servers </a:t>
            </a:r>
            <a:r>
              <a:rPr lang="en-US"/>
              <a:t>which are </a:t>
            </a:r>
            <a:r>
              <a:rPr lang="en-US">
                <a:solidFill>
                  <a:schemeClr val="accent6"/>
                </a:solidFill>
              </a:rPr>
              <a:t>very large PC</a:t>
            </a:r>
            <a:r>
              <a:rPr lang="en-US"/>
              <a:t>, workstations or even mainframes.</a:t>
            </a:r>
          </a:p>
          <a:p>
            <a:pPr lvl="1"/>
            <a:r>
              <a:rPr lang="en-US"/>
              <a:t>They </a:t>
            </a:r>
            <a:r>
              <a:rPr lang="en-US">
                <a:solidFill>
                  <a:schemeClr val="accent6"/>
                </a:solidFill>
              </a:rPr>
              <a:t>serve multiple users at once </a:t>
            </a:r>
            <a:r>
              <a:rPr lang="en-US"/>
              <a:t>over a network and allow the users to share hardware &amp; software resources.</a:t>
            </a:r>
          </a:p>
          <a:p>
            <a:pPr lvl="1"/>
            <a:r>
              <a:rPr lang="en-US"/>
              <a:t>It provides </a:t>
            </a:r>
            <a:r>
              <a:rPr lang="en-US">
                <a:solidFill>
                  <a:schemeClr val="accent6"/>
                </a:solidFill>
              </a:rPr>
              <a:t>print services, file service or web service</a:t>
            </a:r>
            <a:r>
              <a:rPr lang="en-US"/>
              <a:t>.</a:t>
            </a:r>
          </a:p>
          <a:p>
            <a:pPr lvl="1"/>
            <a:r>
              <a:rPr lang="en-US"/>
              <a:t>It </a:t>
            </a:r>
            <a:r>
              <a:rPr lang="en-US">
                <a:solidFill>
                  <a:schemeClr val="accent6"/>
                </a:solidFill>
              </a:rPr>
              <a:t>handles the incoming requests </a:t>
            </a:r>
            <a:r>
              <a:rPr lang="en-US"/>
              <a:t>from clients.</a:t>
            </a:r>
          </a:p>
          <a:p>
            <a:pPr lvl="1"/>
            <a:r>
              <a:rPr lang="en-US"/>
              <a:t>Examples: Solaris, FreeBSD, and Linux and Windows Server 200x.</a:t>
            </a:r>
            <a:endParaRPr lang="en-IN"/>
          </a:p>
        </p:txBody>
      </p:sp>
      <p:pic>
        <p:nvPicPr>
          <p:cNvPr id="4" name="Picture 2" descr="Image result for client ser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02568" y="3658726"/>
            <a:ext cx="4761750" cy="24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1162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Operating Systems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IN"/>
              <a:t>Multiprocessor operating systems</a:t>
            </a:r>
          </a:p>
          <a:p>
            <a:pPr lvl="1"/>
            <a:r>
              <a:rPr lang="en-US"/>
              <a:t>A computer system </a:t>
            </a:r>
            <a:r>
              <a:rPr lang="en-US">
                <a:solidFill>
                  <a:schemeClr val="accent6"/>
                </a:solidFill>
              </a:rPr>
              <a:t>consist two or more CPUs </a:t>
            </a:r>
            <a:r>
              <a:rPr lang="en-US"/>
              <a:t>is called multiprocessor. </a:t>
            </a:r>
          </a:p>
          <a:p>
            <a:pPr lvl="1"/>
            <a:r>
              <a:rPr lang="en-US"/>
              <a:t>It is also called </a:t>
            </a:r>
            <a:r>
              <a:rPr lang="en-US">
                <a:solidFill>
                  <a:schemeClr val="accent6"/>
                </a:solidFill>
              </a:rPr>
              <a:t>parallel computers, multicomputer or multiprocessor</a:t>
            </a:r>
            <a:r>
              <a:rPr lang="en-US"/>
              <a:t>.</a:t>
            </a:r>
          </a:p>
          <a:p>
            <a:pPr lvl="1"/>
            <a:r>
              <a:rPr lang="en-US"/>
              <a:t>They </a:t>
            </a:r>
            <a:r>
              <a:rPr lang="en-US">
                <a:solidFill>
                  <a:schemeClr val="accent6"/>
                </a:solidFill>
              </a:rPr>
              <a:t>need special OS </a:t>
            </a:r>
            <a:r>
              <a:rPr lang="en-US"/>
              <a:t>or some variations on server OS with special features for </a:t>
            </a:r>
            <a:r>
              <a:rPr lang="en-US">
                <a:solidFill>
                  <a:schemeClr val="accent6"/>
                </a:solidFill>
              </a:rPr>
              <a:t>communication, connectivity and consistency</a:t>
            </a:r>
            <a:r>
              <a:rPr lang="en-US"/>
              <a:t>.</a:t>
            </a:r>
          </a:p>
          <a:p>
            <a:pPr lvl="1"/>
            <a:r>
              <a:rPr lang="en-IN"/>
              <a:t>Examples: Windows and Linux.</a:t>
            </a:r>
          </a:p>
        </p:txBody>
      </p:sp>
      <p:pic>
        <p:nvPicPr>
          <p:cNvPr id="5" name="Picture 2" descr="Image result for multiprocessor comp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19681" y="3015916"/>
            <a:ext cx="6800419" cy="328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8292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Operating Systems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IN"/>
              <a:t>Personal computer operating systems</a:t>
            </a:r>
          </a:p>
          <a:p>
            <a:pPr lvl="1"/>
            <a:r>
              <a:rPr lang="en-US"/>
              <a:t>The operating </a:t>
            </a:r>
            <a:r>
              <a:rPr lang="en-US">
                <a:solidFill>
                  <a:schemeClr val="accent6"/>
                </a:solidFill>
              </a:rPr>
              <a:t>systems installed on our personal computer </a:t>
            </a:r>
            <a:r>
              <a:rPr lang="en-US"/>
              <a:t>and </a:t>
            </a:r>
            <a:r>
              <a:rPr lang="en-US">
                <a:solidFill>
                  <a:schemeClr val="accent6"/>
                </a:solidFill>
              </a:rPr>
              <a:t>laptops</a:t>
            </a:r>
            <a:r>
              <a:rPr lang="en-US"/>
              <a:t> are personal OS.</a:t>
            </a:r>
          </a:p>
          <a:p>
            <a:pPr lvl="1"/>
            <a:r>
              <a:rPr lang="en-US"/>
              <a:t>Job of this OS is to </a:t>
            </a:r>
            <a:r>
              <a:rPr lang="en-US">
                <a:solidFill>
                  <a:schemeClr val="accent6"/>
                </a:solidFill>
              </a:rPr>
              <a:t>provide good support to single user</a:t>
            </a:r>
            <a:r>
              <a:rPr lang="en-US"/>
              <a:t>.</a:t>
            </a:r>
          </a:p>
          <a:p>
            <a:pPr lvl="1"/>
            <a:r>
              <a:rPr lang="en-US"/>
              <a:t>This OS is widely </a:t>
            </a:r>
            <a:r>
              <a:rPr lang="en-US">
                <a:solidFill>
                  <a:schemeClr val="accent6"/>
                </a:solidFill>
              </a:rPr>
              <a:t>used for word processing, spreadsheet and internet access</a:t>
            </a:r>
            <a:r>
              <a:rPr lang="en-US"/>
              <a:t>.</a:t>
            </a:r>
          </a:p>
          <a:p>
            <a:pPr lvl="1"/>
            <a:r>
              <a:rPr lang="en-US"/>
              <a:t>Examples: Linux, Windows vista and Macintosh.</a:t>
            </a:r>
            <a:endParaRPr lang="en-IN"/>
          </a:p>
        </p:txBody>
      </p:sp>
      <p:pic>
        <p:nvPicPr>
          <p:cNvPr id="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44" b="7238"/>
          <a:stretch>
            <a:fillRect/>
          </a:stretch>
        </p:blipFill>
        <p:spPr bwMode="auto">
          <a:xfrm>
            <a:off x="6801853" y="2538663"/>
            <a:ext cx="5132310" cy="3253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2109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Operating Systems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IN"/>
              <a:t>Handhelds computer operating systems</a:t>
            </a:r>
          </a:p>
          <a:p>
            <a:pPr lvl="1"/>
            <a:r>
              <a:rPr lang="en-US"/>
              <a:t>A handheld computer or PDA (Personal Digital Assistant) is </a:t>
            </a:r>
            <a:r>
              <a:rPr lang="en-US">
                <a:solidFill>
                  <a:schemeClr val="accent6"/>
                </a:solidFill>
              </a:rPr>
              <a:t>small computer that fit in a Pocket and perform small number of functions such as electronic address book, memo pad</a:t>
            </a:r>
            <a:r>
              <a:rPr lang="en-US"/>
              <a:t>.</a:t>
            </a:r>
          </a:p>
          <a:p>
            <a:pPr lvl="1"/>
            <a:r>
              <a:rPr lang="en-US"/>
              <a:t>The OS runs on these devices are handheld OS.</a:t>
            </a:r>
          </a:p>
          <a:p>
            <a:pPr lvl="1"/>
            <a:r>
              <a:rPr lang="en-US"/>
              <a:t>These OS also </a:t>
            </a:r>
            <a:r>
              <a:rPr lang="en-US">
                <a:solidFill>
                  <a:schemeClr val="accent6"/>
                </a:solidFill>
              </a:rPr>
              <a:t>provides ability to handle telephony, digital photography</a:t>
            </a:r>
            <a:r>
              <a:rPr lang="en-US"/>
              <a:t> and other functions.</a:t>
            </a:r>
          </a:p>
          <a:p>
            <a:pPr lvl="1"/>
            <a:r>
              <a:rPr lang="en-US"/>
              <a:t>Examples: Symbian OS, Palm OS.</a:t>
            </a:r>
            <a:endParaRPr lang="en-IN"/>
          </a:p>
        </p:txBody>
      </p:sp>
      <p:pic>
        <p:nvPicPr>
          <p:cNvPr id="5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7705" y="2968735"/>
            <a:ext cx="4647032" cy="3485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9129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Operating Systems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IN"/>
              <a:t>Embedded operating systems</a:t>
            </a:r>
          </a:p>
          <a:p>
            <a:pPr lvl="1"/>
            <a:r>
              <a:rPr lang="en-US"/>
              <a:t>This OS is installed in </a:t>
            </a:r>
            <a:r>
              <a:rPr lang="en-US">
                <a:solidFill>
                  <a:schemeClr val="accent6"/>
                </a:solidFill>
              </a:rPr>
              <a:t>ATMs, printers, calculators and washing machine</a:t>
            </a:r>
            <a:r>
              <a:rPr lang="en-US"/>
              <a:t>.</a:t>
            </a:r>
          </a:p>
          <a:p>
            <a:pPr lvl="1"/>
            <a:r>
              <a:rPr lang="en-US"/>
              <a:t>It runs on the computer that </a:t>
            </a:r>
            <a:r>
              <a:rPr lang="en-US">
                <a:solidFill>
                  <a:schemeClr val="accent6"/>
                </a:solidFill>
              </a:rPr>
              <a:t>control devices</a:t>
            </a:r>
            <a:r>
              <a:rPr lang="en-US"/>
              <a:t>.</a:t>
            </a:r>
          </a:p>
          <a:p>
            <a:pPr lvl="1"/>
            <a:r>
              <a:rPr lang="en-US"/>
              <a:t>It </a:t>
            </a:r>
            <a:r>
              <a:rPr lang="en-US">
                <a:solidFill>
                  <a:schemeClr val="accent6"/>
                </a:solidFill>
              </a:rPr>
              <a:t>neither allow to download new software nor accept user installed software</a:t>
            </a:r>
            <a:r>
              <a:rPr lang="en-US"/>
              <a:t>. So there is no need for protection.</a:t>
            </a:r>
          </a:p>
          <a:p>
            <a:pPr lvl="1"/>
            <a:r>
              <a:rPr lang="en-US"/>
              <a:t>Examples: QNX, VxWorks.</a:t>
            </a:r>
            <a:endParaRPr lang="en-I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3961" r="27707" b="6024"/>
          <a:stretch>
            <a:fillRect/>
          </a:stretch>
        </p:blipFill>
        <p:spPr bwMode="auto">
          <a:xfrm>
            <a:off x="7431962" y="2828874"/>
            <a:ext cx="1748588" cy="35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422" y="3848874"/>
            <a:ext cx="2030195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 descr="Image result for calcula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64959" y="3755020"/>
            <a:ext cx="1965812" cy="171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Image result for washing machin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4113" y="3085433"/>
            <a:ext cx="2474508" cy="305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2695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Operating Systems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7"/>
            </a:pPr>
            <a:r>
              <a:rPr lang="en-IN"/>
              <a:t>Sensor node operating systems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Network of tiny sensor nodes </a:t>
            </a:r>
            <a:r>
              <a:rPr lang="en-US"/>
              <a:t>are being developed for numerous purpose.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Each nodes are tiny computers with a CPU, RAM, ROM and one or more environmental sensors</a:t>
            </a:r>
            <a:r>
              <a:rPr lang="en-US"/>
              <a:t>.</a:t>
            </a:r>
          </a:p>
          <a:p>
            <a:pPr lvl="1"/>
            <a:r>
              <a:rPr lang="en-US"/>
              <a:t>The OS installed in these nodes are sensor node OS.</a:t>
            </a:r>
          </a:p>
          <a:p>
            <a:pPr lvl="1"/>
            <a:r>
              <a:rPr lang="en-US"/>
              <a:t>They </a:t>
            </a:r>
            <a:r>
              <a:rPr lang="en-US">
                <a:solidFill>
                  <a:schemeClr val="accent6"/>
                </a:solidFill>
              </a:rPr>
              <a:t>communicate with each other </a:t>
            </a:r>
            <a:r>
              <a:rPr lang="en-US"/>
              <a:t>and </a:t>
            </a:r>
            <a:r>
              <a:rPr lang="en-US">
                <a:solidFill>
                  <a:schemeClr val="accent6"/>
                </a:solidFill>
              </a:rPr>
              <a:t>with base station using wireless communication</a:t>
            </a:r>
            <a:r>
              <a:rPr lang="en-US"/>
              <a:t>.</a:t>
            </a:r>
          </a:p>
          <a:p>
            <a:pPr lvl="1"/>
            <a:r>
              <a:rPr lang="en-US"/>
              <a:t>These sensor network are </a:t>
            </a:r>
            <a:r>
              <a:rPr lang="en-US">
                <a:solidFill>
                  <a:schemeClr val="accent6"/>
                </a:solidFill>
              </a:rPr>
              <a:t>used to protect area of building, detect fires in forest, measure temperature</a:t>
            </a:r>
            <a:r>
              <a:rPr lang="en-US"/>
              <a:t>.</a:t>
            </a:r>
          </a:p>
          <a:p>
            <a:pPr lvl="1"/>
            <a:r>
              <a:rPr lang="en-US"/>
              <a:t>Examples: TinyOS.</a:t>
            </a:r>
            <a:endParaRPr lang="en-IN"/>
          </a:p>
        </p:txBody>
      </p:sp>
      <p:pic>
        <p:nvPicPr>
          <p:cNvPr id="10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31301" y="3553514"/>
            <a:ext cx="6070467" cy="26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8568" y="3577144"/>
            <a:ext cx="2986840" cy="265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4694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Operating Systems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8"/>
            </a:pPr>
            <a:r>
              <a:rPr lang="en-IN"/>
              <a:t>Real time operating systems</a:t>
            </a:r>
          </a:p>
          <a:p>
            <a:pPr lvl="1"/>
            <a:r>
              <a:rPr lang="en-US"/>
              <a:t>These systems having </a:t>
            </a:r>
            <a:r>
              <a:rPr lang="en-US">
                <a:solidFill>
                  <a:schemeClr val="accent6"/>
                </a:solidFill>
              </a:rPr>
              <a:t>time as a key parameter</a:t>
            </a:r>
            <a:r>
              <a:rPr lang="en-US"/>
              <a:t>.</a:t>
            </a:r>
          </a:p>
          <a:p>
            <a:pPr lvl="1"/>
            <a:r>
              <a:rPr lang="en-US"/>
              <a:t>Real time OS </a:t>
            </a:r>
            <a:r>
              <a:rPr lang="en-US">
                <a:solidFill>
                  <a:schemeClr val="accent6"/>
                </a:solidFill>
              </a:rPr>
              <a:t>has well defined fixed time constraints</a:t>
            </a:r>
            <a:r>
              <a:rPr lang="en-US"/>
              <a:t>.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Processing must be done within defined time constraints </a:t>
            </a:r>
            <a:r>
              <a:rPr lang="en-US"/>
              <a:t>otherwise system fails. </a:t>
            </a:r>
          </a:p>
          <a:p>
            <a:pPr lvl="1"/>
            <a:r>
              <a:rPr lang="en-US"/>
              <a:t>Two types of real time OS: </a:t>
            </a:r>
          </a:p>
          <a:p>
            <a:pPr lvl="2"/>
            <a:r>
              <a:rPr lang="en-US"/>
              <a:t>Hard real time – </a:t>
            </a:r>
            <a:r>
              <a:rPr lang="en-US">
                <a:solidFill>
                  <a:schemeClr val="accent6"/>
                </a:solidFill>
              </a:rPr>
              <a:t>missing an occasional deadline can cause any permanent damage</a:t>
            </a:r>
            <a:r>
              <a:rPr lang="en-US"/>
              <a:t>. Many of these are found in industrial process control, car engine control system.</a:t>
            </a:r>
          </a:p>
          <a:p>
            <a:pPr lvl="2"/>
            <a:r>
              <a:rPr lang="en-US"/>
              <a:t>Soft real time – </a:t>
            </a:r>
            <a:r>
              <a:rPr lang="en-US">
                <a:solidFill>
                  <a:schemeClr val="accent6"/>
                </a:solidFill>
              </a:rPr>
              <a:t>missing an occasional deadline does not cause any permanent damage</a:t>
            </a:r>
            <a:r>
              <a:rPr lang="en-US"/>
              <a:t>. Used in digital audio, multimedia system.</a:t>
            </a:r>
          </a:p>
          <a:p>
            <a:pPr lvl="1"/>
            <a:r>
              <a:rPr lang="en-US"/>
              <a:t>Examples: e-Cos.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3942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Operating Systems (OS)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2" y="863444"/>
            <a:ext cx="1194470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9"/>
            </a:pPr>
            <a:r>
              <a:rPr lang="en-IN"/>
              <a:t>Smart card operating systems</a:t>
            </a:r>
          </a:p>
          <a:p>
            <a:pPr lvl="1"/>
            <a:r>
              <a:rPr lang="en-US"/>
              <a:t>Smallest OS run on </a:t>
            </a:r>
            <a:r>
              <a:rPr lang="en-US">
                <a:solidFill>
                  <a:schemeClr val="accent6"/>
                </a:solidFill>
              </a:rPr>
              <a:t>smart cards which are credit card sized devices containing CPU chip</a:t>
            </a:r>
            <a:r>
              <a:rPr lang="en-US"/>
              <a:t>.</a:t>
            </a:r>
          </a:p>
          <a:p>
            <a:pPr lvl="1"/>
            <a:r>
              <a:rPr lang="en-US"/>
              <a:t>These OS are </a:t>
            </a:r>
            <a:r>
              <a:rPr lang="en-US">
                <a:solidFill>
                  <a:schemeClr val="accent6"/>
                </a:solidFill>
              </a:rPr>
              <a:t>installed on electronic payments cards such as debit card, credit card</a:t>
            </a:r>
            <a:r>
              <a:rPr lang="en-US"/>
              <a:t> etc.</a:t>
            </a:r>
          </a:p>
          <a:p>
            <a:pPr lvl="1"/>
            <a:r>
              <a:rPr lang="en-US"/>
              <a:t>They have </a:t>
            </a:r>
            <a:r>
              <a:rPr lang="en-US">
                <a:solidFill>
                  <a:schemeClr val="accent6"/>
                </a:solidFill>
              </a:rPr>
              <a:t>limited processing power</a:t>
            </a:r>
            <a:r>
              <a:rPr lang="en-US"/>
              <a:t>.</a:t>
            </a:r>
          </a:p>
          <a:p>
            <a:pPr lvl="1"/>
            <a:r>
              <a:rPr lang="en-US"/>
              <a:t>Some smart cards are Java oriented. ROM on smart card holds an interpreter for the JVM – small program.</a:t>
            </a:r>
            <a:endParaRPr lang="en-IN"/>
          </a:p>
        </p:txBody>
      </p:sp>
      <p:pic>
        <p:nvPicPr>
          <p:cNvPr id="4" name="Picture 2" descr="Image result for smart ca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4" b="19443"/>
          <a:stretch>
            <a:fillRect/>
          </a:stretch>
        </p:blipFill>
        <p:spPr bwMode="auto">
          <a:xfrm>
            <a:off x="7511716" y="2884003"/>
            <a:ext cx="3928641" cy="245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3498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System calls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- 9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18589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System calls?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system call is a </a:t>
            </a:r>
            <a:r>
              <a:rPr lang="en-US" b="1">
                <a:solidFill>
                  <a:schemeClr val="accent6"/>
                </a:solidFill>
              </a:rPr>
              <a:t>way for programs to interact with the operating system</a:t>
            </a:r>
            <a:r>
              <a:rPr lang="en-US"/>
              <a:t>. </a:t>
            </a:r>
          </a:p>
          <a:p>
            <a:r>
              <a:rPr lang="en-US"/>
              <a:t>A system call is a </a:t>
            </a:r>
            <a:r>
              <a:rPr lang="en-US" b="1">
                <a:solidFill>
                  <a:schemeClr val="accent6"/>
                </a:solidFill>
              </a:rPr>
              <a:t>mechanism that provides the interface between a process and the operating system</a:t>
            </a:r>
            <a:r>
              <a:rPr lang="en-US"/>
              <a:t>.</a:t>
            </a:r>
          </a:p>
          <a:p>
            <a:r>
              <a:rPr lang="en-US"/>
              <a:t>A computer program makes a system call </a:t>
            </a:r>
            <a:r>
              <a:rPr lang="en-US" b="1">
                <a:solidFill>
                  <a:schemeClr val="accent6"/>
                </a:solidFill>
              </a:rPr>
              <a:t>when it makes a request to the operating system's kernel</a:t>
            </a:r>
            <a:r>
              <a:rPr lang="en-US"/>
              <a:t>. </a:t>
            </a:r>
          </a:p>
          <a:p>
            <a:r>
              <a:rPr lang="en-US"/>
              <a:t>It is a </a:t>
            </a:r>
            <a:r>
              <a:rPr lang="en-US" b="1">
                <a:solidFill>
                  <a:schemeClr val="accent6"/>
                </a:solidFill>
              </a:rPr>
              <a:t>programmatic method </a:t>
            </a:r>
            <a:r>
              <a:rPr lang="en-US"/>
              <a:t>in which a </a:t>
            </a:r>
            <a:r>
              <a:rPr lang="en-US" b="1">
                <a:solidFill>
                  <a:schemeClr val="accent6"/>
                </a:solidFill>
              </a:rPr>
              <a:t>computer program requests a service from the kernel </a:t>
            </a:r>
            <a:r>
              <a:rPr lang="en-US"/>
              <a:t>of the OS.</a:t>
            </a:r>
          </a:p>
          <a:p>
            <a:r>
              <a:rPr lang="en-US"/>
              <a:t>System call </a:t>
            </a:r>
            <a:r>
              <a:rPr lang="en-US" b="1">
                <a:solidFill>
                  <a:schemeClr val="accent6"/>
                </a:solidFill>
              </a:rPr>
              <a:t>provides the services of the operating system </a:t>
            </a:r>
            <a:r>
              <a:rPr lang="en-US"/>
              <a:t>to the user programs via </a:t>
            </a:r>
            <a:r>
              <a:rPr lang="en-US" b="1">
                <a:solidFill>
                  <a:schemeClr val="accent6"/>
                </a:solidFill>
              </a:rPr>
              <a:t>Application Program Interface(API)</a:t>
            </a:r>
            <a:r>
              <a:rPr lang="en-US"/>
              <a:t>.</a:t>
            </a:r>
          </a:p>
          <a:p>
            <a:r>
              <a:rPr lang="en-US"/>
              <a:t>System calls are the </a:t>
            </a:r>
            <a:r>
              <a:rPr lang="en-US" b="1">
                <a:solidFill>
                  <a:schemeClr val="accent6"/>
                </a:solidFill>
              </a:rPr>
              <a:t>only entry points for the kernel system</a:t>
            </a:r>
            <a:r>
              <a:rPr lang="en-US"/>
              <a:t>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1392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chemeClr val="accent6"/>
                </a:solidFill>
              </a:rPr>
              <a:t>Process Control</a:t>
            </a:r>
            <a:r>
              <a:rPr lang="en-US"/>
              <a:t>: This system calls perform the task of </a:t>
            </a:r>
            <a:r>
              <a:rPr lang="en-US" b="1">
                <a:solidFill>
                  <a:schemeClr val="accent6"/>
                </a:solidFill>
              </a:rPr>
              <a:t>process creation, process termination</a:t>
            </a:r>
            <a:r>
              <a:rPr lang="en-US"/>
              <a:t>, etc.</a:t>
            </a:r>
          </a:p>
          <a:p>
            <a:pPr lvl="1"/>
            <a:r>
              <a:rPr lang="en-US"/>
              <a:t>Functions:</a:t>
            </a:r>
          </a:p>
          <a:p>
            <a:pPr lvl="2"/>
            <a:r>
              <a:rPr lang="en-US"/>
              <a:t>End and abort</a:t>
            </a:r>
          </a:p>
          <a:p>
            <a:pPr lvl="2"/>
            <a:r>
              <a:rPr lang="en-US"/>
              <a:t>Load and execute</a:t>
            </a:r>
          </a:p>
          <a:p>
            <a:pPr lvl="2"/>
            <a:r>
              <a:rPr lang="en-US"/>
              <a:t>Create process and terminate process</a:t>
            </a:r>
          </a:p>
          <a:p>
            <a:pPr lvl="2"/>
            <a:r>
              <a:rPr lang="en-US"/>
              <a:t>Wait and signed event</a:t>
            </a:r>
          </a:p>
          <a:p>
            <a:pPr lvl="2"/>
            <a:r>
              <a:rPr lang="en-US"/>
              <a:t>Allocate and free memory</a:t>
            </a:r>
          </a:p>
          <a:p>
            <a:r>
              <a:rPr lang="en-US" b="1">
                <a:solidFill>
                  <a:schemeClr val="accent6"/>
                </a:solidFill>
              </a:rPr>
              <a:t>File Management</a:t>
            </a:r>
            <a:r>
              <a:rPr lang="en-US"/>
              <a:t>: File management system calls handle </a:t>
            </a:r>
            <a:r>
              <a:rPr lang="en-US" b="1">
                <a:solidFill>
                  <a:schemeClr val="accent6"/>
                </a:solidFill>
              </a:rPr>
              <a:t>file manipulation jobs like creating a file, reading, and writing</a:t>
            </a:r>
            <a:r>
              <a:rPr lang="en-US"/>
              <a:t>, etc.</a:t>
            </a:r>
          </a:p>
          <a:p>
            <a:pPr lvl="1"/>
            <a:r>
              <a:rPr lang="en-US"/>
              <a:t>Functions:</a:t>
            </a:r>
          </a:p>
          <a:p>
            <a:pPr lvl="2"/>
            <a:r>
              <a:rPr lang="en-US"/>
              <a:t>Create a file</a:t>
            </a:r>
          </a:p>
          <a:p>
            <a:pPr lvl="2"/>
            <a:r>
              <a:rPr lang="en-US"/>
              <a:t>Delete file</a:t>
            </a:r>
          </a:p>
          <a:p>
            <a:pPr lvl="2"/>
            <a:r>
              <a:rPr lang="en-US"/>
              <a:t>Open and close file</a:t>
            </a:r>
          </a:p>
          <a:p>
            <a:pPr lvl="2"/>
            <a:r>
              <a:rPr lang="en-US"/>
              <a:t>Read, write and reposition</a:t>
            </a:r>
          </a:p>
          <a:p>
            <a:pPr lvl="2"/>
            <a:r>
              <a:rPr lang="en-US"/>
              <a:t>Get and set file attributes</a:t>
            </a:r>
          </a:p>
        </p:txBody>
      </p:sp>
    </p:spTree>
    <p:extLst>
      <p:ext uri="{BB962C8B-B14F-4D97-AF65-F5344CB8AC3E}">
        <p14:creationId xmlns:p14="http://schemas.microsoft.com/office/powerpoint/2010/main" val="14914778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chemeClr val="accent6"/>
                </a:solidFill>
              </a:rPr>
              <a:t>Device Management</a:t>
            </a:r>
            <a:r>
              <a:rPr lang="en-US"/>
              <a:t>: Device management does the job of </a:t>
            </a:r>
            <a:r>
              <a:rPr lang="en-US" b="1">
                <a:solidFill>
                  <a:schemeClr val="accent6"/>
                </a:solidFill>
              </a:rPr>
              <a:t>device manipulation like reading from device buffers, writing into device buffers</a:t>
            </a:r>
            <a:r>
              <a:rPr lang="en-US"/>
              <a:t>, etc.</a:t>
            </a:r>
          </a:p>
          <a:p>
            <a:pPr lvl="1"/>
            <a:r>
              <a:rPr lang="en-US"/>
              <a:t>Functions</a:t>
            </a:r>
          </a:p>
          <a:p>
            <a:pPr lvl="2"/>
            <a:r>
              <a:rPr lang="en-US"/>
              <a:t>Request and release device</a:t>
            </a:r>
          </a:p>
          <a:p>
            <a:pPr lvl="2"/>
            <a:r>
              <a:rPr lang="en-US"/>
              <a:t>Logically attach/ detach devices</a:t>
            </a:r>
          </a:p>
          <a:p>
            <a:pPr lvl="2"/>
            <a:r>
              <a:rPr lang="en-US"/>
              <a:t>Get and Set device attributes</a:t>
            </a:r>
          </a:p>
          <a:p>
            <a:r>
              <a:rPr lang="en-US" b="1">
                <a:solidFill>
                  <a:schemeClr val="accent6"/>
                </a:solidFill>
              </a:rPr>
              <a:t>Information Maintenance</a:t>
            </a:r>
            <a:r>
              <a:rPr lang="en-US"/>
              <a:t>: It </a:t>
            </a:r>
            <a:r>
              <a:rPr lang="en-US" b="1">
                <a:solidFill>
                  <a:schemeClr val="accent6"/>
                </a:solidFill>
              </a:rPr>
              <a:t>handles information </a:t>
            </a:r>
            <a:r>
              <a:rPr lang="en-US"/>
              <a:t>and its </a:t>
            </a:r>
            <a:r>
              <a:rPr lang="en-US" b="1">
                <a:solidFill>
                  <a:schemeClr val="accent6"/>
                </a:solidFill>
              </a:rPr>
              <a:t>transfer between the OS and user program</a:t>
            </a:r>
            <a:r>
              <a:rPr lang="en-US"/>
              <a:t>.</a:t>
            </a:r>
          </a:p>
          <a:p>
            <a:pPr lvl="1"/>
            <a:r>
              <a:rPr lang="en-US"/>
              <a:t>Functions:</a:t>
            </a:r>
          </a:p>
          <a:p>
            <a:pPr lvl="2"/>
            <a:r>
              <a:rPr lang="en-US"/>
              <a:t>Get or set time and date</a:t>
            </a:r>
          </a:p>
          <a:p>
            <a:pPr lvl="2"/>
            <a:r>
              <a:rPr lang="en-US"/>
              <a:t>Get process and device attributes</a:t>
            </a:r>
          </a:p>
        </p:txBody>
      </p:sp>
    </p:spTree>
    <p:extLst>
      <p:ext uri="{BB962C8B-B14F-4D97-AF65-F5344CB8AC3E}">
        <p14:creationId xmlns:p14="http://schemas.microsoft.com/office/powerpoint/2010/main" val="31405302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chemeClr val="accent6"/>
                </a:solidFill>
              </a:rPr>
              <a:t>Communication</a:t>
            </a:r>
            <a:r>
              <a:rPr lang="en-US"/>
              <a:t>: These types of system calls are specially used for </a:t>
            </a:r>
            <a:r>
              <a:rPr lang="en-US" b="1">
                <a:solidFill>
                  <a:schemeClr val="accent6"/>
                </a:solidFill>
              </a:rPr>
              <a:t>interprocess communications (IPC)</a:t>
            </a:r>
            <a:r>
              <a:rPr lang="en-US"/>
              <a:t>.</a:t>
            </a:r>
          </a:p>
          <a:p>
            <a:pPr lvl="1"/>
            <a:r>
              <a:rPr lang="en-US"/>
              <a:t>Functions:</a:t>
            </a:r>
          </a:p>
          <a:p>
            <a:pPr lvl="2"/>
            <a:r>
              <a:rPr lang="en-US"/>
              <a:t>Create, delete communications connections</a:t>
            </a:r>
          </a:p>
          <a:p>
            <a:pPr lvl="2"/>
            <a:r>
              <a:rPr lang="en-US"/>
              <a:t>Send, receive message</a:t>
            </a:r>
          </a:p>
          <a:p>
            <a:pPr lvl="2"/>
            <a:r>
              <a:rPr lang="en-US"/>
              <a:t>Help OS to transfer status information</a:t>
            </a:r>
          </a:p>
          <a:p>
            <a:pPr lvl="2"/>
            <a:r>
              <a:rPr lang="en-US"/>
              <a:t>Attach or detach remote devices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3046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 of system calls </a:t>
            </a:r>
            <a:r>
              <a:rPr lang="en-US" sz="2800"/>
              <a:t>(Read system call)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863445"/>
            <a:ext cx="4715169" cy="3172496"/>
          </a:xfr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en-US" sz="2000"/>
              <a:t>Example: In Unix Read system call is</a:t>
            </a:r>
          </a:p>
          <a:p>
            <a:pPr marL="631825" lvl="1" indent="-403225"/>
            <a:r>
              <a:rPr lang="en-US"/>
              <a:t>count = read(fd, buffer, nbytes)</a:t>
            </a:r>
          </a:p>
          <a:p>
            <a:pPr marL="739775" lvl="2"/>
            <a:r>
              <a:rPr lang="en-US" err="1"/>
              <a:t>fd is a file descriptor. </a:t>
            </a:r>
          </a:p>
          <a:p>
            <a:pPr marL="914400" lvl="3" indent="-282575"/>
            <a:r>
              <a:rPr lang="en-US"/>
              <a:t>When a file is opened, permissions are checked. </a:t>
            </a:r>
          </a:p>
          <a:p>
            <a:pPr marL="914400" lvl="3" indent="-282575"/>
            <a:r>
              <a:rPr lang="en-US"/>
              <a:t>If access is allowed, a number (fd) is returned. </a:t>
            </a:r>
          </a:p>
          <a:p>
            <a:pPr marL="914400" lvl="3" indent="-282575"/>
            <a:r>
              <a:rPr lang="en-US"/>
              <a:t>Then file  can be read/written.</a:t>
            </a:r>
          </a:p>
          <a:p>
            <a:pPr marL="739775" lvl="2"/>
            <a:r>
              <a:rPr lang="en-US" err="1"/>
              <a:t>nbytes is number of bytes to read</a:t>
            </a:r>
          </a:p>
          <a:p>
            <a:pPr marL="739775" lvl="2"/>
            <a:r>
              <a:rPr lang="en-US"/>
              <a:t>buffer is where read deposits (stores) the data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588282" y="1080247"/>
            <a:ext cx="7416462" cy="5078506"/>
            <a:chOff x="1173839" y="270899"/>
            <a:chExt cx="9657326" cy="6362474"/>
          </a:xfrm>
        </p:grpSpPr>
        <p:sp>
          <p:nvSpPr>
            <p:cNvPr id="6" name="Rectangle 5"/>
            <p:cNvSpPr/>
            <p:nvPr/>
          </p:nvSpPr>
          <p:spPr>
            <a:xfrm>
              <a:off x="3143251" y="5618807"/>
              <a:ext cx="5530642" cy="97789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399971" y="563588"/>
              <a:ext cx="3327976" cy="464233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1"/>
                  </a:solidFill>
                </a:rPr>
                <a:t>Return to caller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99971" y="1027820"/>
              <a:ext cx="3327976" cy="464233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1"/>
                  </a:solidFill>
                </a:rPr>
                <a:t>Trap to the kernel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00268" y="1492053"/>
              <a:ext cx="3327976" cy="464233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bg1"/>
                  </a:solidFill>
                </a:rPr>
                <a:t>Put code for read in register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399971" y="2881351"/>
              <a:ext cx="3327976" cy="464233"/>
            </a:xfrm>
            <a:prstGeom prst="rect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1"/>
                  </a:solidFill>
                </a:rPr>
                <a:t>Increment SP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99971" y="3345584"/>
              <a:ext cx="3327976" cy="464233"/>
            </a:xfrm>
            <a:prstGeom prst="rect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1"/>
                  </a:solidFill>
                </a:rPr>
                <a:t>Call read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00268" y="3809816"/>
              <a:ext cx="3327976" cy="464233"/>
            </a:xfrm>
            <a:prstGeom prst="rect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1"/>
                  </a:solidFill>
                </a:rPr>
                <a:t>Push fd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399971" y="4270648"/>
              <a:ext cx="3327976" cy="464233"/>
            </a:xfrm>
            <a:prstGeom prst="rect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1"/>
                  </a:solidFill>
                </a:rPr>
                <a:t>Push &amp;buffer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400268" y="4734880"/>
              <a:ext cx="3327976" cy="464233"/>
            </a:xfrm>
            <a:prstGeom prst="rect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1"/>
                  </a:solidFill>
                </a:rPr>
                <a:t>Push nbytes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091226" y="5840389"/>
              <a:ext cx="1079500" cy="60943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Dispatch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021271" y="5840389"/>
              <a:ext cx="1003299" cy="609431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Sys call</a:t>
              </a:r>
            </a:p>
            <a:p>
              <a:pPr algn="ctr"/>
              <a:r>
                <a:rPr lang="en-US" sz="1400">
                  <a:solidFill>
                    <a:schemeClr val="bg1"/>
                  </a:solidFill>
                </a:rPr>
                <a:t>handler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766377" y="5840389"/>
              <a:ext cx="595162" cy="609431"/>
            </a:xfrm>
            <a:prstGeom prst="rect">
              <a:avLst/>
            </a:prstGeom>
            <a:pattFill prst="ltHorz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bg1"/>
                </a:solidFill>
              </a:endParaRPr>
            </a:p>
          </p:txBody>
        </p:sp>
        <p:cxnSp>
          <p:nvCxnSpPr>
            <p:cNvPr id="19" name="Straight Arrow Connector 18"/>
            <p:cNvCxnSpPr>
              <a:stCxn id="16" idx="3"/>
              <a:endCxn id="18" idx="1"/>
            </p:cNvCxnSpPr>
            <p:nvPr/>
          </p:nvCxnSpPr>
          <p:spPr>
            <a:xfrm>
              <a:off x="5170725" y="6145104"/>
              <a:ext cx="595652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8" idx="3"/>
              <a:endCxn id="17" idx="1"/>
            </p:cNvCxnSpPr>
            <p:nvPr/>
          </p:nvCxnSpPr>
          <p:spPr>
            <a:xfrm>
              <a:off x="6361539" y="6145104"/>
              <a:ext cx="65973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3920851" y="4821458"/>
              <a:ext cx="340750" cy="34074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3920851" y="4336948"/>
              <a:ext cx="340750" cy="34074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3920851" y="3844541"/>
              <a:ext cx="340750" cy="34074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3999411" y="1415257"/>
              <a:ext cx="340750" cy="34074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5298177" y="5702584"/>
              <a:ext cx="340750" cy="34074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6526087" y="5676576"/>
              <a:ext cx="340750" cy="34074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7066244" y="2798415"/>
              <a:ext cx="640080" cy="64007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11</a:t>
              </a:r>
            </a:p>
          </p:txBody>
        </p:sp>
        <p:cxnSp>
          <p:nvCxnSpPr>
            <p:cNvPr id="28" name="Curved Connector 27"/>
            <p:cNvCxnSpPr>
              <a:stCxn id="12" idx="1"/>
              <a:endCxn id="10" idx="1"/>
            </p:cNvCxnSpPr>
            <p:nvPr/>
          </p:nvCxnSpPr>
          <p:spPr>
            <a:xfrm rot="10800000" flipH="1">
              <a:off x="4399970" y="1724171"/>
              <a:ext cx="297" cy="1853529"/>
            </a:xfrm>
            <a:prstGeom prst="curvedConnector3">
              <a:avLst>
                <a:gd name="adj1" fmla="val -140500337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/>
            <p:cNvCxnSpPr>
              <a:stCxn id="8" idx="3"/>
              <a:endCxn id="11" idx="3"/>
            </p:cNvCxnSpPr>
            <p:nvPr/>
          </p:nvCxnSpPr>
          <p:spPr>
            <a:xfrm>
              <a:off x="7727946" y="795704"/>
              <a:ext cx="12700" cy="2317762"/>
            </a:xfrm>
            <a:prstGeom prst="curvedConnector3">
              <a:avLst>
                <a:gd name="adj1" fmla="val 3171425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3143251" y="270899"/>
              <a:ext cx="5530642" cy="534790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Curved Connector 30"/>
            <p:cNvCxnSpPr>
              <a:stCxn id="9" idx="1"/>
              <a:endCxn id="16" idx="1"/>
            </p:cNvCxnSpPr>
            <p:nvPr/>
          </p:nvCxnSpPr>
          <p:spPr>
            <a:xfrm rot="10800000" flipV="1">
              <a:off x="4091227" y="1259936"/>
              <a:ext cx="308744" cy="4885166"/>
            </a:xfrm>
            <a:prstGeom prst="curvedConnector3">
              <a:avLst>
                <a:gd name="adj1" fmla="val 365117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urved Connector 31"/>
            <p:cNvCxnSpPr>
              <a:stCxn id="17" idx="3"/>
              <a:endCxn id="8" idx="0"/>
            </p:cNvCxnSpPr>
            <p:nvPr/>
          </p:nvCxnSpPr>
          <p:spPr>
            <a:xfrm flipH="1" flipV="1">
              <a:off x="6063959" y="563587"/>
              <a:ext cx="1960611" cy="5581517"/>
            </a:xfrm>
            <a:prstGeom prst="curvedConnector4">
              <a:avLst>
                <a:gd name="adj1" fmla="val -29149"/>
                <a:gd name="adj2" fmla="val 104096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7704531" y="2031425"/>
              <a:ext cx="640080" cy="64007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10</a:t>
              </a:r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8274236" y="4523304"/>
              <a:ext cx="340750" cy="34074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3374949" y="2119359"/>
              <a:ext cx="340750" cy="34074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6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3854362" y="2639933"/>
              <a:ext cx="340750" cy="34074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37" name="Right Brace 36"/>
            <p:cNvSpPr/>
            <p:nvPr/>
          </p:nvSpPr>
          <p:spPr>
            <a:xfrm>
              <a:off x="8757807" y="598150"/>
              <a:ext cx="400050" cy="1433274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ight Brace 37"/>
            <p:cNvSpPr/>
            <p:nvPr/>
          </p:nvSpPr>
          <p:spPr>
            <a:xfrm>
              <a:off x="8757807" y="2903672"/>
              <a:ext cx="400050" cy="2258535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269412" y="736402"/>
              <a:ext cx="1505394" cy="11567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Library </a:t>
              </a:r>
            </a:p>
            <a:p>
              <a:pPr algn="ctr"/>
              <a:r>
                <a:rPr lang="en-US"/>
                <a:t>procedure </a:t>
              </a:r>
            </a:p>
            <a:p>
              <a:pPr algn="ctr"/>
              <a:r>
                <a:rPr lang="en-US"/>
                <a:t>read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213054" y="3454554"/>
              <a:ext cx="1618111" cy="11567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User </a:t>
              </a:r>
            </a:p>
            <a:p>
              <a:pPr algn="ctr"/>
              <a:r>
                <a:rPr lang="en-US"/>
                <a:t>program</a:t>
              </a:r>
            </a:p>
            <a:p>
              <a:pPr algn="ctr"/>
              <a:r>
                <a:rPr lang="en-US"/>
                <a:t>calling read</a:t>
              </a:r>
            </a:p>
          </p:txBody>
        </p:sp>
        <p:sp>
          <p:nvSpPr>
            <p:cNvPr id="41" name="Left Brace 40"/>
            <p:cNvSpPr/>
            <p:nvPr/>
          </p:nvSpPr>
          <p:spPr>
            <a:xfrm>
              <a:off x="2657383" y="364581"/>
              <a:ext cx="395226" cy="5140868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Left Brace 41"/>
            <p:cNvSpPr/>
            <p:nvPr/>
          </p:nvSpPr>
          <p:spPr>
            <a:xfrm>
              <a:off x="2667612" y="5665767"/>
              <a:ext cx="374768" cy="894122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457356" y="2414470"/>
              <a:ext cx="1169332" cy="10410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/>
                <a:t>User</a:t>
              </a:r>
            </a:p>
            <a:p>
              <a:pPr algn="ctr"/>
              <a:r>
                <a:rPr lang="en-US" sz="2400"/>
                <a:t>space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173839" y="5592280"/>
              <a:ext cx="1374976" cy="10410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/>
                <a:t>Kernel </a:t>
              </a:r>
            </a:p>
            <a:p>
              <a:pPr algn="ctr"/>
              <a:r>
                <a:rPr lang="en-US" sz="2400"/>
                <a:t>space</a:t>
              </a:r>
            </a:p>
          </p:txBody>
        </p:sp>
      </p:grpSp>
      <p:sp>
        <p:nvSpPr>
          <p:cNvPr id="45" name="Left Brace 44"/>
          <p:cNvSpPr/>
          <p:nvPr/>
        </p:nvSpPr>
        <p:spPr>
          <a:xfrm>
            <a:off x="6330070" y="3925628"/>
            <a:ext cx="314683" cy="1088303"/>
          </a:xfrm>
          <a:prstGeom prst="lef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48763" y="4062834"/>
            <a:ext cx="1623449" cy="854307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rgbClr val="FF0000"/>
                </a:solidFill>
              </a:defRPr>
            </a:lvl1pPr>
          </a:lstStyle>
          <a:p>
            <a:r>
              <a:rPr lang="en-US">
                <a:solidFill>
                  <a:schemeClr val="accent6"/>
                </a:solidFill>
              </a:rPr>
              <a:t>Push parameter onto stack</a:t>
            </a:r>
            <a:endParaRPr lang="en-IN">
              <a:solidFill>
                <a:schemeClr val="accent6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994254" y="2761808"/>
            <a:ext cx="1901130" cy="323944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Call to library proc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8518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5" grpId="0" animBg="1"/>
      <p:bldP spid="46" grpId="0" animBg="1"/>
      <p:bldP spid="4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Steps involved in making a system call </a:t>
            </a:r>
            <a:r>
              <a:rPr lang="en-US" sz="2800"/>
              <a:t>(Read system call)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Steps involved in making a system call</a:t>
            </a:r>
          </a:p>
          <a:p>
            <a:pPr lvl="1"/>
            <a:r>
              <a:rPr lang="en-US"/>
              <a:t>In steps 1-3, the </a:t>
            </a:r>
            <a:r>
              <a:rPr lang="en-US">
                <a:solidFill>
                  <a:schemeClr val="accent6"/>
                </a:solidFill>
              </a:rPr>
              <a:t>calling program pushes the parameters onto the stack</a:t>
            </a:r>
            <a:r>
              <a:rPr lang="en-US"/>
              <a:t>. The first and third parameters are called by value, but the second one is called by its address as denoted by the &amp; symbol.</a:t>
            </a:r>
          </a:p>
          <a:p>
            <a:pPr lvl="1"/>
            <a:r>
              <a:rPr lang="en-US"/>
              <a:t>In step 4, the </a:t>
            </a:r>
            <a:r>
              <a:rPr lang="en-US">
                <a:solidFill>
                  <a:schemeClr val="accent6"/>
                </a:solidFill>
              </a:rPr>
              <a:t>actual call to the library procedure is made</a:t>
            </a:r>
            <a:r>
              <a:rPr lang="en-US"/>
              <a:t>. This instruction is the normal procedure call instruction used to call all procedures.</a:t>
            </a:r>
          </a:p>
          <a:p>
            <a:pPr lvl="1"/>
            <a:r>
              <a:rPr lang="en-US"/>
              <a:t>In step 5, the </a:t>
            </a:r>
            <a:r>
              <a:rPr lang="en-US">
                <a:solidFill>
                  <a:schemeClr val="accent6"/>
                </a:solidFill>
              </a:rPr>
              <a:t>library procedure places the system call number</a:t>
            </a:r>
            <a:r>
              <a:rPr lang="en-US"/>
              <a:t> in a place where the operating system expects it, such as a register.</a:t>
            </a:r>
          </a:p>
          <a:p>
            <a:pPr lvl="1"/>
            <a:r>
              <a:rPr lang="en-US"/>
              <a:t> In step 6, the </a:t>
            </a:r>
            <a:r>
              <a:rPr lang="en-US">
                <a:solidFill>
                  <a:schemeClr val="accent6"/>
                </a:solidFill>
              </a:rPr>
              <a:t>library procedure executes a TRAP instruction </a:t>
            </a:r>
            <a:r>
              <a:rPr lang="en-US"/>
              <a:t>to switch from user mode to kernel mode and start execution at a fixed address within the kernel.</a:t>
            </a:r>
          </a:p>
          <a:p>
            <a:pPr lvl="1"/>
            <a:r>
              <a:rPr lang="en-US"/>
              <a:t>In step 7, the </a:t>
            </a:r>
            <a:r>
              <a:rPr lang="en-US">
                <a:solidFill>
                  <a:schemeClr val="accent6"/>
                </a:solidFill>
              </a:rPr>
              <a:t>kernel examines the system call number and then dispatches</a:t>
            </a:r>
            <a:r>
              <a:rPr lang="en-US"/>
              <a:t> it to the correct system call handler. This correct number is given in the table of system call handlers by pointers referenced at the system call number.</a:t>
            </a:r>
          </a:p>
          <a:p>
            <a:pPr lvl="1"/>
            <a:r>
              <a:rPr lang="en-US"/>
              <a:t>In step 8, the </a:t>
            </a:r>
            <a:r>
              <a:rPr lang="en-US">
                <a:solidFill>
                  <a:schemeClr val="accent6"/>
                </a:solidFill>
              </a:rPr>
              <a:t>system call handler runs</a:t>
            </a:r>
            <a:r>
              <a:rPr lang="en-US"/>
              <a:t>.</a:t>
            </a:r>
          </a:p>
          <a:p>
            <a:pPr lvl="1"/>
            <a:r>
              <a:rPr lang="en-US"/>
              <a:t>In step 9, the </a:t>
            </a:r>
            <a:r>
              <a:rPr lang="en-US">
                <a:solidFill>
                  <a:schemeClr val="accent6"/>
                </a:solidFill>
              </a:rPr>
              <a:t>operation is completed</a:t>
            </a:r>
            <a:r>
              <a:rPr lang="en-US"/>
              <a:t>, and the </a:t>
            </a:r>
            <a:r>
              <a:rPr lang="en-US">
                <a:solidFill>
                  <a:schemeClr val="accent6"/>
                </a:solidFill>
              </a:rPr>
              <a:t>user is given back control</a:t>
            </a:r>
            <a:r>
              <a:rPr lang="en-US"/>
              <a:t> once the TRAP instruction is set.</a:t>
            </a:r>
          </a:p>
          <a:p>
            <a:pPr lvl="1"/>
            <a:r>
              <a:rPr lang="en-US"/>
              <a:t>In step 10, this </a:t>
            </a:r>
            <a:r>
              <a:rPr lang="en-US">
                <a:solidFill>
                  <a:schemeClr val="accent6"/>
                </a:solidFill>
              </a:rPr>
              <a:t>procedure returns to the user program</a:t>
            </a:r>
            <a:r>
              <a:rPr lang="en-US"/>
              <a:t>, like how all normal library procedures do.</a:t>
            </a:r>
          </a:p>
          <a:p>
            <a:pPr lvl="1"/>
            <a:r>
              <a:rPr lang="en-US"/>
              <a:t>In step 11, the </a:t>
            </a:r>
            <a:r>
              <a:rPr lang="en-US">
                <a:solidFill>
                  <a:schemeClr val="accent6"/>
                </a:solidFill>
              </a:rPr>
              <a:t>operating system has to clear the stack</a:t>
            </a:r>
            <a:r>
              <a:rPr lang="en-US"/>
              <a:t>, so it increments it enough so that it is empty.</a:t>
            </a:r>
          </a:p>
        </p:txBody>
      </p:sp>
    </p:spTree>
    <p:extLst>
      <p:ext uri="{BB962C8B-B14F-4D97-AF65-F5344CB8AC3E}">
        <p14:creationId xmlns:p14="http://schemas.microsoft.com/office/powerpoint/2010/main" val="25783713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System calls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052" y="860608"/>
            <a:ext cx="8777047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144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System calls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0784" y="863600"/>
            <a:ext cx="881537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4450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Operating Systems (OS) structure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- 10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21626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Systems (OS)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Monolithic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Layered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Microkernel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Client-server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Virtual machines</a:t>
            </a:r>
          </a:p>
          <a:p>
            <a:pPr marL="1058862" lvl="1" indent="-514350">
              <a:buFont typeface="+mj-lt"/>
              <a:buAutoNum type="romanUcPeriod"/>
            </a:pPr>
            <a:r>
              <a:rPr lang="en-US"/>
              <a:t>VM/370</a:t>
            </a:r>
          </a:p>
          <a:p>
            <a:pPr marL="1058862" lvl="1" indent="-514350">
              <a:buFont typeface="+mj-lt"/>
              <a:buAutoNum type="romanUcPeriod"/>
            </a:pPr>
            <a:r>
              <a:rPr lang="en-US"/>
              <a:t>Virtual machines rediscovered</a:t>
            </a:r>
          </a:p>
          <a:p>
            <a:pPr marL="1058862" lvl="1" indent="-514350">
              <a:buFont typeface="+mj-lt"/>
              <a:buAutoNum type="romanUcPeriod"/>
            </a:pPr>
            <a:r>
              <a:rPr lang="en-US"/>
              <a:t>The java virtual machine</a:t>
            </a:r>
          </a:p>
          <a:p>
            <a:pPr marL="457200" indent="-457200">
              <a:buFont typeface="+mj-lt"/>
              <a:buAutoNum type="arabicPeriod"/>
            </a:pPr>
            <a:r>
              <a:rPr lang="en-US" err="1"/>
              <a:t>Exokernels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57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Monolithic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entire OS </a:t>
            </a:r>
            <a:r>
              <a:rPr lang="en-US" b="1">
                <a:solidFill>
                  <a:schemeClr val="accent6"/>
                </a:solidFill>
              </a:rPr>
              <a:t>runs as a single program in kernel mode</a:t>
            </a:r>
            <a:r>
              <a:rPr lang="en-US"/>
              <a:t>.</a:t>
            </a:r>
          </a:p>
          <a:p>
            <a:r>
              <a:rPr lang="en-US"/>
              <a:t>OS is written as a </a:t>
            </a:r>
            <a:r>
              <a:rPr lang="en-US" b="1">
                <a:solidFill>
                  <a:schemeClr val="accent6"/>
                </a:solidFill>
              </a:rPr>
              <a:t>collection of procedures, linked together into a single large executable binary program</a:t>
            </a:r>
            <a:r>
              <a:rPr lang="en-US"/>
              <a:t>.</a:t>
            </a:r>
          </a:p>
          <a:p>
            <a:r>
              <a:rPr lang="en-US"/>
              <a:t>Each procedure has well defined interface in terms of parameter and results, and each one is free to call any other one.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767686" y="3290047"/>
            <a:ext cx="4025385" cy="2048435"/>
            <a:chOff x="4826753" y="2032714"/>
            <a:chExt cx="7365247" cy="3776379"/>
          </a:xfrm>
        </p:grpSpPr>
        <p:sp>
          <p:nvSpPr>
            <p:cNvPr id="8" name="Oval 7"/>
            <p:cNvSpPr/>
            <p:nvPr/>
          </p:nvSpPr>
          <p:spPr>
            <a:xfrm>
              <a:off x="8897691" y="2032714"/>
              <a:ext cx="1056068" cy="105606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8541912" y="3616816"/>
              <a:ext cx="826395" cy="8263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9483143" y="3616816"/>
              <a:ext cx="826395" cy="8263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0424374" y="3616815"/>
              <a:ext cx="826395" cy="8263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1365605" y="3616814"/>
              <a:ext cx="826395" cy="8263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7600681" y="3616814"/>
              <a:ext cx="826395" cy="8263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659450" y="3616813"/>
              <a:ext cx="826395" cy="8263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7232022" y="4902559"/>
              <a:ext cx="622482" cy="62248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185326" y="4902559"/>
              <a:ext cx="622482" cy="62248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9113675" y="4902559"/>
              <a:ext cx="622482" cy="62248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10063223" y="4902559"/>
              <a:ext cx="622482" cy="62248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10996946" y="4902559"/>
              <a:ext cx="622482" cy="62248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stCxn id="8" idx="2"/>
              <a:endCxn id="14" idx="0"/>
            </p:cNvCxnSpPr>
            <p:nvPr/>
          </p:nvCxnSpPr>
          <p:spPr>
            <a:xfrm flipH="1">
              <a:off x="7072648" y="2560748"/>
              <a:ext cx="1825043" cy="1056065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8" idx="3"/>
              <a:endCxn id="13" idx="0"/>
            </p:cNvCxnSpPr>
            <p:nvPr/>
          </p:nvCxnSpPr>
          <p:spPr>
            <a:xfrm flipH="1">
              <a:off x="8013879" y="2934124"/>
              <a:ext cx="1038470" cy="682690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8" idx="4"/>
              <a:endCxn id="9" idx="0"/>
            </p:cNvCxnSpPr>
            <p:nvPr/>
          </p:nvCxnSpPr>
          <p:spPr>
            <a:xfrm flipH="1">
              <a:off x="8955110" y="3088782"/>
              <a:ext cx="470615" cy="528034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8" idx="4"/>
              <a:endCxn id="10" idx="0"/>
            </p:cNvCxnSpPr>
            <p:nvPr/>
          </p:nvCxnSpPr>
          <p:spPr>
            <a:xfrm>
              <a:off x="9425725" y="3088782"/>
              <a:ext cx="470616" cy="528034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8" idx="5"/>
              <a:endCxn id="11" idx="0"/>
            </p:cNvCxnSpPr>
            <p:nvPr/>
          </p:nvCxnSpPr>
          <p:spPr>
            <a:xfrm>
              <a:off x="9799101" y="2934124"/>
              <a:ext cx="1038471" cy="682691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8" idx="6"/>
              <a:endCxn id="12" idx="0"/>
            </p:cNvCxnSpPr>
            <p:nvPr/>
          </p:nvCxnSpPr>
          <p:spPr>
            <a:xfrm>
              <a:off x="9953759" y="2560748"/>
              <a:ext cx="1825044" cy="1056066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4" idx="4"/>
              <a:endCxn id="15" idx="1"/>
            </p:cNvCxnSpPr>
            <p:nvPr/>
          </p:nvCxnSpPr>
          <p:spPr>
            <a:xfrm>
              <a:off x="7072648" y="4443208"/>
              <a:ext cx="250534" cy="550511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4" idx="5"/>
              <a:endCxn id="16" idx="1"/>
            </p:cNvCxnSpPr>
            <p:nvPr/>
          </p:nvCxnSpPr>
          <p:spPr>
            <a:xfrm>
              <a:off x="7364822" y="4322185"/>
              <a:ext cx="911664" cy="671534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3" idx="3"/>
              <a:endCxn id="15" idx="0"/>
            </p:cNvCxnSpPr>
            <p:nvPr/>
          </p:nvCxnSpPr>
          <p:spPr>
            <a:xfrm flipH="1">
              <a:off x="7543263" y="4322186"/>
              <a:ext cx="178441" cy="580373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3" idx="5"/>
              <a:endCxn id="17" idx="1"/>
            </p:cNvCxnSpPr>
            <p:nvPr/>
          </p:nvCxnSpPr>
          <p:spPr>
            <a:xfrm>
              <a:off x="8306053" y="4322186"/>
              <a:ext cx="898782" cy="671533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0" idx="4"/>
              <a:endCxn id="17" idx="0"/>
            </p:cNvCxnSpPr>
            <p:nvPr/>
          </p:nvCxnSpPr>
          <p:spPr>
            <a:xfrm flipH="1">
              <a:off x="9424916" y="4443211"/>
              <a:ext cx="471425" cy="459348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11" idx="3"/>
              <a:endCxn id="16" idx="7"/>
            </p:cNvCxnSpPr>
            <p:nvPr/>
          </p:nvCxnSpPr>
          <p:spPr>
            <a:xfrm flipH="1">
              <a:off x="8716648" y="4322187"/>
              <a:ext cx="1828749" cy="671532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12" idx="3"/>
              <a:endCxn id="18" idx="7"/>
            </p:cNvCxnSpPr>
            <p:nvPr/>
          </p:nvCxnSpPr>
          <p:spPr>
            <a:xfrm flipH="1">
              <a:off x="10594545" y="4322186"/>
              <a:ext cx="892083" cy="671533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2" idx="4"/>
              <a:endCxn id="19" idx="7"/>
            </p:cNvCxnSpPr>
            <p:nvPr/>
          </p:nvCxnSpPr>
          <p:spPr>
            <a:xfrm flipH="1">
              <a:off x="11528268" y="4443209"/>
              <a:ext cx="250535" cy="550510"/>
            </a:xfrm>
            <a:prstGeom prst="line">
              <a:avLst/>
            </a:prstGeom>
            <a:ln w="3810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151549" y="3320602"/>
              <a:ext cx="6924267" cy="0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151549" y="4718463"/>
              <a:ext cx="6924267" cy="0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4835439" y="2234742"/>
              <a:ext cx="1910683" cy="107805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solidFill>
                    <a:srgbClr val="0070C0"/>
                  </a:solidFill>
                </a:rPr>
                <a:t>Main </a:t>
              </a:r>
            </a:p>
            <a:p>
              <a:pPr algn="ctr"/>
              <a:r>
                <a:rPr lang="en-US" sz="1600">
                  <a:solidFill>
                    <a:srgbClr val="0070C0"/>
                  </a:solidFill>
                </a:rPr>
                <a:t>Procedure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826753" y="3554397"/>
              <a:ext cx="2057333" cy="107805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solidFill>
                    <a:schemeClr val="accent6">
                      <a:lumMod val="75000"/>
                    </a:schemeClr>
                  </a:solidFill>
                </a:rPr>
                <a:t>Service </a:t>
              </a:r>
            </a:p>
            <a:p>
              <a:pPr algn="ctr"/>
              <a:r>
                <a:rPr lang="en-US" sz="1600">
                  <a:solidFill>
                    <a:schemeClr val="accent6">
                      <a:lumMod val="75000"/>
                    </a:schemeClr>
                  </a:solidFill>
                </a:rPr>
                <a:t>Procedures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829547" y="4731035"/>
              <a:ext cx="1910683" cy="107805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solidFill>
                    <a:srgbClr val="7030A0"/>
                  </a:solidFill>
                </a:rPr>
                <a:t>Utility </a:t>
              </a:r>
            </a:p>
            <a:p>
              <a:pPr algn="ctr"/>
              <a:r>
                <a:rPr lang="en-US" sz="1600">
                  <a:solidFill>
                    <a:srgbClr val="7030A0"/>
                  </a:solidFill>
                </a:rPr>
                <a:t>Procedure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578807" y="3414687"/>
            <a:ext cx="7223760" cy="176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"/>
            </a:pPr>
            <a:r>
              <a:rPr lang="en-US" sz="2200">
                <a:solidFill>
                  <a:srgbClr val="0070C0"/>
                </a:solidFill>
              </a:rPr>
              <a:t>A main program that invoke the requested service procedure.</a:t>
            </a:r>
          </a:p>
          <a:p>
            <a:pPr marL="285750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"/>
            </a:pPr>
            <a:r>
              <a:rPr lang="en-US" sz="2200">
                <a:solidFill>
                  <a:schemeClr val="accent6">
                    <a:lumMod val="75000"/>
                  </a:schemeClr>
                </a:solidFill>
              </a:rPr>
              <a:t>A set of service procedures that carry out the system calls.</a:t>
            </a:r>
          </a:p>
          <a:p>
            <a:pPr marL="285750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"/>
            </a:pPr>
            <a:r>
              <a:rPr lang="en-US" sz="2200">
                <a:solidFill>
                  <a:srgbClr val="7030A0"/>
                </a:solidFill>
              </a:rPr>
              <a:t>A set of utility procedures that help the service procedure.</a:t>
            </a:r>
          </a:p>
        </p:txBody>
      </p:sp>
    </p:spTree>
    <p:extLst>
      <p:ext uri="{BB962C8B-B14F-4D97-AF65-F5344CB8AC3E}">
        <p14:creationId xmlns:p14="http://schemas.microsoft.com/office/powerpoint/2010/main" val="6575985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this system, the OS is organized as a </a:t>
            </a:r>
            <a:r>
              <a:rPr lang="en-US" b="1">
                <a:solidFill>
                  <a:schemeClr val="accent6"/>
                </a:solidFill>
              </a:rPr>
              <a:t>hierarchy of layers</a:t>
            </a:r>
            <a:r>
              <a:rPr lang="en-US"/>
              <a:t>.</a:t>
            </a:r>
          </a:p>
          <a:p>
            <a:r>
              <a:rPr lang="en-US"/>
              <a:t>The first system constructed in this way was </a:t>
            </a:r>
            <a:r>
              <a:rPr lang="en-US" b="1">
                <a:solidFill>
                  <a:schemeClr val="accent6"/>
                </a:solidFill>
              </a:rPr>
              <a:t>THE system</a:t>
            </a:r>
            <a:r>
              <a:rPr lang="en-US"/>
              <a:t>.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340434"/>
              </p:ext>
            </p:extLst>
          </p:nvPr>
        </p:nvGraphicFramePr>
        <p:xfrm>
          <a:off x="204057" y="1743707"/>
          <a:ext cx="118872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5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879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3666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Layer</a:t>
                      </a:r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Function</a:t>
                      </a:r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Description</a:t>
                      </a:r>
                      <a:endParaRPr lang="en-I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46076"/>
              </p:ext>
            </p:extLst>
          </p:nvPr>
        </p:nvGraphicFramePr>
        <p:xfrm>
          <a:off x="212439" y="2134249"/>
          <a:ext cx="11878058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644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88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2486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/>
                        <a:t>5</a:t>
                      </a:r>
                      <a:endParaRPr lang="en-IN" sz="20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/>
                        <a:t>Operator</a:t>
                      </a:r>
                      <a:endParaRPr lang="en-IN" sz="20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kern="1200">
                          <a:solidFill>
                            <a:schemeClr val="accent6"/>
                          </a:solidFill>
                        </a:rPr>
                        <a:t>Operator</a:t>
                      </a:r>
                      <a:r>
                        <a:rPr lang="en-US" sz="2000" b="0" kern="120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en-US" sz="2000" b="0" kern="1200"/>
                        <a:t>was located.</a:t>
                      </a:r>
                      <a:endParaRPr lang="en-US" sz="20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602262"/>
              </p:ext>
            </p:extLst>
          </p:nvPr>
        </p:nvGraphicFramePr>
        <p:xfrm>
          <a:off x="211679" y="2531141"/>
          <a:ext cx="11878056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690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88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202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IN" sz="20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/>
                        <a:t>User</a:t>
                      </a:r>
                      <a:r>
                        <a:rPr lang="en-US" sz="2000" b="0" baseline="0"/>
                        <a:t> programs</a:t>
                      </a:r>
                      <a:endParaRPr lang="en-IN" sz="20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en-US" sz="2000" b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000" b="1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programs</a:t>
                      </a:r>
                      <a:r>
                        <a:rPr lang="en-US" sz="2000" b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000" b="0"/>
                        <a:t>were found.</a:t>
                      </a:r>
                      <a:endParaRPr lang="en-US" sz="20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731821"/>
              </p:ext>
            </p:extLst>
          </p:nvPr>
        </p:nvGraphicFramePr>
        <p:xfrm>
          <a:off x="210917" y="2928033"/>
          <a:ext cx="11878056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6977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88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195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N" sz="20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/>
                        <a:t>Input / Output</a:t>
                      </a:r>
                      <a:r>
                        <a:rPr lang="en-US" sz="2000" b="0" baseline="0"/>
                        <a:t> management</a:t>
                      </a:r>
                      <a:endParaRPr lang="en-US" sz="2000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/>
                        <a:t>Takes care of </a:t>
                      </a:r>
                      <a:r>
                        <a:rPr lang="en-US" sz="2000" b="1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managing</a:t>
                      </a:r>
                      <a:r>
                        <a:rPr lang="en-US" sz="2000" b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000" b="1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lang="en-US" sz="2000" b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000" b="1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I/O</a:t>
                      </a:r>
                      <a:r>
                        <a:rPr lang="en-US" sz="2000" b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000" b="1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devices</a:t>
                      </a:r>
                      <a:r>
                        <a:rPr lang="en-US" sz="2000" b="0"/>
                        <a:t>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/>
                        <a:t>Buffering the information.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297057"/>
              </p:ext>
            </p:extLst>
          </p:nvPr>
        </p:nvGraphicFramePr>
        <p:xfrm>
          <a:off x="210155" y="3629725"/>
          <a:ext cx="11878056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742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88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15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N" sz="20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/>
                        <a:t>Operator-process</a:t>
                      </a:r>
                      <a:r>
                        <a:rPr lang="en-US" sz="2000" b="0" baseline="0"/>
                        <a:t> communication</a:t>
                      </a:r>
                      <a:endParaRPr lang="en-US" sz="2000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Handles</a:t>
                      </a:r>
                      <a:r>
                        <a:rPr lang="en-US" sz="2000" b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000" b="1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communication</a:t>
                      </a:r>
                      <a:r>
                        <a:rPr lang="en-US" sz="2000" b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000" b="0"/>
                        <a:t>between each process and the operator console (i.e. user).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590891"/>
              </p:ext>
            </p:extLst>
          </p:nvPr>
        </p:nvGraphicFramePr>
        <p:xfrm>
          <a:off x="209393" y="4331417"/>
          <a:ext cx="11878056" cy="1005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759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88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133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N" sz="20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/>
                        <a:t>Memory and drum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/>
                        <a:t>Did the </a:t>
                      </a:r>
                      <a:r>
                        <a:rPr lang="en-US" sz="2000" b="1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memory</a:t>
                      </a:r>
                      <a:r>
                        <a:rPr lang="en-US" sz="2000" b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000" b="1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management</a:t>
                      </a:r>
                      <a:r>
                        <a:rPr lang="en-US" sz="2000" b="0"/>
                        <a:t>. </a:t>
                      </a:r>
                    </a:p>
                    <a:p>
                      <a:pPr algn="just"/>
                      <a:r>
                        <a:rPr lang="en-US" sz="2000" b="0"/>
                        <a:t>Allocated space for process in main memory and on a 512K word drum used for holding parts of processes for which there was no room in memory. </a:t>
                      </a:r>
                      <a:endParaRPr lang="en-IN" sz="2000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735168"/>
              </p:ext>
            </p:extLst>
          </p:nvPr>
        </p:nvGraphicFramePr>
        <p:xfrm>
          <a:off x="208629" y="5337909"/>
          <a:ext cx="11878056" cy="1005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759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88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133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N" sz="20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/>
                        <a:t>Processor allocation and multi-programming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/>
                        <a:t>Provided the </a:t>
                      </a:r>
                      <a:r>
                        <a:rPr lang="en-US" sz="2000" b="1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basic</a:t>
                      </a:r>
                      <a:r>
                        <a:rPr lang="en-US" sz="2000" b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000" b="1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multiprogramming</a:t>
                      </a:r>
                      <a:r>
                        <a:rPr lang="en-US" sz="2000" b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000" b="0"/>
                        <a:t>of the CPU.</a:t>
                      </a:r>
                      <a:r>
                        <a:rPr lang="en-US" sz="2000" b="0" baseline="0"/>
                        <a:t> </a:t>
                      </a:r>
                    </a:p>
                    <a:p>
                      <a:pPr algn="just"/>
                      <a:r>
                        <a:rPr lang="en-US" sz="2000" b="0"/>
                        <a:t>Dealt with allocation of the processor, switching between processes when interrupts occurred or timers expired.</a:t>
                      </a:r>
                      <a:endParaRPr lang="en-IN" sz="2000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673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layered approach, the </a:t>
            </a:r>
            <a:r>
              <a:rPr lang="en-US" b="1">
                <a:solidFill>
                  <a:schemeClr val="accent6"/>
                </a:solidFill>
              </a:rPr>
              <a:t>designer have choice where to draw the kernel and user mode boundary</a:t>
            </a:r>
            <a:r>
              <a:rPr lang="en-US"/>
              <a:t>.</a:t>
            </a:r>
          </a:p>
          <a:p>
            <a:r>
              <a:rPr lang="en-US"/>
              <a:t>It is </a:t>
            </a:r>
            <a:r>
              <a:rPr lang="en-US" b="1">
                <a:solidFill>
                  <a:schemeClr val="accent6"/>
                </a:solidFill>
              </a:rPr>
              <a:t>better to put as little as possible in kernel mode</a:t>
            </a:r>
            <a:r>
              <a:rPr lang="en-US"/>
              <a:t> because bugs in the kernel can bring down the system instantly.</a:t>
            </a:r>
          </a:p>
          <a:p>
            <a:r>
              <a:rPr lang="en-US"/>
              <a:t>The microkernel design provides </a:t>
            </a:r>
            <a:r>
              <a:rPr lang="en-US" b="1">
                <a:solidFill>
                  <a:schemeClr val="accent6"/>
                </a:solidFill>
              </a:rPr>
              <a:t>high reliability by splitting OS up into small well defined modules, only one module run in kernel and rest of all run in user mode</a:t>
            </a:r>
            <a:r>
              <a:rPr lang="en-US"/>
              <a:t>.</a:t>
            </a:r>
          </a:p>
          <a:p>
            <a:r>
              <a:rPr lang="en-US"/>
              <a:t>As each device driver runs as a user process, a bug in audio driver will cause the sound to be stop, but not crash the computer.</a:t>
            </a:r>
          </a:p>
          <a:p>
            <a:r>
              <a:rPr lang="en-US"/>
              <a:t>Examples: Integrity, K42, QNX, Symbian and MINIX 3.</a:t>
            </a:r>
          </a:p>
          <a:p>
            <a:r>
              <a:rPr lang="en-US"/>
              <a:t>Kernel contains only</a:t>
            </a:r>
          </a:p>
          <a:p>
            <a:pPr lvl="1"/>
            <a:r>
              <a:rPr lang="en-US"/>
              <a:t>Sys (Kernel call handler)</a:t>
            </a:r>
          </a:p>
          <a:p>
            <a:pPr lvl="1"/>
            <a:r>
              <a:rPr lang="en-US"/>
              <a:t>Clock (because scheduler interact with it)</a:t>
            </a:r>
          </a:p>
        </p:txBody>
      </p:sp>
      <p:pic>
        <p:nvPicPr>
          <p:cNvPr id="4" name="Content Placeholder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544" y="4303654"/>
            <a:ext cx="5636455" cy="230259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708356" y="6056183"/>
            <a:ext cx="1493044" cy="520830"/>
          </a:xfrm>
          <a:prstGeom prst="roundRect">
            <a:avLst>
              <a:gd name="adj" fmla="val 6679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605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Client-Server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Processes are divided into two categories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Servers</a:t>
            </a:r>
            <a:r>
              <a:rPr lang="en-US">
                <a:solidFill>
                  <a:schemeClr val="accent6"/>
                </a:solidFill>
              </a:rPr>
              <a:t>: provide services 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Clients</a:t>
            </a:r>
            <a:r>
              <a:rPr lang="en-US">
                <a:solidFill>
                  <a:schemeClr val="accent6"/>
                </a:solidFill>
              </a:rPr>
              <a:t>: uses services</a:t>
            </a:r>
          </a:p>
          <a:p>
            <a:r>
              <a:rPr lang="en-US"/>
              <a:t>Client and server </a:t>
            </a:r>
            <a:r>
              <a:rPr lang="en-US" b="1">
                <a:solidFill>
                  <a:schemeClr val="accent6"/>
                </a:solidFill>
              </a:rPr>
              <a:t>run on different computers, connected by LAN or WAN and communicate via message passing</a:t>
            </a:r>
            <a:r>
              <a:rPr lang="en-US"/>
              <a:t>.</a:t>
            </a:r>
          </a:p>
          <a:p>
            <a:r>
              <a:rPr lang="en-US"/>
              <a:t>To obtain a service, </a:t>
            </a:r>
            <a:r>
              <a:rPr lang="en-US" b="1">
                <a:solidFill>
                  <a:schemeClr val="accent6"/>
                </a:solidFill>
              </a:rPr>
              <a:t>a client construct a message </a:t>
            </a:r>
            <a:r>
              <a:rPr lang="en-US"/>
              <a:t>saying </a:t>
            </a:r>
            <a:r>
              <a:rPr lang="en-US" b="1">
                <a:solidFill>
                  <a:schemeClr val="accent6"/>
                </a:solidFill>
              </a:rPr>
              <a:t>what it wants and send it to server</a:t>
            </a:r>
            <a:r>
              <a:rPr lang="en-US"/>
              <a:t>.</a:t>
            </a:r>
          </a:p>
          <a:p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server then does the work and send back the answer</a:t>
            </a:r>
            <a:r>
              <a:rPr lang="en-US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40" y="3658727"/>
            <a:ext cx="9672078" cy="224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62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virtual machine (VM) is a </a:t>
            </a:r>
            <a:r>
              <a:rPr lang="en-US" b="1">
                <a:solidFill>
                  <a:schemeClr val="accent6"/>
                </a:solidFill>
              </a:rPr>
              <a:t>virtual environment that functions as a virtual computer system with its own CPU, memory, network interface, and storage, created on a physical hardware system</a:t>
            </a:r>
            <a:r>
              <a:rPr lang="en-US"/>
              <a:t>.</a:t>
            </a:r>
          </a:p>
          <a:p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initial releases of OS/360 were strictly batch systems</a:t>
            </a:r>
            <a:r>
              <a:rPr lang="en-US"/>
              <a:t>. </a:t>
            </a:r>
          </a:p>
          <a:p>
            <a:r>
              <a:rPr lang="en-US"/>
              <a:t>But </a:t>
            </a:r>
            <a:r>
              <a:rPr lang="en-US" b="1">
                <a:solidFill>
                  <a:schemeClr val="accent6"/>
                </a:solidFill>
              </a:rPr>
              <a:t>many users wanted to be able to work interactively </a:t>
            </a:r>
            <a:r>
              <a:rPr lang="en-US"/>
              <a:t>at a terminal, so OS designers decided to write timesharing systems for it.</a:t>
            </a:r>
          </a:p>
          <a:p>
            <a:r>
              <a:rPr lang="en-US"/>
              <a:t>Types of Virtual machines are:</a:t>
            </a:r>
          </a:p>
          <a:p>
            <a:pPr lvl="1"/>
            <a:r>
              <a:rPr lang="en-US"/>
              <a:t>VM/370</a:t>
            </a:r>
          </a:p>
          <a:p>
            <a:pPr lvl="1"/>
            <a:r>
              <a:rPr lang="en-US"/>
              <a:t>Virtual Machines Rediscovered</a:t>
            </a:r>
          </a:p>
          <a:p>
            <a:pPr lvl="1"/>
            <a:r>
              <a:rPr lang="en-US"/>
              <a:t>The Java Virtual Machine</a:t>
            </a:r>
          </a:p>
        </p:txBody>
      </p:sp>
    </p:spTree>
    <p:extLst>
      <p:ext uri="{BB962C8B-B14F-4D97-AF65-F5344CB8AC3E}">
        <p14:creationId xmlns:p14="http://schemas.microsoft.com/office/powerpoint/2010/main" val="15702013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VM/370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Virtual machine monitor </a:t>
            </a:r>
            <a:r>
              <a:rPr lang="en-US" b="1">
                <a:solidFill>
                  <a:schemeClr val="accent6"/>
                </a:solidFill>
              </a:rPr>
              <a:t>run on the bare hardware and does the multiprogramming</a:t>
            </a:r>
            <a:r>
              <a:rPr lang="en-US"/>
              <a:t>.</a:t>
            </a:r>
          </a:p>
          <a:p>
            <a:r>
              <a:rPr lang="en-US"/>
              <a:t>Each virtual machine is </a:t>
            </a:r>
            <a:r>
              <a:rPr lang="en-US" b="1">
                <a:solidFill>
                  <a:schemeClr val="accent6"/>
                </a:solidFill>
              </a:rPr>
              <a:t>identical to the true hardware</a:t>
            </a:r>
            <a:r>
              <a:rPr lang="en-US"/>
              <a:t>; each one can run any OS (may be different) that will run directly on the bare hardware.</a:t>
            </a:r>
          </a:p>
          <a:p>
            <a:r>
              <a:rPr lang="en-US"/>
              <a:t>On VM/370, some run OS/360 while the others run single user interactive system called CMS (Conversational Monitor System) for interactive time sharing users.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128" y="1009650"/>
            <a:ext cx="7883744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774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VM/370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When CMS program executed a system call, a call was trapped to the operating system in its own virtual machine, not on VM/370.</a:t>
            </a:r>
          </a:p>
          <a:p>
            <a:r>
              <a:rPr lang="en-US"/>
              <a:t>CMS then issued the normal hardware I/O instruction for reading its virtual disk or whatever was needed to carry out the call.</a:t>
            </a:r>
          </a:p>
          <a:p>
            <a:r>
              <a:rPr lang="en-US"/>
              <a:t>These I/O instructions were trapped by VM/370 which then performs them.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128" y="1009650"/>
            <a:ext cx="7883744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7316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Machines Rediscovered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Companies can </a:t>
            </a:r>
            <a:r>
              <a:rPr lang="en-US" b="1">
                <a:solidFill>
                  <a:schemeClr val="accent6"/>
                </a:solidFill>
              </a:rPr>
              <a:t>run their mail servers, web servers, FTP servers and other servers on the same machine without having a crash of one server bring down the rest</a:t>
            </a:r>
            <a:r>
              <a:rPr lang="en-US"/>
              <a:t>.</a:t>
            </a:r>
          </a:p>
          <a:p>
            <a:r>
              <a:rPr lang="en-US" b="1">
                <a:solidFill>
                  <a:schemeClr val="accent6"/>
                </a:solidFill>
              </a:rPr>
              <a:t>Web hosting company offers virtual machines for rent</a:t>
            </a:r>
            <a:r>
              <a:rPr lang="en-US"/>
              <a:t>, where a single physical machine can run many virtual machines; each one appears to be a complete machine.</a:t>
            </a:r>
          </a:p>
          <a:p>
            <a:r>
              <a:rPr lang="en-US"/>
              <a:t>Customers who rent a virtual machine can run any OS or software.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13" y="981174"/>
            <a:ext cx="8486775" cy="244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0974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Machines Rediscovered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Another use of virtualization is for </a:t>
            </a:r>
            <a:r>
              <a:rPr lang="en-US" b="1">
                <a:solidFill>
                  <a:schemeClr val="accent6"/>
                </a:solidFill>
              </a:rPr>
              <a:t>end users who want to be able to run two or more operating systems at the same time, say Windows and Linux</a:t>
            </a:r>
            <a:r>
              <a:rPr lang="en-US"/>
              <a:t>.</a:t>
            </a:r>
          </a:p>
          <a:p>
            <a:r>
              <a:rPr lang="en-US"/>
              <a:t>Type 1 hypervisors </a:t>
            </a:r>
            <a:r>
              <a:rPr lang="en-US" b="1">
                <a:solidFill>
                  <a:schemeClr val="accent6"/>
                </a:solidFill>
              </a:rPr>
              <a:t>runs on the bare hardware</a:t>
            </a:r>
            <a:r>
              <a:rPr lang="en-US"/>
              <a:t>. </a:t>
            </a:r>
          </a:p>
          <a:p>
            <a:r>
              <a:rPr lang="en-US"/>
              <a:t>Type 2 hypervisors </a:t>
            </a:r>
            <a:r>
              <a:rPr lang="en-US" b="1">
                <a:solidFill>
                  <a:schemeClr val="accent6"/>
                </a:solidFill>
              </a:rPr>
              <a:t>run as application programs on top of Windows, Linux, or some other operating system</a:t>
            </a:r>
            <a:r>
              <a:rPr lang="en-US"/>
              <a:t>, </a:t>
            </a:r>
            <a:r>
              <a:rPr lang="en-US" b="1">
                <a:solidFill>
                  <a:schemeClr val="accent6"/>
                </a:solidFill>
              </a:rPr>
              <a:t>known as the host operating system</a:t>
            </a:r>
            <a:r>
              <a:rPr lang="en-US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13" y="981174"/>
            <a:ext cx="8486775" cy="244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7457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 Virtual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493301" cy="5590565"/>
          </a:xfrm>
        </p:spPr>
        <p:txBody>
          <a:bodyPr/>
          <a:lstStyle/>
          <a:p>
            <a:r>
              <a:rPr lang="en-US"/>
              <a:t>When Sun Microsystems invented the Java programming language, it also invented a virtual machine called the JVM (Java Virtual Machine).</a:t>
            </a:r>
          </a:p>
          <a:p>
            <a:r>
              <a:rPr lang="en-US"/>
              <a:t>The Java compiler produces code for JVM, which then typically is executed by a software JVM interpreter.</a:t>
            </a:r>
          </a:p>
          <a:p>
            <a:r>
              <a:rPr lang="en-US"/>
              <a:t>The advantage is that the JVM code can be shipped over the internet to any computer that has a JVM interpreter and run there.</a:t>
            </a:r>
          </a:p>
        </p:txBody>
      </p:sp>
      <p:pic>
        <p:nvPicPr>
          <p:cNvPr id="6" name="Content Placeholder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507" y="1819836"/>
            <a:ext cx="4342876" cy="24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046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Exokernels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Rather than cloning (copying) the actual machine, </a:t>
            </a:r>
            <a:r>
              <a:rPr lang="en-US" b="1">
                <a:solidFill>
                  <a:schemeClr val="accent6"/>
                </a:solidFill>
              </a:rPr>
              <a:t>another strategy is partitioning it </a:t>
            </a:r>
            <a:r>
              <a:rPr lang="en-US"/>
              <a:t>(giving each user a subset of the resource).</a:t>
            </a:r>
          </a:p>
          <a:p>
            <a:r>
              <a:rPr lang="en-US"/>
              <a:t>For example one virtual machine might get disk blocks 0 to 1023, the next one might get block 1024 to 2047, and so on.</a:t>
            </a:r>
          </a:p>
          <a:p>
            <a:r>
              <a:rPr lang="en-US" b="1">
                <a:solidFill>
                  <a:schemeClr val="accent6"/>
                </a:solidFill>
              </a:rPr>
              <a:t>Program running at the bottom layer (kernel mode) is called the exokernel</a:t>
            </a:r>
            <a:r>
              <a:rPr lang="en-US"/>
              <a:t>. </a:t>
            </a:r>
          </a:p>
          <a:p>
            <a:r>
              <a:rPr lang="en-US"/>
              <a:t>Its job is to </a:t>
            </a:r>
            <a:r>
              <a:rPr lang="en-US" b="1">
                <a:solidFill>
                  <a:schemeClr val="accent6"/>
                </a:solidFill>
              </a:rPr>
              <a:t>allocate resources to virtual machines and then continuously check to make sure no machine is trying to use somebody else’s resources</a:t>
            </a:r>
            <a:r>
              <a:rPr lang="en-US"/>
              <a:t>.</a:t>
            </a:r>
          </a:p>
          <a:p>
            <a:r>
              <a:rPr lang="en-US"/>
              <a:t>The advantage of the exokernel scheme is that it </a:t>
            </a:r>
            <a:r>
              <a:rPr lang="en-US" b="1">
                <a:solidFill>
                  <a:schemeClr val="accent6"/>
                </a:solidFill>
              </a:rPr>
              <a:t>saves a layer of mapping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93790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Multiprogramming v/s Multiprocessing v/s Multitasking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- 11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6275"/>
      </p:ext>
    </p:extLst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Multiprogramming v/s Multiprocessing v/s Multitasking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4623" y="863444"/>
            <a:ext cx="11929641" cy="5590565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2" descr="https://static.thenounproject.com/png/12565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341" y="3784918"/>
            <a:ext cx="2539682" cy="253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static.thenounproject.com/png/12565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1125" y="3784918"/>
            <a:ext cx="2539682" cy="253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s://static.thenounproject.com/png/12565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87379" y="3784918"/>
            <a:ext cx="2539682" cy="253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https://previews.123rf.com/images/parkheta/parkheta1604/parkheta160400014/54878454-cpu-processor-icon-on-the-white-background-vector-illustr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19445" r="18073" b="19445"/>
          <a:stretch>
            <a:fillRect/>
          </a:stretch>
        </p:blipFill>
        <p:spPr bwMode="auto">
          <a:xfrm>
            <a:off x="1293617" y="4140359"/>
            <a:ext cx="955964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https://previews.123rf.com/images/parkheta/parkheta1604/parkheta160400014/54878454-cpu-processor-icon-on-the-white-background-vector-illustr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19445" r="18073" b="19445"/>
          <a:stretch>
            <a:fillRect/>
          </a:stretch>
        </p:blipFill>
        <p:spPr bwMode="auto">
          <a:xfrm>
            <a:off x="3870303" y="4140359"/>
            <a:ext cx="955964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https://previews.123rf.com/images/parkheta/parkheta1604/parkheta160400014/54878454-cpu-processor-icon-on-the-white-background-vector-illustr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19445" r="18073" b="19445"/>
          <a:stretch>
            <a:fillRect/>
          </a:stretch>
        </p:blipFill>
        <p:spPr bwMode="auto">
          <a:xfrm>
            <a:off x="4897461" y="4140359"/>
            <a:ext cx="955964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https://previews.123rf.com/images/parkheta/parkheta1604/parkheta160400014/54878454-cpu-processor-icon-on-the-white-background-vector-illustr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19445" r="18073" b="19445"/>
          <a:stretch>
            <a:fillRect/>
          </a:stretch>
        </p:blipFill>
        <p:spPr bwMode="auto">
          <a:xfrm>
            <a:off x="7476857" y="4140359"/>
            <a:ext cx="955964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84341" y="1098868"/>
            <a:ext cx="2539682" cy="253968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Multiprogramming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1125" y="1098868"/>
            <a:ext cx="2539682" cy="253968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Multiprocessing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87379" y="1098868"/>
            <a:ext cx="2539682" cy="253968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Multitasking</a:t>
            </a:r>
          </a:p>
        </p:txBody>
      </p:sp>
      <p:pic>
        <p:nvPicPr>
          <p:cNvPr id="16" name="Picture 10" descr="Multiprogramm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687" y="1473845"/>
            <a:ext cx="2377440" cy="1655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Multiprocessi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7402" y="1473845"/>
            <a:ext cx="2333269" cy="13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5" t="6027" r="1292"/>
          <a:stretch>
            <a:fillRect/>
          </a:stretch>
        </p:blipFill>
        <p:spPr>
          <a:xfrm>
            <a:off x="6771040" y="1473845"/>
            <a:ext cx="2377440" cy="2107555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 flipH="1">
            <a:off x="3302574" y="928437"/>
            <a:ext cx="0" cy="55626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6404093" y="928437"/>
            <a:ext cx="0" cy="55626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7672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Multiprogramming v/s Multiprocessing v/s Multitasking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</p:txBody>
      </p:sp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0148093"/>
              </p:ext>
            </p:extLst>
          </p:nvPr>
        </p:nvGraphicFramePr>
        <p:xfrm>
          <a:off x="555320" y="871381"/>
          <a:ext cx="11040480" cy="63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Multiprogramming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Multiprocessing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Multitasking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9515610"/>
              </p:ext>
            </p:extLst>
          </p:nvPr>
        </p:nvGraphicFramePr>
        <p:xfrm>
          <a:off x="555320" y="1498426"/>
          <a:ext cx="11040480" cy="1920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concurrent residency of more than one program in the main memory 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called as multiprogramming.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availability of more than one processor per system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which can execute several set of instructions in parallel is called as multiprocessing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execution of more than one task simultaneously 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called as multitasking.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6994055"/>
              </p:ext>
            </p:extLst>
          </p:nvPr>
        </p:nvGraphicFramePr>
        <p:xfrm>
          <a:off x="555320" y="3415711"/>
          <a:ext cx="1104048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GB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Number of processor: one</a:t>
                      </a:r>
                      <a:endParaRPr lang="en-US" sz="2400" b="0" kern="120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Number of processor: more than one</a:t>
                      </a:r>
                      <a:endParaRPr lang="en-GB" sz="2400" b="0" kern="120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Number of processor: one</a:t>
                      </a:r>
                      <a:endParaRPr lang="en-US" sz="2400" b="0" kern="120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178363"/>
              </p:ext>
            </p:extLst>
          </p:nvPr>
        </p:nvGraphicFramePr>
        <p:xfrm>
          <a:off x="555320" y="4235715"/>
          <a:ext cx="1104048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One process is executed at a time.</a:t>
                      </a:r>
                      <a:endParaRPr lang="en-GB" sz="2400" b="0" kern="120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More than one process can be executed at a time.</a:t>
                      </a:r>
                      <a:endParaRPr lang="en-GB" sz="2400" b="0" kern="120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One by one job is being executed at a time.</a:t>
                      </a:r>
                      <a:endParaRPr lang="en-GB" sz="2400" b="0" kern="120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647114" y="5162841"/>
            <a:ext cx="8923488" cy="1371600"/>
          </a:xfrm>
          <a:prstGeom prst="roundRect">
            <a:avLst>
              <a:gd name="adj" fmla="val 7735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6"/>
                </a:solidFill>
              </a:rPr>
              <a:t>Multitasking is a logical extension of multi programming</a:t>
            </a:r>
            <a:r>
              <a:rPr lang="en-US" sz="2000">
                <a:solidFill>
                  <a:schemeClr val="tx1"/>
                </a:solidFill>
              </a:rPr>
              <a:t>. The major way in which multitasking differs from multi programming is that </a:t>
            </a:r>
            <a:r>
              <a:rPr lang="en-US" sz="2000" b="1">
                <a:solidFill>
                  <a:schemeClr val="accent6"/>
                </a:solidFill>
              </a:rPr>
              <a:t>multi programming works solely on the concept of context switching whereas multitasking is based on time sharing alongside the concept of context switching</a:t>
            </a:r>
            <a:r>
              <a:rPr lang="en-US" sz="200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49428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Time Sharing Operating System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- 12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81828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Sharing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8253165" cy="5590565"/>
          </a:xfrm>
        </p:spPr>
        <p:txBody>
          <a:bodyPr/>
          <a:lstStyle/>
          <a:p>
            <a:r>
              <a:rPr lang="en-US"/>
              <a:t>A time sharing operating system </a:t>
            </a:r>
            <a:r>
              <a:rPr lang="en-US" b="1">
                <a:solidFill>
                  <a:schemeClr val="accent6"/>
                </a:solidFill>
              </a:rPr>
              <a:t>allows many users to share the computer resources simultaneously</a:t>
            </a:r>
            <a:r>
              <a:rPr lang="en-US"/>
              <a:t>. </a:t>
            </a:r>
          </a:p>
          <a:p>
            <a:r>
              <a:rPr lang="en-US"/>
              <a:t>In other words, time sharing refers to the </a:t>
            </a:r>
            <a:r>
              <a:rPr lang="en-US" b="1">
                <a:solidFill>
                  <a:schemeClr val="accent6"/>
                </a:solidFill>
              </a:rPr>
              <a:t>allocation of computer resources in time slots to several programs simultaneously</a:t>
            </a:r>
            <a:r>
              <a:rPr lang="en-US"/>
              <a:t>. </a:t>
            </a:r>
          </a:p>
          <a:p>
            <a:r>
              <a:rPr lang="en-US"/>
              <a:t>For example a </a:t>
            </a:r>
            <a:r>
              <a:rPr lang="en-US" b="1">
                <a:solidFill>
                  <a:schemeClr val="accent6"/>
                </a:solidFill>
              </a:rPr>
              <a:t>mainframe computer that has many users logged on to it</a:t>
            </a:r>
            <a:r>
              <a:rPr lang="en-US"/>
              <a:t>. </a:t>
            </a:r>
          </a:p>
          <a:p>
            <a:r>
              <a:rPr lang="en-US"/>
              <a:t>Each user uses the resources of the mainframe i.e. memory, CPU etc. </a:t>
            </a:r>
          </a:p>
        </p:txBody>
      </p:sp>
      <p:pic>
        <p:nvPicPr>
          <p:cNvPr id="5" name="Picture 4" descr="https://previews.123rf.com/images/parkheta/parkheta1604/parkheta160400014/54878454-cpu-processor-icon-on-the-white-background-vector-illustr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19445" r="18073" b="19445"/>
          <a:stretch>
            <a:fillRect/>
          </a:stretch>
        </p:blipFill>
        <p:spPr bwMode="auto">
          <a:xfrm>
            <a:off x="10134589" y="1999115"/>
            <a:ext cx="955964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img.icons8.com/plasticine/2x/us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5" t="12000" r="21955" b="16000"/>
          <a:stretch>
            <a:fillRect/>
          </a:stretch>
        </p:blipFill>
        <p:spPr bwMode="auto">
          <a:xfrm>
            <a:off x="11083625" y="863444"/>
            <a:ext cx="684000" cy="8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img.icons8.com/plasticine/2x/us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5" t="12000" r="21955" b="16000"/>
          <a:stretch>
            <a:fillRect/>
          </a:stretch>
        </p:blipFill>
        <p:spPr bwMode="auto">
          <a:xfrm>
            <a:off x="9443661" y="863444"/>
            <a:ext cx="684000" cy="8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img.icons8.com/plasticine/2x/us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5" t="12000" r="21955" b="16000"/>
          <a:stretch>
            <a:fillRect/>
          </a:stretch>
        </p:blipFill>
        <p:spPr bwMode="auto">
          <a:xfrm>
            <a:off x="11083625" y="3254369"/>
            <a:ext cx="684000" cy="8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mg.icons8.com/plasticine/2x/us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5" t="12000" r="21955" b="16000"/>
          <a:stretch>
            <a:fillRect/>
          </a:stretch>
        </p:blipFill>
        <p:spPr bwMode="auto">
          <a:xfrm>
            <a:off x="9443661" y="3254369"/>
            <a:ext cx="684000" cy="8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/>
          <p:cNvCxnSpPr/>
          <p:nvPr/>
        </p:nvCxnSpPr>
        <p:spPr>
          <a:xfrm flipV="1">
            <a:off x="11083625" y="1742869"/>
            <a:ext cx="348096" cy="256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9785662" y="1742871"/>
            <a:ext cx="356686" cy="256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9" idx="0"/>
          </p:cNvCxnSpPr>
          <p:nvPr/>
        </p:nvCxnSpPr>
        <p:spPr>
          <a:xfrm flipV="1">
            <a:off x="9785661" y="2913515"/>
            <a:ext cx="372238" cy="340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8" idx="0"/>
          </p:cNvCxnSpPr>
          <p:nvPr/>
        </p:nvCxnSpPr>
        <p:spPr>
          <a:xfrm flipH="1" flipV="1">
            <a:off x="11090553" y="2913515"/>
            <a:ext cx="335072" cy="340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https://upload.wikimedia.org/wikipedia/commons/thumb/9/91/CpuTimeonSingleCpuMultiTaskingSystem.svg/450px-CpuTimeonSingleCpuMultiTaskingSystem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26492" y="4331743"/>
            <a:ext cx="2606980" cy="1428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6716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Parallel Processing Operating System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- 13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8348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Processing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8253165" cy="5590565"/>
          </a:xfrm>
        </p:spPr>
        <p:txBody>
          <a:bodyPr/>
          <a:lstStyle/>
          <a:p>
            <a:r>
              <a:rPr lang="en-US"/>
              <a:t>Parallel Processing Operating Systems are </a:t>
            </a:r>
            <a:r>
              <a:rPr lang="en-US" b="1">
                <a:solidFill>
                  <a:schemeClr val="accent6"/>
                </a:solidFill>
              </a:rPr>
              <a:t>designed to speed up the execution of programs by dividing the program into multiple fragments and processing these fragments simultaneously</a:t>
            </a:r>
            <a:r>
              <a:rPr lang="en-US"/>
              <a:t>. </a:t>
            </a:r>
          </a:p>
          <a:p>
            <a:r>
              <a:rPr lang="en-US"/>
              <a:t>Such systems are multiprocessor systems. </a:t>
            </a:r>
          </a:p>
          <a:p>
            <a:r>
              <a:rPr lang="en-US"/>
              <a:t>Parallel systems deal with the </a:t>
            </a:r>
            <a:r>
              <a:rPr lang="en-US" b="1">
                <a:solidFill>
                  <a:schemeClr val="accent6"/>
                </a:solidFill>
              </a:rPr>
              <a:t>simultaneous use of multiple computer resources that can include a single computer with multiple processors</a:t>
            </a:r>
            <a:r>
              <a:rPr lang="en-US"/>
              <a:t>.</a:t>
            </a:r>
          </a:p>
        </p:txBody>
      </p:sp>
      <p:pic>
        <p:nvPicPr>
          <p:cNvPr id="15" name="Picture 2" descr="https://static.thenounproject.com/png/12565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75580" y="3119916"/>
            <a:ext cx="2539682" cy="253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9375580" y="863444"/>
            <a:ext cx="2539682" cy="2025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Multiprocessing</a:t>
            </a:r>
          </a:p>
        </p:txBody>
      </p:sp>
      <p:pic>
        <p:nvPicPr>
          <p:cNvPr id="17" name="Picture 12" descr="Multiprocess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786" y="1380607"/>
            <a:ext cx="2333269" cy="13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https://previews.123rf.com/images/parkheta/parkheta1604/parkheta160400014/54878454-cpu-processor-icon-on-the-white-background-vector-illustratio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19445" r="18073" b="19445"/>
          <a:stretch>
            <a:fillRect/>
          </a:stretch>
        </p:blipFill>
        <p:spPr bwMode="auto">
          <a:xfrm>
            <a:off x="9666425" y="3456811"/>
            <a:ext cx="955964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https://previews.123rf.com/images/parkheta/parkheta1604/parkheta160400014/54878454-cpu-processor-icon-on-the-white-background-vector-illustratio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19445" r="18073" b="19445"/>
          <a:stretch>
            <a:fillRect/>
          </a:stretch>
        </p:blipFill>
        <p:spPr bwMode="auto">
          <a:xfrm>
            <a:off x="10693587" y="3456811"/>
            <a:ext cx="955964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489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Distributed Operating System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- 14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0391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8253165" cy="5590565"/>
          </a:xfrm>
        </p:spPr>
        <p:txBody>
          <a:bodyPr/>
          <a:lstStyle/>
          <a:p>
            <a:r>
              <a:rPr lang="en-US"/>
              <a:t>Distributed Operating System is a </a:t>
            </a:r>
            <a:r>
              <a:rPr lang="en-US" b="1">
                <a:solidFill>
                  <a:schemeClr val="accent6"/>
                </a:solidFill>
              </a:rPr>
              <a:t>model where distributed applications are running on multiple computers linked by communications</a:t>
            </a:r>
            <a:r>
              <a:rPr lang="en-US"/>
              <a:t>. </a:t>
            </a:r>
          </a:p>
          <a:p>
            <a:r>
              <a:rPr lang="en-US"/>
              <a:t>A distributed operating system is an </a:t>
            </a:r>
            <a:r>
              <a:rPr lang="en-US" b="1">
                <a:solidFill>
                  <a:schemeClr val="accent6"/>
                </a:solidFill>
              </a:rPr>
              <a:t>extension of the network operating system</a:t>
            </a:r>
            <a:r>
              <a:rPr lang="en-US"/>
              <a:t> that </a:t>
            </a:r>
            <a:r>
              <a:rPr lang="en-US" b="1">
                <a:solidFill>
                  <a:schemeClr val="accent6"/>
                </a:solidFill>
              </a:rPr>
              <a:t>supports higher levels of communication and integration of the machines on the network</a:t>
            </a:r>
            <a:r>
              <a:rPr lang="en-US"/>
              <a:t>.</a:t>
            </a:r>
          </a:p>
        </p:txBody>
      </p:sp>
      <p:pic>
        <p:nvPicPr>
          <p:cNvPr id="9" name="Picture 2" descr="http://www.padakuu.com/image/DistributedOperatingSystem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97814" y="981221"/>
            <a:ext cx="3508375" cy="219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6813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What is Kernel? Differentiate between Monolithic Kernel and Micro Kernel.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Explain different service/functions provided by operating system.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Discuss role of OS as a resource manager.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Explain the features of Time sharing system.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operating system? Give the view of OS as a resource manager.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system call? Explain steps for system call execution.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Write different types of system call.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List out types of operating system and explain batch OS and time sharing OS in brief.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08404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5"/>
  <p:tag name="AS_OS" val="Unix 5.15.0.1049"/>
  <p:tag name="AS_RELEASE_DATE" val="2023.09.14"/>
  <p:tag name="AS_TITLE" val="Aspose.Slides for .NET6"/>
  <p:tag name="AS_VERSION" val="23.9"/>
</p:tagLst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Roboto Condensed"/>
        <a:cs typeface="Arial"/>
      </a:majorFont>
      <a:minorFont>
        <a:latin typeface="Roboto Condensed"/>
        <a:ea typeface="Roboto Condensed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3101</TotalTime>
  <Words>5347</Words>
  <Application>Microsoft Office PowerPoint</Application>
  <PresentationFormat>Widescreen</PresentationFormat>
  <Paragraphs>701</Paragraphs>
  <Slides>97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6" baseType="lpstr">
      <vt:lpstr>Arial</vt:lpstr>
      <vt:lpstr>Wingdings</vt:lpstr>
      <vt:lpstr>Segoe UI Black</vt:lpstr>
      <vt:lpstr>Wingdings 3</vt:lpstr>
      <vt:lpstr>Roboto Condensed Light</vt:lpstr>
      <vt:lpstr>Calibri</vt:lpstr>
      <vt:lpstr>Wingdings 2</vt:lpstr>
      <vt:lpstr>Roboto Condensed</vt:lpstr>
      <vt:lpstr>Office Theme</vt:lpstr>
      <vt:lpstr>Chapter- 1 Introduction to Operating System</vt:lpstr>
      <vt:lpstr>PowerPoint Presentation</vt:lpstr>
      <vt:lpstr>Computer system overview </vt:lpstr>
      <vt:lpstr>Basic elements of computer</vt:lpstr>
      <vt:lpstr>Processor</vt:lpstr>
      <vt:lpstr>Memory</vt:lpstr>
      <vt:lpstr>I/O Module (Input/Output Module)</vt:lpstr>
      <vt:lpstr>System Bus</vt:lpstr>
      <vt:lpstr>Computer system architecture</vt:lpstr>
      <vt:lpstr>Computer system architecture</vt:lpstr>
      <vt:lpstr>Input unit</vt:lpstr>
      <vt:lpstr>Output unit</vt:lpstr>
      <vt:lpstr>Storage unit</vt:lpstr>
      <vt:lpstr>Primary storage (memory) vs Secondary storage (memory)</vt:lpstr>
      <vt:lpstr>CPU (Central Processing Unit)</vt:lpstr>
      <vt:lpstr>ALU (Arithmetic Logical Unit)</vt:lpstr>
      <vt:lpstr>CU (Control Unit)</vt:lpstr>
      <vt:lpstr>What is Operating System (OS)</vt:lpstr>
      <vt:lpstr>What is Operating System (OS)?</vt:lpstr>
      <vt:lpstr>Definition of Operating System (OS)</vt:lpstr>
      <vt:lpstr>Examples of Operating System (OS)</vt:lpstr>
      <vt:lpstr>Where OS lies? (Interaction of OS &amp; Hardware)</vt:lpstr>
      <vt:lpstr>Why and How switch occur?</vt:lpstr>
      <vt:lpstr>Roles of Operating System (OS)</vt:lpstr>
      <vt:lpstr>OS as Extended Machine</vt:lpstr>
      <vt:lpstr>OS as Extended Machine</vt:lpstr>
      <vt:lpstr>OS as Extended Machine</vt:lpstr>
      <vt:lpstr>OS as Extended Machine</vt:lpstr>
      <vt:lpstr>OS as Extended Machine</vt:lpstr>
      <vt:lpstr>OS as Resource Manager</vt:lpstr>
      <vt:lpstr>OS as Resource Manager</vt:lpstr>
      <vt:lpstr>OS as Resource Manager</vt:lpstr>
      <vt:lpstr>OS as Resource Manager</vt:lpstr>
      <vt:lpstr>OS as Resource Manager</vt:lpstr>
      <vt:lpstr>OS as Resource Manager</vt:lpstr>
      <vt:lpstr>OS as Resource Manager</vt:lpstr>
      <vt:lpstr>Objectives / Goals of Operating System (OS)</vt:lpstr>
      <vt:lpstr>Objectives / Goals of Operating System (OS)</vt:lpstr>
      <vt:lpstr>Generations of Operating Systems (OS)</vt:lpstr>
      <vt:lpstr>Generations / History of OS (First generation)</vt:lpstr>
      <vt:lpstr>Generations / History of OS (Second generation)</vt:lpstr>
      <vt:lpstr>Generations / History of OS (Third generation)</vt:lpstr>
      <vt:lpstr>Generations / History of OS (Forth generation)</vt:lpstr>
      <vt:lpstr>Operating Systems (OS) services</vt:lpstr>
      <vt:lpstr>Services / Functions / Tasks of Operating System (OS)</vt:lpstr>
      <vt:lpstr>Services / Functions / Tasks of Operating System (OS)</vt:lpstr>
      <vt:lpstr>Services / Functions / Tasks of Operating System (OS)</vt:lpstr>
      <vt:lpstr>Services / Functions / Tasks of Operating System (OS)</vt:lpstr>
      <vt:lpstr>Services / Functions / Tasks of Operating System (OS)</vt:lpstr>
      <vt:lpstr>Services / Functions / Tasks of Operating System (OS)</vt:lpstr>
      <vt:lpstr>Services / Functions / Tasks of Operating System (OS)</vt:lpstr>
      <vt:lpstr>Services / Functions / Tasks of Operating System (OS)</vt:lpstr>
      <vt:lpstr>Services / Functions / Tasks of Operating System (OS)</vt:lpstr>
      <vt:lpstr>Services / Functions / Tasks of Operating System (OS)</vt:lpstr>
      <vt:lpstr>Types of Operating Systems (OS)</vt:lpstr>
      <vt:lpstr>Types of Operating Systems (OS)</vt:lpstr>
      <vt:lpstr>Mainframe Operating Systems services</vt:lpstr>
      <vt:lpstr>Types of Operating Systems (OS)</vt:lpstr>
      <vt:lpstr>Types of Operating Systems (OS)</vt:lpstr>
      <vt:lpstr>Types of Operating Systems (OS)</vt:lpstr>
      <vt:lpstr>Types of Operating Systems (OS)</vt:lpstr>
      <vt:lpstr>Types of Operating Systems (OS)</vt:lpstr>
      <vt:lpstr>Types of Operating Systems (OS)</vt:lpstr>
      <vt:lpstr>Types of Operating Systems (OS)</vt:lpstr>
      <vt:lpstr>Types of Operating Systems (OS)</vt:lpstr>
      <vt:lpstr>System calls</vt:lpstr>
      <vt:lpstr>What is System calls?</vt:lpstr>
      <vt:lpstr>Types of system calls</vt:lpstr>
      <vt:lpstr>Types of system calls</vt:lpstr>
      <vt:lpstr>Types of system calls</vt:lpstr>
      <vt:lpstr>Example of system calls (Read system call)</vt:lpstr>
      <vt:lpstr>Steps involved in making a system call (Read system call)</vt:lpstr>
      <vt:lpstr>System calls</vt:lpstr>
      <vt:lpstr>System calls</vt:lpstr>
      <vt:lpstr>Operating Systems (OS) structure</vt:lpstr>
      <vt:lpstr>Operating Systems (OS) structure</vt:lpstr>
      <vt:lpstr>Monolithic systems</vt:lpstr>
      <vt:lpstr>Layered systems</vt:lpstr>
      <vt:lpstr>Microkernel</vt:lpstr>
      <vt:lpstr>Client-Server model</vt:lpstr>
      <vt:lpstr>Virtual machines</vt:lpstr>
      <vt:lpstr>VM/370</vt:lpstr>
      <vt:lpstr>VM/370</vt:lpstr>
      <vt:lpstr>Virtual Machines Rediscovered</vt:lpstr>
      <vt:lpstr>Virtual Machines Rediscovered</vt:lpstr>
      <vt:lpstr>Java Virtual Machine</vt:lpstr>
      <vt:lpstr>Exokernels</vt:lpstr>
      <vt:lpstr>Multiprogramming v/s Multiprocessing v/s Multitasking</vt:lpstr>
      <vt:lpstr>Multiprogramming v/s Multiprocessing v/s Multitasking</vt:lpstr>
      <vt:lpstr>Multiprogramming v/s Multiprocessing v/s Multitasking</vt:lpstr>
      <vt:lpstr>Time Sharing Operating System</vt:lpstr>
      <vt:lpstr>Time Sharing Operating System</vt:lpstr>
      <vt:lpstr>Parallel Processing Operating System</vt:lpstr>
      <vt:lpstr>Parallel Processing Operating System</vt:lpstr>
      <vt:lpstr>Distributed Operating System</vt:lpstr>
      <vt:lpstr>Distributed Operating System</vt:lpstr>
      <vt:lpstr>Assignment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519</cp:revision>
  <cp:lastPrinted>2021-02-05T02:25:01Z</cp:lastPrinted>
  <dcterms:created xsi:type="dcterms:W3CDTF">2020-05-01T05:09:15Z</dcterms:created>
  <dcterms:modified xsi:type="dcterms:W3CDTF">2023-12-19T01:30:43Z</dcterms:modified>
</cp:coreProperties>
</file>