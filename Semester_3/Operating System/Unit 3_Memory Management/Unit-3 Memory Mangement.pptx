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79"/>
  </p:notesMasterIdLst>
  <p:sldIdLst>
    <p:sldId id="309" r:id="rId2"/>
    <p:sldId id="674" r:id="rId3"/>
    <p:sldId id="349" r:id="rId4"/>
    <p:sldId id="676" r:id="rId5"/>
    <p:sldId id="677" r:id="rId6"/>
    <p:sldId id="689" r:id="rId7"/>
    <p:sldId id="678" r:id="rId8"/>
    <p:sldId id="690" r:id="rId9"/>
    <p:sldId id="679" r:id="rId10"/>
    <p:sldId id="680" r:id="rId11"/>
    <p:sldId id="685" r:id="rId12"/>
    <p:sldId id="681" r:id="rId13"/>
    <p:sldId id="682" r:id="rId14"/>
    <p:sldId id="603" r:id="rId15"/>
    <p:sldId id="684" r:id="rId16"/>
    <p:sldId id="692" r:id="rId17"/>
    <p:sldId id="686" r:id="rId18"/>
    <p:sldId id="683" r:id="rId19"/>
    <p:sldId id="687" r:id="rId20"/>
    <p:sldId id="688" r:id="rId21"/>
    <p:sldId id="728" r:id="rId22"/>
    <p:sldId id="729" r:id="rId23"/>
    <p:sldId id="730" r:id="rId24"/>
    <p:sldId id="731" r:id="rId25"/>
    <p:sldId id="619" r:id="rId26"/>
    <p:sldId id="618" r:id="rId27"/>
    <p:sldId id="620" r:id="rId28"/>
    <p:sldId id="621" r:id="rId29"/>
    <p:sldId id="622" r:id="rId30"/>
    <p:sldId id="709" r:id="rId31"/>
    <p:sldId id="714" r:id="rId32"/>
    <p:sldId id="710" r:id="rId33"/>
    <p:sldId id="707" r:id="rId34"/>
    <p:sldId id="708" r:id="rId35"/>
    <p:sldId id="713" r:id="rId36"/>
    <p:sldId id="696" r:id="rId37"/>
    <p:sldId id="719" r:id="rId38"/>
    <p:sldId id="697" r:id="rId39"/>
    <p:sldId id="721" r:id="rId40"/>
    <p:sldId id="726" r:id="rId41"/>
    <p:sldId id="722" r:id="rId42"/>
    <p:sldId id="727" r:id="rId43"/>
    <p:sldId id="723" r:id="rId44"/>
    <p:sldId id="724" r:id="rId45"/>
    <p:sldId id="725" r:id="rId46"/>
    <p:sldId id="698" r:id="rId47"/>
    <p:sldId id="695" r:id="rId48"/>
    <p:sldId id="646" r:id="rId49"/>
    <p:sldId id="700" r:id="rId50"/>
    <p:sldId id="648" r:id="rId51"/>
    <p:sldId id="649" r:id="rId52"/>
    <p:sldId id="701" r:id="rId53"/>
    <p:sldId id="712" r:id="rId54"/>
    <p:sldId id="718" r:id="rId55"/>
    <p:sldId id="716" r:id="rId56"/>
    <p:sldId id="717" r:id="rId57"/>
    <p:sldId id="715" r:id="rId58"/>
    <p:sldId id="654" r:id="rId59"/>
    <p:sldId id="655" r:id="rId60"/>
    <p:sldId id="656" r:id="rId61"/>
    <p:sldId id="657" r:id="rId62"/>
    <p:sldId id="658" r:id="rId63"/>
    <p:sldId id="659" r:id="rId64"/>
    <p:sldId id="660" r:id="rId65"/>
    <p:sldId id="661" r:id="rId66"/>
    <p:sldId id="662" r:id="rId67"/>
    <p:sldId id="663" r:id="rId68"/>
    <p:sldId id="664" r:id="rId69"/>
    <p:sldId id="665" r:id="rId70"/>
    <p:sldId id="666" r:id="rId71"/>
    <p:sldId id="667" r:id="rId72"/>
    <p:sldId id="668" r:id="rId73"/>
    <p:sldId id="670" r:id="rId74"/>
    <p:sldId id="673" r:id="rId75"/>
    <p:sldId id="672" r:id="rId76"/>
    <p:sldId id="346" r:id="rId77"/>
    <p:sldId id="669" r:id="rId78"/>
  </p:sldIdLst>
  <p:sldSz cx="12192000" cy="6858000"/>
  <p:notesSz cx="6954838" cy="9309100"/>
  <p:embeddedFontLst>
    <p:embeddedFont>
      <p:font typeface="Roboto Condensed Light" panose="020B0604020202020204" charset="0"/>
      <p:regular r:id="rId80"/>
      <p:italic r:id="rId81"/>
    </p:embeddedFont>
    <p:embeddedFont>
      <p:font typeface="Wingdings 3" panose="05040102010807070707" pitchFamily="18" charset="2"/>
      <p:regular r:id="rId82"/>
    </p:embeddedFont>
    <p:embeddedFont>
      <p:font typeface="Roboto Condensed" panose="020B0604020202020204" charset="0"/>
      <p:regular r:id="rId83"/>
      <p:bold r:id="rId84"/>
      <p:italic r:id="rId85"/>
      <p:boldItalic r:id="rId86"/>
    </p:embeddedFont>
    <p:embeddedFont>
      <p:font typeface="Calibri" panose="020F0502020204030204" pitchFamily="34" charset="0"/>
      <p:regular r:id="rId87"/>
      <p:bold r:id="rId88"/>
      <p:italic r:id="rId89"/>
      <p:boldItalic r:id="rId90"/>
    </p:embeddedFont>
    <p:embeddedFont>
      <p:font typeface="Segoe UI Black" panose="020B0A02040204020203" pitchFamily="34" charset="0"/>
      <p:bold r:id="rId91"/>
      <p:boldItalic r:id="rId92"/>
    </p:embeddedFont>
  </p:embeddedFontLst>
  <p:custDataLst>
    <p:tags r:id="rId9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hemeClr val="lt1"/>
      </a:tcTxStyle>
      <a:tcStyle>
        <a:tcBdr/>
        <a:fill>
          <a:solidFill>
            <a:schemeClr val="dk1"/>
          </a:solidFill>
        </a:fill>
      </a:tcStyle>
    </a:lastCol>
    <a:firstCol>
      <a:tcTxStyle b="on">
        <a:fontRef idx="minor"/>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hemeClr val="dk1"/>
      </a:tcTxStyle>
      <a:tcStyle>
        <a:tcBdr/>
      </a:tcStyle>
    </a:seCell>
    <a:swCell>
      <a:tcTxStyle b="on">
        <a:fontRef idx="minor"/>
        <a:schemeClr val="dk1"/>
      </a:tcTxStyle>
      <a:tcStyle>
        <a:tcBdr/>
      </a:tcStyle>
    </a:swCell>
    <a:firstRow>
      <a:tcTxStyle b="on">
        <a:fontRef idx="minor"/>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86" autoAdjust="0"/>
    <p:restoredTop sz="94248" autoAdjust="0"/>
  </p:normalViewPr>
  <p:slideViewPr>
    <p:cSldViewPr snapToGrid="0">
      <p:cViewPr varScale="1">
        <p:scale>
          <a:sx n="81" d="100"/>
          <a:sy n="81" d="100"/>
        </p:scale>
        <p:origin x="366" y="84"/>
      </p:cViewPr>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font" Target="fonts/font5.fntdata"/><Relationship Id="rId89" Type="http://schemas.openxmlformats.org/officeDocument/2006/relationships/font" Target="fonts/font10.fntdata"/><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notesMaster" Target="notesMasters/notesMaster1.xml"/><Relationship Id="rId87" Type="http://schemas.openxmlformats.org/officeDocument/2006/relationships/font" Target="fonts/font8.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font" Target="fonts/font3.fntdata"/><Relationship Id="rId90" Type="http://schemas.openxmlformats.org/officeDocument/2006/relationships/font" Target="fonts/font11.fntdata"/><Relationship Id="rId95"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1.fntdata"/><Relationship Id="rId85" Type="http://schemas.openxmlformats.org/officeDocument/2006/relationships/font" Target="fonts/font6.fntdata"/><Relationship Id="rId93"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4.fntdata"/><Relationship Id="rId88" Type="http://schemas.openxmlformats.org/officeDocument/2006/relationships/font" Target="fonts/font9.fntdata"/><Relationship Id="rId91" Type="http://schemas.openxmlformats.org/officeDocument/2006/relationships/font" Target="fonts/font12.fntdata"/><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font" Target="fonts/font2.fntdata"/><Relationship Id="rId86" Type="http://schemas.openxmlformats.org/officeDocument/2006/relationships/font" Target="fonts/font7.fntdata"/><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F8B329D-5928-4597-BC46-539DA5349990}" type="doc">
      <dgm:prSet loTypeId="urn:microsoft.com/office/officeart/2005/8/layout/pyramid1" loCatId="pyramid" qsTypeId="urn:microsoft.com/office/officeart/2005/8/quickstyle/simple1" qsCatId="simple" csTypeId="urn:microsoft.com/office/officeart/2005/8/colors/colorful5" csCatId="colorful" phldr="1"/>
      <dgm:spPr/>
      <dgm:t>
        <a:bodyPr/>
        <a:lstStyle/>
        <a:p>
          <a:endParaRPr/>
        </a:p>
      </dgm:t>
    </dgm:pt>
    <dgm:pt modelId="{D5C5A790-07B8-40AC-9493-120022FEBFFF}" type="parTrans" cxnId="{47A28968-C4CE-4E63-A602-D1D74E3D9CAD}">
      <dgm:prSet/>
      <dgm:spPr/>
      <dgm:t>
        <a:bodyPr/>
        <a:lstStyle/>
        <a:p>
          <a:endParaRPr lang="en-US"/>
        </a:p>
      </dgm:t>
    </dgm:pt>
    <dgm:pt modelId="{AE1D134B-BA0F-4C66-A3EF-D413670F9A0C}">
      <dgm:prSet phldrT="[Text]" custT="1"/>
      <dgm:spPr/>
      <dgm:t>
        <a:bodyPr anchor="b" anchorCtr="0"/>
        <a:lstStyle/>
        <a:p>
          <a:r>
            <a:rPr lang="en-US" sz="1600"/>
            <a:t>Register</a:t>
          </a:r>
          <a:endParaRPr lang="en-US" sz="2400"/>
        </a:p>
      </dgm:t>
    </dgm:pt>
    <dgm:pt modelId="{FF02F72E-A3A3-4509-B528-997E98C58244}" type="sibTrans" cxnId="{47A28968-C4CE-4E63-A602-D1D74E3D9CAD}">
      <dgm:prSet/>
      <dgm:spPr/>
      <dgm:t>
        <a:bodyPr/>
        <a:lstStyle/>
        <a:p>
          <a:endParaRPr lang="en-US"/>
        </a:p>
      </dgm:t>
    </dgm:pt>
    <dgm:pt modelId="{05281081-FC67-4B72-AB29-C8D23669446F}" type="parTrans" cxnId="{9214DA82-C954-4474-A201-ED9FD5DB5696}">
      <dgm:prSet/>
      <dgm:spPr/>
      <dgm:t>
        <a:bodyPr/>
        <a:lstStyle/>
        <a:p>
          <a:endParaRPr lang="en-US"/>
        </a:p>
      </dgm:t>
    </dgm:pt>
    <dgm:pt modelId="{A7CE4BF0-37F9-478C-9F9B-BBB8C504408E}">
      <dgm:prSet phldrT="[Text]" custT="1"/>
      <dgm:spPr/>
      <dgm:t>
        <a:bodyPr anchor="b" anchorCtr="0"/>
        <a:lstStyle/>
        <a:p>
          <a:r>
            <a:rPr lang="en-US" sz="1800"/>
            <a:t>L1 Cache</a:t>
          </a:r>
        </a:p>
      </dgm:t>
    </dgm:pt>
    <dgm:pt modelId="{3ED18608-0220-48B8-A748-8642C2E7D386}" type="sibTrans" cxnId="{9214DA82-C954-4474-A201-ED9FD5DB5696}">
      <dgm:prSet/>
      <dgm:spPr/>
      <dgm:t>
        <a:bodyPr/>
        <a:lstStyle/>
        <a:p>
          <a:endParaRPr lang="en-US"/>
        </a:p>
      </dgm:t>
    </dgm:pt>
    <dgm:pt modelId="{B1B00A1A-B4C6-435A-B45B-A84E74AD0BE0}" type="parTrans" cxnId="{D7C91B5C-68F9-41C5-84E6-D7DD388CA8A4}">
      <dgm:prSet/>
      <dgm:spPr/>
      <dgm:t>
        <a:bodyPr/>
        <a:lstStyle/>
        <a:p>
          <a:endParaRPr lang="en-US"/>
        </a:p>
      </dgm:t>
    </dgm:pt>
    <dgm:pt modelId="{0ABB0A28-5A30-4D9F-B146-9F24AE60C4A9}">
      <dgm:prSet phldrT="[Text]" custT="1"/>
      <dgm:spPr/>
      <dgm:t>
        <a:bodyPr anchor="b" anchorCtr="0"/>
        <a:lstStyle/>
        <a:p>
          <a:r>
            <a:rPr lang="en-US" sz="2000"/>
            <a:t>L2 Cache</a:t>
          </a:r>
        </a:p>
      </dgm:t>
    </dgm:pt>
    <dgm:pt modelId="{5DC970BF-4ECF-4393-8F4F-288A757890FE}" type="sibTrans" cxnId="{D7C91B5C-68F9-41C5-84E6-D7DD388CA8A4}">
      <dgm:prSet/>
      <dgm:spPr/>
      <dgm:t>
        <a:bodyPr/>
        <a:lstStyle/>
        <a:p>
          <a:endParaRPr lang="en-US"/>
        </a:p>
      </dgm:t>
    </dgm:pt>
    <dgm:pt modelId="{2ED20904-2A35-4A67-811B-2A0EEF8A0F02}" type="parTrans" cxnId="{D9AA722A-2456-4830-9B23-F8B23C8C03BA}">
      <dgm:prSet/>
      <dgm:spPr/>
      <dgm:t>
        <a:bodyPr/>
        <a:lstStyle/>
        <a:p>
          <a:endParaRPr lang="en-US"/>
        </a:p>
      </dgm:t>
    </dgm:pt>
    <dgm:pt modelId="{09BA5505-14C3-49EB-8B32-86B7BF4EFDB4}">
      <dgm:prSet phldrT="[Text]" custT="1"/>
      <dgm:spPr/>
      <dgm:t>
        <a:bodyPr anchor="b" anchorCtr="0"/>
        <a:lstStyle/>
        <a:p>
          <a:r>
            <a:rPr lang="en-US" sz="2200"/>
            <a:t>Main Memory</a:t>
          </a:r>
        </a:p>
      </dgm:t>
    </dgm:pt>
    <dgm:pt modelId="{1B4DC060-0BCD-446A-B680-646563FDED54}" type="sibTrans" cxnId="{D9AA722A-2456-4830-9B23-F8B23C8C03BA}">
      <dgm:prSet/>
      <dgm:spPr/>
      <dgm:t>
        <a:bodyPr/>
        <a:lstStyle/>
        <a:p>
          <a:endParaRPr lang="en-US"/>
        </a:p>
      </dgm:t>
    </dgm:pt>
    <dgm:pt modelId="{7EAAF0D3-F907-4AA5-BDBE-24146D24C29A}" type="parTrans" cxnId="{4FCCBC9B-03CA-4F6D-80D3-674209EB012F}">
      <dgm:prSet/>
      <dgm:spPr/>
      <dgm:t>
        <a:bodyPr/>
        <a:lstStyle/>
        <a:p>
          <a:endParaRPr lang="en-US"/>
        </a:p>
      </dgm:t>
    </dgm:pt>
    <dgm:pt modelId="{20D56625-6885-44EF-8C37-F9847665F412}">
      <dgm:prSet phldrT="[Text]" custT="1"/>
      <dgm:spPr/>
      <dgm:t>
        <a:bodyPr anchor="b" anchorCtr="0"/>
        <a:lstStyle/>
        <a:p>
          <a:r>
            <a:rPr lang="en-US" sz="2400" dirty="0"/>
            <a:t>Local secondary storage (Magnetic Disk)</a:t>
          </a:r>
        </a:p>
      </dgm:t>
    </dgm:pt>
    <dgm:pt modelId="{9A33278A-1C21-4E6E-8B38-A676CDC15904}" type="sibTrans" cxnId="{4FCCBC9B-03CA-4F6D-80D3-674209EB012F}">
      <dgm:prSet/>
      <dgm:spPr/>
      <dgm:t>
        <a:bodyPr/>
        <a:lstStyle/>
        <a:p>
          <a:endParaRPr lang="en-US"/>
        </a:p>
      </dgm:t>
    </dgm:pt>
    <dgm:pt modelId="{7CDAB743-7761-4CC7-95F3-722C21549279}" type="parTrans" cxnId="{DCC85C4A-9F27-4796-8313-1AF285D1F9FA}">
      <dgm:prSet/>
      <dgm:spPr/>
      <dgm:t>
        <a:bodyPr/>
        <a:lstStyle/>
        <a:p>
          <a:endParaRPr lang="en-US"/>
        </a:p>
      </dgm:t>
    </dgm:pt>
    <dgm:pt modelId="{2A51D9B4-B754-4992-87CB-F8AFBFDEA9DB}">
      <dgm:prSet phldrT="[Text]" custT="1"/>
      <dgm:spPr/>
      <dgm:t>
        <a:bodyPr anchor="b" anchorCtr="0"/>
        <a:lstStyle/>
        <a:p>
          <a:r>
            <a:rPr lang="en-US" sz="2600" dirty="0"/>
            <a:t>Remote secondary storage (Magnetic tape)</a:t>
          </a:r>
        </a:p>
      </dgm:t>
    </dgm:pt>
    <dgm:pt modelId="{D6F058BB-009D-4B45-8A71-E7DC4EACF575}" type="sibTrans" cxnId="{DCC85C4A-9F27-4796-8313-1AF285D1F9FA}">
      <dgm:prSet/>
      <dgm:spPr/>
      <dgm:t>
        <a:bodyPr/>
        <a:lstStyle/>
        <a:p>
          <a:endParaRPr lang="en-US"/>
        </a:p>
      </dgm:t>
    </dgm:pt>
    <dgm:pt modelId="{89CA9B95-8CB1-4C81-A2BE-94FFEBAC7343}" type="pres">
      <dgm:prSet presAssocID="{7F8B329D-5928-4597-BC46-539DA5349990}" presName="Name0" presStyleCnt="0">
        <dgm:presLayoutVars>
          <dgm:dir/>
          <dgm:animLvl val="lvl"/>
          <dgm:resizeHandles val="exact"/>
        </dgm:presLayoutVars>
      </dgm:prSet>
      <dgm:spPr/>
      <dgm:t>
        <a:bodyPr/>
        <a:lstStyle/>
        <a:p>
          <a:endParaRPr lang="en-US"/>
        </a:p>
      </dgm:t>
    </dgm:pt>
    <dgm:pt modelId="{1D71D8C9-8487-4B68-B3CF-B06E772C2F2B}" type="pres">
      <dgm:prSet presAssocID="{AE1D134B-BA0F-4C66-A3EF-D413670F9A0C}" presName="Name8" presStyleCnt="0"/>
      <dgm:spPr/>
    </dgm:pt>
    <dgm:pt modelId="{9CE6BF1C-AFE7-4913-8E0E-FA8FA28B39B1}" type="pres">
      <dgm:prSet presAssocID="{AE1D134B-BA0F-4C66-A3EF-D413670F9A0C}" presName="level" presStyleLbl="node1" presStyleIdx="0" presStyleCnt="6">
        <dgm:presLayoutVars>
          <dgm:chMax val="1"/>
          <dgm:bulletEnabled val="1"/>
        </dgm:presLayoutVars>
      </dgm:prSet>
      <dgm:spPr/>
      <dgm:t>
        <a:bodyPr/>
        <a:lstStyle/>
        <a:p>
          <a:endParaRPr lang="en-US"/>
        </a:p>
      </dgm:t>
    </dgm:pt>
    <dgm:pt modelId="{72392578-813A-4F79-A120-1175B0D490FB}" type="pres">
      <dgm:prSet presAssocID="{AE1D134B-BA0F-4C66-A3EF-D413670F9A0C}" presName="levelTx" presStyleLbl="revTx" presStyleIdx="0" presStyleCnt="0">
        <dgm:presLayoutVars>
          <dgm:chMax val="1"/>
          <dgm:bulletEnabled val="1"/>
        </dgm:presLayoutVars>
      </dgm:prSet>
      <dgm:spPr/>
      <dgm:t>
        <a:bodyPr/>
        <a:lstStyle/>
        <a:p>
          <a:endParaRPr lang="en-US"/>
        </a:p>
      </dgm:t>
    </dgm:pt>
    <dgm:pt modelId="{4B83EFC7-2E93-4FF7-A5BD-21742F14E22E}" type="pres">
      <dgm:prSet presAssocID="{A7CE4BF0-37F9-478C-9F9B-BBB8C504408E}" presName="Name8" presStyleCnt="0"/>
      <dgm:spPr/>
    </dgm:pt>
    <dgm:pt modelId="{AC60A510-23A8-4851-B9E9-D5061524B7C2}" type="pres">
      <dgm:prSet presAssocID="{A7CE4BF0-37F9-478C-9F9B-BBB8C504408E}" presName="level" presStyleLbl="node1" presStyleIdx="1" presStyleCnt="6">
        <dgm:presLayoutVars>
          <dgm:chMax val="1"/>
          <dgm:bulletEnabled val="1"/>
        </dgm:presLayoutVars>
      </dgm:prSet>
      <dgm:spPr/>
      <dgm:t>
        <a:bodyPr/>
        <a:lstStyle/>
        <a:p>
          <a:endParaRPr lang="en-US"/>
        </a:p>
      </dgm:t>
    </dgm:pt>
    <dgm:pt modelId="{A53815A9-F107-4CBE-915B-1086AA2F0889}" type="pres">
      <dgm:prSet presAssocID="{A7CE4BF0-37F9-478C-9F9B-BBB8C504408E}" presName="levelTx" presStyleLbl="revTx" presStyleIdx="0" presStyleCnt="0">
        <dgm:presLayoutVars>
          <dgm:chMax val="1"/>
          <dgm:bulletEnabled val="1"/>
        </dgm:presLayoutVars>
      </dgm:prSet>
      <dgm:spPr/>
      <dgm:t>
        <a:bodyPr/>
        <a:lstStyle/>
        <a:p>
          <a:endParaRPr lang="en-US"/>
        </a:p>
      </dgm:t>
    </dgm:pt>
    <dgm:pt modelId="{ABC32764-3EBC-4B15-BF41-EB732CF31A16}" type="pres">
      <dgm:prSet presAssocID="{0ABB0A28-5A30-4D9F-B146-9F24AE60C4A9}" presName="Name8" presStyleCnt="0"/>
      <dgm:spPr/>
    </dgm:pt>
    <dgm:pt modelId="{4CDE54DA-B57D-4E4A-B0EF-6EE1DB8FFD09}" type="pres">
      <dgm:prSet presAssocID="{0ABB0A28-5A30-4D9F-B146-9F24AE60C4A9}" presName="level" presStyleLbl="node1" presStyleIdx="2" presStyleCnt="6">
        <dgm:presLayoutVars>
          <dgm:chMax val="1"/>
          <dgm:bulletEnabled val="1"/>
        </dgm:presLayoutVars>
      </dgm:prSet>
      <dgm:spPr/>
      <dgm:t>
        <a:bodyPr/>
        <a:lstStyle/>
        <a:p>
          <a:endParaRPr lang="en-US"/>
        </a:p>
      </dgm:t>
    </dgm:pt>
    <dgm:pt modelId="{D59AFFF6-73F7-48E6-8CFD-3B6D8BCB14E2}" type="pres">
      <dgm:prSet presAssocID="{0ABB0A28-5A30-4D9F-B146-9F24AE60C4A9}" presName="levelTx" presStyleLbl="revTx" presStyleIdx="0" presStyleCnt="0">
        <dgm:presLayoutVars>
          <dgm:chMax val="1"/>
          <dgm:bulletEnabled val="1"/>
        </dgm:presLayoutVars>
      </dgm:prSet>
      <dgm:spPr/>
      <dgm:t>
        <a:bodyPr/>
        <a:lstStyle/>
        <a:p>
          <a:endParaRPr lang="en-US"/>
        </a:p>
      </dgm:t>
    </dgm:pt>
    <dgm:pt modelId="{4DB9D1C6-CD7B-4170-B2C8-23B0588D31E9}" type="pres">
      <dgm:prSet presAssocID="{09BA5505-14C3-49EB-8B32-86B7BF4EFDB4}" presName="Name8" presStyleCnt="0"/>
      <dgm:spPr/>
    </dgm:pt>
    <dgm:pt modelId="{ACCF894D-C6F1-4D42-91C8-4B7BC20C8FDA}" type="pres">
      <dgm:prSet presAssocID="{09BA5505-14C3-49EB-8B32-86B7BF4EFDB4}" presName="level" presStyleLbl="node1" presStyleIdx="3" presStyleCnt="6">
        <dgm:presLayoutVars>
          <dgm:chMax val="1"/>
          <dgm:bulletEnabled val="1"/>
        </dgm:presLayoutVars>
      </dgm:prSet>
      <dgm:spPr/>
      <dgm:t>
        <a:bodyPr/>
        <a:lstStyle/>
        <a:p>
          <a:endParaRPr lang="en-US"/>
        </a:p>
      </dgm:t>
    </dgm:pt>
    <dgm:pt modelId="{4424016C-7C2C-4F6C-AD15-4E8E451791C5}" type="pres">
      <dgm:prSet presAssocID="{09BA5505-14C3-49EB-8B32-86B7BF4EFDB4}" presName="levelTx" presStyleLbl="revTx" presStyleIdx="0" presStyleCnt="0">
        <dgm:presLayoutVars>
          <dgm:chMax val="1"/>
          <dgm:bulletEnabled val="1"/>
        </dgm:presLayoutVars>
      </dgm:prSet>
      <dgm:spPr/>
      <dgm:t>
        <a:bodyPr/>
        <a:lstStyle/>
        <a:p>
          <a:endParaRPr lang="en-US"/>
        </a:p>
      </dgm:t>
    </dgm:pt>
    <dgm:pt modelId="{2FB6C0F5-6BAA-43A0-B27F-7C135ED7537D}" type="pres">
      <dgm:prSet presAssocID="{20D56625-6885-44EF-8C37-F9847665F412}" presName="Name8" presStyleCnt="0"/>
      <dgm:spPr/>
    </dgm:pt>
    <dgm:pt modelId="{CD40BACA-C213-4C50-AD2F-55DDC18F9395}" type="pres">
      <dgm:prSet presAssocID="{20D56625-6885-44EF-8C37-F9847665F412}" presName="level" presStyleLbl="node1" presStyleIdx="4" presStyleCnt="6" custLinFactNeighborY="-625">
        <dgm:presLayoutVars>
          <dgm:chMax val="1"/>
          <dgm:bulletEnabled val="1"/>
        </dgm:presLayoutVars>
      </dgm:prSet>
      <dgm:spPr/>
      <dgm:t>
        <a:bodyPr/>
        <a:lstStyle/>
        <a:p>
          <a:endParaRPr lang="en-US"/>
        </a:p>
      </dgm:t>
    </dgm:pt>
    <dgm:pt modelId="{D8D26BDE-DA49-44A4-A1ED-49ED7E97A105}" type="pres">
      <dgm:prSet presAssocID="{20D56625-6885-44EF-8C37-F9847665F412}" presName="levelTx" presStyleLbl="revTx" presStyleIdx="0" presStyleCnt="0">
        <dgm:presLayoutVars>
          <dgm:chMax val="1"/>
          <dgm:bulletEnabled val="1"/>
        </dgm:presLayoutVars>
      </dgm:prSet>
      <dgm:spPr/>
      <dgm:t>
        <a:bodyPr/>
        <a:lstStyle/>
        <a:p>
          <a:endParaRPr lang="en-US"/>
        </a:p>
      </dgm:t>
    </dgm:pt>
    <dgm:pt modelId="{00BFC72B-02C6-4BDD-8ACB-C96A324A237E}" type="pres">
      <dgm:prSet presAssocID="{2A51D9B4-B754-4992-87CB-F8AFBFDEA9DB}" presName="Name8" presStyleCnt="0"/>
      <dgm:spPr/>
    </dgm:pt>
    <dgm:pt modelId="{BD97916C-1EAA-41D6-A1F4-C0CD1CA716DD}" type="pres">
      <dgm:prSet presAssocID="{2A51D9B4-B754-4992-87CB-F8AFBFDEA9DB}" presName="level" presStyleLbl="node1" presStyleIdx="5" presStyleCnt="6">
        <dgm:presLayoutVars>
          <dgm:chMax val="1"/>
          <dgm:bulletEnabled val="1"/>
        </dgm:presLayoutVars>
      </dgm:prSet>
      <dgm:spPr/>
      <dgm:t>
        <a:bodyPr/>
        <a:lstStyle/>
        <a:p>
          <a:endParaRPr lang="en-US"/>
        </a:p>
      </dgm:t>
    </dgm:pt>
    <dgm:pt modelId="{70C3B809-8DD1-4A0C-84FC-1B45ABDB51FC}" type="pres">
      <dgm:prSet presAssocID="{2A51D9B4-B754-4992-87CB-F8AFBFDEA9DB}" presName="levelTx" presStyleLbl="revTx" presStyleIdx="0" presStyleCnt="0">
        <dgm:presLayoutVars>
          <dgm:chMax val="1"/>
          <dgm:bulletEnabled val="1"/>
        </dgm:presLayoutVars>
      </dgm:prSet>
      <dgm:spPr/>
      <dgm:t>
        <a:bodyPr/>
        <a:lstStyle/>
        <a:p>
          <a:endParaRPr lang="en-US"/>
        </a:p>
      </dgm:t>
    </dgm:pt>
  </dgm:ptLst>
  <dgm:cxnLst>
    <dgm:cxn modelId="{27CE180C-2EF8-44A1-87FF-7DBB3AB972FB}" type="presOf" srcId="{AE1D134B-BA0F-4C66-A3EF-D413670F9A0C}" destId="{72392578-813A-4F79-A120-1175B0D490FB}" srcOrd="1" destOrd="0" presId="urn:microsoft.com/office/officeart/2005/8/layout/pyramid1"/>
    <dgm:cxn modelId="{D9AA722A-2456-4830-9B23-F8B23C8C03BA}" srcId="{7F8B329D-5928-4597-BC46-539DA5349990}" destId="{09BA5505-14C3-49EB-8B32-86B7BF4EFDB4}" srcOrd="3" destOrd="0" parTransId="{2ED20904-2A35-4A67-811B-2A0EEF8A0F02}" sibTransId="{1B4DC060-0BCD-446A-B680-646563FDED54}"/>
    <dgm:cxn modelId="{DCC85C4A-9F27-4796-8313-1AF285D1F9FA}" srcId="{7F8B329D-5928-4597-BC46-539DA5349990}" destId="{2A51D9B4-B754-4992-87CB-F8AFBFDEA9DB}" srcOrd="5" destOrd="0" parTransId="{7CDAB743-7761-4CC7-95F3-722C21549279}" sibTransId="{D6F058BB-009D-4B45-8A71-E7DC4EACF575}"/>
    <dgm:cxn modelId="{4FCCBC9B-03CA-4F6D-80D3-674209EB012F}" srcId="{7F8B329D-5928-4597-BC46-539DA5349990}" destId="{20D56625-6885-44EF-8C37-F9847665F412}" srcOrd="4" destOrd="0" parTransId="{7EAAF0D3-F907-4AA5-BDBE-24146D24C29A}" sibTransId="{9A33278A-1C21-4E6E-8B38-A676CDC15904}"/>
    <dgm:cxn modelId="{088794B0-60C6-48CC-80F6-8C58EABFD44B}" type="presOf" srcId="{09BA5505-14C3-49EB-8B32-86B7BF4EFDB4}" destId="{ACCF894D-C6F1-4D42-91C8-4B7BC20C8FDA}" srcOrd="0" destOrd="0" presId="urn:microsoft.com/office/officeart/2005/8/layout/pyramid1"/>
    <dgm:cxn modelId="{B8B29C36-39E4-44AB-B749-7250C5012B0F}" type="presOf" srcId="{2A51D9B4-B754-4992-87CB-F8AFBFDEA9DB}" destId="{BD97916C-1EAA-41D6-A1F4-C0CD1CA716DD}" srcOrd="0" destOrd="0" presId="urn:microsoft.com/office/officeart/2005/8/layout/pyramid1"/>
    <dgm:cxn modelId="{AFF33044-791C-426F-9318-D25E86353D81}" type="presOf" srcId="{A7CE4BF0-37F9-478C-9F9B-BBB8C504408E}" destId="{A53815A9-F107-4CBE-915B-1086AA2F0889}" srcOrd="1" destOrd="0" presId="urn:microsoft.com/office/officeart/2005/8/layout/pyramid1"/>
    <dgm:cxn modelId="{6905087B-7D34-4D5B-862F-075D1C001ED2}" type="presOf" srcId="{AE1D134B-BA0F-4C66-A3EF-D413670F9A0C}" destId="{9CE6BF1C-AFE7-4913-8E0E-FA8FA28B39B1}" srcOrd="0" destOrd="0" presId="urn:microsoft.com/office/officeart/2005/8/layout/pyramid1"/>
    <dgm:cxn modelId="{7CAB01F5-D4F3-4BB6-9FD4-A3EFE62D2E32}" type="presOf" srcId="{A7CE4BF0-37F9-478C-9F9B-BBB8C504408E}" destId="{AC60A510-23A8-4851-B9E9-D5061524B7C2}" srcOrd="0" destOrd="0" presId="urn:microsoft.com/office/officeart/2005/8/layout/pyramid1"/>
    <dgm:cxn modelId="{D7C91B5C-68F9-41C5-84E6-D7DD388CA8A4}" srcId="{7F8B329D-5928-4597-BC46-539DA5349990}" destId="{0ABB0A28-5A30-4D9F-B146-9F24AE60C4A9}" srcOrd="2" destOrd="0" parTransId="{B1B00A1A-B4C6-435A-B45B-A84E74AD0BE0}" sibTransId="{5DC970BF-4ECF-4393-8F4F-288A757890FE}"/>
    <dgm:cxn modelId="{9214DA82-C954-4474-A201-ED9FD5DB5696}" srcId="{7F8B329D-5928-4597-BC46-539DA5349990}" destId="{A7CE4BF0-37F9-478C-9F9B-BBB8C504408E}" srcOrd="1" destOrd="0" parTransId="{05281081-FC67-4B72-AB29-C8D23669446F}" sibTransId="{3ED18608-0220-48B8-A748-8642C2E7D386}"/>
    <dgm:cxn modelId="{34601E20-CF89-4E2D-B5C3-72626A57B3D9}" type="presOf" srcId="{0ABB0A28-5A30-4D9F-B146-9F24AE60C4A9}" destId="{D59AFFF6-73F7-48E6-8CFD-3B6D8BCB14E2}" srcOrd="1" destOrd="0" presId="urn:microsoft.com/office/officeart/2005/8/layout/pyramid1"/>
    <dgm:cxn modelId="{D0DB0E46-D77B-4165-8041-73045E6EFD73}" type="presOf" srcId="{20D56625-6885-44EF-8C37-F9847665F412}" destId="{CD40BACA-C213-4C50-AD2F-55DDC18F9395}" srcOrd="0" destOrd="0" presId="urn:microsoft.com/office/officeart/2005/8/layout/pyramid1"/>
    <dgm:cxn modelId="{57FAB685-D851-46D6-9678-78EDC3DF6B4D}" type="presOf" srcId="{2A51D9B4-B754-4992-87CB-F8AFBFDEA9DB}" destId="{70C3B809-8DD1-4A0C-84FC-1B45ABDB51FC}" srcOrd="1" destOrd="0" presId="urn:microsoft.com/office/officeart/2005/8/layout/pyramid1"/>
    <dgm:cxn modelId="{1AEDDFA9-E9AD-4535-BFD1-EB83B16B108A}" type="presOf" srcId="{7F8B329D-5928-4597-BC46-539DA5349990}" destId="{89CA9B95-8CB1-4C81-A2BE-94FFEBAC7343}" srcOrd="0" destOrd="0" presId="urn:microsoft.com/office/officeart/2005/8/layout/pyramid1"/>
    <dgm:cxn modelId="{F0F910AF-BF83-4FA9-B65E-8A70EB22484A}" type="presOf" srcId="{09BA5505-14C3-49EB-8B32-86B7BF4EFDB4}" destId="{4424016C-7C2C-4F6C-AD15-4E8E451791C5}" srcOrd="1" destOrd="0" presId="urn:microsoft.com/office/officeart/2005/8/layout/pyramid1"/>
    <dgm:cxn modelId="{7C3EF644-1BC0-45D5-AA44-B74E1A46A475}" type="presOf" srcId="{0ABB0A28-5A30-4D9F-B146-9F24AE60C4A9}" destId="{4CDE54DA-B57D-4E4A-B0EF-6EE1DB8FFD09}" srcOrd="0" destOrd="0" presId="urn:microsoft.com/office/officeart/2005/8/layout/pyramid1"/>
    <dgm:cxn modelId="{99EC93E0-112D-420C-A3DF-BEB0F67D4480}" type="presOf" srcId="{20D56625-6885-44EF-8C37-F9847665F412}" destId="{D8D26BDE-DA49-44A4-A1ED-49ED7E97A105}" srcOrd="1" destOrd="0" presId="urn:microsoft.com/office/officeart/2005/8/layout/pyramid1"/>
    <dgm:cxn modelId="{47A28968-C4CE-4E63-A602-D1D74E3D9CAD}" srcId="{7F8B329D-5928-4597-BC46-539DA5349990}" destId="{AE1D134B-BA0F-4C66-A3EF-D413670F9A0C}" srcOrd="0" destOrd="0" parTransId="{D5C5A790-07B8-40AC-9493-120022FEBFFF}" sibTransId="{FF02F72E-A3A3-4509-B528-997E98C58244}"/>
    <dgm:cxn modelId="{7640E484-25F4-49DD-BF23-1E775EF4DBC2}" type="presParOf" srcId="{89CA9B95-8CB1-4C81-A2BE-94FFEBAC7343}" destId="{1D71D8C9-8487-4B68-B3CF-B06E772C2F2B}" srcOrd="0" destOrd="0" presId="urn:microsoft.com/office/officeart/2005/8/layout/pyramid1"/>
    <dgm:cxn modelId="{DFF63C4A-5B45-4647-BE41-784DE743238E}" type="presParOf" srcId="{1D71D8C9-8487-4B68-B3CF-B06E772C2F2B}" destId="{9CE6BF1C-AFE7-4913-8E0E-FA8FA28B39B1}" srcOrd="0" destOrd="0" presId="urn:microsoft.com/office/officeart/2005/8/layout/pyramid1"/>
    <dgm:cxn modelId="{D52523D4-866B-463B-83D0-F4C33DAAF41E}" type="presParOf" srcId="{1D71D8C9-8487-4B68-B3CF-B06E772C2F2B}" destId="{72392578-813A-4F79-A120-1175B0D490FB}" srcOrd="1" destOrd="0" presId="urn:microsoft.com/office/officeart/2005/8/layout/pyramid1"/>
    <dgm:cxn modelId="{D17AFA92-3C1E-4B11-B351-9D72195EA2F1}" type="presParOf" srcId="{89CA9B95-8CB1-4C81-A2BE-94FFEBAC7343}" destId="{4B83EFC7-2E93-4FF7-A5BD-21742F14E22E}" srcOrd="1" destOrd="0" presId="urn:microsoft.com/office/officeart/2005/8/layout/pyramid1"/>
    <dgm:cxn modelId="{4284834D-037A-4F7B-A420-11D9CC5444F1}" type="presParOf" srcId="{4B83EFC7-2E93-4FF7-A5BD-21742F14E22E}" destId="{AC60A510-23A8-4851-B9E9-D5061524B7C2}" srcOrd="0" destOrd="0" presId="urn:microsoft.com/office/officeart/2005/8/layout/pyramid1"/>
    <dgm:cxn modelId="{2B76E645-0739-4829-AFC3-40ADD6D306A9}" type="presParOf" srcId="{4B83EFC7-2E93-4FF7-A5BD-21742F14E22E}" destId="{A53815A9-F107-4CBE-915B-1086AA2F0889}" srcOrd="1" destOrd="0" presId="urn:microsoft.com/office/officeart/2005/8/layout/pyramid1"/>
    <dgm:cxn modelId="{8FE155D6-F41D-4FFD-B4F3-5A70CAFD82D7}" type="presParOf" srcId="{89CA9B95-8CB1-4C81-A2BE-94FFEBAC7343}" destId="{ABC32764-3EBC-4B15-BF41-EB732CF31A16}" srcOrd="2" destOrd="0" presId="urn:microsoft.com/office/officeart/2005/8/layout/pyramid1"/>
    <dgm:cxn modelId="{B1468716-D204-4105-AA90-D9AD39DC62FF}" type="presParOf" srcId="{ABC32764-3EBC-4B15-BF41-EB732CF31A16}" destId="{4CDE54DA-B57D-4E4A-B0EF-6EE1DB8FFD09}" srcOrd="0" destOrd="0" presId="urn:microsoft.com/office/officeart/2005/8/layout/pyramid1"/>
    <dgm:cxn modelId="{235DB481-0E1D-4B7C-8057-5FB92963D588}" type="presParOf" srcId="{ABC32764-3EBC-4B15-BF41-EB732CF31A16}" destId="{D59AFFF6-73F7-48E6-8CFD-3B6D8BCB14E2}" srcOrd="1" destOrd="0" presId="urn:microsoft.com/office/officeart/2005/8/layout/pyramid1"/>
    <dgm:cxn modelId="{FD82DA11-191E-4D89-81F2-022A06FB2264}" type="presParOf" srcId="{89CA9B95-8CB1-4C81-A2BE-94FFEBAC7343}" destId="{4DB9D1C6-CD7B-4170-B2C8-23B0588D31E9}" srcOrd="3" destOrd="0" presId="urn:microsoft.com/office/officeart/2005/8/layout/pyramid1"/>
    <dgm:cxn modelId="{50840F76-792F-4D94-B43D-EDEB29FAC0D0}" type="presParOf" srcId="{4DB9D1C6-CD7B-4170-B2C8-23B0588D31E9}" destId="{ACCF894D-C6F1-4D42-91C8-4B7BC20C8FDA}" srcOrd="0" destOrd="0" presId="urn:microsoft.com/office/officeart/2005/8/layout/pyramid1"/>
    <dgm:cxn modelId="{6050541C-2981-437F-A8B2-708F6E0416C4}" type="presParOf" srcId="{4DB9D1C6-CD7B-4170-B2C8-23B0588D31E9}" destId="{4424016C-7C2C-4F6C-AD15-4E8E451791C5}" srcOrd="1" destOrd="0" presId="urn:microsoft.com/office/officeart/2005/8/layout/pyramid1"/>
    <dgm:cxn modelId="{2BBFD615-4691-477A-9E0E-9A363727616C}" type="presParOf" srcId="{89CA9B95-8CB1-4C81-A2BE-94FFEBAC7343}" destId="{2FB6C0F5-6BAA-43A0-B27F-7C135ED7537D}" srcOrd="4" destOrd="0" presId="urn:microsoft.com/office/officeart/2005/8/layout/pyramid1"/>
    <dgm:cxn modelId="{6C3EEBE9-69A0-41D0-A591-C420E058DA7D}" type="presParOf" srcId="{2FB6C0F5-6BAA-43A0-B27F-7C135ED7537D}" destId="{CD40BACA-C213-4C50-AD2F-55DDC18F9395}" srcOrd="0" destOrd="0" presId="urn:microsoft.com/office/officeart/2005/8/layout/pyramid1"/>
    <dgm:cxn modelId="{231700CE-DB3B-4AF9-B994-361AD9CEA542}" type="presParOf" srcId="{2FB6C0F5-6BAA-43A0-B27F-7C135ED7537D}" destId="{D8D26BDE-DA49-44A4-A1ED-49ED7E97A105}" srcOrd="1" destOrd="0" presId="urn:microsoft.com/office/officeart/2005/8/layout/pyramid1"/>
    <dgm:cxn modelId="{92FC7A86-AAF3-4B1B-B9F2-806174B37949}" type="presParOf" srcId="{89CA9B95-8CB1-4C81-A2BE-94FFEBAC7343}" destId="{00BFC72B-02C6-4BDD-8ACB-C96A324A237E}" srcOrd="5" destOrd="0" presId="urn:microsoft.com/office/officeart/2005/8/layout/pyramid1"/>
    <dgm:cxn modelId="{96851EBB-7471-4791-A1E8-ED747BF854A3}" type="presParOf" srcId="{00BFC72B-02C6-4BDD-8ACB-C96A324A237E}" destId="{BD97916C-1EAA-41D6-A1F4-C0CD1CA716DD}" srcOrd="0" destOrd="0" presId="urn:microsoft.com/office/officeart/2005/8/layout/pyramid1"/>
    <dgm:cxn modelId="{2A247E6A-8F6F-4522-997D-64C5DABF5D9E}" type="presParOf" srcId="{00BFC72B-02C6-4BDD-8ACB-C96A324A237E}" destId="{70C3B809-8DD1-4A0C-84FC-1B45ABDB51FC}"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E6BF1C-AFE7-4913-8E0E-FA8FA28B39B1}">
      <dsp:nvSpPr>
        <dsp:cNvPr id="0" name=""/>
        <dsp:cNvSpPr/>
      </dsp:nvSpPr>
      <dsp:spPr>
        <a:xfrm>
          <a:off x="2667000" y="0"/>
          <a:ext cx="1066800" cy="736600"/>
        </a:xfrm>
        <a:prstGeom prst="trapezoid">
          <a:avLst>
            <a:gd name="adj" fmla="val 72414"/>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b" anchorCtr="0">
          <a:noAutofit/>
        </a:bodyPr>
        <a:lstStyle/>
        <a:p>
          <a:pPr lvl="0" algn="ctr" defTabSz="711200">
            <a:lnSpc>
              <a:spcPct val="90000"/>
            </a:lnSpc>
            <a:spcBef>
              <a:spcPct val="0"/>
            </a:spcBef>
            <a:spcAft>
              <a:spcPct val="35000"/>
            </a:spcAft>
          </a:pPr>
          <a:r>
            <a:rPr lang="en-US" sz="1600" kern="1200"/>
            <a:t>Register</a:t>
          </a:r>
          <a:endParaRPr lang="en-US" sz="2400" kern="1200"/>
        </a:p>
      </dsp:txBody>
      <dsp:txXfrm>
        <a:off x="2667000" y="0"/>
        <a:ext cx="1066800" cy="736600"/>
      </dsp:txXfrm>
    </dsp:sp>
    <dsp:sp modelId="{AC60A510-23A8-4851-B9E9-D5061524B7C2}">
      <dsp:nvSpPr>
        <dsp:cNvPr id="0" name=""/>
        <dsp:cNvSpPr/>
      </dsp:nvSpPr>
      <dsp:spPr>
        <a:xfrm>
          <a:off x="2133600" y="736600"/>
          <a:ext cx="2133600" cy="736600"/>
        </a:xfrm>
        <a:prstGeom prst="trapezoid">
          <a:avLst>
            <a:gd name="adj" fmla="val 72414"/>
          </a:avLst>
        </a:prstGeom>
        <a:solidFill>
          <a:schemeClr val="accent5">
            <a:hueOff val="-409491"/>
            <a:satOff val="-8265"/>
            <a:lumOff val="-62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b" anchorCtr="0">
          <a:noAutofit/>
        </a:bodyPr>
        <a:lstStyle/>
        <a:p>
          <a:pPr lvl="0" algn="ctr" defTabSz="800100">
            <a:lnSpc>
              <a:spcPct val="90000"/>
            </a:lnSpc>
            <a:spcBef>
              <a:spcPct val="0"/>
            </a:spcBef>
            <a:spcAft>
              <a:spcPct val="35000"/>
            </a:spcAft>
          </a:pPr>
          <a:r>
            <a:rPr lang="en-US" sz="1800" kern="1200"/>
            <a:t>L1 Cache</a:t>
          </a:r>
        </a:p>
      </dsp:txBody>
      <dsp:txXfrm>
        <a:off x="2506980" y="736600"/>
        <a:ext cx="1386840" cy="736600"/>
      </dsp:txXfrm>
    </dsp:sp>
    <dsp:sp modelId="{4CDE54DA-B57D-4E4A-B0EF-6EE1DB8FFD09}">
      <dsp:nvSpPr>
        <dsp:cNvPr id="0" name=""/>
        <dsp:cNvSpPr/>
      </dsp:nvSpPr>
      <dsp:spPr>
        <a:xfrm>
          <a:off x="1600200" y="1473200"/>
          <a:ext cx="3200400" cy="736600"/>
        </a:xfrm>
        <a:prstGeom prst="trapezoid">
          <a:avLst>
            <a:gd name="adj" fmla="val 72414"/>
          </a:avLst>
        </a:prstGeom>
        <a:solidFill>
          <a:schemeClr val="accent5">
            <a:hueOff val="-818982"/>
            <a:satOff val="-16530"/>
            <a:lumOff val="-125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b" anchorCtr="0">
          <a:noAutofit/>
        </a:bodyPr>
        <a:lstStyle/>
        <a:p>
          <a:pPr lvl="0" algn="ctr" defTabSz="889000">
            <a:lnSpc>
              <a:spcPct val="90000"/>
            </a:lnSpc>
            <a:spcBef>
              <a:spcPct val="0"/>
            </a:spcBef>
            <a:spcAft>
              <a:spcPct val="35000"/>
            </a:spcAft>
          </a:pPr>
          <a:r>
            <a:rPr lang="en-US" sz="2000" kern="1200"/>
            <a:t>L2 Cache</a:t>
          </a:r>
        </a:p>
      </dsp:txBody>
      <dsp:txXfrm>
        <a:off x="2160269" y="1473200"/>
        <a:ext cx="2080260" cy="736600"/>
      </dsp:txXfrm>
    </dsp:sp>
    <dsp:sp modelId="{ACCF894D-C6F1-4D42-91C8-4B7BC20C8FDA}">
      <dsp:nvSpPr>
        <dsp:cNvPr id="0" name=""/>
        <dsp:cNvSpPr/>
      </dsp:nvSpPr>
      <dsp:spPr>
        <a:xfrm>
          <a:off x="1066800" y="2209800"/>
          <a:ext cx="4267200" cy="736600"/>
        </a:xfrm>
        <a:prstGeom prst="trapezoid">
          <a:avLst>
            <a:gd name="adj" fmla="val 72414"/>
          </a:avLst>
        </a:prstGeom>
        <a:solidFill>
          <a:schemeClr val="accent5">
            <a:hueOff val="-1228474"/>
            <a:satOff val="-24794"/>
            <a:lumOff val="-1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b" anchorCtr="0">
          <a:noAutofit/>
        </a:bodyPr>
        <a:lstStyle/>
        <a:p>
          <a:pPr lvl="0" algn="ctr" defTabSz="977900">
            <a:lnSpc>
              <a:spcPct val="90000"/>
            </a:lnSpc>
            <a:spcBef>
              <a:spcPct val="0"/>
            </a:spcBef>
            <a:spcAft>
              <a:spcPct val="35000"/>
            </a:spcAft>
          </a:pPr>
          <a:r>
            <a:rPr lang="en-US" sz="2200" kern="1200"/>
            <a:t>Main Memory</a:t>
          </a:r>
        </a:p>
      </dsp:txBody>
      <dsp:txXfrm>
        <a:off x="1813559" y="2209800"/>
        <a:ext cx="2773680" cy="736600"/>
      </dsp:txXfrm>
    </dsp:sp>
    <dsp:sp modelId="{CD40BACA-C213-4C50-AD2F-55DDC18F9395}">
      <dsp:nvSpPr>
        <dsp:cNvPr id="0" name=""/>
        <dsp:cNvSpPr/>
      </dsp:nvSpPr>
      <dsp:spPr>
        <a:xfrm>
          <a:off x="533400" y="2941796"/>
          <a:ext cx="5334000" cy="736600"/>
        </a:xfrm>
        <a:prstGeom prst="trapezoid">
          <a:avLst>
            <a:gd name="adj" fmla="val 72414"/>
          </a:avLst>
        </a:prstGeom>
        <a:solidFill>
          <a:schemeClr val="accent5">
            <a:hueOff val="-1637965"/>
            <a:satOff val="-33059"/>
            <a:lumOff val="-250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b" anchorCtr="0">
          <a:noAutofit/>
        </a:bodyPr>
        <a:lstStyle/>
        <a:p>
          <a:pPr lvl="0" algn="ctr" defTabSz="1066800">
            <a:lnSpc>
              <a:spcPct val="90000"/>
            </a:lnSpc>
            <a:spcBef>
              <a:spcPct val="0"/>
            </a:spcBef>
            <a:spcAft>
              <a:spcPct val="35000"/>
            </a:spcAft>
          </a:pPr>
          <a:r>
            <a:rPr lang="en-US" sz="2400" kern="1200" dirty="0"/>
            <a:t>Local secondary storage (Magnetic Disk)</a:t>
          </a:r>
        </a:p>
      </dsp:txBody>
      <dsp:txXfrm>
        <a:off x="1466849" y="2941796"/>
        <a:ext cx="3467100" cy="736600"/>
      </dsp:txXfrm>
    </dsp:sp>
    <dsp:sp modelId="{BD97916C-1EAA-41D6-A1F4-C0CD1CA716DD}">
      <dsp:nvSpPr>
        <dsp:cNvPr id="0" name=""/>
        <dsp:cNvSpPr/>
      </dsp:nvSpPr>
      <dsp:spPr>
        <a:xfrm>
          <a:off x="0" y="3683000"/>
          <a:ext cx="6400800" cy="736600"/>
        </a:xfrm>
        <a:prstGeom prst="trapezoid">
          <a:avLst>
            <a:gd name="adj" fmla="val 72414"/>
          </a:avLst>
        </a:prstGeom>
        <a:solidFill>
          <a:schemeClr val="accent5">
            <a:hueOff val="-2047456"/>
            <a:satOff val="-41324"/>
            <a:lumOff val="-313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b" anchorCtr="0">
          <a:noAutofit/>
        </a:bodyPr>
        <a:lstStyle/>
        <a:p>
          <a:pPr lvl="0" algn="ctr" defTabSz="1155700">
            <a:lnSpc>
              <a:spcPct val="90000"/>
            </a:lnSpc>
            <a:spcBef>
              <a:spcPct val="0"/>
            </a:spcBef>
            <a:spcAft>
              <a:spcPct val="35000"/>
            </a:spcAft>
          </a:pPr>
          <a:r>
            <a:rPr lang="en-US" sz="2600" kern="1200" dirty="0"/>
            <a:t>Remote secondary storage (Magnetic tape)</a:t>
          </a:r>
        </a:p>
      </dsp:txBody>
      <dsp:txXfrm>
        <a:off x="1120139" y="3683000"/>
        <a:ext cx="4160520" cy="736600"/>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7072"/>
          </a:xfrm>
          <a:prstGeom prst="rect">
            <a:avLst/>
          </a:prstGeom>
        </p:spPr>
        <p:txBody>
          <a:bodyPr vert="horz" lIns="92930" tIns="46465" rIns="92930" bIns="46465" rtlCol="0"/>
          <a:lstStyle>
            <a:lvl1pPr algn="l">
              <a:defRPr sz="1200"/>
            </a:lvl1pPr>
          </a:lstStyle>
          <a:p>
            <a:endParaRPr lang="en-US"/>
          </a:p>
        </p:txBody>
      </p:sp>
      <p:sp>
        <p:nvSpPr>
          <p:cNvPr id="3" name="Date Placeholder 2"/>
          <p:cNvSpPr>
            <a:spLocks noGrp="1"/>
          </p:cNvSpPr>
          <p:nvPr>
            <p:ph type="dt" idx="1"/>
          </p:nvPr>
        </p:nvSpPr>
        <p:spPr>
          <a:xfrm>
            <a:off x="3939466" y="0"/>
            <a:ext cx="3013763" cy="467072"/>
          </a:xfrm>
          <a:prstGeom prst="rect">
            <a:avLst/>
          </a:prstGeom>
        </p:spPr>
        <p:txBody>
          <a:bodyPr vert="horz" lIns="92930" tIns="46465" rIns="92930" bIns="46465" rtlCol="0"/>
          <a:lstStyle>
            <a:lvl1pPr algn="r">
              <a:defRPr sz="1200"/>
            </a:lvl1pPr>
          </a:lstStyle>
          <a:p>
            <a:fld id="{D648E3F3-8B31-41D2-AA9B-9796555DB866}" type="datetimeFigureOut">
              <a:rPr lang="en-US" smtClean="0"/>
              <a:t>1/21/2024</a:t>
            </a:fld>
            <a:endParaRPr lang="en-US"/>
          </a:p>
        </p:txBody>
      </p:sp>
      <p:sp>
        <p:nvSpPr>
          <p:cNvPr id="4" name="Slide Image Placeholder 3"/>
          <p:cNvSpPr>
            <a:spLocks noGrp="1" noRot="1" noChangeAspect="1"/>
          </p:cNvSpPr>
          <p:nvPr>
            <p:ph type="sldImg" idx="2"/>
          </p:nvPr>
        </p:nvSpPr>
        <p:spPr>
          <a:xfrm>
            <a:off x="685800" y="1163638"/>
            <a:ext cx="5583238" cy="3141662"/>
          </a:xfrm>
          <a:prstGeom prst="rect">
            <a:avLst/>
          </a:prstGeom>
          <a:noFill/>
          <a:ln w="12700">
            <a:solidFill>
              <a:prstClr val="black"/>
            </a:solidFill>
          </a:ln>
        </p:spPr>
      </p:sp>
      <p:sp>
        <p:nvSpPr>
          <p:cNvPr id="5" name="Notes Placeholder 4"/>
          <p:cNvSpPr>
            <a:spLocks noGrp="1"/>
          </p:cNvSpPr>
          <p:nvPr>
            <p:ph type="body" sz="quarter" idx="3"/>
          </p:nvPr>
        </p:nvSpPr>
        <p:spPr>
          <a:xfrm>
            <a:off x="695484" y="4480004"/>
            <a:ext cx="5563870" cy="3665458"/>
          </a:xfrm>
          <a:prstGeom prst="rect">
            <a:avLst/>
          </a:prstGeom>
        </p:spPr>
        <p:txBody>
          <a:bodyPr vert="horz" lIns="92930" tIns="46465" rIns="92930" bIns="4646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13763" cy="467071"/>
          </a:xfrm>
          <a:prstGeom prst="rect">
            <a:avLst/>
          </a:prstGeom>
        </p:spPr>
        <p:txBody>
          <a:bodyPr vert="horz" lIns="92930" tIns="46465" rIns="92930" bIns="46465" rtlCol="0" anchor="b"/>
          <a:lstStyle>
            <a:lvl1pPr algn="l">
              <a:defRPr sz="1200"/>
            </a:lvl1pPr>
          </a:lstStyle>
          <a:p>
            <a:endParaRPr lang="en-US"/>
          </a:p>
        </p:txBody>
      </p:sp>
      <p:sp>
        <p:nvSpPr>
          <p:cNvPr id="7" name="Slide Number Placeholder 6"/>
          <p:cNvSpPr>
            <a:spLocks noGrp="1"/>
          </p:cNvSpPr>
          <p:nvPr>
            <p:ph type="sldNum" sz="quarter" idx="5"/>
          </p:nvPr>
        </p:nvSpPr>
        <p:spPr>
          <a:xfrm>
            <a:off x="3939466" y="8842030"/>
            <a:ext cx="3013763" cy="467071"/>
          </a:xfrm>
          <a:prstGeom prst="rect">
            <a:avLst/>
          </a:prstGeom>
        </p:spPr>
        <p:txBody>
          <a:bodyPr vert="horz" lIns="92930" tIns="46465" rIns="92930" bIns="46465"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Contiguous memory allocation:</a:t>
            </a:r>
          </a:p>
          <a:p>
            <a:r>
              <a:rPr lang="en-US" dirty="0"/>
              <a:t>Contiguous memory allocation is basically a method in which a single contiguous section/part of memory is allocated to a process or file needing it. Because of this all the available memory space resides at the same place together, which means that the freely/unused available memory partitions are not distributed in a random fashion here and there across the whole memory space.</a:t>
            </a:r>
          </a:p>
          <a:p>
            <a:r>
              <a:rPr lang="en-US" dirty="0"/>
              <a:t>Non-contiguous memory allocation:</a:t>
            </a:r>
          </a:p>
          <a:p>
            <a:r>
              <a:rPr lang="en-US" dirty="0"/>
              <a:t>Non-Contiguous memory allocation is basically a method on the contrary to contiguous allocation method, allocates the memory space present in different locations to the process as per it’s requirements. As all the available memory space is in a distributed pattern so the freely available memory space is also scattered here and there. This technique of memory allocation helps to reduce the wastage of memory, which eventually gives rise to Internal and external fragmentation.</a:t>
            </a:r>
          </a:p>
        </p:txBody>
      </p:sp>
      <p:sp>
        <p:nvSpPr>
          <p:cNvPr id="4" name="Slide Number Placeholder 3"/>
          <p:cNvSpPr>
            <a:spLocks noGrp="1"/>
          </p:cNvSpPr>
          <p:nvPr>
            <p:ph type="sldNum" sz="quarter" idx="5"/>
          </p:nvPr>
        </p:nvSpPr>
        <p:spPr/>
        <p:txBody>
          <a:bodyPr/>
          <a:lstStyle/>
          <a:p>
            <a:fld id="{BC79BDEF-6165-4E72-B1A6-6E8034CEC248}" type="slidenum">
              <a:rPr lang="en-US" smtClean="0"/>
              <a:t>7</a:t>
            </a:fld>
            <a:endParaRPr lang="en-US"/>
          </a:p>
        </p:txBody>
      </p:sp>
    </p:spTree>
    <p:extLst>
      <p:ext uri="{BB962C8B-B14F-4D97-AF65-F5344CB8AC3E}">
        <p14:creationId xmlns:p14="http://schemas.microsoft.com/office/powerpoint/2010/main" val="6444764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Contiguous allocation so spanning(portion of one process cannot be used by another) is not allowed.</a:t>
            </a:r>
          </a:p>
          <a:p>
            <a:r>
              <a:rPr lang="en-US" dirty="0"/>
              <a:t>So waste huncha memory space n internal fragmentation huncha</a:t>
            </a:r>
          </a:p>
        </p:txBody>
      </p:sp>
      <p:sp>
        <p:nvSpPr>
          <p:cNvPr id="4" name="Slide Number Placeholder 3"/>
          <p:cNvSpPr>
            <a:spLocks noGrp="1"/>
          </p:cNvSpPr>
          <p:nvPr>
            <p:ph type="sldNum" sz="quarter" idx="5"/>
          </p:nvPr>
        </p:nvSpPr>
        <p:spPr/>
        <p:txBody>
          <a:bodyPr/>
          <a:lstStyle/>
          <a:p>
            <a:fld id="{BC79BDEF-6165-4E72-B1A6-6E8034CEC248}" type="slidenum">
              <a:rPr lang="en-US" smtClean="0"/>
              <a:t>10</a:t>
            </a:fld>
            <a:endParaRPr lang="en-US"/>
          </a:p>
        </p:txBody>
      </p:sp>
    </p:spTree>
    <p:extLst>
      <p:ext uri="{BB962C8B-B14F-4D97-AF65-F5344CB8AC3E}">
        <p14:creationId xmlns:p14="http://schemas.microsoft.com/office/powerpoint/2010/main" val="1789813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79BDEF-6165-4E72-B1A6-6E8034CEC248}" type="slidenum">
              <a:rPr lang="en-US" smtClean="0"/>
              <a:t>14</a:t>
            </a:fld>
            <a:endParaRPr lang="en-US"/>
          </a:p>
        </p:txBody>
      </p:sp>
    </p:spTree>
    <p:extLst>
      <p:ext uri="{BB962C8B-B14F-4D97-AF65-F5344CB8AC3E}">
        <p14:creationId xmlns:p14="http://schemas.microsoft.com/office/powerpoint/2010/main" val="19085855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79BDEF-6165-4E72-B1A6-6E8034CEC248}" type="slidenum">
              <a:rPr lang="en-US" smtClean="0"/>
              <a:t>20</a:t>
            </a:fld>
            <a:endParaRPr lang="en-US"/>
          </a:p>
        </p:txBody>
      </p:sp>
    </p:spTree>
    <p:extLst>
      <p:ext uri="{BB962C8B-B14F-4D97-AF65-F5344CB8AC3E}">
        <p14:creationId xmlns:p14="http://schemas.microsoft.com/office/powerpoint/2010/main" val="337495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79BDEF-6165-4E72-B1A6-6E8034CEC248}" type="slidenum">
              <a:rPr lang="en-US" smtClean="0"/>
              <a:t>26</a:t>
            </a:fld>
            <a:endParaRPr lang="en-US"/>
          </a:p>
        </p:txBody>
      </p:sp>
    </p:spTree>
    <p:extLst>
      <p:ext uri="{BB962C8B-B14F-4D97-AF65-F5344CB8AC3E}">
        <p14:creationId xmlns:p14="http://schemas.microsoft.com/office/powerpoint/2010/main" val="29531526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79BDEF-6165-4E72-B1A6-6E8034CEC248}" type="slidenum">
              <a:rPr lang="en-US" smtClean="0"/>
              <a:t>33</a:t>
            </a:fld>
            <a:endParaRPr lang="en-US"/>
          </a:p>
        </p:txBody>
      </p:sp>
    </p:spTree>
    <p:extLst>
      <p:ext uri="{BB962C8B-B14F-4D97-AF65-F5344CB8AC3E}">
        <p14:creationId xmlns:p14="http://schemas.microsoft.com/office/powerpoint/2010/main" val="4514157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79BDEF-6165-4E72-B1A6-6E8034CEC248}" type="slidenum">
              <a:rPr lang="en-US" smtClean="0"/>
              <a:t>34</a:t>
            </a:fld>
            <a:endParaRPr lang="en-US"/>
          </a:p>
        </p:txBody>
      </p:sp>
    </p:spTree>
    <p:extLst>
      <p:ext uri="{BB962C8B-B14F-4D97-AF65-F5344CB8AC3E}">
        <p14:creationId xmlns:p14="http://schemas.microsoft.com/office/powerpoint/2010/main" val="1599893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79BDEF-6165-4E72-B1A6-6E8034CEC248}" type="slidenum">
              <a:rPr lang="en-US" smtClean="0"/>
              <a:t>75</a:t>
            </a:fld>
            <a:endParaRPr lang="en-US"/>
          </a:p>
        </p:txBody>
      </p:sp>
    </p:spTree>
    <p:extLst>
      <p:ext uri="{BB962C8B-B14F-4D97-AF65-F5344CB8AC3E}">
        <p14:creationId xmlns:p14="http://schemas.microsoft.com/office/powerpoint/2010/main" val="393700578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jpe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microsoft.com/office/2007/relationships/hdphoto" Target="../media/hdphoto3.wdp"/><Relationship Id="rId5" Type="http://schemas.openxmlformats.org/officeDocument/2006/relationships/image" Target="../media/image12.png"/><Relationship Id="rId10" Type="http://schemas.openxmlformats.org/officeDocument/2006/relationships/image" Target="../media/image9.jpeg"/><Relationship Id="rId4" Type="http://schemas.openxmlformats.org/officeDocument/2006/relationships/image" Target="../media/image6.png"/><Relationship Id="rId9" Type="http://schemas.openxmlformats.org/officeDocument/2006/relationships/image" Target="../media/image13.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png"/><Relationship Id="rId7" Type="http://schemas.microsoft.com/office/2007/relationships/hdphoto" Target="../media/hdphoto1.wdp"/><Relationship Id="rId2" Type="http://schemas.openxmlformats.org/officeDocument/2006/relationships/image" Target="../media/image14.jpe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16.jpeg"/><Relationship Id="rId4" Type="http://schemas.openxmlformats.org/officeDocument/2006/relationships/image" Target="../media/image3.png"/><Relationship Id="rId9" Type="http://schemas.microsoft.com/office/2007/relationships/hdphoto" Target="../media/hdphoto1.wdp"/></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0">
                      <a:srgbClr val="1D3064"/>
                    </a:gs>
                    <a:gs pos="100000">
                      <a:schemeClr val="tx2"/>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0" name="Picture 19">
            <a:extLst>
              <a:ext uri="{FF2B5EF4-FFF2-40B4-BE49-F238E27FC236}">
                <a16:creationId xmlns:a16="http://schemas.microsoft.com/office/drawing/2014/main" xmlns="" id="{E0042908-6588-4C7A-9615-8D5899E8A9FA}"/>
              </a:ext>
            </a:extLst>
          </p:cNvPr>
          <p:cNvPicPr>
            <a:picLocks noChangeAspect="1"/>
          </p:cNvPicPr>
          <p:nvPr userDrawn="1"/>
        </p:nvPicPr>
        <p:blipFill>
          <a:blip r:embed="rId10">
            <a:extLst>
              <a:ext uri="{28A0092B-C50C-407E-A947-70E740481C1C}">
                <a14:useLocalDpi xmlns:a14="http://schemas.microsoft.com/office/drawing/2010/main" val="0"/>
              </a:ext>
            </a:extLst>
          </a:blip>
          <a:srcRect l="144383" t="-16142" r="-144383" b="22103"/>
          <a:stretch>
            <a:fillRect/>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xmlns="" id="{3C805A05-DDF6-4BA6-8EDB-D97128A43BFF}"/>
              </a:ext>
            </a:extLst>
          </p:cNvPr>
          <p:cNvPicPr>
            <a:picLocks noChangeAspect="1" noChangeArrowheads="1"/>
          </p:cNvPicPr>
          <p:nvPr userDrawn="1"/>
        </p:nvPicPr>
        <p:blipFill>
          <a:blip r:embed="rId11">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xmlns=""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xmlns=""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xmlns="" id="{CA463A36-7025-4394-9467-8A3EC3425B00}"/>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2FDD4DD-5166-4E79-9356-972B041BCD75}" type="datetime4">
              <a:rPr lang="en-US" smtClean="0">
                <a:solidFill>
                  <a:schemeClr val="tx1">
                    <a:lumMod val="90000"/>
                    <a:lumOff val="10000"/>
                  </a:schemeClr>
                </a:solidFill>
                <a:latin typeface="Roboto Condensed Light" panose="02000000000000000000" pitchFamily="2" charset="0"/>
                <a:ea typeface="Roboto Condensed Light" panose="02000000000000000000" pitchFamily="2" charset="0"/>
              </a:rPr>
              <a:t>January 21, 2024</a:t>
            </a:fld>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xmlns="" id="{BF2BE79E-EA17-4AB9-8CB5-714A52A6B2F5}"/>
              </a:ext>
            </a:extLst>
          </p:cNvPr>
          <p:cNvSpPr txBox="1"/>
          <p:nvPr userDrawn="1"/>
        </p:nvSpPr>
        <p:spPr>
          <a:xfrm>
            <a:off x="4038600" y="6604000"/>
            <a:ext cx="466344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Unit 6 – Memory Management</a:t>
            </a:r>
            <a:endPar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endParaRPr>
          </a:p>
        </p:txBody>
      </p:sp>
      <p:sp>
        <p:nvSpPr>
          <p:cNvPr id="23" name="Slide Number Placeholder 3">
            <a:extLst>
              <a:ext uri="{FF2B5EF4-FFF2-40B4-BE49-F238E27FC236}">
                <a16:creationId xmlns:a16="http://schemas.microsoft.com/office/drawing/2014/main" xmlns="" id="{FE084249-8DB7-4B0A-AA7A-A1A407FC0773}"/>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xmlns="" id="{ACB01872-4321-4181-A609-1C503C074C10}"/>
              </a:ext>
            </a:extLst>
          </p:cNvPr>
          <p:cNvPicPr preferRelativeResize="0"/>
          <p:nvPr userDrawn="1"/>
        </p:nvPicPr>
        <p:blipFill>
          <a:blip r:embed="rId2">
            <a:alphaModFix/>
          </a:blip>
          <a:srcRect t="86739" r="1768" b="3535"/>
          <a:stretch>
            <a:fill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xmlns=""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a:solidFill>
                  <a:schemeClr val="tx1">
                    <a:lumMod val="90000"/>
                    <a:lumOff val="10000"/>
                  </a:schemeClr>
                </a:solidFill>
                <a:effectLst/>
                <a:latin typeface="+mj-lt"/>
                <a:ea typeface="+mj-ea"/>
                <a:cs typeface="+mj-cs"/>
              </a:defRPr>
            </a:lvl1pPr>
          </a:lstStyle>
          <a:p>
            <a:r>
              <a:rPr lang="en-US"/>
              <a:t>Click to edit Master title style</a:t>
            </a:r>
          </a:p>
        </p:txBody>
      </p:sp>
      <p:sp>
        <p:nvSpPr>
          <p:cNvPr id="3" name="Content Placeholder 2">
            <a:extLst>
              <a:ext uri="{FF2B5EF4-FFF2-40B4-BE49-F238E27FC236}">
                <a16:creationId xmlns:a16="http://schemas.microsoft.com/office/drawing/2014/main" xmlns=""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a16="http://schemas.microsoft.com/office/drawing/2014/main" xmlns=""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F86BF578-C91A-4942-95D5-11408C3CCACF}"/>
              </a:ext>
            </a:extLst>
          </p:cNvPr>
          <p:cNvCxnSpPr/>
          <p:nvPr userDrawn="1"/>
        </p:nvCxnSpPr>
        <p:spPr>
          <a:xfrm>
            <a:off x="13118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3331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xmlns=""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xmlns="" id="{CA463A36-7025-4394-9467-8A3EC3425B00}"/>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C2D5653-1921-498E-B5A8-325260A6A4E3}" type="datetime4">
              <a:rPr lang="en-US" smtClean="0">
                <a:solidFill>
                  <a:schemeClr val="tx1">
                    <a:lumMod val="90000"/>
                    <a:lumOff val="10000"/>
                  </a:schemeClr>
                </a:solidFill>
                <a:latin typeface="Roboto Condensed Light" panose="02000000000000000000" pitchFamily="2" charset="0"/>
                <a:ea typeface="Roboto Condensed Light" panose="02000000000000000000" pitchFamily="2" charset="0"/>
              </a:rPr>
              <a:t>January 21, 2024</a:t>
            </a:fld>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xmlns="" id="{BF2BE79E-EA17-4AB9-8CB5-714A52A6B2F5}"/>
              </a:ext>
            </a:extLst>
          </p:cNvPr>
          <p:cNvSpPr txBox="1"/>
          <p:nvPr userDrawn="1"/>
        </p:nvSpPr>
        <p:spPr>
          <a:xfrm>
            <a:off x="4038600" y="6604000"/>
            <a:ext cx="466344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Unit 5 – Memory Management</a:t>
            </a:r>
          </a:p>
        </p:txBody>
      </p:sp>
      <p:sp>
        <p:nvSpPr>
          <p:cNvPr id="23" name="Slide Number Placeholder 3">
            <a:extLst>
              <a:ext uri="{FF2B5EF4-FFF2-40B4-BE49-F238E27FC236}">
                <a16:creationId xmlns:a16="http://schemas.microsoft.com/office/drawing/2014/main" xmlns="" id="{FE084249-8DB7-4B0A-AA7A-A1A407FC0773}"/>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xmlns="" id="{ACB01872-4321-4181-A609-1C503C074C10}"/>
              </a:ext>
            </a:extLst>
          </p:cNvPr>
          <p:cNvPicPr preferRelativeResize="0"/>
          <p:nvPr userDrawn="1"/>
        </p:nvPicPr>
        <p:blipFill>
          <a:blip r:embed="rId2">
            <a:alphaModFix/>
          </a:blip>
          <a:srcRect t="86739" r="1768" b="3535"/>
          <a:stretch>
            <a:fill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xmlns=""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a:solidFill>
                  <a:schemeClr val="tx1">
                    <a:lumMod val="90000"/>
                    <a:lumOff val="10000"/>
                  </a:schemeClr>
                </a:solidFill>
                <a:effectLst/>
                <a:latin typeface="+mj-lt"/>
                <a:ea typeface="+mj-ea"/>
                <a:cs typeface="+mj-cs"/>
              </a:defRPr>
            </a:lvl1pPr>
          </a:lstStyle>
          <a:p>
            <a:r>
              <a:rPr lang="en-US"/>
              <a:t>Click to edit Master title style</a:t>
            </a:r>
          </a:p>
        </p:txBody>
      </p:sp>
      <p:sp>
        <p:nvSpPr>
          <p:cNvPr id="3" name="Content Placeholder 2">
            <a:extLst>
              <a:ext uri="{FF2B5EF4-FFF2-40B4-BE49-F238E27FC236}">
                <a16:creationId xmlns:a16="http://schemas.microsoft.com/office/drawing/2014/main" xmlns=""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xmlns=""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76124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xmlns=""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xmlns="" id="{CA463A36-7025-4394-9467-8A3EC3425B00}"/>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0E30EC8-0F98-4D29-801B-0EDB2D1D1CB7}" type="datetime4">
              <a:rPr lang="en-US" smtClean="0">
                <a:solidFill>
                  <a:schemeClr val="tx1">
                    <a:lumMod val="90000"/>
                    <a:lumOff val="10000"/>
                  </a:schemeClr>
                </a:solidFill>
                <a:latin typeface="Roboto Condensed Light" panose="02000000000000000000" pitchFamily="2" charset="0"/>
                <a:ea typeface="Roboto Condensed Light" panose="02000000000000000000" pitchFamily="2" charset="0"/>
              </a:rPr>
              <a:t>January 21, 2024</a:t>
            </a:fld>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xmlns="" id="{BF2BE79E-EA17-4AB9-8CB5-714A52A6B2F5}"/>
              </a:ext>
            </a:extLst>
          </p:cNvPr>
          <p:cNvSpPr txBox="1"/>
          <p:nvPr userDrawn="1"/>
        </p:nvSpPr>
        <p:spPr>
          <a:xfrm>
            <a:off x="4038600" y="6604000"/>
            <a:ext cx="466344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Unit 6 – Memory Management</a:t>
            </a:r>
          </a:p>
        </p:txBody>
      </p:sp>
      <p:sp>
        <p:nvSpPr>
          <p:cNvPr id="23" name="Slide Number Placeholder 3">
            <a:extLst>
              <a:ext uri="{FF2B5EF4-FFF2-40B4-BE49-F238E27FC236}">
                <a16:creationId xmlns:a16="http://schemas.microsoft.com/office/drawing/2014/main" xmlns="" id="{FE084249-8DB7-4B0A-AA7A-A1A407FC0773}"/>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xmlns="" id="{ACB01872-4321-4181-A609-1C503C074C10}"/>
              </a:ext>
            </a:extLst>
          </p:cNvPr>
          <p:cNvPicPr preferRelativeResize="0"/>
          <p:nvPr userDrawn="1"/>
        </p:nvPicPr>
        <p:blipFill>
          <a:blip r:embed="rId2">
            <a:alphaModFix/>
          </a:blip>
          <a:srcRect t="86739" r="1768" b="3535"/>
          <a:stretch>
            <a:fill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xmlns=""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a:solidFill>
                  <a:schemeClr val="tx1">
                    <a:lumMod val="90000"/>
                    <a:lumOff val="10000"/>
                  </a:schemeClr>
                </a:solidFill>
                <a:effectLst/>
                <a:latin typeface="+mj-lt"/>
                <a:ea typeface="+mj-ea"/>
                <a:cs typeface="+mj-cs"/>
              </a:defRPr>
            </a:lvl1pPr>
          </a:lstStyle>
          <a:p>
            <a:r>
              <a:rPr lang="en-US"/>
              <a:t>Click to edit Master title style</a:t>
            </a:r>
          </a:p>
        </p:txBody>
      </p:sp>
      <p:sp>
        <p:nvSpPr>
          <p:cNvPr id="3" name="Content Placeholder 2">
            <a:extLst>
              <a:ext uri="{FF2B5EF4-FFF2-40B4-BE49-F238E27FC236}">
                <a16:creationId xmlns:a16="http://schemas.microsoft.com/office/drawing/2014/main" xmlns="" id="{DC6F4971-704E-42EF-A852-52D75741FB7C}"/>
              </a:ext>
            </a:extLst>
          </p:cNvPr>
          <p:cNvSpPr>
            <a:spLocks noGrp="1"/>
          </p:cNvSpPr>
          <p:nvPr>
            <p:ph idx="1"/>
          </p:nvPr>
        </p:nvSpPr>
        <p:spPr>
          <a:xfrm>
            <a:off x="87924" y="863445"/>
            <a:ext cx="11972898" cy="5616486"/>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a16="http://schemas.microsoft.com/office/drawing/2014/main" xmlns=""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6285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xmlns="" id="{07171932-FFF4-4D27-9425-8CB5D27A92F2}"/>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11581" b="21180"/>
          <a:stretch>
            <a:fillRect/>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xmlns="" id="{1639DF2A-5426-428D-B32D-78E9191D8A0C}"/>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a:fillRect/>
          </a:stretch>
        </p:blipFill>
        <p:spPr>
          <a:xfrm>
            <a:off x="0" y="401568"/>
            <a:ext cx="543946" cy="772151"/>
          </a:xfrm>
          <a:prstGeom prst="rect">
            <a:avLst/>
          </a:prstGeom>
        </p:spPr>
      </p:pic>
      <p:sp>
        <p:nvSpPr>
          <p:cNvPr id="2" name="Title 1">
            <a:extLst>
              <a:ext uri="{FF2B5EF4-FFF2-40B4-BE49-F238E27FC236}">
                <a16:creationId xmlns:a16="http://schemas.microsoft.com/office/drawing/2014/main" xmlns=""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a:gradFill flip="none" rotWithShape="1">
                  <a:gsLst>
                    <a:gs pos="0">
                      <a:srgbClr val="1D3064"/>
                    </a:gs>
                    <a:gs pos="100000">
                      <a:schemeClr val="tx2"/>
                    </a:gs>
                  </a:gsLst>
                  <a:lin ang="0" scaled="1"/>
                </a:gradFill>
                <a:effectLst/>
                <a:latin typeface="+mn-lt"/>
                <a:ea typeface="+mn-ea"/>
                <a:cs typeface="+mn-cs"/>
              </a:defRPr>
            </a:lvl1pPr>
          </a:lstStyle>
          <a:p>
            <a:r>
              <a:rPr lang="en-US"/>
              <a:t>Write here Section Title</a:t>
            </a:r>
          </a:p>
        </p:txBody>
      </p:sp>
      <p:sp>
        <p:nvSpPr>
          <p:cNvPr id="3" name="Text Placeholder 2">
            <a:extLst>
              <a:ext uri="{FF2B5EF4-FFF2-40B4-BE49-F238E27FC236}">
                <a16:creationId xmlns:a16="http://schemas.microsoft.com/office/drawing/2014/main" xmlns=""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Write here Section Subtitle</a:t>
            </a:r>
          </a:p>
        </p:txBody>
      </p:sp>
      <p:sp>
        <p:nvSpPr>
          <p:cNvPr id="10"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200169294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xmlns=""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xmlns="" id="{F2FD45BD-9964-4102-8DE9-72CDDDD20A49}"/>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Prof. Jay R Dhamsaniya</a:t>
            </a:r>
          </a:p>
        </p:txBody>
      </p:sp>
      <p:sp>
        <p:nvSpPr>
          <p:cNvPr id="17" name="Footer Placeholder 2">
            <a:extLst>
              <a:ext uri="{FF2B5EF4-FFF2-40B4-BE49-F238E27FC236}">
                <a16:creationId xmlns:a16="http://schemas.microsoft.com/office/drawing/2014/main" xmlns="" id="{59055D82-7978-44A5-82D1-0A4E00B382BF}"/>
              </a:ext>
            </a:extLst>
          </p:cNvPr>
          <p:cNvSpPr txBox="1"/>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xmlns="" id="{32768103-D8F5-4649-8107-E4B3B8C554BB}"/>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xmlns=""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xmlns="" id="{FE191CF5-3D57-422B-B2EB-FF235E30DB22}"/>
              </a:ext>
            </a:extLst>
          </p:cNvPr>
          <p:cNvGrpSpPr/>
          <p:nvPr userDrawn="1"/>
        </p:nvGrpSpPr>
        <p:grpSpPr>
          <a:xfrm>
            <a:off x="9576895" y="99192"/>
            <a:ext cx="2554143" cy="587454"/>
            <a:chOff x="131177" y="5775962"/>
            <a:chExt cx="2530239" cy="581956"/>
          </a:xfrm>
        </p:grpSpPr>
        <p:pic>
          <p:nvPicPr>
            <p:cNvPr id="12" name="Picture 11">
              <a:extLst>
                <a:ext uri="{FF2B5EF4-FFF2-40B4-BE49-F238E27FC236}">
                  <a16:creationId xmlns:a16="http://schemas.microsoft.com/office/drawing/2014/main" xmlns="" id="{C9B183D5-5DE8-48E7-85E7-60CE9D0FD2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xmlns=""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xmlns=""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xmlns="" id="{F2FD45BD-9964-4102-8DE9-72CDDDD20A49}"/>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Prof. Jay R Dhamsaniya</a:t>
            </a:r>
          </a:p>
        </p:txBody>
      </p:sp>
      <p:sp>
        <p:nvSpPr>
          <p:cNvPr id="17" name="Footer Placeholder 2">
            <a:extLst>
              <a:ext uri="{FF2B5EF4-FFF2-40B4-BE49-F238E27FC236}">
                <a16:creationId xmlns:a16="http://schemas.microsoft.com/office/drawing/2014/main" xmlns="" id="{59055D82-7978-44A5-82D1-0A4E00B382BF}"/>
              </a:ext>
            </a:extLst>
          </p:cNvPr>
          <p:cNvSpPr txBox="1"/>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xmlns="" id="{32768103-D8F5-4649-8107-E4B3B8C554BB}"/>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xmlns=""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xmlns="" id="{913602D2-CAF0-4790-95E8-87990761ED0C}"/>
              </a:ext>
            </a:extLst>
          </p:cNvPr>
          <p:cNvGrpSpPr/>
          <p:nvPr userDrawn="1"/>
        </p:nvGrpSpPr>
        <p:grpSpPr>
          <a:xfrm>
            <a:off x="9576895" y="5890392"/>
            <a:ext cx="2554143" cy="587454"/>
            <a:chOff x="131177" y="5775962"/>
            <a:chExt cx="2530239" cy="581956"/>
          </a:xfrm>
        </p:grpSpPr>
        <p:pic>
          <p:nvPicPr>
            <p:cNvPr id="12" name="Picture 11">
              <a:extLst>
                <a:ext uri="{FF2B5EF4-FFF2-40B4-BE49-F238E27FC236}">
                  <a16:creationId xmlns:a16="http://schemas.microsoft.com/office/drawing/2014/main" xmlns="" id="{A378A2C8-EF9C-479C-ACF0-D9819B46DF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xmlns="" id="{61DE4F58-7D48-453D-89E1-B25767150977}"/>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xmlns=""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xmlns="" id="{F2FD45BD-9964-4102-8DE9-72CDDDD20A49}"/>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Prof. Jay R Dhamsaniya</a:t>
            </a:r>
          </a:p>
        </p:txBody>
      </p:sp>
      <p:sp>
        <p:nvSpPr>
          <p:cNvPr id="17" name="Footer Placeholder 2">
            <a:extLst>
              <a:ext uri="{FF2B5EF4-FFF2-40B4-BE49-F238E27FC236}">
                <a16:creationId xmlns:a16="http://schemas.microsoft.com/office/drawing/2014/main" xmlns="" id="{59055D82-7978-44A5-82D1-0A4E00B382BF}"/>
              </a:ext>
            </a:extLst>
          </p:cNvPr>
          <p:cNvSpPr txBox="1"/>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xmlns="" id="{32768103-D8F5-4649-8107-E4B3B8C554BB}"/>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xmlns=""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xmlns=""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xmlns="" id="{30CB04CE-0025-4B1F-B962-A759D179D8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xmlns=""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6">
                        <a:lumMod val="50000"/>
                      </a:schemeClr>
                    </a:gs>
                    <a:gs pos="100000">
                      <a:schemeClr val="accent6"/>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7">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xmlns="" id="{80BF4AFD-B365-46D4-AAC5-485DFA5A7D42}"/>
              </a:ext>
            </a:extLst>
          </p:cNvPr>
          <p:cNvPicPr>
            <a:picLocks noChangeAspect="1" noChangeArrowheads="1"/>
          </p:cNvPicPr>
          <p:nvPr userDrawn="1"/>
        </p:nvPicPr>
        <p:blipFill>
          <a:blip r:embed="rId9">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
        <p:nvSpPr>
          <p:cNvPr id="38" name="Hexagon 37"/>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9" name="TextBox 38"/>
          <p:cNvSpPr txBox="1"/>
          <p:nvPr userDrawn="1"/>
        </p:nvSpPr>
        <p:spPr>
          <a:xfrm>
            <a:off x="5014038" y="2239638"/>
            <a:ext cx="2052165" cy="1938992"/>
          </a:xfrm>
          <a:prstGeom prst="rect">
            <a:avLst/>
          </a:prstGeom>
          <a:noFill/>
        </p:spPr>
        <p:txBody>
          <a:bodyPr wrap="none" rtlCol="0">
            <a:spAutoFit/>
          </a:bodyPr>
          <a:lstStyle/>
          <a:p>
            <a:pPr algn="ctr"/>
            <a:r>
              <a:rPr lang="en-US" sz="6000" b="1" i="1"/>
              <a:t>Thank</a:t>
            </a:r>
          </a:p>
          <a:p>
            <a:pPr algn="ctr"/>
            <a:r>
              <a:rPr lang="en-US" sz="6000" b="1" i="1"/>
              <a:t>You</a:t>
            </a:r>
          </a:p>
        </p:txBody>
      </p:sp>
      <p:sp>
        <p:nvSpPr>
          <p:cNvPr id="41" name="Rectangle 40"/>
          <p:cNvSpPr/>
          <p:nvPr userDrawn="1"/>
        </p:nvSpPr>
        <p:spPr>
          <a:xfrm>
            <a:off x="7678346" y="2221532"/>
            <a:ext cx="4513654"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2" name="Rectangle 41"/>
          <p:cNvSpPr/>
          <p:nvPr userDrawn="1"/>
        </p:nvSpPr>
        <p:spPr>
          <a:xfrm>
            <a:off x="0" y="2221532"/>
            <a:ext cx="4402106"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0038297"/>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5" cstate="print">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sp>
        <p:nvSpPr>
          <p:cNvPr id="41" name="Hexagon 40"/>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2" name="TextBox 41"/>
          <p:cNvSpPr txBox="1"/>
          <p:nvPr userDrawn="1"/>
        </p:nvSpPr>
        <p:spPr>
          <a:xfrm>
            <a:off x="5014038" y="2239638"/>
            <a:ext cx="2052165" cy="1938992"/>
          </a:xfrm>
          <a:prstGeom prst="rect">
            <a:avLst/>
          </a:prstGeom>
          <a:noFill/>
        </p:spPr>
        <p:txBody>
          <a:bodyPr wrap="none" rtlCol="0">
            <a:spAutoFit/>
          </a:bodyPr>
          <a:lstStyle/>
          <a:p>
            <a:pPr algn="ctr"/>
            <a:r>
              <a:rPr lang="en-US" sz="6000" b="1" i="1"/>
              <a:t>Thank</a:t>
            </a:r>
          </a:p>
          <a:p>
            <a:pPr algn="ctr"/>
            <a:r>
              <a:rPr lang="en-US" sz="6000" b="1" i="1"/>
              <a:t>You</a:t>
            </a:r>
          </a:p>
        </p:txBody>
      </p:sp>
      <p:sp>
        <p:nvSpPr>
          <p:cNvPr id="43" name="Rectangle 42"/>
          <p:cNvSpPr/>
          <p:nvPr userDrawn="1"/>
        </p:nvSpPr>
        <p:spPr>
          <a:xfrm>
            <a:off x="7678346" y="2221532"/>
            <a:ext cx="4513654"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4" name="Rectangle 43"/>
          <p:cNvSpPr/>
          <p:nvPr userDrawn="1"/>
        </p:nvSpPr>
        <p:spPr>
          <a:xfrm>
            <a:off x="0" y="2221532"/>
            <a:ext cx="4402106"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47"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cxnSp>
        <p:nvCxnSpPr>
          <p:cNvPr id="48" name="Straight Connector 47">
            <a:extLst>
              <a:ext uri="{FF2B5EF4-FFF2-40B4-BE49-F238E27FC236}">
                <a16:creationId xmlns:a16="http://schemas.microsoft.com/office/drawing/2014/main" xmlns="" id="{E79C5D16-8087-4587-9A0A-A0570C73E0E7}"/>
              </a:ext>
            </a:extLst>
          </p:cNvPr>
          <p:cNvCxnSpPr/>
          <p:nvPr userDrawn="1"/>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9" name="Picture 48">
            <a:extLst>
              <a:ext uri="{FF2B5EF4-FFF2-40B4-BE49-F238E27FC236}">
                <a16:creationId xmlns:a16="http://schemas.microsoft.com/office/drawing/2014/main" xmlns="" id="{9812EDA6-C656-492A-A9CA-44B03C639132}"/>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50" name="Picture 49">
            <a:extLst>
              <a:ext uri="{FF2B5EF4-FFF2-40B4-BE49-F238E27FC236}">
                <a16:creationId xmlns:a16="http://schemas.microsoft.com/office/drawing/2014/main" xmlns="" id="{627AEF91-6492-4B0C-A844-2296473B58DE}"/>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51" name="Text Placeholder 2">
            <a:extLst>
              <a:ext uri="{FF2B5EF4-FFF2-40B4-BE49-F238E27FC236}">
                <a16:creationId xmlns:a16="http://schemas.microsoft.com/office/drawing/2014/main" xmlns=""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52" name="Text Placeholder 2">
            <a:extLst>
              <a:ext uri="{FF2B5EF4-FFF2-40B4-BE49-F238E27FC236}">
                <a16:creationId xmlns:a16="http://schemas.microsoft.com/office/drawing/2014/main" xmlns=""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56"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7"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B71B1C"/>
                    </a:gs>
                    <a:gs pos="100000">
                      <a:srgbClr val="ED524F"/>
                    </a:gs>
                  </a:gsLst>
                  <a:lin ang="0" scaled="1"/>
                </a:gradFill>
                <a:effectLst/>
                <a:latin typeface="+mn-lt"/>
                <a:ea typeface="+mn-ea"/>
                <a:cs typeface="+mn-cs"/>
              </a:defRPr>
            </a:lvl1pPr>
          </a:lstStyle>
          <a:p>
            <a:pPr lvl="0"/>
            <a:r>
              <a:rPr lang="en-US"/>
              <a:t>Write here your Author Name (i.e. Prof. Jay R Dhamsaniya)</a:t>
            </a:r>
          </a:p>
        </p:txBody>
      </p:sp>
      <p:pic>
        <p:nvPicPr>
          <p:cNvPr id="58" name="Picture 57">
            <a:extLst>
              <a:ext uri="{FF2B5EF4-FFF2-40B4-BE49-F238E27FC236}">
                <a16:creationId xmlns:a16="http://schemas.microsoft.com/office/drawing/2014/main" xmlns="" id="{77B7B864-C091-4493-B14B-F5B61B586EED}"/>
              </a:ext>
            </a:extLst>
          </p:cNvPr>
          <p:cNvPicPr>
            <a:picLocks noChangeAspect="1"/>
          </p:cNvPicPr>
          <p:nvPr userDrawn="1"/>
        </p:nvPicPr>
        <p:blipFill>
          <a:blip r:embed="rId9">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59" name="Picture 58" descr="User icon Royalty Free Vector Image - VectorStock">
            <a:extLst>
              <a:ext uri="{FF2B5EF4-FFF2-40B4-BE49-F238E27FC236}">
                <a16:creationId xmlns:a16="http://schemas.microsoft.com/office/drawing/2014/main" xmlns="" id="{177B86E9-222D-4757-BE64-59540DB794E6}"/>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60" name="Picture Placeholder 29">
            <a:extLst>
              <a:ext uri="{FF2B5EF4-FFF2-40B4-BE49-F238E27FC236}">
                <a16:creationId xmlns:a16="http://schemas.microsoft.com/office/drawing/2014/main" xmlns=""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94182793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a:solidFill>
                  <a:srgbClr val="FF0000"/>
                </a:solidFill>
              </a:rPr>
              <a:t>How to Crop Circular Photo?</a:t>
            </a:r>
          </a:p>
        </p:txBody>
      </p:sp>
      <p:sp>
        <p:nvSpPr>
          <p:cNvPr id="11" name="Picture Placeholder 10">
            <a:extLst>
              <a:ext uri="{FF2B5EF4-FFF2-40B4-BE49-F238E27FC236}">
                <a16:creationId xmlns:a16="http://schemas.microsoft.com/office/drawing/2014/main" xmlns=""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4">
                        <a:lumMod val="50000"/>
                      </a:schemeClr>
                    </a:gs>
                    <a:gs pos="100000">
                      <a:srgbClr val="009788"/>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0" name="Picture 19" descr="User icon Royalty Free Vector Image - VectorStock">
            <a:extLst>
              <a:ext uri="{FF2B5EF4-FFF2-40B4-BE49-F238E27FC236}">
                <a16:creationId xmlns:a16="http://schemas.microsoft.com/office/drawing/2014/main" xmlns="" id="{4A8E0F54-DC01-449D-B951-DC7CBAFD9546}"/>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xmlns=""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2">
                        <a:lumMod val="50000"/>
                      </a:schemeClr>
                    </a:gs>
                    <a:gs pos="100000">
                      <a:schemeClr val="accent2"/>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30" name="Picture 29" descr="User icon Royalty Free Vector Image - VectorStock">
            <a:extLst>
              <a:ext uri="{FF2B5EF4-FFF2-40B4-BE49-F238E27FC236}">
                <a16:creationId xmlns:a16="http://schemas.microsoft.com/office/drawing/2014/main" xmlns="" id="{5F55812D-505A-4B1A-9EB5-16DCD08F2B82}"/>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xmlns=""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3">
                        <a:lumMod val="50000"/>
                      </a:schemeClr>
                    </a:gs>
                    <a:gs pos="100000">
                      <a:schemeClr val="accent3"/>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xmlns="" id="{AE6570A8-081D-45CE-A0DD-F78F5EDB0F9B}"/>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5">
                        <a:lumMod val="75000"/>
                      </a:schemeClr>
                    </a:gs>
                    <a:gs pos="100000">
                      <a:schemeClr val="accent5"/>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xmlns="" id="{00C9ED70-1CC8-4EF2-BE10-AAFE24AAC5D7}"/>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61585978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34" name="Picture 4" descr="https://cdn5.vectorstock.com/i/1000x1000/21/59/dbms-database-management-system-computer-data-vector-8212159.jpg"/>
          <p:cNvPicPr>
            <a:picLocks noChangeAspect="1" noChangeArrowheads="1"/>
          </p:cNvPicPr>
          <p:nvPr userDrawn="1"/>
        </p:nvPicPr>
        <p:blipFill>
          <a:blip r:embed="rId2">
            <a:extLst>
              <a:ext uri="{28A0092B-C50C-407E-A947-70E740481C1C}">
                <a14:useLocalDpi xmlns:a14="http://schemas.microsoft.com/office/drawing/2010/main" val="0"/>
              </a:ext>
            </a:extLst>
          </a:blip>
          <a:srcRect l="6294" t="9689" r="5315" b="18089"/>
          <a:stretch>
            <a:fillRect/>
          </a:stretch>
        </p:blipFill>
        <p:spPr bwMode="auto">
          <a:xfrm>
            <a:off x="8407803" y="2089594"/>
            <a:ext cx="2880000" cy="267881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2302233" cy="338554"/>
          </a:xfrm>
          <a:prstGeom prst="rect">
            <a:avLst/>
          </a:prstGeom>
          <a:noFill/>
        </p:spPr>
        <p:txBody>
          <a:bodyPr wrap="none" rtlCol="0">
            <a:spAutoFit/>
          </a:bodyPr>
          <a:lstStyle/>
          <a:p>
            <a:r>
              <a:rPr lang="en-US" sz="1600" dirty="0"/>
              <a:t>Nepal Engineering College</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4">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6">
                        <a:lumMod val="50000"/>
                      </a:schemeClr>
                    </a:gs>
                    <a:gs pos="100000">
                      <a:schemeClr val="accent6"/>
                    </a:gs>
                  </a:gsLst>
                  <a:lin ang="0" scaled="1"/>
                </a:gradFill>
                <a:effectLst/>
                <a:latin typeface="+mn-lt"/>
                <a:ea typeface="+mn-ea"/>
                <a:cs typeface="+mn-cs"/>
              </a:defRPr>
            </a:lvl1pPr>
          </a:lstStyle>
          <a:p>
            <a:pPr lvl="0"/>
            <a:r>
              <a:rPr lang="en-US"/>
              <a:t>Write here your Author Name (i.e. Prof. Jay R Dhamsaniya)</a:t>
            </a:r>
          </a:p>
        </p:txBody>
      </p:sp>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31" name="Picture 30"/>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8454789" y="1795212"/>
            <a:ext cx="2880360" cy="2774747"/>
          </a:xfrm>
          <a:prstGeom prst="rect">
            <a:avLst/>
          </a:prstGeom>
        </p:spPr>
      </p:pic>
    </p:spTree>
    <p:extLst>
      <p:ext uri="{BB962C8B-B14F-4D97-AF65-F5344CB8AC3E}">
        <p14:creationId xmlns:p14="http://schemas.microsoft.com/office/powerpoint/2010/main" val="2731625911"/>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273238"/>
                    </a:gs>
                    <a:gs pos="100000">
                      <a:srgbClr val="607D8B"/>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xmlns="" id="{AEB45C91-0DA6-4973-9AEA-FF1388508ACC}"/>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3E2622"/>
                    </a:gs>
                    <a:gs pos="100000">
                      <a:srgbClr val="795547"/>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xmlns="" id="{7E386D9D-B92A-4F40-9089-A1FD00CD387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301B92"/>
                    </a:gs>
                    <a:gs pos="100000">
                      <a:srgbClr val="673BB7"/>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xmlns="" id="{BE300026-40E8-4FB1-998A-9CEB5F7A1B8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0E47A1"/>
                    </a:gs>
                    <a:gs pos="100000">
                      <a:srgbClr val="03A9F5"/>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xmlns="" id="{C3A13D11-EC6C-4E81-AD83-7AC73D273FD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B71B1C"/>
                    </a:gs>
                    <a:gs pos="100000">
                      <a:srgbClr val="ED524F"/>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31" name="Picture 30">
            <a:extLst>
              <a:ext uri="{FF2B5EF4-FFF2-40B4-BE49-F238E27FC236}">
                <a16:creationId xmlns:a16="http://schemas.microsoft.com/office/drawing/2014/main" xmlns="" id="{77B7B864-C091-4493-B14B-F5B61B586EED}"/>
              </a:ext>
            </a:extLst>
          </p:cNvPr>
          <p:cNvPicPr>
            <a:picLocks noChangeAspect="1"/>
          </p:cNvPicPr>
          <p:nvPr userDrawn="1"/>
        </p:nvPicPr>
        <p:blipFill>
          <a:blip r:embed="rId10">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xmlns="" id="{177B86E9-222D-4757-BE64-59540DB794E6}"/>
              </a:ext>
            </a:extLst>
          </p:cNvPr>
          <p:cNvPicPr>
            <a:picLocks noChangeAspect="1" noChangeArrowheads="1"/>
          </p:cNvPicPr>
          <p:nvPr userDrawn="1"/>
        </p:nvPicPr>
        <p:blipFill>
          <a:blip r:embed="rId11">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890E4F"/>
                    </a:gs>
                    <a:gs pos="100000">
                      <a:srgbClr val="D81A60"/>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xmlns="" id="{A2F1AAAC-C051-4A31-837B-4A9977722A4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1/21/2024</a:t>
            </a:fld>
            <a:endParaRPr lang="en-US"/>
          </a:p>
        </p:txBody>
      </p:sp>
      <p:sp>
        <p:nvSpPr>
          <p:cNvPr id="5" name="Footer Placeholder 4">
            <a:extLst>
              <a:ext uri="{FF2B5EF4-FFF2-40B4-BE49-F238E27FC236}">
                <a16:creationId xmlns:a16="http://schemas.microsoft.com/office/drawing/2014/main" xmlns=""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3" r:id="rId10"/>
    <p:sldLayoutId id="2147483692" r:id="rId11"/>
    <p:sldLayoutId id="2147483691" r:id="rId12"/>
    <p:sldLayoutId id="2147483674" r:id="rId13"/>
    <p:sldLayoutId id="2147483676" r:id="rId14"/>
    <p:sldLayoutId id="2147483677" r:id="rId15"/>
    <p:sldLayoutId id="2147483678" r:id="rId16"/>
    <p:sldLayoutId id="2147483679" r:id="rId17"/>
    <p:sldLayoutId id="2147483681" r:id="rId18"/>
    <p:sldLayoutId id="2147483683" r:id="rId19"/>
    <p:sldLayoutId id="2147483682" r:id="rId20"/>
    <p:sldLayoutId id="2147483684" r:id="rId21"/>
    <p:sldLayoutId id="2147483685" r:id="rId22"/>
    <p:sldLayoutId id="2147483686" r:id="rId23"/>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19.jpeg"/></Relationships>
</file>

<file path=ppt/slides/_rels/slide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03F305CB-DBE2-45D5-8D0B-92106F27C4BB}"/>
              </a:ext>
            </a:extLst>
          </p:cNvPr>
          <p:cNvSpPr>
            <a:spLocks noGrp="1"/>
          </p:cNvSpPr>
          <p:nvPr>
            <p:ph type="ctrTitle"/>
          </p:nvPr>
        </p:nvSpPr>
        <p:spPr>
          <a:xfrm>
            <a:off x="559490" y="1122364"/>
            <a:ext cx="7315200" cy="3566160"/>
          </a:xfrm>
        </p:spPr>
        <p:txBody>
          <a:bodyPr/>
          <a:lstStyle/>
          <a:p>
            <a:r>
              <a:rPr lang="en-US" sz="4800" b="0" dirty="0">
                <a:latin typeface="Roboto Condensed Light" panose="02000000000000000000" pitchFamily="2" charset="0"/>
                <a:ea typeface="Roboto Condensed Light" panose="02000000000000000000" pitchFamily="2" charset="0"/>
              </a:rPr>
              <a:t>Chapter </a:t>
            </a:r>
            <a:r>
              <a:rPr lang="en-US" sz="4800" b="0" dirty="0" smtClean="0">
                <a:latin typeface="Roboto Condensed Light" panose="02000000000000000000" pitchFamily="2" charset="0"/>
                <a:ea typeface="Roboto Condensed Light" panose="02000000000000000000" pitchFamily="2" charset="0"/>
              </a:rPr>
              <a:t>3:</a:t>
            </a:r>
            <a:r>
              <a:rPr lang="en-US" dirty="0"/>
              <a:t/>
            </a:r>
            <a:br>
              <a:rPr lang="en-US" dirty="0"/>
            </a:br>
            <a:r>
              <a:rPr lang="en-US" dirty="0"/>
              <a:t>Memory</a:t>
            </a:r>
            <a:br>
              <a:rPr lang="en-US" dirty="0"/>
            </a:br>
            <a:r>
              <a:rPr lang="en-US" dirty="0"/>
              <a:t>Management</a:t>
            </a:r>
          </a:p>
        </p:txBody>
      </p:sp>
      <p:sp>
        <p:nvSpPr>
          <p:cNvPr id="12" name="Text Placeholder 11">
            <a:extLst>
              <a:ext uri="{FF2B5EF4-FFF2-40B4-BE49-F238E27FC236}">
                <a16:creationId xmlns:a16="http://schemas.microsoft.com/office/drawing/2014/main" xmlns="" id="{915CF252-06A8-43C0-BB69-DA7109EA62D1}"/>
              </a:ext>
            </a:extLst>
          </p:cNvPr>
          <p:cNvSpPr>
            <a:spLocks noGrp="1"/>
          </p:cNvSpPr>
          <p:nvPr>
            <p:ph type="body" sz="quarter" idx="13"/>
          </p:nvPr>
        </p:nvSpPr>
        <p:spPr/>
        <p:txBody>
          <a:bodyPr/>
          <a:lstStyle/>
          <a:p>
            <a:r>
              <a:rPr lang="en-US" dirty="0"/>
              <a:t>Computer Engineering Department</a:t>
            </a:r>
          </a:p>
        </p:txBody>
      </p:sp>
      <p:sp>
        <p:nvSpPr>
          <p:cNvPr id="13" name="Text Placeholder 12">
            <a:extLst>
              <a:ext uri="{FF2B5EF4-FFF2-40B4-BE49-F238E27FC236}">
                <a16:creationId xmlns:a16="http://schemas.microsoft.com/office/drawing/2014/main" xmlns="" id="{89F5B5F8-350F-4941-B9DE-36BF8B014803}"/>
              </a:ext>
            </a:extLst>
          </p:cNvPr>
          <p:cNvSpPr>
            <a:spLocks noGrp="1"/>
          </p:cNvSpPr>
          <p:nvPr>
            <p:ph type="body" sz="quarter" idx="14"/>
          </p:nvPr>
        </p:nvSpPr>
        <p:spPr/>
        <p:txBody>
          <a:bodyPr/>
          <a:lstStyle/>
          <a:p>
            <a:r>
              <a:rPr lang="en-US" dirty="0"/>
              <a:t>Asst. Prof. </a:t>
            </a:r>
            <a:r>
              <a:rPr lang="en-US" dirty="0" err="1" smtClean="0"/>
              <a:t>Jhumi</a:t>
            </a:r>
            <a:r>
              <a:rPr lang="en-US" dirty="0" smtClean="0"/>
              <a:t> </a:t>
            </a:r>
            <a:r>
              <a:rPr lang="en-US" dirty="0" err="1" smtClean="0"/>
              <a:t>Thapa</a:t>
            </a:r>
            <a:endParaRPr lang="en-US" dirty="0"/>
          </a:p>
        </p:txBody>
      </p:sp>
      <p:sp>
        <p:nvSpPr>
          <p:cNvPr id="14" name="Text Placeholder 13">
            <a:extLst>
              <a:ext uri="{FF2B5EF4-FFF2-40B4-BE49-F238E27FC236}">
                <a16:creationId xmlns:a16="http://schemas.microsoft.com/office/drawing/2014/main" xmlns="" id="{E2AD8B6E-51EA-4A15-8752-4F221E5E02C5}"/>
              </a:ext>
            </a:extLst>
          </p:cNvPr>
          <p:cNvSpPr>
            <a:spLocks noGrp="1"/>
          </p:cNvSpPr>
          <p:nvPr>
            <p:ph type="body" sz="quarter" idx="16"/>
          </p:nvPr>
        </p:nvSpPr>
        <p:spPr/>
        <p:txBody>
          <a:bodyPr/>
          <a:lstStyle/>
          <a:p>
            <a:r>
              <a:rPr lang="en-US" b="1" dirty="0"/>
              <a:t>Operating System </a:t>
            </a:r>
            <a:r>
              <a:rPr lang="en-US" dirty="0">
                <a:latin typeface="Roboto Condensed Light" panose="02000000000000000000" pitchFamily="2" charset="0"/>
                <a:ea typeface="Roboto Condensed Light" panose="02000000000000000000" pitchFamily="2" charset="0"/>
              </a:rPr>
              <a:t>(OS)</a:t>
            </a:r>
          </a:p>
        </p:txBody>
      </p:sp>
    </p:spTree>
    <p:extLst>
      <p:ext uri="{BB962C8B-B14F-4D97-AF65-F5344CB8AC3E}">
        <p14:creationId xmlns:p14="http://schemas.microsoft.com/office/powerpoint/2010/main" val="1600834761"/>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338DB29-F4C6-DBD2-7BE2-AB96F244BC54}"/>
              </a:ext>
            </a:extLst>
          </p:cNvPr>
          <p:cNvSpPr>
            <a:spLocks noGrp="1"/>
          </p:cNvSpPr>
          <p:nvPr>
            <p:ph type="title"/>
          </p:nvPr>
        </p:nvSpPr>
        <p:spPr/>
        <p:txBody>
          <a:bodyPr/>
          <a:lstStyle/>
          <a:p>
            <a:r>
              <a:rPr lang="en-US" dirty="0"/>
              <a:t>Memory Management and Organization</a:t>
            </a:r>
          </a:p>
        </p:txBody>
      </p:sp>
      <p:sp>
        <p:nvSpPr>
          <p:cNvPr id="3" name="Content Placeholder 2">
            <a:extLst>
              <a:ext uri="{FF2B5EF4-FFF2-40B4-BE49-F238E27FC236}">
                <a16:creationId xmlns:a16="http://schemas.microsoft.com/office/drawing/2014/main" xmlns="" id="{D60B79DD-F36B-8187-C21C-9AA56214B038}"/>
              </a:ext>
            </a:extLst>
          </p:cNvPr>
          <p:cNvSpPr>
            <a:spLocks noGrp="1"/>
          </p:cNvSpPr>
          <p:nvPr>
            <p:ph idx="1"/>
          </p:nvPr>
        </p:nvSpPr>
        <p:spPr/>
        <p:txBody>
          <a:bodyPr/>
          <a:lstStyle/>
          <a:p>
            <a:r>
              <a:rPr lang="en-US" b="1" dirty="0"/>
              <a:t>Memory management </a:t>
            </a:r>
            <a:r>
              <a:rPr lang="en-US" dirty="0"/>
              <a:t>is the functionality of an operating system which handles or manages primary memory and moves processes back and forth between main memory and disk during execution. </a:t>
            </a:r>
          </a:p>
          <a:p>
            <a:r>
              <a:rPr lang="en-US" dirty="0"/>
              <a:t>The part of OS that manages the memory hierarchy is called memory manager.</a:t>
            </a:r>
          </a:p>
          <a:p>
            <a:pPr marL="0" indent="0">
              <a:buNone/>
            </a:pPr>
            <a:endParaRPr lang="en-US" dirty="0"/>
          </a:p>
          <a:p>
            <a:pPr marL="0" indent="0">
              <a:buNone/>
            </a:pPr>
            <a:r>
              <a:rPr lang="en-US" b="1" dirty="0"/>
              <a:t>Memory Organization</a:t>
            </a:r>
          </a:p>
          <a:p>
            <a:r>
              <a:rPr lang="en-US" dirty="0"/>
              <a:t>Memory unit is the collection of storage units or devices together. The memory unit stores the binary information in the form of bits. Generally, memory/storage is classified into 2 categories:</a:t>
            </a:r>
          </a:p>
          <a:p>
            <a:pPr lvl="1"/>
            <a:r>
              <a:rPr lang="en-US" b="1" dirty="0"/>
              <a:t>Volatile Memory: </a:t>
            </a:r>
            <a:r>
              <a:rPr lang="en-US" dirty="0"/>
              <a:t>This loses its data, when power is switched off.</a:t>
            </a:r>
          </a:p>
          <a:p>
            <a:pPr lvl="1"/>
            <a:r>
              <a:rPr lang="en-US" b="1" dirty="0"/>
              <a:t>Non-Volatile Memory: </a:t>
            </a:r>
            <a:r>
              <a:rPr lang="en-US" dirty="0"/>
              <a:t>This is a permanent storage and does not lose any data when power is switched off.</a:t>
            </a:r>
          </a:p>
          <a:p>
            <a:endParaRPr lang="en-US" dirty="0"/>
          </a:p>
          <a:p>
            <a:endParaRPr lang="en-US" dirty="0"/>
          </a:p>
          <a:p>
            <a:endParaRPr lang="en-US" dirty="0"/>
          </a:p>
        </p:txBody>
      </p:sp>
    </p:spTree>
    <p:extLst>
      <p:ext uri="{BB962C8B-B14F-4D97-AF65-F5344CB8AC3E}">
        <p14:creationId xmlns:p14="http://schemas.microsoft.com/office/powerpoint/2010/main" val="170063340"/>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Memory Hierarchy?</a:t>
            </a:r>
          </a:p>
        </p:txBody>
      </p:sp>
      <p:sp>
        <p:nvSpPr>
          <p:cNvPr id="3" name="Content Placeholder 2"/>
          <p:cNvSpPr>
            <a:spLocks noGrp="1"/>
          </p:cNvSpPr>
          <p:nvPr>
            <p:ph idx="1"/>
          </p:nvPr>
        </p:nvSpPr>
        <p:spPr/>
        <p:txBody>
          <a:bodyPr/>
          <a:lstStyle/>
          <a:p>
            <a:r>
              <a:rPr lang="en-US"/>
              <a:t>The </a:t>
            </a:r>
            <a:r>
              <a:rPr lang="en-US" b="1">
                <a:solidFill>
                  <a:schemeClr val="accent6"/>
                </a:solidFill>
              </a:rPr>
              <a:t>hierarchical arrangement of storage</a:t>
            </a:r>
            <a:r>
              <a:rPr lang="en-US"/>
              <a:t> in current computer architectures is called the memory hierarchy.</a:t>
            </a:r>
          </a:p>
        </p:txBody>
      </p:sp>
      <p:graphicFrame>
        <p:nvGraphicFramePr>
          <p:cNvPr id="4" name="Diagram 3"/>
          <p:cNvGraphicFramePr/>
          <p:nvPr>
            <p:extLst>
              <p:ext uri="{D42A27DB-BD31-4B8C-83A1-F6EECF244321}">
                <p14:modId xmlns:p14="http://schemas.microsoft.com/office/powerpoint/2010/main" val="1405935475"/>
              </p:ext>
            </p:extLst>
          </p:nvPr>
        </p:nvGraphicFramePr>
        <p:xfrm>
          <a:off x="381000" y="1905000"/>
          <a:ext cx="6400800" cy="4419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p:cNvCxnSpPr/>
          <p:nvPr/>
        </p:nvCxnSpPr>
        <p:spPr>
          <a:xfrm flipH="1" flipV="1">
            <a:off x="6911750" y="2062319"/>
            <a:ext cx="0" cy="4343400"/>
          </a:xfrm>
          <a:prstGeom prst="straightConnector1">
            <a:avLst/>
          </a:prstGeom>
          <a:ln w="38100">
            <a:solidFill>
              <a:schemeClr val="accent6"/>
            </a:solidFill>
            <a:tailEnd type="triangle"/>
          </a:ln>
        </p:spPr>
        <p:style>
          <a:lnRef idx="3">
            <a:schemeClr val="accent2"/>
          </a:lnRef>
          <a:fillRef idx="0">
            <a:schemeClr val="accent2"/>
          </a:fillRef>
          <a:effectRef idx="2">
            <a:schemeClr val="accent2"/>
          </a:effectRef>
          <a:fontRef idx="minor">
            <a:schemeClr val="tx1"/>
          </a:fontRef>
        </p:style>
      </p:cxnSp>
      <p:sp>
        <p:nvSpPr>
          <p:cNvPr id="6" name="TextBox 5"/>
          <p:cNvSpPr txBox="1"/>
          <p:nvPr/>
        </p:nvSpPr>
        <p:spPr>
          <a:xfrm>
            <a:off x="5163910" y="1966686"/>
            <a:ext cx="1752600" cy="923330"/>
          </a:xfrm>
          <a:prstGeom prst="rect">
            <a:avLst/>
          </a:prstGeom>
          <a:noFill/>
        </p:spPr>
        <p:txBody>
          <a:bodyPr wrap="square" rtlCol="0">
            <a:spAutoFit/>
          </a:bodyPr>
          <a:lstStyle/>
          <a:p>
            <a:pPr marL="285750" indent="-285750">
              <a:buFont typeface="Arial" panose="020B0604020202020204" pitchFamily="34" charset="0"/>
              <a:buChar char="•"/>
            </a:pPr>
            <a:r>
              <a:rPr lang="en-US"/>
              <a:t>Faster</a:t>
            </a:r>
          </a:p>
          <a:p>
            <a:pPr marL="285750" indent="-285750">
              <a:buFont typeface="Arial" panose="020B0604020202020204" pitchFamily="34" charset="0"/>
              <a:buChar char="•"/>
            </a:pPr>
            <a:r>
              <a:rPr lang="en-US"/>
              <a:t>Expensive</a:t>
            </a:r>
          </a:p>
          <a:p>
            <a:pPr marL="285750" indent="-285750">
              <a:buFont typeface="Arial" panose="020B0604020202020204" pitchFamily="34" charset="0"/>
              <a:buChar char="•"/>
            </a:pPr>
            <a:r>
              <a:rPr lang="en-US"/>
              <a:t>Less Capacity</a:t>
            </a:r>
          </a:p>
        </p:txBody>
      </p:sp>
      <p:cxnSp>
        <p:nvCxnSpPr>
          <p:cNvPr id="7" name="Straight Arrow Connector 6"/>
          <p:cNvCxnSpPr/>
          <p:nvPr/>
        </p:nvCxnSpPr>
        <p:spPr>
          <a:xfrm>
            <a:off x="7185365" y="2045389"/>
            <a:ext cx="5785" cy="4377261"/>
          </a:xfrm>
          <a:prstGeom prst="straightConnector1">
            <a:avLst/>
          </a:prstGeom>
          <a:ln w="38100">
            <a:solidFill>
              <a:schemeClr val="accent6"/>
            </a:solidFill>
            <a:tailEnd type="triangle"/>
          </a:ln>
        </p:spPr>
        <p:style>
          <a:lnRef idx="3">
            <a:schemeClr val="accent2"/>
          </a:lnRef>
          <a:fillRef idx="0">
            <a:schemeClr val="accent2"/>
          </a:fillRef>
          <a:effectRef idx="2">
            <a:schemeClr val="accent2"/>
          </a:effectRef>
          <a:fontRef idx="minor">
            <a:schemeClr val="tx1"/>
          </a:fontRef>
        </p:style>
      </p:cxnSp>
      <p:sp>
        <p:nvSpPr>
          <p:cNvPr id="8" name="TextBox 7"/>
          <p:cNvSpPr txBox="1"/>
          <p:nvPr/>
        </p:nvSpPr>
        <p:spPr>
          <a:xfrm>
            <a:off x="7216550" y="5319486"/>
            <a:ext cx="1905000" cy="923330"/>
          </a:xfrm>
          <a:prstGeom prst="rect">
            <a:avLst/>
          </a:prstGeom>
          <a:noFill/>
        </p:spPr>
        <p:txBody>
          <a:bodyPr wrap="square" rtlCol="0">
            <a:spAutoFit/>
          </a:bodyPr>
          <a:lstStyle/>
          <a:p>
            <a:pPr marL="285750" indent="-285750">
              <a:buFont typeface="Arial" panose="020B0604020202020204" pitchFamily="34" charset="0"/>
              <a:buChar char="•"/>
            </a:pPr>
            <a:r>
              <a:rPr lang="en-US"/>
              <a:t>Slower</a:t>
            </a:r>
          </a:p>
          <a:p>
            <a:pPr marL="285750" indent="-285750">
              <a:buFont typeface="Arial" panose="020B0604020202020204" pitchFamily="34" charset="0"/>
              <a:buChar char="•"/>
            </a:pPr>
            <a:r>
              <a:rPr lang="en-US"/>
              <a:t>Cheaper</a:t>
            </a:r>
          </a:p>
          <a:p>
            <a:pPr marL="285750" indent="-285750">
              <a:buFont typeface="Arial" panose="020B0604020202020204" pitchFamily="34" charset="0"/>
              <a:buChar char="•"/>
            </a:pPr>
            <a:r>
              <a:rPr lang="en-US"/>
              <a:t>More Capacity</a:t>
            </a:r>
          </a:p>
        </p:txBody>
      </p:sp>
    </p:spTree>
    <p:extLst>
      <p:ext uri="{BB962C8B-B14F-4D97-AF65-F5344CB8AC3E}">
        <p14:creationId xmlns:p14="http://schemas.microsoft.com/office/powerpoint/2010/main" val="148763191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par>
                                <p:cTn id="16" presetID="22" presetClass="entr" presetSubtype="4"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down)">
                                      <p:cBhvr>
                                        <p:cTn id="18" dur="500"/>
                                        <p:tgtEl>
                                          <p:spTgt spid="5"/>
                                        </p:tgtEl>
                                      </p:cBhvr>
                                    </p:animEffect>
                                  </p:childTnLst>
                                </p:cTn>
                              </p:par>
                            </p:childTnLst>
                          </p:cTn>
                        </p:par>
                      </p:childTnLst>
                    </p:cTn>
                  </p:par>
                  <p:par>
                    <p:cTn id="19" fill="hold" nodeType="clickPar">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up)">
                                      <p:cBhvr>
                                        <p:cTn id="23" dur="500"/>
                                        <p:tgtEl>
                                          <p:spTgt spid="7"/>
                                        </p:tgtEl>
                                      </p:cBhvr>
                                    </p:animEffect>
                                  </p:childTnLst>
                                </p:cTn>
                              </p:par>
                              <p:par>
                                <p:cTn id="24" presetID="1"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6"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CFB08F7-9C90-A287-2E1C-D90F4214023E}"/>
              </a:ext>
            </a:extLst>
          </p:cNvPr>
          <p:cNvSpPr>
            <a:spLocks noGrp="1"/>
          </p:cNvSpPr>
          <p:nvPr>
            <p:ph type="title"/>
          </p:nvPr>
        </p:nvSpPr>
        <p:spPr/>
        <p:txBody>
          <a:bodyPr/>
          <a:lstStyle/>
          <a:p>
            <a:r>
              <a:rPr lang="en-US" dirty="0"/>
              <a:t>Memory Hierarchy</a:t>
            </a:r>
          </a:p>
        </p:txBody>
      </p:sp>
      <p:sp>
        <p:nvSpPr>
          <p:cNvPr id="3" name="Content Placeholder 2">
            <a:extLst>
              <a:ext uri="{FF2B5EF4-FFF2-40B4-BE49-F238E27FC236}">
                <a16:creationId xmlns:a16="http://schemas.microsoft.com/office/drawing/2014/main" xmlns="" id="{284C8B85-020D-C31C-A81D-E499D19C3E76}"/>
              </a:ext>
            </a:extLst>
          </p:cNvPr>
          <p:cNvSpPr>
            <a:spLocks noGrp="1"/>
          </p:cNvSpPr>
          <p:nvPr>
            <p:ph idx="1"/>
          </p:nvPr>
        </p:nvSpPr>
        <p:spPr/>
        <p:txBody>
          <a:bodyPr/>
          <a:lstStyle/>
          <a:p>
            <a:r>
              <a:rPr lang="en-US" dirty="0">
                <a:solidFill>
                  <a:schemeClr val="accent6">
                    <a:lumMod val="75000"/>
                  </a:schemeClr>
                </a:solidFill>
              </a:rPr>
              <a:t>Internal register </a:t>
            </a:r>
            <a:r>
              <a:rPr lang="en-US" dirty="0"/>
              <a:t>is for holding the temporary results and variables. Accessing data from these registers is the fastest way of accessing memory.</a:t>
            </a:r>
          </a:p>
          <a:p>
            <a:r>
              <a:rPr lang="en-US" dirty="0">
                <a:solidFill>
                  <a:schemeClr val="accent6">
                    <a:lumMod val="75000"/>
                  </a:schemeClr>
                </a:solidFill>
              </a:rPr>
              <a:t>Cache</a:t>
            </a:r>
            <a:r>
              <a:rPr lang="en-US" dirty="0"/>
              <a:t> is used by the CPU for memory which is being accessed over and over again. Instead of pulling it every time from the main memory, it is put in cache for fast access. It is also a smaller memory, however, larger than internal register.</a:t>
            </a:r>
          </a:p>
          <a:p>
            <a:r>
              <a:rPr lang="en-US" dirty="0">
                <a:solidFill>
                  <a:schemeClr val="accent6">
                    <a:lumMod val="75000"/>
                  </a:schemeClr>
                </a:solidFill>
              </a:rPr>
              <a:t>Main memory or RAM (Random Access Memory</a:t>
            </a:r>
            <a:r>
              <a:rPr lang="en-US" dirty="0"/>
              <a:t>): It is a type of the computer memory and is a hardware component. It can be increased provided the operating system can handle it.</a:t>
            </a:r>
          </a:p>
          <a:p>
            <a:r>
              <a:rPr lang="en-US" dirty="0">
                <a:solidFill>
                  <a:schemeClr val="accent6">
                    <a:lumMod val="75000"/>
                  </a:schemeClr>
                </a:solidFill>
              </a:rPr>
              <a:t>Hard disk</a:t>
            </a:r>
            <a:r>
              <a:rPr lang="en-US" dirty="0"/>
              <a:t>: A hard disk is a hardware component in a computer. Data is kept permanently in this memory. Memory from hard disk is not directly accessed by the CPU, hence it is slower. As compared with RAM, hard disk is cheaper per bit.</a:t>
            </a:r>
          </a:p>
          <a:p>
            <a:r>
              <a:rPr lang="en-US" dirty="0">
                <a:solidFill>
                  <a:schemeClr val="accent6">
                    <a:lumMod val="75000"/>
                  </a:schemeClr>
                </a:solidFill>
              </a:rPr>
              <a:t>Magnetic tape</a:t>
            </a:r>
            <a:r>
              <a:rPr lang="en-US" dirty="0"/>
              <a:t>: Magnetic tape memory is usually used for backing up large data. When the system needs to access a tape, it is first mounted to access the data. When the data is accessed, it is then un-mounted. The memory access time is slower in magnetic tape and it usually takes few minutes to access a tape.</a:t>
            </a:r>
          </a:p>
          <a:p>
            <a:endParaRPr lang="en-US" dirty="0"/>
          </a:p>
        </p:txBody>
      </p:sp>
    </p:spTree>
    <p:extLst>
      <p:ext uri="{BB962C8B-B14F-4D97-AF65-F5344CB8AC3E}">
        <p14:creationId xmlns:p14="http://schemas.microsoft.com/office/powerpoint/2010/main" val="3246334039"/>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CFB08F7-9C90-A287-2E1C-D90F4214023E}"/>
              </a:ext>
            </a:extLst>
          </p:cNvPr>
          <p:cNvSpPr>
            <a:spLocks noGrp="1"/>
          </p:cNvSpPr>
          <p:nvPr>
            <p:ph type="title"/>
          </p:nvPr>
        </p:nvSpPr>
        <p:spPr/>
        <p:txBody>
          <a:bodyPr/>
          <a:lstStyle/>
          <a:p>
            <a:r>
              <a:rPr lang="en-US" dirty="0"/>
              <a:t>Storage Organization and Management</a:t>
            </a:r>
          </a:p>
        </p:txBody>
      </p:sp>
      <p:sp>
        <p:nvSpPr>
          <p:cNvPr id="3" name="Content Placeholder 2">
            <a:extLst>
              <a:ext uri="{FF2B5EF4-FFF2-40B4-BE49-F238E27FC236}">
                <a16:creationId xmlns:a16="http://schemas.microsoft.com/office/drawing/2014/main" xmlns="" id="{284C8B85-020D-C31C-A81D-E499D19C3E76}"/>
              </a:ext>
            </a:extLst>
          </p:cNvPr>
          <p:cNvSpPr>
            <a:spLocks noGrp="1"/>
          </p:cNvSpPr>
          <p:nvPr>
            <p:ph idx="1"/>
          </p:nvPr>
        </p:nvSpPr>
        <p:spPr/>
        <p:txBody>
          <a:bodyPr/>
          <a:lstStyle/>
          <a:p>
            <a:r>
              <a:rPr lang="en-US" dirty="0"/>
              <a:t>By </a:t>
            </a:r>
            <a:r>
              <a:rPr lang="en-US" dirty="0">
                <a:solidFill>
                  <a:schemeClr val="accent6">
                    <a:lumMod val="75000"/>
                  </a:schemeClr>
                </a:solidFill>
              </a:rPr>
              <a:t>storage organization </a:t>
            </a:r>
            <a:r>
              <a:rPr lang="en-US" dirty="0"/>
              <a:t>we mean the manner in which the main storage is viewed. </a:t>
            </a:r>
          </a:p>
          <a:p>
            <a:r>
              <a:rPr lang="en-US" dirty="0"/>
              <a:t>For example – Do we place only a single user in the main storage, or do we place several users in it at the same time? If several user programs are in main storage at the same time, do we give each of them the same amount of space, or do we divide main storage in to portions, called partitions of different sizes? etc.</a:t>
            </a:r>
          </a:p>
          <a:p>
            <a:pPr marL="0" indent="0">
              <a:buNone/>
            </a:pPr>
            <a:r>
              <a:rPr lang="en-US" sz="3200" b="1" dirty="0"/>
              <a:t>Storage Management</a:t>
            </a:r>
          </a:p>
          <a:p>
            <a:r>
              <a:rPr lang="en-US" dirty="0"/>
              <a:t>Regardless of what storage organization scheme we adopt for a particular system, we must decide what strategies to use to obtain optimal performance. Storage management strategies determine how a particular storage organization performs under various policies.</a:t>
            </a:r>
          </a:p>
          <a:p>
            <a:r>
              <a:rPr lang="en-US" dirty="0"/>
              <a:t>For example – when do we get a new program to place in the memory? Do we get it when the system specifically asks for it, or do we attempt to anticipate the system’s request? Where in the main storage do we place the next program to be run? Etc.</a:t>
            </a:r>
          </a:p>
          <a:p>
            <a:r>
              <a:rPr lang="en-US" dirty="0"/>
              <a:t>Systems have been implemented using each of these storage management strategies.</a:t>
            </a:r>
          </a:p>
          <a:p>
            <a:endParaRPr lang="en-US" dirty="0"/>
          </a:p>
        </p:txBody>
      </p:sp>
    </p:spTree>
    <p:extLst>
      <p:ext uri="{BB962C8B-B14F-4D97-AF65-F5344CB8AC3E}">
        <p14:creationId xmlns:p14="http://schemas.microsoft.com/office/powerpoint/2010/main" val="1462921947"/>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CE5B90-8727-E258-A8D2-85F9025945B2}"/>
              </a:ext>
            </a:extLst>
          </p:cNvPr>
          <p:cNvSpPr>
            <a:spLocks noGrp="1"/>
          </p:cNvSpPr>
          <p:nvPr>
            <p:ph type="title"/>
          </p:nvPr>
        </p:nvSpPr>
        <p:spPr/>
        <p:txBody>
          <a:bodyPr/>
          <a:lstStyle/>
          <a:p>
            <a:r>
              <a:rPr lang="en-US" dirty="0"/>
              <a:t>Memory Management Techniques</a:t>
            </a:r>
          </a:p>
        </p:txBody>
      </p:sp>
      <p:pic>
        <p:nvPicPr>
          <p:cNvPr id="5" name="Content Placeholder 4">
            <a:extLst>
              <a:ext uri="{FF2B5EF4-FFF2-40B4-BE49-F238E27FC236}">
                <a16:creationId xmlns:a16="http://schemas.microsoft.com/office/drawing/2014/main" xmlns="" id="{6723C0AC-1382-C81A-4B44-78DD3F07204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5840" y="711201"/>
            <a:ext cx="10180320" cy="5898377"/>
          </a:xfrm>
        </p:spPr>
      </p:pic>
    </p:spTree>
    <p:extLst>
      <p:ext uri="{BB962C8B-B14F-4D97-AF65-F5344CB8AC3E}">
        <p14:creationId xmlns:p14="http://schemas.microsoft.com/office/powerpoint/2010/main" val="2786049056"/>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CFB08F7-9C90-A287-2E1C-D90F4214023E}"/>
              </a:ext>
            </a:extLst>
          </p:cNvPr>
          <p:cNvSpPr>
            <a:spLocks noGrp="1"/>
          </p:cNvSpPr>
          <p:nvPr>
            <p:ph type="title"/>
          </p:nvPr>
        </p:nvSpPr>
        <p:spPr/>
        <p:txBody>
          <a:bodyPr/>
          <a:lstStyle/>
          <a:p>
            <a:r>
              <a:rPr lang="en-US"/>
              <a:t>Storage </a:t>
            </a:r>
            <a:r>
              <a:rPr lang="en-US" dirty="0"/>
              <a:t>Allocation</a:t>
            </a:r>
          </a:p>
        </p:txBody>
      </p:sp>
      <p:sp>
        <p:nvSpPr>
          <p:cNvPr id="3" name="Content Placeholder 2">
            <a:extLst>
              <a:ext uri="{FF2B5EF4-FFF2-40B4-BE49-F238E27FC236}">
                <a16:creationId xmlns:a16="http://schemas.microsoft.com/office/drawing/2014/main" xmlns="" id="{284C8B85-020D-C31C-A81D-E499D19C3E76}"/>
              </a:ext>
            </a:extLst>
          </p:cNvPr>
          <p:cNvSpPr>
            <a:spLocks noGrp="1"/>
          </p:cNvSpPr>
          <p:nvPr>
            <p:ph idx="1"/>
          </p:nvPr>
        </p:nvSpPr>
        <p:spPr>
          <a:xfrm>
            <a:off x="131180" y="863444"/>
            <a:ext cx="8996778" cy="5590565"/>
          </a:xfrm>
        </p:spPr>
        <p:txBody>
          <a:bodyPr/>
          <a:lstStyle/>
          <a:p>
            <a:r>
              <a:rPr lang="en-US" dirty="0"/>
              <a:t>The process of allocating the block of memory to a process is known as storage allocation. Memory is a large array of bytes, where each byte has its own address. The memory allocation can be classified into two methods:</a:t>
            </a:r>
          </a:p>
          <a:p>
            <a:pPr lvl="1"/>
            <a:r>
              <a:rPr lang="en-US" dirty="0">
                <a:solidFill>
                  <a:schemeClr val="accent6">
                    <a:lumMod val="75000"/>
                  </a:schemeClr>
                </a:solidFill>
              </a:rPr>
              <a:t>Contiguous Memory Allocation:</a:t>
            </a:r>
          </a:p>
          <a:p>
            <a:pPr lvl="2"/>
            <a:r>
              <a:rPr lang="en-US" dirty="0"/>
              <a:t>In contiguous memory allocation, when a process requests for the memory, a single contiguous section of memory blocks is assigned to the process according to its requirement.</a:t>
            </a:r>
          </a:p>
          <a:p>
            <a:pPr lvl="2"/>
            <a:r>
              <a:rPr lang="en-US" dirty="0"/>
              <a:t>The contiguous memory allocation can be achieved by dividing the memory into the fixed- sized partition and allocate each partition to a single process only. But it leads to internal fragmentation.</a:t>
            </a:r>
          </a:p>
          <a:p>
            <a:pPr lvl="2"/>
            <a:endParaRPr lang="en-US" dirty="0"/>
          </a:p>
          <a:p>
            <a:pPr lvl="1"/>
            <a:r>
              <a:rPr lang="en-US" dirty="0">
                <a:solidFill>
                  <a:schemeClr val="accent6">
                    <a:lumMod val="75000"/>
                  </a:schemeClr>
                </a:solidFill>
              </a:rPr>
              <a:t>Non-contiguous memory:</a:t>
            </a:r>
          </a:p>
          <a:p>
            <a:pPr lvl="2"/>
            <a:r>
              <a:rPr lang="en-US" dirty="0"/>
              <a:t>In noncontiguous storage allocation, a program is divided into several blocks or segments that may be placed throughout main storage in pieces not necessarily adjacent to one another.</a:t>
            </a:r>
          </a:p>
          <a:p>
            <a:pPr lvl="2"/>
            <a:r>
              <a:rPr lang="en-US" dirty="0"/>
              <a:t>It reduces the memory wastage caused due to internal and external fragmentation</a:t>
            </a:r>
          </a:p>
          <a:p>
            <a:pPr lvl="2"/>
            <a:endParaRPr lang="en-US" dirty="0"/>
          </a:p>
        </p:txBody>
      </p:sp>
      <p:pic>
        <p:nvPicPr>
          <p:cNvPr id="4" name="image41.jpeg" descr="contigous-memory-allocation">
            <a:extLst>
              <a:ext uri="{FF2B5EF4-FFF2-40B4-BE49-F238E27FC236}">
                <a16:creationId xmlns:a16="http://schemas.microsoft.com/office/drawing/2014/main" xmlns="" id="{B8DF01EB-B37C-16A7-A984-FBE7B42036F2}"/>
              </a:ext>
            </a:extLst>
          </p:cNvPr>
          <p:cNvPicPr>
            <a:picLocks noChangeAspect="1"/>
          </p:cNvPicPr>
          <p:nvPr/>
        </p:nvPicPr>
        <p:blipFill>
          <a:blip r:embed="rId3" cstate="print"/>
          <a:stretch>
            <a:fillRect/>
          </a:stretch>
        </p:blipFill>
        <p:spPr>
          <a:xfrm>
            <a:off x="9545053" y="779700"/>
            <a:ext cx="2515768" cy="2795282"/>
          </a:xfrm>
          <a:prstGeom prst="rect">
            <a:avLst/>
          </a:prstGeom>
        </p:spPr>
      </p:pic>
      <p:pic>
        <p:nvPicPr>
          <p:cNvPr id="5" name="image42.jpeg" descr="noncontigous-memory-allocation">
            <a:extLst>
              <a:ext uri="{FF2B5EF4-FFF2-40B4-BE49-F238E27FC236}">
                <a16:creationId xmlns:a16="http://schemas.microsoft.com/office/drawing/2014/main" xmlns="" id="{DE24DA41-B7E0-C591-B6E9-2709E52B561C}"/>
              </a:ext>
            </a:extLst>
          </p:cNvPr>
          <p:cNvPicPr>
            <a:picLocks noChangeAspect="1"/>
          </p:cNvPicPr>
          <p:nvPr/>
        </p:nvPicPr>
        <p:blipFill>
          <a:blip r:embed="rId4" cstate="print"/>
          <a:stretch>
            <a:fillRect/>
          </a:stretch>
        </p:blipFill>
        <p:spPr>
          <a:xfrm>
            <a:off x="9545050" y="3787062"/>
            <a:ext cx="2515769" cy="2795283"/>
          </a:xfrm>
          <a:prstGeom prst="rect">
            <a:avLst/>
          </a:prstGeom>
        </p:spPr>
      </p:pic>
    </p:spTree>
    <p:extLst>
      <p:ext uri="{BB962C8B-B14F-4D97-AF65-F5344CB8AC3E}">
        <p14:creationId xmlns:p14="http://schemas.microsoft.com/office/powerpoint/2010/main" val="881208891"/>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5365D42-2BE2-71E6-D146-2C3F04E39AE5}"/>
              </a:ext>
            </a:extLst>
          </p:cNvPr>
          <p:cNvSpPr>
            <a:spLocks noGrp="1"/>
          </p:cNvSpPr>
          <p:nvPr>
            <p:ph type="title"/>
          </p:nvPr>
        </p:nvSpPr>
        <p:spPr/>
        <p:txBody>
          <a:bodyPr>
            <a:normAutofit fontScale="90000"/>
          </a:bodyPr>
          <a:lstStyle/>
          <a:p>
            <a:r>
              <a:rPr lang="en-US" dirty="0"/>
              <a:t>Difference between Contiguous and Non-contiguous Memory Allocation</a:t>
            </a:r>
          </a:p>
        </p:txBody>
      </p:sp>
      <p:sp>
        <p:nvSpPr>
          <p:cNvPr id="3" name="Content Placeholder 2">
            <a:extLst>
              <a:ext uri="{FF2B5EF4-FFF2-40B4-BE49-F238E27FC236}">
                <a16:creationId xmlns:a16="http://schemas.microsoft.com/office/drawing/2014/main" xmlns="" id="{B4842613-360B-9A07-386C-D01DE5500BAD}"/>
              </a:ext>
            </a:extLst>
          </p:cNvPr>
          <p:cNvSpPr>
            <a:spLocks noGrp="1"/>
          </p:cNvSpPr>
          <p:nvPr>
            <p:ph idx="1"/>
          </p:nvPr>
        </p:nvSpPr>
        <p:spPr/>
        <p:txBody>
          <a:bodyPr/>
          <a:lstStyle/>
          <a:p>
            <a:r>
              <a:rPr lang="en-US" dirty="0"/>
              <a:t> </a:t>
            </a:r>
          </a:p>
        </p:txBody>
      </p:sp>
      <p:pic>
        <p:nvPicPr>
          <p:cNvPr id="5" name="Picture 4">
            <a:extLst>
              <a:ext uri="{FF2B5EF4-FFF2-40B4-BE49-F238E27FC236}">
                <a16:creationId xmlns:a16="http://schemas.microsoft.com/office/drawing/2014/main" xmlns="" id="{C46EBA89-53C6-75A4-251C-AB9FEE8C51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179" y="863444"/>
            <a:ext cx="11929641" cy="5433419"/>
          </a:xfrm>
          <a:prstGeom prst="rect">
            <a:avLst/>
          </a:prstGeom>
        </p:spPr>
      </p:pic>
    </p:spTree>
    <p:extLst>
      <p:ext uri="{BB962C8B-B14F-4D97-AF65-F5344CB8AC3E}">
        <p14:creationId xmlns:p14="http://schemas.microsoft.com/office/powerpoint/2010/main" val="459401929"/>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B4DA3B-EEDF-6906-1385-A0970E2FC866}"/>
              </a:ext>
            </a:extLst>
          </p:cNvPr>
          <p:cNvSpPr>
            <a:spLocks noGrp="1"/>
          </p:cNvSpPr>
          <p:nvPr>
            <p:ph type="title"/>
          </p:nvPr>
        </p:nvSpPr>
        <p:spPr/>
        <p:txBody>
          <a:bodyPr/>
          <a:lstStyle/>
          <a:p>
            <a:r>
              <a:rPr lang="en-US" dirty="0"/>
              <a:t>Partitioning</a:t>
            </a:r>
          </a:p>
        </p:txBody>
      </p:sp>
      <p:sp>
        <p:nvSpPr>
          <p:cNvPr id="3" name="Content Placeholder 2">
            <a:extLst>
              <a:ext uri="{FF2B5EF4-FFF2-40B4-BE49-F238E27FC236}">
                <a16:creationId xmlns:a16="http://schemas.microsoft.com/office/drawing/2014/main" xmlns="" id="{3CB971FD-4648-C6B7-8131-CFDE891E64B2}"/>
              </a:ext>
            </a:extLst>
          </p:cNvPr>
          <p:cNvSpPr>
            <a:spLocks noGrp="1"/>
          </p:cNvSpPr>
          <p:nvPr>
            <p:ph idx="1"/>
          </p:nvPr>
        </p:nvSpPr>
        <p:spPr>
          <a:xfrm>
            <a:off x="131181" y="863444"/>
            <a:ext cx="11929640" cy="5590565"/>
          </a:xfrm>
        </p:spPr>
        <p:txBody>
          <a:bodyPr/>
          <a:lstStyle/>
          <a:p>
            <a:pPr marL="0" indent="0">
              <a:buNone/>
            </a:pPr>
            <a:r>
              <a:rPr lang="en-US" b="1" dirty="0"/>
              <a:t>Partitioning</a:t>
            </a:r>
          </a:p>
          <a:p>
            <a:r>
              <a:rPr lang="en-US" dirty="0"/>
              <a:t>Partitioning is the process of breaking the main memory into number of blocks. Partitioning is of two types: </a:t>
            </a:r>
          </a:p>
          <a:p>
            <a:pPr marL="0" indent="0">
              <a:buNone/>
            </a:pPr>
            <a:r>
              <a:rPr lang="en-US" b="1" dirty="0"/>
              <a:t>Fixed/Static Partition Allocation</a:t>
            </a:r>
          </a:p>
          <a:p>
            <a:r>
              <a:rPr lang="en-US" dirty="0"/>
              <a:t>Number of the partitions are fixed</a:t>
            </a:r>
          </a:p>
          <a:p>
            <a:r>
              <a:rPr lang="en-US" dirty="0"/>
              <a:t>Size of each partition may be equal sized or unequal sized.</a:t>
            </a:r>
          </a:p>
          <a:p>
            <a:r>
              <a:rPr lang="en-US" dirty="0"/>
              <a:t>Contiguous allocation so spanning is not allowed.</a:t>
            </a:r>
          </a:p>
          <a:p>
            <a:endParaRPr lang="en-US" dirty="0"/>
          </a:p>
          <a:p>
            <a:endParaRPr lang="en-US" dirty="0"/>
          </a:p>
        </p:txBody>
      </p:sp>
      <p:pic>
        <p:nvPicPr>
          <p:cNvPr id="4" name="image43.png" descr="Image result for fixed partitioning">
            <a:extLst>
              <a:ext uri="{FF2B5EF4-FFF2-40B4-BE49-F238E27FC236}">
                <a16:creationId xmlns:a16="http://schemas.microsoft.com/office/drawing/2014/main" xmlns="" id="{6998A216-D647-39F3-4694-AA70F986B84A}"/>
              </a:ext>
            </a:extLst>
          </p:cNvPr>
          <p:cNvPicPr>
            <a:picLocks noChangeAspect="1"/>
          </p:cNvPicPr>
          <p:nvPr/>
        </p:nvPicPr>
        <p:blipFill>
          <a:blip r:embed="rId2" cstate="print"/>
          <a:stretch>
            <a:fillRect/>
          </a:stretch>
        </p:blipFill>
        <p:spPr>
          <a:xfrm>
            <a:off x="6690192" y="3688080"/>
            <a:ext cx="5105568" cy="2647387"/>
          </a:xfrm>
          <a:prstGeom prst="rect">
            <a:avLst/>
          </a:prstGeom>
        </p:spPr>
      </p:pic>
    </p:spTree>
    <p:extLst>
      <p:ext uri="{BB962C8B-B14F-4D97-AF65-F5344CB8AC3E}">
        <p14:creationId xmlns:p14="http://schemas.microsoft.com/office/powerpoint/2010/main" val="3231485178"/>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B4DA3B-EEDF-6906-1385-A0970E2FC866}"/>
              </a:ext>
            </a:extLst>
          </p:cNvPr>
          <p:cNvSpPr>
            <a:spLocks noGrp="1"/>
          </p:cNvSpPr>
          <p:nvPr>
            <p:ph type="title"/>
          </p:nvPr>
        </p:nvSpPr>
        <p:spPr/>
        <p:txBody>
          <a:bodyPr/>
          <a:lstStyle/>
          <a:p>
            <a:pPr marL="0" indent="0">
              <a:buNone/>
            </a:pPr>
            <a:r>
              <a:rPr lang="en-US" b="1" dirty="0"/>
              <a:t>Fixed/Static Partition Allocation</a:t>
            </a:r>
          </a:p>
        </p:txBody>
      </p:sp>
      <p:sp>
        <p:nvSpPr>
          <p:cNvPr id="3" name="Content Placeholder 2">
            <a:extLst>
              <a:ext uri="{FF2B5EF4-FFF2-40B4-BE49-F238E27FC236}">
                <a16:creationId xmlns:a16="http://schemas.microsoft.com/office/drawing/2014/main" xmlns="" id="{3CB971FD-4648-C6B7-8131-CFDE891E64B2}"/>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pPr marL="0" indent="0">
              <a:buNone/>
            </a:pPr>
            <a:endParaRPr lang="en-US" dirty="0"/>
          </a:p>
          <a:p>
            <a:endParaRPr lang="en-US" dirty="0"/>
          </a:p>
          <a:p>
            <a:endParaRPr lang="en-US" dirty="0"/>
          </a:p>
          <a:p>
            <a:r>
              <a:rPr lang="en-US" dirty="0"/>
              <a:t>Any program, no matter how small, occupies an entire partition. This phenomenon, in which there is wasted space internal to a partition due to the fact that the block of data loaded is smaller than the partition, is referred to as </a:t>
            </a:r>
            <a:r>
              <a:rPr lang="en-US" dirty="0">
                <a:solidFill>
                  <a:schemeClr val="accent6">
                    <a:lumMod val="75000"/>
                  </a:schemeClr>
                </a:solidFill>
              </a:rPr>
              <a:t>internal fragmentation</a:t>
            </a:r>
            <a:r>
              <a:rPr lang="en-US" dirty="0"/>
              <a:t>.</a:t>
            </a:r>
          </a:p>
          <a:p>
            <a:r>
              <a:rPr lang="en-US" dirty="0"/>
              <a:t>Even though we have the availability of memory in different slots we cannot added all the space and accommodate another process. This phenomenon is </a:t>
            </a:r>
            <a:r>
              <a:rPr lang="en-US" dirty="0">
                <a:solidFill>
                  <a:srgbClr val="C00000"/>
                </a:solidFill>
              </a:rPr>
              <a:t>External Fragmentation.</a:t>
            </a:r>
          </a:p>
          <a:p>
            <a:endParaRPr lang="en-US" dirty="0"/>
          </a:p>
        </p:txBody>
      </p:sp>
      <p:pic>
        <p:nvPicPr>
          <p:cNvPr id="4" name="image43.png" descr="Image result for fixed partitioning">
            <a:extLst>
              <a:ext uri="{FF2B5EF4-FFF2-40B4-BE49-F238E27FC236}">
                <a16:creationId xmlns:a16="http://schemas.microsoft.com/office/drawing/2014/main" xmlns="" id="{C8968221-8BF7-76D6-7104-8A2D4988943F}"/>
              </a:ext>
            </a:extLst>
          </p:cNvPr>
          <p:cNvPicPr>
            <a:picLocks noChangeAspect="1"/>
          </p:cNvPicPr>
          <p:nvPr/>
        </p:nvPicPr>
        <p:blipFill>
          <a:blip r:embed="rId3" cstate="print"/>
          <a:stretch>
            <a:fillRect/>
          </a:stretch>
        </p:blipFill>
        <p:spPr>
          <a:xfrm>
            <a:off x="1915141" y="863444"/>
            <a:ext cx="5689619" cy="3510436"/>
          </a:xfrm>
          <a:prstGeom prst="rect">
            <a:avLst/>
          </a:prstGeom>
        </p:spPr>
      </p:pic>
    </p:spTree>
    <p:extLst>
      <p:ext uri="{BB962C8B-B14F-4D97-AF65-F5344CB8AC3E}">
        <p14:creationId xmlns:p14="http://schemas.microsoft.com/office/powerpoint/2010/main" val="387183569"/>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B4DA3B-EEDF-6906-1385-A0970E2FC866}"/>
              </a:ext>
            </a:extLst>
          </p:cNvPr>
          <p:cNvSpPr>
            <a:spLocks noGrp="1"/>
          </p:cNvSpPr>
          <p:nvPr>
            <p:ph type="title"/>
          </p:nvPr>
        </p:nvSpPr>
        <p:spPr/>
        <p:txBody>
          <a:bodyPr/>
          <a:lstStyle/>
          <a:p>
            <a:r>
              <a:rPr lang="en-US" dirty="0"/>
              <a:t>Variable/Dynamic Partition Allocation</a:t>
            </a:r>
          </a:p>
        </p:txBody>
      </p:sp>
      <p:sp>
        <p:nvSpPr>
          <p:cNvPr id="3" name="Content Placeholder 2">
            <a:extLst>
              <a:ext uri="{FF2B5EF4-FFF2-40B4-BE49-F238E27FC236}">
                <a16:creationId xmlns:a16="http://schemas.microsoft.com/office/drawing/2014/main" xmlns="" id="{3CB971FD-4648-C6B7-8131-CFDE891E64B2}"/>
              </a:ext>
            </a:extLst>
          </p:cNvPr>
          <p:cNvSpPr>
            <a:spLocks noGrp="1"/>
          </p:cNvSpPr>
          <p:nvPr>
            <p:ph idx="1"/>
          </p:nvPr>
        </p:nvSpPr>
        <p:spPr/>
        <p:txBody>
          <a:bodyPr/>
          <a:lstStyle/>
          <a:p>
            <a:r>
              <a:rPr lang="en-US" dirty="0"/>
              <a:t>To overcome some of the difficulties with fixed partitioning, an approach known as dynamic partitioning was developed</a:t>
            </a:r>
          </a:p>
          <a:p>
            <a:r>
              <a:rPr lang="en-US" dirty="0"/>
              <a:t>The partitions are of variable length and number. When a process is brought into main memory, it is allocated exactly as much memory as it requires and no more</a:t>
            </a:r>
          </a:p>
          <a:p>
            <a:r>
              <a:rPr lang="en-US" dirty="0"/>
              <a:t>Holes (pieces of free memory) might be created during dynamic partitioning.</a:t>
            </a:r>
          </a:p>
          <a:p>
            <a:r>
              <a:rPr lang="en-US" dirty="0"/>
              <a:t>Given a new process, the OS must decide which hole to use for new process</a:t>
            </a:r>
          </a:p>
          <a:p>
            <a:endParaRPr lang="en-US" dirty="0"/>
          </a:p>
        </p:txBody>
      </p:sp>
      <p:pic>
        <p:nvPicPr>
          <p:cNvPr id="4" name="image44.png">
            <a:extLst>
              <a:ext uri="{FF2B5EF4-FFF2-40B4-BE49-F238E27FC236}">
                <a16:creationId xmlns:a16="http://schemas.microsoft.com/office/drawing/2014/main" xmlns="" id="{474D26C6-98DB-36A0-D67C-087994ADA201}"/>
              </a:ext>
            </a:extLst>
          </p:cNvPr>
          <p:cNvPicPr>
            <a:picLocks noChangeAspect="1"/>
          </p:cNvPicPr>
          <p:nvPr/>
        </p:nvPicPr>
        <p:blipFill>
          <a:blip r:embed="rId2" cstate="print"/>
          <a:stretch>
            <a:fillRect/>
          </a:stretch>
        </p:blipFill>
        <p:spPr>
          <a:xfrm>
            <a:off x="2100664" y="3385585"/>
            <a:ext cx="6289358" cy="3068424"/>
          </a:xfrm>
          <a:prstGeom prst="rect">
            <a:avLst/>
          </a:prstGeom>
        </p:spPr>
      </p:pic>
    </p:spTree>
    <p:extLst>
      <p:ext uri="{BB962C8B-B14F-4D97-AF65-F5344CB8AC3E}">
        <p14:creationId xmlns:p14="http://schemas.microsoft.com/office/powerpoint/2010/main" val="2944738671"/>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B4DA3B-EEDF-6906-1385-A0970E2FC866}"/>
              </a:ext>
            </a:extLst>
          </p:cNvPr>
          <p:cNvSpPr>
            <a:spLocks noGrp="1"/>
          </p:cNvSpPr>
          <p:nvPr>
            <p:ph type="title"/>
          </p:nvPr>
        </p:nvSpPr>
        <p:spPr/>
        <p:txBody>
          <a:bodyPr/>
          <a:lstStyle/>
          <a:p>
            <a:r>
              <a:rPr lang="en-US" dirty="0"/>
              <a:t>Variable/Dynamic Partition Allocation</a:t>
            </a:r>
          </a:p>
        </p:txBody>
      </p:sp>
      <p:sp>
        <p:nvSpPr>
          <p:cNvPr id="3" name="Content Placeholder 2">
            <a:extLst>
              <a:ext uri="{FF2B5EF4-FFF2-40B4-BE49-F238E27FC236}">
                <a16:creationId xmlns:a16="http://schemas.microsoft.com/office/drawing/2014/main" xmlns="" id="{3CB971FD-4648-C6B7-8131-CFDE891E64B2}"/>
              </a:ext>
            </a:extLst>
          </p:cNvPr>
          <p:cNvSpPr>
            <a:spLocks noGrp="1"/>
          </p:cNvSpPr>
          <p:nvPr>
            <p:ph idx="1"/>
          </p:nvPr>
        </p:nvSpPr>
        <p:spPr/>
        <p:txBody>
          <a:bodyPr/>
          <a:lstStyle/>
          <a:p>
            <a:r>
              <a:rPr lang="en-US" dirty="0"/>
              <a:t>Frequent loading and unloading of programs causes free space to be broken into little pieces</a:t>
            </a:r>
          </a:p>
          <a:p>
            <a:r>
              <a:rPr lang="en-US" dirty="0"/>
              <a:t>Eventually it leads to a situation in which there are a lot of small holes in memory. As time goes on memory becomes more and more fragmented, and memory utilization declines. This phenomenon is referred to as external fragmentation.</a:t>
            </a:r>
          </a:p>
          <a:p>
            <a:r>
              <a:rPr lang="en-US" dirty="0"/>
              <a:t>External fragmentation exists when there is enough memory to fit a process in memory, but the space is not contiguous.</a:t>
            </a:r>
          </a:p>
          <a:p>
            <a:endParaRPr lang="en-US" dirty="0"/>
          </a:p>
        </p:txBody>
      </p:sp>
    </p:spTree>
    <p:extLst>
      <p:ext uri="{BB962C8B-B14F-4D97-AF65-F5344CB8AC3E}">
        <p14:creationId xmlns:p14="http://schemas.microsoft.com/office/powerpoint/2010/main" val="854205767"/>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B4DA3B-EEDF-6906-1385-A0970E2FC866}"/>
              </a:ext>
            </a:extLst>
          </p:cNvPr>
          <p:cNvSpPr>
            <a:spLocks noGrp="1"/>
          </p:cNvSpPr>
          <p:nvPr>
            <p:ph type="title"/>
          </p:nvPr>
        </p:nvSpPr>
        <p:spPr/>
        <p:txBody>
          <a:bodyPr/>
          <a:lstStyle/>
          <a:p>
            <a:r>
              <a:rPr lang="en-US" dirty="0"/>
              <a:t>Fragmentation and Types of Fragmentation</a:t>
            </a:r>
          </a:p>
        </p:txBody>
      </p:sp>
      <p:sp>
        <p:nvSpPr>
          <p:cNvPr id="3" name="Content Placeholder 2">
            <a:extLst>
              <a:ext uri="{FF2B5EF4-FFF2-40B4-BE49-F238E27FC236}">
                <a16:creationId xmlns:a16="http://schemas.microsoft.com/office/drawing/2014/main" xmlns="" id="{3CB971FD-4648-C6B7-8131-CFDE891E64B2}"/>
              </a:ext>
            </a:extLst>
          </p:cNvPr>
          <p:cNvSpPr>
            <a:spLocks noGrp="1"/>
          </p:cNvSpPr>
          <p:nvPr>
            <p:ph idx="1"/>
          </p:nvPr>
        </p:nvSpPr>
        <p:spPr>
          <a:xfrm>
            <a:off x="131179" y="831360"/>
            <a:ext cx="11929641" cy="5590565"/>
          </a:xfrm>
        </p:spPr>
        <p:txBody>
          <a:bodyPr/>
          <a:lstStyle/>
          <a:p>
            <a:r>
              <a:rPr lang="en-US" dirty="0">
                <a:solidFill>
                  <a:schemeClr val="accent6">
                    <a:lumMod val="75000"/>
                  </a:schemeClr>
                </a:solidFill>
              </a:rPr>
              <a:t>Fragmentation</a:t>
            </a:r>
            <a:r>
              <a:rPr lang="en-US" dirty="0"/>
              <a:t> refers to the condition of a disk in which files are divided into pieces scattered around the disk.</a:t>
            </a:r>
          </a:p>
          <a:p>
            <a:r>
              <a:rPr lang="en-US" dirty="0"/>
              <a:t>Fragmentation occurs naturally when you use a disk frequently, creating, deleting, and modifying files.</a:t>
            </a:r>
          </a:p>
          <a:p>
            <a:r>
              <a:rPr lang="en-US" dirty="0">
                <a:solidFill>
                  <a:schemeClr val="accent6">
                    <a:lumMod val="75000"/>
                  </a:schemeClr>
                </a:solidFill>
              </a:rPr>
              <a:t>External Fragmentation </a:t>
            </a:r>
            <a:r>
              <a:rPr lang="en-US" dirty="0"/>
              <a:t>– total memory space exists to satisfy a request, but it is not contiguous.</a:t>
            </a:r>
          </a:p>
          <a:p>
            <a:r>
              <a:rPr lang="en-US" dirty="0">
                <a:solidFill>
                  <a:schemeClr val="accent6">
                    <a:lumMod val="75000"/>
                  </a:schemeClr>
                </a:solidFill>
              </a:rPr>
              <a:t>Internal Fragmentation </a:t>
            </a:r>
            <a:r>
              <a:rPr lang="en-US" dirty="0"/>
              <a:t>– allocated memory may be slightly larger than requested memory; this size difference is memory internal to a partition, but not being used.</a:t>
            </a:r>
          </a:p>
          <a:p>
            <a:endParaRPr lang="en-US" dirty="0"/>
          </a:p>
        </p:txBody>
      </p:sp>
    </p:spTree>
    <p:extLst>
      <p:ext uri="{BB962C8B-B14F-4D97-AF65-F5344CB8AC3E}">
        <p14:creationId xmlns:p14="http://schemas.microsoft.com/office/powerpoint/2010/main" val="886772808"/>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Swapping</a:t>
            </a:r>
          </a:p>
        </p:txBody>
      </p:sp>
      <p:sp>
        <p:nvSpPr>
          <p:cNvPr id="3" name="Content Placeholder 2"/>
          <p:cNvSpPr>
            <a:spLocks noGrp="1"/>
          </p:cNvSpPr>
          <p:nvPr>
            <p:ph idx="1"/>
          </p:nvPr>
        </p:nvSpPr>
        <p:spPr>
          <a:xfrm>
            <a:off x="131181" y="863444"/>
            <a:ext cx="6995334" cy="5590565"/>
          </a:xfrm>
        </p:spPr>
        <p:txBody>
          <a:bodyPr/>
          <a:lstStyle/>
          <a:p>
            <a:r>
              <a:rPr lang="en-US" dirty="0"/>
              <a:t>We can </a:t>
            </a:r>
            <a:r>
              <a:rPr lang="en-US" b="1" dirty="0">
                <a:solidFill>
                  <a:schemeClr val="accent6"/>
                </a:solidFill>
              </a:rPr>
              <a:t>use swapping </a:t>
            </a:r>
            <a:r>
              <a:rPr lang="en-US" dirty="0"/>
              <a:t>to </a:t>
            </a:r>
            <a:r>
              <a:rPr lang="en-US" b="1" dirty="0">
                <a:solidFill>
                  <a:schemeClr val="accent6"/>
                </a:solidFill>
              </a:rPr>
              <a:t>run multiple programs concurrently</a:t>
            </a:r>
            <a:r>
              <a:rPr lang="en-US" dirty="0"/>
              <a:t>.</a:t>
            </a:r>
          </a:p>
          <a:p>
            <a:r>
              <a:rPr lang="en-US" dirty="0"/>
              <a:t>The </a:t>
            </a:r>
            <a:r>
              <a:rPr lang="en-US" b="1" dirty="0">
                <a:solidFill>
                  <a:schemeClr val="accent6"/>
                </a:solidFill>
              </a:rPr>
              <a:t>process of bringing in each process in its entirely in to memory, running it for a while and then putting it back on the disk</a:t>
            </a:r>
            <a:r>
              <a:rPr lang="en-US" dirty="0"/>
              <a:t> is called swapping.</a:t>
            </a:r>
          </a:p>
          <a:p>
            <a:r>
              <a:rPr lang="en-US" dirty="0"/>
              <a:t>Swapping is a mechanism in which a process can be swapped temporarily out of main memory (or move) to secondary storage (disk) and make that memory available to other processes.</a:t>
            </a:r>
          </a:p>
          <a:p>
            <a:endParaRPr lang="en-US" dirty="0"/>
          </a:p>
        </p:txBody>
      </p:sp>
      <p:sp>
        <p:nvSpPr>
          <p:cNvPr id="25" name="Rectangle 24"/>
          <p:cNvSpPr/>
          <p:nvPr/>
        </p:nvSpPr>
        <p:spPr>
          <a:xfrm>
            <a:off x="7429500" y="1096960"/>
            <a:ext cx="1554480" cy="2057400"/>
          </a:xfrm>
          <a:prstGeom prst="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7482840" y="1618930"/>
            <a:ext cx="1447800" cy="365760"/>
          </a:xfrm>
          <a:prstGeom prst="rect">
            <a:avLst/>
          </a:prstGeom>
          <a:noFill/>
        </p:spPr>
        <p:txBody>
          <a:bodyPr wrap="square" rtlCol="0">
            <a:spAutoFit/>
          </a:bodyPr>
          <a:lstStyle/>
          <a:p>
            <a:pPr algn="ctr"/>
            <a:r>
              <a:rPr lang="en-US"/>
              <a:t>User Program</a:t>
            </a:r>
          </a:p>
        </p:txBody>
      </p:sp>
      <p:sp>
        <p:nvSpPr>
          <p:cNvPr id="27" name="TextBox 26"/>
          <p:cNvSpPr txBox="1"/>
          <p:nvPr/>
        </p:nvSpPr>
        <p:spPr>
          <a:xfrm>
            <a:off x="7482840" y="2708828"/>
            <a:ext cx="1447800" cy="369332"/>
          </a:xfrm>
          <a:prstGeom prst="rect">
            <a:avLst/>
          </a:prstGeom>
          <a:noFill/>
        </p:spPr>
        <p:txBody>
          <a:bodyPr wrap="square" rtlCol="0">
            <a:spAutoFit/>
          </a:bodyPr>
          <a:lstStyle/>
          <a:p>
            <a:pPr algn="ctr"/>
            <a:r>
              <a:rPr lang="en-US"/>
              <a:t>OS in RAM</a:t>
            </a:r>
          </a:p>
        </p:txBody>
      </p:sp>
      <p:sp>
        <p:nvSpPr>
          <p:cNvPr id="28" name="TextBox 27"/>
          <p:cNvSpPr txBox="1"/>
          <p:nvPr/>
        </p:nvSpPr>
        <p:spPr>
          <a:xfrm>
            <a:off x="9007794" y="2785028"/>
            <a:ext cx="533400" cy="369332"/>
          </a:xfrm>
          <a:prstGeom prst="rect">
            <a:avLst/>
          </a:prstGeom>
          <a:noFill/>
        </p:spPr>
        <p:txBody>
          <a:bodyPr wrap="square" rtlCol="0">
            <a:spAutoFit/>
          </a:bodyPr>
          <a:lstStyle/>
          <a:p>
            <a:r>
              <a:rPr lang="en-US"/>
              <a:t>0</a:t>
            </a:r>
          </a:p>
        </p:txBody>
      </p:sp>
      <p:sp>
        <p:nvSpPr>
          <p:cNvPr id="29" name="TextBox 28"/>
          <p:cNvSpPr txBox="1"/>
          <p:nvPr/>
        </p:nvSpPr>
        <p:spPr>
          <a:xfrm>
            <a:off x="9007794" y="1090612"/>
            <a:ext cx="1028700" cy="369332"/>
          </a:xfrm>
          <a:prstGeom prst="rect">
            <a:avLst/>
          </a:prstGeom>
          <a:noFill/>
        </p:spPr>
        <p:txBody>
          <a:bodyPr wrap="square" rtlCol="0">
            <a:spAutoFit/>
          </a:bodyPr>
          <a:lstStyle/>
          <a:p>
            <a:r>
              <a:rPr lang="en-US"/>
              <a:t>0xFFF…</a:t>
            </a:r>
          </a:p>
        </p:txBody>
      </p:sp>
      <p:cxnSp>
        <p:nvCxnSpPr>
          <p:cNvPr id="30" name="Straight Connector 29"/>
          <p:cNvCxnSpPr/>
          <p:nvPr/>
        </p:nvCxnSpPr>
        <p:spPr>
          <a:xfrm>
            <a:off x="7429500" y="2620960"/>
            <a:ext cx="155448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31" name="Flowchart: Magnetic Disk 30"/>
          <p:cNvSpPr/>
          <p:nvPr/>
        </p:nvSpPr>
        <p:spPr>
          <a:xfrm>
            <a:off x="10629900" y="1554160"/>
            <a:ext cx="1371600" cy="1114425"/>
          </a:xfrm>
          <a:prstGeom prst="flowChartMagneticDisk">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r"/>
            <a:r>
              <a:rPr lang="en-US"/>
              <a:t>Hard Disk</a:t>
            </a:r>
            <a:endParaRPr lang="en-IN"/>
          </a:p>
        </p:txBody>
      </p:sp>
      <p:cxnSp>
        <p:nvCxnSpPr>
          <p:cNvPr id="32" name="Straight Arrow Connector 31"/>
          <p:cNvCxnSpPr>
            <a:stCxn id="31" idx="2"/>
          </p:cNvCxnSpPr>
          <p:nvPr/>
        </p:nvCxnSpPr>
        <p:spPr>
          <a:xfrm flipH="1" flipV="1">
            <a:off x="8983980" y="2092759"/>
            <a:ext cx="1645920" cy="18614"/>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 name="Rounded Rectangle 32"/>
          <p:cNvSpPr/>
          <p:nvPr/>
        </p:nvSpPr>
        <p:spPr>
          <a:xfrm>
            <a:off x="10706100" y="1973260"/>
            <a:ext cx="228600" cy="266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4" name="Straight Arrow Connector 33"/>
          <p:cNvCxnSpPr/>
          <p:nvPr/>
        </p:nvCxnSpPr>
        <p:spPr>
          <a:xfrm>
            <a:off x="8984327" y="2090165"/>
            <a:ext cx="1645920" cy="9643"/>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5" name="Rounded Rectangle 34"/>
          <p:cNvSpPr/>
          <p:nvPr/>
        </p:nvSpPr>
        <p:spPr>
          <a:xfrm>
            <a:off x="8638599" y="1972775"/>
            <a:ext cx="228600" cy="266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p:cNvSpPr txBox="1"/>
          <p:nvPr/>
        </p:nvSpPr>
        <p:spPr>
          <a:xfrm>
            <a:off x="9126855" y="2290645"/>
            <a:ext cx="1360170" cy="369332"/>
          </a:xfrm>
          <a:prstGeom prst="rect">
            <a:avLst/>
          </a:prstGeom>
          <a:ln w="28575">
            <a:solidFill>
              <a:schemeClr val="accent6"/>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t>Swapped in</a:t>
            </a:r>
            <a:endParaRPr lang="en-IN"/>
          </a:p>
        </p:txBody>
      </p:sp>
      <p:sp>
        <p:nvSpPr>
          <p:cNvPr id="37" name="TextBox 36"/>
          <p:cNvSpPr txBox="1"/>
          <p:nvPr/>
        </p:nvSpPr>
        <p:spPr>
          <a:xfrm>
            <a:off x="9056846" y="1547812"/>
            <a:ext cx="1500188" cy="369332"/>
          </a:xfrm>
          <a:prstGeom prst="rect">
            <a:avLst/>
          </a:prstGeom>
          <a:ln w="28575">
            <a:solidFill>
              <a:schemeClr val="accent6"/>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t>Swapped out</a:t>
            </a:r>
            <a:endParaRPr lang="en-IN"/>
          </a:p>
        </p:txBody>
      </p:sp>
    </p:spTree>
    <p:extLst>
      <p:ext uri="{BB962C8B-B14F-4D97-AF65-F5344CB8AC3E}">
        <p14:creationId xmlns:p14="http://schemas.microsoft.com/office/powerpoint/2010/main" val="98888720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p:stCondLst>
                              <p:cond delay="0"/>
                            </p:stCondLst>
                            <p:childTnLst>
                              <p:par>
                                <p:cTn id="29" presetID="42" presetClass="path" presetSubtype="0" accel="50000" decel="50000" fill="hold" grpId="1" nodeType="clickEffect">
                                  <p:stCondLst>
                                    <p:cond delay="0"/>
                                  </p:stCondLst>
                                  <p:childTnLst>
                                    <p:animMotion origin="layout" path="M 1.11022E-16 4.07407E-06 L -0.16953 1.11111E-06" pathEditMode="relative" rAng="0" ptsTypes="AA">
                                      <p:cBhvr>
                                        <p:cTn id="30" dur="2000" fill="hold"/>
                                        <p:tgtEl>
                                          <p:spTgt spid="33"/>
                                        </p:tgtEl>
                                        <p:attrNameLst>
                                          <p:attrName>ppt_x</p:attrName>
                                          <p:attrName>ppt_y</p:attrName>
                                        </p:attrNameLst>
                                      </p:cBhvr>
                                      <p:rCtr x="-8477" y="23"/>
                                    </p:animMotion>
                                  </p:childTnLst>
                                </p:cTn>
                              </p:par>
                            </p:childTnLst>
                          </p:cTn>
                        </p:par>
                      </p:childTnLst>
                    </p:cTn>
                  </p:par>
                  <p:par>
                    <p:cTn id="31" fill="hold" nodeType="clickPar">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p:stCondLst>
                              <p:cond delay="0"/>
                            </p:stCondLst>
                            <p:childTnLst>
                              <p:par>
                                <p:cTn id="37" presetID="10" presetClass="exit" presetSubtype="0" fill="hold" grpId="1" nodeType="clickEffect">
                                  <p:stCondLst>
                                    <p:cond delay="0"/>
                                  </p:stCondLst>
                                  <p:childTnLst>
                                    <p:animEffect transition="out" filter="fade">
                                      <p:cBhvr>
                                        <p:cTn id="38" dur="500"/>
                                        <p:tgtEl>
                                          <p:spTgt spid="36"/>
                                        </p:tgtEl>
                                      </p:cBhvr>
                                    </p:animEffect>
                                    <p:set>
                                      <p:cBhvr>
                                        <p:cTn id="39" dur="1" fill="hold">
                                          <p:stCondLst>
                                            <p:cond delay="499"/>
                                          </p:stCondLst>
                                        </p:cTn>
                                        <p:tgtEl>
                                          <p:spTgt spid="36"/>
                                        </p:tgtEl>
                                        <p:attrNameLst>
                                          <p:attrName>style.visibility</p:attrName>
                                        </p:attrNameLst>
                                      </p:cBhvr>
                                      <p:to>
                                        <p:strVal val="hidden"/>
                                      </p:to>
                                    </p:set>
                                  </p:childTnLst>
                                </p:cTn>
                              </p:par>
                            </p:childTnLst>
                          </p:cTn>
                        </p:par>
                      </p:childTnLst>
                    </p:cTn>
                  </p:par>
                  <p:par>
                    <p:cTn id="40" fill="hold" nodeType="clickPar">
                      <p:stCondLst>
                        <p:cond delay="indefinite"/>
                      </p:stCondLst>
                      <p:childTnLst>
                        <p:par>
                          <p:cTn id="41" fill="hold">
                            <p:stCondLst>
                              <p:cond delay="0"/>
                            </p:stCondLst>
                            <p:childTnLst>
                              <p:par>
                                <p:cTn id="42" presetID="10" presetClass="exit" presetSubtype="0" fill="hold" nodeType="clickEffect">
                                  <p:stCondLst>
                                    <p:cond delay="0"/>
                                  </p:stCondLst>
                                  <p:childTnLst>
                                    <p:animEffect transition="out" filter="fade">
                                      <p:cBhvr>
                                        <p:cTn id="43" dur="500"/>
                                        <p:tgtEl>
                                          <p:spTgt spid="32"/>
                                        </p:tgtEl>
                                      </p:cBhvr>
                                    </p:animEffect>
                                    <p:set>
                                      <p:cBhvr>
                                        <p:cTn id="44" dur="1" fill="hold">
                                          <p:stCondLst>
                                            <p:cond delay="499"/>
                                          </p:stCondLst>
                                        </p:cTn>
                                        <p:tgtEl>
                                          <p:spTgt spid="32"/>
                                        </p:tgtEl>
                                        <p:attrNameLst>
                                          <p:attrName>style.visibility</p:attrName>
                                        </p:attrNameLst>
                                      </p:cBhvr>
                                      <p:to>
                                        <p:strVal val="hidden"/>
                                      </p:to>
                                    </p:set>
                                  </p:childTnLst>
                                </p:cTn>
                              </p:par>
                              <p:par>
                                <p:cTn id="45" presetID="10" presetClass="exit" presetSubtype="0" fill="hold" grpId="2" nodeType="withEffect">
                                  <p:stCondLst>
                                    <p:cond delay="0"/>
                                  </p:stCondLst>
                                  <p:childTnLst>
                                    <p:animEffect transition="out" filter="fade">
                                      <p:cBhvr>
                                        <p:cTn id="46" dur="500"/>
                                        <p:tgtEl>
                                          <p:spTgt spid="33"/>
                                        </p:tgtEl>
                                      </p:cBhvr>
                                    </p:animEffect>
                                    <p:set>
                                      <p:cBhvr>
                                        <p:cTn id="47" dur="1" fill="hold">
                                          <p:stCondLst>
                                            <p:cond delay="499"/>
                                          </p:stCondLst>
                                        </p:cTn>
                                        <p:tgtEl>
                                          <p:spTgt spid="33"/>
                                        </p:tgtEl>
                                        <p:attrNameLst>
                                          <p:attrName>style.visibility</p:attrName>
                                        </p:attrNameLst>
                                      </p:cBhvr>
                                      <p:to>
                                        <p:strVal val="hidden"/>
                                      </p:to>
                                    </p:set>
                                  </p:childTnLst>
                                </p:cTn>
                              </p:par>
                              <p:par>
                                <p:cTn id="48" presetID="1" presetClass="entr" presetSubtype="0" fill="hold" grpId="0" nodeType="withEffect">
                                  <p:stCondLst>
                                    <p:cond delay="0"/>
                                  </p:stCondLst>
                                  <p:childTnLst>
                                    <p:set>
                                      <p:cBhvr>
                                        <p:cTn id="49" dur="1" fill="hold">
                                          <p:stCondLst>
                                            <p:cond delay="0"/>
                                          </p:stCondLst>
                                        </p:cTn>
                                        <p:tgtEl>
                                          <p:spTgt spid="35"/>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34"/>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p:stCondLst>
                              <p:cond delay="0"/>
                            </p:stCondLst>
                            <p:childTnLst>
                              <p:par>
                                <p:cTn id="54" presetID="42" presetClass="path" presetSubtype="0" accel="50000" decel="50000" fill="hold" grpId="1" nodeType="clickEffect">
                                  <p:stCondLst>
                                    <p:cond delay="0"/>
                                  </p:stCondLst>
                                  <p:childTnLst>
                                    <p:animMotion origin="layout" path="M 1.25E-06 4.07407E-06 L 0.16953 1.11111E-06" pathEditMode="relative" rAng="0" ptsTypes="AA">
                                      <p:cBhvr>
                                        <p:cTn id="55" dur="2000" fill="hold"/>
                                        <p:tgtEl>
                                          <p:spTgt spid="35"/>
                                        </p:tgtEl>
                                        <p:attrNameLst>
                                          <p:attrName>ppt_x</p:attrName>
                                          <p:attrName>ppt_y</p:attrName>
                                        </p:attrNameLst>
                                      </p:cBhvr>
                                      <p:rCtr x="8464" y="23"/>
                                    </p:animMotion>
                                  </p:childTnLst>
                                </p:cTn>
                              </p:par>
                            </p:childTnLst>
                          </p:cTn>
                        </p:par>
                      </p:childTnLst>
                    </p:cTn>
                  </p:par>
                  <p:par>
                    <p:cTn id="56" fill="hold" nodeType="clickPar">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37"/>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p:stCondLst>
                              <p:cond delay="0"/>
                            </p:stCondLst>
                            <p:childTnLst>
                              <p:par>
                                <p:cTn id="62" presetID="10" presetClass="exit" presetSubtype="0" fill="hold" grpId="1" nodeType="clickEffect">
                                  <p:stCondLst>
                                    <p:cond delay="0"/>
                                  </p:stCondLst>
                                  <p:childTnLst>
                                    <p:animEffect transition="out" filter="fade">
                                      <p:cBhvr>
                                        <p:cTn id="63" dur="500"/>
                                        <p:tgtEl>
                                          <p:spTgt spid="37"/>
                                        </p:tgtEl>
                                      </p:cBhvr>
                                    </p:animEffect>
                                    <p:set>
                                      <p:cBhvr>
                                        <p:cTn id="64" dur="1" fill="hold">
                                          <p:stCondLst>
                                            <p:cond delay="499"/>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p:bldP spid="28" grpId="0"/>
      <p:bldP spid="29" grpId="0"/>
      <p:bldP spid="31" grpId="0" animBg="1"/>
      <p:bldP spid="33" grpId="0" animBg="1"/>
      <p:bldP spid="33" grpId="1" animBg="1"/>
      <p:bldP spid="33" grpId="2" animBg="1"/>
      <p:bldP spid="35" grpId="0" animBg="1"/>
      <p:bldP spid="35" grpId="1" animBg="1"/>
      <p:bldP spid="36" grpId="0" animBg="1"/>
      <p:bldP spid="36" grpId="1" animBg="1"/>
      <p:bldP spid="37" grpId="0" animBg="1"/>
      <p:bldP spid="37"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B4DA3B-EEDF-6906-1385-A0970E2FC866}"/>
              </a:ext>
            </a:extLst>
          </p:cNvPr>
          <p:cNvSpPr>
            <a:spLocks noGrp="1"/>
          </p:cNvSpPr>
          <p:nvPr>
            <p:ph type="title"/>
          </p:nvPr>
        </p:nvSpPr>
        <p:spPr/>
        <p:txBody>
          <a:bodyPr/>
          <a:lstStyle/>
          <a:p>
            <a:r>
              <a:rPr lang="en-US" dirty="0"/>
              <a:t>Swapping</a:t>
            </a:r>
          </a:p>
        </p:txBody>
      </p:sp>
      <p:sp>
        <p:nvSpPr>
          <p:cNvPr id="3" name="Content Placeholder 2">
            <a:extLst>
              <a:ext uri="{FF2B5EF4-FFF2-40B4-BE49-F238E27FC236}">
                <a16:creationId xmlns:a16="http://schemas.microsoft.com/office/drawing/2014/main" xmlns="" id="{3CB971FD-4648-C6B7-8131-CFDE891E64B2}"/>
              </a:ext>
            </a:extLst>
          </p:cNvPr>
          <p:cNvSpPr>
            <a:spLocks noGrp="1"/>
          </p:cNvSpPr>
          <p:nvPr>
            <p:ph idx="1"/>
          </p:nvPr>
        </p:nvSpPr>
        <p:spPr>
          <a:xfrm>
            <a:off x="131181" y="863444"/>
            <a:ext cx="6317746" cy="5590565"/>
          </a:xfrm>
        </p:spPr>
        <p:txBody>
          <a:bodyPr/>
          <a:lstStyle/>
          <a:p>
            <a:r>
              <a:rPr lang="en-US" dirty="0"/>
              <a:t>Example: In round-robin CPU-scheduling algorithm, when a quantum expires, the memory manager will swap out that process to swap another process into the memory space that has been freed.</a:t>
            </a:r>
          </a:p>
          <a:p>
            <a:r>
              <a:rPr lang="en-US" dirty="0"/>
              <a:t>The total time taken by swapping process includes the time it takes to move the entire process to a secondary disk and then to copy the process back to memory, as well as the time the process takes to regain main memory</a:t>
            </a:r>
          </a:p>
          <a:p>
            <a:endParaRPr lang="en-US" dirty="0"/>
          </a:p>
          <a:p>
            <a:endParaRPr lang="en-US" dirty="0"/>
          </a:p>
        </p:txBody>
      </p:sp>
      <p:pic>
        <p:nvPicPr>
          <p:cNvPr id="4" name="image45.jpeg">
            <a:extLst>
              <a:ext uri="{FF2B5EF4-FFF2-40B4-BE49-F238E27FC236}">
                <a16:creationId xmlns:a16="http://schemas.microsoft.com/office/drawing/2014/main" xmlns="" id="{608C82BF-C1AB-9119-F4BF-5BD147F7D437}"/>
              </a:ext>
            </a:extLst>
          </p:cNvPr>
          <p:cNvPicPr>
            <a:picLocks noChangeAspect="1"/>
          </p:cNvPicPr>
          <p:nvPr/>
        </p:nvPicPr>
        <p:blipFill>
          <a:blip r:embed="rId2" cstate="print"/>
          <a:stretch>
            <a:fillRect/>
          </a:stretch>
        </p:blipFill>
        <p:spPr>
          <a:xfrm>
            <a:off x="6589698" y="1531436"/>
            <a:ext cx="5602302" cy="3795128"/>
          </a:xfrm>
          <a:prstGeom prst="rect">
            <a:avLst/>
          </a:prstGeom>
        </p:spPr>
      </p:pic>
    </p:spTree>
    <p:extLst>
      <p:ext uri="{BB962C8B-B14F-4D97-AF65-F5344CB8AC3E}">
        <p14:creationId xmlns:p14="http://schemas.microsoft.com/office/powerpoint/2010/main" val="4126547850"/>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B4DA3B-EEDF-6906-1385-A0970E2FC866}"/>
              </a:ext>
            </a:extLst>
          </p:cNvPr>
          <p:cNvSpPr>
            <a:spLocks noGrp="1"/>
          </p:cNvSpPr>
          <p:nvPr>
            <p:ph type="title"/>
          </p:nvPr>
        </p:nvSpPr>
        <p:spPr/>
        <p:txBody>
          <a:bodyPr/>
          <a:lstStyle/>
          <a:p>
            <a:r>
              <a:rPr lang="en-US" dirty="0"/>
              <a:t>Swapping</a:t>
            </a:r>
          </a:p>
        </p:txBody>
      </p:sp>
      <p:pic>
        <p:nvPicPr>
          <p:cNvPr id="4" name="image45.jpeg">
            <a:extLst>
              <a:ext uri="{FF2B5EF4-FFF2-40B4-BE49-F238E27FC236}">
                <a16:creationId xmlns:a16="http://schemas.microsoft.com/office/drawing/2014/main" xmlns="" id="{608C82BF-C1AB-9119-F4BF-5BD147F7D437}"/>
              </a:ext>
            </a:extLst>
          </p:cNvPr>
          <p:cNvPicPr>
            <a:picLocks noChangeAspect="1"/>
          </p:cNvPicPr>
          <p:nvPr/>
        </p:nvPicPr>
        <p:blipFill>
          <a:blip r:embed="rId2" cstate="print"/>
          <a:stretch>
            <a:fillRect/>
          </a:stretch>
        </p:blipFill>
        <p:spPr>
          <a:xfrm>
            <a:off x="0" y="711201"/>
            <a:ext cx="5602302" cy="3795128"/>
          </a:xfrm>
          <a:prstGeom prst="rect">
            <a:avLst/>
          </a:prstGeom>
        </p:spPr>
      </p:pic>
      <p:pic>
        <p:nvPicPr>
          <p:cNvPr id="5" name="image46.jpeg">
            <a:extLst>
              <a:ext uri="{FF2B5EF4-FFF2-40B4-BE49-F238E27FC236}">
                <a16:creationId xmlns:a16="http://schemas.microsoft.com/office/drawing/2014/main" xmlns="" id="{68973185-DA10-D58A-08DD-E153728BF085}"/>
              </a:ext>
            </a:extLst>
          </p:cNvPr>
          <p:cNvPicPr>
            <a:picLocks noChangeAspect="1"/>
          </p:cNvPicPr>
          <p:nvPr/>
        </p:nvPicPr>
        <p:blipFill>
          <a:blip r:embed="rId3" cstate="print"/>
          <a:stretch>
            <a:fillRect/>
          </a:stretch>
        </p:blipFill>
        <p:spPr>
          <a:xfrm>
            <a:off x="5952973" y="3169920"/>
            <a:ext cx="5888355" cy="3206115"/>
          </a:xfrm>
          <a:prstGeom prst="rect">
            <a:avLst/>
          </a:prstGeom>
        </p:spPr>
      </p:pic>
    </p:spTree>
    <p:extLst>
      <p:ext uri="{BB962C8B-B14F-4D97-AF65-F5344CB8AC3E}">
        <p14:creationId xmlns:p14="http://schemas.microsoft.com/office/powerpoint/2010/main" val="3223263031"/>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59C1D7-03B8-D4E1-7510-1FCDB6438F6F}"/>
              </a:ext>
            </a:extLst>
          </p:cNvPr>
          <p:cNvSpPr>
            <a:spLocks noGrp="1"/>
          </p:cNvSpPr>
          <p:nvPr>
            <p:ph type="title"/>
          </p:nvPr>
        </p:nvSpPr>
        <p:spPr/>
        <p:txBody>
          <a:bodyPr/>
          <a:lstStyle/>
          <a:p>
            <a:r>
              <a:rPr lang="en-US" dirty="0"/>
              <a:t>Relocation and Protection</a:t>
            </a:r>
          </a:p>
        </p:txBody>
      </p:sp>
      <p:sp>
        <p:nvSpPr>
          <p:cNvPr id="3" name="Content Placeholder 2">
            <a:extLst>
              <a:ext uri="{FF2B5EF4-FFF2-40B4-BE49-F238E27FC236}">
                <a16:creationId xmlns:a16="http://schemas.microsoft.com/office/drawing/2014/main" xmlns="" id="{A749AE74-E876-F691-E1B3-8A16AA1D2FDF}"/>
              </a:ext>
            </a:extLst>
          </p:cNvPr>
          <p:cNvSpPr>
            <a:spLocks noGrp="1"/>
          </p:cNvSpPr>
          <p:nvPr>
            <p:ph idx="1"/>
          </p:nvPr>
        </p:nvSpPr>
        <p:spPr/>
        <p:txBody>
          <a:bodyPr/>
          <a:lstStyle/>
          <a:p>
            <a:r>
              <a:rPr lang="en-US" dirty="0"/>
              <a:t>Relocation</a:t>
            </a:r>
          </a:p>
          <a:p>
            <a:pPr lvl="1"/>
            <a:r>
              <a:rPr lang="en-US" dirty="0"/>
              <a:t>Programmers typically do not know in advance which other programs will be resident in main memory at the time of execution of their Program</a:t>
            </a:r>
          </a:p>
          <a:p>
            <a:pPr lvl="1"/>
            <a:r>
              <a:rPr lang="en-US" dirty="0"/>
              <a:t>Active processes need to be able to be swapped in and out of main memory in order to maximize processor utilization</a:t>
            </a:r>
          </a:p>
          <a:p>
            <a:pPr lvl="1"/>
            <a:r>
              <a:rPr lang="en-US" dirty="0"/>
              <a:t>Specifying that a process must be placed in the same memory region when it is swapped back in would be limiting may need to relocate the process to a different area of memory</a:t>
            </a:r>
          </a:p>
          <a:p>
            <a:r>
              <a:rPr lang="en-US" dirty="0"/>
              <a:t>Protection</a:t>
            </a:r>
          </a:p>
          <a:p>
            <a:pPr lvl="1"/>
            <a:r>
              <a:rPr lang="en-US" dirty="0"/>
              <a:t>Processes need to acquire permission to reference memory locations for reading or writing purposes</a:t>
            </a:r>
          </a:p>
          <a:p>
            <a:pPr lvl="1"/>
            <a:r>
              <a:rPr lang="en-US" dirty="0"/>
              <a:t>Location of a program in main memory is unpredictable</a:t>
            </a:r>
          </a:p>
          <a:p>
            <a:pPr lvl="1"/>
            <a:r>
              <a:rPr lang="en-US" dirty="0"/>
              <a:t>Memory references generated by a process must be checked at run time</a:t>
            </a:r>
          </a:p>
          <a:p>
            <a:pPr lvl="1"/>
            <a:r>
              <a:rPr lang="en-US" dirty="0"/>
              <a:t>Mechanisms that support relocation also support protection</a:t>
            </a:r>
          </a:p>
          <a:p>
            <a:endParaRPr lang="en-US" dirty="0"/>
          </a:p>
        </p:txBody>
      </p:sp>
    </p:spTree>
    <p:extLst>
      <p:ext uri="{BB962C8B-B14F-4D97-AF65-F5344CB8AC3E}">
        <p14:creationId xmlns:p14="http://schemas.microsoft.com/office/powerpoint/2010/main" val="3807312971"/>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B4DA3B-EEDF-6906-1385-A0970E2FC866}"/>
              </a:ext>
            </a:extLst>
          </p:cNvPr>
          <p:cNvSpPr>
            <a:spLocks noGrp="1"/>
          </p:cNvSpPr>
          <p:nvPr>
            <p:ph type="title"/>
          </p:nvPr>
        </p:nvSpPr>
        <p:spPr/>
        <p:txBody>
          <a:bodyPr/>
          <a:lstStyle/>
          <a:p>
            <a:r>
              <a:rPr lang="en-US" dirty="0"/>
              <a:t>Logical and Physical Memory</a:t>
            </a:r>
          </a:p>
        </p:txBody>
      </p:sp>
      <p:sp>
        <p:nvSpPr>
          <p:cNvPr id="3" name="Content Placeholder 2">
            <a:extLst>
              <a:ext uri="{FF2B5EF4-FFF2-40B4-BE49-F238E27FC236}">
                <a16:creationId xmlns:a16="http://schemas.microsoft.com/office/drawing/2014/main" xmlns="" id="{3CB971FD-4648-C6B7-8131-CFDE891E64B2}"/>
              </a:ext>
            </a:extLst>
          </p:cNvPr>
          <p:cNvSpPr>
            <a:spLocks noGrp="1"/>
          </p:cNvSpPr>
          <p:nvPr>
            <p:ph idx="1"/>
          </p:nvPr>
        </p:nvSpPr>
        <p:spPr>
          <a:xfrm>
            <a:off x="131180" y="863444"/>
            <a:ext cx="11929641" cy="5826114"/>
          </a:xfrm>
        </p:spPr>
        <p:txBody>
          <a:bodyPr/>
          <a:lstStyle/>
          <a:p>
            <a:r>
              <a:rPr lang="en-US" dirty="0"/>
              <a:t>Logical memory defines way to organize the physical memory such as RAM and cache. </a:t>
            </a:r>
          </a:p>
          <a:p>
            <a:r>
              <a:rPr lang="en-US" dirty="0"/>
              <a:t>Physical memory refers to the actual RAM of the system, which usually takes the form of cards attached onto the motherboard.</a:t>
            </a:r>
          </a:p>
          <a:p>
            <a:r>
              <a:rPr lang="en-US" dirty="0"/>
              <a:t>An address generated by the CPU is commonly referred to as a logical address, whereas an address seen by the memory unit-that is, the one loaded into the memory-address register of the memory-is commonly referred to as a physical address.</a:t>
            </a:r>
          </a:p>
          <a:p>
            <a:r>
              <a:rPr lang="en-US" dirty="0"/>
              <a:t>Logical and physical addresses are the same in compile-time and load-time address-binding schemes; logical (virtual) and physical addresses differ in execution-time address-binding scheme.</a:t>
            </a:r>
          </a:p>
          <a:p>
            <a:endParaRPr lang="en-US" dirty="0"/>
          </a:p>
        </p:txBody>
      </p:sp>
      <p:pic>
        <p:nvPicPr>
          <p:cNvPr id="4" name="image47.png" descr="Image result for physical vs logical memory">
            <a:extLst>
              <a:ext uri="{FF2B5EF4-FFF2-40B4-BE49-F238E27FC236}">
                <a16:creationId xmlns:a16="http://schemas.microsoft.com/office/drawing/2014/main" xmlns="" id="{16EB49F8-0A15-5FDD-CDC8-0158DAE1002B}"/>
              </a:ext>
            </a:extLst>
          </p:cNvPr>
          <p:cNvPicPr>
            <a:picLocks noChangeAspect="1"/>
          </p:cNvPicPr>
          <p:nvPr/>
        </p:nvPicPr>
        <p:blipFill>
          <a:blip r:embed="rId2" cstate="print"/>
          <a:stretch>
            <a:fillRect/>
          </a:stretch>
        </p:blipFill>
        <p:spPr>
          <a:xfrm>
            <a:off x="3993464" y="4068402"/>
            <a:ext cx="4669273" cy="2465817"/>
          </a:xfrm>
          <a:prstGeom prst="rect">
            <a:avLst/>
          </a:prstGeom>
        </p:spPr>
      </p:pic>
    </p:spTree>
    <p:extLst>
      <p:ext uri="{BB962C8B-B14F-4D97-AF65-F5344CB8AC3E}">
        <p14:creationId xmlns:p14="http://schemas.microsoft.com/office/powerpoint/2010/main" val="1328131724"/>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DCB858-01C8-5453-9CAC-9CC6D38873CB}"/>
              </a:ext>
            </a:extLst>
          </p:cNvPr>
          <p:cNvSpPr>
            <a:spLocks noGrp="1"/>
          </p:cNvSpPr>
          <p:nvPr>
            <p:ph type="title"/>
          </p:nvPr>
        </p:nvSpPr>
        <p:spPr/>
        <p:txBody>
          <a:bodyPr/>
          <a:lstStyle/>
          <a:p>
            <a:r>
              <a:rPr lang="en-US" dirty="0"/>
              <a:t>Coalescing</a:t>
            </a:r>
          </a:p>
        </p:txBody>
      </p:sp>
      <p:sp>
        <p:nvSpPr>
          <p:cNvPr id="3" name="Content Placeholder 2">
            <a:extLst>
              <a:ext uri="{FF2B5EF4-FFF2-40B4-BE49-F238E27FC236}">
                <a16:creationId xmlns:a16="http://schemas.microsoft.com/office/drawing/2014/main" xmlns="" id="{BA7D3958-A415-B3F3-5E6D-6CFD6472AE45}"/>
              </a:ext>
            </a:extLst>
          </p:cNvPr>
          <p:cNvSpPr>
            <a:spLocks noGrp="1"/>
          </p:cNvSpPr>
          <p:nvPr>
            <p:ph idx="1"/>
          </p:nvPr>
        </p:nvSpPr>
        <p:spPr/>
        <p:txBody>
          <a:bodyPr/>
          <a:lstStyle/>
          <a:p>
            <a:r>
              <a:rPr lang="en-US" dirty="0"/>
              <a:t>The process of merging two adjacent holes to form a single larger hole is called coalescing.</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endParaRPr lang="en-US" dirty="0"/>
          </a:p>
          <a:p>
            <a:endParaRPr lang="en-US" dirty="0"/>
          </a:p>
          <a:p>
            <a:endParaRPr lang="en-US" dirty="0"/>
          </a:p>
          <a:p>
            <a:endParaRPr lang="en-US" dirty="0"/>
          </a:p>
        </p:txBody>
      </p:sp>
      <p:pic>
        <p:nvPicPr>
          <p:cNvPr id="4" name="image48.png">
            <a:extLst>
              <a:ext uri="{FF2B5EF4-FFF2-40B4-BE49-F238E27FC236}">
                <a16:creationId xmlns:a16="http://schemas.microsoft.com/office/drawing/2014/main" xmlns="" id="{08749AE0-CCDC-B385-FFD8-554B0752B764}"/>
              </a:ext>
            </a:extLst>
          </p:cNvPr>
          <p:cNvPicPr>
            <a:picLocks noChangeAspect="1"/>
          </p:cNvPicPr>
          <p:nvPr/>
        </p:nvPicPr>
        <p:blipFill>
          <a:blip r:embed="rId2" cstate="print"/>
          <a:stretch>
            <a:fillRect/>
          </a:stretch>
        </p:blipFill>
        <p:spPr>
          <a:xfrm>
            <a:off x="2561004" y="2080026"/>
            <a:ext cx="5941312" cy="3407952"/>
          </a:xfrm>
          <a:prstGeom prst="rect">
            <a:avLst/>
          </a:prstGeom>
        </p:spPr>
      </p:pic>
    </p:spTree>
    <p:extLst>
      <p:ext uri="{BB962C8B-B14F-4D97-AF65-F5344CB8AC3E}">
        <p14:creationId xmlns:p14="http://schemas.microsoft.com/office/powerpoint/2010/main" val="4078256898"/>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DCB858-01C8-5453-9CAC-9CC6D38873CB}"/>
              </a:ext>
            </a:extLst>
          </p:cNvPr>
          <p:cNvSpPr>
            <a:spLocks noGrp="1"/>
          </p:cNvSpPr>
          <p:nvPr>
            <p:ph type="title"/>
          </p:nvPr>
        </p:nvSpPr>
        <p:spPr/>
        <p:txBody>
          <a:bodyPr/>
          <a:lstStyle/>
          <a:p>
            <a:r>
              <a:rPr lang="en-US" dirty="0"/>
              <a:t>Compaction</a:t>
            </a:r>
          </a:p>
        </p:txBody>
      </p:sp>
      <p:sp>
        <p:nvSpPr>
          <p:cNvPr id="3" name="Content Placeholder 2">
            <a:extLst>
              <a:ext uri="{FF2B5EF4-FFF2-40B4-BE49-F238E27FC236}">
                <a16:creationId xmlns:a16="http://schemas.microsoft.com/office/drawing/2014/main" xmlns="" id="{BA7D3958-A415-B3F3-5E6D-6CFD6472AE45}"/>
              </a:ext>
            </a:extLst>
          </p:cNvPr>
          <p:cNvSpPr>
            <a:spLocks noGrp="1"/>
          </p:cNvSpPr>
          <p:nvPr>
            <p:ph idx="1"/>
          </p:nvPr>
        </p:nvSpPr>
        <p:spPr/>
        <p:txBody>
          <a:bodyPr/>
          <a:lstStyle/>
          <a:p>
            <a:r>
              <a:rPr lang="en-US" dirty="0"/>
              <a:t>Compaction</a:t>
            </a:r>
          </a:p>
          <a:p>
            <a:pPr lvl="1"/>
            <a:r>
              <a:rPr lang="en-US" dirty="0"/>
              <a:t>Even when holes are coalesced, no individual hole may be large enough to hold the job, although the sum of holes is larger than the storage required for a process. It is possible to combine all the holes into one big one by moving all the processes downward as far as possible; this technique is called memory compaction.</a:t>
            </a:r>
          </a:p>
          <a:p>
            <a:endParaRPr lang="en-US" dirty="0"/>
          </a:p>
          <a:p>
            <a:endParaRPr lang="en-US" dirty="0"/>
          </a:p>
          <a:p>
            <a:endParaRPr lang="en-US" dirty="0"/>
          </a:p>
          <a:p>
            <a:endParaRPr lang="en-US" dirty="0"/>
          </a:p>
        </p:txBody>
      </p:sp>
      <p:pic>
        <p:nvPicPr>
          <p:cNvPr id="5" name="image49.png">
            <a:extLst>
              <a:ext uri="{FF2B5EF4-FFF2-40B4-BE49-F238E27FC236}">
                <a16:creationId xmlns:a16="http://schemas.microsoft.com/office/drawing/2014/main" xmlns="" id="{D98022F9-C863-05F7-C499-71B633280D66}"/>
              </a:ext>
            </a:extLst>
          </p:cNvPr>
          <p:cNvPicPr>
            <a:picLocks noChangeAspect="1"/>
          </p:cNvPicPr>
          <p:nvPr/>
        </p:nvPicPr>
        <p:blipFill>
          <a:blip r:embed="rId3" cstate="print"/>
          <a:stretch>
            <a:fillRect/>
          </a:stretch>
        </p:blipFill>
        <p:spPr>
          <a:xfrm>
            <a:off x="2751906" y="2488951"/>
            <a:ext cx="6688187" cy="3505605"/>
          </a:xfrm>
          <a:prstGeom prst="rect">
            <a:avLst/>
          </a:prstGeom>
        </p:spPr>
      </p:pic>
    </p:spTree>
    <p:extLst>
      <p:ext uri="{BB962C8B-B14F-4D97-AF65-F5344CB8AC3E}">
        <p14:creationId xmlns:p14="http://schemas.microsoft.com/office/powerpoint/2010/main" val="2420954819"/>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Managing free memory</a:t>
            </a:r>
            <a:endParaRPr lang="en-US"/>
          </a:p>
        </p:txBody>
      </p:sp>
      <p:sp>
        <p:nvSpPr>
          <p:cNvPr id="3" name="Content Placeholder 2"/>
          <p:cNvSpPr>
            <a:spLocks noGrp="1"/>
          </p:cNvSpPr>
          <p:nvPr>
            <p:ph idx="1"/>
          </p:nvPr>
        </p:nvSpPr>
        <p:spPr/>
        <p:txBody>
          <a:bodyPr/>
          <a:lstStyle/>
          <a:p>
            <a:r>
              <a:rPr lang="en-US"/>
              <a:t>Two ways to keep track of memory usage (free memory)</a:t>
            </a:r>
          </a:p>
          <a:p>
            <a:pPr marL="914400" lvl="1" indent="-457200">
              <a:buFont typeface="+mj-lt"/>
              <a:buAutoNum type="arabicPeriod"/>
            </a:pPr>
            <a:r>
              <a:rPr lang="en-US"/>
              <a:t>Memory management with </a:t>
            </a:r>
            <a:r>
              <a:rPr lang="en-US" b="1">
                <a:solidFill>
                  <a:schemeClr val="accent6"/>
                </a:solidFill>
              </a:rPr>
              <a:t>Bitmaps</a:t>
            </a:r>
          </a:p>
          <a:p>
            <a:pPr marL="914400" lvl="1" indent="-457200">
              <a:buFont typeface="+mj-lt"/>
              <a:buAutoNum type="arabicPeriod"/>
            </a:pPr>
            <a:r>
              <a:rPr lang="en-US"/>
              <a:t>Memory management with </a:t>
            </a:r>
            <a:r>
              <a:rPr lang="en-US" b="1">
                <a:solidFill>
                  <a:schemeClr val="accent6"/>
                </a:solidFill>
              </a:rPr>
              <a:t>Linked List</a:t>
            </a:r>
          </a:p>
        </p:txBody>
      </p:sp>
    </p:spTree>
    <p:extLst>
      <p:ext uri="{BB962C8B-B14F-4D97-AF65-F5344CB8AC3E}">
        <p14:creationId xmlns:p14="http://schemas.microsoft.com/office/powerpoint/2010/main" val="248743045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Memory management with Bitmaps</a:t>
            </a:r>
            <a:endParaRPr lang="en-US"/>
          </a:p>
        </p:txBody>
      </p:sp>
      <p:sp>
        <p:nvSpPr>
          <p:cNvPr id="24" name="Content Placeholder 23"/>
          <p:cNvSpPr>
            <a:spLocks noGrp="1"/>
          </p:cNvSpPr>
          <p:nvPr>
            <p:ph idx="1"/>
          </p:nvPr>
        </p:nvSpPr>
        <p:spPr>
          <a:xfrm>
            <a:off x="2719506" y="1979930"/>
            <a:ext cx="9186992" cy="3767727"/>
          </a:xfrm>
          <a:ln>
            <a:solidFill>
              <a:schemeClr val="accent6">
                <a:lumMod val="40000"/>
                <a:lumOff val="60000"/>
              </a:schemeClr>
            </a:solidFill>
          </a:ln>
        </p:spPr>
        <p:txBody>
          <a:bodyPr/>
          <a:lstStyle/>
          <a:p>
            <a:r>
              <a:rPr lang="en-US"/>
              <a:t>With bitmap, </a:t>
            </a:r>
            <a:r>
              <a:rPr lang="en-US" b="1">
                <a:solidFill>
                  <a:schemeClr val="accent6"/>
                </a:solidFill>
              </a:rPr>
              <a:t>memory is divided into allocation units</a:t>
            </a:r>
            <a:r>
              <a:rPr lang="en-US"/>
              <a:t>.</a:t>
            </a:r>
          </a:p>
          <a:p>
            <a:r>
              <a:rPr lang="en-US"/>
              <a:t>Corresponding to each allocation unit there is a </a:t>
            </a:r>
            <a:r>
              <a:rPr lang="en-US" b="1">
                <a:solidFill>
                  <a:schemeClr val="accent6"/>
                </a:solidFill>
              </a:rPr>
              <a:t>bit in a bitmap</a:t>
            </a:r>
            <a:r>
              <a:rPr lang="en-US"/>
              <a:t>.</a:t>
            </a:r>
          </a:p>
          <a:p>
            <a:r>
              <a:rPr lang="en-US"/>
              <a:t>Bit is </a:t>
            </a:r>
            <a:r>
              <a:rPr lang="en-US" b="1">
                <a:solidFill>
                  <a:schemeClr val="accent6"/>
                </a:solidFill>
              </a:rPr>
              <a:t>0 if the unit is free </a:t>
            </a:r>
            <a:r>
              <a:rPr lang="en-US"/>
              <a:t>and </a:t>
            </a:r>
            <a:r>
              <a:rPr lang="en-US" b="1">
                <a:solidFill>
                  <a:schemeClr val="accent6"/>
                </a:solidFill>
              </a:rPr>
              <a:t>1 if unit is occupied</a:t>
            </a:r>
            <a:r>
              <a:rPr lang="en-US"/>
              <a:t>.</a:t>
            </a:r>
          </a:p>
          <a:p>
            <a:r>
              <a:rPr lang="en-US"/>
              <a:t>The </a:t>
            </a:r>
            <a:r>
              <a:rPr lang="en-US" b="1">
                <a:solidFill>
                  <a:schemeClr val="accent6"/>
                </a:solidFill>
              </a:rPr>
              <a:t>size of allocation unit is an important design issue</a:t>
            </a:r>
            <a:r>
              <a:rPr lang="en-US"/>
              <a:t>, the </a:t>
            </a:r>
            <a:r>
              <a:rPr lang="en-US" b="1">
                <a:solidFill>
                  <a:schemeClr val="accent6"/>
                </a:solidFill>
              </a:rPr>
              <a:t>smaller the size, the larger the bitmap</a:t>
            </a:r>
            <a:r>
              <a:rPr lang="en-US"/>
              <a:t>.</a:t>
            </a:r>
          </a:p>
          <a:p>
            <a:r>
              <a:rPr lang="en-US"/>
              <a:t>The main problem is that </a:t>
            </a:r>
            <a:r>
              <a:rPr lang="en-US" b="1">
                <a:solidFill>
                  <a:schemeClr val="accent6"/>
                </a:solidFill>
              </a:rPr>
              <a:t>when it has been decided to bring a k unit process, the memory manager must search the bitmap to find a run of k consecutive 0 bits in the map</a:t>
            </a:r>
            <a:r>
              <a:rPr lang="en-US"/>
              <a:t>. </a:t>
            </a:r>
          </a:p>
          <a:p>
            <a:r>
              <a:rPr lang="en-US"/>
              <a:t>Searching a bitmap for a run of a given length is a </a:t>
            </a:r>
            <a:r>
              <a:rPr lang="en-US" b="1">
                <a:solidFill>
                  <a:schemeClr val="accent6"/>
                </a:solidFill>
              </a:rPr>
              <a:t>slow operation</a:t>
            </a:r>
            <a:r>
              <a:rPr lang="en-US"/>
              <a:t>.</a:t>
            </a:r>
          </a:p>
        </p:txBody>
      </p:sp>
      <p:graphicFrame>
        <p:nvGraphicFramePr>
          <p:cNvPr id="4" name="Table 3"/>
          <p:cNvGraphicFramePr>
            <a:graphicFrameLocks noGrp="1"/>
          </p:cNvGraphicFramePr>
          <p:nvPr>
            <p:extLst/>
          </p:nvPr>
        </p:nvGraphicFramePr>
        <p:xfrm>
          <a:off x="417850" y="1981200"/>
          <a:ext cx="1728000" cy="148336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xmlns="" val="20000"/>
                    </a:ext>
                  </a:extLst>
                </a:gridCol>
                <a:gridCol w="216000">
                  <a:extLst>
                    <a:ext uri="{9D8B030D-6E8A-4147-A177-3AD203B41FA5}">
                      <a16:colId xmlns:a16="http://schemas.microsoft.com/office/drawing/2014/main" xmlns="" val="20001"/>
                    </a:ext>
                  </a:extLst>
                </a:gridCol>
                <a:gridCol w="216000">
                  <a:extLst>
                    <a:ext uri="{9D8B030D-6E8A-4147-A177-3AD203B41FA5}">
                      <a16:colId xmlns:a16="http://schemas.microsoft.com/office/drawing/2014/main" xmlns="" val="20002"/>
                    </a:ext>
                  </a:extLst>
                </a:gridCol>
                <a:gridCol w="216000">
                  <a:extLst>
                    <a:ext uri="{9D8B030D-6E8A-4147-A177-3AD203B41FA5}">
                      <a16:colId xmlns:a16="http://schemas.microsoft.com/office/drawing/2014/main" xmlns="" val="20003"/>
                    </a:ext>
                  </a:extLst>
                </a:gridCol>
                <a:gridCol w="216000">
                  <a:extLst>
                    <a:ext uri="{9D8B030D-6E8A-4147-A177-3AD203B41FA5}">
                      <a16:colId xmlns:a16="http://schemas.microsoft.com/office/drawing/2014/main" xmlns="" val="20004"/>
                    </a:ext>
                  </a:extLst>
                </a:gridCol>
                <a:gridCol w="216000">
                  <a:extLst>
                    <a:ext uri="{9D8B030D-6E8A-4147-A177-3AD203B41FA5}">
                      <a16:colId xmlns:a16="http://schemas.microsoft.com/office/drawing/2014/main" xmlns="" val="20005"/>
                    </a:ext>
                  </a:extLst>
                </a:gridCol>
                <a:gridCol w="216000">
                  <a:extLst>
                    <a:ext uri="{9D8B030D-6E8A-4147-A177-3AD203B41FA5}">
                      <a16:colId xmlns:a16="http://schemas.microsoft.com/office/drawing/2014/main" xmlns="" val="20006"/>
                    </a:ext>
                  </a:extLst>
                </a:gridCol>
                <a:gridCol w="216000">
                  <a:extLst>
                    <a:ext uri="{9D8B030D-6E8A-4147-A177-3AD203B41FA5}">
                      <a16:colId xmlns:a16="http://schemas.microsoft.com/office/drawing/2014/main" xmlns="" val="20007"/>
                    </a:ext>
                  </a:extLst>
                </a:gridCol>
              </a:tblGrid>
              <a:tr h="370840">
                <a:tc>
                  <a:txBody>
                    <a:bodyPr/>
                    <a:lstStyle/>
                    <a:p>
                      <a:pPr algn="ctr"/>
                      <a:r>
                        <a:rPr lang="en-US"/>
                        <a:t>1</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1</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1</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1</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1</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0</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0</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0</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0"/>
                  </a:ext>
                </a:extLst>
              </a:tr>
              <a:tr h="370840">
                <a:tc>
                  <a:txBody>
                    <a:bodyPr/>
                    <a:lstStyle/>
                    <a:p>
                      <a:pPr algn="ctr"/>
                      <a:r>
                        <a:rPr lang="en-US"/>
                        <a:t>1</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1</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1</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1</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1</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1</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1</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1</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1"/>
                  </a:ext>
                </a:extLst>
              </a:tr>
              <a:tr h="370840">
                <a:tc>
                  <a:txBody>
                    <a:bodyPr/>
                    <a:lstStyle/>
                    <a:p>
                      <a:pPr algn="ctr"/>
                      <a:r>
                        <a:rPr lang="en-US"/>
                        <a:t>1</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1</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0</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0</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1</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1</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1</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1</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2"/>
                  </a:ext>
                </a:extLst>
              </a:tr>
              <a:tr h="370840">
                <a:tc>
                  <a:txBody>
                    <a:bodyPr/>
                    <a:lstStyle/>
                    <a:p>
                      <a:pPr algn="ctr"/>
                      <a:r>
                        <a:rPr lang="en-US"/>
                        <a:t>1</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1</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1</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1</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1</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0</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0</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t>0</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3"/>
                  </a:ext>
                </a:extLst>
              </a:tr>
            </a:tbl>
          </a:graphicData>
        </a:graphic>
      </p:graphicFrame>
      <p:graphicFrame>
        <p:nvGraphicFramePr>
          <p:cNvPr id="5" name="Table 4"/>
          <p:cNvGraphicFramePr>
            <a:graphicFrameLocks noGrp="1"/>
          </p:cNvGraphicFramePr>
          <p:nvPr>
            <p:extLst/>
          </p:nvPr>
        </p:nvGraphicFramePr>
        <p:xfrm>
          <a:off x="417850" y="2352040"/>
          <a:ext cx="1728000" cy="37084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xmlns="" val="20000"/>
                    </a:ext>
                  </a:extLst>
                </a:gridCol>
                <a:gridCol w="216000">
                  <a:extLst>
                    <a:ext uri="{9D8B030D-6E8A-4147-A177-3AD203B41FA5}">
                      <a16:colId xmlns:a16="http://schemas.microsoft.com/office/drawing/2014/main" xmlns="" val="20001"/>
                    </a:ext>
                  </a:extLst>
                </a:gridCol>
                <a:gridCol w="216000">
                  <a:extLst>
                    <a:ext uri="{9D8B030D-6E8A-4147-A177-3AD203B41FA5}">
                      <a16:colId xmlns:a16="http://schemas.microsoft.com/office/drawing/2014/main" xmlns="" val="20002"/>
                    </a:ext>
                  </a:extLst>
                </a:gridCol>
                <a:gridCol w="216000">
                  <a:extLst>
                    <a:ext uri="{9D8B030D-6E8A-4147-A177-3AD203B41FA5}">
                      <a16:colId xmlns:a16="http://schemas.microsoft.com/office/drawing/2014/main" xmlns="" val="20003"/>
                    </a:ext>
                  </a:extLst>
                </a:gridCol>
                <a:gridCol w="216000">
                  <a:extLst>
                    <a:ext uri="{9D8B030D-6E8A-4147-A177-3AD203B41FA5}">
                      <a16:colId xmlns:a16="http://schemas.microsoft.com/office/drawing/2014/main" xmlns="" val="20004"/>
                    </a:ext>
                  </a:extLst>
                </a:gridCol>
                <a:gridCol w="216000">
                  <a:extLst>
                    <a:ext uri="{9D8B030D-6E8A-4147-A177-3AD203B41FA5}">
                      <a16:colId xmlns:a16="http://schemas.microsoft.com/office/drawing/2014/main" xmlns="" val="20005"/>
                    </a:ext>
                  </a:extLst>
                </a:gridCol>
                <a:gridCol w="216000">
                  <a:extLst>
                    <a:ext uri="{9D8B030D-6E8A-4147-A177-3AD203B41FA5}">
                      <a16:colId xmlns:a16="http://schemas.microsoft.com/office/drawing/2014/main" xmlns="" val="20006"/>
                    </a:ext>
                  </a:extLst>
                </a:gridCol>
                <a:gridCol w="216000">
                  <a:extLst>
                    <a:ext uri="{9D8B030D-6E8A-4147-A177-3AD203B41FA5}">
                      <a16:colId xmlns:a16="http://schemas.microsoft.com/office/drawing/2014/main" xmlns="" val="20007"/>
                    </a:ext>
                  </a:extLst>
                </a:gridCol>
              </a:tblGrid>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0"/>
                  </a:ext>
                </a:extLst>
              </a:tr>
            </a:tbl>
          </a:graphicData>
        </a:graphic>
      </p:graphicFrame>
      <p:graphicFrame>
        <p:nvGraphicFramePr>
          <p:cNvPr id="6" name="Table 5"/>
          <p:cNvGraphicFramePr>
            <a:graphicFrameLocks noGrp="1"/>
          </p:cNvGraphicFramePr>
          <p:nvPr>
            <p:extLst/>
          </p:nvPr>
        </p:nvGraphicFramePr>
        <p:xfrm>
          <a:off x="417850" y="2722880"/>
          <a:ext cx="1728000" cy="37084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xmlns="" val="20000"/>
                    </a:ext>
                  </a:extLst>
                </a:gridCol>
                <a:gridCol w="216000">
                  <a:extLst>
                    <a:ext uri="{9D8B030D-6E8A-4147-A177-3AD203B41FA5}">
                      <a16:colId xmlns:a16="http://schemas.microsoft.com/office/drawing/2014/main" xmlns="" val="20001"/>
                    </a:ext>
                  </a:extLst>
                </a:gridCol>
                <a:gridCol w="216000">
                  <a:extLst>
                    <a:ext uri="{9D8B030D-6E8A-4147-A177-3AD203B41FA5}">
                      <a16:colId xmlns:a16="http://schemas.microsoft.com/office/drawing/2014/main" xmlns="" val="20002"/>
                    </a:ext>
                  </a:extLst>
                </a:gridCol>
                <a:gridCol w="216000">
                  <a:extLst>
                    <a:ext uri="{9D8B030D-6E8A-4147-A177-3AD203B41FA5}">
                      <a16:colId xmlns:a16="http://schemas.microsoft.com/office/drawing/2014/main" xmlns="" val="20003"/>
                    </a:ext>
                  </a:extLst>
                </a:gridCol>
                <a:gridCol w="216000">
                  <a:extLst>
                    <a:ext uri="{9D8B030D-6E8A-4147-A177-3AD203B41FA5}">
                      <a16:colId xmlns:a16="http://schemas.microsoft.com/office/drawing/2014/main" xmlns="" val="20004"/>
                    </a:ext>
                  </a:extLst>
                </a:gridCol>
                <a:gridCol w="216000">
                  <a:extLst>
                    <a:ext uri="{9D8B030D-6E8A-4147-A177-3AD203B41FA5}">
                      <a16:colId xmlns:a16="http://schemas.microsoft.com/office/drawing/2014/main" xmlns="" val="20005"/>
                    </a:ext>
                  </a:extLst>
                </a:gridCol>
                <a:gridCol w="216000">
                  <a:extLst>
                    <a:ext uri="{9D8B030D-6E8A-4147-A177-3AD203B41FA5}">
                      <a16:colId xmlns:a16="http://schemas.microsoft.com/office/drawing/2014/main" xmlns="" val="20006"/>
                    </a:ext>
                  </a:extLst>
                </a:gridCol>
                <a:gridCol w="216000">
                  <a:extLst>
                    <a:ext uri="{9D8B030D-6E8A-4147-A177-3AD203B41FA5}">
                      <a16:colId xmlns:a16="http://schemas.microsoft.com/office/drawing/2014/main" xmlns="" val="20007"/>
                    </a:ext>
                  </a:extLst>
                </a:gridCol>
              </a:tblGrid>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0"/>
                  </a:ext>
                </a:extLst>
              </a:tr>
            </a:tbl>
          </a:graphicData>
        </a:graphic>
      </p:graphicFrame>
      <p:graphicFrame>
        <p:nvGraphicFramePr>
          <p:cNvPr id="7" name="Table 6"/>
          <p:cNvGraphicFramePr>
            <a:graphicFrameLocks noGrp="1"/>
          </p:cNvGraphicFramePr>
          <p:nvPr>
            <p:extLst/>
          </p:nvPr>
        </p:nvGraphicFramePr>
        <p:xfrm>
          <a:off x="417850" y="3093720"/>
          <a:ext cx="1728000" cy="370840"/>
        </p:xfrm>
        <a:graphic>
          <a:graphicData uri="http://schemas.openxmlformats.org/drawingml/2006/table">
            <a:tbl>
              <a:tblPr firstRow="1" bandRow="1">
                <a:tableStyleId>{5940675A-B579-460E-94D1-54222C63F5DA}</a:tableStyleId>
              </a:tblPr>
              <a:tblGrid>
                <a:gridCol w="216000">
                  <a:extLst>
                    <a:ext uri="{9D8B030D-6E8A-4147-A177-3AD203B41FA5}">
                      <a16:colId xmlns:a16="http://schemas.microsoft.com/office/drawing/2014/main" xmlns="" val="20000"/>
                    </a:ext>
                  </a:extLst>
                </a:gridCol>
                <a:gridCol w="216000">
                  <a:extLst>
                    <a:ext uri="{9D8B030D-6E8A-4147-A177-3AD203B41FA5}">
                      <a16:colId xmlns:a16="http://schemas.microsoft.com/office/drawing/2014/main" xmlns="" val="20001"/>
                    </a:ext>
                  </a:extLst>
                </a:gridCol>
                <a:gridCol w="216000">
                  <a:extLst>
                    <a:ext uri="{9D8B030D-6E8A-4147-A177-3AD203B41FA5}">
                      <a16:colId xmlns:a16="http://schemas.microsoft.com/office/drawing/2014/main" xmlns="" val="20002"/>
                    </a:ext>
                  </a:extLst>
                </a:gridCol>
                <a:gridCol w="216000">
                  <a:extLst>
                    <a:ext uri="{9D8B030D-6E8A-4147-A177-3AD203B41FA5}">
                      <a16:colId xmlns:a16="http://schemas.microsoft.com/office/drawing/2014/main" xmlns="" val="20003"/>
                    </a:ext>
                  </a:extLst>
                </a:gridCol>
                <a:gridCol w="216000">
                  <a:extLst>
                    <a:ext uri="{9D8B030D-6E8A-4147-A177-3AD203B41FA5}">
                      <a16:colId xmlns:a16="http://schemas.microsoft.com/office/drawing/2014/main" xmlns="" val="20004"/>
                    </a:ext>
                  </a:extLst>
                </a:gridCol>
                <a:gridCol w="216000">
                  <a:extLst>
                    <a:ext uri="{9D8B030D-6E8A-4147-A177-3AD203B41FA5}">
                      <a16:colId xmlns:a16="http://schemas.microsoft.com/office/drawing/2014/main" xmlns="" val="20005"/>
                    </a:ext>
                  </a:extLst>
                </a:gridCol>
                <a:gridCol w="216000">
                  <a:extLst>
                    <a:ext uri="{9D8B030D-6E8A-4147-A177-3AD203B41FA5}">
                      <a16:colId xmlns:a16="http://schemas.microsoft.com/office/drawing/2014/main" xmlns="" val="20006"/>
                    </a:ext>
                  </a:extLst>
                </a:gridCol>
                <a:gridCol w="216000">
                  <a:extLst>
                    <a:ext uri="{9D8B030D-6E8A-4147-A177-3AD203B41FA5}">
                      <a16:colId xmlns:a16="http://schemas.microsoft.com/office/drawing/2014/main" xmlns="" val="20007"/>
                    </a:ext>
                  </a:extLst>
                </a:gridCol>
              </a:tblGrid>
              <a:tr h="370840">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0"/>
                  </a:ext>
                </a:extLst>
              </a:tr>
            </a:tbl>
          </a:graphicData>
        </a:graphic>
      </p:graphicFrame>
      <p:graphicFrame>
        <p:nvGraphicFramePr>
          <p:cNvPr id="8" name="Table 7"/>
          <p:cNvGraphicFramePr>
            <a:graphicFrameLocks noGrp="1"/>
          </p:cNvGraphicFramePr>
          <p:nvPr>
            <p:extLst/>
          </p:nvPr>
        </p:nvGraphicFramePr>
        <p:xfrm>
          <a:off x="417850" y="3464560"/>
          <a:ext cx="1728000" cy="370840"/>
        </p:xfrm>
        <a:graphic>
          <a:graphicData uri="http://schemas.openxmlformats.org/drawingml/2006/table">
            <a:tbl>
              <a:tblPr firstRow="1" bandRow="1">
                <a:tableStyleId>{5940675A-B579-460E-94D1-54222C63F5DA}</a:tableStyleId>
              </a:tblPr>
              <a:tblGrid>
                <a:gridCol w="1728000">
                  <a:extLst>
                    <a:ext uri="{9D8B030D-6E8A-4147-A177-3AD203B41FA5}">
                      <a16:colId xmlns:a16="http://schemas.microsoft.com/office/drawing/2014/main" xmlns="" val="20000"/>
                    </a:ext>
                  </a:extLst>
                </a:gridCol>
              </a:tblGrid>
              <a:tr h="370840">
                <a:tc>
                  <a:txBody>
                    <a:bodyPr/>
                    <a:lstStyle/>
                    <a:p>
                      <a:r>
                        <a:rPr lang="en-US"/>
                        <a:t>:                           :</a:t>
                      </a:r>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0"/>
                  </a:ext>
                </a:extLst>
              </a:tr>
            </a:tbl>
          </a:graphicData>
        </a:graphic>
      </p:graphicFrame>
      <p:cxnSp>
        <p:nvCxnSpPr>
          <p:cNvPr id="9" name="Straight Arrow Connector 8"/>
          <p:cNvCxnSpPr/>
          <p:nvPr/>
        </p:nvCxnSpPr>
        <p:spPr>
          <a:xfrm flipH="1" flipV="1">
            <a:off x="533400" y="1361440"/>
            <a:ext cx="0" cy="61976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flipV="1">
            <a:off x="739140" y="1360170"/>
            <a:ext cx="0" cy="61976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flipV="1">
            <a:off x="925830" y="1362869"/>
            <a:ext cx="0" cy="61976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flipV="1">
            <a:off x="1143000" y="1364457"/>
            <a:ext cx="0" cy="61976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flipV="1">
            <a:off x="1371600" y="1364457"/>
            <a:ext cx="0" cy="61976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flipV="1">
            <a:off x="1600200" y="1364457"/>
            <a:ext cx="0" cy="61976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flipV="1">
            <a:off x="1828800" y="1361440"/>
            <a:ext cx="0" cy="61976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flipV="1">
            <a:off x="2026920" y="1364457"/>
            <a:ext cx="0" cy="61976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91604" y="1359931"/>
            <a:ext cx="258591" cy="369332"/>
          </a:xfrm>
          <a:prstGeom prst="rect">
            <a:avLst/>
          </a:prstGeom>
          <a:noFill/>
        </p:spPr>
        <p:txBody>
          <a:bodyPr wrap="square" rtlCol="0">
            <a:spAutoFit/>
          </a:bodyPr>
          <a:lstStyle/>
          <a:p>
            <a:pPr algn="ctr"/>
            <a:r>
              <a:rPr lang="en-US"/>
              <a:t>0</a:t>
            </a:r>
            <a:endParaRPr lang="en-IN"/>
          </a:p>
        </p:txBody>
      </p:sp>
      <p:sp>
        <p:nvSpPr>
          <p:cNvPr id="18" name="TextBox 17"/>
          <p:cNvSpPr txBox="1"/>
          <p:nvPr/>
        </p:nvSpPr>
        <p:spPr>
          <a:xfrm>
            <a:off x="2027409" y="1359568"/>
            <a:ext cx="258591" cy="369332"/>
          </a:xfrm>
          <a:prstGeom prst="rect">
            <a:avLst/>
          </a:prstGeom>
          <a:noFill/>
        </p:spPr>
        <p:txBody>
          <a:bodyPr wrap="square" rtlCol="0">
            <a:spAutoFit/>
          </a:bodyPr>
          <a:lstStyle/>
          <a:p>
            <a:pPr algn="ctr"/>
            <a:r>
              <a:rPr lang="en-US"/>
              <a:t>8</a:t>
            </a:r>
            <a:endParaRPr lang="en-IN"/>
          </a:p>
        </p:txBody>
      </p:sp>
      <p:sp>
        <p:nvSpPr>
          <p:cNvPr id="19" name="TextBox 18"/>
          <p:cNvSpPr txBox="1"/>
          <p:nvPr/>
        </p:nvSpPr>
        <p:spPr>
          <a:xfrm>
            <a:off x="3631311" y="1359568"/>
            <a:ext cx="432937" cy="369332"/>
          </a:xfrm>
          <a:prstGeom prst="rect">
            <a:avLst/>
          </a:prstGeom>
          <a:noFill/>
        </p:spPr>
        <p:txBody>
          <a:bodyPr wrap="square" rtlCol="0">
            <a:spAutoFit/>
          </a:bodyPr>
          <a:lstStyle/>
          <a:p>
            <a:pPr algn="ctr"/>
            <a:r>
              <a:rPr lang="en-US"/>
              <a:t>16</a:t>
            </a:r>
            <a:endParaRPr lang="en-IN"/>
          </a:p>
        </p:txBody>
      </p:sp>
      <p:sp>
        <p:nvSpPr>
          <p:cNvPr id="20" name="TextBox 19"/>
          <p:cNvSpPr txBox="1"/>
          <p:nvPr/>
        </p:nvSpPr>
        <p:spPr>
          <a:xfrm>
            <a:off x="5388743" y="1359568"/>
            <a:ext cx="432937" cy="369332"/>
          </a:xfrm>
          <a:prstGeom prst="rect">
            <a:avLst/>
          </a:prstGeom>
          <a:noFill/>
        </p:spPr>
        <p:txBody>
          <a:bodyPr wrap="square" rtlCol="0">
            <a:spAutoFit/>
          </a:bodyPr>
          <a:lstStyle/>
          <a:p>
            <a:pPr algn="ctr"/>
            <a:r>
              <a:rPr lang="en-US"/>
              <a:t>24</a:t>
            </a:r>
            <a:endParaRPr lang="en-IN"/>
          </a:p>
        </p:txBody>
      </p:sp>
      <p:sp>
        <p:nvSpPr>
          <p:cNvPr id="21" name="TextBox 20"/>
          <p:cNvSpPr txBox="1"/>
          <p:nvPr/>
        </p:nvSpPr>
        <p:spPr>
          <a:xfrm>
            <a:off x="7096534" y="1359568"/>
            <a:ext cx="432937" cy="369332"/>
          </a:xfrm>
          <a:prstGeom prst="rect">
            <a:avLst/>
          </a:prstGeom>
          <a:noFill/>
        </p:spPr>
        <p:txBody>
          <a:bodyPr wrap="square" rtlCol="0">
            <a:spAutoFit/>
          </a:bodyPr>
          <a:lstStyle/>
          <a:p>
            <a:pPr algn="ctr"/>
            <a:r>
              <a:rPr lang="en-US"/>
              <a:t>32</a:t>
            </a:r>
            <a:endParaRPr lang="en-IN"/>
          </a:p>
        </p:txBody>
      </p:sp>
      <p:graphicFrame>
        <p:nvGraphicFramePr>
          <p:cNvPr id="22" name="Table 21"/>
          <p:cNvGraphicFramePr>
            <a:graphicFrameLocks noGrp="1"/>
          </p:cNvGraphicFramePr>
          <p:nvPr>
            <p:extLst/>
          </p:nvPr>
        </p:nvGraphicFramePr>
        <p:xfrm>
          <a:off x="402451" y="968188"/>
          <a:ext cx="7632000" cy="370840"/>
        </p:xfrm>
        <a:graphic>
          <a:graphicData uri="http://schemas.openxmlformats.org/drawingml/2006/table">
            <a:tbl>
              <a:tblPr firstRow="1" bandRow="1">
                <a:tableStyleId>{5940675A-B579-460E-94D1-54222C63F5DA}</a:tableStyleId>
              </a:tblPr>
              <a:tblGrid>
                <a:gridCol w="1080000">
                  <a:extLst>
                    <a:ext uri="{9D8B030D-6E8A-4147-A177-3AD203B41FA5}">
                      <a16:colId xmlns:a16="http://schemas.microsoft.com/office/drawing/2014/main" xmlns="" val="20000"/>
                    </a:ext>
                  </a:extLst>
                </a:gridCol>
                <a:gridCol w="216000">
                  <a:extLst>
                    <a:ext uri="{9D8B030D-6E8A-4147-A177-3AD203B41FA5}">
                      <a16:colId xmlns:a16="http://schemas.microsoft.com/office/drawing/2014/main" xmlns="" val="20001"/>
                    </a:ext>
                  </a:extLst>
                </a:gridCol>
                <a:gridCol w="216000">
                  <a:extLst>
                    <a:ext uri="{9D8B030D-6E8A-4147-A177-3AD203B41FA5}">
                      <a16:colId xmlns:a16="http://schemas.microsoft.com/office/drawing/2014/main" xmlns="" val="20002"/>
                    </a:ext>
                  </a:extLst>
                </a:gridCol>
                <a:gridCol w="216000">
                  <a:extLst>
                    <a:ext uri="{9D8B030D-6E8A-4147-A177-3AD203B41FA5}">
                      <a16:colId xmlns:a16="http://schemas.microsoft.com/office/drawing/2014/main" xmlns="" val="20003"/>
                    </a:ext>
                  </a:extLst>
                </a:gridCol>
                <a:gridCol w="1296000">
                  <a:extLst>
                    <a:ext uri="{9D8B030D-6E8A-4147-A177-3AD203B41FA5}">
                      <a16:colId xmlns:a16="http://schemas.microsoft.com/office/drawing/2014/main" xmlns="" val="20004"/>
                    </a:ext>
                  </a:extLst>
                </a:gridCol>
                <a:gridCol w="864000">
                  <a:extLst>
                    <a:ext uri="{9D8B030D-6E8A-4147-A177-3AD203B41FA5}">
                      <a16:colId xmlns:a16="http://schemas.microsoft.com/office/drawing/2014/main" xmlns="" val="20005"/>
                    </a:ext>
                  </a:extLst>
                </a:gridCol>
                <a:gridCol w="216000">
                  <a:extLst>
                    <a:ext uri="{9D8B030D-6E8A-4147-A177-3AD203B41FA5}">
                      <a16:colId xmlns:a16="http://schemas.microsoft.com/office/drawing/2014/main" xmlns="" val="20006"/>
                    </a:ext>
                  </a:extLst>
                </a:gridCol>
                <a:gridCol w="216000">
                  <a:extLst>
                    <a:ext uri="{9D8B030D-6E8A-4147-A177-3AD203B41FA5}">
                      <a16:colId xmlns:a16="http://schemas.microsoft.com/office/drawing/2014/main" xmlns="" val="20007"/>
                    </a:ext>
                  </a:extLst>
                </a:gridCol>
                <a:gridCol w="1296000">
                  <a:extLst>
                    <a:ext uri="{9D8B030D-6E8A-4147-A177-3AD203B41FA5}">
                      <a16:colId xmlns:a16="http://schemas.microsoft.com/office/drawing/2014/main" xmlns="" val="20008"/>
                    </a:ext>
                  </a:extLst>
                </a:gridCol>
                <a:gridCol w="648000">
                  <a:extLst>
                    <a:ext uri="{9D8B030D-6E8A-4147-A177-3AD203B41FA5}">
                      <a16:colId xmlns:a16="http://schemas.microsoft.com/office/drawing/2014/main" xmlns="" val="20009"/>
                    </a:ext>
                  </a:extLst>
                </a:gridCol>
                <a:gridCol w="216000">
                  <a:extLst>
                    <a:ext uri="{9D8B030D-6E8A-4147-A177-3AD203B41FA5}">
                      <a16:colId xmlns:a16="http://schemas.microsoft.com/office/drawing/2014/main" xmlns="" val="20010"/>
                    </a:ext>
                  </a:extLst>
                </a:gridCol>
                <a:gridCol w="216000">
                  <a:extLst>
                    <a:ext uri="{9D8B030D-6E8A-4147-A177-3AD203B41FA5}">
                      <a16:colId xmlns:a16="http://schemas.microsoft.com/office/drawing/2014/main" xmlns="" val="20011"/>
                    </a:ext>
                  </a:extLst>
                </a:gridCol>
                <a:gridCol w="216000">
                  <a:extLst>
                    <a:ext uri="{9D8B030D-6E8A-4147-A177-3AD203B41FA5}">
                      <a16:colId xmlns:a16="http://schemas.microsoft.com/office/drawing/2014/main" xmlns="" val="20012"/>
                    </a:ext>
                  </a:extLst>
                </a:gridCol>
                <a:gridCol w="720000">
                  <a:extLst>
                    <a:ext uri="{9D8B030D-6E8A-4147-A177-3AD203B41FA5}">
                      <a16:colId xmlns:a16="http://schemas.microsoft.com/office/drawing/2014/main" xmlns="" val="20013"/>
                    </a:ext>
                  </a:extLst>
                </a:gridCol>
              </a:tblGrid>
              <a:tr h="370840">
                <a:tc>
                  <a:txBody>
                    <a:bodyPr/>
                    <a:lstStyle/>
                    <a:p>
                      <a:pPr algn="ctr"/>
                      <a:r>
                        <a:rPr lang="en-US"/>
                        <a:t>A</a:t>
                      </a:r>
                      <a:endParaRPr lang="en-IN"/>
                    </a:p>
                  </a:txBody>
                  <a:tcPr/>
                </a:tc>
                <a:tc>
                  <a:txBody>
                    <a:bodyPr/>
                    <a:lstStyle/>
                    <a:p>
                      <a:endParaRPr lang="en-IN"/>
                    </a:p>
                  </a:txBody>
                  <a:tcPr>
                    <a:solidFill>
                      <a:srgbClr val="34495E"/>
                    </a:solidFill>
                  </a:tcPr>
                </a:tc>
                <a:tc>
                  <a:txBody>
                    <a:bodyPr/>
                    <a:lstStyle/>
                    <a:p>
                      <a:endParaRPr lang="en-IN"/>
                    </a:p>
                  </a:txBody>
                  <a:tcPr>
                    <a:solidFill>
                      <a:srgbClr val="34495E"/>
                    </a:solidFill>
                  </a:tcPr>
                </a:tc>
                <a:tc>
                  <a:txBody>
                    <a:bodyPr/>
                    <a:lstStyle/>
                    <a:p>
                      <a:endParaRPr lang="en-IN"/>
                    </a:p>
                  </a:txBody>
                  <a:tcPr>
                    <a:solidFill>
                      <a:srgbClr val="34495E"/>
                    </a:solidFill>
                  </a:tcPr>
                </a:tc>
                <a:tc>
                  <a:txBody>
                    <a:bodyPr/>
                    <a:lstStyle/>
                    <a:p>
                      <a:pPr algn="ctr"/>
                      <a:r>
                        <a:rPr lang="en-US"/>
                        <a:t>B</a:t>
                      </a:r>
                      <a:endParaRPr lang="en-IN"/>
                    </a:p>
                  </a:txBody>
                  <a:tcPr/>
                </a:tc>
                <a:tc>
                  <a:txBody>
                    <a:bodyPr/>
                    <a:lstStyle/>
                    <a:p>
                      <a:pPr algn="ctr"/>
                      <a:r>
                        <a:rPr lang="en-US"/>
                        <a:t>C</a:t>
                      </a:r>
                      <a:endParaRPr lang="en-IN"/>
                    </a:p>
                  </a:txBody>
                  <a:tcPr/>
                </a:tc>
                <a:tc>
                  <a:txBody>
                    <a:bodyPr/>
                    <a:lstStyle/>
                    <a:p>
                      <a:endParaRPr lang="en-IN"/>
                    </a:p>
                  </a:txBody>
                  <a:tcPr>
                    <a:solidFill>
                      <a:srgbClr val="34495E"/>
                    </a:solidFill>
                  </a:tcPr>
                </a:tc>
                <a:tc>
                  <a:txBody>
                    <a:bodyPr/>
                    <a:lstStyle/>
                    <a:p>
                      <a:endParaRPr lang="en-IN"/>
                    </a:p>
                  </a:txBody>
                  <a:tcPr>
                    <a:solidFill>
                      <a:srgbClr val="34495E"/>
                    </a:solidFill>
                  </a:tcPr>
                </a:tc>
                <a:tc>
                  <a:txBody>
                    <a:bodyPr/>
                    <a:lstStyle/>
                    <a:p>
                      <a:pPr algn="ctr"/>
                      <a:r>
                        <a:rPr lang="en-US"/>
                        <a:t>D</a:t>
                      </a:r>
                      <a:endParaRPr lang="en-IN"/>
                    </a:p>
                  </a:txBody>
                  <a:tcPr/>
                </a:tc>
                <a:tc>
                  <a:txBody>
                    <a:bodyPr/>
                    <a:lstStyle/>
                    <a:p>
                      <a:pPr algn="ctr"/>
                      <a:r>
                        <a:rPr lang="en-US"/>
                        <a:t>E</a:t>
                      </a:r>
                      <a:endParaRPr lang="en-IN"/>
                    </a:p>
                  </a:txBody>
                  <a:tcPr/>
                </a:tc>
                <a:tc>
                  <a:txBody>
                    <a:bodyPr/>
                    <a:lstStyle/>
                    <a:p>
                      <a:endParaRPr lang="en-IN"/>
                    </a:p>
                  </a:txBody>
                  <a:tcPr>
                    <a:solidFill>
                      <a:srgbClr val="34495E"/>
                    </a:solidFill>
                  </a:tcPr>
                </a:tc>
                <a:tc>
                  <a:txBody>
                    <a:bodyPr/>
                    <a:lstStyle/>
                    <a:p>
                      <a:endParaRPr lang="en-IN"/>
                    </a:p>
                  </a:txBody>
                  <a:tcPr>
                    <a:solidFill>
                      <a:srgbClr val="34495E"/>
                    </a:solidFill>
                  </a:tcPr>
                </a:tc>
                <a:tc>
                  <a:txBody>
                    <a:bodyPr/>
                    <a:lstStyle/>
                    <a:p>
                      <a:endParaRPr lang="en-IN"/>
                    </a:p>
                  </a:txBody>
                  <a:tcPr>
                    <a:solidFill>
                      <a:srgbClr val="34495E"/>
                    </a:solidFill>
                  </a:tcPr>
                </a:tc>
                <a:tc>
                  <a:txBody>
                    <a:bodyPr/>
                    <a:lstStyle/>
                    <a:p>
                      <a:r>
                        <a:rPr lang="en-US"/>
                        <a:t>…….</a:t>
                      </a:r>
                      <a:endParaRPr lang="en-IN"/>
                    </a:p>
                  </a:txBody>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19790099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4">
                                            <p:bg/>
                                          </p:spTgt>
                                        </p:tgtEl>
                                        <p:attrNameLst>
                                          <p:attrName>style.visibility</p:attrName>
                                        </p:attrNameLst>
                                      </p:cBhvr>
                                      <p:to>
                                        <p:strVal val="visible"/>
                                      </p:to>
                                    </p:set>
                                    <p:animEffect transition="in" filter="fade">
                                      <p:cBhvr>
                                        <p:cTn id="47" dur="500"/>
                                        <p:tgtEl>
                                          <p:spTgt spid="24">
                                            <p:bg/>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xEl>
                                              <p:pRg st="0" end="0"/>
                                            </p:txEl>
                                          </p:spTgt>
                                        </p:tgtEl>
                                        <p:attrNameLst>
                                          <p:attrName>style.visibility</p:attrName>
                                        </p:attrNameLst>
                                      </p:cBhvr>
                                      <p:to>
                                        <p:strVal val="visible"/>
                                      </p:to>
                                    </p:set>
                                    <p:animEffect transition="in" filter="fade">
                                      <p:cBhvr>
                                        <p:cTn id="50" dur="500"/>
                                        <p:tgtEl>
                                          <p:spTgt spid="24">
                                            <p:txEl>
                                              <p:pRg st="0" end="0"/>
                                            </p:txEl>
                                          </p:spTgt>
                                        </p:tgtEl>
                                      </p:cBhvr>
                                    </p:animEffect>
                                  </p:childTnLst>
                                </p:cTn>
                              </p:par>
                            </p:childTnLst>
                          </p:cTn>
                        </p:par>
                      </p:childTnLst>
                    </p:cTn>
                  </p:par>
                  <p:par>
                    <p:cTn id="51" fill="hold" nodeType="clickPar">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4">
                                            <p:txEl>
                                              <p:pRg st="1" end="1"/>
                                            </p:txEl>
                                          </p:spTgt>
                                        </p:tgtEl>
                                        <p:attrNameLst>
                                          <p:attrName>style.visibility</p:attrName>
                                        </p:attrNameLst>
                                      </p:cBhvr>
                                      <p:to>
                                        <p:strVal val="visible"/>
                                      </p:to>
                                    </p:set>
                                    <p:animEffect transition="in" filter="fade">
                                      <p:cBhvr>
                                        <p:cTn id="55" dur="500"/>
                                        <p:tgtEl>
                                          <p:spTgt spid="24">
                                            <p:txEl>
                                              <p:pRg st="1" end="1"/>
                                            </p:txEl>
                                          </p:spTgt>
                                        </p:tgtEl>
                                      </p:cBhvr>
                                    </p:animEffect>
                                  </p:childTnLst>
                                </p:cTn>
                              </p:par>
                            </p:childTnLst>
                          </p:cTn>
                        </p:par>
                      </p:childTnLst>
                    </p:cTn>
                  </p:par>
                  <p:par>
                    <p:cTn id="56" fill="hold" nodeType="clickPar">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4">
                                            <p:txEl>
                                              <p:pRg st="2" end="2"/>
                                            </p:txEl>
                                          </p:spTgt>
                                        </p:tgtEl>
                                        <p:attrNameLst>
                                          <p:attrName>style.visibility</p:attrName>
                                        </p:attrNameLst>
                                      </p:cBhvr>
                                      <p:to>
                                        <p:strVal val="visible"/>
                                      </p:to>
                                    </p:set>
                                    <p:animEffect transition="in" filter="fade">
                                      <p:cBhvr>
                                        <p:cTn id="60" dur="500"/>
                                        <p:tgtEl>
                                          <p:spTgt spid="24">
                                            <p:txEl>
                                              <p:pRg st="2" end="2"/>
                                            </p:txEl>
                                          </p:spTgt>
                                        </p:tgtEl>
                                      </p:cBhvr>
                                    </p:animEffect>
                                  </p:childTnLst>
                                </p:cTn>
                              </p:par>
                            </p:childTnLst>
                          </p:cTn>
                        </p:par>
                      </p:childTnLst>
                    </p:cTn>
                  </p:par>
                  <p:par>
                    <p:cTn id="61" fill="hold" nodeType="clickPar">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4">
                                            <p:txEl>
                                              <p:pRg st="3" end="3"/>
                                            </p:txEl>
                                          </p:spTgt>
                                        </p:tgtEl>
                                        <p:attrNameLst>
                                          <p:attrName>style.visibility</p:attrName>
                                        </p:attrNameLst>
                                      </p:cBhvr>
                                      <p:to>
                                        <p:strVal val="visible"/>
                                      </p:to>
                                    </p:set>
                                    <p:animEffect transition="in" filter="fade">
                                      <p:cBhvr>
                                        <p:cTn id="65" dur="500"/>
                                        <p:tgtEl>
                                          <p:spTgt spid="24">
                                            <p:txEl>
                                              <p:pRg st="3" end="3"/>
                                            </p:txEl>
                                          </p:spTgt>
                                        </p:tgtEl>
                                      </p:cBhvr>
                                    </p:animEffect>
                                  </p:childTnLst>
                                </p:cTn>
                              </p:par>
                            </p:childTnLst>
                          </p:cTn>
                        </p:par>
                      </p:childTnLst>
                    </p:cTn>
                  </p:par>
                  <p:par>
                    <p:cTn id="66" fill="hold" nodeType="clickPar">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4">
                                            <p:txEl>
                                              <p:pRg st="4" end="4"/>
                                            </p:txEl>
                                          </p:spTgt>
                                        </p:tgtEl>
                                        <p:attrNameLst>
                                          <p:attrName>style.visibility</p:attrName>
                                        </p:attrNameLst>
                                      </p:cBhvr>
                                      <p:to>
                                        <p:strVal val="visible"/>
                                      </p:to>
                                    </p:set>
                                    <p:animEffect transition="in" filter="fade">
                                      <p:cBhvr>
                                        <p:cTn id="70" dur="500"/>
                                        <p:tgtEl>
                                          <p:spTgt spid="24">
                                            <p:txEl>
                                              <p:pRg st="4" end="4"/>
                                            </p:txEl>
                                          </p:spTgt>
                                        </p:tgtEl>
                                      </p:cBhvr>
                                    </p:animEffect>
                                  </p:childTnLst>
                                </p:cTn>
                              </p:par>
                            </p:childTnLst>
                          </p:cTn>
                        </p:par>
                      </p:childTnLst>
                    </p:cTn>
                  </p:par>
                  <p:par>
                    <p:cTn id="71" fill="hold" nodeType="clickPar">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4">
                                            <p:txEl>
                                              <p:pRg st="5" end="5"/>
                                            </p:txEl>
                                          </p:spTgt>
                                        </p:tgtEl>
                                        <p:attrNameLst>
                                          <p:attrName>style.visibility</p:attrName>
                                        </p:attrNameLst>
                                      </p:cBhvr>
                                      <p:to>
                                        <p:strVal val="visible"/>
                                      </p:to>
                                    </p:set>
                                    <p:animEffect transition="in" filter="fade">
                                      <p:cBhvr>
                                        <p:cTn id="75" dur="500"/>
                                        <p:tgtEl>
                                          <p:spTgt spid="2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animBg="1"/>
      <p:bldP spid="17" grpId="0"/>
      <p:bldP spid="18" grpId="0"/>
      <p:bldP spid="19" grpId="0"/>
      <p:bldP spid="20" grpId="0"/>
      <p:bldP spid="2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Memory management with Linked List</a:t>
            </a:r>
            <a:endParaRPr lang="en-US"/>
          </a:p>
        </p:txBody>
      </p:sp>
      <p:sp>
        <p:nvSpPr>
          <p:cNvPr id="24" name="Content Placeholder 23"/>
          <p:cNvSpPr>
            <a:spLocks noGrp="1"/>
          </p:cNvSpPr>
          <p:nvPr>
            <p:ph idx="1"/>
          </p:nvPr>
        </p:nvSpPr>
        <p:spPr>
          <a:ln>
            <a:noFill/>
          </a:ln>
        </p:spPr>
        <p:txBody>
          <a:bodyPr/>
          <a:lstStyle/>
          <a:p>
            <a:endParaRPr lang="en-US"/>
          </a:p>
          <a:p>
            <a:endParaRPr lang="en-US"/>
          </a:p>
          <a:p>
            <a:endParaRPr lang="en-US"/>
          </a:p>
          <a:p>
            <a:endParaRPr lang="en-US"/>
          </a:p>
          <a:p>
            <a:r>
              <a:rPr lang="en-US"/>
              <a:t>Another way to keep track of memory is </a:t>
            </a:r>
            <a:r>
              <a:rPr lang="en-US" b="1">
                <a:solidFill>
                  <a:schemeClr val="accent6"/>
                </a:solidFill>
              </a:rPr>
              <a:t>to maintain a linked list of allocated and free memory segments, where segment either contains a process or is an empty hole between two processes</a:t>
            </a:r>
            <a:r>
              <a:rPr lang="en-US"/>
              <a:t>.</a:t>
            </a:r>
          </a:p>
          <a:p>
            <a:r>
              <a:rPr lang="en-US"/>
              <a:t>Each </a:t>
            </a:r>
            <a:r>
              <a:rPr lang="en-US" b="1">
                <a:solidFill>
                  <a:schemeClr val="accent6"/>
                </a:solidFill>
              </a:rPr>
              <a:t>entry in the list specifies a hole (H) or process (P)</a:t>
            </a:r>
            <a:r>
              <a:rPr lang="en-US"/>
              <a:t>, the </a:t>
            </a:r>
            <a:r>
              <a:rPr lang="en-US" b="1">
                <a:solidFill>
                  <a:schemeClr val="accent6"/>
                </a:solidFill>
              </a:rPr>
              <a:t>address at which it starts the length and a pointer to the next entry</a:t>
            </a:r>
            <a:r>
              <a:rPr lang="en-US"/>
              <a:t>.</a:t>
            </a:r>
          </a:p>
          <a:p>
            <a:r>
              <a:rPr lang="en-US"/>
              <a:t>The </a:t>
            </a:r>
            <a:r>
              <a:rPr lang="en-US" b="1">
                <a:solidFill>
                  <a:schemeClr val="accent6"/>
                </a:solidFill>
              </a:rPr>
              <a:t>segment list is kept sorted by address</a:t>
            </a:r>
            <a:r>
              <a:rPr lang="en-US"/>
              <a:t>. </a:t>
            </a:r>
          </a:p>
          <a:p>
            <a:r>
              <a:rPr lang="en-US"/>
              <a:t>Sorting this way has the advantage that </a:t>
            </a:r>
            <a:r>
              <a:rPr lang="en-US" b="1">
                <a:solidFill>
                  <a:schemeClr val="accent6"/>
                </a:solidFill>
              </a:rPr>
              <a:t>when a process terminates or is swapped out, updating the list is straightforward</a:t>
            </a:r>
            <a:r>
              <a:rPr lang="en-US"/>
              <a:t>. </a:t>
            </a:r>
          </a:p>
          <a:p>
            <a:r>
              <a:rPr lang="en-US"/>
              <a:t>A </a:t>
            </a:r>
            <a:r>
              <a:rPr lang="en-US" b="1">
                <a:solidFill>
                  <a:schemeClr val="accent6"/>
                </a:solidFill>
              </a:rPr>
              <a:t>terminating process normally has two neighbors </a:t>
            </a:r>
            <a:r>
              <a:rPr lang="en-US"/>
              <a:t>(except when it is at the very top or bottom of memory). </a:t>
            </a:r>
          </a:p>
        </p:txBody>
      </p:sp>
      <p:graphicFrame>
        <p:nvGraphicFramePr>
          <p:cNvPr id="23" name="Content Placeholder 3"/>
          <p:cNvGraphicFramePr/>
          <p:nvPr>
            <p:extLst/>
          </p:nvPr>
        </p:nvGraphicFramePr>
        <p:xfrm>
          <a:off x="787399" y="936174"/>
          <a:ext cx="1828800" cy="370840"/>
        </p:xfrm>
        <a:graphic>
          <a:graphicData uri="http://schemas.openxmlformats.org/drawingml/2006/table">
            <a:tbl>
              <a:tblPr firstRow="1" bandRow="1">
                <a:tableStyleId>{5940675A-B579-460E-94D1-54222C63F5DA}</a:tableStyleId>
              </a:tblPr>
              <a:tblGrid>
                <a:gridCol w="457200">
                  <a:extLst>
                    <a:ext uri="{9D8B030D-6E8A-4147-A177-3AD203B41FA5}">
                      <a16:colId xmlns:a16="http://schemas.microsoft.com/office/drawing/2014/main" xmlns="" val="20000"/>
                    </a:ext>
                  </a:extLst>
                </a:gridCol>
                <a:gridCol w="457200">
                  <a:extLst>
                    <a:ext uri="{9D8B030D-6E8A-4147-A177-3AD203B41FA5}">
                      <a16:colId xmlns:a16="http://schemas.microsoft.com/office/drawing/2014/main" xmlns="" val="20001"/>
                    </a:ext>
                  </a:extLst>
                </a:gridCol>
                <a:gridCol w="457200">
                  <a:extLst>
                    <a:ext uri="{9D8B030D-6E8A-4147-A177-3AD203B41FA5}">
                      <a16:colId xmlns:a16="http://schemas.microsoft.com/office/drawing/2014/main" xmlns="" val="20002"/>
                    </a:ext>
                  </a:extLst>
                </a:gridCol>
                <a:gridCol w="457200">
                  <a:extLst>
                    <a:ext uri="{9D8B030D-6E8A-4147-A177-3AD203B41FA5}">
                      <a16:colId xmlns:a16="http://schemas.microsoft.com/office/drawing/2014/main" xmlns="" val="20003"/>
                    </a:ext>
                  </a:extLst>
                </a:gridCol>
              </a:tblGrid>
              <a:tr h="370840">
                <a:tc>
                  <a:txBody>
                    <a:bodyPr/>
                    <a:lstStyle/>
                    <a:p>
                      <a:pPr algn="ctr"/>
                      <a:r>
                        <a:rPr lang="en-US"/>
                        <a:t>P</a:t>
                      </a:r>
                    </a:p>
                  </a:txBody>
                  <a:tcPr/>
                </a:tc>
                <a:tc>
                  <a:txBody>
                    <a:bodyPr/>
                    <a:lstStyle/>
                    <a:p>
                      <a:pPr algn="ctr"/>
                      <a:r>
                        <a:rPr lang="en-US"/>
                        <a:t>0</a:t>
                      </a:r>
                    </a:p>
                  </a:txBody>
                  <a:tcPr/>
                </a:tc>
                <a:tc>
                  <a:txBody>
                    <a:bodyPr/>
                    <a:lstStyle/>
                    <a:p>
                      <a:pPr algn="ctr"/>
                      <a:r>
                        <a:rPr lang="en-US"/>
                        <a:t>5</a:t>
                      </a:r>
                    </a:p>
                  </a:txBody>
                  <a:tcPr/>
                </a:tc>
                <a:tc>
                  <a:txBody>
                    <a:bodyPr/>
                    <a:lstStyle/>
                    <a:p>
                      <a:pPr algn="ctr"/>
                      <a:endParaRPr lang="en-US"/>
                    </a:p>
                  </a:txBody>
                  <a:tcPr/>
                </a:tc>
                <a:extLst>
                  <a:ext uri="{0D108BD9-81ED-4DB2-BD59-A6C34878D82A}">
                    <a16:rowId xmlns:a16="http://schemas.microsoft.com/office/drawing/2014/main" xmlns="" val="10000"/>
                  </a:ext>
                </a:extLst>
              </a:tr>
            </a:tbl>
          </a:graphicData>
        </a:graphic>
      </p:graphicFrame>
      <p:graphicFrame>
        <p:nvGraphicFramePr>
          <p:cNvPr id="25" name="Content Placeholder 3"/>
          <p:cNvGraphicFramePr/>
          <p:nvPr>
            <p:extLst/>
          </p:nvPr>
        </p:nvGraphicFramePr>
        <p:xfrm>
          <a:off x="2920999" y="936174"/>
          <a:ext cx="1828800" cy="370840"/>
        </p:xfrm>
        <a:graphic>
          <a:graphicData uri="http://schemas.openxmlformats.org/drawingml/2006/table">
            <a:tbl>
              <a:tblPr firstRow="1" bandRow="1">
                <a:tableStyleId>{5940675A-B579-460E-94D1-54222C63F5DA}</a:tableStyleId>
              </a:tblPr>
              <a:tblGrid>
                <a:gridCol w="457200">
                  <a:extLst>
                    <a:ext uri="{9D8B030D-6E8A-4147-A177-3AD203B41FA5}">
                      <a16:colId xmlns:a16="http://schemas.microsoft.com/office/drawing/2014/main" xmlns="" val="20000"/>
                    </a:ext>
                  </a:extLst>
                </a:gridCol>
                <a:gridCol w="457200">
                  <a:extLst>
                    <a:ext uri="{9D8B030D-6E8A-4147-A177-3AD203B41FA5}">
                      <a16:colId xmlns:a16="http://schemas.microsoft.com/office/drawing/2014/main" xmlns="" val="20001"/>
                    </a:ext>
                  </a:extLst>
                </a:gridCol>
                <a:gridCol w="457200">
                  <a:extLst>
                    <a:ext uri="{9D8B030D-6E8A-4147-A177-3AD203B41FA5}">
                      <a16:colId xmlns:a16="http://schemas.microsoft.com/office/drawing/2014/main" xmlns="" val="20002"/>
                    </a:ext>
                  </a:extLst>
                </a:gridCol>
                <a:gridCol w="457200">
                  <a:extLst>
                    <a:ext uri="{9D8B030D-6E8A-4147-A177-3AD203B41FA5}">
                      <a16:colId xmlns:a16="http://schemas.microsoft.com/office/drawing/2014/main" xmlns="" val="20003"/>
                    </a:ext>
                  </a:extLst>
                </a:gridCol>
              </a:tblGrid>
              <a:tr h="370840">
                <a:tc>
                  <a:txBody>
                    <a:bodyPr/>
                    <a:lstStyle/>
                    <a:p>
                      <a:pPr algn="ctr"/>
                      <a:r>
                        <a:rPr lang="en-US"/>
                        <a:t>H</a:t>
                      </a:r>
                    </a:p>
                  </a:txBody>
                  <a:tcPr/>
                </a:tc>
                <a:tc>
                  <a:txBody>
                    <a:bodyPr/>
                    <a:lstStyle/>
                    <a:p>
                      <a:pPr algn="ctr"/>
                      <a:r>
                        <a:rPr lang="en-US"/>
                        <a:t>5</a:t>
                      </a:r>
                    </a:p>
                  </a:txBody>
                  <a:tcPr/>
                </a:tc>
                <a:tc>
                  <a:txBody>
                    <a:bodyPr/>
                    <a:lstStyle/>
                    <a:p>
                      <a:pPr algn="ctr"/>
                      <a:r>
                        <a:rPr lang="en-US"/>
                        <a:t>3</a:t>
                      </a:r>
                    </a:p>
                  </a:txBody>
                  <a:tcPr/>
                </a:tc>
                <a:tc>
                  <a:txBody>
                    <a:bodyPr/>
                    <a:lstStyle/>
                    <a:p>
                      <a:pPr algn="ctr"/>
                      <a:endParaRPr lang="en-US"/>
                    </a:p>
                  </a:txBody>
                  <a:tcPr/>
                </a:tc>
                <a:extLst>
                  <a:ext uri="{0D108BD9-81ED-4DB2-BD59-A6C34878D82A}">
                    <a16:rowId xmlns:a16="http://schemas.microsoft.com/office/drawing/2014/main" xmlns="" val="10000"/>
                  </a:ext>
                </a:extLst>
              </a:tr>
            </a:tbl>
          </a:graphicData>
        </a:graphic>
      </p:graphicFrame>
      <p:graphicFrame>
        <p:nvGraphicFramePr>
          <p:cNvPr id="26" name="Content Placeholder 3"/>
          <p:cNvGraphicFramePr/>
          <p:nvPr>
            <p:extLst/>
          </p:nvPr>
        </p:nvGraphicFramePr>
        <p:xfrm>
          <a:off x="5054599" y="936174"/>
          <a:ext cx="1828800" cy="370840"/>
        </p:xfrm>
        <a:graphic>
          <a:graphicData uri="http://schemas.openxmlformats.org/drawingml/2006/table">
            <a:tbl>
              <a:tblPr firstRow="1" bandRow="1">
                <a:tableStyleId>{5940675A-B579-460E-94D1-54222C63F5DA}</a:tableStyleId>
              </a:tblPr>
              <a:tblGrid>
                <a:gridCol w="457200">
                  <a:extLst>
                    <a:ext uri="{9D8B030D-6E8A-4147-A177-3AD203B41FA5}">
                      <a16:colId xmlns:a16="http://schemas.microsoft.com/office/drawing/2014/main" xmlns="" val="20000"/>
                    </a:ext>
                  </a:extLst>
                </a:gridCol>
                <a:gridCol w="457200">
                  <a:extLst>
                    <a:ext uri="{9D8B030D-6E8A-4147-A177-3AD203B41FA5}">
                      <a16:colId xmlns:a16="http://schemas.microsoft.com/office/drawing/2014/main" xmlns="" val="20001"/>
                    </a:ext>
                  </a:extLst>
                </a:gridCol>
                <a:gridCol w="457200">
                  <a:extLst>
                    <a:ext uri="{9D8B030D-6E8A-4147-A177-3AD203B41FA5}">
                      <a16:colId xmlns:a16="http://schemas.microsoft.com/office/drawing/2014/main" xmlns="" val="20002"/>
                    </a:ext>
                  </a:extLst>
                </a:gridCol>
                <a:gridCol w="457200">
                  <a:extLst>
                    <a:ext uri="{9D8B030D-6E8A-4147-A177-3AD203B41FA5}">
                      <a16:colId xmlns:a16="http://schemas.microsoft.com/office/drawing/2014/main" xmlns="" val="20003"/>
                    </a:ext>
                  </a:extLst>
                </a:gridCol>
              </a:tblGrid>
              <a:tr h="370840">
                <a:tc>
                  <a:txBody>
                    <a:bodyPr/>
                    <a:lstStyle/>
                    <a:p>
                      <a:pPr algn="ctr"/>
                      <a:r>
                        <a:rPr lang="en-US"/>
                        <a:t>P</a:t>
                      </a:r>
                    </a:p>
                  </a:txBody>
                  <a:tcPr/>
                </a:tc>
                <a:tc>
                  <a:txBody>
                    <a:bodyPr/>
                    <a:lstStyle/>
                    <a:p>
                      <a:pPr algn="ctr"/>
                      <a:r>
                        <a:rPr lang="en-US"/>
                        <a:t>8</a:t>
                      </a:r>
                    </a:p>
                  </a:txBody>
                  <a:tcPr/>
                </a:tc>
                <a:tc>
                  <a:txBody>
                    <a:bodyPr/>
                    <a:lstStyle/>
                    <a:p>
                      <a:pPr algn="ctr"/>
                      <a:r>
                        <a:rPr lang="en-US"/>
                        <a:t>6</a:t>
                      </a:r>
                    </a:p>
                  </a:txBody>
                  <a:tcPr/>
                </a:tc>
                <a:tc>
                  <a:txBody>
                    <a:bodyPr/>
                    <a:lstStyle/>
                    <a:p>
                      <a:pPr algn="ctr"/>
                      <a:endParaRPr lang="en-US"/>
                    </a:p>
                  </a:txBody>
                  <a:tcPr/>
                </a:tc>
                <a:extLst>
                  <a:ext uri="{0D108BD9-81ED-4DB2-BD59-A6C34878D82A}">
                    <a16:rowId xmlns:a16="http://schemas.microsoft.com/office/drawing/2014/main" xmlns="" val="10000"/>
                  </a:ext>
                </a:extLst>
              </a:tr>
            </a:tbl>
          </a:graphicData>
        </a:graphic>
      </p:graphicFrame>
      <p:graphicFrame>
        <p:nvGraphicFramePr>
          <p:cNvPr id="27" name="Content Placeholder 3"/>
          <p:cNvGraphicFramePr/>
          <p:nvPr>
            <p:extLst/>
          </p:nvPr>
        </p:nvGraphicFramePr>
        <p:xfrm>
          <a:off x="7161399" y="936174"/>
          <a:ext cx="1828800" cy="370840"/>
        </p:xfrm>
        <a:graphic>
          <a:graphicData uri="http://schemas.openxmlformats.org/drawingml/2006/table">
            <a:tbl>
              <a:tblPr firstRow="1" bandRow="1">
                <a:tableStyleId>{5940675A-B579-460E-94D1-54222C63F5DA}</a:tableStyleId>
              </a:tblPr>
              <a:tblGrid>
                <a:gridCol w="457200">
                  <a:extLst>
                    <a:ext uri="{9D8B030D-6E8A-4147-A177-3AD203B41FA5}">
                      <a16:colId xmlns:a16="http://schemas.microsoft.com/office/drawing/2014/main" xmlns="" val="20000"/>
                    </a:ext>
                  </a:extLst>
                </a:gridCol>
                <a:gridCol w="457200">
                  <a:extLst>
                    <a:ext uri="{9D8B030D-6E8A-4147-A177-3AD203B41FA5}">
                      <a16:colId xmlns:a16="http://schemas.microsoft.com/office/drawing/2014/main" xmlns="" val="20001"/>
                    </a:ext>
                  </a:extLst>
                </a:gridCol>
                <a:gridCol w="457200">
                  <a:extLst>
                    <a:ext uri="{9D8B030D-6E8A-4147-A177-3AD203B41FA5}">
                      <a16:colId xmlns:a16="http://schemas.microsoft.com/office/drawing/2014/main" xmlns="" val="20002"/>
                    </a:ext>
                  </a:extLst>
                </a:gridCol>
                <a:gridCol w="457200">
                  <a:extLst>
                    <a:ext uri="{9D8B030D-6E8A-4147-A177-3AD203B41FA5}">
                      <a16:colId xmlns:a16="http://schemas.microsoft.com/office/drawing/2014/main" xmlns="" val="20003"/>
                    </a:ext>
                  </a:extLst>
                </a:gridCol>
              </a:tblGrid>
              <a:tr h="370840">
                <a:tc>
                  <a:txBody>
                    <a:bodyPr/>
                    <a:lstStyle/>
                    <a:p>
                      <a:pPr algn="ctr"/>
                      <a:r>
                        <a:rPr lang="en-US"/>
                        <a:t>P</a:t>
                      </a:r>
                    </a:p>
                  </a:txBody>
                  <a:tcPr/>
                </a:tc>
                <a:tc>
                  <a:txBody>
                    <a:bodyPr/>
                    <a:lstStyle/>
                    <a:p>
                      <a:pPr algn="ctr"/>
                      <a:r>
                        <a:rPr lang="en-US"/>
                        <a:t>14</a:t>
                      </a:r>
                    </a:p>
                  </a:txBody>
                  <a:tcPr/>
                </a:tc>
                <a:tc>
                  <a:txBody>
                    <a:bodyPr/>
                    <a:lstStyle/>
                    <a:p>
                      <a:pPr algn="ctr"/>
                      <a:r>
                        <a:rPr lang="en-US"/>
                        <a:t>4</a:t>
                      </a:r>
                    </a:p>
                  </a:txBody>
                  <a:tcPr/>
                </a:tc>
                <a:tc>
                  <a:txBody>
                    <a:bodyPr/>
                    <a:lstStyle/>
                    <a:p>
                      <a:pPr algn="ctr"/>
                      <a:endParaRPr lang="en-US"/>
                    </a:p>
                  </a:txBody>
                  <a:tcPr/>
                </a:tc>
                <a:extLst>
                  <a:ext uri="{0D108BD9-81ED-4DB2-BD59-A6C34878D82A}">
                    <a16:rowId xmlns:a16="http://schemas.microsoft.com/office/drawing/2014/main" xmlns="" val="10000"/>
                  </a:ext>
                </a:extLst>
              </a:tr>
            </a:tbl>
          </a:graphicData>
        </a:graphic>
      </p:graphicFrame>
      <p:cxnSp>
        <p:nvCxnSpPr>
          <p:cNvPr id="28" name="Straight Arrow Connector 27"/>
          <p:cNvCxnSpPr/>
          <p:nvPr/>
        </p:nvCxnSpPr>
        <p:spPr>
          <a:xfrm>
            <a:off x="2387599" y="1121591"/>
            <a:ext cx="533400" cy="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p:cNvCxnSpPr/>
          <p:nvPr/>
        </p:nvCxnSpPr>
        <p:spPr>
          <a:xfrm>
            <a:off x="4505959" y="1121593"/>
            <a:ext cx="548640" cy="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p:cNvCxnSpPr/>
          <p:nvPr/>
        </p:nvCxnSpPr>
        <p:spPr>
          <a:xfrm>
            <a:off x="6639559" y="1121591"/>
            <a:ext cx="521840" cy="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p:cNvCxnSpPr/>
          <p:nvPr/>
        </p:nvCxnSpPr>
        <p:spPr>
          <a:xfrm>
            <a:off x="702674" y="1861211"/>
            <a:ext cx="121847" cy="5492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aphicFrame>
        <p:nvGraphicFramePr>
          <p:cNvPr id="32" name="Content Placeholder 3"/>
          <p:cNvGraphicFramePr/>
          <p:nvPr>
            <p:extLst/>
          </p:nvPr>
        </p:nvGraphicFramePr>
        <p:xfrm>
          <a:off x="802639" y="1703254"/>
          <a:ext cx="1828800" cy="370840"/>
        </p:xfrm>
        <a:graphic>
          <a:graphicData uri="http://schemas.openxmlformats.org/drawingml/2006/table">
            <a:tbl>
              <a:tblPr firstRow="1" bandRow="1">
                <a:tableStyleId>{5940675A-B579-460E-94D1-54222C63F5DA}</a:tableStyleId>
              </a:tblPr>
              <a:tblGrid>
                <a:gridCol w="457200">
                  <a:extLst>
                    <a:ext uri="{9D8B030D-6E8A-4147-A177-3AD203B41FA5}">
                      <a16:colId xmlns:a16="http://schemas.microsoft.com/office/drawing/2014/main" xmlns="" val="20000"/>
                    </a:ext>
                  </a:extLst>
                </a:gridCol>
                <a:gridCol w="457200">
                  <a:extLst>
                    <a:ext uri="{9D8B030D-6E8A-4147-A177-3AD203B41FA5}">
                      <a16:colId xmlns:a16="http://schemas.microsoft.com/office/drawing/2014/main" xmlns="" val="20001"/>
                    </a:ext>
                  </a:extLst>
                </a:gridCol>
                <a:gridCol w="457200">
                  <a:extLst>
                    <a:ext uri="{9D8B030D-6E8A-4147-A177-3AD203B41FA5}">
                      <a16:colId xmlns:a16="http://schemas.microsoft.com/office/drawing/2014/main" xmlns="" val="20002"/>
                    </a:ext>
                  </a:extLst>
                </a:gridCol>
                <a:gridCol w="457200">
                  <a:extLst>
                    <a:ext uri="{9D8B030D-6E8A-4147-A177-3AD203B41FA5}">
                      <a16:colId xmlns:a16="http://schemas.microsoft.com/office/drawing/2014/main" xmlns="" val="20003"/>
                    </a:ext>
                  </a:extLst>
                </a:gridCol>
              </a:tblGrid>
              <a:tr h="370840">
                <a:tc>
                  <a:txBody>
                    <a:bodyPr/>
                    <a:lstStyle/>
                    <a:p>
                      <a:pPr algn="ctr"/>
                      <a:r>
                        <a:rPr lang="en-US"/>
                        <a:t>H</a:t>
                      </a:r>
                    </a:p>
                  </a:txBody>
                  <a:tcPr/>
                </a:tc>
                <a:tc>
                  <a:txBody>
                    <a:bodyPr/>
                    <a:lstStyle/>
                    <a:p>
                      <a:pPr algn="ctr"/>
                      <a:r>
                        <a:rPr lang="en-US"/>
                        <a:t>18</a:t>
                      </a:r>
                    </a:p>
                  </a:txBody>
                  <a:tcPr/>
                </a:tc>
                <a:tc>
                  <a:txBody>
                    <a:bodyPr/>
                    <a:lstStyle/>
                    <a:p>
                      <a:pPr algn="ctr"/>
                      <a:r>
                        <a:rPr lang="en-US"/>
                        <a:t>2</a:t>
                      </a:r>
                    </a:p>
                  </a:txBody>
                  <a:tcPr/>
                </a:tc>
                <a:tc>
                  <a:txBody>
                    <a:bodyPr/>
                    <a:lstStyle/>
                    <a:p>
                      <a:pPr algn="ctr"/>
                      <a:endParaRPr lang="en-US"/>
                    </a:p>
                  </a:txBody>
                  <a:tcPr/>
                </a:tc>
                <a:extLst>
                  <a:ext uri="{0D108BD9-81ED-4DB2-BD59-A6C34878D82A}">
                    <a16:rowId xmlns:a16="http://schemas.microsoft.com/office/drawing/2014/main" xmlns="" val="10000"/>
                  </a:ext>
                </a:extLst>
              </a:tr>
            </a:tbl>
          </a:graphicData>
        </a:graphic>
      </p:graphicFrame>
      <p:graphicFrame>
        <p:nvGraphicFramePr>
          <p:cNvPr id="33" name="Content Placeholder 3"/>
          <p:cNvGraphicFramePr/>
          <p:nvPr>
            <p:extLst/>
          </p:nvPr>
        </p:nvGraphicFramePr>
        <p:xfrm>
          <a:off x="2920999" y="1703254"/>
          <a:ext cx="1828800" cy="370840"/>
        </p:xfrm>
        <a:graphic>
          <a:graphicData uri="http://schemas.openxmlformats.org/drawingml/2006/table">
            <a:tbl>
              <a:tblPr firstRow="1" bandRow="1">
                <a:tableStyleId>{5940675A-B579-460E-94D1-54222C63F5DA}</a:tableStyleId>
              </a:tblPr>
              <a:tblGrid>
                <a:gridCol w="457200">
                  <a:extLst>
                    <a:ext uri="{9D8B030D-6E8A-4147-A177-3AD203B41FA5}">
                      <a16:colId xmlns:a16="http://schemas.microsoft.com/office/drawing/2014/main" xmlns="" val="20000"/>
                    </a:ext>
                  </a:extLst>
                </a:gridCol>
                <a:gridCol w="457200">
                  <a:extLst>
                    <a:ext uri="{9D8B030D-6E8A-4147-A177-3AD203B41FA5}">
                      <a16:colId xmlns:a16="http://schemas.microsoft.com/office/drawing/2014/main" xmlns="" val="20001"/>
                    </a:ext>
                  </a:extLst>
                </a:gridCol>
                <a:gridCol w="457200">
                  <a:extLst>
                    <a:ext uri="{9D8B030D-6E8A-4147-A177-3AD203B41FA5}">
                      <a16:colId xmlns:a16="http://schemas.microsoft.com/office/drawing/2014/main" xmlns="" val="20002"/>
                    </a:ext>
                  </a:extLst>
                </a:gridCol>
                <a:gridCol w="457200">
                  <a:extLst>
                    <a:ext uri="{9D8B030D-6E8A-4147-A177-3AD203B41FA5}">
                      <a16:colId xmlns:a16="http://schemas.microsoft.com/office/drawing/2014/main" xmlns="" val="20003"/>
                    </a:ext>
                  </a:extLst>
                </a:gridCol>
              </a:tblGrid>
              <a:tr h="370840">
                <a:tc>
                  <a:txBody>
                    <a:bodyPr/>
                    <a:lstStyle/>
                    <a:p>
                      <a:pPr algn="ctr"/>
                      <a:r>
                        <a:rPr lang="en-US"/>
                        <a:t>P</a:t>
                      </a:r>
                    </a:p>
                  </a:txBody>
                  <a:tcPr/>
                </a:tc>
                <a:tc>
                  <a:txBody>
                    <a:bodyPr/>
                    <a:lstStyle/>
                    <a:p>
                      <a:pPr algn="ctr"/>
                      <a:r>
                        <a:rPr lang="en-US"/>
                        <a:t>20</a:t>
                      </a:r>
                    </a:p>
                  </a:txBody>
                  <a:tcPr/>
                </a:tc>
                <a:tc>
                  <a:txBody>
                    <a:bodyPr/>
                    <a:lstStyle/>
                    <a:p>
                      <a:pPr algn="ctr"/>
                      <a:r>
                        <a:rPr lang="en-US"/>
                        <a:t>6</a:t>
                      </a:r>
                    </a:p>
                  </a:txBody>
                  <a:tcPr/>
                </a:tc>
                <a:tc>
                  <a:txBody>
                    <a:bodyPr/>
                    <a:lstStyle/>
                    <a:p>
                      <a:pPr algn="ctr"/>
                      <a:endParaRPr lang="en-US"/>
                    </a:p>
                  </a:txBody>
                  <a:tcPr/>
                </a:tc>
                <a:extLst>
                  <a:ext uri="{0D108BD9-81ED-4DB2-BD59-A6C34878D82A}">
                    <a16:rowId xmlns:a16="http://schemas.microsoft.com/office/drawing/2014/main" xmlns="" val="10000"/>
                  </a:ext>
                </a:extLst>
              </a:tr>
            </a:tbl>
          </a:graphicData>
        </a:graphic>
      </p:graphicFrame>
      <p:graphicFrame>
        <p:nvGraphicFramePr>
          <p:cNvPr id="34" name="Content Placeholder 3"/>
          <p:cNvGraphicFramePr/>
          <p:nvPr>
            <p:extLst/>
          </p:nvPr>
        </p:nvGraphicFramePr>
        <p:xfrm>
          <a:off x="5054599" y="1703254"/>
          <a:ext cx="1828800" cy="370840"/>
        </p:xfrm>
        <a:graphic>
          <a:graphicData uri="http://schemas.openxmlformats.org/drawingml/2006/table">
            <a:tbl>
              <a:tblPr firstRow="1" bandRow="1">
                <a:tableStyleId>{5940675A-B579-460E-94D1-54222C63F5DA}</a:tableStyleId>
              </a:tblPr>
              <a:tblGrid>
                <a:gridCol w="457200">
                  <a:extLst>
                    <a:ext uri="{9D8B030D-6E8A-4147-A177-3AD203B41FA5}">
                      <a16:colId xmlns:a16="http://schemas.microsoft.com/office/drawing/2014/main" xmlns="" val="20000"/>
                    </a:ext>
                  </a:extLst>
                </a:gridCol>
                <a:gridCol w="457200">
                  <a:extLst>
                    <a:ext uri="{9D8B030D-6E8A-4147-A177-3AD203B41FA5}">
                      <a16:colId xmlns:a16="http://schemas.microsoft.com/office/drawing/2014/main" xmlns="" val="20001"/>
                    </a:ext>
                  </a:extLst>
                </a:gridCol>
                <a:gridCol w="457200">
                  <a:extLst>
                    <a:ext uri="{9D8B030D-6E8A-4147-A177-3AD203B41FA5}">
                      <a16:colId xmlns:a16="http://schemas.microsoft.com/office/drawing/2014/main" xmlns="" val="20002"/>
                    </a:ext>
                  </a:extLst>
                </a:gridCol>
                <a:gridCol w="457200">
                  <a:extLst>
                    <a:ext uri="{9D8B030D-6E8A-4147-A177-3AD203B41FA5}">
                      <a16:colId xmlns:a16="http://schemas.microsoft.com/office/drawing/2014/main" xmlns="" val="20003"/>
                    </a:ext>
                  </a:extLst>
                </a:gridCol>
              </a:tblGrid>
              <a:tr h="370840">
                <a:tc>
                  <a:txBody>
                    <a:bodyPr/>
                    <a:lstStyle/>
                    <a:p>
                      <a:pPr algn="ctr"/>
                      <a:r>
                        <a:rPr lang="en-US"/>
                        <a:t>P</a:t>
                      </a:r>
                    </a:p>
                  </a:txBody>
                  <a:tcPr/>
                </a:tc>
                <a:tc>
                  <a:txBody>
                    <a:bodyPr/>
                    <a:lstStyle/>
                    <a:p>
                      <a:pPr algn="ctr"/>
                      <a:r>
                        <a:rPr lang="en-US"/>
                        <a:t>26</a:t>
                      </a:r>
                    </a:p>
                  </a:txBody>
                  <a:tcPr/>
                </a:tc>
                <a:tc>
                  <a:txBody>
                    <a:bodyPr/>
                    <a:lstStyle/>
                    <a:p>
                      <a:pPr algn="ctr"/>
                      <a:r>
                        <a:rPr lang="en-US"/>
                        <a:t>3</a:t>
                      </a:r>
                    </a:p>
                  </a:txBody>
                  <a:tcPr/>
                </a:tc>
                <a:tc>
                  <a:txBody>
                    <a:bodyPr/>
                    <a:lstStyle/>
                    <a:p>
                      <a:pPr algn="ctr"/>
                      <a:endParaRPr lang="en-US"/>
                    </a:p>
                  </a:txBody>
                  <a:tcPr/>
                </a:tc>
                <a:extLst>
                  <a:ext uri="{0D108BD9-81ED-4DB2-BD59-A6C34878D82A}">
                    <a16:rowId xmlns:a16="http://schemas.microsoft.com/office/drawing/2014/main" xmlns="" val="10000"/>
                  </a:ext>
                </a:extLst>
              </a:tr>
            </a:tbl>
          </a:graphicData>
        </a:graphic>
      </p:graphicFrame>
      <p:graphicFrame>
        <p:nvGraphicFramePr>
          <p:cNvPr id="35" name="Content Placeholder 3"/>
          <p:cNvGraphicFramePr/>
          <p:nvPr>
            <p:extLst/>
          </p:nvPr>
        </p:nvGraphicFramePr>
        <p:xfrm>
          <a:off x="7161399" y="1703254"/>
          <a:ext cx="1828800" cy="370840"/>
        </p:xfrm>
        <a:graphic>
          <a:graphicData uri="http://schemas.openxmlformats.org/drawingml/2006/table">
            <a:tbl>
              <a:tblPr firstRow="1" bandRow="1">
                <a:tableStyleId>{5940675A-B579-460E-94D1-54222C63F5DA}</a:tableStyleId>
              </a:tblPr>
              <a:tblGrid>
                <a:gridCol w="457200">
                  <a:extLst>
                    <a:ext uri="{9D8B030D-6E8A-4147-A177-3AD203B41FA5}">
                      <a16:colId xmlns:a16="http://schemas.microsoft.com/office/drawing/2014/main" xmlns="" val="20000"/>
                    </a:ext>
                  </a:extLst>
                </a:gridCol>
                <a:gridCol w="457200">
                  <a:extLst>
                    <a:ext uri="{9D8B030D-6E8A-4147-A177-3AD203B41FA5}">
                      <a16:colId xmlns:a16="http://schemas.microsoft.com/office/drawing/2014/main" xmlns="" val="20001"/>
                    </a:ext>
                  </a:extLst>
                </a:gridCol>
                <a:gridCol w="457200">
                  <a:extLst>
                    <a:ext uri="{9D8B030D-6E8A-4147-A177-3AD203B41FA5}">
                      <a16:colId xmlns:a16="http://schemas.microsoft.com/office/drawing/2014/main" xmlns="" val="20002"/>
                    </a:ext>
                  </a:extLst>
                </a:gridCol>
                <a:gridCol w="457200">
                  <a:extLst>
                    <a:ext uri="{9D8B030D-6E8A-4147-A177-3AD203B41FA5}">
                      <a16:colId xmlns:a16="http://schemas.microsoft.com/office/drawing/2014/main" xmlns="" val="20003"/>
                    </a:ext>
                  </a:extLst>
                </a:gridCol>
              </a:tblGrid>
              <a:tr h="370840">
                <a:tc>
                  <a:txBody>
                    <a:bodyPr/>
                    <a:lstStyle/>
                    <a:p>
                      <a:pPr algn="ctr"/>
                      <a:r>
                        <a:rPr lang="en-US"/>
                        <a:t>H</a:t>
                      </a:r>
                    </a:p>
                  </a:txBody>
                  <a:tcPr/>
                </a:tc>
                <a:tc>
                  <a:txBody>
                    <a:bodyPr/>
                    <a:lstStyle/>
                    <a:p>
                      <a:pPr algn="ctr"/>
                      <a:r>
                        <a:rPr lang="en-US"/>
                        <a:t>29</a:t>
                      </a:r>
                    </a:p>
                  </a:txBody>
                  <a:tcPr/>
                </a:tc>
                <a:tc>
                  <a:txBody>
                    <a:bodyPr/>
                    <a:lstStyle/>
                    <a:p>
                      <a:pPr algn="ctr"/>
                      <a:r>
                        <a:rPr lang="en-US"/>
                        <a:t>3</a:t>
                      </a:r>
                    </a:p>
                  </a:txBody>
                  <a:tcPr/>
                </a:tc>
                <a:tc>
                  <a:txBody>
                    <a:bodyPr/>
                    <a:lstStyle/>
                    <a:p>
                      <a:pPr algn="ctr"/>
                      <a:r>
                        <a:rPr lang="en-US"/>
                        <a:t>X</a:t>
                      </a:r>
                    </a:p>
                  </a:txBody>
                  <a:tcPr/>
                </a:tc>
                <a:extLst>
                  <a:ext uri="{0D108BD9-81ED-4DB2-BD59-A6C34878D82A}">
                    <a16:rowId xmlns:a16="http://schemas.microsoft.com/office/drawing/2014/main" xmlns="" val="10000"/>
                  </a:ext>
                </a:extLst>
              </a:tr>
            </a:tbl>
          </a:graphicData>
        </a:graphic>
      </p:graphicFrame>
      <p:cxnSp>
        <p:nvCxnSpPr>
          <p:cNvPr id="36" name="Straight Arrow Connector 35"/>
          <p:cNvCxnSpPr/>
          <p:nvPr/>
        </p:nvCxnSpPr>
        <p:spPr>
          <a:xfrm flipV="1">
            <a:off x="2387599" y="1886138"/>
            <a:ext cx="533400" cy="507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p:cNvCxnSpPr/>
          <p:nvPr/>
        </p:nvCxnSpPr>
        <p:spPr>
          <a:xfrm flipV="1">
            <a:off x="4505959" y="1886136"/>
            <a:ext cx="548640" cy="507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p:cNvCxnSpPr/>
          <p:nvPr/>
        </p:nvCxnSpPr>
        <p:spPr>
          <a:xfrm flipV="1">
            <a:off x="6639559" y="1886138"/>
            <a:ext cx="521840" cy="507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9" name="Freeform 38"/>
          <p:cNvSpPr/>
          <p:nvPr/>
        </p:nvSpPr>
        <p:spPr>
          <a:xfrm>
            <a:off x="554278" y="1132690"/>
            <a:ext cx="8567122" cy="733926"/>
          </a:xfrm>
          <a:custGeom>
            <a:avLst/>
            <a:gdLst>
              <a:gd name="connsiteX0" fmla="*/ 8226100 w 8567122"/>
              <a:gd name="connsiteY0" fmla="*/ 0 h 733926"/>
              <a:gd name="connsiteX1" fmla="*/ 7732805 w 8567122"/>
              <a:gd name="connsiteY1" fmla="*/ 348916 h 733926"/>
              <a:gd name="connsiteX2" fmla="*/ 983089 w 8567122"/>
              <a:gd name="connsiteY2" fmla="*/ 372979 h 733926"/>
              <a:gd name="connsiteX3" fmla="*/ 176974 w 8567122"/>
              <a:gd name="connsiteY3" fmla="*/ 733926 h 733926"/>
            </a:gdLst>
            <a:ahLst/>
            <a:cxnLst>
              <a:cxn ang="0">
                <a:pos x="connsiteX0" y="connsiteY0"/>
              </a:cxn>
              <a:cxn ang="0">
                <a:pos x="connsiteX1" y="connsiteY1"/>
              </a:cxn>
              <a:cxn ang="0">
                <a:pos x="connsiteX2" y="connsiteY2"/>
              </a:cxn>
              <a:cxn ang="0">
                <a:pos x="connsiteX3" y="connsiteY3"/>
              </a:cxn>
            </a:cxnLst>
            <a:rect l="l" t="t" r="r" b="b"/>
            <a:pathLst>
              <a:path w="8567122" h="733926">
                <a:moveTo>
                  <a:pt x="8226100" y="0"/>
                </a:moveTo>
                <a:cubicBezTo>
                  <a:pt x="8583036" y="143376"/>
                  <a:pt x="8939973" y="286753"/>
                  <a:pt x="7732805" y="348916"/>
                </a:cubicBezTo>
                <a:cubicBezTo>
                  <a:pt x="6525637" y="411079"/>
                  <a:pt x="2242394" y="308811"/>
                  <a:pt x="983089" y="372979"/>
                </a:cubicBezTo>
                <a:cubicBezTo>
                  <a:pt x="-276216" y="437147"/>
                  <a:pt x="-49621" y="585536"/>
                  <a:pt x="176974" y="733926"/>
                </a:cubicBezTo>
              </a:path>
            </a:pathLst>
          </a:cu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40" name="TextBox 39"/>
          <p:cNvSpPr txBox="1"/>
          <p:nvPr/>
        </p:nvSpPr>
        <p:spPr>
          <a:xfrm>
            <a:off x="417509" y="2244425"/>
            <a:ext cx="557784" cy="338554"/>
          </a:xfrm>
          <a:prstGeom prst="rect">
            <a:avLst/>
          </a:prstGeom>
          <a:noFill/>
          <a:ln>
            <a:solidFill>
              <a:schemeClr val="accent6">
                <a:lumMod val="20000"/>
                <a:lumOff val="80000"/>
              </a:schemeClr>
            </a:solidFill>
          </a:ln>
        </p:spPr>
        <p:txBody>
          <a:bodyPr wrap="square" rtlCol="0">
            <a:spAutoFit/>
          </a:bodyPr>
          <a:lstStyle/>
          <a:p>
            <a:pPr algn="ctr"/>
            <a:r>
              <a:rPr lang="en-US" sz="1600">
                <a:solidFill>
                  <a:schemeClr val="tx2"/>
                </a:solidFill>
              </a:rPr>
              <a:t>Hole</a:t>
            </a:r>
            <a:endParaRPr lang="en-US">
              <a:solidFill>
                <a:schemeClr val="tx2"/>
              </a:solidFill>
            </a:endParaRPr>
          </a:p>
        </p:txBody>
      </p:sp>
      <p:sp>
        <p:nvSpPr>
          <p:cNvPr id="41" name="TextBox 40"/>
          <p:cNvSpPr txBox="1"/>
          <p:nvPr/>
        </p:nvSpPr>
        <p:spPr>
          <a:xfrm>
            <a:off x="4806089" y="2231574"/>
            <a:ext cx="952500" cy="338554"/>
          </a:xfrm>
          <a:prstGeom prst="rect">
            <a:avLst/>
          </a:prstGeom>
          <a:noFill/>
          <a:ln>
            <a:solidFill>
              <a:schemeClr val="accent6">
                <a:lumMod val="20000"/>
                <a:lumOff val="80000"/>
              </a:schemeClr>
            </a:solidFill>
          </a:ln>
        </p:spPr>
        <p:txBody>
          <a:bodyPr wrap="square" rtlCol="0">
            <a:spAutoFit/>
          </a:bodyPr>
          <a:lstStyle>
            <a:defPPr>
              <a:defRPr lang="en-US"/>
            </a:defPPr>
            <a:lvl1pPr algn="ctr">
              <a:defRPr sz="1600">
                <a:solidFill>
                  <a:schemeClr val="tx2"/>
                </a:solidFill>
              </a:defRPr>
            </a:lvl1pPr>
          </a:lstStyle>
          <a:p>
            <a:r>
              <a:rPr lang="en-US"/>
              <a:t>Process</a:t>
            </a:r>
          </a:p>
        </p:txBody>
      </p:sp>
      <p:cxnSp>
        <p:nvCxnSpPr>
          <p:cNvPr id="42" name="Straight Arrow Connector 41"/>
          <p:cNvCxnSpPr>
            <a:stCxn id="40" idx="0"/>
          </p:cNvCxnSpPr>
          <p:nvPr/>
        </p:nvCxnSpPr>
        <p:spPr>
          <a:xfrm flipV="1">
            <a:off x="696401" y="2082609"/>
            <a:ext cx="333887" cy="161816"/>
          </a:xfrm>
          <a:prstGeom prst="straightConnector1">
            <a:avLst/>
          </a:prstGeom>
          <a:ln>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p:cNvCxnSpPr>
            <a:stCxn id="46" idx="0"/>
          </p:cNvCxnSpPr>
          <p:nvPr/>
        </p:nvCxnSpPr>
        <p:spPr>
          <a:xfrm flipH="1" flipV="1">
            <a:off x="1478825" y="2069909"/>
            <a:ext cx="74826" cy="174516"/>
          </a:xfrm>
          <a:prstGeom prst="straightConnector1">
            <a:avLst/>
          </a:prstGeom>
          <a:ln>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p:cNvCxnSpPr>
            <a:stCxn id="47" idx="0"/>
          </p:cNvCxnSpPr>
          <p:nvPr/>
        </p:nvCxnSpPr>
        <p:spPr>
          <a:xfrm flipH="1" flipV="1">
            <a:off x="1895475" y="2082610"/>
            <a:ext cx="676842" cy="161815"/>
          </a:xfrm>
          <a:prstGeom prst="straightConnector1">
            <a:avLst/>
          </a:prstGeom>
          <a:ln>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p:cNvCxnSpPr>
            <a:stCxn id="41" idx="0"/>
          </p:cNvCxnSpPr>
          <p:nvPr/>
        </p:nvCxnSpPr>
        <p:spPr>
          <a:xfrm flipH="1" flipV="1">
            <a:off x="5276850" y="2082609"/>
            <a:ext cx="5489" cy="148965"/>
          </a:xfrm>
          <a:prstGeom prst="straightConnector1">
            <a:avLst/>
          </a:prstGeom>
          <a:ln>
            <a:solidFill>
              <a:schemeClr val="accent6">
                <a:lumMod val="75000"/>
              </a:schemeClr>
            </a:solidFill>
            <a:tailEnd type="triangle"/>
          </a:ln>
        </p:spPr>
        <p:style>
          <a:lnRef idx="1">
            <a:schemeClr val="dk1"/>
          </a:lnRef>
          <a:fillRef idx="0">
            <a:schemeClr val="dk1"/>
          </a:fillRef>
          <a:effectRef idx="0">
            <a:schemeClr val="dk1"/>
          </a:effectRef>
          <a:fontRef idx="minor">
            <a:schemeClr val="tx1"/>
          </a:fontRef>
        </p:style>
      </p:cxnSp>
      <p:sp>
        <p:nvSpPr>
          <p:cNvPr id="46" name="TextBox 45"/>
          <p:cNvSpPr txBox="1"/>
          <p:nvPr/>
        </p:nvSpPr>
        <p:spPr>
          <a:xfrm>
            <a:off x="995867" y="2244425"/>
            <a:ext cx="1115568" cy="338554"/>
          </a:xfrm>
          <a:prstGeom prst="rect">
            <a:avLst/>
          </a:prstGeom>
          <a:noFill/>
          <a:ln>
            <a:solidFill>
              <a:schemeClr val="accent6">
                <a:lumMod val="20000"/>
                <a:lumOff val="80000"/>
              </a:schemeClr>
            </a:solidFill>
          </a:ln>
        </p:spPr>
        <p:txBody>
          <a:bodyPr wrap="square" rtlCol="0">
            <a:spAutoFit/>
          </a:bodyPr>
          <a:lstStyle/>
          <a:p>
            <a:pPr algn="ctr"/>
            <a:r>
              <a:rPr lang="en-US" sz="1600">
                <a:solidFill>
                  <a:schemeClr val="tx2"/>
                </a:solidFill>
              </a:rPr>
              <a:t>Starts at 18</a:t>
            </a:r>
          </a:p>
        </p:txBody>
      </p:sp>
      <p:sp>
        <p:nvSpPr>
          <p:cNvPr id="47" name="TextBox 46"/>
          <p:cNvSpPr txBox="1"/>
          <p:nvPr/>
        </p:nvSpPr>
        <p:spPr>
          <a:xfrm>
            <a:off x="2128833" y="2244425"/>
            <a:ext cx="886968" cy="338554"/>
          </a:xfrm>
          <a:prstGeom prst="rect">
            <a:avLst/>
          </a:prstGeom>
          <a:noFill/>
          <a:ln>
            <a:solidFill>
              <a:schemeClr val="accent6">
                <a:lumMod val="20000"/>
                <a:lumOff val="80000"/>
              </a:schemeClr>
            </a:solidFill>
          </a:ln>
        </p:spPr>
        <p:txBody>
          <a:bodyPr wrap="square" rtlCol="0">
            <a:spAutoFit/>
          </a:bodyPr>
          <a:lstStyle/>
          <a:p>
            <a:pPr algn="ctr"/>
            <a:r>
              <a:rPr lang="en-US" sz="1600">
                <a:solidFill>
                  <a:schemeClr val="tx2"/>
                </a:solidFill>
              </a:rPr>
              <a:t>Length 2</a:t>
            </a:r>
          </a:p>
        </p:txBody>
      </p:sp>
    </p:spTree>
    <p:extLst>
      <p:ext uri="{BB962C8B-B14F-4D97-AF65-F5344CB8AC3E}">
        <p14:creationId xmlns:p14="http://schemas.microsoft.com/office/powerpoint/2010/main" val="139952610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7"/>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4">
                                            <p:txEl>
                                              <p:pRg st="4" end="4"/>
                                            </p:txEl>
                                          </p:spTgt>
                                        </p:tgtEl>
                                        <p:attrNameLst>
                                          <p:attrName>style.visibility</p:attrName>
                                        </p:attrNameLst>
                                      </p:cBhvr>
                                      <p:to>
                                        <p:strVal val="visible"/>
                                      </p:to>
                                    </p:set>
                                    <p:animEffect transition="in" filter="fade">
                                      <p:cBhvr>
                                        <p:cTn id="57" dur="500"/>
                                        <p:tgtEl>
                                          <p:spTgt spid="24">
                                            <p:txEl>
                                              <p:pRg st="4" end="4"/>
                                            </p:txEl>
                                          </p:spTgt>
                                        </p:tgtEl>
                                      </p:cBhvr>
                                    </p:animEffect>
                                  </p:childTnLst>
                                </p:cTn>
                              </p:par>
                            </p:childTnLst>
                          </p:cTn>
                        </p:par>
                      </p:childTnLst>
                    </p:cTn>
                  </p:par>
                  <p:par>
                    <p:cTn id="58" fill="hold" nodeType="clickPar">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4">
                                            <p:txEl>
                                              <p:pRg st="5" end="5"/>
                                            </p:txEl>
                                          </p:spTgt>
                                        </p:tgtEl>
                                        <p:attrNameLst>
                                          <p:attrName>style.visibility</p:attrName>
                                        </p:attrNameLst>
                                      </p:cBhvr>
                                      <p:to>
                                        <p:strVal val="visible"/>
                                      </p:to>
                                    </p:set>
                                    <p:animEffect transition="in" filter="fade">
                                      <p:cBhvr>
                                        <p:cTn id="62" dur="500"/>
                                        <p:tgtEl>
                                          <p:spTgt spid="24">
                                            <p:txEl>
                                              <p:pRg st="5" end="5"/>
                                            </p:txEl>
                                          </p:spTgt>
                                        </p:tgtEl>
                                      </p:cBhvr>
                                    </p:animEffect>
                                  </p:childTnLst>
                                </p:cTn>
                              </p:par>
                            </p:childTnLst>
                          </p:cTn>
                        </p:par>
                      </p:childTnLst>
                    </p:cTn>
                  </p:par>
                  <p:par>
                    <p:cTn id="63" fill="hold" nodeType="clickPar">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4">
                                            <p:txEl>
                                              <p:pRg st="6" end="6"/>
                                            </p:txEl>
                                          </p:spTgt>
                                        </p:tgtEl>
                                        <p:attrNameLst>
                                          <p:attrName>style.visibility</p:attrName>
                                        </p:attrNameLst>
                                      </p:cBhvr>
                                      <p:to>
                                        <p:strVal val="visible"/>
                                      </p:to>
                                    </p:set>
                                    <p:animEffect transition="in" filter="fade">
                                      <p:cBhvr>
                                        <p:cTn id="67" dur="500"/>
                                        <p:tgtEl>
                                          <p:spTgt spid="24">
                                            <p:txEl>
                                              <p:pRg st="6" end="6"/>
                                            </p:txEl>
                                          </p:spTgt>
                                        </p:tgtEl>
                                      </p:cBhvr>
                                    </p:animEffect>
                                  </p:childTnLst>
                                </p:cTn>
                              </p:par>
                            </p:childTnLst>
                          </p:cTn>
                        </p:par>
                      </p:childTnLst>
                    </p:cTn>
                  </p:par>
                  <p:par>
                    <p:cTn id="68" fill="hold" nodeType="clickPar">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4">
                                            <p:txEl>
                                              <p:pRg st="7" end="7"/>
                                            </p:txEl>
                                          </p:spTgt>
                                        </p:tgtEl>
                                        <p:attrNameLst>
                                          <p:attrName>style.visibility</p:attrName>
                                        </p:attrNameLst>
                                      </p:cBhvr>
                                      <p:to>
                                        <p:strVal val="visible"/>
                                      </p:to>
                                    </p:set>
                                    <p:animEffect transition="in" filter="fade">
                                      <p:cBhvr>
                                        <p:cTn id="72" dur="500"/>
                                        <p:tgtEl>
                                          <p:spTgt spid="24">
                                            <p:txEl>
                                              <p:pRg st="7" end="7"/>
                                            </p:txEl>
                                          </p:spTgt>
                                        </p:tgtEl>
                                      </p:cBhvr>
                                    </p:animEffect>
                                  </p:childTnLst>
                                </p:cTn>
                              </p:par>
                            </p:childTnLst>
                          </p:cTn>
                        </p:par>
                      </p:childTnLst>
                    </p:cTn>
                  </p:par>
                  <p:par>
                    <p:cTn id="73" fill="hold" nodeType="clickPar">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4">
                                            <p:txEl>
                                              <p:pRg st="8" end="8"/>
                                            </p:txEl>
                                          </p:spTgt>
                                        </p:tgtEl>
                                        <p:attrNameLst>
                                          <p:attrName>style.visibility</p:attrName>
                                        </p:attrNameLst>
                                      </p:cBhvr>
                                      <p:to>
                                        <p:strVal val="visible"/>
                                      </p:to>
                                    </p:set>
                                    <p:animEffect transition="in" filter="fade">
                                      <p:cBhvr>
                                        <p:cTn id="77" dur="500"/>
                                        <p:tgtEl>
                                          <p:spTgt spid="2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P spid="39" grpId="0" animBg="1"/>
      <p:bldP spid="40" grpId="0" animBg="1"/>
      <p:bldP spid="41" grpId="0" animBg="1"/>
      <p:bldP spid="46" grpId="0" animBg="1"/>
      <p:bldP spid="4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Memory management with Linked List</a:t>
            </a:r>
            <a:endParaRPr lang="en-US"/>
          </a:p>
        </p:txBody>
      </p:sp>
      <p:sp>
        <p:nvSpPr>
          <p:cNvPr id="24" name="Content Placeholder 23"/>
          <p:cNvSpPr>
            <a:spLocks noGrp="1"/>
          </p:cNvSpPr>
          <p:nvPr>
            <p:ph idx="1"/>
          </p:nvPr>
        </p:nvSpPr>
        <p:spPr>
          <a:ln>
            <a:noFill/>
          </a:ln>
        </p:spPr>
        <p:txBody>
          <a:bodyPr/>
          <a:lstStyle/>
          <a:p>
            <a:endParaRPr lang="en-US"/>
          </a:p>
          <a:p>
            <a:endParaRPr lang="en-US"/>
          </a:p>
          <a:p>
            <a:endParaRPr lang="en-US"/>
          </a:p>
          <a:p>
            <a:endParaRPr lang="en-US"/>
          </a:p>
          <a:p>
            <a:endParaRPr lang="en-US"/>
          </a:p>
        </p:txBody>
      </p:sp>
      <p:graphicFrame>
        <p:nvGraphicFramePr>
          <p:cNvPr id="23" name="Content Placeholder 3"/>
          <p:cNvGraphicFramePr/>
          <p:nvPr>
            <p:extLst/>
          </p:nvPr>
        </p:nvGraphicFramePr>
        <p:xfrm>
          <a:off x="787399" y="936174"/>
          <a:ext cx="1828800" cy="370840"/>
        </p:xfrm>
        <a:graphic>
          <a:graphicData uri="http://schemas.openxmlformats.org/drawingml/2006/table">
            <a:tbl>
              <a:tblPr firstRow="1" bandRow="1">
                <a:tableStyleId>{5940675A-B579-460E-94D1-54222C63F5DA}</a:tableStyleId>
              </a:tblPr>
              <a:tblGrid>
                <a:gridCol w="457200">
                  <a:extLst>
                    <a:ext uri="{9D8B030D-6E8A-4147-A177-3AD203B41FA5}">
                      <a16:colId xmlns:a16="http://schemas.microsoft.com/office/drawing/2014/main" xmlns="" val="20000"/>
                    </a:ext>
                  </a:extLst>
                </a:gridCol>
                <a:gridCol w="457200">
                  <a:extLst>
                    <a:ext uri="{9D8B030D-6E8A-4147-A177-3AD203B41FA5}">
                      <a16:colId xmlns:a16="http://schemas.microsoft.com/office/drawing/2014/main" xmlns="" val="20001"/>
                    </a:ext>
                  </a:extLst>
                </a:gridCol>
                <a:gridCol w="457200">
                  <a:extLst>
                    <a:ext uri="{9D8B030D-6E8A-4147-A177-3AD203B41FA5}">
                      <a16:colId xmlns:a16="http://schemas.microsoft.com/office/drawing/2014/main" xmlns="" val="20002"/>
                    </a:ext>
                  </a:extLst>
                </a:gridCol>
                <a:gridCol w="457200">
                  <a:extLst>
                    <a:ext uri="{9D8B030D-6E8A-4147-A177-3AD203B41FA5}">
                      <a16:colId xmlns:a16="http://schemas.microsoft.com/office/drawing/2014/main" xmlns="" val="20003"/>
                    </a:ext>
                  </a:extLst>
                </a:gridCol>
              </a:tblGrid>
              <a:tr h="370840">
                <a:tc>
                  <a:txBody>
                    <a:bodyPr/>
                    <a:lstStyle/>
                    <a:p>
                      <a:pPr algn="ctr"/>
                      <a:r>
                        <a:rPr lang="en-US"/>
                        <a:t>P</a:t>
                      </a:r>
                    </a:p>
                  </a:txBody>
                  <a:tcPr/>
                </a:tc>
                <a:tc>
                  <a:txBody>
                    <a:bodyPr/>
                    <a:lstStyle/>
                    <a:p>
                      <a:pPr algn="ctr"/>
                      <a:r>
                        <a:rPr lang="en-US"/>
                        <a:t>0</a:t>
                      </a:r>
                    </a:p>
                  </a:txBody>
                  <a:tcPr/>
                </a:tc>
                <a:tc>
                  <a:txBody>
                    <a:bodyPr/>
                    <a:lstStyle/>
                    <a:p>
                      <a:pPr algn="ctr"/>
                      <a:r>
                        <a:rPr lang="en-US"/>
                        <a:t>5</a:t>
                      </a:r>
                    </a:p>
                  </a:txBody>
                  <a:tcPr/>
                </a:tc>
                <a:tc>
                  <a:txBody>
                    <a:bodyPr/>
                    <a:lstStyle/>
                    <a:p>
                      <a:pPr algn="ctr"/>
                      <a:endParaRPr lang="en-US"/>
                    </a:p>
                  </a:txBody>
                  <a:tcPr/>
                </a:tc>
                <a:extLst>
                  <a:ext uri="{0D108BD9-81ED-4DB2-BD59-A6C34878D82A}">
                    <a16:rowId xmlns:a16="http://schemas.microsoft.com/office/drawing/2014/main" xmlns="" val="10000"/>
                  </a:ext>
                </a:extLst>
              </a:tr>
            </a:tbl>
          </a:graphicData>
        </a:graphic>
      </p:graphicFrame>
      <p:graphicFrame>
        <p:nvGraphicFramePr>
          <p:cNvPr id="25" name="Content Placeholder 3"/>
          <p:cNvGraphicFramePr/>
          <p:nvPr>
            <p:extLst/>
          </p:nvPr>
        </p:nvGraphicFramePr>
        <p:xfrm>
          <a:off x="2920999" y="936174"/>
          <a:ext cx="1828800" cy="370840"/>
        </p:xfrm>
        <a:graphic>
          <a:graphicData uri="http://schemas.openxmlformats.org/drawingml/2006/table">
            <a:tbl>
              <a:tblPr firstRow="1" bandRow="1">
                <a:tableStyleId>{5940675A-B579-460E-94D1-54222C63F5DA}</a:tableStyleId>
              </a:tblPr>
              <a:tblGrid>
                <a:gridCol w="457200">
                  <a:extLst>
                    <a:ext uri="{9D8B030D-6E8A-4147-A177-3AD203B41FA5}">
                      <a16:colId xmlns:a16="http://schemas.microsoft.com/office/drawing/2014/main" xmlns="" val="20000"/>
                    </a:ext>
                  </a:extLst>
                </a:gridCol>
                <a:gridCol w="457200">
                  <a:extLst>
                    <a:ext uri="{9D8B030D-6E8A-4147-A177-3AD203B41FA5}">
                      <a16:colId xmlns:a16="http://schemas.microsoft.com/office/drawing/2014/main" xmlns="" val="20001"/>
                    </a:ext>
                  </a:extLst>
                </a:gridCol>
                <a:gridCol w="457200">
                  <a:extLst>
                    <a:ext uri="{9D8B030D-6E8A-4147-A177-3AD203B41FA5}">
                      <a16:colId xmlns:a16="http://schemas.microsoft.com/office/drawing/2014/main" xmlns="" val="20002"/>
                    </a:ext>
                  </a:extLst>
                </a:gridCol>
                <a:gridCol w="457200">
                  <a:extLst>
                    <a:ext uri="{9D8B030D-6E8A-4147-A177-3AD203B41FA5}">
                      <a16:colId xmlns:a16="http://schemas.microsoft.com/office/drawing/2014/main" xmlns="" val="20003"/>
                    </a:ext>
                  </a:extLst>
                </a:gridCol>
              </a:tblGrid>
              <a:tr h="370840">
                <a:tc>
                  <a:txBody>
                    <a:bodyPr/>
                    <a:lstStyle/>
                    <a:p>
                      <a:pPr algn="ctr"/>
                      <a:r>
                        <a:rPr lang="en-US"/>
                        <a:t>H</a:t>
                      </a:r>
                    </a:p>
                  </a:txBody>
                  <a:tcPr/>
                </a:tc>
                <a:tc>
                  <a:txBody>
                    <a:bodyPr/>
                    <a:lstStyle/>
                    <a:p>
                      <a:pPr algn="ctr"/>
                      <a:r>
                        <a:rPr lang="en-US"/>
                        <a:t>5</a:t>
                      </a:r>
                    </a:p>
                  </a:txBody>
                  <a:tcPr/>
                </a:tc>
                <a:tc>
                  <a:txBody>
                    <a:bodyPr/>
                    <a:lstStyle/>
                    <a:p>
                      <a:pPr algn="ctr"/>
                      <a:r>
                        <a:rPr lang="en-US"/>
                        <a:t>3</a:t>
                      </a:r>
                    </a:p>
                  </a:txBody>
                  <a:tcPr/>
                </a:tc>
                <a:tc>
                  <a:txBody>
                    <a:bodyPr/>
                    <a:lstStyle/>
                    <a:p>
                      <a:pPr algn="ctr"/>
                      <a:endParaRPr lang="en-US"/>
                    </a:p>
                  </a:txBody>
                  <a:tcPr/>
                </a:tc>
                <a:extLst>
                  <a:ext uri="{0D108BD9-81ED-4DB2-BD59-A6C34878D82A}">
                    <a16:rowId xmlns:a16="http://schemas.microsoft.com/office/drawing/2014/main" xmlns="" val="10000"/>
                  </a:ext>
                </a:extLst>
              </a:tr>
            </a:tbl>
          </a:graphicData>
        </a:graphic>
      </p:graphicFrame>
      <p:graphicFrame>
        <p:nvGraphicFramePr>
          <p:cNvPr id="26" name="Content Placeholder 3"/>
          <p:cNvGraphicFramePr/>
          <p:nvPr>
            <p:extLst/>
          </p:nvPr>
        </p:nvGraphicFramePr>
        <p:xfrm>
          <a:off x="5054599" y="936174"/>
          <a:ext cx="1828800" cy="370840"/>
        </p:xfrm>
        <a:graphic>
          <a:graphicData uri="http://schemas.openxmlformats.org/drawingml/2006/table">
            <a:tbl>
              <a:tblPr firstRow="1" bandRow="1">
                <a:tableStyleId>{5940675A-B579-460E-94D1-54222C63F5DA}</a:tableStyleId>
              </a:tblPr>
              <a:tblGrid>
                <a:gridCol w="457200">
                  <a:extLst>
                    <a:ext uri="{9D8B030D-6E8A-4147-A177-3AD203B41FA5}">
                      <a16:colId xmlns:a16="http://schemas.microsoft.com/office/drawing/2014/main" xmlns="" val="20000"/>
                    </a:ext>
                  </a:extLst>
                </a:gridCol>
                <a:gridCol w="457200">
                  <a:extLst>
                    <a:ext uri="{9D8B030D-6E8A-4147-A177-3AD203B41FA5}">
                      <a16:colId xmlns:a16="http://schemas.microsoft.com/office/drawing/2014/main" xmlns="" val="20001"/>
                    </a:ext>
                  </a:extLst>
                </a:gridCol>
                <a:gridCol w="457200">
                  <a:extLst>
                    <a:ext uri="{9D8B030D-6E8A-4147-A177-3AD203B41FA5}">
                      <a16:colId xmlns:a16="http://schemas.microsoft.com/office/drawing/2014/main" xmlns="" val="20002"/>
                    </a:ext>
                  </a:extLst>
                </a:gridCol>
                <a:gridCol w="457200">
                  <a:extLst>
                    <a:ext uri="{9D8B030D-6E8A-4147-A177-3AD203B41FA5}">
                      <a16:colId xmlns:a16="http://schemas.microsoft.com/office/drawing/2014/main" xmlns="" val="20003"/>
                    </a:ext>
                  </a:extLst>
                </a:gridCol>
              </a:tblGrid>
              <a:tr h="370840">
                <a:tc>
                  <a:txBody>
                    <a:bodyPr/>
                    <a:lstStyle/>
                    <a:p>
                      <a:pPr algn="ctr"/>
                      <a:r>
                        <a:rPr lang="en-US"/>
                        <a:t>P</a:t>
                      </a:r>
                    </a:p>
                  </a:txBody>
                  <a:tcPr/>
                </a:tc>
                <a:tc>
                  <a:txBody>
                    <a:bodyPr/>
                    <a:lstStyle/>
                    <a:p>
                      <a:pPr algn="ctr"/>
                      <a:r>
                        <a:rPr lang="en-US"/>
                        <a:t>8</a:t>
                      </a:r>
                    </a:p>
                  </a:txBody>
                  <a:tcPr/>
                </a:tc>
                <a:tc>
                  <a:txBody>
                    <a:bodyPr/>
                    <a:lstStyle/>
                    <a:p>
                      <a:pPr algn="ctr"/>
                      <a:r>
                        <a:rPr lang="en-US"/>
                        <a:t>6</a:t>
                      </a:r>
                    </a:p>
                  </a:txBody>
                  <a:tcPr/>
                </a:tc>
                <a:tc>
                  <a:txBody>
                    <a:bodyPr/>
                    <a:lstStyle/>
                    <a:p>
                      <a:pPr algn="ctr"/>
                      <a:endParaRPr lang="en-US"/>
                    </a:p>
                  </a:txBody>
                  <a:tcPr/>
                </a:tc>
                <a:extLst>
                  <a:ext uri="{0D108BD9-81ED-4DB2-BD59-A6C34878D82A}">
                    <a16:rowId xmlns:a16="http://schemas.microsoft.com/office/drawing/2014/main" xmlns="" val="10000"/>
                  </a:ext>
                </a:extLst>
              </a:tr>
            </a:tbl>
          </a:graphicData>
        </a:graphic>
      </p:graphicFrame>
      <p:graphicFrame>
        <p:nvGraphicFramePr>
          <p:cNvPr id="27" name="Content Placeholder 3"/>
          <p:cNvGraphicFramePr/>
          <p:nvPr>
            <p:extLst/>
          </p:nvPr>
        </p:nvGraphicFramePr>
        <p:xfrm>
          <a:off x="7161399" y="936174"/>
          <a:ext cx="1828800" cy="370840"/>
        </p:xfrm>
        <a:graphic>
          <a:graphicData uri="http://schemas.openxmlformats.org/drawingml/2006/table">
            <a:tbl>
              <a:tblPr firstRow="1" bandRow="1">
                <a:tableStyleId>{5940675A-B579-460E-94D1-54222C63F5DA}</a:tableStyleId>
              </a:tblPr>
              <a:tblGrid>
                <a:gridCol w="457200">
                  <a:extLst>
                    <a:ext uri="{9D8B030D-6E8A-4147-A177-3AD203B41FA5}">
                      <a16:colId xmlns:a16="http://schemas.microsoft.com/office/drawing/2014/main" xmlns="" val="20000"/>
                    </a:ext>
                  </a:extLst>
                </a:gridCol>
                <a:gridCol w="457200">
                  <a:extLst>
                    <a:ext uri="{9D8B030D-6E8A-4147-A177-3AD203B41FA5}">
                      <a16:colId xmlns:a16="http://schemas.microsoft.com/office/drawing/2014/main" xmlns="" val="20001"/>
                    </a:ext>
                  </a:extLst>
                </a:gridCol>
                <a:gridCol w="457200">
                  <a:extLst>
                    <a:ext uri="{9D8B030D-6E8A-4147-A177-3AD203B41FA5}">
                      <a16:colId xmlns:a16="http://schemas.microsoft.com/office/drawing/2014/main" xmlns="" val="20002"/>
                    </a:ext>
                  </a:extLst>
                </a:gridCol>
                <a:gridCol w="457200">
                  <a:extLst>
                    <a:ext uri="{9D8B030D-6E8A-4147-A177-3AD203B41FA5}">
                      <a16:colId xmlns:a16="http://schemas.microsoft.com/office/drawing/2014/main" xmlns="" val="20003"/>
                    </a:ext>
                  </a:extLst>
                </a:gridCol>
              </a:tblGrid>
              <a:tr h="370840">
                <a:tc>
                  <a:txBody>
                    <a:bodyPr/>
                    <a:lstStyle/>
                    <a:p>
                      <a:pPr algn="ctr"/>
                      <a:r>
                        <a:rPr lang="en-US"/>
                        <a:t>P</a:t>
                      </a:r>
                    </a:p>
                  </a:txBody>
                  <a:tcPr/>
                </a:tc>
                <a:tc>
                  <a:txBody>
                    <a:bodyPr/>
                    <a:lstStyle/>
                    <a:p>
                      <a:pPr algn="ctr"/>
                      <a:r>
                        <a:rPr lang="en-US"/>
                        <a:t>14</a:t>
                      </a:r>
                    </a:p>
                  </a:txBody>
                  <a:tcPr/>
                </a:tc>
                <a:tc>
                  <a:txBody>
                    <a:bodyPr/>
                    <a:lstStyle/>
                    <a:p>
                      <a:pPr algn="ctr"/>
                      <a:r>
                        <a:rPr lang="en-US"/>
                        <a:t>4</a:t>
                      </a:r>
                    </a:p>
                  </a:txBody>
                  <a:tcPr/>
                </a:tc>
                <a:tc>
                  <a:txBody>
                    <a:bodyPr/>
                    <a:lstStyle/>
                    <a:p>
                      <a:pPr algn="ctr"/>
                      <a:endParaRPr lang="en-US"/>
                    </a:p>
                  </a:txBody>
                  <a:tcPr/>
                </a:tc>
                <a:extLst>
                  <a:ext uri="{0D108BD9-81ED-4DB2-BD59-A6C34878D82A}">
                    <a16:rowId xmlns:a16="http://schemas.microsoft.com/office/drawing/2014/main" xmlns="" val="10000"/>
                  </a:ext>
                </a:extLst>
              </a:tr>
            </a:tbl>
          </a:graphicData>
        </a:graphic>
      </p:graphicFrame>
      <p:cxnSp>
        <p:nvCxnSpPr>
          <p:cNvPr id="28" name="Straight Arrow Connector 27"/>
          <p:cNvCxnSpPr/>
          <p:nvPr/>
        </p:nvCxnSpPr>
        <p:spPr>
          <a:xfrm>
            <a:off x="2387599" y="1121591"/>
            <a:ext cx="533400" cy="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p:cNvCxnSpPr/>
          <p:nvPr/>
        </p:nvCxnSpPr>
        <p:spPr>
          <a:xfrm>
            <a:off x="4505959" y="1121593"/>
            <a:ext cx="548640" cy="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p:cNvCxnSpPr/>
          <p:nvPr/>
        </p:nvCxnSpPr>
        <p:spPr>
          <a:xfrm>
            <a:off x="6639559" y="1121591"/>
            <a:ext cx="521840" cy="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p:cNvCxnSpPr/>
          <p:nvPr/>
        </p:nvCxnSpPr>
        <p:spPr>
          <a:xfrm>
            <a:off x="702674" y="1861211"/>
            <a:ext cx="121847" cy="5492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aphicFrame>
        <p:nvGraphicFramePr>
          <p:cNvPr id="32" name="Content Placeholder 3"/>
          <p:cNvGraphicFramePr/>
          <p:nvPr>
            <p:extLst/>
          </p:nvPr>
        </p:nvGraphicFramePr>
        <p:xfrm>
          <a:off x="802639" y="1703254"/>
          <a:ext cx="1828800" cy="370840"/>
        </p:xfrm>
        <a:graphic>
          <a:graphicData uri="http://schemas.openxmlformats.org/drawingml/2006/table">
            <a:tbl>
              <a:tblPr firstRow="1" bandRow="1">
                <a:tableStyleId>{5940675A-B579-460E-94D1-54222C63F5DA}</a:tableStyleId>
              </a:tblPr>
              <a:tblGrid>
                <a:gridCol w="457200">
                  <a:extLst>
                    <a:ext uri="{9D8B030D-6E8A-4147-A177-3AD203B41FA5}">
                      <a16:colId xmlns:a16="http://schemas.microsoft.com/office/drawing/2014/main" xmlns="" val="20000"/>
                    </a:ext>
                  </a:extLst>
                </a:gridCol>
                <a:gridCol w="457200">
                  <a:extLst>
                    <a:ext uri="{9D8B030D-6E8A-4147-A177-3AD203B41FA5}">
                      <a16:colId xmlns:a16="http://schemas.microsoft.com/office/drawing/2014/main" xmlns="" val="20001"/>
                    </a:ext>
                  </a:extLst>
                </a:gridCol>
                <a:gridCol w="457200">
                  <a:extLst>
                    <a:ext uri="{9D8B030D-6E8A-4147-A177-3AD203B41FA5}">
                      <a16:colId xmlns:a16="http://schemas.microsoft.com/office/drawing/2014/main" xmlns="" val="20002"/>
                    </a:ext>
                  </a:extLst>
                </a:gridCol>
                <a:gridCol w="457200">
                  <a:extLst>
                    <a:ext uri="{9D8B030D-6E8A-4147-A177-3AD203B41FA5}">
                      <a16:colId xmlns:a16="http://schemas.microsoft.com/office/drawing/2014/main" xmlns="" val="20003"/>
                    </a:ext>
                  </a:extLst>
                </a:gridCol>
              </a:tblGrid>
              <a:tr h="370840">
                <a:tc>
                  <a:txBody>
                    <a:bodyPr/>
                    <a:lstStyle/>
                    <a:p>
                      <a:pPr algn="ctr"/>
                      <a:r>
                        <a:rPr lang="en-US"/>
                        <a:t>H</a:t>
                      </a:r>
                    </a:p>
                  </a:txBody>
                  <a:tcPr/>
                </a:tc>
                <a:tc>
                  <a:txBody>
                    <a:bodyPr/>
                    <a:lstStyle/>
                    <a:p>
                      <a:pPr algn="ctr"/>
                      <a:r>
                        <a:rPr lang="en-US"/>
                        <a:t>18</a:t>
                      </a:r>
                    </a:p>
                  </a:txBody>
                  <a:tcPr/>
                </a:tc>
                <a:tc>
                  <a:txBody>
                    <a:bodyPr/>
                    <a:lstStyle/>
                    <a:p>
                      <a:pPr algn="ctr"/>
                      <a:r>
                        <a:rPr lang="en-US"/>
                        <a:t>2</a:t>
                      </a:r>
                    </a:p>
                  </a:txBody>
                  <a:tcPr/>
                </a:tc>
                <a:tc>
                  <a:txBody>
                    <a:bodyPr/>
                    <a:lstStyle/>
                    <a:p>
                      <a:pPr algn="ctr"/>
                      <a:endParaRPr lang="en-US"/>
                    </a:p>
                  </a:txBody>
                  <a:tcPr/>
                </a:tc>
                <a:extLst>
                  <a:ext uri="{0D108BD9-81ED-4DB2-BD59-A6C34878D82A}">
                    <a16:rowId xmlns:a16="http://schemas.microsoft.com/office/drawing/2014/main" xmlns="" val="10000"/>
                  </a:ext>
                </a:extLst>
              </a:tr>
            </a:tbl>
          </a:graphicData>
        </a:graphic>
      </p:graphicFrame>
      <p:graphicFrame>
        <p:nvGraphicFramePr>
          <p:cNvPr id="33" name="Content Placeholder 3"/>
          <p:cNvGraphicFramePr/>
          <p:nvPr>
            <p:extLst/>
          </p:nvPr>
        </p:nvGraphicFramePr>
        <p:xfrm>
          <a:off x="2920999" y="1703254"/>
          <a:ext cx="1828800" cy="370840"/>
        </p:xfrm>
        <a:graphic>
          <a:graphicData uri="http://schemas.openxmlformats.org/drawingml/2006/table">
            <a:tbl>
              <a:tblPr firstRow="1" bandRow="1">
                <a:tableStyleId>{5940675A-B579-460E-94D1-54222C63F5DA}</a:tableStyleId>
              </a:tblPr>
              <a:tblGrid>
                <a:gridCol w="457200">
                  <a:extLst>
                    <a:ext uri="{9D8B030D-6E8A-4147-A177-3AD203B41FA5}">
                      <a16:colId xmlns:a16="http://schemas.microsoft.com/office/drawing/2014/main" xmlns="" val="20000"/>
                    </a:ext>
                  </a:extLst>
                </a:gridCol>
                <a:gridCol w="457200">
                  <a:extLst>
                    <a:ext uri="{9D8B030D-6E8A-4147-A177-3AD203B41FA5}">
                      <a16:colId xmlns:a16="http://schemas.microsoft.com/office/drawing/2014/main" xmlns="" val="20001"/>
                    </a:ext>
                  </a:extLst>
                </a:gridCol>
                <a:gridCol w="457200">
                  <a:extLst>
                    <a:ext uri="{9D8B030D-6E8A-4147-A177-3AD203B41FA5}">
                      <a16:colId xmlns:a16="http://schemas.microsoft.com/office/drawing/2014/main" xmlns="" val="20002"/>
                    </a:ext>
                  </a:extLst>
                </a:gridCol>
                <a:gridCol w="457200">
                  <a:extLst>
                    <a:ext uri="{9D8B030D-6E8A-4147-A177-3AD203B41FA5}">
                      <a16:colId xmlns:a16="http://schemas.microsoft.com/office/drawing/2014/main" xmlns="" val="20003"/>
                    </a:ext>
                  </a:extLst>
                </a:gridCol>
              </a:tblGrid>
              <a:tr h="370840">
                <a:tc>
                  <a:txBody>
                    <a:bodyPr/>
                    <a:lstStyle/>
                    <a:p>
                      <a:pPr algn="ctr"/>
                      <a:r>
                        <a:rPr lang="en-US"/>
                        <a:t>P</a:t>
                      </a:r>
                    </a:p>
                  </a:txBody>
                  <a:tcPr/>
                </a:tc>
                <a:tc>
                  <a:txBody>
                    <a:bodyPr/>
                    <a:lstStyle/>
                    <a:p>
                      <a:pPr algn="ctr"/>
                      <a:r>
                        <a:rPr lang="en-US"/>
                        <a:t>20</a:t>
                      </a:r>
                    </a:p>
                  </a:txBody>
                  <a:tcPr/>
                </a:tc>
                <a:tc>
                  <a:txBody>
                    <a:bodyPr/>
                    <a:lstStyle/>
                    <a:p>
                      <a:pPr algn="ctr"/>
                      <a:r>
                        <a:rPr lang="en-US"/>
                        <a:t>6</a:t>
                      </a:r>
                    </a:p>
                  </a:txBody>
                  <a:tcPr/>
                </a:tc>
                <a:tc>
                  <a:txBody>
                    <a:bodyPr/>
                    <a:lstStyle/>
                    <a:p>
                      <a:pPr algn="ctr"/>
                      <a:endParaRPr lang="en-US"/>
                    </a:p>
                  </a:txBody>
                  <a:tcPr/>
                </a:tc>
                <a:extLst>
                  <a:ext uri="{0D108BD9-81ED-4DB2-BD59-A6C34878D82A}">
                    <a16:rowId xmlns:a16="http://schemas.microsoft.com/office/drawing/2014/main" xmlns="" val="10000"/>
                  </a:ext>
                </a:extLst>
              </a:tr>
            </a:tbl>
          </a:graphicData>
        </a:graphic>
      </p:graphicFrame>
      <p:graphicFrame>
        <p:nvGraphicFramePr>
          <p:cNvPr id="34" name="Content Placeholder 3"/>
          <p:cNvGraphicFramePr/>
          <p:nvPr>
            <p:extLst/>
          </p:nvPr>
        </p:nvGraphicFramePr>
        <p:xfrm>
          <a:off x="5054599" y="1703254"/>
          <a:ext cx="1828800" cy="370840"/>
        </p:xfrm>
        <a:graphic>
          <a:graphicData uri="http://schemas.openxmlformats.org/drawingml/2006/table">
            <a:tbl>
              <a:tblPr firstRow="1" bandRow="1">
                <a:tableStyleId>{5940675A-B579-460E-94D1-54222C63F5DA}</a:tableStyleId>
              </a:tblPr>
              <a:tblGrid>
                <a:gridCol w="457200">
                  <a:extLst>
                    <a:ext uri="{9D8B030D-6E8A-4147-A177-3AD203B41FA5}">
                      <a16:colId xmlns:a16="http://schemas.microsoft.com/office/drawing/2014/main" xmlns="" val="20000"/>
                    </a:ext>
                  </a:extLst>
                </a:gridCol>
                <a:gridCol w="457200">
                  <a:extLst>
                    <a:ext uri="{9D8B030D-6E8A-4147-A177-3AD203B41FA5}">
                      <a16:colId xmlns:a16="http://schemas.microsoft.com/office/drawing/2014/main" xmlns="" val="20001"/>
                    </a:ext>
                  </a:extLst>
                </a:gridCol>
                <a:gridCol w="457200">
                  <a:extLst>
                    <a:ext uri="{9D8B030D-6E8A-4147-A177-3AD203B41FA5}">
                      <a16:colId xmlns:a16="http://schemas.microsoft.com/office/drawing/2014/main" xmlns="" val="20002"/>
                    </a:ext>
                  </a:extLst>
                </a:gridCol>
                <a:gridCol w="457200">
                  <a:extLst>
                    <a:ext uri="{9D8B030D-6E8A-4147-A177-3AD203B41FA5}">
                      <a16:colId xmlns:a16="http://schemas.microsoft.com/office/drawing/2014/main" xmlns="" val="20003"/>
                    </a:ext>
                  </a:extLst>
                </a:gridCol>
              </a:tblGrid>
              <a:tr h="370840">
                <a:tc>
                  <a:txBody>
                    <a:bodyPr/>
                    <a:lstStyle/>
                    <a:p>
                      <a:pPr algn="ctr"/>
                      <a:r>
                        <a:rPr lang="en-US"/>
                        <a:t>P</a:t>
                      </a:r>
                    </a:p>
                  </a:txBody>
                  <a:tcPr/>
                </a:tc>
                <a:tc>
                  <a:txBody>
                    <a:bodyPr/>
                    <a:lstStyle/>
                    <a:p>
                      <a:pPr algn="ctr"/>
                      <a:r>
                        <a:rPr lang="en-US"/>
                        <a:t>26</a:t>
                      </a:r>
                    </a:p>
                  </a:txBody>
                  <a:tcPr/>
                </a:tc>
                <a:tc>
                  <a:txBody>
                    <a:bodyPr/>
                    <a:lstStyle/>
                    <a:p>
                      <a:pPr algn="ctr"/>
                      <a:r>
                        <a:rPr lang="en-US"/>
                        <a:t>3</a:t>
                      </a:r>
                    </a:p>
                  </a:txBody>
                  <a:tcPr/>
                </a:tc>
                <a:tc>
                  <a:txBody>
                    <a:bodyPr/>
                    <a:lstStyle/>
                    <a:p>
                      <a:pPr algn="ctr"/>
                      <a:endParaRPr lang="en-US"/>
                    </a:p>
                  </a:txBody>
                  <a:tcPr/>
                </a:tc>
                <a:extLst>
                  <a:ext uri="{0D108BD9-81ED-4DB2-BD59-A6C34878D82A}">
                    <a16:rowId xmlns:a16="http://schemas.microsoft.com/office/drawing/2014/main" xmlns="" val="10000"/>
                  </a:ext>
                </a:extLst>
              </a:tr>
            </a:tbl>
          </a:graphicData>
        </a:graphic>
      </p:graphicFrame>
      <p:graphicFrame>
        <p:nvGraphicFramePr>
          <p:cNvPr id="35" name="Content Placeholder 3"/>
          <p:cNvGraphicFramePr/>
          <p:nvPr>
            <p:extLst/>
          </p:nvPr>
        </p:nvGraphicFramePr>
        <p:xfrm>
          <a:off x="7161399" y="1703254"/>
          <a:ext cx="1828800" cy="370840"/>
        </p:xfrm>
        <a:graphic>
          <a:graphicData uri="http://schemas.openxmlformats.org/drawingml/2006/table">
            <a:tbl>
              <a:tblPr firstRow="1" bandRow="1">
                <a:tableStyleId>{5940675A-B579-460E-94D1-54222C63F5DA}</a:tableStyleId>
              </a:tblPr>
              <a:tblGrid>
                <a:gridCol w="457200">
                  <a:extLst>
                    <a:ext uri="{9D8B030D-6E8A-4147-A177-3AD203B41FA5}">
                      <a16:colId xmlns:a16="http://schemas.microsoft.com/office/drawing/2014/main" xmlns="" val="20000"/>
                    </a:ext>
                  </a:extLst>
                </a:gridCol>
                <a:gridCol w="457200">
                  <a:extLst>
                    <a:ext uri="{9D8B030D-6E8A-4147-A177-3AD203B41FA5}">
                      <a16:colId xmlns:a16="http://schemas.microsoft.com/office/drawing/2014/main" xmlns="" val="20001"/>
                    </a:ext>
                  </a:extLst>
                </a:gridCol>
                <a:gridCol w="457200">
                  <a:extLst>
                    <a:ext uri="{9D8B030D-6E8A-4147-A177-3AD203B41FA5}">
                      <a16:colId xmlns:a16="http://schemas.microsoft.com/office/drawing/2014/main" xmlns="" val="20002"/>
                    </a:ext>
                  </a:extLst>
                </a:gridCol>
                <a:gridCol w="457200">
                  <a:extLst>
                    <a:ext uri="{9D8B030D-6E8A-4147-A177-3AD203B41FA5}">
                      <a16:colId xmlns:a16="http://schemas.microsoft.com/office/drawing/2014/main" xmlns="" val="20003"/>
                    </a:ext>
                  </a:extLst>
                </a:gridCol>
              </a:tblGrid>
              <a:tr h="370840">
                <a:tc>
                  <a:txBody>
                    <a:bodyPr/>
                    <a:lstStyle/>
                    <a:p>
                      <a:pPr algn="ctr"/>
                      <a:r>
                        <a:rPr lang="en-US"/>
                        <a:t>H</a:t>
                      </a:r>
                    </a:p>
                  </a:txBody>
                  <a:tcPr/>
                </a:tc>
                <a:tc>
                  <a:txBody>
                    <a:bodyPr/>
                    <a:lstStyle/>
                    <a:p>
                      <a:pPr algn="ctr"/>
                      <a:r>
                        <a:rPr lang="en-US"/>
                        <a:t>29</a:t>
                      </a:r>
                    </a:p>
                  </a:txBody>
                  <a:tcPr/>
                </a:tc>
                <a:tc>
                  <a:txBody>
                    <a:bodyPr/>
                    <a:lstStyle/>
                    <a:p>
                      <a:pPr algn="ctr"/>
                      <a:r>
                        <a:rPr lang="en-US"/>
                        <a:t>3</a:t>
                      </a:r>
                    </a:p>
                  </a:txBody>
                  <a:tcPr/>
                </a:tc>
                <a:tc>
                  <a:txBody>
                    <a:bodyPr/>
                    <a:lstStyle/>
                    <a:p>
                      <a:pPr algn="ctr"/>
                      <a:r>
                        <a:rPr lang="en-US"/>
                        <a:t>X</a:t>
                      </a:r>
                    </a:p>
                  </a:txBody>
                  <a:tcPr/>
                </a:tc>
                <a:extLst>
                  <a:ext uri="{0D108BD9-81ED-4DB2-BD59-A6C34878D82A}">
                    <a16:rowId xmlns:a16="http://schemas.microsoft.com/office/drawing/2014/main" xmlns="" val="10000"/>
                  </a:ext>
                </a:extLst>
              </a:tr>
            </a:tbl>
          </a:graphicData>
        </a:graphic>
      </p:graphicFrame>
      <p:cxnSp>
        <p:nvCxnSpPr>
          <p:cNvPr id="36" name="Straight Arrow Connector 35"/>
          <p:cNvCxnSpPr/>
          <p:nvPr/>
        </p:nvCxnSpPr>
        <p:spPr>
          <a:xfrm flipV="1">
            <a:off x="2387599" y="1886138"/>
            <a:ext cx="533400" cy="507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p:cNvCxnSpPr/>
          <p:nvPr/>
        </p:nvCxnSpPr>
        <p:spPr>
          <a:xfrm flipV="1">
            <a:off x="4505959" y="1886136"/>
            <a:ext cx="548640" cy="507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p:cNvCxnSpPr/>
          <p:nvPr/>
        </p:nvCxnSpPr>
        <p:spPr>
          <a:xfrm flipV="1">
            <a:off x="6639559" y="1886138"/>
            <a:ext cx="521840" cy="507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9" name="Freeform 38"/>
          <p:cNvSpPr/>
          <p:nvPr/>
        </p:nvSpPr>
        <p:spPr>
          <a:xfrm>
            <a:off x="554278" y="1132690"/>
            <a:ext cx="8567122" cy="733926"/>
          </a:xfrm>
          <a:custGeom>
            <a:avLst/>
            <a:gdLst>
              <a:gd name="connsiteX0" fmla="*/ 8226100 w 8567122"/>
              <a:gd name="connsiteY0" fmla="*/ 0 h 733926"/>
              <a:gd name="connsiteX1" fmla="*/ 7732805 w 8567122"/>
              <a:gd name="connsiteY1" fmla="*/ 348916 h 733926"/>
              <a:gd name="connsiteX2" fmla="*/ 983089 w 8567122"/>
              <a:gd name="connsiteY2" fmla="*/ 372979 h 733926"/>
              <a:gd name="connsiteX3" fmla="*/ 176974 w 8567122"/>
              <a:gd name="connsiteY3" fmla="*/ 733926 h 733926"/>
            </a:gdLst>
            <a:ahLst/>
            <a:cxnLst>
              <a:cxn ang="0">
                <a:pos x="connsiteX0" y="connsiteY0"/>
              </a:cxn>
              <a:cxn ang="0">
                <a:pos x="connsiteX1" y="connsiteY1"/>
              </a:cxn>
              <a:cxn ang="0">
                <a:pos x="connsiteX2" y="connsiteY2"/>
              </a:cxn>
              <a:cxn ang="0">
                <a:pos x="connsiteX3" y="connsiteY3"/>
              </a:cxn>
            </a:cxnLst>
            <a:rect l="l" t="t" r="r" b="b"/>
            <a:pathLst>
              <a:path w="8567122" h="733926">
                <a:moveTo>
                  <a:pt x="8226100" y="0"/>
                </a:moveTo>
                <a:cubicBezTo>
                  <a:pt x="8583036" y="143376"/>
                  <a:pt x="8939973" y="286753"/>
                  <a:pt x="7732805" y="348916"/>
                </a:cubicBezTo>
                <a:cubicBezTo>
                  <a:pt x="6525637" y="411079"/>
                  <a:pt x="2242394" y="308811"/>
                  <a:pt x="983089" y="372979"/>
                </a:cubicBezTo>
                <a:cubicBezTo>
                  <a:pt x="-276216" y="437147"/>
                  <a:pt x="-49621" y="585536"/>
                  <a:pt x="176974" y="733926"/>
                </a:cubicBezTo>
              </a:path>
            </a:pathLst>
          </a:cu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48" name="TextBox 47"/>
          <p:cNvSpPr txBox="1"/>
          <p:nvPr/>
        </p:nvSpPr>
        <p:spPr>
          <a:xfrm>
            <a:off x="3167934" y="2184603"/>
            <a:ext cx="1316355" cy="369332"/>
          </a:xfrm>
          <a:prstGeom prst="rect">
            <a:avLst/>
          </a:prstGeom>
          <a:noFill/>
        </p:spPr>
        <p:txBody>
          <a:bodyPr wrap="square" rtlCol="0">
            <a:spAutoFit/>
          </a:bodyPr>
          <a:lstStyle/>
          <a:p>
            <a:pPr algn="ctr"/>
            <a:r>
              <a:rPr lang="en-US">
                <a:solidFill>
                  <a:schemeClr val="tx2"/>
                </a:solidFill>
              </a:rPr>
              <a:t>Neighbors</a:t>
            </a:r>
          </a:p>
        </p:txBody>
      </p:sp>
      <p:cxnSp>
        <p:nvCxnSpPr>
          <p:cNvPr id="49" name="Straight Arrow Connector 48"/>
          <p:cNvCxnSpPr>
            <a:stCxn id="48" idx="1"/>
            <a:endCxn id="32" idx="2"/>
          </p:cNvCxnSpPr>
          <p:nvPr/>
        </p:nvCxnSpPr>
        <p:spPr>
          <a:xfrm flipH="1" flipV="1">
            <a:off x="1717039" y="2074094"/>
            <a:ext cx="1450895" cy="295175"/>
          </a:xfrm>
          <a:prstGeom prst="straightConnector1">
            <a:avLst/>
          </a:prstGeom>
          <a:ln w="28575">
            <a:solidFill>
              <a:schemeClr val="accent6">
                <a:lumMod val="60000"/>
                <a:lumOff val="40000"/>
              </a:schemeClr>
            </a:solidFill>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p:cNvCxnSpPr>
            <a:stCxn id="48" idx="3"/>
          </p:cNvCxnSpPr>
          <p:nvPr/>
        </p:nvCxnSpPr>
        <p:spPr>
          <a:xfrm flipV="1">
            <a:off x="4484289" y="2076824"/>
            <a:ext cx="1507808" cy="292445"/>
          </a:xfrm>
          <a:prstGeom prst="straightConnector1">
            <a:avLst/>
          </a:prstGeom>
          <a:ln w="28575">
            <a:solidFill>
              <a:schemeClr val="accent6">
                <a:lumMod val="60000"/>
                <a:lumOff val="40000"/>
              </a:schemeClr>
            </a:solidFill>
            <a:tailEnd type="triangle"/>
          </a:ln>
        </p:spPr>
        <p:style>
          <a:lnRef idx="1">
            <a:schemeClr val="dk1"/>
          </a:lnRef>
          <a:fillRef idx="0">
            <a:schemeClr val="dk1"/>
          </a:fillRef>
          <a:effectRef idx="0">
            <a:schemeClr val="dk1"/>
          </a:effectRef>
          <a:fontRef idx="minor">
            <a:schemeClr val="tx1"/>
          </a:fontRef>
        </p:style>
      </p:cxnSp>
      <p:sp>
        <p:nvSpPr>
          <p:cNvPr id="51" name="Rounded Rectangle 50"/>
          <p:cNvSpPr/>
          <p:nvPr/>
        </p:nvSpPr>
        <p:spPr>
          <a:xfrm>
            <a:off x="2791697" y="1585335"/>
            <a:ext cx="2069240" cy="598341"/>
          </a:xfrm>
          <a:prstGeom prst="roundRect">
            <a:avLst>
              <a:gd name="adj" fmla="val 13483"/>
            </a:avLst>
          </a:prstGeom>
          <a:noFill/>
          <a:ln w="28575">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aphicFrame>
        <p:nvGraphicFramePr>
          <p:cNvPr id="74" name="Table 73"/>
          <p:cNvGraphicFramePr>
            <a:graphicFrameLocks noGrp="1"/>
          </p:cNvGraphicFramePr>
          <p:nvPr>
            <p:extLst/>
          </p:nvPr>
        </p:nvGraphicFramePr>
        <p:xfrm>
          <a:off x="7044922" y="2958736"/>
          <a:ext cx="1920240" cy="370840"/>
        </p:xfrm>
        <a:graphic>
          <a:graphicData uri="http://schemas.openxmlformats.org/drawingml/2006/table">
            <a:tbl>
              <a:tblPr firstRow="1" bandRow="1">
                <a:tableStyleId>{5940675A-B579-460E-94D1-54222C63F5DA}</a:tableStyleId>
              </a:tblPr>
              <a:tblGrid>
                <a:gridCol w="640080">
                  <a:extLst>
                    <a:ext uri="{9D8B030D-6E8A-4147-A177-3AD203B41FA5}">
                      <a16:colId xmlns:a16="http://schemas.microsoft.com/office/drawing/2014/main" xmlns="" val="20000"/>
                    </a:ext>
                  </a:extLst>
                </a:gridCol>
                <a:gridCol w="640080">
                  <a:extLst>
                    <a:ext uri="{9D8B030D-6E8A-4147-A177-3AD203B41FA5}">
                      <a16:colId xmlns:a16="http://schemas.microsoft.com/office/drawing/2014/main" xmlns="" val="20001"/>
                    </a:ext>
                  </a:extLst>
                </a:gridCol>
                <a:gridCol w="640080">
                  <a:extLst>
                    <a:ext uri="{9D8B030D-6E8A-4147-A177-3AD203B41FA5}">
                      <a16:colId xmlns:a16="http://schemas.microsoft.com/office/drawing/2014/main" xmlns="" val="20002"/>
                    </a:ext>
                  </a:extLst>
                </a:gridCol>
              </a:tblGrid>
              <a:tr h="370840">
                <a:tc>
                  <a:txBody>
                    <a:bodyPr/>
                    <a:lstStyle/>
                    <a:p>
                      <a:pPr algn="ctr"/>
                      <a:r>
                        <a:rPr lang="en-US"/>
                        <a:t>A</a:t>
                      </a:r>
                    </a:p>
                  </a:txBody>
                  <a:tcPr/>
                </a:tc>
                <a:tc>
                  <a:txBody>
                    <a:bodyPr/>
                    <a:lstStyle/>
                    <a:p>
                      <a:endParaRPr lang="en-US"/>
                    </a:p>
                  </a:txBody>
                  <a:tcPr>
                    <a:pattFill prst="ltUpDiag">
                      <a:fgClr>
                        <a:prstClr val="black"/>
                      </a:fgClr>
                      <a:bgClr>
                        <a:prstClr val="black"/>
                      </a:bgClr>
                    </a:pattFill>
                  </a:tcPr>
                </a:tc>
                <a:tc>
                  <a:txBody>
                    <a:bodyPr/>
                    <a:lstStyle/>
                    <a:p>
                      <a:pPr algn="ctr"/>
                      <a:r>
                        <a:rPr lang="en-US"/>
                        <a:t>B</a:t>
                      </a:r>
                    </a:p>
                  </a:txBody>
                  <a:tcPr/>
                </a:tc>
                <a:extLst>
                  <a:ext uri="{0D108BD9-81ED-4DB2-BD59-A6C34878D82A}">
                    <a16:rowId xmlns:a16="http://schemas.microsoft.com/office/drawing/2014/main" xmlns="" val="10000"/>
                  </a:ext>
                </a:extLst>
              </a:tr>
            </a:tbl>
          </a:graphicData>
        </a:graphic>
      </p:graphicFrame>
      <p:graphicFrame>
        <p:nvGraphicFramePr>
          <p:cNvPr id="75" name="Table 74"/>
          <p:cNvGraphicFramePr>
            <a:graphicFrameLocks noGrp="1"/>
          </p:cNvGraphicFramePr>
          <p:nvPr>
            <p:extLst/>
          </p:nvPr>
        </p:nvGraphicFramePr>
        <p:xfrm>
          <a:off x="7044922" y="3870413"/>
          <a:ext cx="1920240" cy="370840"/>
        </p:xfrm>
        <a:graphic>
          <a:graphicData uri="http://schemas.openxmlformats.org/drawingml/2006/table">
            <a:tbl>
              <a:tblPr firstRow="1" bandRow="1">
                <a:tableStyleId>{5940675A-B579-460E-94D1-54222C63F5DA}</a:tableStyleId>
              </a:tblPr>
              <a:tblGrid>
                <a:gridCol w="640080">
                  <a:extLst>
                    <a:ext uri="{9D8B030D-6E8A-4147-A177-3AD203B41FA5}">
                      <a16:colId xmlns:a16="http://schemas.microsoft.com/office/drawing/2014/main" xmlns="" val="20000"/>
                    </a:ext>
                  </a:extLst>
                </a:gridCol>
                <a:gridCol w="1280160">
                  <a:extLst>
                    <a:ext uri="{9D8B030D-6E8A-4147-A177-3AD203B41FA5}">
                      <a16:colId xmlns:a16="http://schemas.microsoft.com/office/drawing/2014/main" xmlns="" val="20001"/>
                    </a:ext>
                  </a:extLst>
                </a:gridCol>
              </a:tblGrid>
              <a:tr h="370840">
                <a:tc>
                  <a:txBody>
                    <a:bodyPr/>
                    <a:lstStyle/>
                    <a:p>
                      <a:pPr algn="ctr"/>
                      <a:r>
                        <a:rPr lang="en-US"/>
                        <a:t>A</a:t>
                      </a:r>
                    </a:p>
                  </a:txBody>
                  <a:tcPr/>
                </a:tc>
                <a:tc>
                  <a:txBody>
                    <a:bodyPr/>
                    <a:lstStyle/>
                    <a:p>
                      <a:endParaRPr lang="en-US"/>
                    </a:p>
                  </a:txBody>
                  <a:tcPr>
                    <a:pattFill prst="ltUpDiag">
                      <a:fgClr>
                        <a:prstClr val="black"/>
                      </a:fgClr>
                      <a:bgClr>
                        <a:prstClr val="black"/>
                      </a:bgClr>
                    </a:pattFill>
                  </a:tcPr>
                </a:tc>
                <a:extLst>
                  <a:ext uri="{0D108BD9-81ED-4DB2-BD59-A6C34878D82A}">
                    <a16:rowId xmlns:a16="http://schemas.microsoft.com/office/drawing/2014/main" xmlns="" val="10000"/>
                  </a:ext>
                </a:extLst>
              </a:tr>
            </a:tbl>
          </a:graphicData>
        </a:graphic>
      </p:graphicFrame>
      <p:graphicFrame>
        <p:nvGraphicFramePr>
          <p:cNvPr id="76" name="Table 75"/>
          <p:cNvGraphicFramePr>
            <a:graphicFrameLocks noGrp="1"/>
          </p:cNvGraphicFramePr>
          <p:nvPr>
            <p:extLst/>
          </p:nvPr>
        </p:nvGraphicFramePr>
        <p:xfrm>
          <a:off x="7044922" y="4937213"/>
          <a:ext cx="1920240" cy="370840"/>
        </p:xfrm>
        <a:graphic>
          <a:graphicData uri="http://schemas.openxmlformats.org/drawingml/2006/table">
            <a:tbl>
              <a:tblPr firstRow="1" bandRow="1">
                <a:tableStyleId>{5940675A-B579-460E-94D1-54222C63F5DA}</a:tableStyleId>
              </a:tblPr>
              <a:tblGrid>
                <a:gridCol w="1280160">
                  <a:extLst>
                    <a:ext uri="{9D8B030D-6E8A-4147-A177-3AD203B41FA5}">
                      <a16:colId xmlns:a16="http://schemas.microsoft.com/office/drawing/2014/main" xmlns="" val="20000"/>
                    </a:ext>
                  </a:extLst>
                </a:gridCol>
                <a:gridCol w="640080">
                  <a:extLst>
                    <a:ext uri="{9D8B030D-6E8A-4147-A177-3AD203B41FA5}">
                      <a16:colId xmlns:a16="http://schemas.microsoft.com/office/drawing/2014/main" xmlns="" val="20001"/>
                    </a:ext>
                  </a:extLst>
                </a:gridCol>
              </a:tblGrid>
              <a:tr h="370840">
                <a:tc>
                  <a:txBody>
                    <a:bodyPr/>
                    <a:lstStyle/>
                    <a:p>
                      <a:endParaRPr lang="en-US"/>
                    </a:p>
                  </a:txBody>
                  <a:tcPr>
                    <a:pattFill prst="ltUpDiag">
                      <a:fgClr>
                        <a:prstClr val="black"/>
                      </a:fgClr>
                      <a:bgClr>
                        <a:prstClr val="black"/>
                      </a:bgClr>
                    </a:pattFill>
                  </a:tcPr>
                </a:tc>
                <a:tc>
                  <a:txBody>
                    <a:bodyPr/>
                    <a:lstStyle/>
                    <a:p>
                      <a:pPr algn="ctr"/>
                      <a:r>
                        <a:rPr lang="en-US"/>
                        <a:t>B</a:t>
                      </a:r>
                    </a:p>
                  </a:txBody>
                  <a:tcPr/>
                </a:tc>
                <a:extLst>
                  <a:ext uri="{0D108BD9-81ED-4DB2-BD59-A6C34878D82A}">
                    <a16:rowId xmlns:a16="http://schemas.microsoft.com/office/drawing/2014/main" xmlns="" val="10000"/>
                  </a:ext>
                </a:extLst>
              </a:tr>
            </a:tbl>
          </a:graphicData>
        </a:graphic>
      </p:graphicFrame>
      <p:graphicFrame>
        <p:nvGraphicFramePr>
          <p:cNvPr id="77" name="Table 76"/>
          <p:cNvGraphicFramePr>
            <a:graphicFrameLocks noGrp="1"/>
          </p:cNvGraphicFramePr>
          <p:nvPr>
            <p:extLst/>
          </p:nvPr>
        </p:nvGraphicFramePr>
        <p:xfrm>
          <a:off x="7044922" y="5950270"/>
          <a:ext cx="1920240" cy="370840"/>
        </p:xfrm>
        <a:graphic>
          <a:graphicData uri="http://schemas.openxmlformats.org/drawingml/2006/table">
            <a:tbl>
              <a:tblPr firstRow="1" bandRow="1">
                <a:tableStyleId>{5940675A-B579-460E-94D1-54222C63F5DA}</a:tableStyleId>
              </a:tblPr>
              <a:tblGrid>
                <a:gridCol w="1920240">
                  <a:extLst>
                    <a:ext uri="{9D8B030D-6E8A-4147-A177-3AD203B41FA5}">
                      <a16:colId xmlns:a16="http://schemas.microsoft.com/office/drawing/2014/main" xmlns="" val="20000"/>
                    </a:ext>
                  </a:extLst>
                </a:gridCol>
              </a:tblGrid>
              <a:tr h="370840">
                <a:tc>
                  <a:txBody>
                    <a:bodyPr/>
                    <a:lstStyle/>
                    <a:p>
                      <a:endParaRPr lang="en-US"/>
                    </a:p>
                  </a:txBody>
                  <a:tcPr>
                    <a:pattFill prst="ltUpDiag">
                      <a:fgClr>
                        <a:prstClr val="black"/>
                      </a:fgClr>
                      <a:bgClr>
                        <a:prstClr val="black"/>
                      </a:bgClr>
                    </a:pattFill>
                  </a:tcPr>
                </a:tc>
                <a:extLst>
                  <a:ext uri="{0D108BD9-81ED-4DB2-BD59-A6C34878D82A}">
                    <a16:rowId xmlns:a16="http://schemas.microsoft.com/office/drawing/2014/main" xmlns="" val="10000"/>
                  </a:ext>
                </a:extLst>
              </a:tr>
            </a:tbl>
          </a:graphicData>
        </a:graphic>
      </p:graphicFrame>
      <p:graphicFrame>
        <p:nvGraphicFramePr>
          <p:cNvPr id="78" name="Table 77"/>
          <p:cNvGraphicFramePr>
            <a:graphicFrameLocks noGrp="1"/>
          </p:cNvGraphicFramePr>
          <p:nvPr>
            <p:extLst/>
          </p:nvPr>
        </p:nvGraphicFramePr>
        <p:xfrm>
          <a:off x="729323" y="2958736"/>
          <a:ext cx="1920240" cy="370840"/>
        </p:xfrm>
        <a:graphic>
          <a:graphicData uri="http://schemas.openxmlformats.org/drawingml/2006/table">
            <a:tbl>
              <a:tblPr firstRow="1" bandRow="1">
                <a:tableStyleId>{5940675A-B579-460E-94D1-54222C63F5DA}</a:tableStyleId>
              </a:tblPr>
              <a:tblGrid>
                <a:gridCol w="640080">
                  <a:extLst>
                    <a:ext uri="{9D8B030D-6E8A-4147-A177-3AD203B41FA5}">
                      <a16:colId xmlns:a16="http://schemas.microsoft.com/office/drawing/2014/main" xmlns="" val="20000"/>
                    </a:ext>
                  </a:extLst>
                </a:gridCol>
                <a:gridCol w="640080">
                  <a:extLst>
                    <a:ext uri="{9D8B030D-6E8A-4147-A177-3AD203B41FA5}">
                      <a16:colId xmlns:a16="http://schemas.microsoft.com/office/drawing/2014/main" xmlns="" val="20001"/>
                    </a:ext>
                  </a:extLst>
                </a:gridCol>
                <a:gridCol w="640080">
                  <a:extLst>
                    <a:ext uri="{9D8B030D-6E8A-4147-A177-3AD203B41FA5}">
                      <a16:colId xmlns:a16="http://schemas.microsoft.com/office/drawing/2014/main" xmlns="" val="20002"/>
                    </a:ext>
                  </a:extLst>
                </a:gridCol>
              </a:tblGrid>
              <a:tr h="370840">
                <a:tc>
                  <a:txBody>
                    <a:bodyPr/>
                    <a:lstStyle/>
                    <a:p>
                      <a:pPr algn="ctr"/>
                      <a:r>
                        <a:rPr lang="en-US"/>
                        <a:t>A</a:t>
                      </a:r>
                    </a:p>
                  </a:txBody>
                  <a:tcPr/>
                </a:tc>
                <a:tc>
                  <a:txBody>
                    <a:bodyPr/>
                    <a:lstStyle/>
                    <a:p>
                      <a:pPr algn="ctr"/>
                      <a:r>
                        <a:rPr lang="en-US"/>
                        <a:t>P</a:t>
                      </a:r>
                    </a:p>
                  </a:txBody>
                  <a:tcPr/>
                </a:tc>
                <a:tc>
                  <a:txBody>
                    <a:bodyPr/>
                    <a:lstStyle/>
                    <a:p>
                      <a:pPr algn="ctr"/>
                      <a:r>
                        <a:rPr lang="en-US"/>
                        <a:t>B</a:t>
                      </a:r>
                    </a:p>
                  </a:txBody>
                  <a:tcPr/>
                </a:tc>
                <a:extLst>
                  <a:ext uri="{0D108BD9-81ED-4DB2-BD59-A6C34878D82A}">
                    <a16:rowId xmlns:a16="http://schemas.microsoft.com/office/drawing/2014/main" xmlns="" val="10000"/>
                  </a:ext>
                </a:extLst>
              </a:tr>
            </a:tbl>
          </a:graphicData>
        </a:graphic>
      </p:graphicFrame>
      <p:graphicFrame>
        <p:nvGraphicFramePr>
          <p:cNvPr id="79" name="Table 78"/>
          <p:cNvGraphicFramePr>
            <a:graphicFrameLocks noGrp="1"/>
          </p:cNvGraphicFramePr>
          <p:nvPr>
            <p:extLst/>
          </p:nvPr>
        </p:nvGraphicFramePr>
        <p:xfrm>
          <a:off x="729323" y="3870413"/>
          <a:ext cx="1920240" cy="370840"/>
        </p:xfrm>
        <a:graphic>
          <a:graphicData uri="http://schemas.openxmlformats.org/drawingml/2006/table">
            <a:tbl>
              <a:tblPr firstRow="1" bandRow="1">
                <a:tableStyleId>{5940675A-B579-460E-94D1-54222C63F5DA}</a:tableStyleId>
              </a:tblPr>
              <a:tblGrid>
                <a:gridCol w="640080">
                  <a:extLst>
                    <a:ext uri="{9D8B030D-6E8A-4147-A177-3AD203B41FA5}">
                      <a16:colId xmlns:a16="http://schemas.microsoft.com/office/drawing/2014/main" xmlns="" val="20000"/>
                    </a:ext>
                  </a:extLst>
                </a:gridCol>
                <a:gridCol w="640080">
                  <a:extLst>
                    <a:ext uri="{9D8B030D-6E8A-4147-A177-3AD203B41FA5}">
                      <a16:colId xmlns:a16="http://schemas.microsoft.com/office/drawing/2014/main" xmlns="" val="20001"/>
                    </a:ext>
                  </a:extLst>
                </a:gridCol>
                <a:gridCol w="640080">
                  <a:extLst>
                    <a:ext uri="{9D8B030D-6E8A-4147-A177-3AD203B41FA5}">
                      <a16:colId xmlns:a16="http://schemas.microsoft.com/office/drawing/2014/main" xmlns="" val="20002"/>
                    </a:ext>
                  </a:extLst>
                </a:gridCol>
              </a:tblGrid>
              <a:tr h="370840">
                <a:tc>
                  <a:txBody>
                    <a:bodyPr/>
                    <a:lstStyle/>
                    <a:p>
                      <a:pPr algn="ctr"/>
                      <a:r>
                        <a:rPr lang="en-US"/>
                        <a:t>A</a:t>
                      </a:r>
                    </a:p>
                  </a:txBody>
                  <a:tcPr/>
                </a:tc>
                <a:tc>
                  <a:txBody>
                    <a:bodyPr/>
                    <a:lstStyle/>
                    <a:p>
                      <a:pPr algn="ctr"/>
                      <a:r>
                        <a:rPr lang="en-US"/>
                        <a:t>P</a:t>
                      </a:r>
                    </a:p>
                  </a:txBody>
                  <a:tcPr/>
                </a:tc>
                <a:tc>
                  <a:txBody>
                    <a:bodyPr/>
                    <a:lstStyle/>
                    <a:p>
                      <a:pPr marL="0" algn="l" defTabSz="914400" rtl="0" eaLnBrk="1" latinLnBrk="0" hangingPunct="1"/>
                      <a:endParaRPr lang="en-US" sz="1800" kern="1200">
                        <a:solidFill>
                          <a:sysClr val="windowText" lastClr="000000"/>
                        </a:solidFill>
                        <a:latin typeface="+mn-lt"/>
                        <a:ea typeface="+mn-ea"/>
                        <a:cs typeface="+mn-cs"/>
                      </a:endParaRPr>
                    </a:p>
                  </a:txBody>
                  <a:tcPr>
                    <a:pattFill prst="ltUpDiag">
                      <a:fgClr>
                        <a:schemeClr val="tx1"/>
                      </a:fgClr>
                      <a:bgClr>
                        <a:schemeClr val="bg1"/>
                      </a:bgClr>
                    </a:pattFill>
                  </a:tcPr>
                </a:tc>
                <a:extLst>
                  <a:ext uri="{0D108BD9-81ED-4DB2-BD59-A6C34878D82A}">
                    <a16:rowId xmlns:a16="http://schemas.microsoft.com/office/drawing/2014/main" xmlns="" val="10000"/>
                  </a:ext>
                </a:extLst>
              </a:tr>
            </a:tbl>
          </a:graphicData>
        </a:graphic>
      </p:graphicFrame>
      <p:graphicFrame>
        <p:nvGraphicFramePr>
          <p:cNvPr id="80" name="Table 79"/>
          <p:cNvGraphicFramePr>
            <a:graphicFrameLocks noGrp="1"/>
          </p:cNvGraphicFramePr>
          <p:nvPr>
            <p:extLst/>
          </p:nvPr>
        </p:nvGraphicFramePr>
        <p:xfrm>
          <a:off x="729323" y="4937213"/>
          <a:ext cx="1920240" cy="370840"/>
        </p:xfrm>
        <a:graphic>
          <a:graphicData uri="http://schemas.openxmlformats.org/drawingml/2006/table">
            <a:tbl>
              <a:tblPr firstRow="1" bandRow="1">
                <a:tableStyleId>{5940675A-B579-460E-94D1-54222C63F5DA}</a:tableStyleId>
              </a:tblPr>
              <a:tblGrid>
                <a:gridCol w="640080">
                  <a:extLst>
                    <a:ext uri="{9D8B030D-6E8A-4147-A177-3AD203B41FA5}">
                      <a16:colId xmlns:a16="http://schemas.microsoft.com/office/drawing/2014/main" xmlns="" val="20000"/>
                    </a:ext>
                  </a:extLst>
                </a:gridCol>
                <a:gridCol w="640080">
                  <a:extLst>
                    <a:ext uri="{9D8B030D-6E8A-4147-A177-3AD203B41FA5}">
                      <a16:colId xmlns:a16="http://schemas.microsoft.com/office/drawing/2014/main" xmlns="" val="20001"/>
                    </a:ext>
                  </a:extLst>
                </a:gridCol>
                <a:gridCol w="640080">
                  <a:extLst>
                    <a:ext uri="{9D8B030D-6E8A-4147-A177-3AD203B41FA5}">
                      <a16:colId xmlns:a16="http://schemas.microsoft.com/office/drawing/2014/main" xmlns="" val="20002"/>
                    </a:ext>
                  </a:extLst>
                </a:gridCol>
              </a:tblGrid>
              <a:tr h="370840">
                <a:tc>
                  <a:txBody>
                    <a:bodyPr/>
                    <a:lstStyle/>
                    <a:p>
                      <a:endParaRPr lang="en-US"/>
                    </a:p>
                  </a:txBody>
                  <a:tcPr>
                    <a:pattFill prst="ltUpDiag">
                      <a:fgClr>
                        <a:prstClr val="black"/>
                      </a:fgClr>
                      <a:bgClr>
                        <a:prstClr val="black"/>
                      </a:bgClr>
                    </a:pattFill>
                  </a:tcPr>
                </a:tc>
                <a:tc>
                  <a:txBody>
                    <a:bodyPr/>
                    <a:lstStyle/>
                    <a:p>
                      <a:pPr algn="ctr"/>
                      <a:r>
                        <a:rPr lang="en-US"/>
                        <a:t>P</a:t>
                      </a:r>
                    </a:p>
                  </a:txBody>
                  <a:tcPr/>
                </a:tc>
                <a:tc>
                  <a:txBody>
                    <a:bodyPr/>
                    <a:lstStyle/>
                    <a:p>
                      <a:pPr algn="ctr"/>
                      <a:r>
                        <a:rPr lang="en-US"/>
                        <a:t>B</a:t>
                      </a:r>
                    </a:p>
                  </a:txBody>
                  <a:tcPr/>
                </a:tc>
                <a:extLst>
                  <a:ext uri="{0D108BD9-81ED-4DB2-BD59-A6C34878D82A}">
                    <a16:rowId xmlns:a16="http://schemas.microsoft.com/office/drawing/2014/main" xmlns="" val="10000"/>
                  </a:ext>
                </a:extLst>
              </a:tr>
            </a:tbl>
          </a:graphicData>
        </a:graphic>
      </p:graphicFrame>
      <p:graphicFrame>
        <p:nvGraphicFramePr>
          <p:cNvPr id="81" name="Table 80"/>
          <p:cNvGraphicFramePr>
            <a:graphicFrameLocks noGrp="1"/>
          </p:cNvGraphicFramePr>
          <p:nvPr>
            <p:extLst/>
          </p:nvPr>
        </p:nvGraphicFramePr>
        <p:xfrm>
          <a:off x="729323" y="5950270"/>
          <a:ext cx="1920240" cy="370840"/>
        </p:xfrm>
        <a:graphic>
          <a:graphicData uri="http://schemas.openxmlformats.org/drawingml/2006/table">
            <a:tbl>
              <a:tblPr firstRow="1" bandRow="1">
                <a:tableStyleId>{5940675A-B579-460E-94D1-54222C63F5DA}</a:tableStyleId>
              </a:tblPr>
              <a:tblGrid>
                <a:gridCol w="640080">
                  <a:extLst>
                    <a:ext uri="{9D8B030D-6E8A-4147-A177-3AD203B41FA5}">
                      <a16:colId xmlns:a16="http://schemas.microsoft.com/office/drawing/2014/main" xmlns="" val="20000"/>
                    </a:ext>
                  </a:extLst>
                </a:gridCol>
                <a:gridCol w="640080">
                  <a:extLst>
                    <a:ext uri="{9D8B030D-6E8A-4147-A177-3AD203B41FA5}">
                      <a16:colId xmlns:a16="http://schemas.microsoft.com/office/drawing/2014/main" xmlns="" val="20001"/>
                    </a:ext>
                  </a:extLst>
                </a:gridCol>
                <a:gridCol w="640080">
                  <a:extLst>
                    <a:ext uri="{9D8B030D-6E8A-4147-A177-3AD203B41FA5}">
                      <a16:colId xmlns:a16="http://schemas.microsoft.com/office/drawing/2014/main" xmlns="" val="20002"/>
                    </a:ext>
                  </a:extLst>
                </a:gridCol>
              </a:tblGrid>
              <a:tr h="370840">
                <a:tc>
                  <a:txBody>
                    <a:bodyPr/>
                    <a:lstStyle/>
                    <a:p>
                      <a:endParaRPr lang="en-US"/>
                    </a:p>
                  </a:txBody>
                  <a:tcPr>
                    <a:pattFill prst="ltUpDiag">
                      <a:fgClr>
                        <a:prstClr val="black"/>
                      </a:fgClr>
                      <a:bgClr>
                        <a:prstClr val="black"/>
                      </a:bgClr>
                    </a:pattFill>
                  </a:tcPr>
                </a:tc>
                <a:tc>
                  <a:txBody>
                    <a:bodyPr/>
                    <a:lstStyle/>
                    <a:p>
                      <a:pPr algn="ctr"/>
                      <a:r>
                        <a:rPr lang="en-US"/>
                        <a:t>P</a:t>
                      </a:r>
                    </a:p>
                  </a:txBody>
                  <a:tcPr/>
                </a:tc>
                <a:tc>
                  <a:txBody>
                    <a:bodyPr/>
                    <a:lstStyle/>
                    <a:p>
                      <a:endParaRPr lang="en-US"/>
                    </a:p>
                  </a:txBody>
                  <a:tcPr>
                    <a:pattFill prst="ltUpDiag">
                      <a:fgClr>
                        <a:prstClr val="black"/>
                      </a:fgClr>
                      <a:bgClr>
                        <a:prstClr val="black"/>
                      </a:bgClr>
                    </a:pattFill>
                  </a:tcPr>
                </a:tc>
                <a:extLst>
                  <a:ext uri="{0D108BD9-81ED-4DB2-BD59-A6C34878D82A}">
                    <a16:rowId xmlns:a16="http://schemas.microsoft.com/office/drawing/2014/main" xmlns="" val="10000"/>
                  </a:ext>
                </a:extLst>
              </a:tr>
            </a:tbl>
          </a:graphicData>
        </a:graphic>
      </p:graphicFrame>
      <p:sp>
        <p:nvSpPr>
          <p:cNvPr id="82" name="TextBox 81"/>
          <p:cNvSpPr txBox="1"/>
          <p:nvPr/>
        </p:nvSpPr>
        <p:spPr>
          <a:xfrm>
            <a:off x="717404" y="2496456"/>
            <a:ext cx="1944078" cy="369332"/>
          </a:xfrm>
          <a:prstGeom prst="rect">
            <a:avLst/>
          </a:prstGeom>
          <a:noFill/>
        </p:spPr>
        <p:txBody>
          <a:bodyPr wrap="square" rtlCol="0">
            <a:spAutoFit/>
          </a:bodyPr>
          <a:lstStyle/>
          <a:p>
            <a:pPr algn="ctr"/>
            <a:r>
              <a:rPr lang="en-US" u="sng"/>
              <a:t>Before P terminate</a:t>
            </a:r>
          </a:p>
        </p:txBody>
      </p:sp>
      <p:sp>
        <p:nvSpPr>
          <p:cNvPr id="83" name="TextBox 82"/>
          <p:cNvSpPr txBox="1"/>
          <p:nvPr/>
        </p:nvSpPr>
        <p:spPr>
          <a:xfrm>
            <a:off x="7033003" y="2496456"/>
            <a:ext cx="1944078" cy="369332"/>
          </a:xfrm>
          <a:prstGeom prst="rect">
            <a:avLst/>
          </a:prstGeom>
          <a:noFill/>
        </p:spPr>
        <p:txBody>
          <a:bodyPr wrap="square" rtlCol="0">
            <a:spAutoFit/>
          </a:bodyPr>
          <a:lstStyle/>
          <a:p>
            <a:pPr algn="ctr"/>
            <a:r>
              <a:rPr lang="en-US" u="sng"/>
              <a:t>After P terminate</a:t>
            </a:r>
          </a:p>
        </p:txBody>
      </p:sp>
      <p:sp>
        <p:nvSpPr>
          <p:cNvPr id="84" name="TextBox 83"/>
          <p:cNvSpPr txBox="1"/>
          <p:nvPr/>
        </p:nvSpPr>
        <p:spPr>
          <a:xfrm>
            <a:off x="3791181" y="2959490"/>
            <a:ext cx="1944078" cy="369332"/>
          </a:xfrm>
          <a:prstGeom prst="rect">
            <a:avLst/>
          </a:prstGeom>
          <a:noFill/>
        </p:spPr>
        <p:txBody>
          <a:bodyPr wrap="square" rtlCol="0">
            <a:spAutoFit/>
          </a:bodyPr>
          <a:lstStyle/>
          <a:p>
            <a:pPr algn="ctr"/>
            <a:r>
              <a:rPr lang="en-US"/>
              <a:t>P is replaced by H</a:t>
            </a:r>
          </a:p>
        </p:txBody>
      </p:sp>
      <p:sp>
        <p:nvSpPr>
          <p:cNvPr id="85" name="TextBox 84"/>
          <p:cNvSpPr txBox="1"/>
          <p:nvPr/>
        </p:nvSpPr>
        <p:spPr>
          <a:xfrm>
            <a:off x="3528780" y="3732668"/>
            <a:ext cx="2468880" cy="646331"/>
          </a:xfrm>
          <a:prstGeom prst="rect">
            <a:avLst/>
          </a:prstGeom>
          <a:noFill/>
        </p:spPr>
        <p:txBody>
          <a:bodyPr wrap="square" rtlCol="0">
            <a:spAutoFit/>
          </a:bodyPr>
          <a:lstStyle/>
          <a:p>
            <a:pPr algn="ctr"/>
            <a:r>
              <a:rPr lang="en-US"/>
              <a:t>P is replaced by H </a:t>
            </a:r>
          </a:p>
          <a:p>
            <a:pPr algn="ctr"/>
            <a:r>
              <a:rPr lang="en-US"/>
              <a:t>and two H are merged</a:t>
            </a:r>
          </a:p>
        </p:txBody>
      </p:sp>
      <p:sp>
        <p:nvSpPr>
          <p:cNvPr id="86" name="TextBox 85"/>
          <p:cNvSpPr txBox="1"/>
          <p:nvPr/>
        </p:nvSpPr>
        <p:spPr>
          <a:xfrm>
            <a:off x="3528780" y="4799468"/>
            <a:ext cx="2468880" cy="646331"/>
          </a:xfrm>
          <a:prstGeom prst="rect">
            <a:avLst/>
          </a:prstGeom>
          <a:noFill/>
        </p:spPr>
        <p:txBody>
          <a:bodyPr wrap="square" rtlCol="0">
            <a:spAutoFit/>
          </a:bodyPr>
          <a:lstStyle/>
          <a:p>
            <a:pPr algn="ctr"/>
            <a:r>
              <a:rPr lang="en-US"/>
              <a:t>P is replaced by H</a:t>
            </a:r>
          </a:p>
          <a:p>
            <a:pPr algn="ctr"/>
            <a:r>
              <a:rPr lang="en-US"/>
              <a:t>and two H are merged</a:t>
            </a:r>
          </a:p>
        </p:txBody>
      </p:sp>
      <p:sp>
        <p:nvSpPr>
          <p:cNvPr id="87" name="TextBox 86"/>
          <p:cNvSpPr txBox="1"/>
          <p:nvPr/>
        </p:nvSpPr>
        <p:spPr>
          <a:xfrm>
            <a:off x="3528780" y="5812525"/>
            <a:ext cx="2468880" cy="646331"/>
          </a:xfrm>
          <a:prstGeom prst="rect">
            <a:avLst/>
          </a:prstGeom>
          <a:noFill/>
        </p:spPr>
        <p:txBody>
          <a:bodyPr wrap="square" rtlCol="0">
            <a:spAutoFit/>
          </a:bodyPr>
          <a:lstStyle/>
          <a:p>
            <a:pPr algn="ctr"/>
            <a:r>
              <a:rPr lang="en-US"/>
              <a:t>P is replaced by H</a:t>
            </a:r>
          </a:p>
          <a:p>
            <a:pPr algn="ctr"/>
            <a:r>
              <a:rPr lang="en-US"/>
              <a:t>and three H are merged</a:t>
            </a:r>
          </a:p>
        </p:txBody>
      </p:sp>
    </p:spTree>
    <p:extLst>
      <p:ext uri="{BB962C8B-B14F-4D97-AF65-F5344CB8AC3E}">
        <p14:creationId xmlns:p14="http://schemas.microsoft.com/office/powerpoint/2010/main" val="356075702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2"/>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3"/>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8"/>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9"/>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5"/>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80"/>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7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6"/>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1"/>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51" grpId="0" animBg="1"/>
      <p:bldP spid="82" grpId="0"/>
      <p:bldP spid="83" grpId="0"/>
      <p:bldP spid="84" grpId="0"/>
      <p:bldP spid="85" grpId="0"/>
      <p:bldP spid="86" grpId="0"/>
      <p:bldP spid="8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Memory Allocation Policies</a:t>
            </a:r>
            <a:endParaRPr lang="en-US" dirty="0"/>
          </a:p>
        </p:txBody>
      </p:sp>
      <p:sp>
        <p:nvSpPr>
          <p:cNvPr id="3" name="Content Placeholder 2"/>
          <p:cNvSpPr>
            <a:spLocks noGrp="1"/>
          </p:cNvSpPr>
          <p:nvPr>
            <p:ph idx="1"/>
          </p:nvPr>
        </p:nvSpPr>
        <p:spPr/>
        <p:txBody>
          <a:bodyPr/>
          <a:lstStyle/>
          <a:p>
            <a:r>
              <a:rPr lang="en-US" dirty="0"/>
              <a:t>Four memory allocation algorithms are as follow</a:t>
            </a:r>
          </a:p>
          <a:p>
            <a:pPr marL="914400" lvl="1" indent="-457200">
              <a:buFont typeface="+mj-lt"/>
              <a:buAutoNum type="arabicPeriod"/>
            </a:pPr>
            <a:r>
              <a:rPr lang="en-US" dirty="0"/>
              <a:t>First fit</a:t>
            </a:r>
          </a:p>
          <a:p>
            <a:pPr marL="914400" lvl="1" indent="-457200">
              <a:buFont typeface="+mj-lt"/>
              <a:buAutoNum type="arabicPeriod"/>
            </a:pPr>
            <a:r>
              <a:rPr lang="en-US" dirty="0"/>
              <a:t>Next fit</a:t>
            </a:r>
          </a:p>
          <a:p>
            <a:pPr marL="914400" lvl="1" indent="-457200">
              <a:buFont typeface="+mj-lt"/>
              <a:buAutoNum type="arabicPeriod"/>
            </a:pPr>
            <a:r>
              <a:rPr lang="en-US" dirty="0"/>
              <a:t>Best fit</a:t>
            </a:r>
          </a:p>
          <a:p>
            <a:pPr marL="914400" lvl="1" indent="-457200">
              <a:buFont typeface="+mj-lt"/>
              <a:buAutoNum type="arabicPeriod"/>
            </a:pPr>
            <a:r>
              <a:rPr lang="en-US" dirty="0"/>
              <a:t>Worst fit</a:t>
            </a:r>
          </a:p>
        </p:txBody>
      </p:sp>
    </p:spTree>
    <p:extLst>
      <p:ext uri="{BB962C8B-B14F-4D97-AF65-F5344CB8AC3E}">
        <p14:creationId xmlns:p14="http://schemas.microsoft.com/office/powerpoint/2010/main" val="16938571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First fit</a:t>
            </a:r>
            <a:endParaRPr lang="en-US"/>
          </a:p>
        </p:txBody>
      </p:sp>
      <p:sp>
        <p:nvSpPr>
          <p:cNvPr id="3" name="Content Placeholder 2"/>
          <p:cNvSpPr>
            <a:spLocks noGrp="1"/>
          </p:cNvSpPr>
          <p:nvPr>
            <p:ph idx="1"/>
          </p:nvPr>
        </p:nvSpPr>
        <p:spPr/>
        <p:txBody>
          <a:bodyPr/>
          <a:lstStyle/>
          <a:p>
            <a:r>
              <a:rPr lang="en-US" dirty="0"/>
              <a:t>Search </a:t>
            </a:r>
            <a:r>
              <a:rPr lang="en-US" b="1" dirty="0">
                <a:solidFill>
                  <a:schemeClr val="accent6"/>
                </a:solidFill>
              </a:rPr>
              <a:t>starts from the starting location </a:t>
            </a:r>
            <a:r>
              <a:rPr lang="en-US" dirty="0"/>
              <a:t>of the memory.</a:t>
            </a:r>
          </a:p>
          <a:p>
            <a:r>
              <a:rPr lang="en-US" b="1" dirty="0">
                <a:solidFill>
                  <a:schemeClr val="accent6"/>
                </a:solidFill>
              </a:rPr>
              <a:t>First available hole that is large enough to hold the process is selected </a:t>
            </a:r>
            <a:r>
              <a:rPr lang="en-US" dirty="0"/>
              <a:t>for allocation.</a:t>
            </a:r>
          </a:p>
          <a:p>
            <a:r>
              <a:rPr lang="en-US" dirty="0"/>
              <a:t>The </a:t>
            </a:r>
            <a:r>
              <a:rPr lang="en-US" b="1" dirty="0">
                <a:solidFill>
                  <a:schemeClr val="accent6"/>
                </a:solidFill>
              </a:rPr>
              <a:t>hole is then broken up into two pieces</a:t>
            </a:r>
            <a:r>
              <a:rPr lang="en-US" dirty="0"/>
              <a:t>, one </a:t>
            </a:r>
            <a:r>
              <a:rPr lang="en-US" b="1" dirty="0">
                <a:solidFill>
                  <a:schemeClr val="accent6"/>
                </a:solidFill>
              </a:rPr>
              <a:t>for process </a:t>
            </a:r>
            <a:r>
              <a:rPr lang="en-US" dirty="0"/>
              <a:t>and another </a:t>
            </a:r>
            <a:r>
              <a:rPr lang="en-US" b="1" dirty="0">
                <a:solidFill>
                  <a:schemeClr val="accent6"/>
                </a:solidFill>
              </a:rPr>
              <a:t>for unused memory</a:t>
            </a:r>
            <a:r>
              <a:rPr lang="en-US" dirty="0"/>
              <a:t>.</a:t>
            </a:r>
          </a:p>
          <a:p>
            <a:r>
              <a:rPr lang="en-US" dirty="0"/>
              <a:t>Example: Processes of </a:t>
            </a:r>
            <a:r>
              <a:rPr lang="en-US" b="1" dirty="0">
                <a:solidFill>
                  <a:schemeClr val="tx2"/>
                </a:solidFill>
              </a:rPr>
              <a:t>212K, 417K, 112K</a:t>
            </a:r>
            <a:r>
              <a:rPr lang="en-US" dirty="0"/>
              <a:t> and </a:t>
            </a:r>
            <a:r>
              <a:rPr lang="en-US" b="1" dirty="0">
                <a:solidFill>
                  <a:schemeClr val="tx2"/>
                </a:solidFill>
              </a:rPr>
              <a:t>426K</a:t>
            </a:r>
            <a:r>
              <a:rPr lang="en-US" dirty="0"/>
              <a:t> arrives in order.</a:t>
            </a:r>
          </a:p>
          <a:p>
            <a:endParaRPr lang="en-US" b="1" dirty="0">
              <a:solidFill>
                <a:schemeClr val="accent6"/>
              </a:solidFill>
            </a:endParaRPr>
          </a:p>
          <a:p>
            <a:endParaRPr lang="en-US" b="1" dirty="0">
              <a:solidFill>
                <a:schemeClr val="accent6"/>
              </a:solidFill>
            </a:endParaRPr>
          </a:p>
          <a:p>
            <a:endParaRPr lang="en-US" b="1" dirty="0">
              <a:solidFill>
                <a:schemeClr val="accent6"/>
              </a:solidFill>
            </a:endParaRPr>
          </a:p>
          <a:p>
            <a:endParaRPr lang="en-US" b="1" dirty="0">
              <a:solidFill>
                <a:schemeClr val="accent6"/>
              </a:solidFill>
            </a:endParaRPr>
          </a:p>
          <a:p>
            <a:r>
              <a:rPr lang="en-US" dirty="0"/>
              <a:t>Here process of size </a:t>
            </a:r>
            <a:r>
              <a:rPr lang="en-US" b="1" dirty="0">
                <a:solidFill>
                  <a:schemeClr val="accent6"/>
                </a:solidFill>
              </a:rPr>
              <a:t>426k will not get any partition</a:t>
            </a:r>
            <a:r>
              <a:rPr lang="en-US" dirty="0"/>
              <a:t> for allocation.</a:t>
            </a:r>
          </a:p>
          <a:p>
            <a:r>
              <a:rPr lang="en-US" b="1" dirty="0">
                <a:solidFill>
                  <a:schemeClr val="accent6"/>
                </a:solidFill>
              </a:rPr>
              <a:t>Advantage: Fastest algorithm </a:t>
            </a:r>
            <a:r>
              <a:rPr lang="en-US" dirty="0"/>
              <a:t>because it searches as little as possible.</a:t>
            </a:r>
          </a:p>
          <a:p>
            <a:r>
              <a:rPr lang="en-US" b="1" dirty="0">
                <a:solidFill>
                  <a:schemeClr val="accent6"/>
                </a:solidFill>
              </a:rPr>
              <a:t>Disadvantage: Memory loss is higher</a:t>
            </a:r>
            <a:r>
              <a:rPr lang="en-US" dirty="0"/>
              <a:t>, as very large hole may be selected for small process.</a:t>
            </a:r>
          </a:p>
        </p:txBody>
      </p:sp>
      <p:sp>
        <p:nvSpPr>
          <p:cNvPr id="5" name="Rectangle 4"/>
          <p:cNvSpPr>
            <a:spLocks noChangeArrowheads="1"/>
          </p:cNvSpPr>
          <p:nvPr/>
        </p:nvSpPr>
        <p:spPr bwMode="auto">
          <a:xfrm>
            <a:off x="1638299" y="2942044"/>
            <a:ext cx="4572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6" name="Rectangle 5"/>
          <p:cNvSpPr>
            <a:spLocks noChangeArrowheads="1"/>
          </p:cNvSpPr>
          <p:nvPr/>
        </p:nvSpPr>
        <p:spPr bwMode="auto">
          <a:xfrm>
            <a:off x="2081483" y="2942044"/>
            <a:ext cx="22860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7" name="Rectangle 6"/>
          <p:cNvSpPr>
            <a:spLocks noChangeArrowheads="1"/>
          </p:cNvSpPr>
          <p:nvPr/>
        </p:nvSpPr>
        <p:spPr bwMode="auto">
          <a:xfrm>
            <a:off x="4353467" y="2942044"/>
            <a:ext cx="9144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8" name="Rectangle 7"/>
          <p:cNvSpPr>
            <a:spLocks noChangeArrowheads="1"/>
          </p:cNvSpPr>
          <p:nvPr/>
        </p:nvSpPr>
        <p:spPr bwMode="auto">
          <a:xfrm>
            <a:off x="5253851" y="2942044"/>
            <a:ext cx="13716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9" name="Rectangle 8"/>
          <p:cNvSpPr>
            <a:spLocks noChangeArrowheads="1"/>
          </p:cNvSpPr>
          <p:nvPr/>
        </p:nvSpPr>
        <p:spPr bwMode="auto">
          <a:xfrm>
            <a:off x="6611435" y="2942044"/>
            <a:ext cx="27432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10" name="Text Box 87"/>
          <p:cNvSpPr txBox="1">
            <a:spLocks noChangeArrowheads="1"/>
          </p:cNvSpPr>
          <p:nvPr/>
        </p:nvSpPr>
        <p:spPr bwMode="auto">
          <a:xfrm>
            <a:off x="1609724" y="2692553"/>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100k</a:t>
            </a:r>
            <a:endParaRPr lang="en-IN" sz="1100">
              <a:effectLst/>
              <a:latin typeface="+mj-lt"/>
              <a:ea typeface="Times New Roman" panose="02020603050405020304" pitchFamily="18" charset="0"/>
              <a:cs typeface="Times New Roman" panose="02020603050405020304" pitchFamily="18" charset="0"/>
            </a:endParaRPr>
          </a:p>
        </p:txBody>
      </p:sp>
      <p:sp>
        <p:nvSpPr>
          <p:cNvPr id="11" name="Text Box 88"/>
          <p:cNvSpPr txBox="1">
            <a:spLocks noChangeArrowheads="1"/>
          </p:cNvSpPr>
          <p:nvPr/>
        </p:nvSpPr>
        <p:spPr bwMode="auto">
          <a:xfrm>
            <a:off x="2967308" y="2692553"/>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500k</a:t>
            </a:r>
            <a:endParaRPr lang="en-IN" sz="1100">
              <a:effectLst/>
              <a:latin typeface="+mj-lt"/>
              <a:ea typeface="Times New Roman" panose="02020603050405020304" pitchFamily="18" charset="0"/>
              <a:cs typeface="Times New Roman" panose="02020603050405020304" pitchFamily="18" charset="0"/>
            </a:endParaRPr>
          </a:p>
        </p:txBody>
      </p:sp>
      <p:sp>
        <p:nvSpPr>
          <p:cNvPr id="12" name="Text Box 89"/>
          <p:cNvSpPr txBox="1">
            <a:spLocks noChangeArrowheads="1"/>
          </p:cNvSpPr>
          <p:nvPr/>
        </p:nvSpPr>
        <p:spPr bwMode="auto">
          <a:xfrm>
            <a:off x="4553492" y="2692553"/>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200k</a:t>
            </a:r>
            <a:endParaRPr lang="en-IN" sz="1100">
              <a:effectLst/>
              <a:latin typeface="+mj-lt"/>
              <a:ea typeface="Times New Roman" panose="02020603050405020304" pitchFamily="18" charset="0"/>
              <a:cs typeface="Times New Roman" panose="02020603050405020304" pitchFamily="18" charset="0"/>
            </a:endParaRPr>
          </a:p>
        </p:txBody>
      </p:sp>
      <p:sp>
        <p:nvSpPr>
          <p:cNvPr id="13" name="Text Box 90"/>
          <p:cNvSpPr txBox="1">
            <a:spLocks noChangeArrowheads="1"/>
          </p:cNvSpPr>
          <p:nvPr/>
        </p:nvSpPr>
        <p:spPr bwMode="auto">
          <a:xfrm>
            <a:off x="5682476" y="2692553"/>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300k</a:t>
            </a:r>
            <a:endParaRPr lang="en-IN" sz="1100">
              <a:effectLst/>
              <a:latin typeface="+mj-lt"/>
              <a:ea typeface="Times New Roman" panose="02020603050405020304" pitchFamily="18" charset="0"/>
              <a:cs typeface="Times New Roman" panose="02020603050405020304" pitchFamily="18" charset="0"/>
            </a:endParaRPr>
          </a:p>
        </p:txBody>
      </p:sp>
      <p:sp>
        <p:nvSpPr>
          <p:cNvPr id="14" name="Text Box 91"/>
          <p:cNvSpPr txBox="1">
            <a:spLocks noChangeArrowheads="1"/>
          </p:cNvSpPr>
          <p:nvPr/>
        </p:nvSpPr>
        <p:spPr bwMode="auto">
          <a:xfrm>
            <a:off x="7725860" y="2692553"/>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600k</a:t>
            </a:r>
            <a:endParaRPr lang="en-IN" sz="1100">
              <a:effectLst/>
              <a:latin typeface="+mj-lt"/>
              <a:ea typeface="Times New Roman" panose="02020603050405020304" pitchFamily="18" charset="0"/>
              <a:cs typeface="Times New Roman" panose="02020603050405020304" pitchFamily="18" charset="0"/>
            </a:endParaRPr>
          </a:p>
        </p:txBody>
      </p:sp>
      <p:sp>
        <p:nvSpPr>
          <p:cNvPr id="30" name="Rectangle 29"/>
          <p:cNvSpPr>
            <a:spLocks noChangeArrowheads="1"/>
          </p:cNvSpPr>
          <p:nvPr/>
        </p:nvSpPr>
        <p:spPr bwMode="auto">
          <a:xfrm>
            <a:off x="1638299" y="3735676"/>
            <a:ext cx="4572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31" name="Rectangle 30"/>
          <p:cNvSpPr>
            <a:spLocks noChangeArrowheads="1"/>
          </p:cNvSpPr>
          <p:nvPr/>
        </p:nvSpPr>
        <p:spPr bwMode="auto">
          <a:xfrm>
            <a:off x="2081483" y="3735676"/>
            <a:ext cx="22860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32" name="Rectangle 31"/>
          <p:cNvSpPr>
            <a:spLocks noChangeArrowheads="1"/>
          </p:cNvSpPr>
          <p:nvPr/>
        </p:nvSpPr>
        <p:spPr bwMode="auto">
          <a:xfrm>
            <a:off x="4353467" y="3735676"/>
            <a:ext cx="9144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33" name="Rectangle 32"/>
          <p:cNvSpPr>
            <a:spLocks noChangeArrowheads="1"/>
          </p:cNvSpPr>
          <p:nvPr/>
        </p:nvSpPr>
        <p:spPr bwMode="auto">
          <a:xfrm>
            <a:off x="5253851" y="3735676"/>
            <a:ext cx="13716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34" name="Rectangle 33"/>
          <p:cNvSpPr>
            <a:spLocks noChangeArrowheads="1"/>
          </p:cNvSpPr>
          <p:nvPr/>
        </p:nvSpPr>
        <p:spPr bwMode="auto">
          <a:xfrm>
            <a:off x="6611435" y="3735676"/>
            <a:ext cx="27432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35" name="Text Box 87"/>
          <p:cNvSpPr txBox="1">
            <a:spLocks noChangeArrowheads="1"/>
          </p:cNvSpPr>
          <p:nvPr/>
        </p:nvSpPr>
        <p:spPr bwMode="auto">
          <a:xfrm>
            <a:off x="1609724" y="3488943"/>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100k</a:t>
            </a:r>
            <a:endParaRPr lang="en-IN" sz="1100">
              <a:effectLst/>
              <a:latin typeface="+mj-lt"/>
              <a:ea typeface="Times New Roman" panose="02020603050405020304" pitchFamily="18" charset="0"/>
              <a:cs typeface="Times New Roman" panose="02020603050405020304" pitchFamily="18" charset="0"/>
            </a:endParaRPr>
          </a:p>
        </p:txBody>
      </p:sp>
      <p:sp>
        <p:nvSpPr>
          <p:cNvPr id="36" name="Text Box 88"/>
          <p:cNvSpPr txBox="1">
            <a:spLocks noChangeArrowheads="1"/>
          </p:cNvSpPr>
          <p:nvPr/>
        </p:nvSpPr>
        <p:spPr bwMode="auto">
          <a:xfrm>
            <a:off x="2967308" y="3488943"/>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500k</a:t>
            </a:r>
            <a:endParaRPr lang="en-IN" sz="1100">
              <a:effectLst/>
              <a:latin typeface="+mj-lt"/>
              <a:ea typeface="Times New Roman" panose="02020603050405020304" pitchFamily="18" charset="0"/>
              <a:cs typeface="Times New Roman" panose="02020603050405020304" pitchFamily="18" charset="0"/>
            </a:endParaRPr>
          </a:p>
        </p:txBody>
      </p:sp>
      <p:sp>
        <p:nvSpPr>
          <p:cNvPr id="37" name="Text Box 89"/>
          <p:cNvSpPr txBox="1">
            <a:spLocks noChangeArrowheads="1"/>
          </p:cNvSpPr>
          <p:nvPr/>
        </p:nvSpPr>
        <p:spPr bwMode="auto">
          <a:xfrm>
            <a:off x="4553492" y="3488943"/>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200k</a:t>
            </a:r>
            <a:endParaRPr lang="en-IN" sz="1100">
              <a:effectLst/>
              <a:latin typeface="+mj-lt"/>
              <a:ea typeface="Times New Roman" panose="02020603050405020304" pitchFamily="18" charset="0"/>
              <a:cs typeface="Times New Roman" panose="02020603050405020304" pitchFamily="18" charset="0"/>
            </a:endParaRPr>
          </a:p>
        </p:txBody>
      </p:sp>
      <p:sp>
        <p:nvSpPr>
          <p:cNvPr id="38" name="Text Box 90"/>
          <p:cNvSpPr txBox="1">
            <a:spLocks noChangeArrowheads="1"/>
          </p:cNvSpPr>
          <p:nvPr/>
        </p:nvSpPr>
        <p:spPr bwMode="auto">
          <a:xfrm>
            <a:off x="5682476" y="3488943"/>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300k</a:t>
            </a:r>
            <a:endParaRPr lang="en-IN" sz="1100">
              <a:effectLst/>
              <a:latin typeface="+mj-lt"/>
              <a:ea typeface="Times New Roman" panose="02020603050405020304" pitchFamily="18" charset="0"/>
              <a:cs typeface="Times New Roman" panose="02020603050405020304" pitchFamily="18" charset="0"/>
            </a:endParaRPr>
          </a:p>
        </p:txBody>
      </p:sp>
      <p:sp>
        <p:nvSpPr>
          <p:cNvPr id="39" name="Text Box 91"/>
          <p:cNvSpPr txBox="1">
            <a:spLocks noChangeArrowheads="1"/>
          </p:cNvSpPr>
          <p:nvPr/>
        </p:nvSpPr>
        <p:spPr bwMode="auto">
          <a:xfrm>
            <a:off x="7725860" y="3488943"/>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600k</a:t>
            </a:r>
            <a:endParaRPr lang="en-IN" sz="1100">
              <a:effectLst/>
              <a:latin typeface="+mj-lt"/>
              <a:ea typeface="Times New Roman" panose="02020603050405020304" pitchFamily="18" charset="0"/>
              <a:cs typeface="Times New Roman" panose="02020603050405020304" pitchFamily="18" charset="0"/>
            </a:endParaRPr>
          </a:p>
        </p:txBody>
      </p:sp>
      <p:sp>
        <p:nvSpPr>
          <p:cNvPr id="42" name="Text Box 105" descr="Light upward diagonal"/>
          <p:cNvSpPr txBox="1">
            <a:spLocks noChangeArrowheads="1"/>
          </p:cNvSpPr>
          <p:nvPr/>
        </p:nvSpPr>
        <p:spPr bwMode="auto">
          <a:xfrm>
            <a:off x="2081482" y="3735676"/>
            <a:ext cx="914400" cy="457200"/>
          </a:xfrm>
          <a:prstGeom prst="rect">
            <a:avLst/>
          </a:prstGeom>
          <a:pattFill prst="ltUpDiag">
            <a:fgClr>
              <a:srgbClr val="000000"/>
            </a:fgClr>
            <a:bgClr>
              <a:srgbClr val="FFFFFF"/>
            </a:bgClr>
          </a:pattFill>
          <a:ln w="19050">
            <a:solidFill>
              <a:schemeClr val="tx2"/>
            </a:solidFill>
            <a:miter lim="800000"/>
          </a:ln>
        </p:spPr>
        <p:txBody>
          <a:bodyPr rot="0" vert="horz" wrap="square" lIns="91440" tIns="45720" rIns="91440" bIns="45720" anchor="ctr" anchorCtr="0" upright="1">
            <a:noAutofit/>
          </a:bodyPr>
          <a:lstStyle/>
          <a:p>
            <a:pPr algn="ctr">
              <a:lnSpc>
                <a:spcPct val="115000"/>
              </a:lnSpc>
              <a:spcAft>
                <a:spcPts val="1000"/>
              </a:spcAft>
            </a:pPr>
            <a:r>
              <a:rPr lang="en-US" sz="1100" b="1">
                <a:ln w="3175">
                  <a:solidFill>
                    <a:schemeClr val="tx1"/>
                  </a:solidFill>
                </a:ln>
                <a:effectLst/>
                <a:latin typeface="+mj-lt"/>
                <a:ea typeface="Times New Roman" panose="02020603050405020304" pitchFamily="18" charset="0"/>
                <a:cs typeface="Times New Roman" panose="02020603050405020304" pitchFamily="18" charset="0"/>
              </a:rPr>
              <a:t>212k</a:t>
            </a:r>
            <a:endParaRPr lang="en-IN" sz="1100">
              <a:ln w="3175">
                <a:solidFill>
                  <a:schemeClr val="tx1"/>
                </a:solidFill>
              </a:ln>
              <a:effectLst/>
              <a:latin typeface="+mj-lt"/>
              <a:ea typeface="Times New Roman" panose="02020603050405020304" pitchFamily="18" charset="0"/>
              <a:cs typeface="Times New Roman" panose="02020603050405020304" pitchFamily="18" charset="0"/>
            </a:endParaRPr>
          </a:p>
        </p:txBody>
      </p:sp>
      <p:sp>
        <p:nvSpPr>
          <p:cNvPr id="43" name="Text Box 88"/>
          <p:cNvSpPr txBox="1">
            <a:spLocks noChangeArrowheads="1"/>
          </p:cNvSpPr>
          <p:nvPr/>
        </p:nvSpPr>
        <p:spPr bwMode="auto">
          <a:xfrm>
            <a:off x="3417499" y="3488943"/>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288k</a:t>
            </a:r>
            <a:endParaRPr lang="en-IN" sz="1100">
              <a:effectLst/>
              <a:latin typeface="+mj-lt"/>
              <a:ea typeface="Times New Roman" panose="02020603050405020304" pitchFamily="18" charset="0"/>
              <a:cs typeface="Times New Roman" panose="02020603050405020304" pitchFamily="18" charset="0"/>
            </a:endParaRPr>
          </a:p>
        </p:txBody>
      </p:sp>
      <p:sp>
        <p:nvSpPr>
          <p:cNvPr id="44" name="Text Box 105" descr="Light upward diagonal"/>
          <p:cNvSpPr txBox="1">
            <a:spLocks noChangeArrowheads="1"/>
          </p:cNvSpPr>
          <p:nvPr/>
        </p:nvSpPr>
        <p:spPr bwMode="auto">
          <a:xfrm>
            <a:off x="6606944" y="3735676"/>
            <a:ext cx="1828800" cy="457200"/>
          </a:xfrm>
          <a:prstGeom prst="rect">
            <a:avLst/>
          </a:prstGeom>
          <a:pattFill prst="ltUpDiag">
            <a:fgClr>
              <a:srgbClr val="000000"/>
            </a:fgClr>
            <a:bgClr>
              <a:srgbClr val="FFFFFF"/>
            </a:bgClr>
          </a:pattFill>
          <a:ln w="19050">
            <a:solidFill>
              <a:schemeClr val="tx2"/>
            </a:solidFill>
            <a:miter lim="800000"/>
          </a:ln>
        </p:spPr>
        <p:txBody>
          <a:bodyPr rot="0" vert="horz" wrap="square" lIns="91440" tIns="45720" rIns="91440" bIns="45720" anchor="ctr" anchorCtr="0" upright="1">
            <a:noAutofit/>
          </a:bodyPr>
          <a:lstStyle/>
          <a:p>
            <a:pPr algn="ctr">
              <a:lnSpc>
                <a:spcPct val="115000"/>
              </a:lnSpc>
              <a:spcAft>
                <a:spcPts val="1000"/>
              </a:spcAft>
            </a:pPr>
            <a:r>
              <a:rPr lang="en-US" sz="1100" b="1">
                <a:ln w="3175">
                  <a:solidFill>
                    <a:schemeClr val="tx1"/>
                  </a:solidFill>
                </a:ln>
                <a:effectLst/>
                <a:latin typeface="+mj-lt"/>
                <a:ea typeface="Times New Roman" panose="02020603050405020304" pitchFamily="18" charset="0"/>
                <a:cs typeface="Times New Roman" panose="02020603050405020304" pitchFamily="18" charset="0"/>
              </a:rPr>
              <a:t>417k</a:t>
            </a:r>
            <a:endParaRPr lang="en-IN" sz="1100">
              <a:ln w="3175">
                <a:solidFill>
                  <a:schemeClr val="tx1"/>
                </a:solidFill>
              </a:ln>
              <a:effectLst/>
              <a:latin typeface="+mj-lt"/>
              <a:ea typeface="Times New Roman" panose="02020603050405020304" pitchFamily="18" charset="0"/>
              <a:cs typeface="Times New Roman" panose="02020603050405020304" pitchFamily="18" charset="0"/>
            </a:endParaRPr>
          </a:p>
        </p:txBody>
      </p:sp>
      <p:sp>
        <p:nvSpPr>
          <p:cNvPr id="45" name="Text Box 91"/>
          <p:cNvSpPr txBox="1">
            <a:spLocks noChangeArrowheads="1"/>
          </p:cNvSpPr>
          <p:nvPr/>
        </p:nvSpPr>
        <p:spPr bwMode="auto">
          <a:xfrm>
            <a:off x="8638014" y="3488943"/>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183k</a:t>
            </a:r>
            <a:endParaRPr lang="en-IN" sz="1100">
              <a:effectLst/>
              <a:latin typeface="+mj-lt"/>
              <a:ea typeface="Times New Roman" panose="02020603050405020304" pitchFamily="18" charset="0"/>
              <a:cs typeface="Times New Roman" panose="02020603050405020304" pitchFamily="18" charset="0"/>
            </a:endParaRPr>
          </a:p>
        </p:txBody>
      </p:sp>
      <p:sp>
        <p:nvSpPr>
          <p:cNvPr id="28" name="Text Box 105" descr="Light upward diagonal"/>
          <p:cNvSpPr txBox="1">
            <a:spLocks noChangeArrowheads="1"/>
          </p:cNvSpPr>
          <p:nvPr/>
        </p:nvSpPr>
        <p:spPr bwMode="auto">
          <a:xfrm>
            <a:off x="3005408" y="3735676"/>
            <a:ext cx="603504" cy="457200"/>
          </a:xfrm>
          <a:prstGeom prst="rect">
            <a:avLst/>
          </a:prstGeom>
          <a:pattFill prst="ltUpDiag">
            <a:fgClr>
              <a:srgbClr val="000000"/>
            </a:fgClr>
            <a:bgClr>
              <a:srgbClr val="FFFFFF"/>
            </a:bgClr>
          </a:pattFill>
          <a:ln w="19050">
            <a:solidFill>
              <a:schemeClr val="tx2"/>
            </a:solidFill>
            <a:miter lim="800000"/>
          </a:ln>
        </p:spPr>
        <p:txBody>
          <a:bodyPr rot="0" vert="horz" wrap="square" lIns="91440" tIns="45720" rIns="91440" bIns="45720" anchor="ctr" anchorCtr="0" upright="1">
            <a:noAutofit/>
          </a:bodyPr>
          <a:lstStyle/>
          <a:p>
            <a:pPr algn="ctr">
              <a:lnSpc>
                <a:spcPct val="115000"/>
              </a:lnSpc>
              <a:spcAft>
                <a:spcPts val="1000"/>
              </a:spcAft>
            </a:pPr>
            <a:r>
              <a:rPr lang="en-US" sz="1100" b="1">
                <a:ln w="3175">
                  <a:solidFill>
                    <a:schemeClr val="tx1"/>
                  </a:solidFill>
                </a:ln>
                <a:effectLst/>
                <a:latin typeface="+mj-lt"/>
                <a:ea typeface="Times New Roman" panose="02020603050405020304" pitchFamily="18" charset="0"/>
                <a:cs typeface="Times New Roman" panose="02020603050405020304" pitchFamily="18" charset="0"/>
              </a:rPr>
              <a:t>112k</a:t>
            </a:r>
            <a:endParaRPr lang="en-IN" sz="1100">
              <a:ln w="3175">
                <a:solidFill>
                  <a:schemeClr val="tx1"/>
                </a:solidFill>
              </a:ln>
              <a:effectLst/>
              <a:latin typeface="+mj-lt"/>
              <a:ea typeface="Times New Roman" panose="02020603050405020304" pitchFamily="18" charset="0"/>
              <a:cs typeface="Times New Roman" panose="02020603050405020304" pitchFamily="18" charset="0"/>
            </a:endParaRPr>
          </a:p>
        </p:txBody>
      </p:sp>
      <p:sp>
        <p:nvSpPr>
          <p:cNvPr id="29" name="Text Box 88"/>
          <p:cNvSpPr txBox="1">
            <a:spLocks noChangeArrowheads="1"/>
          </p:cNvSpPr>
          <p:nvPr/>
        </p:nvSpPr>
        <p:spPr bwMode="auto">
          <a:xfrm>
            <a:off x="3723373" y="3488943"/>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176k</a:t>
            </a:r>
            <a:endParaRPr lang="en-IN" sz="1100">
              <a:effectLst/>
              <a:latin typeface="+mj-l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59010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0" end="0"/>
                                            </p:txEl>
                                          </p:spTgt>
                                        </p:tgtEl>
                                        <p:attrNameLst>
                                          <p:attrName>style.visibility</p:attrName>
                                        </p:attrNameLst>
                                      </p:cBhvr>
                                      <p:to>
                                        <p:strVal val="visible"/>
                                      </p:to>
                                    </p:set>
                                    <p:animEffect transition="in" filter="fade">
                                      <p:cBhvr>
                                        <p:cTn id="37" dur="500"/>
                                        <p:tgtEl>
                                          <p:spTgt spid="3">
                                            <p:txEl>
                                              <p:pRg st="0" end="0"/>
                                            </p:txEl>
                                          </p:spTgt>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1" end="1"/>
                                            </p:txEl>
                                          </p:spTgt>
                                        </p:tgtEl>
                                        <p:attrNameLst>
                                          <p:attrName>style.visibility</p:attrName>
                                        </p:attrNameLst>
                                      </p:cBhvr>
                                      <p:to>
                                        <p:strVal val="visible"/>
                                      </p:to>
                                    </p:set>
                                    <p:animEffect transition="in" filter="fade">
                                      <p:cBhvr>
                                        <p:cTn id="42" dur="500"/>
                                        <p:tgtEl>
                                          <p:spTgt spid="3">
                                            <p:txEl>
                                              <p:pRg st="1" end="1"/>
                                            </p:txEl>
                                          </p:spTgt>
                                        </p:tgtEl>
                                      </p:cBhvr>
                                    </p:animEffect>
                                  </p:childTnLst>
                                </p:cTn>
                              </p:par>
                            </p:childTnLst>
                          </p:cTn>
                        </p:par>
                      </p:childTnLst>
                    </p:cTn>
                  </p:par>
                  <p:par>
                    <p:cTn id="43" fill="hold" nodeType="clickPar">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2" end="2"/>
                                            </p:txEl>
                                          </p:spTgt>
                                        </p:tgtEl>
                                        <p:attrNameLst>
                                          <p:attrName>style.visibility</p:attrName>
                                        </p:attrNameLst>
                                      </p:cBhvr>
                                      <p:to>
                                        <p:strVal val="visible"/>
                                      </p:to>
                                    </p:set>
                                    <p:animEffect transition="in" filter="fade">
                                      <p:cBhvr>
                                        <p:cTn id="47" dur="500"/>
                                        <p:tgtEl>
                                          <p:spTgt spid="3">
                                            <p:txEl>
                                              <p:pRg st="2" end="2"/>
                                            </p:txEl>
                                          </p:spTgt>
                                        </p:tgtEl>
                                      </p:cBhvr>
                                    </p:animEffect>
                                  </p:childTnLst>
                                </p:cTn>
                              </p:par>
                            </p:childTnLst>
                          </p:cTn>
                        </p:par>
                      </p:childTnLst>
                    </p:cTn>
                  </p:par>
                  <p:par>
                    <p:cTn id="48" fill="hold" nodeType="clickPar">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3" end="3"/>
                                            </p:txEl>
                                          </p:spTgt>
                                        </p:tgtEl>
                                        <p:attrNameLst>
                                          <p:attrName>style.visibility</p:attrName>
                                        </p:attrNameLst>
                                      </p:cBhvr>
                                      <p:to>
                                        <p:strVal val="visible"/>
                                      </p:to>
                                    </p:set>
                                    <p:animEffect transition="in" filter="fade">
                                      <p:cBhvr>
                                        <p:cTn id="52" dur="500"/>
                                        <p:tgtEl>
                                          <p:spTgt spid="3">
                                            <p:txEl>
                                              <p:pRg st="3" end="3"/>
                                            </p:txEl>
                                          </p:spTgt>
                                        </p:tgtEl>
                                      </p:cBhvr>
                                    </p:animEffect>
                                  </p:childTnLst>
                                </p:cTn>
                              </p:par>
                            </p:childTnLst>
                          </p:cTn>
                        </p:par>
                      </p:childTnLst>
                    </p:cTn>
                  </p:par>
                  <p:par>
                    <p:cTn id="53" fill="hold" nodeType="clickPar">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500"/>
                                        <p:tgtEl>
                                          <p:spTgt spid="3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500"/>
                                        <p:tgtEl>
                                          <p:spTgt spid="3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fade">
                                      <p:cBhvr>
                                        <p:cTn id="63" dur="500"/>
                                        <p:tgtEl>
                                          <p:spTgt spid="3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4"/>
                                        </p:tgtEl>
                                        <p:attrNameLst>
                                          <p:attrName>style.visibility</p:attrName>
                                        </p:attrNameLst>
                                      </p:cBhvr>
                                      <p:to>
                                        <p:strVal val="visible"/>
                                      </p:to>
                                    </p:set>
                                    <p:animEffect transition="in" filter="fade">
                                      <p:cBhvr>
                                        <p:cTn id="66" dur="500"/>
                                        <p:tgtEl>
                                          <p:spTgt spid="3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5"/>
                                        </p:tgtEl>
                                        <p:attrNameLst>
                                          <p:attrName>style.visibility</p:attrName>
                                        </p:attrNameLst>
                                      </p:cBhvr>
                                      <p:to>
                                        <p:strVal val="visible"/>
                                      </p:to>
                                    </p:set>
                                    <p:animEffect transition="in" filter="fade">
                                      <p:cBhvr>
                                        <p:cTn id="69" dur="500"/>
                                        <p:tgtEl>
                                          <p:spTgt spid="3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6"/>
                                        </p:tgtEl>
                                        <p:attrNameLst>
                                          <p:attrName>style.visibility</p:attrName>
                                        </p:attrNameLst>
                                      </p:cBhvr>
                                      <p:to>
                                        <p:strVal val="visible"/>
                                      </p:to>
                                    </p:set>
                                    <p:animEffect transition="in" filter="fade">
                                      <p:cBhvr>
                                        <p:cTn id="72" dur="500"/>
                                        <p:tgtEl>
                                          <p:spTgt spid="3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7"/>
                                        </p:tgtEl>
                                        <p:attrNameLst>
                                          <p:attrName>style.visibility</p:attrName>
                                        </p:attrNameLst>
                                      </p:cBhvr>
                                      <p:to>
                                        <p:strVal val="visible"/>
                                      </p:to>
                                    </p:set>
                                    <p:animEffect transition="in" filter="fade">
                                      <p:cBhvr>
                                        <p:cTn id="75" dur="500"/>
                                        <p:tgtEl>
                                          <p:spTgt spid="3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8"/>
                                        </p:tgtEl>
                                        <p:attrNameLst>
                                          <p:attrName>style.visibility</p:attrName>
                                        </p:attrNameLst>
                                      </p:cBhvr>
                                      <p:to>
                                        <p:strVal val="visible"/>
                                      </p:to>
                                    </p:set>
                                    <p:animEffect transition="in" filter="fade">
                                      <p:cBhvr>
                                        <p:cTn id="78" dur="500"/>
                                        <p:tgtEl>
                                          <p:spTgt spid="3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9"/>
                                        </p:tgtEl>
                                        <p:attrNameLst>
                                          <p:attrName>style.visibility</p:attrName>
                                        </p:attrNameLst>
                                      </p:cBhvr>
                                      <p:to>
                                        <p:strVal val="visible"/>
                                      </p:to>
                                    </p:set>
                                    <p:animEffect transition="in" filter="fade">
                                      <p:cBhvr>
                                        <p:cTn id="81" dur="500"/>
                                        <p:tgtEl>
                                          <p:spTgt spid="39"/>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500"/>
                                        <p:tgtEl>
                                          <p:spTgt spid="31"/>
                                        </p:tgtEl>
                                      </p:cBhvr>
                                    </p:animEffect>
                                  </p:childTnLst>
                                </p:cTn>
                              </p:par>
                            </p:childTnLst>
                          </p:cTn>
                        </p:par>
                      </p:childTnLst>
                    </p:cTn>
                  </p:par>
                  <p:par>
                    <p:cTn id="85" fill="hold" nodeType="clickPar">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42"/>
                                        </p:tgtEl>
                                        <p:attrNameLst>
                                          <p:attrName>style.visibility</p:attrName>
                                        </p:attrNameLst>
                                      </p:cBhvr>
                                      <p:to>
                                        <p:strVal val="visible"/>
                                      </p:to>
                                    </p:set>
                                    <p:animEffect transition="in" filter="fade">
                                      <p:cBhvr>
                                        <p:cTn id="89" dur="500"/>
                                        <p:tgtEl>
                                          <p:spTgt spid="42"/>
                                        </p:tgtEl>
                                      </p:cBhvr>
                                    </p:animEffect>
                                  </p:childTnLst>
                                </p:cTn>
                              </p:par>
                            </p:childTnLst>
                          </p:cTn>
                        </p:par>
                      </p:childTnLst>
                    </p:cTn>
                  </p:par>
                  <p:par>
                    <p:cTn id="90" fill="hold" nodeType="clickPar">
                      <p:stCondLst>
                        <p:cond delay="indefinite"/>
                      </p:stCondLst>
                      <p:childTnLst>
                        <p:par>
                          <p:cTn id="91" fill="hold">
                            <p:stCondLst>
                              <p:cond delay="0"/>
                            </p:stCondLst>
                            <p:childTnLst>
                              <p:par>
                                <p:cTn id="92" presetID="10" presetClass="exit" presetSubtype="0" fill="hold" grpId="1" nodeType="clickEffect">
                                  <p:stCondLst>
                                    <p:cond delay="0"/>
                                  </p:stCondLst>
                                  <p:childTnLst>
                                    <p:animEffect transition="out" filter="fade">
                                      <p:cBhvr>
                                        <p:cTn id="93" dur="500"/>
                                        <p:tgtEl>
                                          <p:spTgt spid="36"/>
                                        </p:tgtEl>
                                      </p:cBhvr>
                                    </p:animEffect>
                                    <p:set>
                                      <p:cBhvr>
                                        <p:cTn id="94" dur="1" fill="hold">
                                          <p:stCondLst>
                                            <p:cond delay="499"/>
                                          </p:stCondLst>
                                        </p:cTn>
                                        <p:tgtEl>
                                          <p:spTgt spid="36"/>
                                        </p:tgtEl>
                                        <p:attrNameLst>
                                          <p:attrName>style.visibility</p:attrName>
                                        </p:attrNameLst>
                                      </p:cBhvr>
                                      <p:to>
                                        <p:strVal val="hidden"/>
                                      </p:to>
                                    </p:set>
                                  </p:childTnLst>
                                </p:cTn>
                              </p:par>
                              <p:par>
                                <p:cTn id="95" presetID="10" presetClass="entr" presetSubtype="0" fill="hold" grpId="0" nodeType="withEffect">
                                  <p:stCondLst>
                                    <p:cond delay="0"/>
                                  </p:stCondLst>
                                  <p:childTnLst>
                                    <p:set>
                                      <p:cBhvr>
                                        <p:cTn id="96" dur="1" fill="hold">
                                          <p:stCondLst>
                                            <p:cond delay="0"/>
                                          </p:stCondLst>
                                        </p:cTn>
                                        <p:tgtEl>
                                          <p:spTgt spid="43"/>
                                        </p:tgtEl>
                                        <p:attrNameLst>
                                          <p:attrName>style.visibility</p:attrName>
                                        </p:attrNameLst>
                                      </p:cBhvr>
                                      <p:to>
                                        <p:strVal val="visible"/>
                                      </p:to>
                                    </p:set>
                                    <p:animEffect transition="in" filter="fade">
                                      <p:cBhvr>
                                        <p:cTn id="97" dur="500"/>
                                        <p:tgtEl>
                                          <p:spTgt spid="43"/>
                                        </p:tgtEl>
                                      </p:cBhvr>
                                    </p:animEffect>
                                  </p:childTnLst>
                                </p:cTn>
                              </p:par>
                            </p:childTnLst>
                          </p:cTn>
                        </p:par>
                      </p:childTnLst>
                    </p:cTn>
                  </p:par>
                  <p:par>
                    <p:cTn id="98" fill="hold" nodeType="clickPar">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44"/>
                                        </p:tgtEl>
                                        <p:attrNameLst>
                                          <p:attrName>style.visibility</p:attrName>
                                        </p:attrNameLst>
                                      </p:cBhvr>
                                      <p:to>
                                        <p:strVal val="visible"/>
                                      </p:to>
                                    </p:set>
                                    <p:animEffect transition="in" filter="fade">
                                      <p:cBhvr>
                                        <p:cTn id="102" dur="500"/>
                                        <p:tgtEl>
                                          <p:spTgt spid="44"/>
                                        </p:tgtEl>
                                      </p:cBhvr>
                                    </p:animEffect>
                                  </p:childTnLst>
                                </p:cTn>
                              </p:par>
                            </p:childTnLst>
                          </p:cTn>
                        </p:par>
                      </p:childTnLst>
                    </p:cTn>
                  </p:par>
                  <p:par>
                    <p:cTn id="103" fill="hold" nodeType="clickPar">
                      <p:stCondLst>
                        <p:cond delay="indefinite"/>
                      </p:stCondLst>
                      <p:childTnLst>
                        <p:par>
                          <p:cTn id="104" fill="hold">
                            <p:stCondLst>
                              <p:cond delay="0"/>
                            </p:stCondLst>
                            <p:childTnLst>
                              <p:par>
                                <p:cTn id="105" presetID="10" presetClass="exit" presetSubtype="0" fill="hold" grpId="1" nodeType="clickEffect">
                                  <p:stCondLst>
                                    <p:cond delay="0"/>
                                  </p:stCondLst>
                                  <p:childTnLst>
                                    <p:animEffect transition="out" filter="fade">
                                      <p:cBhvr>
                                        <p:cTn id="106" dur="500"/>
                                        <p:tgtEl>
                                          <p:spTgt spid="39"/>
                                        </p:tgtEl>
                                      </p:cBhvr>
                                    </p:animEffect>
                                    <p:set>
                                      <p:cBhvr>
                                        <p:cTn id="107" dur="1" fill="hold">
                                          <p:stCondLst>
                                            <p:cond delay="499"/>
                                          </p:stCondLst>
                                        </p:cTn>
                                        <p:tgtEl>
                                          <p:spTgt spid="39"/>
                                        </p:tgtEl>
                                        <p:attrNameLst>
                                          <p:attrName>style.visibility</p:attrName>
                                        </p:attrNameLst>
                                      </p:cBhvr>
                                      <p:to>
                                        <p:strVal val="hidden"/>
                                      </p:to>
                                    </p:set>
                                  </p:childTnLst>
                                </p:cTn>
                              </p:par>
                              <p:par>
                                <p:cTn id="108" presetID="10" presetClass="entr" presetSubtype="0" fill="hold" grpId="0" nodeType="withEffect">
                                  <p:stCondLst>
                                    <p:cond delay="0"/>
                                  </p:stCondLst>
                                  <p:childTnLst>
                                    <p:set>
                                      <p:cBhvr>
                                        <p:cTn id="109" dur="1" fill="hold">
                                          <p:stCondLst>
                                            <p:cond delay="0"/>
                                          </p:stCondLst>
                                        </p:cTn>
                                        <p:tgtEl>
                                          <p:spTgt spid="45"/>
                                        </p:tgtEl>
                                        <p:attrNameLst>
                                          <p:attrName>style.visibility</p:attrName>
                                        </p:attrNameLst>
                                      </p:cBhvr>
                                      <p:to>
                                        <p:strVal val="visible"/>
                                      </p:to>
                                    </p:set>
                                    <p:animEffect transition="in" filter="fade">
                                      <p:cBhvr>
                                        <p:cTn id="110" dur="500"/>
                                        <p:tgtEl>
                                          <p:spTgt spid="45"/>
                                        </p:tgtEl>
                                      </p:cBhvr>
                                    </p:animEffect>
                                  </p:childTnLst>
                                </p:cTn>
                              </p:par>
                            </p:childTnLst>
                          </p:cTn>
                        </p:par>
                      </p:childTnLst>
                    </p:cTn>
                  </p:par>
                  <p:par>
                    <p:cTn id="111" fill="hold" nodeType="clickPar">
                      <p:stCondLst>
                        <p:cond delay="indefinite"/>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28"/>
                                        </p:tgtEl>
                                        <p:attrNameLst>
                                          <p:attrName>style.visibility</p:attrName>
                                        </p:attrNameLst>
                                      </p:cBhvr>
                                      <p:to>
                                        <p:strVal val="visible"/>
                                      </p:to>
                                    </p:set>
                                    <p:animEffect transition="in" filter="fade">
                                      <p:cBhvr>
                                        <p:cTn id="115" dur="500"/>
                                        <p:tgtEl>
                                          <p:spTgt spid="28"/>
                                        </p:tgtEl>
                                      </p:cBhvr>
                                    </p:animEffect>
                                  </p:childTnLst>
                                </p:cTn>
                              </p:par>
                            </p:childTnLst>
                          </p:cTn>
                        </p:par>
                      </p:childTnLst>
                    </p:cTn>
                  </p:par>
                  <p:par>
                    <p:cTn id="116" fill="hold" nodeType="clickPar">
                      <p:stCondLst>
                        <p:cond delay="indefinite"/>
                      </p:stCondLst>
                      <p:childTnLst>
                        <p:par>
                          <p:cTn id="117" fill="hold">
                            <p:stCondLst>
                              <p:cond delay="0"/>
                            </p:stCondLst>
                            <p:childTnLst>
                              <p:par>
                                <p:cTn id="118" presetID="10" presetClass="exit" presetSubtype="0" fill="hold" grpId="1" nodeType="clickEffect">
                                  <p:stCondLst>
                                    <p:cond delay="0"/>
                                  </p:stCondLst>
                                  <p:childTnLst>
                                    <p:animEffect transition="out" filter="fade">
                                      <p:cBhvr>
                                        <p:cTn id="119" dur="500"/>
                                        <p:tgtEl>
                                          <p:spTgt spid="43"/>
                                        </p:tgtEl>
                                      </p:cBhvr>
                                    </p:animEffect>
                                    <p:set>
                                      <p:cBhvr>
                                        <p:cTn id="120" dur="1" fill="hold">
                                          <p:stCondLst>
                                            <p:cond delay="499"/>
                                          </p:stCondLst>
                                        </p:cTn>
                                        <p:tgtEl>
                                          <p:spTgt spid="43"/>
                                        </p:tgtEl>
                                        <p:attrNameLst>
                                          <p:attrName>style.visibility</p:attrName>
                                        </p:attrNameLst>
                                      </p:cBhvr>
                                      <p:to>
                                        <p:strVal val="hidden"/>
                                      </p:to>
                                    </p:set>
                                  </p:childTnLst>
                                </p:cTn>
                              </p:par>
                              <p:par>
                                <p:cTn id="121" presetID="10" presetClass="entr" presetSubtype="0" fill="hold" grpId="0" nodeType="withEffect">
                                  <p:stCondLst>
                                    <p:cond delay="0"/>
                                  </p:stCondLst>
                                  <p:childTnLst>
                                    <p:set>
                                      <p:cBhvr>
                                        <p:cTn id="122" dur="1" fill="hold">
                                          <p:stCondLst>
                                            <p:cond delay="0"/>
                                          </p:stCondLst>
                                        </p:cTn>
                                        <p:tgtEl>
                                          <p:spTgt spid="29"/>
                                        </p:tgtEl>
                                        <p:attrNameLst>
                                          <p:attrName>style.visibility</p:attrName>
                                        </p:attrNameLst>
                                      </p:cBhvr>
                                      <p:to>
                                        <p:strVal val="visible"/>
                                      </p:to>
                                    </p:set>
                                    <p:animEffect transition="in" filter="fade">
                                      <p:cBhvr>
                                        <p:cTn id="123" dur="500"/>
                                        <p:tgtEl>
                                          <p:spTgt spid="29"/>
                                        </p:tgtEl>
                                      </p:cBhvr>
                                    </p:animEffect>
                                  </p:childTnLst>
                                </p:cTn>
                              </p:par>
                            </p:childTnLst>
                          </p:cTn>
                        </p:par>
                      </p:childTnLst>
                    </p:cTn>
                  </p:par>
                  <p:par>
                    <p:cTn id="124" fill="hold" nodeType="clickPar">
                      <p:stCondLst>
                        <p:cond delay="indefinite"/>
                      </p:stCondLst>
                      <p:childTnLst>
                        <p:par>
                          <p:cTn id="125" fill="hold">
                            <p:stCondLst>
                              <p:cond delay="0"/>
                            </p:stCondLst>
                            <p:childTnLst>
                              <p:par>
                                <p:cTn id="126" presetID="10" presetClass="entr" presetSubtype="0" fill="hold" nodeType="clickEffect">
                                  <p:stCondLst>
                                    <p:cond delay="0"/>
                                  </p:stCondLst>
                                  <p:childTnLst>
                                    <p:set>
                                      <p:cBhvr>
                                        <p:cTn id="127" dur="1" fill="hold">
                                          <p:stCondLst>
                                            <p:cond delay="0"/>
                                          </p:stCondLst>
                                        </p:cTn>
                                        <p:tgtEl>
                                          <p:spTgt spid="3">
                                            <p:txEl>
                                              <p:pRg st="8" end="8"/>
                                            </p:txEl>
                                          </p:spTgt>
                                        </p:tgtEl>
                                        <p:attrNameLst>
                                          <p:attrName>style.visibility</p:attrName>
                                        </p:attrNameLst>
                                      </p:cBhvr>
                                      <p:to>
                                        <p:strVal val="visible"/>
                                      </p:to>
                                    </p:set>
                                    <p:animEffect transition="in" filter="fade">
                                      <p:cBhvr>
                                        <p:cTn id="128" dur="500"/>
                                        <p:tgtEl>
                                          <p:spTgt spid="3">
                                            <p:txEl>
                                              <p:pRg st="8" end="8"/>
                                            </p:txEl>
                                          </p:spTgt>
                                        </p:tgtEl>
                                      </p:cBhvr>
                                    </p:animEffect>
                                  </p:childTnLst>
                                </p:cTn>
                              </p:par>
                            </p:childTnLst>
                          </p:cTn>
                        </p:par>
                      </p:childTnLst>
                    </p:cTn>
                  </p:par>
                  <p:par>
                    <p:cTn id="129" fill="hold" nodeType="clickPar">
                      <p:stCondLst>
                        <p:cond delay="indefinite"/>
                      </p:stCondLst>
                      <p:childTnLst>
                        <p:par>
                          <p:cTn id="130" fill="hold">
                            <p:stCondLst>
                              <p:cond delay="0"/>
                            </p:stCondLst>
                            <p:childTnLst>
                              <p:par>
                                <p:cTn id="131" presetID="10" presetClass="entr" presetSubtype="0" fill="hold" nodeType="clickEffect">
                                  <p:stCondLst>
                                    <p:cond delay="0"/>
                                  </p:stCondLst>
                                  <p:childTnLst>
                                    <p:set>
                                      <p:cBhvr>
                                        <p:cTn id="132" dur="1" fill="hold">
                                          <p:stCondLst>
                                            <p:cond delay="0"/>
                                          </p:stCondLst>
                                        </p:cTn>
                                        <p:tgtEl>
                                          <p:spTgt spid="3">
                                            <p:txEl>
                                              <p:pRg st="9" end="9"/>
                                            </p:txEl>
                                          </p:spTgt>
                                        </p:tgtEl>
                                        <p:attrNameLst>
                                          <p:attrName>style.visibility</p:attrName>
                                        </p:attrNameLst>
                                      </p:cBhvr>
                                      <p:to>
                                        <p:strVal val="visible"/>
                                      </p:to>
                                    </p:set>
                                    <p:animEffect transition="in" filter="fade">
                                      <p:cBhvr>
                                        <p:cTn id="133" dur="500"/>
                                        <p:tgtEl>
                                          <p:spTgt spid="3">
                                            <p:txEl>
                                              <p:pRg st="9" end="9"/>
                                            </p:txEl>
                                          </p:spTgt>
                                        </p:tgtEl>
                                      </p:cBhvr>
                                    </p:animEffect>
                                  </p:childTnLst>
                                </p:cTn>
                              </p:par>
                            </p:childTnLst>
                          </p:cTn>
                        </p:par>
                      </p:childTnLst>
                    </p:cTn>
                  </p:par>
                  <p:par>
                    <p:cTn id="134" fill="hold" nodeType="clickPar">
                      <p:stCondLst>
                        <p:cond delay="indefinite"/>
                      </p:stCondLst>
                      <p:childTnLst>
                        <p:par>
                          <p:cTn id="135" fill="hold">
                            <p:stCondLst>
                              <p:cond delay="0"/>
                            </p:stCondLst>
                            <p:childTnLst>
                              <p:par>
                                <p:cTn id="136" presetID="10" presetClass="entr" presetSubtype="0" fill="hold" nodeType="clickEffect">
                                  <p:stCondLst>
                                    <p:cond delay="0"/>
                                  </p:stCondLst>
                                  <p:childTnLst>
                                    <p:set>
                                      <p:cBhvr>
                                        <p:cTn id="137" dur="1" fill="hold">
                                          <p:stCondLst>
                                            <p:cond delay="0"/>
                                          </p:stCondLst>
                                        </p:cTn>
                                        <p:tgtEl>
                                          <p:spTgt spid="3">
                                            <p:txEl>
                                              <p:pRg st="10" end="10"/>
                                            </p:txEl>
                                          </p:spTgt>
                                        </p:tgtEl>
                                        <p:attrNameLst>
                                          <p:attrName>style.visibility</p:attrName>
                                        </p:attrNameLst>
                                      </p:cBhvr>
                                      <p:to>
                                        <p:strVal val="visible"/>
                                      </p:to>
                                    </p:set>
                                    <p:animEffect transition="in" filter="fade">
                                      <p:cBhvr>
                                        <p:cTn id="138"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p:bldP spid="11" grpId="0"/>
      <p:bldP spid="12" grpId="0"/>
      <p:bldP spid="13" grpId="0"/>
      <p:bldP spid="14" grpId="0"/>
      <p:bldP spid="30" grpId="0" animBg="1"/>
      <p:bldP spid="31" grpId="0" animBg="1"/>
      <p:bldP spid="32" grpId="0" animBg="1"/>
      <p:bldP spid="33" grpId="0" animBg="1"/>
      <p:bldP spid="34" grpId="0" animBg="1"/>
      <p:bldP spid="35" grpId="0"/>
      <p:bldP spid="36" grpId="0"/>
      <p:bldP spid="36" grpId="1"/>
      <p:bldP spid="37" grpId="0"/>
      <p:bldP spid="38" grpId="0"/>
      <p:bldP spid="39" grpId="0"/>
      <p:bldP spid="39" grpId="1"/>
      <p:bldP spid="42" grpId="0" animBg="1"/>
      <p:bldP spid="43" grpId="0"/>
      <p:bldP spid="43" grpId="1"/>
      <p:bldP spid="44" grpId="0" animBg="1"/>
      <p:bldP spid="45" grpId="0"/>
      <p:bldP spid="28" grpId="0" animBg="1"/>
      <p:bldP spid="2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Next fit</a:t>
            </a:r>
            <a:endParaRPr lang="en-US"/>
          </a:p>
        </p:txBody>
      </p:sp>
      <p:sp>
        <p:nvSpPr>
          <p:cNvPr id="3" name="Content Placeholder 2"/>
          <p:cNvSpPr>
            <a:spLocks noGrp="1"/>
          </p:cNvSpPr>
          <p:nvPr>
            <p:ph idx="1"/>
          </p:nvPr>
        </p:nvSpPr>
        <p:spPr/>
        <p:txBody>
          <a:bodyPr/>
          <a:lstStyle/>
          <a:p>
            <a:r>
              <a:rPr lang="en-US" dirty="0"/>
              <a:t>It works in the same way as first fit, except that </a:t>
            </a:r>
            <a:r>
              <a:rPr lang="en-US" b="1" dirty="0">
                <a:solidFill>
                  <a:schemeClr val="accent6"/>
                </a:solidFill>
              </a:rPr>
              <a:t>it keeps the track of where it is whenever it finds a suitable hole</a:t>
            </a:r>
            <a:r>
              <a:rPr lang="en-US" dirty="0"/>
              <a:t>.</a:t>
            </a:r>
          </a:p>
          <a:p>
            <a:r>
              <a:rPr lang="en-US" dirty="0"/>
              <a:t>The </a:t>
            </a:r>
            <a:r>
              <a:rPr lang="en-US" b="1" dirty="0">
                <a:solidFill>
                  <a:schemeClr val="accent6"/>
                </a:solidFill>
              </a:rPr>
              <a:t>next time when it is called to find a hole, it starts searching the list from the place where it left off last time</a:t>
            </a:r>
            <a:r>
              <a:rPr lang="en-US" dirty="0"/>
              <a:t>.</a:t>
            </a:r>
          </a:p>
          <a:p>
            <a:r>
              <a:rPr lang="en-US" dirty="0"/>
              <a:t>Example: Processes of </a:t>
            </a:r>
            <a:r>
              <a:rPr lang="en-US" b="1" dirty="0">
                <a:solidFill>
                  <a:schemeClr val="tx2"/>
                </a:solidFill>
              </a:rPr>
              <a:t>212K, 417K, 112K</a:t>
            </a:r>
            <a:r>
              <a:rPr lang="en-US" dirty="0"/>
              <a:t> and </a:t>
            </a:r>
            <a:r>
              <a:rPr lang="en-US" b="1" dirty="0">
                <a:solidFill>
                  <a:schemeClr val="tx2"/>
                </a:solidFill>
              </a:rPr>
              <a:t>426K</a:t>
            </a:r>
            <a:r>
              <a:rPr lang="en-US" dirty="0"/>
              <a:t> arrives in order.</a:t>
            </a:r>
          </a:p>
          <a:p>
            <a:endParaRPr lang="en-US" b="1" dirty="0">
              <a:solidFill>
                <a:schemeClr val="accent6"/>
              </a:solidFill>
            </a:endParaRPr>
          </a:p>
          <a:p>
            <a:endParaRPr lang="en-US" b="1" dirty="0">
              <a:solidFill>
                <a:schemeClr val="accent6"/>
              </a:solidFill>
            </a:endParaRPr>
          </a:p>
          <a:p>
            <a:endParaRPr lang="en-US" b="1" dirty="0">
              <a:solidFill>
                <a:schemeClr val="accent6"/>
              </a:solidFill>
            </a:endParaRPr>
          </a:p>
          <a:p>
            <a:endParaRPr lang="en-US" b="1" dirty="0">
              <a:solidFill>
                <a:schemeClr val="accent6"/>
              </a:solidFill>
            </a:endParaRPr>
          </a:p>
          <a:p>
            <a:r>
              <a:rPr lang="en-US" dirty="0"/>
              <a:t>Here process of size </a:t>
            </a:r>
            <a:r>
              <a:rPr lang="en-US" b="1" dirty="0">
                <a:solidFill>
                  <a:schemeClr val="accent6"/>
                </a:solidFill>
              </a:rPr>
              <a:t>426k will not get any partition</a:t>
            </a:r>
            <a:r>
              <a:rPr lang="en-US" dirty="0"/>
              <a:t> for allocation.</a:t>
            </a:r>
          </a:p>
          <a:p>
            <a:r>
              <a:rPr lang="en-US" b="1" dirty="0">
                <a:solidFill>
                  <a:schemeClr val="accent6"/>
                </a:solidFill>
              </a:rPr>
              <a:t>Advantage: Search time is smaller.</a:t>
            </a:r>
          </a:p>
          <a:p>
            <a:r>
              <a:rPr lang="en-US" b="1" dirty="0">
                <a:solidFill>
                  <a:srgbClr val="C00000"/>
                </a:solidFill>
              </a:rPr>
              <a:t>Disadvantages</a:t>
            </a:r>
            <a:r>
              <a:rPr lang="en-US" dirty="0"/>
              <a:t> : Memory manager must have to </a:t>
            </a:r>
            <a:r>
              <a:rPr lang="en-US" b="1" dirty="0">
                <a:solidFill>
                  <a:schemeClr val="accent6"/>
                </a:solidFill>
              </a:rPr>
              <a:t>keep track of last allotted hole to process</a:t>
            </a:r>
            <a:r>
              <a:rPr lang="en-US" dirty="0"/>
              <a:t>.</a:t>
            </a:r>
          </a:p>
          <a:p>
            <a:r>
              <a:rPr lang="en-US" dirty="0"/>
              <a:t>It </a:t>
            </a:r>
            <a:r>
              <a:rPr lang="en-US" b="1" dirty="0">
                <a:solidFill>
                  <a:schemeClr val="accent6"/>
                </a:solidFill>
              </a:rPr>
              <a:t>gives slightly worse performance </a:t>
            </a:r>
            <a:r>
              <a:rPr lang="en-US" dirty="0"/>
              <a:t>than first fit.</a:t>
            </a:r>
          </a:p>
        </p:txBody>
      </p:sp>
      <p:sp>
        <p:nvSpPr>
          <p:cNvPr id="5" name="Rectangle 4"/>
          <p:cNvSpPr>
            <a:spLocks noChangeArrowheads="1"/>
          </p:cNvSpPr>
          <p:nvPr/>
        </p:nvSpPr>
        <p:spPr bwMode="auto">
          <a:xfrm>
            <a:off x="1638299" y="3261354"/>
            <a:ext cx="4572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6" name="Rectangle 5"/>
          <p:cNvSpPr>
            <a:spLocks noChangeArrowheads="1"/>
          </p:cNvSpPr>
          <p:nvPr/>
        </p:nvSpPr>
        <p:spPr bwMode="auto">
          <a:xfrm>
            <a:off x="2081483" y="3261354"/>
            <a:ext cx="22860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7" name="Rectangle 6"/>
          <p:cNvSpPr>
            <a:spLocks noChangeArrowheads="1"/>
          </p:cNvSpPr>
          <p:nvPr/>
        </p:nvSpPr>
        <p:spPr bwMode="auto">
          <a:xfrm>
            <a:off x="4353467" y="3261354"/>
            <a:ext cx="9144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8" name="Rectangle 7"/>
          <p:cNvSpPr>
            <a:spLocks noChangeArrowheads="1"/>
          </p:cNvSpPr>
          <p:nvPr/>
        </p:nvSpPr>
        <p:spPr bwMode="auto">
          <a:xfrm>
            <a:off x="5253851" y="3261354"/>
            <a:ext cx="13716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9" name="Rectangle 8"/>
          <p:cNvSpPr>
            <a:spLocks noChangeArrowheads="1"/>
          </p:cNvSpPr>
          <p:nvPr/>
        </p:nvSpPr>
        <p:spPr bwMode="auto">
          <a:xfrm>
            <a:off x="6611435" y="3261354"/>
            <a:ext cx="27432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10" name="Text Box 87"/>
          <p:cNvSpPr txBox="1">
            <a:spLocks noChangeArrowheads="1"/>
          </p:cNvSpPr>
          <p:nvPr/>
        </p:nvSpPr>
        <p:spPr bwMode="auto">
          <a:xfrm>
            <a:off x="1609724" y="3011863"/>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100k</a:t>
            </a:r>
            <a:endParaRPr lang="en-IN" sz="1100">
              <a:effectLst/>
              <a:latin typeface="+mj-lt"/>
              <a:ea typeface="Times New Roman" panose="02020603050405020304" pitchFamily="18" charset="0"/>
              <a:cs typeface="Times New Roman" panose="02020603050405020304" pitchFamily="18" charset="0"/>
            </a:endParaRPr>
          </a:p>
        </p:txBody>
      </p:sp>
      <p:sp>
        <p:nvSpPr>
          <p:cNvPr id="11" name="Text Box 88"/>
          <p:cNvSpPr txBox="1">
            <a:spLocks noChangeArrowheads="1"/>
          </p:cNvSpPr>
          <p:nvPr/>
        </p:nvSpPr>
        <p:spPr bwMode="auto">
          <a:xfrm>
            <a:off x="2967308" y="3011863"/>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500k</a:t>
            </a:r>
            <a:endParaRPr lang="en-IN" sz="1100">
              <a:effectLst/>
              <a:latin typeface="+mj-lt"/>
              <a:ea typeface="Times New Roman" panose="02020603050405020304" pitchFamily="18" charset="0"/>
              <a:cs typeface="Times New Roman" panose="02020603050405020304" pitchFamily="18" charset="0"/>
            </a:endParaRPr>
          </a:p>
        </p:txBody>
      </p:sp>
      <p:sp>
        <p:nvSpPr>
          <p:cNvPr id="12" name="Text Box 89"/>
          <p:cNvSpPr txBox="1">
            <a:spLocks noChangeArrowheads="1"/>
          </p:cNvSpPr>
          <p:nvPr/>
        </p:nvSpPr>
        <p:spPr bwMode="auto">
          <a:xfrm>
            <a:off x="4553492" y="3011863"/>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200k</a:t>
            </a:r>
            <a:endParaRPr lang="en-IN" sz="1100">
              <a:effectLst/>
              <a:latin typeface="+mj-lt"/>
              <a:ea typeface="Times New Roman" panose="02020603050405020304" pitchFamily="18" charset="0"/>
              <a:cs typeface="Times New Roman" panose="02020603050405020304" pitchFamily="18" charset="0"/>
            </a:endParaRPr>
          </a:p>
        </p:txBody>
      </p:sp>
      <p:sp>
        <p:nvSpPr>
          <p:cNvPr id="13" name="Text Box 90"/>
          <p:cNvSpPr txBox="1">
            <a:spLocks noChangeArrowheads="1"/>
          </p:cNvSpPr>
          <p:nvPr/>
        </p:nvSpPr>
        <p:spPr bwMode="auto">
          <a:xfrm>
            <a:off x="5682476" y="3011863"/>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300k</a:t>
            </a:r>
            <a:endParaRPr lang="en-IN" sz="1100">
              <a:effectLst/>
              <a:latin typeface="+mj-lt"/>
              <a:ea typeface="Times New Roman" panose="02020603050405020304" pitchFamily="18" charset="0"/>
              <a:cs typeface="Times New Roman" panose="02020603050405020304" pitchFamily="18" charset="0"/>
            </a:endParaRPr>
          </a:p>
        </p:txBody>
      </p:sp>
      <p:sp>
        <p:nvSpPr>
          <p:cNvPr id="14" name="Text Box 91"/>
          <p:cNvSpPr txBox="1">
            <a:spLocks noChangeArrowheads="1"/>
          </p:cNvSpPr>
          <p:nvPr/>
        </p:nvSpPr>
        <p:spPr bwMode="auto">
          <a:xfrm>
            <a:off x="7725860" y="3011863"/>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600k</a:t>
            </a:r>
            <a:endParaRPr lang="en-IN" sz="1100">
              <a:effectLst/>
              <a:latin typeface="+mj-lt"/>
              <a:ea typeface="Times New Roman" panose="02020603050405020304" pitchFamily="18" charset="0"/>
              <a:cs typeface="Times New Roman" panose="02020603050405020304" pitchFamily="18" charset="0"/>
            </a:endParaRPr>
          </a:p>
        </p:txBody>
      </p:sp>
      <p:sp>
        <p:nvSpPr>
          <p:cNvPr id="30" name="Rectangle 29"/>
          <p:cNvSpPr>
            <a:spLocks noChangeArrowheads="1"/>
          </p:cNvSpPr>
          <p:nvPr/>
        </p:nvSpPr>
        <p:spPr bwMode="auto">
          <a:xfrm>
            <a:off x="1638299" y="4054986"/>
            <a:ext cx="4572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31" name="Rectangle 30"/>
          <p:cNvSpPr>
            <a:spLocks noChangeArrowheads="1"/>
          </p:cNvSpPr>
          <p:nvPr/>
        </p:nvSpPr>
        <p:spPr bwMode="auto">
          <a:xfrm>
            <a:off x="2081483" y="4054986"/>
            <a:ext cx="22860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32" name="Rectangle 31"/>
          <p:cNvSpPr>
            <a:spLocks noChangeArrowheads="1"/>
          </p:cNvSpPr>
          <p:nvPr/>
        </p:nvSpPr>
        <p:spPr bwMode="auto">
          <a:xfrm>
            <a:off x="4353467" y="4054986"/>
            <a:ext cx="9144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33" name="Rectangle 32"/>
          <p:cNvSpPr>
            <a:spLocks noChangeArrowheads="1"/>
          </p:cNvSpPr>
          <p:nvPr/>
        </p:nvSpPr>
        <p:spPr bwMode="auto">
          <a:xfrm>
            <a:off x="5253851" y="4054986"/>
            <a:ext cx="13716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34" name="Rectangle 33"/>
          <p:cNvSpPr>
            <a:spLocks noChangeArrowheads="1"/>
          </p:cNvSpPr>
          <p:nvPr/>
        </p:nvSpPr>
        <p:spPr bwMode="auto">
          <a:xfrm>
            <a:off x="6611435" y="4054986"/>
            <a:ext cx="27432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35" name="Text Box 87"/>
          <p:cNvSpPr txBox="1">
            <a:spLocks noChangeArrowheads="1"/>
          </p:cNvSpPr>
          <p:nvPr/>
        </p:nvSpPr>
        <p:spPr bwMode="auto">
          <a:xfrm>
            <a:off x="1609724" y="3808253"/>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100k</a:t>
            </a:r>
            <a:endParaRPr lang="en-IN" sz="1100">
              <a:effectLst/>
              <a:latin typeface="+mj-lt"/>
              <a:ea typeface="Times New Roman" panose="02020603050405020304" pitchFamily="18" charset="0"/>
              <a:cs typeface="Times New Roman" panose="02020603050405020304" pitchFamily="18" charset="0"/>
            </a:endParaRPr>
          </a:p>
        </p:txBody>
      </p:sp>
      <p:sp>
        <p:nvSpPr>
          <p:cNvPr id="36" name="Text Box 88"/>
          <p:cNvSpPr txBox="1">
            <a:spLocks noChangeArrowheads="1"/>
          </p:cNvSpPr>
          <p:nvPr/>
        </p:nvSpPr>
        <p:spPr bwMode="auto">
          <a:xfrm>
            <a:off x="2967308" y="3808253"/>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500k</a:t>
            </a:r>
            <a:endParaRPr lang="en-IN" sz="1100">
              <a:effectLst/>
              <a:latin typeface="+mj-lt"/>
              <a:ea typeface="Times New Roman" panose="02020603050405020304" pitchFamily="18" charset="0"/>
              <a:cs typeface="Times New Roman" panose="02020603050405020304" pitchFamily="18" charset="0"/>
            </a:endParaRPr>
          </a:p>
        </p:txBody>
      </p:sp>
      <p:sp>
        <p:nvSpPr>
          <p:cNvPr id="37" name="Text Box 89"/>
          <p:cNvSpPr txBox="1">
            <a:spLocks noChangeArrowheads="1"/>
          </p:cNvSpPr>
          <p:nvPr/>
        </p:nvSpPr>
        <p:spPr bwMode="auto">
          <a:xfrm>
            <a:off x="4553492" y="3808253"/>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200k</a:t>
            </a:r>
            <a:endParaRPr lang="en-IN" sz="1100">
              <a:effectLst/>
              <a:latin typeface="+mj-lt"/>
              <a:ea typeface="Times New Roman" panose="02020603050405020304" pitchFamily="18" charset="0"/>
              <a:cs typeface="Times New Roman" panose="02020603050405020304" pitchFamily="18" charset="0"/>
            </a:endParaRPr>
          </a:p>
        </p:txBody>
      </p:sp>
      <p:sp>
        <p:nvSpPr>
          <p:cNvPr id="38" name="Text Box 90"/>
          <p:cNvSpPr txBox="1">
            <a:spLocks noChangeArrowheads="1"/>
          </p:cNvSpPr>
          <p:nvPr/>
        </p:nvSpPr>
        <p:spPr bwMode="auto">
          <a:xfrm>
            <a:off x="5682476" y="3808253"/>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300k</a:t>
            </a:r>
            <a:endParaRPr lang="en-IN" sz="1100">
              <a:effectLst/>
              <a:latin typeface="+mj-lt"/>
              <a:ea typeface="Times New Roman" panose="02020603050405020304" pitchFamily="18" charset="0"/>
              <a:cs typeface="Times New Roman" panose="02020603050405020304" pitchFamily="18" charset="0"/>
            </a:endParaRPr>
          </a:p>
        </p:txBody>
      </p:sp>
      <p:sp>
        <p:nvSpPr>
          <p:cNvPr id="39" name="Text Box 91"/>
          <p:cNvSpPr txBox="1">
            <a:spLocks noChangeArrowheads="1"/>
          </p:cNvSpPr>
          <p:nvPr/>
        </p:nvSpPr>
        <p:spPr bwMode="auto">
          <a:xfrm>
            <a:off x="7725860" y="3808253"/>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600k</a:t>
            </a:r>
            <a:endParaRPr lang="en-IN" sz="1100">
              <a:effectLst/>
              <a:latin typeface="+mj-lt"/>
              <a:ea typeface="Times New Roman" panose="02020603050405020304" pitchFamily="18" charset="0"/>
              <a:cs typeface="Times New Roman" panose="02020603050405020304" pitchFamily="18" charset="0"/>
            </a:endParaRPr>
          </a:p>
        </p:txBody>
      </p:sp>
      <p:sp>
        <p:nvSpPr>
          <p:cNvPr id="42" name="Text Box 105" descr="Light upward diagonal"/>
          <p:cNvSpPr txBox="1">
            <a:spLocks noChangeArrowheads="1"/>
          </p:cNvSpPr>
          <p:nvPr/>
        </p:nvSpPr>
        <p:spPr bwMode="auto">
          <a:xfrm>
            <a:off x="2081482" y="4054986"/>
            <a:ext cx="914400" cy="457200"/>
          </a:xfrm>
          <a:prstGeom prst="rect">
            <a:avLst/>
          </a:prstGeom>
          <a:pattFill prst="ltUpDiag">
            <a:fgClr>
              <a:srgbClr val="000000"/>
            </a:fgClr>
            <a:bgClr>
              <a:srgbClr val="FFFFFF"/>
            </a:bgClr>
          </a:pattFill>
          <a:ln w="19050">
            <a:solidFill>
              <a:schemeClr val="tx2"/>
            </a:solidFill>
            <a:miter lim="800000"/>
          </a:ln>
        </p:spPr>
        <p:txBody>
          <a:bodyPr rot="0" vert="horz" wrap="square" lIns="91440" tIns="45720" rIns="91440" bIns="45720" anchor="ctr" anchorCtr="0" upright="1">
            <a:noAutofit/>
          </a:bodyPr>
          <a:lstStyle/>
          <a:p>
            <a:pPr algn="ctr">
              <a:lnSpc>
                <a:spcPct val="115000"/>
              </a:lnSpc>
              <a:spcAft>
                <a:spcPts val="1000"/>
              </a:spcAft>
            </a:pPr>
            <a:r>
              <a:rPr lang="en-US" sz="1100" b="1">
                <a:ln w="3175">
                  <a:solidFill>
                    <a:schemeClr val="tx1"/>
                  </a:solidFill>
                </a:ln>
                <a:effectLst/>
                <a:latin typeface="+mj-lt"/>
                <a:ea typeface="Times New Roman" panose="02020603050405020304" pitchFamily="18" charset="0"/>
                <a:cs typeface="Times New Roman" panose="02020603050405020304" pitchFamily="18" charset="0"/>
              </a:rPr>
              <a:t>212k</a:t>
            </a:r>
            <a:endParaRPr lang="en-IN" sz="1100">
              <a:ln w="3175">
                <a:solidFill>
                  <a:schemeClr val="tx1"/>
                </a:solidFill>
              </a:ln>
              <a:effectLst/>
              <a:latin typeface="+mj-lt"/>
              <a:ea typeface="Times New Roman" panose="02020603050405020304" pitchFamily="18" charset="0"/>
              <a:cs typeface="Times New Roman" panose="02020603050405020304" pitchFamily="18" charset="0"/>
            </a:endParaRPr>
          </a:p>
        </p:txBody>
      </p:sp>
      <p:sp>
        <p:nvSpPr>
          <p:cNvPr id="43" name="Text Box 88"/>
          <p:cNvSpPr txBox="1">
            <a:spLocks noChangeArrowheads="1"/>
          </p:cNvSpPr>
          <p:nvPr/>
        </p:nvSpPr>
        <p:spPr bwMode="auto">
          <a:xfrm>
            <a:off x="3417499" y="3808253"/>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288k</a:t>
            </a:r>
            <a:endParaRPr lang="en-IN" sz="1100">
              <a:effectLst/>
              <a:latin typeface="+mj-lt"/>
              <a:ea typeface="Times New Roman" panose="02020603050405020304" pitchFamily="18" charset="0"/>
              <a:cs typeface="Times New Roman" panose="02020603050405020304" pitchFamily="18" charset="0"/>
            </a:endParaRPr>
          </a:p>
        </p:txBody>
      </p:sp>
      <p:sp>
        <p:nvSpPr>
          <p:cNvPr id="44" name="Text Box 105" descr="Light upward diagonal"/>
          <p:cNvSpPr txBox="1">
            <a:spLocks noChangeArrowheads="1"/>
          </p:cNvSpPr>
          <p:nvPr/>
        </p:nvSpPr>
        <p:spPr bwMode="auto">
          <a:xfrm>
            <a:off x="6606944" y="4054986"/>
            <a:ext cx="1828800" cy="457200"/>
          </a:xfrm>
          <a:prstGeom prst="rect">
            <a:avLst/>
          </a:prstGeom>
          <a:pattFill prst="ltUpDiag">
            <a:fgClr>
              <a:srgbClr val="000000"/>
            </a:fgClr>
            <a:bgClr>
              <a:srgbClr val="FFFFFF"/>
            </a:bgClr>
          </a:pattFill>
          <a:ln w="19050">
            <a:solidFill>
              <a:schemeClr val="tx2"/>
            </a:solidFill>
            <a:miter lim="800000"/>
          </a:ln>
        </p:spPr>
        <p:txBody>
          <a:bodyPr rot="0" vert="horz" wrap="square" lIns="91440" tIns="45720" rIns="91440" bIns="45720" anchor="ctr" anchorCtr="0" upright="1">
            <a:noAutofit/>
          </a:bodyPr>
          <a:lstStyle/>
          <a:p>
            <a:pPr algn="ctr">
              <a:lnSpc>
                <a:spcPct val="115000"/>
              </a:lnSpc>
              <a:spcAft>
                <a:spcPts val="1000"/>
              </a:spcAft>
            </a:pPr>
            <a:r>
              <a:rPr lang="en-US" sz="1100" b="1">
                <a:ln w="3175">
                  <a:solidFill>
                    <a:schemeClr val="tx1"/>
                  </a:solidFill>
                </a:ln>
                <a:effectLst/>
                <a:latin typeface="+mj-lt"/>
                <a:ea typeface="Times New Roman" panose="02020603050405020304" pitchFamily="18" charset="0"/>
                <a:cs typeface="Times New Roman" panose="02020603050405020304" pitchFamily="18" charset="0"/>
              </a:rPr>
              <a:t>417k</a:t>
            </a:r>
            <a:endParaRPr lang="en-IN" sz="1100">
              <a:ln w="3175">
                <a:solidFill>
                  <a:schemeClr val="tx1"/>
                </a:solidFill>
              </a:ln>
              <a:effectLst/>
              <a:latin typeface="+mj-lt"/>
              <a:ea typeface="Times New Roman" panose="02020603050405020304" pitchFamily="18" charset="0"/>
              <a:cs typeface="Times New Roman" panose="02020603050405020304" pitchFamily="18" charset="0"/>
            </a:endParaRPr>
          </a:p>
        </p:txBody>
      </p:sp>
      <p:sp>
        <p:nvSpPr>
          <p:cNvPr id="45" name="Text Box 91"/>
          <p:cNvSpPr txBox="1">
            <a:spLocks noChangeArrowheads="1"/>
          </p:cNvSpPr>
          <p:nvPr/>
        </p:nvSpPr>
        <p:spPr bwMode="auto">
          <a:xfrm>
            <a:off x="8638014" y="3808253"/>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183k</a:t>
            </a:r>
            <a:endParaRPr lang="en-IN" sz="1100">
              <a:effectLst/>
              <a:latin typeface="+mj-lt"/>
              <a:ea typeface="Times New Roman" panose="02020603050405020304" pitchFamily="18" charset="0"/>
              <a:cs typeface="Times New Roman" panose="02020603050405020304" pitchFamily="18" charset="0"/>
            </a:endParaRPr>
          </a:p>
        </p:txBody>
      </p:sp>
      <p:sp>
        <p:nvSpPr>
          <p:cNvPr id="28" name="Text Box 105" descr="Light upward diagonal"/>
          <p:cNvSpPr txBox="1">
            <a:spLocks noChangeArrowheads="1"/>
          </p:cNvSpPr>
          <p:nvPr/>
        </p:nvSpPr>
        <p:spPr bwMode="auto">
          <a:xfrm>
            <a:off x="8434658" y="4054986"/>
            <a:ext cx="603504" cy="457200"/>
          </a:xfrm>
          <a:prstGeom prst="rect">
            <a:avLst/>
          </a:prstGeom>
          <a:pattFill prst="ltUpDiag">
            <a:fgClr>
              <a:srgbClr val="000000"/>
            </a:fgClr>
            <a:bgClr>
              <a:srgbClr val="FFFFFF"/>
            </a:bgClr>
          </a:pattFill>
          <a:ln w="19050">
            <a:solidFill>
              <a:schemeClr val="tx2"/>
            </a:solidFill>
            <a:miter lim="800000"/>
          </a:ln>
        </p:spPr>
        <p:txBody>
          <a:bodyPr rot="0" vert="horz" wrap="square" lIns="91440" tIns="45720" rIns="91440" bIns="45720" anchor="ctr" anchorCtr="0" upright="1">
            <a:noAutofit/>
          </a:bodyPr>
          <a:lstStyle/>
          <a:p>
            <a:pPr algn="ctr">
              <a:lnSpc>
                <a:spcPct val="115000"/>
              </a:lnSpc>
              <a:spcAft>
                <a:spcPts val="1000"/>
              </a:spcAft>
            </a:pPr>
            <a:r>
              <a:rPr lang="en-US" sz="1100" b="1">
                <a:ln w="3175">
                  <a:solidFill>
                    <a:schemeClr val="tx1"/>
                  </a:solidFill>
                </a:ln>
                <a:effectLst/>
                <a:latin typeface="+mj-lt"/>
                <a:ea typeface="Times New Roman" panose="02020603050405020304" pitchFamily="18" charset="0"/>
                <a:cs typeface="Times New Roman" panose="02020603050405020304" pitchFamily="18" charset="0"/>
              </a:rPr>
              <a:t>112k</a:t>
            </a:r>
            <a:endParaRPr lang="en-IN" sz="1100">
              <a:ln w="3175">
                <a:solidFill>
                  <a:schemeClr val="tx1"/>
                </a:solidFill>
              </a:ln>
              <a:effectLst/>
              <a:latin typeface="+mj-lt"/>
              <a:ea typeface="Times New Roman" panose="02020603050405020304" pitchFamily="18" charset="0"/>
              <a:cs typeface="Times New Roman" panose="02020603050405020304" pitchFamily="18" charset="0"/>
            </a:endParaRPr>
          </a:p>
        </p:txBody>
      </p:sp>
      <p:sp>
        <p:nvSpPr>
          <p:cNvPr id="29" name="Text Box 88"/>
          <p:cNvSpPr txBox="1">
            <a:spLocks noChangeArrowheads="1"/>
          </p:cNvSpPr>
          <p:nvPr/>
        </p:nvSpPr>
        <p:spPr bwMode="auto">
          <a:xfrm>
            <a:off x="8968214" y="3808253"/>
            <a:ext cx="45720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71k</a:t>
            </a:r>
            <a:endParaRPr lang="en-IN" sz="1100">
              <a:effectLst/>
              <a:latin typeface="+mj-l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239283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0" end="0"/>
                                            </p:txEl>
                                          </p:spTgt>
                                        </p:tgtEl>
                                        <p:attrNameLst>
                                          <p:attrName>style.visibility</p:attrName>
                                        </p:attrNameLst>
                                      </p:cBhvr>
                                      <p:to>
                                        <p:strVal val="visible"/>
                                      </p:to>
                                    </p:set>
                                    <p:animEffect transition="in" filter="fade">
                                      <p:cBhvr>
                                        <p:cTn id="37" dur="500"/>
                                        <p:tgtEl>
                                          <p:spTgt spid="3">
                                            <p:txEl>
                                              <p:pRg st="0" end="0"/>
                                            </p:txEl>
                                          </p:spTgt>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1" end="1"/>
                                            </p:txEl>
                                          </p:spTgt>
                                        </p:tgtEl>
                                        <p:attrNameLst>
                                          <p:attrName>style.visibility</p:attrName>
                                        </p:attrNameLst>
                                      </p:cBhvr>
                                      <p:to>
                                        <p:strVal val="visible"/>
                                      </p:to>
                                    </p:set>
                                    <p:animEffect transition="in" filter="fade">
                                      <p:cBhvr>
                                        <p:cTn id="42" dur="500"/>
                                        <p:tgtEl>
                                          <p:spTgt spid="3">
                                            <p:txEl>
                                              <p:pRg st="1" end="1"/>
                                            </p:txEl>
                                          </p:spTgt>
                                        </p:tgtEl>
                                      </p:cBhvr>
                                    </p:animEffect>
                                  </p:childTnLst>
                                </p:cTn>
                              </p:par>
                            </p:childTnLst>
                          </p:cTn>
                        </p:par>
                      </p:childTnLst>
                    </p:cTn>
                  </p:par>
                  <p:par>
                    <p:cTn id="43" fill="hold" nodeType="clickPar">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2" end="2"/>
                                            </p:txEl>
                                          </p:spTgt>
                                        </p:tgtEl>
                                        <p:attrNameLst>
                                          <p:attrName>style.visibility</p:attrName>
                                        </p:attrNameLst>
                                      </p:cBhvr>
                                      <p:to>
                                        <p:strVal val="visible"/>
                                      </p:to>
                                    </p:set>
                                    <p:animEffect transition="in" filter="fade">
                                      <p:cBhvr>
                                        <p:cTn id="47" dur="500"/>
                                        <p:tgtEl>
                                          <p:spTgt spid="3">
                                            <p:txEl>
                                              <p:pRg st="2" end="2"/>
                                            </p:txEl>
                                          </p:spTgt>
                                        </p:tgtEl>
                                      </p:cBhvr>
                                    </p:animEffect>
                                  </p:childTnLst>
                                </p:cTn>
                              </p:par>
                            </p:childTnLst>
                          </p:cTn>
                        </p:par>
                      </p:childTnLst>
                    </p:cTn>
                  </p:par>
                  <p:par>
                    <p:cTn id="48" fill="hold" nodeType="clickPar">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50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5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500"/>
                                        <p:tgtEl>
                                          <p:spTgt spid="3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500"/>
                                        <p:tgtEl>
                                          <p:spTgt spid="3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500"/>
                                        <p:tgtEl>
                                          <p:spTgt spid="3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6"/>
                                        </p:tgtEl>
                                        <p:attrNameLst>
                                          <p:attrName>style.visibility</p:attrName>
                                        </p:attrNameLst>
                                      </p:cBhvr>
                                      <p:to>
                                        <p:strVal val="visible"/>
                                      </p:to>
                                    </p:set>
                                    <p:animEffect transition="in" filter="fade">
                                      <p:cBhvr>
                                        <p:cTn id="67" dur="500"/>
                                        <p:tgtEl>
                                          <p:spTgt spid="3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7"/>
                                        </p:tgtEl>
                                        <p:attrNameLst>
                                          <p:attrName>style.visibility</p:attrName>
                                        </p:attrNameLst>
                                      </p:cBhvr>
                                      <p:to>
                                        <p:strVal val="visible"/>
                                      </p:to>
                                    </p:set>
                                    <p:animEffect transition="in" filter="fade">
                                      <p:cBhvr>
                                        <p:cTn id="70" dur="500"/>
                                        <p:tgtEl>
                                          <p:spTgt spid="3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8"/>
                                        </p:tgtEl>
                                        <p:attrNameLst>
                                          <p:attrName>style.visibility</p:attrName>
                                        </p:attrNameLst>
                                      </p:cBhvr>
                                      <p:to>
                                        <p:strVal val="visible"/>
                                      </p:to>
                                    </p:set>
                                    <p:animEffect transition="in" filter="fade">
                                      <p:cBhvr>
                                        <p:cTn id="73" dur="500"/>
                                        <p:tgtEl>
                                          <p:spTgt spid="3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9"/>
                                        </p:tgtEl>
                                        <p:attrNameLst>
                                          <p:attrName>style.visibility</p:attrName>
                                        </p:attrNameLst>
                                      </p:cBhvr>
                                      <p:to>
                                        <p:strVal val="visible"/>
                                      </p:to>
                                    </p:set>
                                    <p:animEffect transition="in" filter="fade">
                                      <p:cBhvr>
                                        <p:cTn id="76" dur="500"/>
                                        <p:tgtEl>
                                          <p:spTgt spid="39"/>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fade">
                                      <p:cBhvr>
                                        <p:cTn id="79" dur="500"/>
                                        <p:tgtEl>
                                          <p:spTgt spid="31"/>
                                        </p:tgtEl>
                                      </p:cBhvr>
                                    </p:animEffect>
                                  </p:childTnLst>
                                </p:cTn>
                              </p:par>
                            </p:childTnLst>
                          </p:cTn>
                        </p:par>
                      </p:childTnLst>
                    </p:cTn>
                  </p:par>
                  <p:par>
                    <p:cTn id="80" fill="hold" nodeType="clickPar">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42"/>
                                        </p:tgtEl>
                                        <p:attrNameLst>
                                          <p:attrName>style.visibility</p:attrName>
                                        </p:attrNameLst>
                                      </p:cBhvr>
                                      <p:to>
                                        <p:strVal val="visible"/>
                                      </p:to>
                                    </p:set>
                                    <p:animEffect transition="in" filter="fade">
                                      <p:cBhvr>
                                        <p:cTn id="84" dur="500"/>
                                        <p:tgtEl>
                                          <p:spTgt spid="42"/>
                                        </p:tgtEl>
                                      </p:cBhvr>
                                    </p:animEffect>
                                  </p:childTnLst>
                                </p:cTn>
                              </p:par>
                            </p:childTnLst>
                          </p:cTn>
                        </p:par>
                      </p:childTnLst>
                    </p:cTn>
                  </p:par>
                  <p:par>
                    <p:cTn id="85" fill="hold" nodeType="clickPar">
                      <p:stCondLst>
                        <p:cond delay="indefinite"/>
                      </p:stCondLst>
                      <p:childTnLst>
                        <p:par>
                          <p:cTn id="86" fill="hold">
                            <p:stCondLst>
                              <p:cond delay="0"/>
                            </p:stCondLst>
                            <p:childTnLst>
                              <p:par>
                                <p:cTn id="87" presetID="10" presetClass="exit" presetSubtype="0" fill="hold" grpId="1" nodeType="clickEffect">
                                  <p:stCondLst>
                                    <p:cond delay="0"/>
                                  </p:stCondLst>
                                  <p:childTnLst>
                                    <p:animEffect transition="out" filter="fade">
                                      <p:cBhvr>
                                        <p:cTn id="88" dur="500"/>
                                        <p:tgtEl>
                                          <p:spTgt spid="36"/>
                                        </p:tgtEl>
                                      </p:cBhvr>
                                    </p:animEffect>
                                    <p:set>
                                      <p:cBhvr>
                                        <p:cTn id="89" dur="1" fill="hold">
                                          <p:stCondLst>
                                            <p:cond delay="499"/>
                                          </p:stCondLst>
                                        </p:cTn>
                                        <p:tgtEl>
                                          <p:spTgt spid="36"/>
                                        </p:tgtEl>
                                        <p:attrNameLst>
                                          <p:attrName>style.visibility</p:attrName>
                                        </p:attrNameLst>
                                      </p:cBhvr>
                                      <p:to>
                                        <p:strVal val="hidden"/>
                                      </p:to>
                                    </p:set>
                                  </p:childTnLst>
                                </p:cTn>
                              </p:par>
                              <p:par>
                                <p:cTn id="90" presetID="10" presetClass="entr" presetSubtype="0" fill="hold" grpId="0" nodeType="withEffect">
                                  <p:stCondLst>
                                    <p:cond delay="0"/>
                                  </p:stCondLst>
                                  <p:childTnLst>
                                    <p:set>
                                      <p:cBhvr>
                                        <p:cTn id="91" dur="1" fill="hold">
                                          <p:stCondLst>
                                            <p:cond delay="0"/>
                                          </p:stCondLst>
                                        </p:cTn>
                                        <p:tgtEl>
                                          <p:spTgt spid="43"/>
                                        </p:tgtEl>
                                        <p:attrNameLst>
                                          <p:attrName>style.visibility</p:attrName>
                                        </p:attrNameLst>
                                      </p:cBhvr>
                                      <p:to>
                                        <p:strVal val="visible"/>
                                      </p:to>
                                    </p:set>
                                    <p:animEffect transition="in" filter="fade">
                                      <p:cBhvr>
                                        <p:cTn id="92" dur="500"/>
                                        <p:tgtEl>
                                          <p:spTgt spid="43"/>
                                        </p:tgtEl>
                                      </p:cBhvr>
                                    </p:animEffect>
                                  </p:childTnLst>
                                </p:cTn>
                              </p:par>
                            </p:childTnLst>
                          </p:cTn>
                        </p:par>
                      </p:childTnLst>
                    </p:cTn>
                  </p:par>
                  <p:par>
                    <p:cTn id="93" fill="hold" nodeType="clickPar">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44"/>
                                        </p:tgtEl>
                                        <p:attrNameLst>
                                          <p:attrName>style.visibility</p:attrName>
                                        </p:attrNameLst>
                                      </p:cBhvr>
                                      <p:to>
                                        <p:strVal val="visible"/>
                                      </p:to>
                                    </p:set>
                                    <p:animEffect transition="in" filter="fade">
                                      <p:cBhvr>
                                        <p:cTn id="97" dur="500"/>
                                        <p:tgtEl>
                                          <p:spTgt spid="44"/>
                                        </p:tgtEl>
                                      </p:cBhvr>
                                    </p:animEffect>
                                  </p:childTnLst>
                                </p:cTn>
                              </p:par>
                            </p:childTnLst>
                          </p:cTn>
                        </p:par>
                      </p:childTnLst>
                    </p:cTn>
                  </p:par>
                  <p:par>
                    <p:cTn id="98" fill="hold" nodeType="clickPar">
                      <p:stCondLst>
                        <p:cond delay="indefinite"/>
                      </p:stCondLst>
                      <p:childTnLst>
                        <p:par>
                          <p:cTn id="99" fill="hold">
                            <p:stCondLst>
                              <p:cond delay="0"/>
                            </p:stCondLst>
                            <p:childTnLst>
                              <p:par>
                                <p:cTn id="100" presetID="10" presetClass="exit" presetSubtype="0" fill="hold" grpId="1" nodeType="clickEffect">
                                  <p:stCondLst>
                                    <p:cond delay="0"/>
                                  </p:stCondLst>
                                  <p:childTnLst>
                                    <p:animEffect transition="out" filter="fade">
                                      <p:cBhvr>
                                        <p:cTn id="101" dur="500"/>
                                        <p:tgtEl>
                                          <p:spTgt spid="39"/>
                                        </p:tgtEl>
                                      </p:cBhvr>
                                    </p:animEffect>
                                    <p:set>
                                      <p:cBhvr>
                                        <p:cTn id="102" dur="1" fill="hold">
                                          <p:stCondLst>
                                            <p:cond delay="499"/>
                                          </p:stCondLst>
                                        </p:cTn>
                                        <p:tgtEl>
                                          <p:spTgt spid="39"/>
                                        </p:tgtEl>
                                        <p:attrNameLst>
                                          <p:attrName>style.visibility</p:attrName>
                                        </p:attrNameLst>
                                      </p:cBhvr>
                                      <p:to>
                                        <p:strVal val="hidden"/>
                                      </p:to>
                                    </p:set>
                                  </p:childTnLst>
                                </p:cTn>
                              </p:par>
                              <p:par>
                                <p:cTn id="103" presetID="10" presetClass="entr" presetSubtype="0" fill="hold" grpId="0" nodeType="withEffect">
                                  <p:stCondLst>
                                    <p:cond delay="0"/>
                                  </p:stCondLst>
                                  <p:childTnLst>
                                    <p:set>
                                      <p:cBhvr>
                                        <p:cTn id="104" dur="1" fill="hold">
                                          <p:stCondLst>
                                            <p:cond delay="0"/>
                                          </p:stCondLst>
                                        </p:cTn>
                                        <p:tgtEl>
                                          <p:spTgt spid="45"/>
                                        </p:tgtEl>
                                        <p:attrNameLst>
                                          <p:attrName>style.visibility</p:attrName>
                                        </p:attrNameLst>
                                      </p:cBhvr>
                                      <p:to>
                                        <p:strVal val="visible"/>
                                      </p:to>
                                    </p:set>
                                    <p:animEffect transition="in" filter="fade">
                                      <p:cBhvr>
                                        <p:cTn id="105" dur="500"/>
                                        <p:tgtEl>
                                          <p:spTgt spid="45"/>
                                        </p:tgtEl>
                                      </p:cBhvr>
                                    </p:animEffect>
                                  </p:childTnLst>
                                </p:cTn>
                              </p:par>
                            </p:childTnLst>
                          </p:cTn>
                        </p:par>
                      </p:childTnLst>
                    </p:cTn>
                  </p:par>
                  <p:par>
                    <p:cTn id="106" fill="hold" nodeType="clickPar">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28"/>
                                        </p:tgtEl>
                                        <p:attrNameLst>
                                          <p:attrName>style.visibility</p:attrName>
                                        </p:attrNameLst>
                                      </p:cBhvr>
                                      <p:to>
                                        <p:strVal val="visible"/>
                                      </p:to>
                                    </p:set>
                                    <p:animEffect transition="in" filter="fade">
                                      <p:cBhvr>
                                        <p:cTn id="110" dur="500"/>
                                        <p:tgtEl>
                                          <p:spTgt spid="28"/>
                                        </p:tgtEl>
                                      </p:cBhvr>
                                    </p:animEffect>
                                  </p:childTnLst>
                                </p:cTn>
                              </p:par>
                            </p:childTnLst>
                          </p:cTn>
                        </p:par>
                      </p:childTnLst>
                    </p:cTn>
                  </p:par>
                  <p:par>
                    <p:cTn id="111" fill="hold" nodeType="clickPar">
                      <p:stCondLst>
                        <p:cond delay="indefinite"/>
                      </p:stCondLst>
                      <p:childTnLst>
                        <p:par>
                          <p:cTn id="112" fill="hold">
                            <p:stCondLst>
                              <p:cond delay="0"/>
                            </p:stCondLst>
                            <p:childTnLst>
                              <p:par>
                                <p:cTn id="113" presetID="10" presetClass="exit" presetSubtype="0" fill="hold" grpId="1" nodeType="clickEffect">
                                  <p:stCondLst>
                                    <p:cond delay="0"/>
                                  </p:stCondLst>
                                  <p:childTnLst>
                                    <p:animEffect transition="out" filter="fade">
                                      <p:cBhvr>
                                        <p:cTn id="114" dur="500"/>
                                        <p:tgtEl>
                                          <p:spTgt spid="45"/>
                                        </p:tgtEl>
                                      </p:cBhvr>
                                    </p:animEffect>
                                    <p:set>
                                      <p:cBhvr>
                                        <p:cTn id="115" dur="1" fill="hold">
                                          <p:stCondLst>
                                            <p:cond delay="499"/>
                                          </p:stCondLst>
                                        </p:cTn>
                                        <p:tgtEl>
                                          <p:spTgt spid="45"/>
                                        </p:tgtEl>
                                        <p:attrNameLst>
                                          <p:attrName>style.visibility</p:attrName>
                                        </p:attrNameLst>
                                      </p:cBhvr>
                                      <p:to>
                                        <p:strVal val="hidden"/>
                                      </p:to>
                                    </p:set>
                                  </p:childTnLst>
                                </p:cTn>
                              </p:par>
                              <p:par>
                                <p:cTn id="116" presetID="10" presetClass="entr" presetSubtype="0" fill="hold" grpId="0" nodeType="withEffect">
                                  <p:stCondLst>
                                    <p:cond delay="0"/>
                                  </p:stCondLst>
                                  <p:childTnLst>
                                    <p:set>
                                      <p:cBhvr>
                                        <p:cTn id="117" dur="1" fill="hold">
                                          <p:stCondLst>
                                            <p:cond delay="0"/>
                                          </p:stCondLst>
                                        </p:cTn>
                                        <p:tgtEl>
                                          <p:spTgt spid="29"/>
                                        </p:tgtEl>
                                        <p:attrNameLst>
                                          <p:attrName>style.visibility</p:attrName>
                                        </p:attrNameLst>
                                      </p:cBhvr>
                                      <p:to>
                                        <p:strVal val="visible"/>
                                      </p:to>
                                    </p:set>
                                    <p:animEffect transition="in" filter="fade">
                                      <p:cBhvr>
                                        <p:cTn id="118" dur="500"/>
                                        <p:tgtEl>
                                          <p:spTgt spid="29"/>
                                        </p:tgtEl>
                                      </p:cBhvr>
                                    </p:animEffect>
                                  </p:childTnLst>
                                </p:cTn>
                              </p:par>
                            </p:childTnLst>
                          </p:cTn>
                        </p:par>
                      </p:childTnLst>
                    </p:cTn>
                  </p:par>
                  <p:par>
                    <p:cTn id="119" fill="hold" nodeType="clickPar">
                      <p:stCondLst>
                        <p:cond delay="indefinite"/>
                      </p:stCondLst>
                      <p:childTnLst>
                        <p:par>
                          <p:cTn id="120" fill="hold">
                            <p:stCondLst>
                              <p:cond delay="0"/>
                            </p:stCondLst>
                            <p:childTnLst>
                              <p:par>
                                <p:cTn id="121" presetID="10" presetClass="entr" presetSubtype="0" fill="hold" nodeType="clickEffect">
                                  <p:stCondLst>
                                    <p:cond delay="0"/>
                                  </p:stCondLst>
                                  <p:childTnLst>
                                    <p:set>
                                      <p:cBhvr>
                                        <p:cTn id="122" dur="1" fill="hold">
                                          <p:stCondLst>
                                            <p:cond delay="0"/>
                                          </p:stCondLst>
                                        </p:cTn>
                                        <p:tgtEl>
                                          <p:spTgt spid="3">
                                            <p:txEl>
                                              <p:pRg st="7" end="7"/>
                                            </p:txEl>
                                          </p:spTgt>
                                        </p:tgtEl>
                                        <p:attrNameLst>
                                          <p:attrName>style.visibility</p:attrName>
                                        </p:attrNameLst>
                                      </p:cBhvr>
                                      <p:to>
                                        <p:strVal val="visible"/>
                                      </p:to>
                                    </p:set>
                                    <p:animEffect transition="in" filter="fade">
                                      <p:cBhvr>
                                        <p:cTn id="123" dur="500"/>
                                        <p:tgtEl>
                                          <p:spTgt spid="3">
                                            <p:txEl>
                                              <p:pRg st="7" end="7"/>
                                            </p:txEl>
                                          </p:spTgt>
                                        </p:tgtEl>
                                      </p:cBhvr>
                                    </p:animEffect>
                                  </p:childTnLst>
                                </p:cTn>
                              </p:par>
                            </p:childTnLst>
                          </p:cTn>
                        </p:par>
                      </p:childTnLst>
                    </p:cTn>
                  </p:par>
                  <p:par>
                    <p:cTn id="124" fill="hold" nodeType="clickPar">
                      <p:stCondLst>
                        <p:cond delay="indefinite"/>
                      </p:stCondLst>
                      <p:childTnLst>
                        <p:par>
                          <p:cTn id="125" fill="hold">
                            <p:stCondLst>
                              <p:cond delay="0"/>
                            </p:stCondLst>
                            <p:childTnLst>
                              <p:par>
                                <p:cTn id="126" presetID="10" presetClass="entr" presetSubtype="0" fill="hold" nodeType="clickEffect">
                                  <p:stCondLst>
                                    <p:cond delay="0"/>
                                  </p:stCondLst>
                                  <p:childTnLst>
                                    <p:set>
                                      <p:cBhvr>
                                        <p:cTn id="127" dur="1" fill="hold">
                                          <p:stCondLst>
                                            <p:cond delay="0"/>
                                          </p:stCondLst>
                                        </p:cTn>
                                        <p:tgtEl>
                                          <p:spTgt spid="3">
                                            <p:txEl>
                                              <p:pRg st="8" end="8"/>
                                            </p:txEl>
                                          </p:spTgt>
                                        </p:tgtEl>
                                        <p:attrNameLst>
                                          <p:attrName>style.visibility</p:attrName>
                                        </p:attrNameLst>
                                      </p:cBhvr>
                                      <p:to>
                                        <p:strVal val="visible"/>
                                      </p:to>
                                    </p:set>
                                    <p:animEffect transition="in" filter="fade">
                                      <p:cBhvr>
                                        <p:cTn id="128" dur="500"/>
                                        <p:tgtEl>
                                          <p:spTgt spid="3">
                                            <p:txEl>
                                              <p:pRg st="8" end="8"/>
                                            </p:txEl>
                                          </p:spTgt>
                                        </p:tgtEl>
                                      </p:cBhvr>
                                    </p:animEffect>
                                  </p:childTnLst>
                                </p:cTn>
                              </p:par>
                            </p:childTnLst>
                          </p:cTn>
                        </p:par>
                      </p:childTnLst>
                    </p:cTn>
                  </p:par>
                  <p:par>
                    <p:cTn id="129" fill="hold" nodeType="clickPar">
                      <p:stCondLst>
                        <p:cond delay="indefinite"/>
                      </p:stCondLst>
                      <p:childTnLst>
                        <p:par>
                          <p:cTn id="130" fill="hold">
                            <p:stCondLst>
                              <p:cond delay="0"/>
                            </p:stCondLst>
                            <p:childTnLst>
                              <p:par>
                                <p:cTn id="131" presetID="10" presetClass="entr" presetSubtype="0" fill="hold" nodeType="clickEffect">
                                  <p:stCondLst>
                                    <p:cond delay="0"/>
                                  </p:stCondLst>
                                  <p:childTnLst>
                                    <p:set>
                                      <p:cBhvr>
                                        <p:cTn id="132" dur="1" fill="hold">
                                          <p:stCondLst>
                                            <p:cond delay="0"/>
                                          </p:stCondLst>
                                        </p:cTn>
                                        <p:tgtEl>
                                          <p:spTgt spid="3">
                                            <p:txEl>
                                              <p:pRg st="9" end="9"/>
                                            </p:txEl>
                                          </p:spTgt>
                                        </p:tgtEl>
                                        <p:attrNameLst>
                                          <p:attrName>style.visibility</p:attrName>
                                        </p:attrNameLst>
                                      </p:cBhvr>
                                      <p:to>
                                        <p:strVal val="visible"/>
                                      </p:to>
                                    </p:set>
                                    <p:animEffect transition="in" filter="fade">
                                      <p:cBhvr>
                                        <p:cTn id="133" dur="500"/>
                                        <p:tgtEl>
                                          <p:spTgt spid="3">
                                            <p:txEl>
                                              <p:pRg st="9" end="9"/>
                                            </p:txEl>
                                          </p:spTgt>
                                        </p:tgtEl>
                                      </p:cBhvr>
                                    </p:animEffect>
                                  </p:childTnLst>
                                </p:cTn>
                              </p:par>
                            </p:childTnLst>
                          </p:cTn>
                        </p:par>
                      </p:childTnLst>
                    </p:cTn>
                  </p:par>
                  <p:par>
                    <p:cTn id="134" fill="hold" nodeType="clickPar">
                      <p:stCondLst>
                        <p:cond delay="indefinite"/>
                      </p:stCondLst>
                      <p:childTnLst>
                        <p:par>
                          <p:cTn id="135" fill="hold">
                            <p:stCondLst>
                              <p:cond delay="0"/>
                            </p:stCondLst>
                            <p:childTnLst>
                              <p:par>
                                <p:cTn id="136" presetID="10" presetClass="entr" presetSubtype="0" fill="hold" nodeType="clickEffect">
                                  <p:stCondLst>
                                    <p:cond delay="0"/>
                                  </p:stCondLst>
                                  <p:childTnLst>
                                    <p:set>
                                      <p:cBhvr>
                                        <p:cTn id="137" dur="1" fill="hold">
                                          <p:stCondLst>
                                            <p:cond delay="0"/>
                                          </p:stCondLst>
                                        </p:cTn>
                                        <p:tgtEl>
                                          <p:spTgt spid="3">
                                            <p:txEl>
                                              <p:pRg st="10" end="10"/>
                                            </p:txEl>
                                          </p:spTgt>
                                        </p:tgtEl>
                                        <p:attrNameLst>
                                          <p:attrName>style.visibility</p:attrName>
                                        </p:attrNameLst>
                                      </p:cBhvr>
                                      <p:to>
                                        <p:strVal val="visible"/>
                                      </p:to>
                                    </p:set>
                                    <p:animEffect transition="in" filter="fade">
                                      <p:cBhvr>
                                        <p:cTn id="138"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p:bldP spid="11" grpId="0"/>
      <p:bldP spid="12" grpId="0"/>
      <p:bldP spid="13" grpId="0"/>
      <p:bldP spid="14" grpId="0"/>
      <p:bldP spid="30" grpId="0" animBg="1"/>
      <p:bldP spid="31" grpId="0" animBg="1"/>
      <p:bldP spid="32" grpId="0" animBg="1"/>
      <p:bldP spid="33" grpId="0" animBg="1"/>
      <p:bldP spid="34" grpId="0" animBg="1"/>
      <p:bldP spid="35" grpId="0"/>
      <p:bldP spid="36" grpId="0"/>
      <p:bldP spid="36" grpId="1"/>
      <p:bldP spid="37" grpId="0"/>
      <p:bldP spid="38" grpId="0"/>
      <p:bldP spid="39" grpId="0"/>
      <p:bldP spid="39" grpId="1"/>
      <p:bldP spid="42" grpId="0" animBg="1"/>
      <p:bldP spid="43" grpId="0"/>
      <p:bldP spid="44" grpId="0" animBg="1"/>
      <p:bldP spid="45" grpId="0"/>
      <p:bldP spid="45" grpId="1"/>
      <p:bldP spid="28" grpId="0" animBg="1"/>
      <p:bldP spid="2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Best fit</a:t>
            </a:r>
            <a:endParaRPr lang="en-US"/>
          </a:p>
        </p:txBody>
      </p:sp>
      <p:sp>
        <p:nvSpPr>
          <p:cNvPr id="3" name="Content Placeholder 2"/>
          <p:cNvSpPr>
            <a:spLocks noGrp="1"/>
          </p:cNvSpPr>
          <p:nvPr>
            <p:ph idx="1"/>
          </p:nvPr>
        </p:nvSpPr>
        <p:spPr/>
        <p:txBody>
          <a:bodyPr/>
          <a:lstStyle/>
          <a:p>
            <a:r>
              <a:rPr lang="en-US" b="1" dirty="0">
                <a:solidFill>
                  <a:schemeClr val="accent6"/>
                </a:solidFill>
              </a:rPr>
              <a:t>Entire memory is searched </a:t>
            </a:r>
            <a:r>
              <a:rPr lang="en-US" dirty="0"/>
              <a:t>here.</a:t>
            </a:r>
          </a:p>
          <a:p>
            <a:r>
              <a:rPr lang="en-US" dirty="0"/>
              <a:t>The </a:t>
            </a:r>
            <a:r>
              <a:rPr lang="en-US" b="1" dirty="0">
                <a:solidFill>
                  <a:schemeClr val="accent6"/>
                </a:solidFill>
              </a:rPr>
              <a:t>smallest hole, which is large enough to hold the process, is selected </a:t>
            </a:r>
            <a:r>
              <a:rPr lang="en-US" dirty="0"/>
              <a:t>for allocation.</a:t>
            </a:r>
          </a:p>
          <a:p>
            <a:r>
              <a:rPr lang="en-US" dirty="0"/>
              <a:t>Example: Processes of </a:t>
            </a:r>
            <a:r>
              <a:rPr lang="en-US" b="1" dirty="0">
                <a:solidFill>
                  <a:schemeClr val="tx2"/>
                </a:solidFill>
              </a:rPr>
              <a:t>212K, 417K, 112K</a:t>
            </a:r>
            <a:r>
              <a:rPr lang="en-US" dirty="0"/>
              <a:t> and </a:t>
            </a:r>
            <a:r>
              <a:rPr lang="en-US" b="1" dirty="0">
                <a:solidFill>
                  <a:schemeClr val="tx2"/>
                </a:solidFill>
              </a:rPr>
              <a:t>426K</a:t>
            </a:r>
            <a:r>
              <a:rPr lang="en-US" dirty="0"/>
              <a:t> arrives in order.</a:t>
            </a:r>
          </a:p>
          <a:p>
            <a:endParaRPr lang="en-US" b="1" dirty="0">
              <a:solidFill>
                <a:schemeClr val="accent6"/>
              </a:solidFill>
            </a:endParaRPr>
          </a:p>
          <a:p>
            <a:endParaRPr lang="en-US" b="1" dirty="0">
              <a:solidFill>
                <a:schemeClr val="accent6"/>
              </a:solidFill>
            </a:endParaRPr>
          </a:p>
          <a:p>
            <a:endParaRPr lang="en-US" b="1" dirty="0">
              <a:solidFill>
                <a:schemeClr val="accent6"/>
              </a:solidFill>
            </a:endParaRPr>
          </a:p>
          <a:p>
            <a:endParaRPr lang="en-US" b="1" dirty="0">
              <a:solidFill>
                <a:schemeClr val="accent6"/>
              </a:solidFill>
            </a:endParaRPr>
          </a:p>
          <a:p>
            <a:r>
              <a:rPr lang="en-US" b="1" dirty="0">
                <a:solidFill>
                  <a:schemeClr val="accent6"/>
                </a:solidFill>
              </a:rPr>
              <a:t>Disadvantage: Search time is high</a:t>
            </a:r>
            <a:r>
              <a:rPr lang="en-US" dirty="0"/>
              <a:t>, as it searches entire memory every time.</a:t>
            </a:r>
          </a:p>
          <a:p>
            <a:r>
              <a:rPr lang="en-US" b="1" dirty="0">
                <a:solidFill>
                  <a:schemeClr val="accent6"/>
                </a:solidFill>
              </a:rPr>
              <a:t>Advantage: Memory loss is less</a:t>
            </a:r>
            <a:r>
              <a:rPr lang="en-US" dirty="0"/>
              <a:t>.</a:t>
            </a:r>
          </a:p>
        </p:txBody>
      </p:sp>
      <p:sp>
        <p:nvSpPr>
          <p:cNvPr id="5" name="Rectangle 4"/>
          <p:cNvSpPr>
            <a:spLocks noChangeArrowheads="1"/>
          </p:cNvSpPr>
          <p:nvPr/>
        </p:nvSpPr>
        <p:spPr bwMode="auto">
          <a:xfrm>
            <a:off x="1638299" y="2564671"/>
            <a:ext cx="4572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6" name="Rectangle 5"/>
          <p:cNvSpPr>
            <a:spLocks noChangeArrowheads="1"/>
          </p:cNvSpPr>
          <p:nvPr/>
        </p:nvSpPr>
        <p:spPr bwMode="auto">
          <a:xfrm>
            <a:off x="2081483" y="2564671"/>
            <a:ext cx="22860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7" name="Rectangle 6"/>
          <p:cNvSpPr>
            <a:spLocks noChangeArrowheads="1"/>
          </p:cNvSpPr>
          <p:nvPr/>
        </p:nvSpPr>
        <p:spPr bwMode="auto">
          <a:xfrm>
            <a:off x="4353467" y="2564671"/>
            <a:ext cx="9144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8" name="Rectangle 7"/>
          <p:cNvSpPr>
            <a:spLocks noChangeArrowheads="1"/>
          </p:cNvSpPr>
          <p:nvPr/>
        </p:nvSpPr>
        <p:spPr bwMode="auto">
          <a:xfrm>
            <a:off x="5253851" y="2564671"/>
            <a:ext cx="13716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9" name="Rectangle 8"/>
          <p:cNvSpPr>
            <a:spLocks noChangeArrowheads="1"/>
          </p:cNvSpPr>
          <p:nvPr/>
        </p:nvSpPr>
        <p:spPr bwMode="auto">
          <a:xfrm>
            <a:off x="6611435" y="2564671"/>
            <a:ext cx="27432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10" name="Text Box 87"/>
          <p:cNvSpPr txBox="1">
            <a:spLocks noChangeArrowheads="1"/>
          </p:cNvSpPr>
          <p:nvPr/>
        </p:nvSpPr>
        <p:spPr bwMode="auto">
          <a:xfrm>
            <a:off x="1609724" y="2315180"/>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100k</a:t>
            </a:r>
            <a:endParaRPr lang="en-IN" sz="1100">
              <a:effectLst/>
              <a:latin typeface="+mj-lt"/>
              <a:ea typeface="Times New Roman" panose="02020603050405020304" pitchFamily="18" charset="0"/>
              <a:cs typeface="Times New Roman" panose="02020603050405020304" pitchFamily="18" charset="0"/>
            </a:endParaRPr>
          </a:p>
        </p:txBody>
      </p:sp>
      <p:sp>
        <p:nvSpPr>
          <p:cNvPr id="11" name="Text Box 88"/>
          <p:cNvSpPr txBox="1">
            <a:spLocks noChangeArrowheads="1"/>
          </p:cNvSpPr>
          <p:nvPr/>
        </p:nvSpPr>
        <p:spPr bwMode="auto">
          <a:xfrm>
            <a:off x="2967308" y="2315180"/>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500k</a:t>
            </a:r>
            <a:endParaRPr lang="en-IN" sz="1100">
              <a:effectLst/>
              <a:latin typeface="+mj-lt"/>
              <a:ea typeface="Times New Roman" panose="02020603050405020304" pitchFamily="18" charset="0"/>
              <a:cs typeface="Times New Roman" panose="02020603050405020304" pitchFamily="18" charset="0"/>
            </a:endParaRPr>
          </a:p>
        </p:txBody>
      </p:sp>
      <p:sp>
        <p:nvSpPr>
          <p:cNvPr id="12" name="Text Box 89"/>
          <p:cNvSpPr txBox="1">
            <a:spLocks noChangeArrowheads="1"/>
          </p:cNvSpPr>
          <p:nvPr/>
        </p:nvSpPr>
        <p:spPr bwMode="auto">
          <a:xfrm>
            <a:off x="4553492" y="2315180"/>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200k</a:t>
            </a:r>
            <a:endParaRPr lang="en-IN" sz="1100">
              <a:effectLst/>
              <a:latin typeface="+mj-lt"/>
              <a:ea typeface="Times New Roman" panose="02020603050405020304" pitchFamily="18" charset="0"/>
              <a:cs typeface="Times New Roman" panose="02020603050405020304" pitchFamily="18" charset="0"/>
            </a:endParaRPr>
          </a:p>
        </p:txBody>
      </p:sp>
      <p:sp>
        <p:nvSpPr>
          <p:cNvPr id="13" name="Text Box 90"/>
          <p:cNvSpPr txBox="1">
            <a:spLocks noChangeArrowheads="1"/>
          </p:cNvSpPr>
          <p:nvPr/>
        </p:nvSpPr>
        <p:spPr bwMode="auto">
          <a:xfrm>
            <a:off x="5682476" y="2315180"/>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300k</a:t>
            </a:r>
            <a:endParaRPr lang="en-IN" sz="1100">
              <a:effectLst/>
              <a:latin typeface="+mj-lt"/>
              <a:ea typeface="Times New Roman" panose="02020603050405020304" pitchFamily="18" charset="0"/>
              <a:cs typeface="Times New Roman" panose="02020603050405020304" pitchFamily="18" charset="0"/>
            </a:endParaRPr>
          </a:p>
        </p:txBody>
      </p:sp>
      <p:sp>
        <p:nvSpPr>
          <p:cNvPr id="14" name="Text Box 91"/>
          <p:cNvSpPr txBox="1">
            <a:spLocks noChangeArrowheads="1"/>
          </p:cNvSpPr>
          <p:nvPr/>
        </p:nvSpPr>
        <p:spPr bwMode="auto">
          <a:xfrm>
            <a:off x="7725860" y="2315180"/>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600k</a:t>
            </a:r>
            <a:endParaRPr lang="en-IN" sz="1100">
              <a:effectLst/>
              <a:latin typeface="+mj-lt"/>
              <a:ea typeface="Times New Roman" panose="02020603050405020304" pitchFamily="18" charset="0"/>
              <a:cs typeface="Times New Roman" panose="02020603050405020304" pitchFamily="18" charset="0"/>
            </a:endParaRPr>
          </a:p>
        </p:txBody>
      </p:sp>
      <p:sp>
        <p:nvSpPr>
          <p:cNvPr id="30" name="Rectangle 29"/>
          <p:cNvSpPr>
            <a:spLocks noChangeArrowheads="1"/>
          </p:cNvSpPr>
          <p:nvPr/>
        </p:nvSpPr>
        <p:spPr bwMode="auto">
          <a:xfrm>
            <a:off x="1638299" y="3358303"/>
            <a:ext cx="4572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31" name="Rectangle 30"/>
          <p:cNvSpPr>
            <a:spLocks noChangeArrowheads="1"/>
          </p:cNvSpPr>
          <p:nvPr/>
        </p:nvSpPr>
        <p:spPr bwMode="auto">
          <a:xfrm>
            <a:off x="2081483" y="3358303"/>
            <a:ext cx="22860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32" name="Rectangle 31"/>
          <p:cNvSpPr>
            <a:spLocks noChangeArrowheads="1"/>
          </p:cNvSpPr>
          <p:nvPr/>
        </p:nvSpPr>
        <p:spPr bwMode="auto">
          <a:xfrm>
            <a:off x="4353467" y="3358303"/>
            <a:ext cx="9144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33" name="Rectangle 32"/>
          <p:cNvSpPr>
            <a:spLocks noChangeArrowheads="1"/>
          </p:cNvSpPr>
          <p:nvPr/>
        </p:nvSpPr>
        <p:spPr bwMode="auto">
          <a:xfrm>
            <a:off x="5253851" y="3358303"/>
            <a:ext cx="13716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34" name="Rectangle 33"/>
          <p:cNvSpPr>
            <a:spLocks noChangeArrowheads="1"/>
          </p:cNvSpPr>
          <p:nvPr/>
        </p:nvSpPr>
        <p:spPr bwMode="auto">
          <a:xfrm>
            <a:off x="6611435" y="3358303"/>
            <a:ext cx="27432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35" name="Text Box 87"/>
          <p:cNvSpPr txBox="1">
            <a:spLocks noChangeArrowheads="1"/>
          </p:cNvSpPr>
          <p:nvPr/>
        </p:nvSpPr>
        <p:spPr bwMode="auto">
          <a:xfrm>
            <a:off x="1609724" y="3111570"/>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100k</a:t>
            </a:r>
            <a:endParaRPr lang="en-IN" sz="1100">
              <a:effectLst/>
              <a:latin typeface="+mj-lt"/>
              <a:ea typeface="Times New Roman" panose="02020603050405020304" pitchFamily="18" charset="0"/>
              <a:cs typeface="Times New Roman" panose="02020603050405020304" pitchFamily="18" charset="0"/>
            </a:endParaRPr>
          </a:p>
        </p:txBody>
      </p:sp>
      <p:sp>
        <p:nvSpPr>
          <p:cNvPr id="36" name="Text Box 88"/>
          <p:cNvSpPr txBox="1">
            <a:spLocks noChangeArrowheads="1"/>
          </p:cNvSpPr>
          <p:nvPr/>
        </p:nvSpPr>
        <p:spPr bwMode="auto">
          <a:xfrm>
            <a:off x="2967308" y="3111570"/>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500k</a:t>
            </a:r>
            <a:endParaRPr lang="en-IN" sz="1100">
              <a:effectLst/>
              <a:latin typeface="+mj-lt"/>
              <a:ea typeface="Times New Roman" panose="02020603050405020304" pitchFamily="18" charset="0"/>
              <a:cs typeface="Times New Roman" panose="02020603050405020304" pitchFamily="18" charset="0"/>
            </a:endParaRPr>
          </a:p>
        </p:txBody>
      </p:sp>
      <p:sp>
        <p:nvSpPr>
          <p:cNvPr id="37" name="Text Box 89"/>
          <p:cNvSpPr txBox="1">
            <a:spLocks noChangeArrowheads="1"/>
          </p:cNvSpPr>
          <p:nvPr/>
        </p:nvSpPr>
        <p:spPr bwMode="auto">
          <a:xfrm>
            <a:off x="4553492" y="3111570"/>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200k</a:t>
            </a:r>
            <a:endParaRPr lang="en-IN" sz="1100">
              <a:effectLst/>
              <a:latin typeface="+mj-lt"/>
              <a:ea typeface="Times New Roman" panose="02020603050405020304" pitchFamily="18" charset="0"/>
              <a:cs typeface="Times New Roman" panose="02020603050405020304" pitchFamily="18" charset="0"/>
            </a:endParaRPr>
          </a:p>
        </p:txBody>
      </p:sp>
      <p:sp>
        <p:nvSpPr>
          <p:cNvPr id="38" name="Text Box 90"/>
          <p:cNvSpPr txBox="1">
            <a:spLocks noChangeArrowheads="1"/>
          </p:cNvSpPr>
          <p:nvPr/>
        </p:nvSpPr>
        <p:spPr bwMode="auto">
          <a:xfrm>
            <a:off x="5682476" y="3111570"/>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300k</a:t>
            </a:r>
            <a:endParaRPr lang="en-IN" sz="1100">
              <a:effectLst/>
              <a:latin typeface="+mj-lt"/>
              <a:ea typeface="Times New Roman" panose="02020603050405020304" pitchFamily="18" charset="0"/>
              <a:cs typeface="Times New Roman" panose="02020603050405020304" pitchFamily="18" charset="0"/>
            </a:endParaRPr>
          </a:p>
        </p:txBody>
      </p:sp>
      <p:sp>
        <p:nvSpPr>
          <p:cNvPr id="39" name="Text Box 91"/>
          <p:cNvSpPr txBox="1">
            <a:spLocks noChangeArrowheads="1"/>
          </p:cNvSpPr>
          <p:nvPr/>
        </p:nvSpPr>
        <p:spPr bwMode="auto">
          <a:xfrm>
            <a:off x="7725860" y="3111570"/>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600k</a:t>
            </a:r>
            <a:endParaRPr lang="en-IN" sz="1100">
              <a:effectLst/>
              <a:latin typeface="+mj-lt"/>
              <a:ea typeface="Times New Roman" panose="02020603050405020304" pitchFamily="18" charset="0"/>
              <a:cs typeface="Times New Roman" panose="02020603050405020304" pitchFamily="18" charset="0"/>
            </a:endParaRPr>
          </a:p>
        </p:txBody>
      </p:sp>
      <p:sp>
        <p:nvSpPr>
          <p:cNvPr id="42" name="Text Box 105" descr="Light upward diagonal"/>
          <p:cNvSpPr txBox="1">
            <a:spLocks noChangeArrowheads="1"/>
          </p:cNvSpPr>
          <p:nvPr/>
        </p:nvSpPr>
        <p:spPr bwMode="auto">
          <a:xfrm>
            <a:off x="5253306" y="3358303"/>
            <a:ext cx="914400" cy="457200"/>
          </a:xfrm>
          <a:prstGeom prst="rect">
            <a:avLst/>
          </a:prstGeom>
          <a:pattFill prst="ltUpDiag">
            <a:fgClr>
              <a:srgbClr val="000000"/>
            </a:fgClr>
            <a:bgClr>
              <a:srgbClr val="FFFFFF"/>
            </a:bgClr>
          </a:pattFill>
          <a:ln w="19050">
            <a:solidFill>
              <a:schemeClr val="tx2"/>
            </a:solidFill>
            <a:miter lim="800000"/>
          </a:ln>
        </p:spPr>
        <p:txBody>
          <a:bodyPr rot="0" vert="horz" wrap="square" lIns="91440" tIns="45720" rIns="91440" bIns="45720" anchor="ctr" anchorCtr="0" upright="1">
            <a:noAutofit/>
          </a:bodyPr>
          <a:lstStyle/>
          <a:p>
            <a:pPr algn="ctr">
              <a:lnSpc>
                <a:spcPct val="115000"/>
              </a:lnSpc>
              <a:spcAft>
                <a:spcPts val="1000"/>
              </a:spcAft>
            </a:pPr>
            <a:r>
              <a:rPr lang="en-US" sz="1100" b="1">
                <a:ln w="3175">
                  <a:solidFill>
                    <a:schemeClr val="tx1"/>
                  </a:solidFill>
                </a:ln>
                <a:effectLst/>
                <a:latin typeface="+mj-lt"/>
                <a:ea typeface="Times New Roman" panose="02020603050405020304" pitchFamily="18" charset="0"/>
                <a:cs typeface="Times New Roman" panose="02020603050405020304" pitchFamily="18" charset="0"/>
              </a:rPr>
              <a:t>212k</a:t>
            </a:r>
            <a:endParaRPr lang="en-IN" sz="1100">
              <a:ln w="3175">
                <a:solidFill>
                  <a:schemeClr val="tx1"/>
                </a:solidFill>
              </a:ln>
              <a:effectLst/>
              <a:latin typeface="+mj-lt"/>
              <a:ea typeface="Times New Roman" panose="02020603050405020304" pitchFamily="18" charset="0"/>
              <a:cs typeface="Times New Roman" panose="02020603050405020304" pitchFamily="18" charset="0"/>
            </a:endParaRPr>
          </a:p>
        </p:txBody>
      </p:sp>
      <p:sp>
        <p:nvSpPr>
          <p:cNvPr id="43" name="Text Box 88"/>
          <p:cNvSpPr txBox="1">
            <a:spLocks noChangeArrowheads="1"/>
          </p:cNvSpPr>
          <p:nvPr/>
        </p:nvSpPr>
        <p:spPr bwMode="auto">
          <a:xfrm>
            <a:off x="6155925" y="3111570"/>
            <a:ext cx="45720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88k</a:t>
            </a:r>
            <a:endParaRPr lang="en-IN" sz="1100">
              <a:effectLst/>
              <a:latin typeface="+mj-lt"/>
              <a:ea typeface="Times New Roman" panose="02020603050405020304" pitchFamily="18" charset="0"/>
              <a:cs typeface="Times New Roman" panose="02020603050405020304" pitchFamily="18" charset="0"/>
            </a:endParaRPr>
          </a:p>
        </p:txBody>
      </p:sp>
      <p:sp>
        <p:nvSpPr>
          <p:cNvPr id="44" name="Text Box 105" descr="Light upward diagonal"/>
          <p:cNvSpPr txBox="1">
            <a:spLocks noChangeArrowheads="1"/>
          </p:cNvSpPr>
          <p:nvPr/>
        </p:nvSpPr>
        <p:spPr bwMode="auto">
          <a:xfrm>
            <a:off x="2092094" y="3358303"/>
            <a:ext cx="1828800" cy="457200"/>
          </a:xfrm>
          <a:prstGeom prst="rect">
            <a:avLst/>
          </a:prstGeom>
          <a:pattFill prst="ltUpDiag">
            <a:fgClr>
              <a:srgbClr val="000000"/>
            </a:fgClr>
            <a:bgClr>
              <a:srgbClr val="FFFFFF"/>
            </a:bgClr>
          </a:pattFill>
          <a:ln w="19050">
            <a:solidFill>
              <a:schemeClr val="tx2"/>
            </a:solidFill>
            <a:miter lim="800000"/>
          </a:ln>
        </p:spPr>
        <p:txBody>
          <a:bodyPr rot="0" vert="horz" wrap="square" lIns="91440" tIns="45720" rIns="91440" bIns="45720" anchor="ctr" anchorCtr="0" upright="1">
            <a:noAutofit/>
          </a:bodyPr>
          <a:lstStyle/>
          <a:p>
            <a:pPr algn="ctr">
              <a:lnSpc>
                <a:spcPct val="115000"/>
              </a:lnSpc>
              <a:spcAft>
                <a:spcPts val="1000"/>
              </a:spcAft>
            </a:pPr>
            <a:r>
              <a:rPr lang="en-US" sz="1100" b="1">
                <a:ln w="3175">
                  <a:solidFill>
                    <a:schemeClr val="tx1"/>
                  </a:solidFill>
                </a:ln>
                <a:effectLst/>
                <a:latin typeface="+mj-lt"/>
                <a:ea typeface="Times New Roman" panose="02020603050405020304" pitchFamily="18" charset="0"/>
                <a:cs typeface="Times New Roman" panose="02020603050405020304" pitchFamily="18" charset="0"/>
              </a:rPr>
              <a:t>417k</a:t>
            </a:r>
            <a:endParaRPr lang="en-IN" sz="1100">
              <a:ln w="3175">
                <a:solidFill>
                  <a:schemeClr val="tx1"/>
                </a:solidFill>
              </a:ln>
              <a:effectLst/>
              <a:latin typeface="+mj-lt"/>
              <a:ea typeface="Times New Roman" panose="02020603050405020304" pitchFamily="18" charset="0"/>
              <a:cs typeface="Times New Roman" panose="02020603050405020304" pitchFamily="18" charset="0"/>
            </a:endParaRPr>
          </a:p>
        </p:txBody>
      </p:sp>
      <p:sp>
        <p:nvSpPr>
          <p:cNvPr id="45" name="Text Box 91"/>
          <p:cNvSpPr txBox="1">
            <a:spLocks noChangeArrowheads="1"/>
          </p:cNvSpPr>
          <p:nvPr/>
        </p:nvSpPr>
        <p:spPr bwMode="auto">
          <a:xfrm>
            <a:off x="3913614" y="3111570"/>
            <a:ext cx="45720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83k</a:t>
            </a:r>
            <a:endParaRPr lang="en-IN" sz="1100">
              <a:effectLst/>
              <a:latin typeface="+mj-lt"/>
              <a:ea typeface="Times New Roman" panose="02020603050405020304" pitchFamily="18" charset="0"/>
              <a:cs typeface="Times New Roman" panose="02020603050405020304" pitchFamily="18" charset="0"/>
            </a:endParaRPr>
          </a:p>
        </p:txBody>
      </p:sp>
      <p:sp>
        <p:nvSpPr>
          <p:cNvPr id="28" name="Text Box 105" descr="Light upward diagonal"/>
          <p:cNvSpPr txBox="1">
            <a:spLocks noChangeArrowheads="1"/>
          </p:cNvSpPr>
          <p:nvPr/>
        </p:nvSpPr>
        <p:spPr bwMode="auto">
          <a:xfrm>
            <a:off x="6612208" y="3358303"/>
            <a:ext cx="1920240" cy="457200"/>
          </a:xfrm>
          <a:prstGeom prst="rect">
            <a:avLst/>
          </a:prstGeom>
          <a:pattFill prst="ltUpDiag">
            <a:fgClr>
              <a:srgbClr val="000000"/>
            </a:fgClr>
            <a:bgClr>
              <a:srgbClr val="FFFFFF"/>
            </a:bgClr>
          </a:pattFill>
          <a:ln w="19050">
            <a:solidFill>
              <a:schemeClr val="tx2"/>
            </a:solidFill>
            <a:miter lim="800000"/>
          </a:ln>
        </p:spPr>
        <p:txBody>
          <a:bodyPr rot="0" vert="horz" wrap="square" lIns="91440" tIns="45720" rIns="91440" bIns="45720" anchor="ctr" anchorCtr="0" upright="1">
            <a:noAutofit/>
          </a:bodyPr>
          <a:lstStyle/>
          <a:p>
            <a:pPr algn="ctr">
              <a:lnSpc>
                <a:spcPct val="115000"/>
              </a:lnSpc>
              <a:spcAft>
                <a:spcPts val="1000"/>
              </a:spcAft>
            </a:pPr>
            <a:r>
              <a:rPr lang="en-US" sz="1100" b="1">
                <a:ln w="3175">
                  <a:solidFill>
                    <a:schemeClr val="tx1"/>
                  </a:solidFill>
                </a:ln>
                <a:effectLst/>
                <a:latin typeface="+mj-lt"/>
                <a:ea typeface="Times New Roman" panose="02020603050405020304" pitchFamily="18" charset="0"/>
                <a:cs typeface="Times New Roman" panose="02020603050405020304" pitchFamily="18" charset="0"/>
              </a:rPr>
              <a:t>426k</a:t>
            </a:r>
            <a:endParaRPr lang="en-IN" sz="1100">
              <a:ln w="3175">
                <a:solidFill>
                  <a:schemeClr val="tx1"/>
                </a:solidFill>
              </a:ln>
              <a:effectLst/>
              <a:latin typeface="+mj-lt"/>
              <a:ea typeface="Times New Roman" panose="02020603050405020304" pitchFamily="18" charset="0"/>
              <a:cs typeface="Times New Roman" panose="02020603050405020304" pitchFamily="18" charset="0"/>
            </a:endParaRPr>
          </a:p>
        </p:txBody>
      </p:sp>
      <p:sp>
        <p:nvSpPr>
          <p:cNvPr id="29" name="Text Box 88"/>
          <p:cNvSpPr txBox="1">
            <a:spLocks noChangeArrowheads="1"/>
          </p:cNvSpPr>
          <p:nvPr/>
        </p:nvSpPr>
        <p:spPr bwMode="auto">
          <a:xfrm>
            <a:off x="8752314" y="3111570"/>
            <a:ext cx="45720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174k</a:t>
            </a:r>
            <a:endParaRPr lang="en-IN" sz="1100">
              <a:effectLst/>
              <a:latin typeface="+mj-lt"/>
              <a:ea typeface="Times New Roman" panose="02020603050405020304" pitchFamily="18" charset="0"/>
              <a:cs typeface="Times New Roman" panose="02020603050405020304" pitchFamily="18" charset="0"/>
            </a:endParaRPr>
          </a:p>
        </p:txBody>
      </p:sp>
      <p:sp>
        <p:nvSpPr>
          <p:cNvPr id="40" name="Text Box 105" descr="Light upward diagonal"/>
          <p:cNvSpPr txBox="1">
            <a:spLocks noChangeArrowheads="1"/>
          </p:cNvSpPr>
          <p:nvPr/>
        </p:nvSpPr>
        <p:spPr bwMode="auto">
          <a:xfrm>
            <a:off x="4346718" y="3358303"/>
            <a:ext cx="548640" cy="457200"/>
          </a:xfrm>
          <a:prstGeom prst="rect">
            <a:avLst/>
          </a:prstGeom>
          <a:pattFill prst="ltUpDiag">
            <a:fgClr>
              <a:srgbClr val="000000"/>
            </a:fgClr>
            <a:bgClr>
              <a:srgbClr val="FFFFFF"/>
            </a:bgClr>
          </a:pattFill>
          <a:ln w="19050">
            <a:solidFill>
              <a:schemeClr val="tx2"/>
            </a:solidFill>
            <a:miter lim="800000"/>
          </a:ln>
        </p:spPr>
        <p:txBody>
          <a:bodyPr rot="0" vert="horz" wrap="square" lIns="91440" tIns="45720" rIns="91440" bIns="45720" anchor="ctr" anchorCtr="0" upright="1">
            <a:noAutofit/>
          </a:bodyPr>
          <a:lstStyle/>
          <a:p>
            <a:pPr algn="ctr">
              <a:lnSpc>
                <a:spcPct val="115000"/>
              </a:lnSpc>
              <a:spcAft>
                <a:spcPts val="1000"/>
              </a:spcAft>
            </a:pPr>
            <a:r>
              <a:rPr lang="en-US" sz="1100" b="1">
                <a:ln w="3175">
                  <a:solidFill>
                    <a:schemeClr val="tx1"/>
                  </a:solidFill>
                </a:ln>
                <a:effectLst/>
                <a:latin typeface="+mj-lt"/>
                <a:ea typeface="Times New Roman" panose="02020603050405020304" pitchFamily="18" charset="0"/>
                <a:cs typeface="Times New Roman" panose="02020603050405020304" pitchFamily="18" charset="0"/>
              </a:rPr>
              <a:t>112k</a:t>
            </a:r>
            <a:endParaRPr lang="en-IN" sz="1100">
              <a:ln w="3175">
                <a:solidFill>
                  <a:schemeClr val="tx1"/>
                </a:solidFill>
              </a:ln>
              <a:effectLst/>
              <a:latin typeface="+mj-lt"/>
              <a:ea typeface="Times New Roman" panose="02020603050405020304" pitchFamily="18" charset="0"/>
              <a:cs typeface="Times New Roman" panose="02020603050405020304" pitchFamily="18" charset="0"/>
            </a:endParaRPr>
          </a:p>
        </p:txBody>
      </p:sp>
      <p:sp>
        <p:nvSpPr>
          <p:cNvPr id="41" name="Text Box 88"/>
          <p:cNvSpPr txBox="1">
            <a:spLocks noChangeArrowheads="1"/>
          </p:cNvSpPr>
          <p:nvPr/>
        </p:nvSpPr>
        <p:spPr bwMode="auto">
          <a:xfrm>
            <a:off x="4854040" y="3111570"/>
            <a:ext cx="45720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88k</a:t>
            </a:r>
            <a:endParaRPr lang="en-IN" sz="1100">
              <a:effectLst/>
              <a:latin typeface="+mj-l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739031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childTnLst>
                    </p:cTn>
                  </p:par>
                  <p:par>
                    <p:cTn id="35" fill="hold" nodeType="clickPar">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0" end="0"/>
                                            </p:txEl>
                                          </p:spTgt>
                                        </p:tgtEl>
                                        <p:attrNameLst>
                                          <p:attrName>style.visibility</p:attrName>
                                        </p:attrNameLst>
                                      </p:cBhvr>
                                      <p:to>
                                        <p:strVal val="visible"/>
                                      </p:to>
                                    </p:set>
                                    <p:animEffect transition="in" filter="fade">
                                      <p:cBhvr>
                                        <p:cTn id="39" dur="500"/>
                                        <p:tgtEl>
                                          <p:spTgt spid="3">
                                            <p:txEl>
                                              <p:pRg st="0" end="0"/>
                                            </p:txEl>
                                          </p:spTgt>
                                        </p:tgtEl>
                                      </p:cBhvr>
                                    </p:animEffect>
                                  </p:childTnLst>
                                </p:cTn>
                              </p:par>
                            </p:childTnLst>
                          </p:cTn>
                        </p:par>
                      </p:childTnLst>
                    </p:cTn>
                  </p:par>
                  <p:par>
                    <p:cTn id="40" fill="hold" nodeType="clickPar">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1" end="1"/>
                                            </p:txEl>
                                          </p:spTgt>
                                        </p:tgtEl>
                                        <p:attrNameLst>
                                          <p:attrName>style.visibility</p:attrName>
                                        </p:attrNameLst>
                                      </p:cBhvr>
                                      <p:to>
                                        <p:strVal val="visible"/>
                                      </p:to>
                                    </p:set>
                                    <p:animEffect transition="in" filter="fade">
                                      <p:cBhvr>
                                        <p:cTn id="44" dur="500"/>
                                        <p:tgtEl>
                                          <p:spTgt spid="3">
                                            <p:txEl>
                                              <p:pRg st="1" end="1"/>
                                            </p:txEl>
                                          </p:spTgt>
                                        </p:tgtEl>
                                      </p:cBhvr>
                                    </p:animEffect>
                                  </p:childTnLst>
                                </p:cTn>
                              </p:par>
                            </p:childTnLst>
                          </p:cTn>
                        </p:par>
                      </p:childTnLst>
                    </p:cTn>
                  </p:par>
                  <p:par>
                    <p:cTn id="45" fill="hold" nodeType="clickPar">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2" end="2"/>
                                            </p:txEl>
                                          </p:spTgt>
                                        </p:tgtEl>
                                        <p:attrNameLst>
                                          <p:attrName>style.visibility</p:attrName>
                                        </p:attrNameLst>
                                      </p:cBhvr>
                                      <p:to>
                                        <p:strVal val="visible"/>
                                      </p:to>
                                    </p:set>
                                    <p:animEffect transition="in" filter="fade">
                                      <p:cBhvr>
                                        <p:cTn id="49" dur="500"/>
                                        <p:tgtEl>
                                          <p:spTgt spid="3">
                                            <p:txEl>
                                              <p:pRg st="2" end="2"/>
                                            </p:txEl>
                                          </p:spTgt>
                                        </p:tgtEl>
                                      </p:cBhvr>
                                    </p:animEffect>
                                  </p:childTnLst>
                                </p:cTn>
                              </p:par>
                            </p:childTnLst>
                          </p:cTn>
                        </p:par>
                      </p:childTnLst>
                    </p:cTn>
                  </p:par>
                  <p:par>
                    <p:cTn id="50" fill="hold" nodeType="clickPar">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500"/>
                                        <p:tgtEl>
                                          <p:spTgt spid="3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500"/>
                                        <p:tgtEl>
                                          <p:spTgt spid="3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500"/>
                                        <p:tgtEl>
                                          <p:spTgt spid="3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fade">
                                      <p:cBhvr>
                                        <p:cTn id="63" dur="500"/>
                                        <p:tgtEl>
                                          <p:spTgt spid="3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5"/>
                                        </p:tgtEl>
                                        <p:attrNameLst>
                                          <p:attrName>style.visibility</p:attrName>
                                        </p:attrNameLst>
                                      </p:cBhvr>
                                      <p:to>
                                        <p:strVal val="visible"/>
                                      </p:to>
                                    </p:set>
                                    <p:animEffect transition="in" filter="fade">
                                      <p:cBhvr>
                                        <p:cTn id="66" dur="500"/>
                                        <p:tgtEl>
                                          <p:spTgt spid="3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500"/>
                                        <p:tgtEl>
                                          <p:spTgt spid="3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500"/>
                                        <p:tgtEl>
                                          <p:spTgt spid="3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500"/>
                                        <p:tgtEl>
                                          <p:spTgt spid="3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500"/>
                                        <p:tgtEl>
                                          <p:spTgt spid="3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500"/>
                                        <p:tgtEl>
                                          <p:spTgt spid="31"/>
                                        </p:tgtEl>
                                      </p:cBhvr>
                                    </p:animEffect>
                                  </p:childTnLst>
                                </p:cTn>
                              </p:par>
                            </p:childTnLst>
                          </p:cTn>
                        </p:par>
                      </p:childTnLst>
                    </p:cTn>
                  </p:par>
                  <p:par>
                    <p:cTn id="82" fill="hold" nodeType="clickPar">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42"/>
                                        </p:tgtEl>
                                        <p:attrNameLst>
                                          <p:attrName>style.visibility</p:attrName>
                                        </p:attrNameLst>
                                      </p:cBhvr>
                                      <p:to>
                                        <p:strVal val="visible"/>
                                      </p:to>
                                    </p:set>
                                    <p:animEffect transition="in" filter="fade">
                                      <p:cBhvr>
                                        <p:cTn id="86" dur="500"/>
                                        <p:tgtEl>
                                          <p:spTgt spid="42"/>
                                        </p:tgtEl>
                                      </p:cBhvr>
                                    </p:animEffect>
                                  </p:childTnLst>
                                </p:cTn>
                              </p:par>
                            </p:childTnLst>
                          </p:cTn>
                        </p:par>
                      </p:childTnLst>
                    </p:cTn>
                  </p:par>
                  <p:par>
                    <p:cTn id="87" fill="hold" nodeType="clickPar">
                      <p:stCondLst>
                        <p:cond delay="indefinite"/>
                      </p:stCondLst>
                      <p:childTnLst>
                        <p:par>
                          <p:cTn id="88" fill="hold">
                            <p:stCondLst>
                              <p:cond delay="0"/>
                            </p:stCondLst>
                            <p:childTnLst>
                              <p:par>
                                <p:cTn id="89" presetID="10" presetClass="exit" presetSubtype="0" fill="hold" grpId="1" nodeType="clickEffect">
                                  <p:stCondLst>
                                    <p:cond delay="0"/>
                                  </p:stCondLst>
                                  <p:childTnLst>
                                    <p:animEffect transition="out" filter="fade">
                                      <p:cBhvr>
                                        <p:cTn id="90" dur="500"/>
                                        <p:tgtEl>
                                          <p:spTgt spid="38"/>
                                        </p:tgtEl>
                                      </p:cBhvr>
                                    </p:animEffect>
                                    <p:set>
                                      <p:cBhvr>
                                        <p:cTn id="91" dur="1" fill="hold">
                                          <p:stCondLst>
                                            <p:cond delay="499"/>
                                          </p:stCondLst>
                                        </p:cTn>
                                        <p:tgtEl>
                                          <p:spTgt spid="38"/>
                                        </p:tgtEl>
                                        <p:attrNameLst>
                                          <p:attrName>style.visibility</p:attrName>
                                        </p:attrNameLst>
                                      </p:cBhvr>
                                      <p:to>
                                        <p:strVal val="hidden"/>
                                      </p:to>
                                    </p:set>
                                  </p:childTnLst>
                                </p:cTn>
                              </p:par>
                              <p:par>
                                <p:cTn id="92" presetID="10" presetClass="entr" presetSubtype="0" fill="hold" grpId="0" nodeType="withEffect">
                                  <p:stCondLst>
                                    <p:cond delay="0"/>
                                  </p:stCondLst>
                                  <p:childTnLst>
                                    <p:set>
                                      <p:cBhvr>
                                        <p:cTn id="93" dur="1" fill="hold">
                                          <p:stCondLst>
                                            <p:cond delay="0"/>
                                          </p:stCondLst>
                                        </p:cTn>
                                        <p:tgtEl>
                                          <p:spTgt spid="43"/>
                                        </p:tgtEl>
                                        <p:attrNameLst>
                                          <p:attrName>style.visibility</p:attrName>
                                        </p:attrNameLst>
                                      </p:cBhvr>
                                      <p:to>
                                        <p:strVal val="visible"/>
                                      </p:to>
                                    </p:set>
                                    <p:animEffect transition="in" filter="fade">
                                      <p:cBhvr>
                                        <p:cTn id="94" dur="500"/>
                                        <p:tgtEl>
                                          <p:spTgt spid="43"/>
                                        </p:tgtEl>
                                      </p:cBhvr>
                                    </p:animEffect>
                                  </p:childTnLst>
                                </p:cTn>
                              </p:par>
                            </p:childTnLst>
                          </p:cTn>
                        </p:par>
                      </p:childTnLst>
                    </p:cTn>
                  </p:par>
                  <p:par>
                    <p:cTn id="95" fill="hold" nodeType="clickPar">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44"/>
                                        </p:tgtEl>
                                        <p:attrNameLst>
                                          <p:attrName>style.visibility</p:attrName>
                                        </p:attrNameLst>
                                      </p:cBhvr>
                                      <p:to>
                                        <p:strVal val="visible"/>
                                      </p:to>
                                    </p:set>
                                    <p:animEffect transition="in" filter="fade">
                                      <p:cBhvr>
                                        <p:cTn id="99" dur="500"/>
                                        <p:tgtEl>
                                          <p:spTgt spid="44"/>
                                        </p:tgtEl>
                                      </p:cBhvr>
                                    </p:animEffect>
                                  </p:childTnLst>
                                </p:cTn>
                              </p:par>
                            </p:childTnLst>
                          </p:cTn>
                        </p:par>
                      </p:childTnLst>
                    </p:cTn>
                  </p:par>
                  <p:par>
                    <p:cTn id="100" fill="hold" nodeType="clickPar">
                      <p:stCondLst>
                        <p:cond delay="indefinite"/>
                      </p:stCondLst>
                      <p:childTnLst>
                        <p:par>
                          <p:cTn id="101" fill="hold">
                            <p:stCondLst>
                              <p:cond delay="0"/>
                            </p:stCondLst>
                            <p:childTnLst>
                              <p:par>
                                <p:cTn id="102" presetID="10" presetClass="exit" presetSubtype="0" fill="hold" grpId="1" nodeType="clickEffect">
                                  <p:stCondLst>
                                    <p:cond delay="0"/>
                                  </p:stCondLst>
                                  <p:childTnLst>
                                    <p:animEffect transition="out" filter="fade">
                                      <p:cBhvr>
                                        <p:cTn id="103" dur="500"/>
                                        <p:tgtEl>
                                          <p:spTgt spid="36"/>
                                        </p:tgtEl>
                                      </p:cBhvr>
                                    </p:animEffect>
                                    <p:set>
                                      <p:cBhvr>
                                        <p:cTn id="104" dur="1" fill="hold">
                                          <p:stCondLst>
                                            <p:cond delay="499"/>
                                          </p:stCondLst>
                                        </p:cTn>
                                        <p:tgtEl>
                                          <p:spTgt spid="36"/>
                                        </p:tgtEl>
                                        <p:attrNameLst>
                                          <p:attrName>style.visibility</p:attrName>
                                        </p:attrNameLst>
                                      </p:cBhvr>
                                      <p:to>
                                        <p:strVal val="hidden"/>
                                      </p:to>
                                    </p:set>
                                  </p:childTnLst>
                                </p:cTn>
                              </p:par>
                              <p:par>
                                <p:cTn id="105" presetID="10" presetClass="entr" presetSubtype="0" fill="hold" grpId="0" nodeType="withEffect">
                                  <p:stCondLst>
                                    <p:cond delay="0"/>
                                  </p:stCondLst>
                                  <p:childTnLst>
                                    <p:set>
                                      <p:cBhvr>
                                        <p:cTn id="106" dur="1" fill="hold">
                                          <p:stCondLst>
                                            <p:cond delay="0"/>
                                          </p:stCondLst>
                                        </p:cTn>
                                        <p:tgtEl>
                                          <p:spTgt spid="45"/>
                                        </p:tgtEl>
                                        <p:attrNameLst>
                                          <p:attrName>style.visibility</p:attrName>
                                        </p:attrNameLst>
                                      </p:cBhvr>
                                      <p:to>
                                        <p:strVal val="visible"/>
                                      </p:to>
                                    </p:set>
                                    <p:animEffect transition="in" filter="fade">
                                      <p:cBhvr>
                                        <p:cTn id="107" dur="500"/>
                                        <p:tgtEl>
                                          <p:spTgt spid="45"/>
                                        </p:tgtEl>
                                      </p:cBhvr>
                                    </p:animEffect>
                                  </p:childTnLst>
                                </p:cTn>
                              </p:par>
                            </p:childTnLst>
                          </p:cTn>
                        </p:par>
                      </p:childTnLst>
                    </p:cTn>
                  </p:par>
                  <p:par>
                    <p:cTn id="108" fill="hold" nodeType="clickPar">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childTnLst>
                          </p:cTn>
                        </p:par>
                      </p:childTnLst>
                    </p:cTn>
                  </p:par>
                  <p:par>
                    <p:cTn id="113" fill="hold" nodeType="clickPar">
                      <p:stCondLst>
                        <p:cond delay="indefinite"/>
                      </p:stCondLst>
                      <p:childTnLst>
                        <p:par>
                          <p:cTn id="114" fill="hold">
                            <p:stCondLst>
                              <p:cond delay="0"/>
                            </p:stCondLst>
                            <p:childTnLst>
                              <p:par>
                                <p:cTn id="115" presetID="10" presetClass="exit" presetSubtype="0" fill="hold" grpId="1" nodeType="clickEffect">
                                  <p:stCondLst>
                                    <p:cond delay="0"/>
                                  </p:stCondLst>
                                  <p:childTnLst>
                                    <p:animEffect transition="out" filter="fade">
                                      <p:cBhvr>
                                        <p:cTn id="116" dur="500"/>
                                        <p:tgtEl>
                                          <p:spTgt spid="37"/>
                                        </p:tgtEl>
                                      </p:cBhvr>
                                    </p:animEffect>
                                    <p:set>
                                      <p:cBhvr>
                                        <p:cTn id="117" dur="1" fill="hold">
                                          <p:stCondLst>
                                            <p:cond delay="499"/>
                                          </p:stCondLst>
                                        </p:cTn>
                                        <p:tgtEl>
                                          <p:spTgt spid="37"/>
                                        </p:tgtEl>
                                        <p:attrNameLst>
                                          <p:attrName>style.visibility</p:attrName>
                                        </p:attrNameLst>
                                      </p:cBhvr>
                                      <p:to>
                                        <p:strVal val="hidden"/>
                                      </p:to>
                                    </p:set>
                                  </p:childTnLst>
                                </p:cTn>
                              </p:par>
                              <p:par>
                                <p:cTn id="118" presetID="10" presetClass="entr" presetSubtype="0" fill="hold" grpId="0" nodeType="with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500"/>
                                        <p:tgtEl>
                                          <p:spTgt spid="41"/>
                                        </p:tgtEl>
                                      </p:cBhvr>
                                    </p:animEffect>
                                  </p:childTnLst>
                                </p:cTn>
                              </p:par>
                            </p:childTnLst>
                          </p:cTn>
                        </p:par>
                      </p:childTnLst>
                    </p:cTn>
                  </p:par>
                  <p:par>
                    <p:cTn id="121" fill="hold" nodeType="clickPar">
                      <p:stCondLst>
                        <p:cond delay="indefinite"/>
                      </p:stCondLst>
                      <p:childTnLst>
                        <p:par>
                          <p:cTn id="12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28"/>
                                        </p:tgtEl>
                                        <p:attrNameLst>
                                          <p:attrName>style.visibility</p:attrName>
                                        </p:attrNameLst>
                                      </p:cBhvr>
                                      <p:to>
                                        <p:strVal val="visible"/>
                                      </p:to>
                                    </p:set>
                                    <p:animEffect transition="in" filter="fade">
                                      <p:cBhvr>
                                        <p:cTn id="125" dur="500"/>
                                        <p:tgtEl>
                                          <p:spTgt spid="28"/>
                                        </p:tgtEl>
                                      </p:cBhvr>
                                    </p:animEffect>
                                  </p:childTnLst>
                                </p:cTn>
                              </p:par>
                            </p:childTnLst>
                          </p:cTn>
                        </p:par>
                      </p:childTnLst>
                    </p:cTn>
                  </p:par>
                  <p:par>
                    <p:cTn id="126" fill="hold" nodeType="clickPar">
                      <p:stCondLst>
                        <p:cond delay="indefinite"/>
                      </p:stCondLst>
                      <p:childTnLst>
                        <p:par>
                          <p:cTn id="127" fill="hold">
                            <p:stCondLst>
                              <p:cond delay="0"/>
                            </p:stCondLst>
                            <p:childTnLst>
                              <p:par>
                                <p:cTn id="128" presetID="10" presetClass="exit" presetSubtype="0" fill="hold" grpId="1" nodeType="clickEffect">
                                  <p:stCondLst>
                                    <p:cond delay="0"/>
                                  </p:stCondLst>
                                  <p:childTnLst>
                                    <p:animEffect transition="out" filter="fade">
                                      <p:cBhvr>
                                        <p:cTn id="129" dur="500"/>
                                        <p:tgtEl>
                                          <p:spTgt spid="39"/>
                                        </p:tgtEl>
                                      </p:cBhvr>
                                    </p:animEffect>
                                    <p:set>
                                      <p:cBhvr>
                                        <p:cTn id="130" dur="1" fill="hold">
                                          <p:stCondLst>
                                            <p:cond delay="499"/>
                                          </p:stCondLst>
                                        </p:cTn>
                                        <p:tgtEl>
                                          <p:spTgt spid="39"/>
                                        </p:tgtEl>
                                        <p:attrNameLst>
                                          <p:attrName>style.visibility</p:attrName>
                                        </p:attrNameLst>
                                      </p:cBhvr>
                                      <p:to>
                                        <p:strVal val="hidden"/>
                                      </p:to>
                                    </p:set>
                                  </p:childTnLst>
                                </p:cTn>
                              </p:par>
                              <p:par>
                                <p:cTn id="131" presetID="10" presetClass="entr" presetSubtype="0" fill="hold" grpId="0" nodeType="withEffect">
                                  <p:stCondLst>
                                    <p:cond delay="0"/>
                                  </p:stCondLst>
                                  <p:childTnLst>
                                    <p:set>
                                      <p:cBhvr>
                                        <p:cTn id="132" dur="1" fill="hold">
                                          <p:stCondLst>
                                            <p:cond delay="0"/>
                                          </p:stCondLst>
                                        </p:cTn>
                                        <p:tgtEl>
                                          <p:spTgt spid="29"/>
                                        </p:tgtEl>
                                        <p:attrNameLst>
                                          <p:attrName>style.visibility</p:attrName>
                                        </p:attrNameLst>
                                      </p:cBhvr>
                                      <p:to>
                                        <p:strVal val="visible"/>
                                      </p:to>
                                    </p:set>
                                    <p:animEffect transition="in" filter="fade">
                                      <p:cBhvr>
                                        <p:cTn id="133" dur="500"/>
                                        <p:tgtEl>
                                          <p:spTgt spid="29"/>
                                        </p:tgtEl>
                                      </p:cBhvr>
                                    </p:animEffect>
                                  </p:childTnLst>
                                </p:cTn>
                              </p:par>
                            </p:childTnLst>
                          </p:cTn>
                        </p:par>
                      </p:childTnLst>
                    </p:cTn>
                  </p:par>
                  <p:par>
                    <p:cTn id="134" fill="hold" nodeType="clickPar">
                      <p:stCondLst>
                        <p:cond delay="indefinite"/>
                      </p:stCondLst>
                      <p:childTnLst>
                        <p:par>
                          <p:cTn id="135" fill="hold">
                            <p:stCondLst>
                              <p:cond delay="0"/>
                            </p:stCondLst>
                            <p:childTnLst>
                              <p:par>
                                <p:cTn id="136" presetID="10" presetClass="entr" presetSubtype="0" fill="hold" nodeType="clickEffect">
                                  <p:stCondLst>
                                    <p:cond delay="0"/>
                                  </p:stCondLst>
                                  <p:childTnLst>
                                    <p:set>
                                      <p:cBhvr>
                                        <p:cTn id="137" dur="1" fill="hold">
                                          <p:stCondLst>
                                            <p:cond delay="0"/>
                                          </p:stCondLst>
                                        </p:cTn>
                                        <p:tgtEl>
                                          <p:spTgt spid="3">
                                            <p:txEl>
                                              <p:pRg st="7" end="7"/>
                                            </p:txEl>
                                          </p:spTgt>
                                        </p:tgtEl>
                                        <p:attrNameLst>
                                          <p:attrName>style.visibility</p:attrName>
                                        </p:attrNameLst>
                                      </p:cBhvr>
                                      <p:to>
                                        <p:strVal val="visible"/>
                                      </p:to>
                                    </p:set>
                                    <p:animEffect transition="in" filter="fade">
                                      <p:cBhvr>
                                        <p:cTn id="138" dur="500"/>
                                        <p:tgtEl>
                                          <p:spTgt spid="3">
                                            <p:txEl>
                                              <p:pRg st="7" end="7"/>
                                            </p:txEl>
                                          </p:spTgt>
                                        </p:tgtEl>
                                      </p:cBhvr>
                                    </p:animEffect>
                                  </p:childTnLst>
                                </p:cTn>
                              </p:par>
                            </p:childTnLst>
                          </p:cTn>
                        </p:par>
                      </p:childTnLst>
                    </p:cTn>
                  </p:par>
                  <p:par>
                    <p:cTn id="139" fill="hold" nodeType="clickPar">
                      <p:stCondLst>
                        <p:cond delay="indefinite"/>
                      </p:stCondLst>
                      <p:childTnLst>
                        <p:par>
                          <p:cTn id="140" fill="hold">
                            <p:stCondLst>
                              <p:cond delay="0"/>
                            </p:stCondLst>
                            <p:childTnLst>
                              <p:par>
                                <p:cTn id="141" presetID="10" presetClass="entr" presetSubtype="0" fill="hold" nodeType="clickEffect">
                                  <p:stCondLst>
                                    <p:cond delay="0"/>
                                  </p:stCondLst>
                                  <p:childTnLst>
                                    <p:set>
                                      <p:cBhvr>
                                        <p:cTn id="142" dur="1" fill="hold">
                                          <p:stCondLst>
                                            <p:cond delay="0"/>
                                          </p:stCondLst>
                                        </p:cTn>
                                        <p:tgtEl>
                                          <p:spTgt spid="3">
                                            <p:txEl>
                                              <p:pRg st="8" end="8"/>
                                            </p:txEl>
                                          </p:spTgt>
                                        </p:tgtEl>
                                        <p:attrNameLst>
                                          <p:attrName>style.visibility</p:attrName>
                                        </p:attrNameLst>
                                      </p:cBhvr>
                                      <p:to>
                                        <p:strVal val="visible"/>
                                      </p:to>
                                    </p:set>
                                    <p:animEffect transition="in" filter="fade">
                                      <p:cBhvr>
                                        <p:cTn id="14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p:bldP spid="11" grpId="0"/>
      <p:bldP spid="12" grpId="0"/>
      <p:bldP spid="13" grpId="0"/>
      <p:bldP spid="14" grpId="0"/>
      <p:bldP spid="30" grpId="0" animBg="1"/>
      <p:bldP spid="31" grpId="0" animBg="1"/>
      <p:bldP spid="32" grpId="0" animBg="1"/>
      <p:bldP spid="33" grpId="0" animBg="1"/>
      <p:bldP spid="34" grpId="0" animBg="1"/>
      <p:bldP spid="35" grpId="0"/>
      <p:bldP spid="36" grpId="0"/>
      <p:bldP spid="36" grpId="1"/>
      <p:bldP spid="37" grpId="0"/>
      <p:bldP spid="37" grpId="1"/>
      <p:bldP spid="38" grpId="0"/>
      <p:bldP spid="38" grpId="1"/>
      <p:bldP spid="39" grpId="0"/>
      <p:bldP spid="39" grpId="1"/>
      <p:bldP spid="42" grpId="0" animBg="1"/>
      <p:bldP spid="43" grpId="0"/>
      <p:bldP spid="44" grpId="0" animBg="1"/>
      <p:bldP spid="45" grpId="0"/>
      <p:bldP spid="28" grpId="0" animBg="1"/>
      <p:bldP spid="29" grpId="0"/>
      <p:bldP spid="40" grpId="0" animBg="1"/>
      <p:bldP spid="4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Worst fit</a:t>
            </a:r>
            <a:endParaRPr lang="en-US"/>
          </a:p>
        </p:txBody>
      </p:sp>
      <p:sp>
        <p:nvSpPr>
          <p:cNvPr id="3" name="Content Placeholder 2"/>
          <p:cNvSpPr>
            <a:spLocks noGrp="1"/>
          </p:cNvSpPr>
          <p:nvPr>
            <p:ph idx="1"/>
          </p:nvPr>
        </p:nvSpPr>
        <p:spPr/>
        <p:txBody>
          <a:bodyPr/>
          <a:lstStyle/>
          <a:p>
            <a:r>
              <a:rPr lang="en-US" b="1" dirty="0">
                <a:solidFill>
                  <a:schemeClr val="accent6"/>
                </a:solidFill>
              </a:rPr>
              <a:t>Entire memory is searched </a:t>
            </a:r>
            <a:r>
              <a:rPr lang="en-US" dirty="0"/>
              <a:t>here also. The </a:t>
            </a:r>
            <a:r>
              <a:rPr lang="en-US" b="1" dirty="0">
                <a:solidFill>
                  <a:schemeClr val="accent6"/>
                </a:solidFill>
              </a:rPr>
              <a:t>largest hole, which is largest enough to hold the process, is selected</a:t>
            </a:r>
            <a:r>
              <a:rPr lang="en-US" dirty="0"/>
              <a:t> for allocation.</a:t>
            </a:r>
          </a:p>
          <a:p>
            <a:r>
              <a:rPr lang="en-US" dirty="0"/>
              <a:t>Example: Processes of </a:t>
            </a:r>
            <a:r>
              <a:rPr lang="en-US" b="1" dirty="0">
                <a:solidFill>
                  <a:schemeClr val="tx2"/>
                </a:solidFill>
              </a:rPr>
              <a:t>212K, 417K, 112K</a:t>
            </a:r>
            <a:r>
              <a:rPr lang="en-US" dirty="0"/>
              <a:t> and </a:t>
            </a:r>
            <a:r>
              <a:rPr lang="en-US" b="1" dirty="0">
                <a:solidFill>
                  <a:schemeClr val="tx2"/>
                </a:solidFill>
              </a:rPr>
              <a:t>426K</a:t>
            </a:r>
            <a:r>
              <a:rPr lang="en-US" dirty="0"/>
              <a:t> arrives in order.</a:t>
            </a:r>
          </a:p>
          <a:p>
            <a:endParaRPr lang="en-US" b="1" dirty="0">
              <a:solidFill>
                <a:schemeClr val="accent6"/>
              </a:solidFill>
            </a:endParaRPr>
          </a:p>
          <a:p>
            <a:endParaRPr lang="en-US" b="1" dirty="0">
              <a:solidFill>
                <a:schemeClr val="accent6"/>
              </a:solidFill>
            </a:endParaRPr>
          </a:p>
          <a:p>
            <a:endParaRPr lang="en-US" b="1" dirty="0">
              <a:solidFill>
                <a:schemeClr val="accent6"/>
              </a:solidFill>
            </a:endParaRPr>
          </a:p>
          <a:p>
            <a:endParaRPr lang="en-US" b="1" dirty="0">
              <a:solidFill>
                <a:schemeClr val="accent6"/>
              </a:solidFill>
            </a:endParaRPr>
          </a:p>
          <a:p>
            <a:endParaRPr lang="en-US" b="1" dirty="0">
              <a:solidFill>
                <a:schemeClr val="accent6"/>
              </a:solidFill>
            </a:endParaRPr>
          </a:p>
          <a:p>
            <a:r>
              <a:rPr lang="en-US" dirty="0"/>
              <a:t>Here process of size </a:t>
            </a:r>
            <a:r>
              <a:rPr lang="en-US" b="1" dirty="0">
                <a:solidFill>
                  <a:schemeClr val="accent6"/>
                </a:solidFill>
              </a:rPr>
              <a:t>426k will not get any partition</a:t>
            </a:r>
            <a:r>
              <a:rPr lang="en-US" dirty="0"/>
              <a:t> for allocation.</a:t>
            </a:r>
          </a:p>
          <a:p>
            <a:r>
              <a:rPr lang="en-US" b="1" dirty="0">
                <a:solidFill>
                  <a:schemeClr val="accent6"/>
                </a:solidFill>
              </a:rPr>
              <a:t>Disadvantage : Search time is high</a:t>
            </a:r>
            <a:r>
              <a:rPr lang="en-US" dirty="0"/>
              <a:t>, as it searches entire memory every time.</a:t>
            </a:r>
          </a:p>
          <a:p>
            <a:r>
              <a:rPr lang="en-US" dirty="0"/>
              <a:t>This algorithm can be </a:t>
            </a:r>
            <a:r>
              <a:rPr lang="en-US" b="1" dirty="0">
                <a:solidFill>
                  <a:schemeClr val="accent6"/>
                </a:solidFill>
              </a:rPr>
              <a:t>used only with dynamic partitioning.</a:t>
            </a:r>
            <a:endParaRPr lang="en-US" dirty="0"/>
          </a:p>
        </p:txBody>
      </p:sp>
      <p:sp>
        <p:nvSpPr>
          <p:cNvPr id="5" name="Rectangle 4"/>
          <p:cNvSpPr>
            <a:spLocks noChangeArrowheads="1"/>
          </p:cNvSpPr>
          <p:nvPr/>
        </p:nvSpPr>
        <p:spPr bwMode="auto">
          <a:xfrm>
            <a:off x="1638299" y="2564671"/>
            <a:ext cx="4572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6" name="Rectangle 5"/>
          <p:cNvSpPr>
            <a:spLocks noChangeArrowheads="1"/>
          </p:cNvSpPr>
          <p:nvPr/>
        </p:nvSpPr>
        <p:spPr bwMode="auto">
          <a:xfrm>
            <a:off x="2081483" y="2564671"/>
            <a:ext cx="22860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7" name="Rectangle 6"/>
          <p:cNvSpPr>
            <a:spLocks noChangeArrowheads="1"/>
          </p:cNvSpPr>
          <p:nvPr/>
        </p:nvSpPr>
        <p:spPr bwMode="auto">
          <a:xfrm>
            <a:off x="4353467" y="2564671"/>
            <a:ext cx="9144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8" name="Rectangle 7"/>
          <p:cNvSpPr>
            <a:spLocks noChangeArrowheads="1"/>
          </p:cNvSpPr>
          <p:nvPr/>
        </p:nvSpPr>
        <p:spPr bwMode="auto">
          <a:xfrm>
            <a:off x="5253851" y="2564671"/>
            <a:ext cx="13716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9" name="Rectangle 8"/>
          <p:cNvSpPr>
            <a:spLocks noChangeArrowheads="1"/>
          </p:cNvSpPr>
          <p:nvPr/>
        </p:nvSpPr>
        <p:spPr bwMode="auto">
          <a:xfrm>
            <a:off x="6611435" y="2564671"/>
            <a:ext cx="27432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10" name="Text Box 87"/>
          <p:cNvSpPr txBox="1">
            <a:spLocks noChangeArrowheads="1"/>
          </p:cNvSpPr>
          <p:nvPr/>
        </p:nvSpPr>
        <p:spPr bwMode="auto">
          <a:xfrm>
            <a:off x="1609724" y="2315180"/>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100k</a:t>
            </a:r>
            <a:endParaRPr lang="en-IN" sz="1100">
              <a:effectLst/>
              <a:latin typeface="+mj-lt"/>
              <a:ea typeface="Times New Roman" panose="02020603050405020304" pitchFamily="18" charset="0"/>
              <a:cs typeface="Times New Roman" panose="02020603050405020304" pitchFamily="18" charset="0"/>
            </a:endParaRPr>
          </a:p>
        </p:txBody>
      </p:sp>
      <p:sp>
        <p:nvSpPr>
          <p:cNvPr id="11" name="Text Box 88"/>
          <p:cNvSpPr txBox="1">
            <a:spLocks noChangeArrowheads="1"/>
          </p:cNvSpPr>
          <p:nvPr/>
        </p:nvSpPr>
        <p:spPr bwMode="auto">
          <a:xfrm>
            <a:off x="2967308" y="2315180"/>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500k</a:t>
            </a:r>
            <a:endParaRPr lang="en-IN" sz="1100">
              <a:effectLst/>
              <a:latin typeface="+mj-lt"/>
              <a:ea typeface="Times New Roman" panose="02020603050405020304" pitchFamily="18" charset="0"/>
              <a:cs typeface="Times New Roman" panose="02020603050405020304" pitchFamily="18" charset="0"/>
            </a:endParaRPr>
          </a:p>
        </p:txBody>
      </p:sp>
      <p:sp>
        <p:nvSpPr>
          <p:cNvPr id="12" name="Text Box 89"/>
          <p:cNvSpPr txBox="1">
            <a:spLocks noChangeArrowheads="1"/>
          </p:cNvSpPr>
          <p:nvPr/>
        </p:nvSpPr>
        <p:spPr bwMode="auto">
          <a:xfrm>
            <a:off x="4553492" y="2315180"/>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200k</a:t>
            </a:r>
            <a:endParaRPr lang="en-IN" sz="1100">
              <a:effectLst/>
              <a:latin typeface="+mj-lt"/>
              <a:ea typeface="Times New Roman" panose="02020603050405020304" pitchFamily="18" charset="0"/>
              <a:cs typeface="Times New Roman" panose="02020603050405020304" pitchFamily="18" charset="0"/>
            </a:endParaRPr>
          </a:p>
        </p:txBody>
      </p:sp>
      <p:sp>
        <p:nvSpPr>
          <p:cNvPr id="13" name="Text Box 90"/>
          <p:cNvSpPr txBox="1">
            <a:spLocks noChangeArrowheads="1"/>
          </p:cNvSpPr>
          <p:nvPr/>
        </p:nvSpPr>
        <p:spPr bwMode="auto">
          <a:xfrm>
            <a:off x="5682476" y="2315180"/>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300k</a:t>
            </a:r>
            <a:endParaRPr lang="en-IN" sz="1100">
              <a:effectLst/>
              <a:latin typeface="+mj-lt"/>
              <a:ea typeface="Times New Roman" panose="02020603050405020304" pitchFamily="18" charset="0"/>
              <a:cs typeface="Times New Roman" panose="02020603050405020304" pitchFamily="18" charset="0"/>
            </a:endParaRPr>
          </a:p>
        </p:txBody>
      </p:sp>
      <p:sp>
        <p:nvSpPr>
          <p:cNvPr id="14" name="Text Box 91"/>
          <p:cNvSpPr txBox="1">
            <a:spLocks noChangeArrowheads="1"/>
          </p:cNvSpPr>
          <p:nvPr/>
        </p:nvSpPr>
        <p:spPr bwMode="auto">
          <a:xfrm>
            <a:off x="7725860" y="2315180"/>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600k</a:t>
            </a:r>
            <a:endParaRPr lang="en-IN" sz="1100">
              <a:effectLst/>
              <a:latin typeface="+mj-lt"/>
              <a:ea typeface="Times New Roman" panose="02020603050405020304" pitchFamily="18" charset="0"/>
              <a:cs typeface="Times New Roman" panose="02020603050405020304" pitchFamily="18" charset="0"/>
            </a:endParaRPr>
          </a:p>
        </p:txBody>
      </p:sp>
      <p:sp>
        <p:nvSpPr>
          <p:cNvPr id="30" name="Rectangle 29"/>
          <p:cNvSpPr>
            <a:spLocks noChangeArrowheads="1"/>
          </p:cNvSpPr>
          <p:nvPr/>
        </p:nvSpPr>
        <p:spPr bwMode="auto">
          <a:xfrm>
            <a:off x="1638299" y="3358303"/>
            <a:ext cx="4572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31" name="Rectangle 30"/>
          <p:cNvSpPr>
            <a:spLocks noChangeArrowheads="1"/>
          </p:cNvSpPr>
          <p:nvPr/>
        </p:nvSpPr>
        <p:spPr bwMode="auto">
          <a:xfrm>
            <a:off x="2081483" y="3358303"/>
            <a:ext cx="22860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32" name="Rectangle 31"/>
          <p:cNvSpPr>
            <a:spLocks noChangeArrowheads="1"/>
          </p:cNvSpPr>
          <p:nvPr/>
        </p:nvSpPr>
        <p:spPr bwMode="auto">
          <a:xfrm>
            <a:off x="4353467" y="3358303"/>
            <a:ext cx="9144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33" name="Rectangle 32"/>
          <p:cNvSpPr>
            <a:spLocks noChangeArrowheads="1"/>
          </p:cNvSpPr>
          <p:nvPr/>
        </p:nvSpPr>
        <p:spPr bwMode="auto">
          <a:xfrm>
            <a:off x="5253851" y="3358303"/>
            <a:ext cx="13716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34" name="Rectangle 33"/>
          <p:cNvSpPr>
            <a:spLocks noChangeArrowheads="1"/>
          </p:cNvSpPr>
          <p:nvPr/>
        </p:nvSpPr>
        <p:spPr bwMode="auto">
          <a:xfrm>
            <a:off x="6611435" y="3358303"/>
            <a:ext cx="2743200" cy="457200"/>
          </a:xfrm>
          <a:prstGeom prst="rect">
            <a:avLst/>
          </a:prstGeom>
          <a:solidFill>
            <a:srgbClr val="FFFFFF"/>
          </a:solidFill>
          <a:ln w="28575">
            <a:solidFill>
              <a:schemeClr val="tx2"/>
            </a:solidFill>
            <a:miter lim="800000"/>
          </a:ln>
        </p:spPr>
        <p:txBody>
          <a:bodyPr rot="0" vert="horz" wrap="square" lIns="91440" tIns="45720" rIns="91440" bIns="45720" anchor="t" anchorCtr="0" upright="1">
            <a:noAutofit/>
          </a:bodyPr>
          <a:lstStyle/>
          <a:p>
            <a:endParaRPr lang="en-IN"/>
          </a:p>
        </p:txBody>
      </p:sp>
      <p:sp>
        <p:nvSpPr>
          <p:cNvPr id="35" name="Text Box 87"/>
          <p:cNvSpPr txBox="1">
            <a:spLocks noChangeArrowheads="1"/>
          </p:cNvSpPr>
          <p:nvPr/>
        </p:nvSpPr>
        <p:spPr bwMode="auto">
          <a:xfrm>
            <a:off x="1609724" y="3111570"/>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100k</a:t>
            </a:r>
            <a:endParaRPr lang="en-IN" sz="1100">
              <a:effectLst/>
              <a:latin typeface="+mj-lt"/>
              <a:ea typeface="Times New Roman" panose="02020603050405020304" pitchFamily="18" charset="0"/>
              <a:cs typeface="Times New Roman" panose="02020603050405020304" pitchFamily="18" charset="0"/>
            </a:endParaRPr>
          </a:p>
        </p:txBody>
      </p:sp>
      <p:sp>
        <p:nvSpPr>
          <p:cNvPr id="36" name="Text Box 88"/>
          <p:cNvSpPr txBox="1">
            <a:spLocks noChangeArrowheads="1"/>
          </p:cNvSpPr>
          <p:nvPr/>
        </p:nvSpPr>
        <p:spPr bwMode="auto">
          <a:xfrm>
            <a:off x="2967308" y="3111570"/>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500k</a:t>
            </a:r>
            <a:endParaRPr lang="en-IN" sz="1100">
              <a:effectLst/>
              <a:latin typeface="+mj-lt"/>
              <a:ea typeface="Times New Roman" panose="02020603050405020304" pitchFamily="18" charset="0"/>
              <a:cs typeface="Times New Roman" panose="02020603050405020304" pitchFamily="18" charset="0"/>
            </a:endParaRPr>
          </a:p>
        </p:txBody>
      </p:sp>
      <p:sp>
        <p:nvSpPr>
          <p:cNvPr id="37" name="Text Box 89"/>
          <p:cNvSpPr txBox="1">
            <a:spLocks noChangeArrowheads="1"/>
          </p:cNvSpPr>
          <p:nvPr/>
        </p:nvSpPr>
        <p:spPr bwMode="auto">
          <a:xfrm>
            <a:off x="4553492" y="3111570"/>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200k</a:t>
            </a:r>
            <a:endParaRPr lang="en-IN" sz="1100">
              <a:effectLst/>
              <a:latin typeface="+mj-lt"/>
              <a:ea typeface="Times New Roman" panose="02020603050405020304" pitchFamily="18" charset="0"/>
              <a:cs typeface="Times New Roman" panose="02020603050405020304" pitchFamily="18" charset="0"/>
            </a:endParaRPr>
          </a:p>
        </p:txBody>
      </p:sp>
      <p:sp>
        <p:nvSpPr>
          <p:cNvPr id="38" name="Text Box 90"/>
          <p:cNvSpPr txBox="1">
            <a:spLocks noChangeArrowheads="1"/>
          </p:cNvSpPr>
          <p:nvPr/>
        </p:nvSpPr>
        <p:spPr bwMode="auto">
          <a:xfrm>
            <a:off x="5682476" y="3111570"/>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300k</a:t>
            </a:r>
            <a:endParaRPr lang="en-IN" sz="1100">
              <a:effectLst/>
              <a:latin typeface="+mj-lt"/>
              <a:ea typeface="Times New Roman" panose="02020603050405020304" pitchFamily="18" charset="0"/>
              <a:cs typeface="Times New Roman" panose="02020603050405020304" pitchFamily="18" charset="0"/>
            </a:endParaRPr>
          </a:p>
        </p:txBody>
      </p:sp>
      <p:sp>
        <p:nvSpPr>
          <p:cNvPr id="39" name="Text Box 91"/>
          <p:cNvSpPr txBox="1">
            <a:spLocks noChangeArrowheads="1"/>
          </p:cNvSpPr>
          <p:nvPr/>
        </p:nvSpPr>
        <p:spPr bwMode="auto">
          <a:xfrm>
            <a:off x="7725860" y="3111570"/>
            <a:ext cx="51435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600k</a:t>
            </a:r>
            <a:endParaRPr lang="en-IN" sz="1100">
              <a:effectLst/>
              <a:latin typeface="+mj-lt"/>
              <a:ea typeface="Times New Roman" panose="02020603050405020304" pitchFamily="18" charset="0"/>
              <a:cs typeface="Times New Roman" panose="02020603050405020304" pitchFamily="18" charset="0"/>
            </a:endParaRPr>
          </a:p>
        </p:txBody>
      </p:sp>
      <p:sp>
        <p:nvSpPr>
          <p:cNvPr id="42" name="Text Box 105" descr="Light upward diagonal"/>
          <p:cNvSpPr txBox="1">
            <a:spLocks noChangeArrowheads="1"/>
          </p:cNvSpPr>
          <p:nvPr/>
        </p:nvSpPr>
        <p:spPr bwMode="auto">
          <a:xfrm>
            <a:off x="6609523" y="3358303"/>
            <a:ext cx="914400" cy="457200"/>
          </a:xfrm>
          <a:prstGeom prst="rect">
            <a:avLst/>
          </a:prstGeom>
          <a:pattFill prst="ltUpDiag">
            <a:fgClr>
              <a:srgbClr val="000000"/>
            </a:fgClr>
            <a:bgClr>
              <a:srgbClr val="FFFFFF"/>
            </a:bgClr>
          </a:pattFill>
          <a:ln w="19050">
            <a:solidFill>
              <a:schemeClr val="tx2"/>
            </a:solidFill>
            <a:miter lim="800000"/>
          </a:ln>
        </p:spPr>
        <p:txBody>
          <a:bodyPr rot="0" vert="horz" wrap="square" lIns="91440" tIns="45720" rIns="91440" bIns="45720" anchor="ctr" anchorCtr="0" upright="1">
            <a:noAutofit/>
          </a:bodyPr>
          <a:lstStyle/>
          <a:p>
            <a:pPr algn="ctr">
              <a:lnSpc>
                <a:spcPct val="115000"/>
              </a:lnSpc>
              <a:spcAft>
                <a:spcPts val="1000"/>
              </a:spcAft>
            </a:pPr>
            <a:r>
              <a:rPr lang="en-US" sz="1100" b="1">
                <a:ln w="3175">
                  <a:solidFill>
                    <a:schemeClr val="tx1"/>
                  </a:solidFill>
                </a:ln>
                <a:effectLst/>
                <a:latin typeface="+mj-lt"/>
                <a:ea typeface="Times New Roman" panose="02020603050405020304" pitchFamily="18" charset="0"/>
                <a:cs typeface="Times New Roman" panose="02020603050405020304" pitchFamily="18" charset="0"/>
              </a:rPr>
              <a:t>212k</a:t>
            </a:r>
            <a:endParaRPr lang="en-IN" sz="1100">
              <a:ln w="3175">
                <a:solidFill>
                  <a:schemeClr val="tx1"/>
                </a:solidFill>
              </a:ln>
              <a:effectLst/>
              <a:latin typeface="+mj-lt"/>
              <a:ea typeface="Times New Roman" panose="02020603050405020304" pitchFamily="18" charset="0"/>
              <a:cs typeface="Times New Roman" panose="02020603050405020304" pitchFamily="18" charset="0"/>
            </a:endParaRPr>
          </a:p>
        </p:txBody>
      </p:sp>
      <p:sp>
        <p:nvSpPr>
          <p:cNvPr id="43" name="Text Box 88"/>
          <p:cNvSpPr txBox="1">
            <a:spLocks noChangeArrowheads="1"/>
          </p:cNvSpPr>
          <p:nvPr/>
        </p:nvSpPr>
        <p:spPr bwMode="auto">
          <a:xfrm>
            <a:off x="8197958" y="3111570"/>
            <a:ext cx="45720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388k</a:t>
            </a:r>
            <a:endParaRPr lang="en-IN" sz="1100">
              <a:effectLst/>
              <a:latin typeface="+mj-lt"/>
              <a:ea typeface="Times New Roman" panose="02020603050405020304" pitchFamily="18" charset="0"/>
              <a:cs typeface="Times New Roman" panose="02020603050405020304" pitchFamily="18" charset="0"/>
            </a:endParaRPr>
          </a:p>
        </p:txBody>
      </p:sp>
      <p:sp>
        <p:nvSpPr>
          <p:cNvPr id="44" name="Text Box 105" descr="Light upward diagonal"/>
          <p:cNvSpPr txBox="1">
            <a:spLocks noChangeArrowheads="1"/>
          </p:cNvSpPr>
          <p:nvPr/>
        </p:nvSpPr>
        <p:spPr bwMode="auto">
          <a:xfrm>
            <a:off x="2092094" y="3358303"/>
            <a:ext cx="1828800" cy="457200"/>
          </a:xfrm>
          <a:prstGeom prst="rect">
            <a:avLst/>
          </a:prstGeom>
          <a:pattFill prst="ltUpDiag">
            <a:fgClr>
              <a:srgbClr val="000000"/>
            </a:fgClr>
            <a:bgClr>
              <a:srgbClr val="FFFFFF"/>
            </a:bgClr>
          </a:pattFill>
          <a:ln w="19050">
            <a:solidFill>
              <a:schemeClr val="tx2"/>
            </a:solidFill>
            <a:miter lim="800000"/>
          </a:ln>
        </p:spPr>
        <p:txBody>
          <a:bodyPr rot="0" vert="horz" wrap="square" lIns="91440" tIns="45720" rIns="91440" bIns="45720" anchor="ctr" anchorCtr="0" upright="1">
            <a:noAutofit/>
          </a:bodyPr>
          <a:lstStyle/>
          <a:p>
            <a:pPr algn="ctr">
              <a:lnSpc>
                <a:spcPct val="115000"/>
              </a:lnSpc>
              <a:spcAft>
                <a:spcPts val="1000"/>
              </a:spcAft>
            </a:pPr>
            <a:r>
              <a:rPr lang="en-US" sz="1100" b="1">
                <a:ln w="3175">
                  <a:solidFill>
                    <a:schemeClr val="tx1"/>
                  </a:solidFill>
                </a:ln>
                <a:effectLst/>
                <a:latin typeface="+mj-lt"/>
                <a:ea typeface="Times New Roman" panose="02020603050405020304" pitchFamily="18" charset="0"/>
                <a:cs typeface="Times New Roman" panose="02020603050405020304" pitchFamily="18" charset="0"/>
              </a:rPr>
              <a:t>417k</a:t>
            </a:r>
            <a:endParaRPr lang="en-IN" sz="1100">
              <a:ln w="3175">
                <a:solidFill>
                  <a:schemeClr val="tx1"/>
                </a:solidFill>
              </a:ln>
              <a:effectLst/>
              <a:latin typeface="+mj-lt"/>
              <a:ea typeface="Times New Roman" panose="02020603050405020304" pitchFamily="18" charset="0"/>
              <a:cs typeface="Times New Roman" panose="02020603050405020304" pitchFamily="18" charset="0"/>
            </a:endParaRPr>
          </a:p>
        </p:txBody>
      </p:sp>
      <p:sp>
        <p:nvSpPr>
          <p:cNvPr id="45" name="Text Box 91"/>
          <p:cNvSpPr txBox="1">
            <a:spLocks noChangeArrowheads="1"/>
          </p:cNvSpPr>
          <p:nvPr/>
        </p:nvSpPr>
        <p:spPr bwMode="auto">
          <a:xfrm>
            <a:off x="3913614" y="3111570"/>
            <a:ext cx="45720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83k</a:t>
            </a:r>
            <a:endParaRPr lang="en-IN" sz="1100">
              <a:effectLst/>
              <a:latin typeface="+mj-lt"/>
              <a:ea typeface="Times New Roman" panose="02020603050405020304" pitchFamily="18" charset="0"/>
              <a:cs typeface="Times New Roman" panose="02020603050405020304" pitchFamily="18" charset="0"/>
            </a:endParaRPr>
          </a:p>
        </p:txBody>
      </p:sp>
      <p:sp>
        <p:nvSpPr>
          <p:cNvPr id="40" name="Text Box 105" descr="Light upward diagonal"/>
          <p:cNvSpPr txBox="1">
            <a:spLocks noChangeArrowheads="1"/>
          </p:cNvSpPr>
          <p:nvPr/>
        </p:nvSpPr>
        <p:spPr bwMode="auto">
          <a:xfrm>
            <a:off x="7528068" y="3358303"/>
            <a:ext cx="548640" cy="457200"/>
          </a:xfrm>
          <a:prstGeom prst="rect">
            <a:avLst/>
          </a:prstGeom>
          <a:pattFill prst="ltUpDiag">
            <a:fgClr>
              <a:srgbClr val="000000"/>
            </a:fgClr>
            <a:bgClr>
              <a:srgbClr val="FFFFFF"/>
            </a:bgClr>
          </a:pattFill>
          <a:ln w="19050">
            <a:solidFill>
              <a:schemeClr val="tx2"/>
            </a:solidFill>
            <a:miter lim="800000"/>
          </a:ln>
        </p:spPr>
        <p:txBody>
          <a:bodyPr rot="0" vert="horz" wrap="square" lIns="91440" tIns="45720" rIns="91440" bIns="45720" anchor="ctr" anchorCtr="0" upright="1">
            <a:noAutofit/>
          </a:bodyPr>
          <a:lstStyle/>
          <a:p>
            <a:pPr algn="ctr">
              <a:lnSpc>
                <a:spcPct val="115000"/>
              </a:lnSpc>
              <a:spcAft>
                <a:spcPts val="1000"/>
              </a:spcAft>
            </a:pPr>
            <a:r>
              <a:rPr lang="en-US" sz="1100" b="1">
                <a:ln w="3175">
                  <a:solidFill>
                    <a:schemeClr val="tx1"/>
                  </a:solidFill>
                </a:ln>
                <a:effectLst/>
                <a:latin typeface="+mj-lt"/>
                <a:ea typeface="Times New Roman" panose="02020603050405020304" pitchFamily="18" charset="0"/>
                <a:cs typeface="Times New Roman" panose="02020603050405020304" pitchFamily="18" charset="0"/>
              </a:rPr>
              <a:t>112k</a:t>
            </a:r>
            <a:endParaRPr lang="en-IN" sz="1100">
              <a:ln w="3175">
                <a:solidFill>
                  <a:schemeClr val="tx1"/>
                </a:solidFill>
              </a:ln>
              <a:effectLst/>
              <a:latin typeface="+mj-lt"/>
              <a:ea typeface="Times New Roman" panose="02020603050405020304" pitchFamily="18" charset="0"/>
              <a:cs typeface="Times New Roman" panose="02020603050405020304" pitchFamily="18" charset="0"/>
            </a:endParaRPr>
          </a:p>
        </p:txBody>
      </p:sp>
      <p:sp>
        <p:nvSpPr>
          <p:cNvPr id="41" name="Text Box 88"/>
          <p:cNvSpPr txBox="1">
            <a:spLocks noChangeArrowheads="1"/>
          </p:cNvSpPr>
          <p:nvPr/>
        </p:nvSpPr>
        <p:spPr bwMode="auto">
          <a:xfrm>
            <a:off x="8467191" y="3111570"/>
            <a:ext cx="457200" cy="24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ctr" anchorCtr="0" upright="1">
            <a:noAutofit/>
          </a:bodyPr>
          <a:lstStyle/>
          <a:p>
            <a:pPr algn="ctr">
              <a:lnSpc>
                <a:spcPct val="115000"/>
              </a:lnSpc>
              <a:spcAft>
                <a:spcPts val="1000"/>
              </a:spcAft>
            </a:pPr>
            <a:r>
              <a:rPr lang="en-US" sz="1100">
                <a:effectLst/>
                <a:latin typeface="+mj-lt"/>
                <a:ea typeface="Times New Roman" panose="02020603050405020304" pitchFamily="18" charset="0"/>
                <a:cs typeface="Times New Roman" panose="02020603050405020304" pitchFamily="18" charset="0"/>
              </a:rPr>
              <a:t>276k</a:t>
            </a:r>
            <a:endParaRPr lang="en-IN" sz="1100">
              <a:effectLst/>
              <a:latin typeface="+mj-l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384330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childTnLst>
                    </p:cTn>
                  </p:par>
                  <p:par>
                    <p:cTn id="35" fill="hold" nodeType="clickPar">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0" end="0"/>
                                            </p:txEl>
                                          </p:spTgt>
                                        </p:tgtEl>
                                        <p:attrNameLst>
                                          <p:attrName>style.visibility</p:attrName>
                                        </p:attrNameLst>
                                      </p:cBhvr>
                                      <p:to>
                                        <p:strVal val="visible"/>
                                      </p:to>
                                    </p:set>
                                    <p:animEffect transition="in" filter="fade">
                                      <p:cBhvr>
                                        <p:cTn id="39" dur="500"/>
                                        <p:tgtEl>
                                          <p:spTgt spid="3">
                                            <p:txEl>
                                              <p:pRg st="0" end="0"/>
                                            </p:txEl>
                                          </p:spTgt>
                                        </p:tgtEl>
                                      </p:cBhvr>
                                    </p:animEffect>
                                  </p:childTnLst>
                                </p:cTn>
                              </p:par>
                            </p:childTnLst>
                          </p:cTn>
                        </p:par>
                      </p:childTnLst>
                    </p:cTn>
                  </p:par>
                  <p:par>
                    <p:cTn id="40" fill="hold" nodeType="clickPar">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1" end="1"/>
                                            </p:txEl>
                                          </p:spTgt>
                                        </p:tgtEl>
                                        <p:attrNameLst>
                                          <p:attrName>style.visibility</p:attrName>
                                        </p:attrNameLst>
                                      </p:cBhvr>
                                      <p:to>
                                        <p:strVal val="visible"/>
                                      </p:to>
                                    </p:set>
                                    <p:animEffect transition="in" filter="fade">
                                      <p:cBhvr>
                                        <p:cTn id="44" dur="500"/>
                                        <p:tgtEl>
                                          <p:spTgt spid="3">
                                            <p:txEl>
                                              <p:pRg st="1" end="1"/>
                                            </p:txEl>
                                          </p:spTgt>
                                        </p:tgtEl>
                                      </p:cBhvr>
                                    </p:animEffect>
                                  </p:childTnLst>
                                </p:cTn>
                              </p:par>
                            </p:childTnLst>
                          </p:cTn>
                        </p:par>
                      </p:childTnLst>
                    </p:cTn>
                  </p:par>
                  <p:par>
                    <p:cTn id="45" fill="hold" nodeType="clickPar">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5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fade">
                                      <p:cBhvr>
                                        <p:cTn id="52" dur="500"/>
                                        <p:tgtEl>
                                          <p:spTgt spid="3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fade">
                                      <p:cBhvr>
                                        <p:cTn id="55" dur="500"/>
                                        <p:tgtEl>
                                          <p:spTgt spid="3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4"/>
                                        </p:tgtEl>
                                        <p:attrNameLst>
                                          <p:attrName>style.visibility</p:attrName>
                                        </p:attrNameLst>
                                      </p:cBhvr>
                                      <p:to>
                                        <p:strVal val="visible"/>
                                      </p:to>
                                    </p:set>
                                    <p:animEffect transition="in" filter="fade">
                                      <p:cBhvr>
                                        <p:cTn id="58" dur="500"/>
                                        <p:tgtEl>
                                          <p:spTgt spid="3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visible"/>
                                      </p:to>
                                    </p:set>
                                    <p:animEffect transition="in" filter="fade">
                                      <p:cBhvr>
                                        <p:cTn id="61" dur="500"/>
                                        <p:tgtEl>
                                          <p:spTgt spid="35"/>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6"/>
                                        </p:tgtEl>
                                        <p:attrNameLst>
                                          <p:attrName>style.visibility</p:attrName>
                                        </p:attrNameLst>
                                      </p:cBhvr>
                                      <p:to>
                                        <p:strVal val="visible"/>
                                      </p:to>
                                    </p:set>
                                    <p:animEffect transition="in" filter="fade">
                                      <p:cBhvr>
                                        <p:cTn id="64" dur="500"/>
                                        <p:tgtEl>
                                          <p:spTgt spid="3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fade">
                                      <p:cBhvr>
                                        <p:cTn id="67" dur="500"/>
                                        <p:tgtEl>
                                          <p:spTgt spid="3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8"/>
                                        </p:tgtEl>
                                        <p:attrNameLst>
                                          <p:attrName>style.visibility</p:attrName>
                                        </p:attrNameLst>
                                      </p:cBhvr>
                                      <p:to>
                                        <p:strVal val="visible"/>
                                      </p:to>
                                    </p:set>
                                    <p:animEffect transition="in" filter="fade">
                                      <p:cBhvr>
                                        <p:cTn id="70" dur="500"/>
                                        <p:tgtEl>
                                          <p:spTgt spid="3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9"/>
                                        </p:tgtEl>
                                        <p:attrNameLst>
                                          <p:attrName>style.visibility</p:attrName>
                                        </p:attrNameLst>
                                      </p:cBhvr>
                                      <p:to>
                                        <p:strVal val="visible"/>
                                      </p:to>
                                    </p:set>
                                    <p:animEffect transition="in" filter="fade">
                                      <p:cBhvr>
                                        <p:cTn id="73" dur="500"/>
                                        <p:tgtEl>
                                          <p:spTgt spid="39"/>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500"/>
                                        <p:tgtEl>
                                          <p:spTgt spid="31"/>
                                        </p:tgtEl>
                                      </p:cBhvr>
                                    </p:animEffect>
                                  </p:childTnLst>
                                </p:cTn>
                              </p:par>
                            </p:childTnLst>
                          </p:cTn>
                        </p:par>
                      </p:childTnLst>
                    </p:cTn>
                  </p:par>
                  <p:par>
                    <p:cTn id="77" fill="hold" nodeType="clickPar">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42"/>
                                        </p:tgtEl>
                                        <p:attrNameLst>
                                          <p:attrName>style.visibility</p:attrName>
                                        </p:attrNameLst>
                                      </p:cBhvr>
                                      <p:to>
                                        <p:strVal val="visible"/>
                                      </p:to>
                                    </p:set>
                                    <p:animEffect transition="in" filter="fade">
                                      <p:cBhvr>
                                        <p:cTn id="81" dur="500"/>
                                        <p:tgtEl>
                                          <p:spTgt spid="42"/>
                                        </p:tgtEl>
                                      </p:cBhvr>
                                    </p:animEffect>
                                  </p:childTnLst>
                                </p:cTn>
                              </p:par>
                            </p:childTnLst>
                          </p:cTn>
                        </p:par>
                      </p:childTnLst>
                    </p:cTn>
                  </p:par>
                  <p:par>
                    <p:cTn id="82" fill="hold" nodeType="clickPar">
                      <p:stCondLst>
                        <p:cond delay="indefinite"/>
                      </p:stCondLst>
                      <p:childTnLst>
                        <p:par>
                          <p:cTn id="83" fill="hold">
                            <p:stCondLst>
                              <p:cond delay="0"/>
                            </p:stCondLst>
                            <p:childTnLst>
                              <p:par>
                                <p:cTn id="84" presetID="10" presetClass="exit" presetSubtype="0" fill="hold" grpId="1" nodeType="clickEffect">
                                  <p:stCondLst>
                                    <p:cond delay="0"/>
                                  </p:stCondLst>
                                  <p:childTnLst>
                                    <p:animEffect transition="out" filter="fade">
                                      <p:cBhvr>
                                        <p:cTn id="85" dur="500"/>
                                        <p:tgtEl>
                                          <p:spTgt spid="39"/>
                                        </p:tgtEl>
                                      </p:cBhvr>
                                    </p:animEffect>
                                    <p:set>
                                      <p:cBhvr>
                                        <p:cTn id="86" dur="1" fill="hold">
                                          <p:stCondLst>
                                            <p:cond delay="499"/>
                                          </p:stCondLst>
                                        </p:cTn>
                                        <p:tgtEl>
                                          <p:spTgt spid="39"/>
                                        </p:tgtEl>
                                        <p:attrNameLst>
                                          <p:attrName>style.visibility</p:attrName>
                                        </p:attrNameLst>
                                      </p:cBhvr>
                                      <p:to>
                                        <p:strVal val="hidden"/>
                                      </p:to>
                                    </p:set>
                                  </p:childTnLst>
                                </p:cTn>
                              </p:par>
                              <p:par>
                                <p:cTn id="87" presetID="10" presetClass="entr" presetSubtype="0" fill="hold" grpId="0" nodeType="withEffect">
                                  <p:stCondLst>
                                    <p:cond delay="0"/>
                                  </p:stCondLst>
                                  <p:childTnLst>
                                    <p:set>
                                      <p:cBhvr>
                                        <p:cTn id="88" dur="1" fill="hold">
                                          <p:stCondLst>
                                            <p:cond delay="0"/>
                                          </p:stCondLst>
                                        </p:cTn>
                                        <p:tgtEl>
                                          <p:spTgt spid="43"/>
                                        </p:tgtEl>
                                        <p:attrNameLst>
                                          <p:attrName>style.visibility</p:attrName>
                                        </p:attrNameLst>
                                      </p:cBhvr>
                                      <p:to>
                                        <p:strVal val="visible"/>
                                      </p:to>
                                    </p:set>
                                    <p:animEffect transition="in" filter="fade">
                                      <p:cBhvr>
                                        <p:cTn id="89" dur="500"/>
                                        <p:tgtEl>
                                          <p:spTgt spid="43"/>
                                        </p:tgtEl>
                                      </p:cBhvr>
                                    </p:animEffect>
                                  </p:childTnLst>
                                </p:cTn>
                              </p:par>
                            </p:childTnLst>
                          </p:cTn>
                        </p:par>
                      </p:childTnLst>
                    </p:cTn>
                  </p:par>
                  <p:par>
                    <p:cTn id="90" fill="hold" nodeType="clickPar">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44"/>
                                        </p:tgtEl>
                                        <p:attrNameLst>
                                          <p:attrName>style.visibility</p:attrName>
                                        </p:attrNameLst>
                                      </p:cBhvr>
                                      <p:to>
                                        <p:strVal val="visible"/>
                                      </p:to>
                                    </p:set>
                                    <p:animEffect transition="in" filter="fade">
                                      <p:cBhvr>
                                        <p:cTn id="94" dur="500"/>
                                        <p:tgtEl>
                                          <p:spTgt spid="44"/>
                                        </p:tgtEl>
                                      </p:cBhvr>
                                    </p:animEffect>
                                  </p:childTnLst>
                                </p:cTn>
                              </p:par>
                            </p:childTnLst>
                          </p:cTn>
                        </p:par>
                      </p:childTnLst>
                    </p:cTn>
                  </p:par>
                  <p:par>
                    <p:cTn id="95" fill="hold" nodeType="clickPar">
                      <p:stCondLst>
                        <p:cond delay="indefinite"/>
                      </p:stCondLst>
                      <p:childTnLst>
                        <p:par>
                          <p:cTn id="96" fill="hold">
                            <p:stCondLst>
                              <p:cond delay="0"/>
                            </p:stCondLst>
                            <p:childTnLst>
                              <p:par>
                                <p:cTn id="97" presetID="10" presetClass="exit" presetSubtype="0" fill="hold" grpId="1" nodeType="clickEffect">
                                  <p:stCondLst>
                                    <p:cond delay="0"/>
                                  </p:stCondLst>
                                  <p:childTnLst>
                                    <p:animEffect transition="out" filter="fade">
                                      <p:cBhvr>
                                        <p:cTn id="98" dur="500"/>
                                        <p:tgtEl>
                                          <p:spTgt spid="36"/>
                                        </p:tgtEl>
                                      </p:cBhvr>
                                    </p:animEffect>
                                    <p:set>
                                      <p:cBhvr>
                                        <p:cTn id="99" dur="1" fill="hold">
                                          <p:stCondLst>
                                            <p:cond delay="499"/>
                                          </p:stCondLst>
                                        </p:cTn>
                                        <p:tgtEl>
                                          <p:spTgt spid="36"/>
                                        </p:tgtEl>
                                        <p:attrNameLst>
                                          <p:attrName>style.visibility</p:attrName>
                                        </p:attrNameLst>
                                      </p:cBhvr>
                                      <p:to>
                                        <p:strVal val="hidden"/>
                                      </p:to>
                                    </p:set>
                                  </p:childTnLst>
                                </p:cTn>
                              </p:par>
                              <p:par>
                                <p:cTn id="100" presetID="10" presetClass="entr" presetSubtype="0" fill="hold" grpId="0" nodeType="withEffect">
                                  <p:stCondLst>
                                    <p:cond delay="0"/>
                                  </p:stCondLst>
                                  <p:childTnLst>
                                    <p:set>
                                      <p:cBhvr>
                                        <p:cTn id="101" dur="1" fill="hold">
                                          <p:stCondLst>
                                            <p:cond delay="0"/>
                                          </p:stCondLst>
                                        </p:cTn>
                                        <p:tgtEl>
                                          <p:spTgt spid="45"/>
                                        </p:tgtEl>
                                        <p:attrNameLst>
                                          <p:attrName>style.visibility</p:attrName>
                                        </p:attrNameLst>
                                      </p:cBhvr>
                                      <p:to>
                                        <p:strVal val="visible"/>
                                      </p:to>
                                    </p:set>
                                    <p:animEffect transition="in" filter="fade">
                                      <p:cBhvr>
                                        <p:cTn id="102" dur="500"/>
                                        <p:tgtEl>
                                          <p:spTgt spid="45"/>
                                        </p:tgtEl>
                                      </p:cBhvr>
                                    </p:animEffect>
                                  </p:childTnLst>
                                </p:cTn>
                              </p:par>
                            </p:childTnLst>
                          </p:cTn>
                        </p:par>
                      </p:childTnLst>
                    </p:cTn>
                  </p:par>
                  <p:par>
                    <p:cTn id="103" fill="hold" nodeType="clickPar">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7" dur="500"/>
                                        <p:tgtEl>
                                          <p:spTgt spid="40"/>
                                        </p:tgtEl>
                                      </p:cBhvr>
                                    </p:animEffect>
                                  </p:childTnLst>
                                </p:cTn>
                              </p:par>
                            </p:childTnLst>
                          </p:cTn>
                        </p:par>
                      </p:childTnLst>
                    </p:cTn>
                  </p:par>
                  <p:par>
                    <p:cTn id="108" fill="hold" nodeType="clickPar">
                      <p:stCondLst>
                        <p:cond delay="indefinite"/>
                      </p:stCondLst>
                      <p:childTnLst>
                        <p:par>
                          <p:cTn id="109" fill="hold">
                            <p:stCondLst>
                              <p:cond delay="0"/>
                            </p:stCondLst>
                            <p:childTnLst>
                              <p:par>
                                <p:cTn id="110" presetID="10" presetClass="exit" presetSubtype="0" fill="hold" grpId="1" nodeType="clickEffect">
                                  <p:stCondLst>
                                    <p:cond delay="0"/>
                                  </p:stCondLst>
                                  <p:childTnLst>
                                    <p:animEffect transition="out" filter="fade">
                                      <p:cBhvr>
                                        <p:cTn id="111" dur="500"/>
                                        <p:tgtEl>
                                          <p:spTgt spid="43"/>
                                        </p:tgtEl>
                                      </p:cBhvr>
                                    </p:animEffect>
                                    <p:set>
                                      <p:cBhvr>
                                        <p:cTn id="112" dur="1" fill="hold">
                                          <p:stCondLst>
                                            <p:cond delay="499"/>
                                          </p:stCondLst>
                                        </p:cTn>
                                        <p:tgtEl>
                                          <p:spTgt spid="43"/>
                                        </p:tgtEl>
                                        <p:attrNameLst>
                                          <p:attrName>style.visibility</p:attrName>
                                        </p:attrNameLst>
                                      </p:cBhvr>
                                      <p:to>
                                        <p:strVal val="hidden"/>
                                      </p:to>
                                    </p:set>
                                  </p:childTnLst>
                                </p:cTn>
                              </p:par>
                              <p:par>
                                <p:cTn id="113" presetID="10" presetClass="entr" presetSubtype="0" fill="hold" grpId="0" nodeType="withEffect">
                                  <p:stCondLst>
                                    <p:cond delay="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500"/>
                                        <p:tgtEl>
                                          <p:spTgt spid="41"/>
                                        </p:tgtEl>
                                      </p:cBhvr>
                                    </p:animEffect>
                                  </p:childTnLst>
                                </p:cTn>
                              </p:par>
                            </p:childTnLst>
                          </p:cTn>
                        </p:par>
                      </p:childTnLst>
                    </p:cTn>
                  </p:par>
                  <p:par>
                    <p:cTn id="116" fill="hold" nodeType="clickPar">
                      <p:stCondLst>
                        <p:cond delay="indefinite"/>
                      </p:stCondLst>
                      <p:childTnLst>
                        <p:par>
                          <p:cTn id="117" fill="hold">
                            <p:stCondLst>
                              <p:cond delay="0"/>
                            </p:stCondLst>
                            <p:childTnLst>
                              <p:par>
                                <p:cTn id="118" presetID="10" presetClass="entr" presetSubtype="0" fill="hold" nodeType="clickEffect">
                                  <p:stCondLst>
                                    <p:cond delay="0"/>
                                  </p:stCondLst>
                                  <p:childTnLst>
                                    <p:set>
                                      <p:cBhvr>
                                        <p:cTn id="119" dur="1" fill="hold">
                                          <p:stCondLst>
                                            <p:cond delay="0"/>
                                          </p:stCondLst>
                                        </p:cTn>
                                        <p:tgtEl>
                                          <p:spTgt spid="3">
                                            <p:txEl>
                                              <p:pRg st="7" end="7"/>
                                            </p:txEl>
                                          </p:spTgt>
                                        </p:tgtEl>
                                        <p:attrNameLst>
                                          <p:attrName>style.visibility</p:attrName>
                                        </p:attrNameLst>
                                      </p:cBhvr>
                                      <p:to>
                                        <p:strVal val="visible"/>
                                      </p:to>
                                    </p:set>
                                    <p:animEffect transition="in" filter="fade">
                                      <p:cBhvr>
                                        <p:cTn id="120" dur="500"/>
                                        <p:tgtEl>
                                          <p:spTgt spid="3">
                                            <p:txEl>
                                              <p:pRg st="7" end="7"/>
                                            </p:txEl>
                                          </p:spTgt>
                                        </p:tgtEl>
                                      </p:cBhvr>
                                    </p:animEffect>
                                  </p:childTnLst>
                                </p:cTn>
                              </p:par>
                            </p:childTnLst>
                          </p:cTn>
                        </p:par>
                      </p:childTnLst>
                    </p:cTn>
                  </p:par>
                  <p:par>
                    <p:cTn id="121" fill="hold" nodeType="clickPar">
                      <p:stCondLst>
                        <p:cond delay="indefinite"/>
                      </p:stCondLst>
                      <p:childTnLst>
                        <p:par>
                          <p:cTn id="122" fill="hold">
                            <p:stCondLst>
                              <p:cond delay="0"/>
                            </p:stCondLst>
                            <p:childTnLst>
                              <p:par>
                                <p:cTn id="123" presetID="10" presetClass="entr" presetSubtype="0" fill="hold" nodeType="clickEffect">
                                  <p:stCondLst>
                                    <p:cond delay="0"/>
                                  </p:stCondLst>
                                  <p:childTnLst>
                                    <p:set>
                                      <p:cBhvr>
                                        <p:cTn id="124" dur="1" fill="hold">
                                          <p:stCondLst>
                                            <p:cond delay="0"/>
                                          </p:stCondLst>
                                        </p:cTn>
                                        <p:tgtEl>
                                          <p:spTgt spid="3">
                                            <p:txEl>
                                              <p:pRg st="8" end="8"/>
                                            </p:txEl>
                                          </p:spTgt>
                                        </p:tgtEl>
                                        <p:attrNameLst>
                                          <p:attrName>style.visibility</p:attrName>
                                        </p:attrNameLst>
                                      </p:cBhvr>
                                      <p:to>
                                        <p:strVal val="visible"/>
                                      </p:to>
                                    </p:set>
                                    <p:animEffect transition="in" filter="fade">
                                      <p:cBhvr>
                                        <p:cTn id="125" dur="500"/>
                                        <p:tgtEl>
                                          <p:spTgt spid="3">
                                            <p:txEl>
                                              <p:pRg st="8" end="8"/>
                                            </p:txEl>
                                          </p:spTgt>
                                        </p:tgtEl>
                                      </p:cBhvr>
                                    </p:animEffect>
                                  </p:childTnLst>
                                </p:cTn>
                              </p:par>
                            </p:childTnLst>
                          </p:cTn>
                        </p:par>
                      </p:childTnLst>
                    </p:cTn>
                  </p:par>
                  <p:par>
                    <p:cTn id="126" fill="hold" nodeType="clickPar">
                      <p:stCondLst>
                        <p:cond delay="indefinite"/>
                      </p:stCondLst>
                      <p:childTnLst>
                        <p:par>
                          <p:cTn id="127" fill="hold">
                            <p:stCondLst>
                              <p:cond delay="0"/>
                            </p:stCondLst>
                            <p:childTnLst>
                              <p:par>
                                <p:cTn id="128" presetID="10" presetClass="entr" presetSubtype="0" fill="hold" nodeType="clickEffect">
                                  <p:stCondLst>
                                    <p:cond delay="0"/>
                                  </p:stCondLst>
                                  <p:childTnLst>
                                    <p:set>
                                      <p:cBhvr>
                                        <p:cTn id="129" dur="1" fill="hold">
                                          <p:stCondLst>
                                            <p:cond delay="0"/>
                                          </p:stCondLst>
                                        </p:cTn>
                                        <p:tgtEl>
                                          <p:spTgt spid="3">
                                            <p:txEl>
                                              <p:pRg st="9" end="9"/>
                                            </p:txEl>
                                          </p:spTgt>
                                        </p:tgtEl>
                                        <p:attrNameLst>
                                          <p:attrName>style.visibility</p:attrName>
                                        </p:attrNameLst>
                                      </p:cBhvr>
                                      <p:to>
                                        <p:strVal val="visible"/>
                                      </p:to>
                                    </p:set>
                                    <p:animEffect transition="in" filter="fade">
                                      <p:cBhvr>
                                        <p:cTn id="13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p:bldP spid="11" grpId="0"/>
      <p:bldP spid="12" grpId="0"/>
      <p:bldP spid="13" grpId="0"/>
      <p:bldP spid="14" grpId="0"/>
      <p:bldP spid="30" grpId="0" animBg="1"/>
      <p:bldP spid="31" grpId="0" animBg="1"/>
      <p:bldP spid="32" grpId="0" animBg="1"/>
      <p:bldP spid="33" grpId="0" animBg="1"/>
      <p:bldP spid="34" grpId="0" animBg="1"/>
      <p:bldP spid="35" grpId="0"/>
      <p:bldP spid="36" grpId="0"/>
      <p:bldP spid="36" grpId="1"/>
      <p:bldP spid="37" grpId="0"/>
      <p:bldP spid="38" grpId="0"/>
      <p:bldP spid="39" grpId="0"/>
      <p:bldP spid="39" grpId="1"/>
      <p:bldP spid="42" grpId="0" animBg="1"/>
      <p:bldP spid="43" grpId="0"/>
      <p:bldP spid="43" grpId="1"/>
      <p:bldP spid="44" grpId="0" animBg="1"/>
      <p:bldP spid="45" grpId="0"/>
      <p:bldP spid="40" grpId="0" animBg="1"/>
      <p:bldP spid="4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Paging</a:t>
            </a:r>
            <a:endParaRPr lang="en-US"/>
          </a:p>
        </p:txBody>
      </p:sp>
      <p:sp>
        <p:nvSpPr>
          <p:cNvPr id="3" name="Content Placeholder 2"/>
          <p:cNvSpPr>
            <a:spLocks noGrp="1"/>
          </p:cNvSpPr>
          <p:nvPr>
            <p:ph idx="1"/>
          </p:nvPr>
        </p:nvSpPr>
        <p:spPr/>
        <p:txBody>
          <a:bodyPr/>
          <a:lstStyle/>
          <a:p>
            <a:r>
              <a:rPr lang="en-US" dirty="0"/>
              <a:t>Paging is a </a:t>
            </a:r>
            <a:r>
              <a:rPr lang="en-US" b="1" dirty="0">
                <a:solidFill>
                  <a:schemeClr val="accent6"/>
                </a:solidFill>
              </a:rPr>
              <a:t>storage mechanism used to retrieve processes from the secondary storage (Hard disk) into the main memory (RAM) in the form </a:t>
            </a:r>
            <a:endParaRPr lang="en-US" b="1" dirty="0" smtClean="0">
              <a:solidFill>
                <a:schemeClr val="accent6"/>
              </a:solidFill>
            </a:endParaRPr>
          </a:p>
          <a:p>
            <a:pPr marL="0" indent="0">
              <a:buNone/>
            </a:pPr>
            <a:r>
              <a:rPr lang="en-US" b="1" dirty="0" smtClean="0">
                <a:solidFill>
                  <a:schemeClr val="accent6"/>
                </a:solidFill>
              </a:rPr>
              <a:t>    of </a:t>
            </a:r>
            <a:r>
              <a:rPr lang="en-US" b="1" dirty="0">
                <a:solidFill>
                  <a:schemeClr val="accent6"/>
                </a:solidFill>
              </a:rPr>
              <a:t>pages</a:t>
            </a:r>
            <a:r>
              <a:rPr lang="en-US" dirty="0" smtClean="0"/>
              <a:t>.</a:t>
            </a:r>
          </a:p>
          <a:p>
            <a:r>
              <a:rPr lang="en-US" dirty="0"/>
              <a:t>Partition memory into small equal fixed-size </a:t>
            </a:r>
            <a:endParaRPr lang="en-US" dirty="0" smtClean="0"/>
          </a:p>
          <a:p>
            <a:pPr marL="0" indent="0">
              <a:buNone/>
            </a:pPr>
            <a:r>
              <a:rPr lang="en-US" dirty="0"/>
              <a:t> </a:t>
            </a:r>
            <a:r>
              <a:rPr lang="en-US" dirty="0" smtClean="0"/>
              <a:t>  chunks </a:t>
            </a:r>
            <a:r>
              <a:rPr lang="en-US" dirty="0"/>
              <a:t>and divide each process into the same </a:t>
            </a:r>
            <a:endParaRPr lang="en-US" dirty="0" smtClean="0"/>
          </a:p>
          <a:p>
            <a:pPr marL="0" indent="0">
              <a:buNone/>
            </a:pPr>
            <a:r>
              <a:rPr lang="en-US" dirty="0"/>
              <a:t> </a:t>
            </a:r>
            <a:r>
              <a:rPr lang="en-US" dirty="0" smtClean="0"/>
              <a:t>   size </a:t>
            </a:r>
            <a:r>
              <a:rPr lang="en-US" dirty="0"/>
              <a:t>chunks.</a:t>
            </a:r>
          </a:p>
          <a:p>
            <a:r>
              <a:rPr lang="en-US" dirty="0"/>
              <a:t>The chunks of a </a:t>
            </a:r>
            <a:r>
              <a:rPr lang="en-US" dirty="0">
                <a:solidFill>
                  <a:srgbClr val="C00000"/>
                </a:solidFill>
              </a:rPr>
              <a:t>process</a:t>
            </a:r>
            <a:r>
              <a:rPr lang="en-US" dirty="0"/>
              <a:t> are called </a:t>
            </a:r>
            <a:r>
              <a:rPr lang="en-US" dirty="0">
                <a:solidFill>
                  <a:srgbClr val="C00000"/>
                </a:solidFill>
              </a:rPr>
              <a:t>pages</a:t>
            </a:r>
            <a:r>
              <a:rPr lang="en-US" dirty="0"/>
              <a:t>.</a:t>
            </a:r>
          </a:p>
          <a:p>
            <a:r>
              <a:rPr lang="en-US" dirty="0"/>
              <a:t>The chunks of </a:t>
            </a:r>
            <a:r>
              <a:rPr lang="en-US" dirty="0">
                <a:solidFill>
                  <a:srgbClr val="C00000"/>
                </a:solidFill>
              </a:rPr>
              <a:t>memory</a:t>
            </a:r>
            <a:r>
              <a:rPr lang="en-US" dirty="0"/>
              <a:t> are called </a:t>
            </a:r>
            <a:r>
              <a:rPr lang="en-US" dirty="0">
                <a:solidFill>
                  <a:srgbClr val="C00000"/>
                </a:solidFill>
              </a:rPr>
              <a:t>frames</a:t>
            </a:r>
            <a:r>
              <a:rPr lang="en-US" dirty="0"/>
              <a:t>.</a:t>
            </a:r>
          </a:p>
          <a:p>
            <a:pPr marL="0" indent="0">
              <a:buNone/>
            </a:pPr>
            <a:endParaRPr lang="en-US" dirty="0" smtClean="0"/>
          </a:p>
          <a:p>
            <a:pPr marL="0" indent="0">
              <a:buNone/>
            </a:pPr>
            <a:endParaRPr lang="en-US" dirty="0"/>
          </a:p>
        </p:txBody>
      </p:sp>
      <p:sp>
        <p:nvSpPr>
          <p:cNvPr id="16" name="TextBox 15"/>
          <p:cNvSpPr txBox="1"/>
          <p:nvPr/>
        </p:nvSpPr>
        <p:spPr>
          <a:xfrm>
            <a:off x="453930" y="4495731"/>
            <a:ext cx="5550092" cy="1477328"/>
          </a:xfrm>
          <a:prstGeom prst="rect">
            <a:avLst/>
          </a:prstGeom>
          <a:solidFill>
            <a:schemeClr val="accent6">
              <a:lumMod val="20000"/>
              <a:lumOff val="80000"/>
            </a:schemeClr>
          </a:solidFill>
          <a:ln>
            <a:solidFill>
              <a:schemeClr val="accent6">
                <a:lumMod val="60000"/>
                <a:lumOff val="40000"/>
              </a:schemeClr>
            </a:solidFill>
          </a:ln>
        </p:spPr>
        <p:txBody>
          <a:bodyPr wrap="square" rtlCol="0">
            <a:spAutoFit/>
          </a:bodyPr>
          <a:lstStyle/>
          <a:p>
            <a:pPr marL="285750" indent="-285750">
              <a:buFont typeface="Arial" panose="020B0604020202020204" pitchFamily="34" charset="0"/>
              <a:buChar char="•"/>
            </a:pPr>
            <a:r>
              <a:rPr lang="en-US" dirty="0"/>
              <a:t>The main idea behind the paging is </a:t>
            </a:r>
            <a:r>
              <a:rPr lang="en-US" b="1" dirty="0">
                <a:solidFill>
                  <a:schemeClr val="accent6"/>
                </a:solidFill>
              </a:rPr>
              <a:t>to divide each process in the form of pages</a:t>
            </a:r>
            <a:r>
              <a:rPr lang="en-US" dirty="0"/>
              <a:t>. The </a:t>
            </a:r>
            <a:r>
              <a:rPr lang="en-US" b="1" dirty="0">
                <a:solidFill>
                  <a:schemeClr val="accent6"/>
                </a:solidFill>
              </a:rPr>
              <a:t>main memory will also be divided in the form of frames</a:t>
            </a:r>
            <a:r>
              <a:rPr lang="en-US" dirty="0"/>
              <a:t>.</a:t>
            </a:r>
          </a:p>
          <a:p>
            <a:pPr marL="285750" indent="-285750">
              <a:buFont typeface="Arial" panose="020B0604020202020204" pitchFamily="34" charset="0"/>
              <a:buChar char="•"/>
            </a:pPr>
            <a:r>
              <a:rPr lang="en-US" b="1" dirty="0">
                <a:solidFill>
                  <a:schemeClr val="accent6"/>
                </a:solidFill>
              </a:rPr>
              <a:t>One page of the process is to be stored in one of the frames </a:t>
            </a:r>
            <a:r>
              <a:rPr lang="en-US" dirty="0"/>
              <a:t>of the memory.</a:t>
            </a:r>
          </a:p>
        </p:txBody>
      </p:sp>
      <p:pic>
        <p:nvPicPr>
          <p:cNvPr id="17" name="Picture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6771" y="1261904"/>
            <a:ext cx="5734050" cy="5449279"/>
          </a:xfrm>
          <a:prstGeom prst="rect">
            <a:avLst/>
          </a:prstGeom>
        </p:spPr>
      </p:pic>
    </p:spTree>
    <p:extLst>
      <p:ext uri="{BB962C8B-B14F-4D97-AF65-F5344CB8AC3E}">
        <p14:creationId xmlns:p14="http://schemas.microsoft.com/office/powerpoint/2010/main" val="293857168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6">
                                            <p:txEl>
                                              <p:pRg st="0" end="0"/>
                                            </p:txEl>
                                          </p:spTgt>
                                        </p:tgtEl>
                                        <p:attrNameLst>
                                          <p:attrName>style.visibility</p:attrName>
                                        </p:attrNameLst>
                                      </p:cBhvr>
                                      <p:to>
                                        <p:strVal val="visible"/>
                                      </p:to>
                                    </p:set>
                                    <p:animEffect transition="in" filter="fade">
                                      <p:cBhvr>
                                        <p:cTn id="42" dur="500"/>
                                        <p:tgtEl>
                                          <p:spTgt spid="16">
                                            <p:txEl>
                                              <p:pRg st="0" end="0"/>
                                            </p:tx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childTnLst>
                          </p:cTn>
                        </p:par>
                      </p:childTnLst>
                    </p:cTn>
                  </p:par>
                  <p:par>
                    <p:cTn id="46" fill="hold" nodeType="clickPar">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6">
                                            <p:txEl>
                                              <p:pRg st="1" end="1"/>
                                            </p:txEl>
                                          </p:spTgt>
                                        </p:tgtEl>
                                        <p:attrNameLst>
                                          <p:attrName>style.visibility</p:attrName>
                                        </p:attrNameLst>
                                      </p:cBhvr>
                                      <p:to>
                                        <p:strVal val="visible"/>
                                      </p:to>
                                    </p:set>
                                    <p:animEffect transition="in" filter="fade">
                                      <p:cBhvr>
                                        <p:cTn id="50" dur="500"/>
                                        <p:tgtEl>
                                          <p:spTgt spid="1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Paging </a:t>
            </a:r>
            <a:endParaRPr lang="en-US" dirty="0"/>
          </a:p>
        </p:txBody>
      </p:sp>
      <p:pic>
        <p:nvPicPr>
          <p:cNvPr id="4" name="Content Placeholder 3">
            <a:extLst>
              <a:ext uri="{FF2B5EF4-FFF2-40B4-BE49-F238E27FC236}">
                <a16:creationId xmlns:a16="http://schemas.microsoft.com/office/drawing/2014/main" xmlns="" id="{71F8765C-BE49-686F-115F-DE058C3A768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05400" y="831273"/>
            <a:ext cx="3586790" cy="5462957"/>
          </a:xfrm>
          <a:prstGeom prst="rect">
            <a:avLst/>
          </a:prstGeom>
        </p:spPr>
      </p:pic>
    </p:spTree>
    <p:extLst>
      <p:ext uri="{BB962C8B-B14F-4D97-AF65-F5344CB8AC3E}">
        <p14:creationId xmlns:p14="http://schemas.microsoft.com/office/powerpoint/2010/main" val="927888599"/>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Paging</a:t>
            </a:r>
            <a:endParaRPr lang="en-US"/>
          </a:p>
        </p:txBody>
      </p:sp>
      <p:sp>
        <p:nvSpPr>
          <p:cNvPr id="3" name="Content Placeholder 2"/>
          <p:cNvSpPr>
            <a:spLocks noGrp="1"/>
          </p:cNvSpPr>
          <p:nvPr>
            <p:ph idx="1"/>
          </p:nvPr>
        </p:nvSpPr>
        <p:spPr/>
        <p:txBody>
          <a:bodyPr/>
          <a:lstStyle/>
          <a:p>
            <a:r>
              <a:rPr lang="en-US" dirty="0"/>
              <a:t>The pages can be stored at the different locations of the memory but the priority is always to find the contiguous frames or holes.</a:t>
            </a:r>
          </a:p>
          <a:p>
            <a:r>
              <a:rPr lang="en-US" dirty="0"/>
              <a:t>Pages of the process are </a:t>
            </a:r>
            <a:r>
              <a:rPr lang="en-US" b="1" dirty="0">
                <a:solidFill>
                  <a:schemeClr val="accent6"/>
                </a:solidFill>
              </a:rPr>
              <a:t>brought into the main memory only when they are required </a:t>
            </a:r>
            <a:r>
              <a:rPr lang="en-US" dirty="0"/>
              <a:t>otherwise they reside in the secondary storage.</a:t>
            </a:r>
          </a:p>
          <a:p>
            <a:r>
              <a:rPr lang="en-US" dirty="0"/>
              <a:t>The </a:t>
            </a:r>
            <a:r>
              <a:rPr lang="en-US" b="1" dirty="0">
                <a:solidFill>
                  <a:schemeClr val="accent6"/>
                </a:solidFill>
              </a:rPr>
              <a:t>sizes of each frame must be equal</a:t>
            </a:r>
            <a:r>
              <a:rPr lang="en-US" dirty="0"/>
              <a:t>. Considering the fact that the pages are mapped to the frames in Paging, page size needs to be as same as frame size.</a:t>
            </a:r>
          </a:p>
          <a:p>
            <a:r>
              <a:rPr lang="en-US" dirty="0"/>
              <a:t>Different operating system defines different frame sizes</a:t>
            </a:r>
            <a:r>
              <a:rPr lang="en-US" dirty="0" smtClean="0"/>
              <a:t>.</a:t>
            </a:r>
          </a:p>
          <a:p>
            <a:r>
              <a:rPr lang="en-US" dirty="0"/>
              <a:t>When a process requests memory, the operating system allocates one or more frames to the process and maps the process’s logical pages to the physical frames</a:t>
            </a:r>
            <a:r>
              <a:rPr lang="en-US" dirty="0" smtClean="0"/>
              <a:t>.</a:t>
            </a:r>
          </a:p>
          <a:p>
            <a:r>
              <a:rPr lang="en-US" dirty="0"/>
              <a:t>The mapping between logical pages and physical frames is maintained by the page table, which is used by the </a:t>
            </a:r>
            <a:r>
              <a:rPr lang="en-US" dirty="0">
                <a:solidFill>
                  <a:srgbClr val="C00000"/>
                </a:solidFill>
              </a:rPr>
              <a:t>memory management unit </a:t>
            </a:r>
            <a:r>
              <a:rPr lang="en-US" dirty="0"/>
              <a:t>to translate logical addresses into physical addresses. </a:t>
            </a:r>
          </a:p>
          <a:p>
            <a:r>
              <a:rPr lang="en-US" dirty="0"/>
              <a:t>The page table maps each logical page number to a physical frame number.</a:t>
            </a:r>
          </a:p>
          <a:p>
            <a:endParaRPr lang="en-US" dirty="0"/>
          </a:p>
          <a:p>
            <a:endParaRPr lang="en-US" dirty="0"/>
          </a:p>
        </p:txBody>
      </p:sp>
    </p:spTree>
    <p:extLst>
      <p:ext uri="{BB962C8B-B14F-4D97-AF65-F5344CB8AC3E}">
        <p14:creationId xmlns:p14="http://schemas.microsoft.com/office/powerpoint/2010/main" val="235663007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Paging</a:t>
            </a:r>
            <a:endParaRPr lang="en-US"/>
          </a:p>
        </p:txBody>
      </p:sp>
      <p:graphicFrame>
        <p:nvGraphicFramePr>
          <p:cNvPr id="4" name="Table 3"/>
          <p:cNvGraphicFramePr>
            <a:graphicFrameLocks noGrp="1"/>
          </p:cNvGraphicFramePr>
          <p:nvPr>
            <p:extLst/>
          </p:nvPr>
        </p:nvGraphicFramePr>
        <p:xfrm>
          <a:off x="4686300" y="1432560"/>
          <a:ext cx="1440000" cy="4450080"/>
        </p:xfrm>
        <a:graphic>
          <a:graphicData uri="http://schemas.openxmlformats.org/drawingml/2006/table">
            <a:tbl>
              <a:tblPr firstRow="1" bandRow="1">
                <a:tableStyleId>{5940675A-B579-460E-94D1-54222C63F5DA}</a:tableStyleId>
              </a:tblPr>
              <a:tblGrid>
                <a:gridCol w="1440000">
                  <a:extLst>
                    <a:ext uri="{9D8B030D-6E8A-4147-A177-3AD203B41FA5}">
                      <a16:colId xmlns="" xmlns:a16="http://schemas.microsoft.com/office/drawing/2014/main" val="20000"/>
                    </a:ext>
                  </a:extLst>
                </a:gridCol>
              </a:tblGrid>
              <a:tr h="370840">
                <a:tc>
                  <a:txBody>
                    <a:bodyPr/>
                    <a:lstStyle/>
                    <a:p>
                      <a:pPr algn="ctr"/>
                      <a:r>
                        <a:rPr lang="en-US"/>
                        <a:t>Frame 12</a:t>
                      </a:r>
                    </a:p>
                  </a:txBody>
                  <a:tcPr/>
                </a:tc>
                <a:extLst>
                  <a:ext uri="{0D108BD9-81ED-4DB2-BD59-A6C34878D82A}">
                    <a16:rowId xmlns="" xmlns:a16="http://schemas.microsoft.com/office/drawing/2014/main" val="10000"/>
                  </a:ext>
                </a:extLst>
              </a:tr>
              <a:tr h="370840">
                <a:tc>
                  <a:txBody>
                    <a:bodyPr/>
                    <a:lstStyle/>
                    <a:p>
                      <a:pPr algn="ctr"/>
                      <a:r>
                        <a:rPr lang="en-US"/>
                        <a:t>Frame 11</a:t>
                      </a:r>
                    </a:p>
                  </a:txBody>
                  <a:tcPr/>
                </a:tc>
                <a:extLst>
                  <a:ext uri="{0D108BD9-81ED-4DB2-BD59-A6C34878D82A}">
                    <a16:rowId xmlns="" xmlns:a16="http://schemas.microsoft.com/office/drawing/2014/main" val="10001"/>
                  </a:ext>
                </a:extLst>
              </a:tr>
              <a:tr h="370840">
                <a:tc>
                  <a:txBody>
                    <a:bodyPr/>
                    <a:lstStyle/>
                    <a:p>
                      <a:pPr algn="ctr"/>
                      <a:r>
                        <a:rPr lang="en-US"/>
                        <a:t>Frame 10</a:t>
                      </a:r>
                    </a:p>
                  </a:txBody>
                  <a:tcPr/>
                </a:tc>
                <a:extLst>
                  <a:ext uri="{0D108BD9-81ED-4DB2-BD59-A6C34878D82A}">
                    <a16:rowId xmlns="" xmlns:a16="http://schemas.microsoft.com/office/drawing/2014/main" val="10002"/>
                  </a:ext>
                </a:extLst>
              </a:tr>
              <a:tr h="370840">
                <a:tc>
                  <a:txBody>
                    <a:bodyPr/>
                    <a:lstStyle/>
                    <a:p>
                      <a:pPr algn="ctr"/>
                      <a:r>
                        <a:rPr lang="en-US"/>
                        <a:t>Frame 9</a:t>
                      </a:r>
                    </a:p>
                  </a:txBody>
                  <a:tcPr/>
                </a:tc>
                <a:extLst>
                  <a:ext uri="{0D108BD9-81ED-4DB2-BD59-A6C34878D82A}">
                    <a16:rowId xmlns="" xmlns:a16="http://schemas.microsoft.com/office/drawing/2014/main" val="10003"/>
                  </a:ext>
                </a:extLst>
              </a:tr>
              <a:tr h="370840">
                <a:tc>
                  <a:txBody>
                    <a:bodyPr/>
                    <a:lstStyle/>
                    <a:p>
                      <a:pPr algn="ctr"/>
                      <a:r>
                        <a:rPr lang="en-US"/>
                        <a:t>Frame 8</a:t>
                      </a:r>
                    </a:p>
                  </a:txBody>
                  <a:tcPr/>
                </a:tc>
                <a:extLst>
                  <a:ext uri="{0D108BD9-81ED-4DB2-BD59-A6C34878D82A}">
                    <a16:rowId xmlns="" xmlns:a16="http://schemas.microsoft.com/office/drawing/2014/main" val="10004"/>
                  </a:ext>
                </a:extLst>
              </a:tr>
              <a:tr h="370840">
                <a:tc>
                  <a:txBody>
                    <a:bodyPr/>
                    <a:lstStyle/>
                    <a:p>
                      <a:pPr algn="ctr"/>
                      <a:r>
                        <a:rPr lang="en-US"/>
                        <a:t>Frame 7</a:t>
                      </a:r>
                    </a:p>
                  </a:txBody>
                  <a:tcPr/>
                </a:tc>
                <a:extLst>
                  <a:ext uri="{0D108BD9-81ED-4DB2-BD59-A6C34878D82A}">
                    <a16:rowId xmlns="" xmlns:a16="http://schemas.microsoft.com/office/drawing/2014/main" val="10005"/>
                  </a:ext>
                </a:extLst>
              </a:tr>
              <a:tr h="370840">
                <a:tc>
                  <a:txBody>
                    <a:bodyPr/>
                    <a:lstStyle/>
                    <a:p>
                      <a:pPr algn="ctr"/>
                      <a:r>
                        <a:rPr lang="en-US"/>
                        <a:t>Frame 6</a:t>
                      </a:r>
                    </a:p>
                  </a:txBody>
                  <a:tcPr/>
                </a:tc>
                <a:extLst>
                  <a:ext uri="{0D108BD9-81ED-4DB2-BD59-A6C34878D82A}">
                    <a16:rowId xmlns="" xmlns:a16="http://schemas.microsoft.com/office/drawing/2014/main" val="10006"/>
                  </a:ext>
                </a:extLst>
              </a:tr>
              <a:tr h="370840">
                <a:tc>
                  <a:txBody>
                    <a:bodyPr/>
                    <a:lstStyle/>
                    <a:p>
                      <a:pPr algn="ctr"/>
                      <a:r>
                        <a:rPr lang="en-US"/>
                        <a:t>Frame 5</a:t>
                      </a:r>
                    </a:p>
                  </a:txBody>
                  <a:tcPr/>
                </a:tc>
                <a:extLst>
                  <a:ext uri="{0D108BD9-81ED-4DB2-BD59-A6C34878D82A}">
                    <a16:rowId xmlns="" xmlns:a16="http://schemas.microsoft.com/office/drawing/2014/main" val="10007"/>
                  </a:ext>
                </a:extLst>
              </a:tr>
              <a:tr h="370840">
                <a:tc>
                  <a:txBody>
                    <a:bodyPr/>
                    <a:lstStyle/>
                    <a:p>
                      <a:pPr algn="ctr"/>
                      <a:r>
                        <a:rPr lang="en-US"/>
                        <a:t>Frame 4</a:t>
                      </a:r>
                    </a:p>
                  </a:txBody>
                  <a:tcPr/>
                </a:tc>
                <a:extLst>
                  <a:ext uri="{0D108BD9-81ED-4DB2-BD59-A6C34878D82A}">
                    <a16:rowId xmlns="" xmlns:a16="http://schemas.microsoft.com/office/drawing/2014/main" val="10008"/>
                  </a:ext>
                </a:extLst>
              </a:tr>
              <a:tr h="370840">
                <a:tc>
                  <a:txBody>
                    <a:bodyPr/>
                    <a:lstStyle/>
                    <a:p>
                      <a:pPr algn="ctr"/>
                      <a:r>
                        <a:rPr lang="en-US"/>
                        <a:t>Frame 3</a:t>
                      </a:r>
                    </a:p>
                  </a:txBody>
                  <a:tcPr/>
                </a:tc>
                <a:extLst>
                  <a:ext uri="{0D108BD9-81ED-4DB2-BD59-A6C34878D82A}">
                    <a16:rowId xmlns="" xmlns:a16="http://schemas.microsoft.com/office/drawing/2014/main" val="10009"/>
                  </a:ext>
                </a:extLst>
              </a:tr>
              <a:tr h="370840">
                <a:tc>
                  <a:txBody>
                    <a:bodyPr/>
                    <a:lstStyle/>
                    <a:p>
                      <a:pPr algn="ctr"/>
                      <a:r>
                        <a:rPr lang="en-US"/>
                        <a:t>Frame 2</a:t>
                      </a:r>
                    </a:p>
                  </a:txBody>
                  <a:tcPr/>
                </a:tc>
                <a:extLst>
                  <a:ext uri="{0D108BD9-81ED-4DB2-BD59-A6C34878D82A}">
                    <a16:rowId xmlns="" xmlns:a16="http://schemas.microsoft.com/office/drawing/2014/main" val="10010"/>
                  </a:ext>
                </a:extLst>
              </a:tr>
              <a:tr h="370840">
                <a:tc>
                  <a:txBody>
                    <a:bodyPr/>
                    <a:lstStyle/>
                    <a:p>
                      <a:pPr algn="ctr"/>
                      <a:r>
                        <a:rPr lang="en-US"/>
                        <a:t>Frame 1</a:t>
                      </a:r>
                    </a:p>
                  </a:txBody>
                  <a:tcPr/>
                </a:tc>
                <a:extLst>
                  <a:ext uri="{0D108BD9-81ED-4DB2-BD59-A6C34878D82A}">
                    <a16:rowId xmlns="" xmlns:a16="http://schemas.microsoft.com/office/drawing/2014/main" val="10011"/>
                  </a:ext>
                </a:extLst>
              </a:tr>
            </a:tbl>
          </a:graphicData>
        </a:graphic>
      </p:graphicFrame>
      <p:graphicFrame>
        <p:nvGraphicFramePr>
          <p:cNvPr id="5" name="Table 4"/>
          <p:cNvGraphicFramePr>
            <a:graphicFrameLocks noGrp="1"/>
          </p:cNvGraphicFramePr>
          <p:nvPr>
            <p:extLst/>
          </p:nvPr>
        </p:nvGraphicFramePr>
        <p:xfrm>
          <a:off x="7646326" y="1834717"/>
          <a:ext cx="1080000" cy="1112520"/>
        </p:xfrm>
        <a:graphic>
          <a:graphicData uri="http://schemas.openxmlformats.org/drawingml/2006/table">
            <a:tbl>
              <a:tblPr firstRow="1" bandRow="1">
                <a:tableStyleId>{5940675A-B579-460E-94D1-54222C63F5DA}</a:tableStyleId>
              </a:tblPr>
              <a:tblGrid>
                <a:gridCol w="1080000">
                  <a:extLst>
                    <a:ext uri="{9D8B030D-6E8A-4147-A177-3AD203B41FA5}">
                      <a16:colId xmlns="" xmlns:a16="http://schemas.microsoft.com/office/drawing/2014/main" val="20000"/>
                    </a:ext>
                  </a:extLst>
                </a:gridCol>
              </a:tblGrid>
              <a:tr h="370840">
                <a:tc>
                  <a:txBody>
                    <a:bodyPr/>
                    <a:lstStyle/>
                    <a:p>
                      <a:pPr marL="0" marR="0" indent="0" algn="ctr" defTabSz="914400" rtl="0" eaLnBrk="1" fontAlgn="auto" latinLnBrk="0" hangingPunct="1">
                        <a:lnSpc>
                          <a:spcPct val="100000"/>
                        </a:lnSpc>
                        <a:spcBef>
                          <a:spcPct val="0"/>
                        </a:spcBef>
                        <a:spcAft>
                          <a:spcPct val="0"/>
                        </a:spcAft>
                        <a:buClrTx/>
                        <a:buSzTx/>
                        <a:buFontTx/>
                        <a:buNone/>
                        <a:defRPr/>
                      </a:pPr>
                      <a:r>
                        <a:rPr lang="en-US"/>
                        <a:t>Page 3</a:t>
                      </a:r>
                    </a:p>
                  </a:txBody>
                  <a:tcPr/>
                </a:tc>
                <a:extLst>
                  <a:ext uri="{0D108BD9-81ED-4DB2-BD59-A6C34878D82A}">
                    <a16:rowId xmlns="" xmlns:a16="http://schemas.microsoft.com/office/drawing/2014/main" val="10000"/>
                  </a:ext>
                </a:extLst>
              </a:tr>
              <a:tr h="370840">
                <a:tc>
                  <a:txBody>
                    <a:bodyPr/>
                    <a:lstStyle/>
                    <a:p>
                      <a:pPr marL="0" marR="0" indent="0" algn="ctr" defTabSz="914400" rtl="0" eaLnBrk="1" fontAlgn="auto" latinLnBrk="0" hangingPunct="1">
                        <a:lnSpc>
                          <a:spcPct val="100000"/>
                        </a:lnSpc>
                        <a:spcBef>
                          <a:spcPct val="0"/>
                        </a:spcBef>
                        <a:spcAft>
                          <a:spcPct val="0"/>
                        </a:spcAft>
                        <a:buClrTx/>
                        <a:buSzTx/>
                        <a:buFontTx/>
                        <a:buNone/>
                        <a:defRPr/>
                      </a:pPr>
                      <a:r>
                        <a:rPr lang="en-US"/>
                        <a:t>Page 2</a:t>
                      </a:r>
                    </a:p>
                  </a:txBody>
                  <a:tcPr/>
                </a:tc>
                <a:extLst>
                  <a:ext uri="{0D108BD9-81ED-4DB2-BD59-A6C34878D82A}">
                    <a16:rowId xmlns="" xmlns:a16="http://schemas.microsoft.com/office/drawing/2014/main" val="10001"/>
                  </a:ext>
                </a:extLst>
              </a:tr>
              <a:tr h="370840">
                <a:tc>
                  <a:txBody>
                    <a:bodyPr/>
                    <a:lstStyle/>
                    <a:p>
                      <a:pPr algn="ctr"/>
                      <a:r>
                        <a:rPr lang="en-US"/>
                        <a:t>Page 1</a:t>
                      </a:r>
                    </a:p>
                  </a:txBody>
                  <a:tcPr/>
                </a:tc>
                <a:extLst>
                  <a:ext uri="{0D108BD9-81ED-4DB2-BD59-A6C34878D82A}">
                    <a16:rowId xmlns="" xmlns:a16="http://schemas.microsoft.com/office/drawing/2014/main" val="10002"/>
                  </a:ext>
                </a:extLst>
              </a:tr>
            </a:tbl>
          </a:graphicData>
        </a:graphic>
      </p:graphicFrame>
      <p:sp>
        <p:nvSpPr>
          <p:cNvPr id="6" name="TextBox 5"/>
          <p:cNvSpPr txBox="1"/>
          <p:nvPr/>
        </p:nvSpPr>
        <p:spPr>
          <a:xfrm>
            <a:off x="7637686" y="1458862"/>
            <a:ext cx="1097280" cy="369332"/>
          </a:xfrm>
          <a:prstGeom prst="rect">
            <a:avLst/>
          </a:prstGeom>
          <a:solidFill>
            <a:schemeClr val="bg1">
              <a:lumMod val="65000"/>
            </a:schemeClr>
          </a:solidFill>
        </p:spPr>
        <p:txBody>
          <a:bodyPr wrap="square" rtlCol="0">
            <a:spAutoFit/>
          </a:bodyPr>
          <a:lstStyle/>
          <a:p>
            <a:pPr algn="ctr"/>
            <a:r>
              <a:rPr lang="en-US"/>
              <a:t>Process 3</a:t>
            </a:r>
          </a:p>
        </p:txBody>
      </p:sp>
      <p:graphicFrame>
        <p:nvGraphicFramePr>
          <p:cNvPr id="7" name="Table 6"/>
          <p:cNvGraphicFramePr>
            <a:graphicFrameLocks noGrp="1"/>
          </p:cNvGraphicFramePr>
          <p:nvPr>
            <p:extLst/>
          </p:nvPr>
        </p:nvGraphicFramePr>
        <p:xfrm>
          <a:off x="7646326" y="4737334"/>
          <a:ext cx="1080000" cy="1112520"/>
        </p:xfrm>
        <a:graphic>
          <a:graphicData uri="http://schemas.openxmlformats.org/drawingml/2006/table">
            <a:tbl>
              <a:tblPr firstRow="1" bandRow="1">
                <a:tableStyleId>{5940675A-B579-460E-94D1-54222C63F5DA}</a:tableStyleId>
              </a:tblPr>
              <a:tblGrid>
                <a:gridCol w="1080000">
                  <a:extLst>
                    <a:ext uri="{9D8B030D-6E8A-4147-A177-3AD203B41FA5}">
                      <a16:colId xmlns="" xmlns:a16="http://schemas.microsoft.com/office/drawing/2014/main" val="20000"/>
                    </a:ext>
                  </a:extLst>
                </a:gridCol>
              </a:tblGrid>
              <a:tr h="370840">
                <a:tc>
                  <a:txBody>
                    <a:bodyPr/>
                    <a:lstStyle/>
                    <a:p>
                      <a:pPr marL="0" marR="0" indent="0" algn="ctr" defTabSz="914400" rtl="0" eaLnBrk="1" fontAlgn="auto" latinLnBrk="0" hangingPunct="1">
                        <a:lnSpc>
                          <a:spcPct val="100000"/>
                        </a:lnSpc>
                        <a:spcBef>
                          <a:spcPct val="0"/>
                        </a:spcBef>
                        <a:spcAft>
                          <a:spcPct val="0"/>
                        </a:spcAft>
                        <a:buClrTx/>
                        <a:buSzTx/>
                        <a:buFontTx/>
                        <a:buNone/>
                        <a:defRPr/>
                      </a:pPr>
                      <a:r>
                        <a:rPr lang="en-US"/>
                        <a:t>Page 3</a:t>
                      </a:r>
                    </a:p>
                  </a:txBody>
                  <a:tcPr/>
                </a:tc>
                <a:extLst>
                  <a:ext uri="{0D108BD9-81ED-4DB2-BD59-A6C34878D82A}">
                    <a16:rowId xmlns="" xmlns:a16="http://schemas.microsoft.com/office/drawing/2014/main" val="10000"/>
                  </a:ext>
                </a:extLst>
              </a:tr>
              <a:tr h="370840">
                <a:tc>
                  <a:txBody>
                    <a:bodyPr/>
                    <a:lstStyle/>
                    <a:p>
                      <a:pPr marL="0" marR="0" indent="0" algn="ctr" defTabSz="914400" rtl="0" eaLnBrk="1" fontAlgn="auto" latinLnBrk="0" hangingPunct="1">
                        <a:lnSpc>
                          <a:spcPct val="100000"/>
                        </a:lnSpc>
                        <a:spcBef>
                          <a:spcPct val="0"/>
                        </a:spcBef>
                        <a:spcAft>
                          <a:spcPct val="0"/>
                        </a:spcAft>
                        <a:buClrTx/>
                        <a:buSzTx/>
                        <a:buFontTx/>
                        <a:buNone/>
                        <a:defRPr/>
                      </a:pPr>
                      <a:r>
                        <a:rPr lang="en-US"/>
                        <a:t>Page 2</a:t>
                      </a:r>
                    </a:p>
                  </a:txBody>
                  <a:tcPr/>
                </a:tc>
                <a:extLst>
                  <a:ext uri="{0D108BD9-81ED-4DB2-BD59-A6C34878D82A}">
                    <a16:rowId xmlns="" xmlns:a16="http://schemas.microsoft.com/office/drawing/2014/main" val="10001"/>
                  </a:ext>
                </a:extLst>
              </a:tr>
              <a:tr h="370840">
                <a:tc>
                  <a:txBody>
                    <a:bodyPr/>
                    <a:lstStyle/>
                    <a:p>
                      <a:pPr algn="ctr"/>
                      <a:r>
                        <a:rPr lang="en-US"/>
                        <a:t>Page 1</a:t>
                      </a:r>
                    </a:p>
                  </a:txBody>
                  <a:tcPr/>
                </a:tc>
                <a:extLst>
                  <a:ext uri="{0D108BD9-81ED-4DB2-BD59-A6C34878D82A}">
                    <a16:rowId xmlns="" xmlns:a16="http://schemas.microsoft.com/office/drawing/2014/main" val="10002"/>
                  </a:ext>
                </a:extLst>
              </a:tr>
            </a:tbl>
          </a:graphicData>
        </a:graphic>
      </p:graphicFrame>
      <p:sp>
        <p:nvSpPr>
          <p:cNvPr id="8" name="TextBox 7"/>
          <p:cNvSpPr txBox="1"/>
          <p:nvPr/>
        </p:nvSpPr>
        <p:spPr>
          <a:xfrm>
            <a:off x="7637686" y="4363293"/>
            <a:ext cx="1097280" cy="369332"/>
          </a:xfrm>
          <a:prstGeom prst="rect">
            <a:avLst/>
          </a:prstGeom>
          <a:solidFill>
            <a:schemeClr val="bg1">
              <a:lumMod val="65000"/>
            </a:schemeClr>
          </a:solidFill>
          <a:ln w="28575">
            <a:noFill/>
          </a:ln>
        </p:spPr>
        <p:txBody>
          <a:bodyPr wrap="square" rtlCol="0">
            <a:spAutoFit/>
          </a:bodyPr>
          <a:lstStyle/>
          <a:p>
            <a:pPr algn="ctr"/>
            <a:r>
              <a:rPr lang="en-US"/>
              <a:t>Process 2</a:t>
            </a:r>
          </a:p>
        </p:txBody>
      </p:sp>
      <p:graphicFrame>
        <p:nvGraphicFramePr>
          <p:cNvPr id="9" name="Table 8"/>
          <p:cNvGraphicFramePr>
            <a:graphicFrameLocks noGrp="1"/>
          </p:cNvGraphicFramePr>
          <p:nvPr>
            <p:extLst/>
          </p:nvPr>
        </p:nvGraphicFramePr>
        <p:xfrm>
          <a:off x="2031418" y="1834717"/>
          <a:ext cx="1080000" cy="1112520"/>
        </p:xfrm>
        <a:graphic>
          <a:graphicData uri="http://schemas.openxmlformats.org/drawingml/2006/table">
            <a:tbl>
              <a:tblPr firstRow="1" bandRow="1">
                <a:tableStyleId>{5940675A-B579-460E-94D1-54222C63F5DA}</a:tableStyleId>
              </a:tblPr>
              <a:tblGrid>
                <a:gridCol w="1080000">
                  <a:extLst>
                    <a:ext uri="{9D8B030D-6E8A-4147-A177-3AD203B41FA5}">
                      <a16:colId xmlns="" xmlns:a16="http://schemas.microsoft.com/office/drawing/2014/main" val="20000"/>
                    </a:ext>
                  </a:extLst>
                </a:gridCol>
              </a:tblGrid>
              <a:tr h="370840">
                <a:tc>
                  <a:txBody>
                    <a:bodyPr/>
                    <a:lstStyle/>
                    <a:p>
                      <a:pPr marL="0" marR="0" indent="0" algn="ctr" defTabSz="914400" rtl="0" eaLnBrk="1" fontAlgn="auto" latinLnBrk="0" hangingPunct="1">
                        <a:lnSpc>
                          <a:spcPct val="100000"/>
                        </a:lnSpc>
                        <a:spcBef>
                          <a:spcPct val="0"/>
                        </a:spcBef>
                        <a:spcAft>
                          <a:spcPct val="0"/>
                        </a:spcAft>
                        <a:buClrTx/>
                        <a:buSzTx/>
                        <a:buFontTx/>
                        <a:buNone/>
                        <a:defRPr/>
                      </a:pPr>
                      <a:r>
                        <a:rPr lang="en-US"/>
                        <a:t>Page 3</a:t>
                      </a:r>
                    </a:p>
                  </a:txBody>
                  <a:tcPr/>
                </a:tc>
                <a:extLst>
                  <a:ext uri="{0D108BD9-81ED-4DB2-BD59-A6C34878D82A}">
                    <a16:rowId xmlns="" xmlns:a16="http://schemas.microsoft.com/office/drawing/2014/main" val="10000"/>
                  </a:ext>
                </a:extLst>
              </a:tr>
              <a:tr h="370840">
                <a:tc>
                  <a:txBody>
                    <a:bodyPr/>
                    <a:lstStyle/>
                    <a:p>
                      <a:pPr marL="0" marR="0" indent="0" algn="ctr" defTabSz="914400" rtl="0" eaLnBrk="1" fontAlgn="auto" latinLnBrk="0" hangingPunct="1">
                        <a:lnSpc>
                          <a:spcPct val="100000"/>
                        </a:lnSpc>
                        <a:spcBef>
                          <a:spcPct val="0"/>
                        </a:spcBef>
                        <a:spcAft>
                          <a:spcPct val="0"/>
                        </a:spcAft>
                        <a:buClrTx/>
                        <a:buSzTx/>
                        <a:buFontTx/>
                        <a:buNone/>
                        <a:defRPr/>
                      </a:pPr>
                      <a:r>
                        <a:rPr lang="en-US"/>
                        <a:t>Page 2</a:t>
                      </a:r>
                    </a:p>
                  </a:txBody>
                  <a:tcPr/>
                </a:tc>
                <a:extLst>
                  <a:ext uri="{0D108BD9-81ED-4DB2-BD59-A6C34878D82A}">
                    <a16:rowId xmlns="" xmlns:a16="http://schemas.microsoft.com/office/drawing/2014/main" val="10001"/>
                  </a:ext>
                </a:extLst>
              </a:tr>
              <a:tr h="370840">
                <a:tc>
                  <a:txBody>
                    <a:bodyPr/>
                    <a:lstStyle/>
                    <a:p>
                      <a:pPr algn="ctr"/>
                      <a:r>
                        <a:rPr lang="en-US"/>
                        <a:t>Page 1</a:t>
                      </a:r>
                    </a:p>
                  </a:txBody>
                  <a:tcPr/>
                </a:tc>
                <a:extLst>
                  <a:ext uri="{0D108BD9-81ED-4DB2-BD59-A6C34878D82A}">
                    <a16:rowId xmlns="" xmlns:a16="http://schemas.microsoft.com/office/drawing/2014/main" val="10002"/>
                  </a:ext>
                </a:extLst>
              </a:tr>
            </a:tbl>
          </a:graphicData>
        </a:graphic>
      </p:graphicFrame>
      <p:sp>
        <p:nvSpPr>
          <p:cNvPr id="10" name="TextBox 9"/>
          <p:cNvSpPr txBox="1"/>
          <p:nvPr/>
        </p:nvSpPr>
        <p:spPr>
          <a:xfrm>
            <a:off x="2022778" y="1458862"/>
            <a:ext cx="1097280" cy="369332"/>
          </a:xfrm>
          <a:prstGeom prst="rect">
            <a:avLst/>
          </a:prstGeom>
          <a:solidFill>
            <a:schemeClr val="bg1">
              <a:lumMod val="65000"/>
            </a:schemeClr>
          </a:solidFill>
        </p:spPr>
        <p:txBody>
          <a:bodyPr wrap="square" rtlCol="0">
            <a:spAutoFit/>
          </a:bodyPr>
          <a:lstStyle/>
          <a:p>
            <a:pPr algn="ctr"/>
            <a:r>
              <a:rPr lang="en-US"/>
              <a:t>Process 4</a:t>
            </a:r>
          </a:p>
        </p:txBody>
      </p:sp>
      <p:graphicFrame>
        <p:nvGraphicFramePr>
          <p:cNvPr id="11" name="Table 10"/>
          <p:cNvGraphicFramePr>
            <a:graphicFrameLocks noGrp="1"/>
          </p:cNvGraphicFramePr>
          <p:nvPr>
            <p:extLst/>
          </p:nvPr>
        </p:nvGraphicFramePr>
        <p:xfrm>
          <a:off x="2031418" y="4737334"/>
          <a:ext cx="1080000" cy="1112520"/>
        </p:xfrm>
        <a:graphic>
          <a:graphicData uri="http://schemas.openxmlformats.org/drawingml/2006/table">
            <a:tbl>
              <a:tblPr firstRow="1" bandRow="1">
                <a:tableStyleId>{5940675A-B579-460E-94D1-54222C63F5DA}</a:tableStyleId>
              </a:tblPr>
              <a:tblGrid>
                <a:gridCol w="1080000">
                  <a:extLst>
                    <a:ext uri="{9D8B030D-6E8A-4147-A177-3AD203B41FA5}">
                      <a16:colId xmlns="" xmlns:a16="http://schemas.microsoft.com/office/drawing/2014/main" val="20000"/>
                    </a:ext>
                  </a:extLst>
                </a:gridCol>
              </a:tblGrid>
              <a:tr h="370840">
                <a:tc>
                  <a:txBody>
                    <a:bodyPr/>
                    <a:lstStyle/>
                    <a:p>
                      <a:pPr marL="0" marR="0" indent="0" algn="ctr" defTabSz="914400" rtl="0" eaLnBrk="1" fontAlgn="auto" latinLnBrk="0" hangingPunct="1">
                        <a:lnSpc>
                          <a:spcPct val="100000"/>
                        </a:lnSpc>
                        <a:spcBef>
                          <a:spcPct val="0"/>
                        </a:spcBef>
                        <a:spcAft>
                          <a:spcPct val="0"/>
                        </a:spcAft>
                        <a:buClrTx/>
                        <a:buSzTx/>
                        <a:buFontTx/>
                        <a:buNone/>
                        <a:defRPr/>
                      </a:pPr>
                      <a:r>
                        <a:rPr lang="en-US"/>
                        <a:t>Page 3</a:t>
                      </a:r>
                    </a:p>
                  </a:txBody>
                  <a:tcPr/>
                </a:tc>
                <a:extLst>
                  <a:ext uri="{0D108BD9-81ED-4DB2-BD59-A6C34878D82A}">
                    <a16:rowId xmlns="" xmlns:a16="http://schemas.microsoft.com/office/drawing/2014/main" val="10000"/>
                  </a:ext>
                </a:extLst>
              </a:tr>
              <a:tr h="370840">
                <a:tc>
                  <a:txBody>
                    <a:bodyPr/>
                    <a:lstStyle/>
                    <a:p>
                      <a:pPr marL="0" marR="0" indent="0" algn="ctr" defTabSz="914400" rtl="0" eaLnBrk="1" fontAlgn="auto" latinLnBrk="0" hangingPunct="1">
                        <a:lnSpc>
                          <a:spcPct val="100000"/>
                        </a:lnSpc>
                        <a:spcBef>
                          <a:spcPct val="0"/>
                        </a:spcBef>
                        <a:spcAft>
                          <a:spcPct val="0"/>
                        </a:spcAft>
                        <a:buClrTx/>
                        <a:buSzTx/>
                        <a:buFontTx/>
                        <a:buNone/>
                        <a:defRPr/>
                      </a:pPr>
                      <a:r>
                        <a:rPr lang="en-US"/>
                        <a:t>Page 2</a:t>
                      </a:r>
                    </a:p>
                  </a:txBody>
                  <a:tcPr/>
                </a:tc>
                <a:extLst>
                  <a:ext uri="{0D108BD9-81ED-4DB2-BD59-A6C34878D82A}">
                    <a16:rowId xmlns="" xmlns:a16="http://schemas.microsoft.com/office/drawing/2014/main" val="10001"/>
                  </a:ext>
                </a:extLst>
              </a:tr>
              <a:tr h="370840">
                <a:tc>
                  <a:txBody>
                    <a:bodyPr/>
                    <a:lstStyle/>
                    <a:p>
                      <a:pPr algn="ctr"/>
                      <a:r>
                        <a:rPr lang="en-US"/>
                        <a:t>Page 1</a:t>
                      </a:r>
                    </a:p>
                  </a:txBody>
                  <a:tcPr/>
                </a:tc>
                <a:extLst>
                  <a:ext uri="{0D108BD9-81ED-4DB2-BD59-A6C34878D82A}">
                    <a16:rowId xmlns="" xmlns:a16="http://schemas.microsoft.com/office/drawing/2014/main" val="10002"/>
                  </a:ext>
                </a:extLst>
              </a:tr>
            </a:tbl>
          </a:graphicData>
        </a:graphic>
      </p:graphicFrame>
      <p:sp>
        <p:nvSpPr>
          <p:cNvPr id="12" name="TextBox 11"/>
          <p:cNvSpPr txBox="1"/>
          <p:nvPr/>
        </p:nvSpPr>
        <p:spPr>
          <a:xfrm>
            <a:off x="2022778" y="4363293"/>
            <a:ext cx="1097280" cy="369332"/>
          </a:xfrm>
          <a:prstGeom prst="rect">
            <a:avLst/>
          </a:prstGeom>
          <a:solidFill>
            <a:schemeClr val="bg1">
              <a:lumMod val="65000"/>
            </a:schemeClr>
          </a:solidFill>
        </p:spPr>
        <p:txBody>
          <a:bodyPr wrap="square" rtlCol="0">
            <a:spAutoFit/>
          </a:bodyPr>
          <a:lstStyle/>
          <a:p>
            <a:pPr algn="ctr"/>
            <a:r>
              <a:rPr lang="en-US"/>
              <a:t>Process 1</a:t>
            </a:r>
          </a:p>
        </p:txBody>
      </p:sp>
      <p:cxnSp>
        <p:nvCxnSpPr>
          <p:cNvPr id="13" name="Straight Arrow Connector 12"/>
          <p:cNvCxnSpPr/>
          <p:nvPr/>
        </p:nvCxnSpPr>
        <p:spPr>
          <a:xfrm flipV="1">
            <a:off x="3102778" y="1600200"/>
            <a:ext cx="1583522" cy="38100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3102778" y="1981200"/>
            <a:ext cx="1583522" cy="38100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3102778" y="2362200"/>
            <a:ext cx="1583522" cy="38100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3111418" y="4932894"/>
            <a:ext cx="1574882" cy="83"/>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1" idx="3"/>
          </p:cNvCxnSpPr>
          <p:nvPr/>
        </p:nvCxnSpPr>
        <p:spPr>
          <a:xfrm>
            <a:off x="3111418" y="5293594"/>
            <a:ext cx="1574882" cy="20383"/>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3111418" y="5645947"/>
            <a:ext cx="1574882" cy="18552"/>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flipV="1">
            <a:off x="6126300" y="4572000"/>
            <a:ext cx="1511386" cy="109249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flipV="1">
            <a:off x="6126300" y="4221478"/>
            <a:ext cx="1511386" cy="109249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flipV="1">
            <a:off x="6126300" y="3840395"/>
            <a:ext cx="1511386" cy="109249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6126300" y="2755601"/>
            <a:ext cx="1511386" cy="712833"/>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a:off x="6126300" y="2399184"/>
            <a:ext cx="1511386" cy="712833"/>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6126300" y="2042767"/>
            <a:ext cx="1511386" cy="712833"/>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1076878" y="3124200"/>
            <a:ext cx="3162108" cy="1078183"/>
          </a:xfrm>
          <a:prstGeom prst="rect">
            <a:avLst/>
          </a:prstGeom>
          <a:solidFill>
            <a:schemeClr val="accent6">
              <a:lumMod val="40000"/>
              <a:lumOff val="60000"/>
            </a:schemeClr>
          </a:solidFill>
          <a:ln w="1905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solidFill>
                  <a:schemeClr val="tx1"/>
                </a:solidFill>
              </a:rPr>
              <a:t>Process 1 and process 4 are moved out from memory and process 5 enters into memory. </a:t>
            </a:r>
          </a:p>
        </p:txBody>
      </p:sp>
    </p:spTree>
    <p:extLst>
      <p:ext uri="{BB962C8B-B14F-4D97-AF65-F5344CB8AC3E}">
        <p14:creationId xmlns:p14="http://schemas.microsoft.com/office/powerpoint/2010/main" val="367214032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2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Paging</a:t>
            </a:r>
            <a:endParaRPr lang="en-US"/>
          </a:p>
        </p:txBody>
      </p:sp>
      <p:graphicFrame>
        <p:nvGraphicFramePr>
          <p:cNvPr id="4" name="Table 3"/>
          <p:cNvGraphicFramePr>
            <a:graphicFrameLocks noGrp="1"/>
          </p:cNvGraphicFramePr>
          <p:nvPr>
            <p:extLst/>
          </p:nvPr>
        </p:nvGraphicFramePr>
        <p:xfrm>
          <a:off x="4686300" y="1432560"/>
          <a:ext cx="1440000" cy="4450080"/>
        </p:xfrm>
        <a:graphic>
          <a:graphicData uri="http://schemas.openxmlformats.org/drawingml/2006/table">
            <a:tbl>
              <a:tblPr firstRow="1" bandRow="1">
                <a:tableStyleId>{5940675A-B579-460E-94D1-54222C63F5DA}</a:tableStyleId>
              </a:tblPr>
              <a:tblGrid>
                <a:gridCol w="1440000">
                  <a:extLst>
                    <a:ext uri="{9D8B030D-6E8A-4147-A177-3AD203B41FA5}">
                      <a16:colId xmlns="" xmlns:a16="http://schemas.microsoft.com/office/drawing/2014/main" val="20000"/>
                    </a:ext>
                  </a:extLst>
                </a:gridCol>
              </a:tblGrid>
              <a:tr h="370840">
                <a:tc>
                  <a:txBody>
                    <a:bodyPr/>
                    <a:lstStyle/>
                    <a:p>
                      <a:pPr algn="ctr"/>
                      <a:r>
                        <a:rPr lang="en-US"/>
                        <a:t>Frame 12</a:t>
                      </a:r>
                    </a:p>
                  </a:txBody>
                  <a:tcPr/>
                </a:tc>
                <a:extLst>
                  <a:ext uri="{0D108BD9-81ED-4DB2-BD59-A6C34878D82A}">
                    <a16:rowId xmlns="" xmlns:a16="http://schemas.microsoft.com/office/drawing/2014/main" val="10000"/>
                  </a:ext>
                </a:extLst>
              </a:tr>
              <a:tr h="370840">
                <a:tc>
                  <a:txBody>
                    <a:bodyPr/>
                    <a:lstStyle/>
                    <a:p>
                      <a:pPr algn="ctr"/>
                      <a:r>
                        <a:rPr lang="en-US"/>
                        <a:t>Frame 11</a:t>
                      </a:r>
                    </a:p>
                  </a:txBody>
                  <a:tcPr/>
                </a:tc>
                <a:extLst>
                  <a:ext uri="{0D108BD9-81ED-4DB2-BD59-A6C34878D82A}">
                    <a16:rowId xmlns="" xmlns:a16="http://schemas.microsoft.com/office/drawing/2014/main" val="10001"/>
                  </a:ext>
                </a:extLst>
              </a:tr>
              <a:tr h="370840">
                <a:tc>
                  <a:txBody>
                    <a:bodyPr/>
                    <a:lstStyle/>
                    <a:p>
                      <a:pPr algn="ctr"/>
                      <a:r>
                        <a:rPr lang="en-US"/>
                        <a:t>Frame 10</a:t>
                      </a:r>
                    </a:p>
                  </a:txBody>
                  <a:tcPr/>
                </a:tc>
                <a:extLst>
                  <a:ext uri="{0D108BD9-81ED-4DB2-BD59-A6C34878D82A}">
                    <a16:rowId xmlns="" xmlns:a16="http://schemas.microsoft.com/office/drawing/2014/main" val="10002"/>
                  </a:ext>
                </a:extLst>
              </a:tr>
              <a:tr h="370840">
                <a:tc>
                  <a:txBody>
                    <a:bodyPr/>
                    <a:lstStyle/>
                    <a:p>
                      <a:pPr algn="ctr"/>
                      <a:r>
                        <a:rPr lang="en-US"/>
                        <a:t>Frame 9</a:t>
                      </a:r>
                    </a:p>
                  </a:txBody>
                  <a:tcPr/>
                </a:tc>
                <a:extLst>
                  <a:ext uri="{0D108BD9-81ED-4DB2-BD59-A6C34878D82A}">
                    <a16:rowId xmlns="" xmlns:a16="http://schemas.microsoft.com/office/drawing/2014/main" val="10003"/>
                  </a:ext>
                </a:extLst>
              </a:tr>
              <a:tr h="370840">
                <a:tc>
                  <a:txBody>
                    <a:bodyPr/>
                    <a:lstStyle/>
                    <a:p>
                      <a:pPr algn="ctr"/>
                      <a:r>
                        <a:rPr lang="en-US"/>
                        <a:t>Frame 8</a:t>
                      </a:r>
                    </a:p>
                  </a:txBody>
                  <a:tcPr/>
                </a:tc>
                <a:extLst>
                  <a:ext uri="{0D108BD9-81ED-4DB2-BD59-A6C34878D82A}">
                    <a16:rowId xmlns="" xmlns:a16="http://schemas.microsoft.com/office/drawing/2014/main" val="10004"/>
                  </a:ext>
                </a:extLst>
              </a:tr>
              <a:tr h="370840">
                <a:tc>
                  <a:txBody>
                    <a:bodyPr/>
                    <a:lstStyle/>
                    <a:p>
                      <a:pPr algn="ctr"/>
                      <a:r>
                        <a:rPr lang="en-US"/>
                        <a:t>Frame 7</a:t>
                      </a:r>
                    </a:p>
                  </a:txBody>
                  <a:tcPr/>
                </a:tc>
                <a:extLst>
                  <a:ext uri="{0D108BD9-81ED-4DB2-BD59-A6C34878D82A}">
                    <a16:rowId xmlns="" xmlns:a16="http://schemas.microsoft.com/office/drawing/2014/main" val="10005"/>
                  </a:ext>
                </a:extLst>
              </a:tr>
              <a:tr h="370840">
                <a:tc>
                  <a:txBody>
                    <a:bodyPr/>
                    <a:lstStyle/>
                    <a:p>
                      <a:pPr algn="ctr"/>
                      <a:r>
                        <a:rPr lang="en-US"/>
                        <a:t>Frame 6</a:t>
                      </a:r>
                    </a:p>
                  </a:txBody>
                  <a:tcPr/>
                </a:tc>
                <a:extLst>
                  <a:ext uri="{0D108BD9-81ED-4DB2-BD59-A6C34878D82A}">
                    <a16:rowId xmlns="" xmlns:a16="http://schemas.microsoft.com/office/drawing/2014/main" val="10006"/>
                  </a:ext>
                </a:extLst>
              </a:tr>
              <a:tr h="370840">
                <a:tc>
                  <a:txBody>
                    <a:bodyPr/>
                    <a:lstStyle/>
                    <a:p>
                      <a:pPr algn="ctr"/>
                      <a:r>
                        <a:rPr lang="en-US"/>
                        <a:t>Frame 5</a:t>
                      </a:r>
                    </a:p>
                  </a:txBody>
                  <a:tcPr/>
                </a:tc>
                <a:extLst>
                  <a:ext uri="{0D108BD9-81ED-4DB2-BD59-A6C34878D82A}">
                    <a16:rowId xmlns="" xmlns:a16="http://schemas.microsoft.com/office/drawing/2014/main" val="10007"/>
                  </a:ext>
                </a:extLst>
              </a:tr>
              <a:tr h="370840">
                <a:tc>
                  <a:txBody>
                    <a:bodyPr/>
                    <a:lstStyle/>
                    <a:p>
                      <a:pPr algn="ctr"/>
                      <a:r>
                        <a:rPr lang="en-US"/>
                        <a:t>Frame 4</a:t>
                      </a:r>
                    </a:p>
                  </a:txBody>
                  <a:tcPr/>
                </a:tc>
                <a:extLst>
                  <a:ext uri="{0D108BD9-81ED-4DB2-BD59-A6C34878D82A}">
                    <a16:rowId xmlns="" xmlns:a16="http://schemas.microsoft.com/office/drawing/2014/main" val="10008"/>
                  </a:ext>
                </a:extLst>
              </a:tr>
              <a:tr h="370840">
                <a:tc>
                  <a:txBody>
                    <a:bodyPr/>
                    <a:lstStyle/>
                    <a:p>
                      <a:pPr algn="ctr"/>
                      <a:r>
                        <a:rPr lang="en-US"/>
                        <a:t>Frame 3</a:t>
                      </a:r>
                    </a:p>
                  </a:txBody>
                  <a:tcPr/>
                </a:tc>
                <a:extLst>
                  <a:ext uri="{0D108BD9-81ED-4DB2-BD59-A6C34878D82A}">
                    <a16:rowId xmlns="" xmlns:a16="http://schemas.microsoft.com/office/drawing/2014/main" val="10009"/>
                  </a:ext>
                </a:extLst>
              </a:tr>
              <a:tr h="370840">
                <a:tc>
                  <a:txBody>
                    <a:bodyPr/>
                    <a:lstStyle/>
                    <a:p>
                      <a:pPr algn="ctr"/>
                      <a:r>
                        <a:rPr lang="en-US"/>
                        <a:t>Frame 2</a:t>
                      </a:r>
                    </a:p>
                  </a:txBody>
                  <a:tcPr/>
                </a:tc>
                <a:extLst>
                  <a:ext uri="{0D108BD9-81ED-4DB2-BD59-A6C34878D82A}">
                    <a16:rowId xmlns="" xmlns:a16="http://schemas.microsoft.com/office/drawing/2014/main" val="10010"/>
                  </a:ext>
                </a:extLst>
              </a:tr>
              <a:tr h="370840">
                <a:tc>
                  <a:txBody>
                    <a:bodyPr/>
                    <a:lstStyle/>
                    <a:p>
                      <a:pPr algn="ctr"/>
                      <a:r>
                        <a:rPr lang="en-US"/>
                        <a:t>Frame 1</a:t>
                      </a:r>
                    </a:p>
                  </a:txBody>
                  <a:tcPr/>
                </a:tc>
                <a:extLst>
                  <a:ext uri="{0D108BD9-81ED-4DB2-BD59-A6C34878D82A}">
                    <a16:rowId xmlns="" xmlns:a16="http://schemas.microsoft.com/office/drawing/2014/main" val="10011"/>
                  </a:ext>
                </a:extLst>
              </a:tr>
            </a:tbl>
          </a:graphicData>
        </a:graphic>
      </p:graphicFrame>
      <p:graphicFrame>
        <p:nvGraphicFramePr>
          <p:cNvPr id="5" name="Table 4"/>
          <p:cNvGraphicFramePr>
            <a:graphicFrameLocks noGrp="1"/>
          </p:cNvGraphicFramePr>
          <p:nvPr>
            <p:extLst/>
          </p:nvPr>
        </p:nvGraphicFramePr>
        <p:xfrm>
          <a:off x="7646326" y="1834717"/>
          <a:ext cx="1080000" cy="1112520"/>
        </p:xfrm>
        <a:graphic>
          <a:graphicData uri="http://schemas.openxmlformats.org/drawingml/2006/table">
            <a:tbl>
              <a:tblPr firstRow="1" bandRow="1">
                <a:tableStyleId>{5940675A-B579-460E-94D1-54222C63F5DA}</a:tableStyleId>
              </a:tblPr>
              <a:tblGrid>
                <a:gridCol w="1080000">
                  <a:extLst>
                    <a:ext uri="{9D8B030D-6E8A-4147-A177-3AD203B41FA5}">
                      <a16:colId xmlns="" xmlns:a16="http://schemas.microsoft.com/office/drawing/2014/main" val="20000"/>
                    </a:ext>
                  </a:extLst>
                </a:gridCol>
              </a:tblGrid>
              <a:tr h="370840">
                <a:tc>
                  <a:txBody>
                    <a:bodyPr/>
                    <a:lstStyle/>
                    <a:p>
                      <a:pPr marL="0" marR="0" indent="0" algn="ctr" defTabSz="914400" rtl="0" eaLnBrk="1" fontAlgn="auto" latinLnBrk="0" hangingPunct="1">
                        <a:lnSpc>
                          <a:spcPct val="100000"/>
                        </a:lnSpc>
                        <a:spcBef>
                          <a:spcPct val="0"/>
                        </a:spcBef>
                        <a:spcAft>
                          <a:spcPct val="0"/>
                        </a:spcAft>
                        <a:buClrTx/>
                        <a:buSzTx/>
                        <a:buFontTx/>
                        <a:buNone/>
                        <a:defRPr/>
                      </a:pPr>
                      <a:r>
                        <a:rPr lang="en-US"/>
                        <a:t>Page 3</a:t>
                      </a:r>
                    </a:p>
                  </a:txBody>
                  <a:tcPr/>
                </a:tc>
                <a:extLst>
                  <a:ext uri="{0D108BD9-81ED-4DB2-BD59-A6C34878D82A}">
                    <a16:rowId xmlns="" xmlns:a16="http://schemas.microsoft.com/office/drawing/2014/main" val="10000"/>
                  </a:ext>
                </a:extLst>
              </a:tr>
              <a:tr h="370840">
                <a:tc>
                  <a:txBody>
                    <a:bodyPr/>
                    <a:lstStyle/>
                    <a:p>
                      <a:pPr marL="0" marR="0" indent="0" algn="ctr" defTabSz="914400" rtl="0" eaLnBrk="1" fontAlgn="auto" latinLnBrk="0" hangingPunct="1">
                        <a:lnSpc>
                          <a:spcPct val="100000"/>
                        </a:lnSpc>
                        <a:spcBef>
                          <a:spcPct val="0"/>
                        </a:spcBef>
                        <a:spcAft>
                          <a:spcPct val="0"/>
                        </a:spcAft>
                        <a:buClrTx/>
                        <a:buSzTx/>
                        <a:buFontTx/>
                        <a:buNone/>
                        <a:defRPr/>
                      </a:pPr>
                      <a:r>
                        <a:rPr lang="en-US"/>
                        <a:t>Page 2</a:t>
                      </a:r>
                    </a:p>
                  </a:txBody>
                  <a:tcPr/>
                </a:tc>
                <a:extLst>
                  <a:ext uri="{0D108BD9-81ED-4DB2-BD59-A6C34878D82A}">
                    <a16:rowId xmlns="" xmlns:a16="http://schemas.microsoft.com/office/drawing/2014/main" val="10001"/>
                  </a:ext>
                </a:extLst>
              </a:tr>
              <a:tr h="370840">
                <a:tc>
                  <a:txBody>
                    <a:bodyPr/>
                    <a:lstStyle/>
                    <a:p>
                      <a:pPr algn="ctr"/>
                      <a:r>
                        <a:rPr lang="en-US"/>
                        <a:t>Page 1</a:t>
                      </a:r>
                    </a:p>
                  </a:txBody>
                  <a:tcPr/>
                </a:tc>
                <a:extLst>
                  <a:ext uri="{0D108BD9-81ED-4DB2-BD59-A6C34878D82A}">
                    <a16:rowId xmlns="" xmlns:a16="http://schemas.microsoft.com/office/drawing/2014/main" val="10002"/>
                  </a:ext>
                </a:extLst>
              </a:tr>
            </a:tbl>
          </a:graphicData>
        </a:graphic>
      </p:graphicFrame>
      <p:sp>
        <p:nvSpPr>
          <p:cNvPr id="6" name="TextBox 5"/>
          <p:cNvSpPr txBox="1"/>
          <p:nvPr/>
        </p:nvSpPr>
        <p:spPr>
          <a:xfrm>
            <a:off x="7637686" y="1458862"/>
            <a:ext cx="1097280" cy="369332"/>
          </a:xfrm>
          <a:prstGeom prst="rect">
            <a:avLst/>
          </a:prstGeom>
          <a:solidFill>
            <a:schemeClr val="bg1">
              <a:lumMod val="65000"/>
            </a:schemeClr>
          </a:solidFill>
        </p:spPr>
        <p:txBody>
          <a:bodyPr wrap="square" rtlCol="0">
            <a:spAutoFit/>
          </a:bodyPr>
          <a:lstStyle/>
          <a:p>
            <a:pPr algn="ctr"/>
            <a:r>
              <a:rPr lang="en-US"/>
              <a:t>Process 3</a:t>
            </a:r>
          </a:p>
        </p:txBody>
      </p:sp>
      <p:graphicFrame>
        <p:nvGraphicFramePr>
          <p:cNvPr id="7" name="Table 6"/>
          <p:cNvGraphicFramePr>
            <a:graphicFrameLocks noGrp="1"/>
          </p:cNvGraphicFramePr>
          <p:nvPr>
            <p:extLst/>
          </p:nvPr>
        </p:nvGraphicFramePr>
        <p:xfrm>
          <a:off x="7646326" y="4737334"/>
          <a:ext cx="1080000" cy="1112520"/>
        </p:xfrm>
        <a:graphic>
          <a:graphicData uri="http://schemas.openxmlformats.org/drawingml/2006/table">
            <a:tbl>
              <a:tblPr firstRow="1" bandRow="1">
                <a:tableStyleId>{5940675A-B579-460E-94D1-54222C63F5DA}</a:tableStyleId>
              </a:tblPr>
              <a:tblGrid>
                <a:gridCol w="1080000">
                  <a:extLst>
                    <a:ext uri="{9D8B030D-6E8A-4147-A177-3AD203B41FA5}">
                      <a16:colId xmlns="" xmlns:a16="http://schemas.microsoft.com/office/drawing/2014/main" val="20000"/>
                    </a:ext>
                  </a:extLst>
                </a:gridCol>
              </a:tblGrid>
              <a:tr h="370840">
                <a:tc>
                  <a:txBody>
                    <a:bodyPr/>
                    <a:lstStyle/>
                    <a:p>
                      <a:pPr marL="0" marR="0" indent="0" algn="ctr" defTabSz="914400" rtl="0" eaLnBrk="1" fontAlgn="auto" latinLnBrk="0" hangingPunct="1">
                        <a:lnSpc>
                          <a:spcPct val="100000"/>
                        </a:lnSpc>
                        <a:spcBef>
                          <a:spcPct val="0"/>
                        </a:spcBef>
                        <a:spcAft>
                          <a:spcPct val="0"/>
                        </a:spcAft>
                        <a:buClrTx/>
                        <a:buSzTx/>
                        <a:buFontTx/>
                        <a:buNone/>
                        <a:defRPr/>
                      </a:pPr>
                      <a:r>
                        <a:rPr lang="en-US"/>
                        <a:t>Page 3</a:t>
                      </a:r>
                    </a:p>
                  </a:txBody>
                  <a:tcPr/>
                </a:tc>
                <a:extLst>
                  <a:ext uri="{0D108BD9-81ED-4DB2-BD59-A6C34878D82A}">
                    <a16:rowId xmlns="" xmlns:a16="http://schemas.microsoft.com/office/drawing/2014/main" val="10000"/>
                  </a:ext>
                </a:extLst>
              </a:tr>
              <a:tr h="370840">
                <a:tc>
                  <a:txBody>
                    <a:bodyPr/>
                    <a:lstStyle/>
                    <a:p>
                      <a:pPr marL="0" marR="0" indent="0" algn="ctr" defTabSz="914400" rtl="0" eaLnBrk="1" fontAlgn="auto" latinLnBrk="0" hangingPunct="1">
                        <a:lnSpc>
                          <a:spcPct val="100000"/>
                        </a:lnSpc>
                        <a:spcBef>
                          <a:spcPct val="0"/>
                        </a:spcBef>
                        <a:spcAft>
                          <a:spcPct val="0"/>
                        </a:spcAft>
                        <a:buClrTx/>
                        <a:buSzTx/>
                        <a:buFontTx/>
                        <a:buNone/>
                        <a:defRPr/>
                      </a:pPr>
                      <a:r>
                        <a:rPr lang="en-US"/>
                        <a:t>Page 2</a:t>
                      </a:r>
                    </a:p>
                  </a:txBody>
                  <a:tcPr/>
                </a:tc>
                <a:extLst>
                  <a:ext uri="{0D108BD9-81ED-4DB2-BD59-A6C34878D82A}">
                    <a16:rowId xmlns="" xmlns:a16="http://schemas.microsoft.com/office/drawing/2014/main" val="10001"/>
                  </a:ext>
                </a:extLst>
              </a:tr>
              <a:tr h="370840">
                <a:tc>
                  <a:txBody>
                    <a:bodyPr/>
                    <a:lstStyle/>
                    <a:p>
                      <a:pPr algn="ctr"/>
                      <a:r>
                        <a:rPr lang="en-US"/>
                        <a:t>Page 1</a:t>
                      </a:r>
                    </a:p>
                  </a:txBody>
                  <a:tcPr/>
                </a:tc>
                <a:extLst>
                  <a:ext uri="{0D108BD9-81ED-4DB2-BD59-A6C34878D82A}">
                    <a16:rowId xmlns="" xmlns:a16="http://schemas.microsoft.com/office/drawing/2014/main" val="10002"/>
                  </a:ext>
                </a:extLst>
              </a:tr>
            </a:tbl>
          </a:graphicData>
        </a:graphic>
      </p:graphicFrame>
      <p:sp>
        <p:nvSpPr>
          <p:cNvPr id="8" name="TextBox 7"/>
          <p:cNvSpPr txBox="1"/>
          <p:nvPr/>
        </p:nvSpPr>
        <p:spPr>
          <a:xfrm>
            <a:off x="7637686" y="4363293"/>
            <a:ext cx="1097280" cy="369332"/>
          </a:xfrm>
          <a:prstGeom prst="rect">
            <a:avLst/>
          </a:prstGeom>
          <a:solidFill>
            <a:schemeClr val="bg1">
              <a:lumMod val="65000"/>
            </a:schemeClr>
          </a:solidFill>
          <a:ln w="28575">
            <a:noFill/>
          </a:ln>
        </p:spPr>
        <p:txBody>
          <a:bodyPr wrap="square" rtlCol="0">
            <a:spAutoFit/>
          </a:bodyPr>
          <a:lstStyle/>
          <a:p>
            <a:pPr algn="ctr"/>
            <a:r>
              <a:rPr lang="en-US"/>
              <a:t>Process 2</a:t>
            </a:r>
          </a:p>
        </p:txBody>
      </p:sp>
      <p:graphicFrame>
        <p:nvGraphicFramePr>
          <p:cNvPr id="9" name="Table 8"/>
          <p:cNvGraphicFramePr>
            <a:graphicFrameLocks noGrp="1"/>
          </p:cNvGraphicFramePr>
          <p:nvPr>
            <p:extLst/>
          </p:nvPr>
        </p:nvGraphicFramePr>
        <p:xfrm>
          <a:off x="2031418" y="1834717"/>
          <a:ext cx="1080000" cy="2225040"/>
        </p:xfrm>
        <a:graphic>
          <a:graphicData uri="http://schemas.openxmlformats.org/drawingml/2006/table">
            <a:tbl>
              <a:tblPr firstRow="1" bandRow="1">
                <a:tableStyleId>{5940675A-B579-460E-94D1-54222C63F5DA}</a:tableStyleId>
              </a:tblPr>
              <a:tblGrid>
                <a:gridCol w="1080000">
                  <a:extLst>
                    <a:ext uri="{9D8B030D-6E8A-4147-A177-3AD203B41FA5}">
                      <a16:colId xmlns="" xmlns:a16="http://schemas.microsoft.com/office/drawing/2014/main" val="20000"/>
                    </a:ext>
                  </a:extLst>
                </a:gridCol>
              </a:tblGrid>
              <a:tr h="370840">
                <a:tc>
                  <a:txBody>
                    <a:bodyPr/>
                    <a:lstStyle/>
                    <a:p>
                      <a:pPr marL="0" marR="0" indent="0" algn="ctr" defTabSz="914400" rtl="0" eaLnBrk="1" fontAlgn="auto" latinLnBrk="0" hangingPunct="1">
                        <a:lnSpc>
                          <a:spcPct val="100000"/>
                        </a:lnSpc>
                        <a:spcBef>
                          <a:spcPct val="0"/>
                        </a:spcBef>
                        <a:spcAft>
                          <a:spcPct val="0"/>
                        </a:spcAft>
                        <a:buClrTx/>
                        <a:buSzTx/>
                        <a:buFontTx/>
                        <a:buNone/>
                        <a:defRPr/>
                      </a:pPr>
                      <a:r>
                        <a:rPr lang="en-US"/>
                        <a:t>Page 6</a:t>
                      </a:r>
                    </a:p>
                  </a:txBody>
                  <a:tcPr/>
                </a:tc>
                <a:extLst>
                  <a:ext uri="{0D108BD9-81ED-4DB2-BD59-A6C34878D82A}">
                    <a16:rowId xmlns="" xmlns:a16="http://schemas.microsoft.com/office/drawing/2014/main" val="10000"/>
                  </a:ext>
                </a:extLst>
              </a:tr>
              <a:tr h="370840">
                <a:tc>
                  <a:txBody>
                    <a:bodyPr/>
                    <a:lstStyle/>
                    <a:p>
                      <a:pPr marL="0" marR="0" indent="0" algn="ctr" defTabSz="914400" rtl="0" eaLnBrk="1" fontAlgn="auto" latinLnBrk="0" hangingPunct="1">
                        <a:lnSpc>
                          <a:spcPct val="100000"/>
                        </a:lnSpc>
                        <a:spcBef>
                          <a:spcPct val="0"/>
                        </a:spcBef>
                        <a:spcAft>
                          <a:spcPct val="0"/>
                        </a:spcAft>
                        <a:buClrTx/>
                        <a:buSzTx/>
                        <a:buFontTx/>
                        <a:buNone/>
                        <a:defRPr/>
                      </a:pPr>
                      <a:r>
                        <a:rPr lang="en-US"/>
                        <a:t>Page 5</a:t>
                      </a:r>
                    </a:p>
                  </a:txBody>
                  <a:tcPr/>
                </a:tc>
                <a:extLst>
                  <a:ext uri="{0D108BD9-81ED-4DB2-BD59-A6C34878D82A}">
                    <a16:rowId xmlns="" xmlns:a16="http://schemas.microsoft.com/office/drawing/2014/main" val="10001"/>
                  </a:ext>
                </a:extLst>
              </a:tr>
              <a:tr h="370840">
                <a:tc>
                  <a:txBody>
                    <a:bodyPr/>
                    <a:lstStyle/>
                    <a:p>
                      <a:pPr algn="ctr"/>
                      <a:r>
                        <a:rPr lang="en-US"/>
                        <a:t>Page 4</a:t>
                      </a:r>
                    </a:p>
                  </a:txBody>
                  <a:tcPr/>
                </a:tc>
                <a:extLst>
                  <a:ext uri="{0D108BD9-81ED-4DB2-BD59-A6C34878D82A}">
                    <a16:rowId xmlns="" xmlns:a16="http://schemas.microsoft.com/office/drawing/2014/main" val="10002"/>
                  </a:ext>
                </a:extLst>
              </a:tr>
              <a:tr h="370840">
                <a:tc>
                  <a:txBody>
                    <a:bodyPr/>
                    <a:lstStyle/>
                    <a:p>
                      <a:pPr algn="ctr"/>
                      <a:r>
                        <a:rPr lang="en-US"/>
                        <a:t>Page 3</a:t>
                      </a:r>
                    </a:p>
                  </a:txBody>
                  <a:tcPr/>
                </a:tc>
                <a:extLst>
                  <a:ext uri="{0D108BD9-81ED-4DB2-BD59-A6C34878D82A}">
                    <a16:rowId xmlns="" xmlns:a16="http://schemas.microsoft.com/office/drawing/2014/main" val="10003"/>
                  </a:ext>
                </a:extLst>
              </a:tr>
              <a:tr h="370840">
                <a:tc>
                  <a:txBody>
                    <a:bodyPr/>
                    <a:lstStyle/>
                    <a:p>
                      <a:pPr algn="ctr"/>
                      <a:r>
                        <a:rPr lang="en-US"/>
                        <a:t>Page 2</a:t>
                      </a:r>
                    </a:p>
                  </a:txBody>
                  <a:tcPr/>
                </a:tc>
                <a:extLst>
                  <a:ext uri="{0D108BD9-81ED-4DB2-BD59-A6C34878D82A}">
                    <a16:rowId xmlns="" xmlns:a16="http://schemas.microsoft.com/office/drawing/2014/main" val="10004"/>
                  </a:ext>
                </a:extLst>
              </a:tr>
              <a:tr h="370840">
                <a:tc>
                  <a:txBody>
                    <a:bodyPr/>
                    <a:lstStyle/>
                    <a:p>
                      <a:pPr algn="ctr"/>
                      <a:r>
                        <a:rPr lang="en-US"/>
                        <a:t>Page 1</a:t>
                      </a:r>
                    </a:p>
                  </a:txBody>
                  <a:tcPr/>
                </a:tc>
                <a:extLst>
                  <a:ext uri="{0D108BD9-81ED-4DB2-BD59-A6C34878D82A}">
                    <a16:rowId xmlns="" xmlns:a16="http://schemas.microsoft.com/office/drawing/2014/main" val="10005"/>
                  </a:ext>
                </a:extLst>
              </a:tr>
            </a:tbl>
          </a:graphicData>
        </a:graphic>
      </p:graphicFrame>
      <p:sp>
        <p:nvSpPr>
          <p:cNvPr id="10" name="TextBox 9"/>
          <p:cNvSpPr txBox="1"/>
          <p:nvPr/>
        </p:nvSpPr>
        <p:spPr>
          <a:xfrm>
            <a:off x="2022778" y="1458862"/>
            <a:ext cx="1097280" cy="369332"/>
          </a:xfrm>
          <a:prstGeom prst="rect">
            <a:avLst/>
          </a:prstGeom>
          <a:solidFill>
            <a:schemeClr val="bg1">
              <a:lumMod val="65000"/>
            </a:schemeClr>
          </a:solidFill>
        </p:spPr>
        <p:txBody>
          <a:bodyPr wrap="square" rtlCol="0">
            <a:spAutoFit/>
          </a:bodyPr>
          <a:lstStyle/>
          <a:p>
            <a:pPr algn="ctr"/>
            <a:r>
              <a:rPr lang="en-US"/>
              <a:t>Process 5</a:t>
            </a:r>
          </a:p>
        </p:txBody>
      </p:sp>
      <p:cxnSp>
        <p:nvCxnSpPr>
          <p:cNvPr id="13" name="Straight Arrow Connector 12"/>
          <p:cNvCxnSpPr/>
          <p:nvPr/>
        </p:nvCxnSpPr>
        <p:spPr>
          <a:xfrm flipV="1">
            <a:off x="3102778" y="1600200"/>
            <a:ext cx="1583522" cy="38100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3102778" y="1981200"/>
            <a:ext cx="1583522" cy="38100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3102778" y="2362200"/>
            <a:ext cx="1583522" cy="38100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flipV="1">
            <a:off x="6126300" y="4572000"/>
            <a:ext cx="1511386" cy="109249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flipV="1">
            <a:off x="6126300" y="4221478"/>
            <a:ext cx="1511386" cy="109249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flipV="1">
            <a:off x="6126300" y="3840395"/>
            <a:ext cx="1511386" cy="1092499"/>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6126300" y="2755601"/>
            <a:ext cx="1511386" cy="712833"/>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a:off x="6126300" y="2399184"/>
            <a:ext cx="1511386" cy="712833"/>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6126300" y="2042767"/>
            <a:ext cx="1511386" cy="712833"/>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3120058" y="3098193"/>
            <a:ext cx="1566242" cy="1883382"/>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3120058" y="3479193"/>
            <a:ext cx="1566242" cy="1892907"/>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3120058" y="3860193"/>
            <a:ext cx="1566242" cy="1869095"/>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294244" y="4749343"/>
            <a:ext cx="3388756" cy="1645920"/>
          </a:xfrm>
          <a:prstGeom prst="rect">
            <a:avLst/>
          </a:prstGeom>
          <a:solidFill>
            <a:schemeClr val="accent6">
              <a:lumMod val="40000"/>
              <a:lumOff val="60000"/>
            </a:schemeClr>
          </a:solidFill>
          <a:ln w="1905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solidFill>
                  <a:schemeClr val="tx1"/>
                </a:solidFill>
              </a:rPr>
              <a:t>We have 6 non contiguous frames available in the memory and paging provides the flexibility of storing the process at the different places.</a:t>
            </a:r>
            <a:endParaRPr lang="en-IN" sz="2000">
              <a:solidFill>
                <a:schemeClr val="tx1"/>
              </a:solidFill>
            </a:endParaRPr>
          </a:p>
        </p:txBody>
      </p:sp>
    </p:spTree>
    <p:extLst>
      <p:ext uri="{BB962C8B-B14F-4D97-AF65-F5344CB8AC3E}">
        <p14:creationId xmlns:p14="http://schemas.microsoft.com/office/powerpoint/2010/main" val="359429097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3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Logical Address and Physical Address</a:t>
            </a:r>
            <a:endParaRPr lang="en-US" dirty="0"/>
          </a:p>
        </p:txBody>
      </p:sp>
      <p:sp>
        <p:nvSpPr>
          <p:cNvPr id="3" name="Content Placeholder 2"/>
          <p:cNvSpPr>
            <a:spLocks noGrp="1"/>
          </p:cNvSpPr>
          <p:nvPr>
            <p:ph idx="1"/>
          </p:nvPr>
        </p:nvSpPr>
        <p:spPr>
          <a:xfrm>
            <a:off x="131180" y="863444"/>
            <a:ext cx="8854557" cy="5590565"/>
          </a:xfrm>
        </p:spPr>
        <p:txBody>
          <a:bodyPr/>
          <a:lstStyle/>
          <a:p>
            <a:pPr marL="0" indent="0">
              <a:buNone/>
            </a:pPr>
            <a:r>
              <a:rPr lang="en-US" b="1" dirty="0"/>
              <a:t>Logical address</a:t>
            </a:r>
          </a:p>
          <a:p>
            <a:r>
              <a:rPr lang="en-US" dirty="0">
                <a:solidFill>
                  <a:srgbClr val="C00000"/>
                </a:solidFill>
              </a:rPr>
              <a:t>An address generated by the CPU is commonly known as Logical address.</a:t>
            </a:r>
          </a:p>
          <a:p>
            <a:pPr lvl="1"/>
            <a:r>
              <a:rPr lang="en-US" dirty="0"/>
              <a:t> When we give the problem to the computer then our computer passes the problem to the processor through logical address, which we are not seen, this address called logical address. And the set of all logical addresses generated by a program is known as logical address Space.</a:t>
            </a:r>
          </a:p>
          <a:p>
            <a:pPr marL="0" indent="0">
              <a:buNone/>
            </a:pPr>
            <a:r>
              <a:rPr lang="en-US" b="1" dirty="0"/>
              <a:t>Physical address</a:t>
            </a:r>
          </a:p>
          <a:p>
            <a:r>
              <a:rPr lang="en-US" dirty="0">
                <a:solidFill>
                  <a:srgbClr val="C00000"/>
                </a:solidFill>
              </a:rPr>
              <a:t>An address actually available on memory is known as Physical address.</a:t>
            </a:r>
          </a:p>
          <a:p>
            <a:pPr lvl="1"/>
            <a:r>
              <a:rPr lang="en-US" dirty="0"/>
              <a:t>When our processor create process and solve our problem then we store data in secondary memory through address called physical address. In simple word the address seen by the memory unit that is one loaded into the memory address register of the memory is commonly refereed as the Physical Address. And the set of all physical addresses corresponding to these logical addresses is physical address space.</a:t>
            </a:r>
          </a:p>
          <a:p>
            <a:endParaRPr lang="en-US" dirty="0"/>
          </a:p>
        </p:txBody>
      </p:sp>
      <p:pic>
        <p:nvPicPr>
          <p:cNvPr id="5" name="Picture 4">
            <a:extLst>
              <a:ext uri="{FF2B5EF4-FFF2-40B4-BE49-F238E27FC236}">
                <a16:creationId xmlns:a16="http://schemas.microsoft.com/office/drawing/2014/main" xmlns="" id="{71F8765C-BE49-686F-115F-DE058C3A76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1951" y="1534895"/>
            <a:ext cx="2788868" cy="4247661"/>
          </a:xfrm>
          <a:prstGeom prst="rect">
            <a:avLst/>
          </a:prstGeom>
        </p:spPr>
      </p:pic>
    </p:spTree>
    <p:extLst>
      <p:ext uri="{BB962C8B-B14F-4D97-AF65-F5344CB8AC3E}">
        <p14:creationId xmlns:p14="http://schemas.microsoft.com/office/powerpoint/2010/main" val="2056973006"/>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9CF05E4-557F-AAA4-32EB-E8FAF7F55EFF}"/>
              </a:ext>
            </a:extLst>
          </p:cNvPr>
          <p:cNvSpPr>
            <a:spLocks noGrp="1"/>
          </p:cNvSpPr>
          <p:nvPr>
            <p:ph type="title"/>
          </p:nvPr>
        </p:nvSpPr>
        <p:spPr/>
        <p:txBody>
          <a:bodyPr/>
          <a:lstStyle/>
          <a:p>
            <a:r>
              <a:rPr lang="en-US" dirty="0"/>
              <a:t>Paging</a:t>
            </a:r>
          </a:p>
        </p:txBody>
      </p:sp>
      <p:sp>
        <p:nvSpPr>
          <p:cNvPr id="3" name="Content Placeholder 2">
            <a:extLst>
              <a:ext uri="{FF2B5EF4-FFF2-40B4-BE49-F238E27FC236}">
                <a16:creationId xmlns:a16="http://schemas.microsoft.com/office/drawing/2014/main" xmlns="" id="{F230A272-69BF-5B6A-F3AF-9B4467871A17}"/>
              </a:ext>
            </a:extLst>
          </p:cNvPr>
          <p:cNvSpPr>
            <a:spLocks noGrp="1"/>
          </p:cNvSpPr>
          <p:nvPr>
            <p:ph idx="1"/>
          </p:nvPr>
        </p:nvSpPr>
        <p:spPr>
          <a:xfrm>
            <a:off x="87924" y="711201"/>
            <a:ext cx="5023722" cy="5383572"/>
          </a:xfrm>
        </p:spPr>
        <p:txBody>
          <a:bodyPr/>
          <a:lstStyle/>
          <a:p>
            <a:r>
              <a:rPr lang="en-US" dirty="0"/>
              <a:t>OS needs to do two things</a:t>
            </a:r>
          </a:p>
          <a:p>
            <a:pPr lvl="1"/>
            <a:r>
              <a:rPr lang="en-US" dirty="0"/>
              <a:t>Mapping the pages to frame, maintain a </a:t>
            </a:r>
            <a:r>
              <a:rPr lang="en-US" dirty="0">
                <a:solidFill>
                  <a:srgbClr val="C00000"/>
                </a:solidFill>
              </a:rPr>
              <a:t>page table</a:t>
            </a:r>
          </a:p>
          <a:p>
            <a:pPr lvl="1"/>
            <a:r>
              <a:rPr lang="en-US" dirty="0"/>
              <a:t>Translate the </a:t>
            </a:r>
            <a:r>
              <a:rPr lang="en-US" dirty="0">
                <a:solidFill>
                  <a:srgbClr val="C00000"/>
                </a:solidFill>
              </a:rPr>
              <a:t>virtual address (contiguous) into physical address</a:t>
            </a:r>
            <a:r>
              <a:rPr lang="en-US" dirty="0"/>
              <a:t> (not so easy as the physical address for a process is scattered all over the memory)</a:t>
            </a:r>
          </a:p>
          <a:p>
            <a:r>
              <a:rPr lang="en-US" dirty="0"/>
              <a:t>Address generated by CPU (logical address) is divided into:</a:t>
            </a:r>
          </a:p>
          <a:p>
            <a:pPr lvl="1"/>
            <a:r>
              <a:rPr lang="en-US" dirty="0"/>
              <a:t>Page number </a:t>
            </a:r>
            <a:r>
              <a:rPr lang="en-US" b="1" dirty="0">
                <a:solidFill>
                  <a:srgbClr val="C00000"/>
                </a:solidFill>
              </a:rPr>
              <a:t>p</a:t>
            </a:r>
            <a:r>
              <a:rPr lang="en-US" dirty="0"/>
              <a:t> is an index into a page table that contains base address of each page in physical memory.</a:t>
            </a:r>
          </a:p>
          <a:p>
            <a:pPr lvl="1"/>
            <a:r>
              <a:rPr lang="en-US" dirty="0"/>
              <a:t>Page offset </a:t>
            </a:r>
            <a:r>
              <a:rPr lang="en-US" b="1" dirty="0">
                <a:solidFill>
                  <a:srgbClr val="C00000"/>
                </a:solidFill>
              </a:rPr>
              <a:t>d</a:t>
            </a:r>
            <a:r>
              <a:rPr lang="en-US" dirty="0"/>
              <a:t> is a displacement, combined with base address to define the physical memory address that is sent to the memory unit.</a:t>
            </a:r>
          </a:p>
          <a:p>
            <a:pPr marL="0" lvl="1" indent="0">
              <a:buNone/>
            </a:pPr>
            <a:endParaRPr lang="en-US" dirty="0"/>
          </a:p>
          <a:p>
            <a:endParaRPr lang="en-US" dirty="0"/>
          </a:p>
        </p:txBody>
      </p:sp>
      <p:sp>
        <p:nvSpPr>
          <p:cNvPr id="5" name="TextBox 4">
            <a:extLst>
              <a:ext uri="{FF2B5EF4-FFF2-40B4-BE49-F238E27FC236}">
                <a16:creationId xmlns:a16="http://schemas.microsoft.com/office/drawing/2014/main" xmlns="" id="{C1C7D5A8-AB28-5986-C054-0DF7C5901B89}"/>
              </a:ext>
            </a:extLst>
          </p:cNvPr>
          <p:cNvSpPr txBox="1"/>
          <p:nvPr/>
        </p:nvSpPr>
        <p:spPr>
          <a:xfrm>
            <a:off x="5969755" y="5448442"/>
            <a:ext cx="5792008" cy="646331"/>
          </a:xfrm>
          <a:prstGeom prst="rect">
            <a:avLst/>
          </a:prstGeom>
          <a:noFill/>
        </p:spPr>
        <p:txBody>
          <a:bodyPr wrap="square" rtlCol="0">
            <a:spAutoFit/>
          </a:bodyPr>
          <a:lstStyle/>
          <a:p>
            <a:pPr algn="ctr"/>
            <a:r>
              <a:rPr lang="en-US" dirty="0">
                <a:solidFill>
                  <a:srgbClr val="C00000"/>
                </a:solidFill>
              </a:rPr>
              <a:t>Figure: Hardware Support Block diagram for Paging in Operating System</a:t>
            </a:r>
          </a:p>
        </p:txBody>
      </p:sp>
      <p:pic>
        <p:nvPicPr>
          <p:cNvPr id="7" name="Picture 6">
            <a:extLst>
              <a:ext uri="{FF2B5EF4-FFF2-40B4-BE49-F238E27FC236}">
                <a16:creationId xmlns:a16="http://schemas.microsoft.com/office/drawing/2014/main" xmlns="" id="{4AD31F13-0241-B9FD-25F6-B3ABE5E1CE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54750" y="1028590"/>
            <a:ext cx="6844879" cy="4187987"/>
          </a:xfrm>
          <a:prstGeom prst="rect">
            <a:avLst/>
          </a:prstGeom>
        </p:spPr>
      </p:pic>
    </p:spTree>
    <p:extLst>
      <p:ext uri="{BB962C8B-B14F-4D97-AF65-F5344CB8AC3E}">
        <p14:creationId xmlns:p14="http://schemas.microsoft.com/office/powerpoint/2010/main" val="810047414"/>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Page table</a:t>
            </a:r>
            <a:endParaRPr lang="en-US"/>
          </a:p>
        </p:txBody>
      </p:sp>
      <p:sp>
        <p:nvSpPr>
          <p:cNvPr id="3" name="Content Placeholder 2"/>
          <p:cNvSpPr>
            <a:spLocks noGrp="1"/>
          </p:cNvSpPr>
          <p:nvPr>
            <p:ph idx="1"/>
          </p:nvPr>
        </p:nvSpPr>
        <p:spPr/>
        <p:txBody>
          <a:bodyPr/>
          <a:lstStyle/>
          <a:p>
            <a:r>
              <a:rPr lang="en-US" dirty="0"/>
              <a:t>Page table is a </a:t>
            </a:r>
            <a:r>
              <a:rPr lang="en-US" b="1" dirty="0">
                <a:solidFill>
                  <a:schemeClr val="accent6"/>
                </a:solidFill>
              </a:rPr>
              <a:t>data structure which translates virtual address into equivalent physical address</a:t>
            </a:r>
            <a:r>
              <a:rPr lang="en-US" dirty="0"/>
              <a:t>.</a:t>
            </a:r>
          </a:p>
          <a:p>
            <a:r>
              <a:rPr lang="en-US" dirty="0"/>
              <a:t>The virtual page number is used as an index into the Page table to find the entry for that virtual page and from the Page table physical page frame number is found.</a:t>
            </a:r>
          </a:p>
          <a:p>
            <a:r>
              <a:rPr lang="en-US" dirty="0"/>
              <a:t>Thus the </a:t>
            </a:r>
            <a:r>
              <a:rPr lang="en-US" b="1" dirty="0">
                <a:solidFill>
                  <a:schemeClr val="accent6"/>
                </a:solidFill>
              </a:rPr>
              <a:t>purpose of page table is to map virtual pages onto page frames</a:t>
            </a:r>
            <a:r>
              <a:rPr lang="en-US" dirty="0"/>
              <a:t>.</a:t>
            </a:r>
          </a:p>
          <a:p>
            <a:r>
              <a:rPr lang="en-US" dirty="0"/>
              <a:t>The page table of the process is </a:t>
            </a:r>
            <a:r>
              <a:rPr lang="en-US" b="1" dirty="0">
                <a:solidFill>
                  <a:schemeClr val="accent6"/>
                </a:solidFill>
              </a:rPr>
              <a:t>held in the kernel space</a:t>
            </a:r>
            <a:r>
              <a:rPr lang="en-US" dirty="0"/>
              <a:t>.</a:t>
            </a:r>
          </a:p>
        </p:txBody>
      </p:sp>
    </p:spTree>
    <p:extLst>
      <p:ext uri="{BB962C8B-B14F-4D97-AF65-F5344CB8AC3E}">
        <p14:creationId xmlns:p14="http://schemas.microsoft.com/office/powerpoint/2010/main" val="17031975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EF00CFA-7DAE-E34A-BF49-19A7D38E7197}"/>
              </a:ext>
            </a:extLst>
          </p:cNvPr>
          <p:cNvSpPr>
            <a:spLocks noGrp="1"/>
          </p:cNvSpPr>
          <p:nvPr>
            <p:ph type="title"/>
          </p:nvPr>
        </p:nvSpPr>
        <p:spPr/>
        <p:txBody>
          <a:bodyPr/>
          <a:lstStyle/>
          <a:p>
            <a:r>
              <a:rPr lang="en-US" dirty="0"/>
              <a:t>Page Tables</a:t>
            </a:r>
          </a:p>
        </p:txBody>
      </p:sp>
      <p:sp>
        <p:nvSpPr>
          <p:cNvPr id="3" name="Content Placeholder 2">
            <a:extLst>
              <a:ext uri="{FF2B5EF4-FFF2-40B4-BE49-F238E27FC236}">
                <a16:creationId xmlns:a16="http://schemas.microsoft.com/office/drawing/2014/main" xmlns="" id="{43F061C4-C935-C652-2FC7-77F3EB72D9CD}"/>
              </a:ext>
            </a:extLst>
          </p:cNvPr>
          <p:cNvSpPr>
            <a:spLocks noGrp="1"/>
          </p:cNvSpPr>
          <p:nvPr>
            <p:ph idx="1"/>
          </p:nvPr>
        </p:nvSpPr>
        <p:spPr>
          <a:xfrm>
            <a:off x="87923" y="810689"/>
            <a:ext cx="6219055" cy="5765955"/>
          </a:xfrm>
        </p:spPr>
        <p:txBody>
          <a:bodyPr/>
          <a:lstStyle/>
          <a:p>
            <a:r>
              <a:rPr lang="en-US" dirty="0"/>
              <a:t>The </a:t>
            </a:r>
            <a:r>
              <a:rPr lang="en-US" dirty="0">
                <a:solidFill>
                  <a:srgbClr val="C00000"/>
                </a:solidFill>
              </a:rPr>
              <a:t>data structure </a:t>
            </a:r>
            <a:r>
              <a:rPr lang="en-US" dirty="0"/>
              <a:t>that is </a:t>
            </a:r>
            <a:r>
              <a:rPr lang="en-US" dirty="0">
                <a:solidFill>
                  <a:srgbClr val="C00000"/>
                </a:solidFill>
              </a:rPr>
              <a:t>used</a:t>
            </a:r>
            <a:r>
              <a:rPr lang="en-US" dirty="0"/>
              <a:t> by the </a:t>
            </a:r>
            <a:r>
              <a:rPr lang="en-US" dirty="0">
                <a:solidFill>
                  <a:srgbClr val="C00000"/>
                </a:solidFill>
              </a:rPr>
              <a:t>virtual memory system </a:t>
            </a:r>
            <a:r>
              <a:rPr lang="en-US" dirty="0"/>
              <a:t>in the operating system of a computer in order </a:t>
            </a:r>
            <a:r>
              <a:rPr lang="en-US" dirty="0">
                <a:solidFill>
                  <a:srgbClr val="C00000"/>
                </a:solidFill>
              </a:rPr>
              <a:t>to store the mapping between physical and logical addresses</a:t>
            </a:r>
            <a:r>
              <a:rPr lang="en-US" dirty="0"/>
              <a:t> is commonly known as </a:t>
            </a:r>
            <a:r>
              <a:rPr lang="en-US" dirty="0">
                <a:solidFill>
                  <a:srgbClr val="C00000"/>
                </a:solidFill>
              </a:rPr>
              <a:t>Page Table</a:t>
            </a:r>
            <a:r>
              <a:rPr lang="en-US" dirty="0"/>
              <a:t>.</a:t>
            </a:r>
          </a:p>
          <a:p>
            <a:r>
              <a:rPr lang="en-US" dirty="0"/>
              <a:t>The logical address that is generated by the CPU is translated into the physical address with the help of the page table.</a:t>
            </a:r>
          </a:p>
          <a:p>
            <a:r>
              <a:rPr lang="en-US" dirty="0"/>
              <a:t>Thus page table mainly provides the corresponding frame number (base address of the frame) where that page is stored in the main memory.</a:t>
            </a:r>
          </a:p>
          <a:p>
            <a:endParaRPr lang="en-US" dirty="0"/>
          </a:p>
          <a:p>
            <a:endParaRPr lang="en-US" dirty="0"/>
          </a:p>
          <a:p>
            <a:endParaRPr lang="en-US" sz="2800" dirty="0"/>
          </a:p>
        </p:txBody>
      </p:sp>
      <p:sp>
        <p:nvSpPr>
          <p:cNvPr id="4" name="TextBox 3">
            <a:extLst>
              <a:ext uri="{FF2B5EF4-FFF2-40B4-BE49-F238E27FC236}">
                <a16:creationId xmlns:a16="http://schemas.microsoft.com/office/drawing/2014/main" xmlns="" id="{23BB039B-AF9F-A427-37BF-A3D26BE5CC4A}"/>
              </a:ext>
            </a:extLst>
          </p:cNvPr>
          <p:cNvSpPr txBox="1"/>
          <p:nvPr/>
        </p:nvSpPr>
        <p:spPr>
          <a:xfrm>
            <a:off x="6285523" y="5996144"/>
            <a:ext cx="5222240" cy="369332"/>
          </a:xfrm>
          <a:prstGeom prst="rect">
            <a:avLst/>
          </a:prstGeom>
          <a:noFill/>
        </p:spPr>
        <p:txBody>
          <a:bodyPr wrap="square" rtlCol="0">
            <a:spAutoFit/>
          </a:bodyPr>
          <a:lstStyle/>
          <a:p>
            <a:pPr algn="ctr"/>
            <a:r>
              <a:rPr lang="en-US" b="0" i="0" dirty="0">
                <a:solidFill>
                  <a:srgbClr val="212529"/>
                </a:solidFill>
                <a:effectLst/>
                <a:latin typeface="+mj-lt"/>
              </a:rPr>
              <a:t>Figure: Paging model of Physical and logical memory</a:t>
            </a:r>
            <a:endParaRPr lang="en-US" dirty="0">
              <a:latin typeface="+mj-lt"/>
            </a:endParaRPr>
          </a:p>
        </p:txBody>
      </p:sp>
      <p:pic>
        <p:nvPicPr>
          <p:cNvPr id="8" name="Picture 7">
            <a:extLst>
              <a:ext uri="{FF2B5EF4-FFF2-40B4-BE49-F238E27FC236}">
                <a16:creationId xmlns:a16="http://schemas.microsoft.com/office/drawing/2014/main" xmlns="" id="{510731E2-4E77-61C3-3C21-1255DC20CE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1440" y="1185881"/>
            <a:ext cx="5750560" cy="4159737"/>
          </a:xfrm>
          <a:prstGeom prst="rect">
            <a:avLst/>
          </a:prstGeom>
        </p:spPr>
      </p:pic>
    </p:spTree>
    <p:extLst>
      <p:ext uri="{BB962C8B-B14F-4D97-AF65-F5344CB8AC3E}">
        <p14:creationId xmlns:p14="http://schemas.microsoft.com/office/powerpoint/2010/main" val="3860463008"/>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Virtual address space is large, the page table will be large</a:t>
            </a:r>
            <a:endParaRPr lang="en-US" dirty="0"/>
          </a:p>
        </p:txBody>
      </p:sp>
      <p:sp>
        <p:nvSpPr>
          <p:cNvPr id="3" name="Content Placeholder 2"/>
          <p:cNvSpPr>
            <a:spLocks noGrp="1"/>
          </p:cNvSpPr>
          <p:nvPr>
            <p:ph idx="1"/>
          </p:nvPr>
        </p:nvSpPr>
        <p:spPr/>
        <p:txBody>
          <a:bodyPr/>
          <a:lstStyle/>
          <a:p>
            <a:pPr marL="457200" lvl="1" indent="0">
              <a:buNone/>
            </a:pPr>
            <a:r>
              <a:rPr lang="en-US" sz="2400" dirty="0" smtClean="0"/>
              <a:t>Types of Page Table</a:t>
            </a:r>
          </a:p>
          <a:p>
            <a:pPr marL="914400" lvl="1" indent="-457200">
              <a:buFont typeface="+mj-lt"/>
              <a:buAutoNum type="arabicPeriod"/>
            </a:pPr>
            <a:r>
              <a:rPr lang="en-US" dirty="0" smtClean="0"/>
              <a:t>Multilevel </a:t>
            </a:r>
            <a:r>
              <a:rPr lang="en-US" dirty="0"/>
              <a:t>Page </a:t>
            </a:r>
            <a:r>
              <a:rPr lang="en-US" dirty="0" smtClean="0"/>
              <a:t>Table(Hierarchical Page table)</a:t>
            </a:r>
            <a:endParaRPr lang="en-US" dirty="0"/>
          </a:p>
          <a:p>
            <a:pPr marL="914400" lvl="1" indent="-457200">
              <a:buFont typeface="+mj-lt"/>
              <a:buAutoNum type="arabicPeriod"/>
            </a:pPr>
            <a:r>
              <a:rPr lang="en-US" dirty="0"/>
              <a:t>Inverted Page </a:t>
            </a:r>
            <a:r>
              <a:rPr lang="en-US" dirty="0" smtClean="0"/>
              <a:t>Table</a:t>
            </a:r>
          </a:p>
          <a:p>
            <a:pPr marL="914400" lvl="1" indent="-457200">
              <a:buFont typeface="+mj-lt"/>
              <a:buAutoNum type="arabicPeriod"/>
            </a:pPr>
            <a:r>
              <a:rPr lang="en-US" dirty="0" smtClean="0"/>
              <a:t>Shared page Table</a:t>
            </a:r>
          </a:p>
          <a:p>
            <a:pPr marL="914400" lvl="1" indent="-457200">
              <a:buFont typeface="+mj-lt"/>
              <a:buAutoNum type="arabicPeriod"/>
            </a:pPr>
            <a:endParaRPr lang="en-US" dirty="0"/>
          </a:p>
        </p:txBody>
      </p:sp>
      <p:sp>
        <p:nvSpPr>
          <p:cNvPr id="4" name="TextBox 3"/>
          <p:cNvSpPr txBox="1"/>
          <p:nvPr/>
        </p:nvSpPr>
        <p:spPr>
          <a:xfrm>
            <a:off x="5961413" y="1061870"/>
            <a:ext cx="5997039" cy="646331"/>
          </a:xfrm>
          <a:prstGeom prst="rect">
            <a:avLst/>
          </a:prstGeom>
          <a:solidFill>
            <a:srgbClr val="FFFF00"/>
          </a:solidFill>
        </p:spPr>
        <p:txBody>
          <a:bodyPr wrap="square" rtlCol="0">
            <a:spAutoFit/>
          </a:bodyPr>
          <a:lstStyle/>
          <a:p>
            <a:r>
              <a:rPr lang="en-US" dirty="0" smtClean="0"/>
              <a:t>Three different </a:t>
            </a:r>
            <a:r>
              <a:rPr lang="en-US" dirty="0"/>
              <a:t>ways to deal with large page table problems:</a:t>
            </a:r>
          </a:p>
          <a:p>
            <a:endParaRPr lang="en-US" dirty="0"/>
          </a:p>
        </p:txBody>
      </p:sp>
    </p:spTree>
    <p:extLst>
      <p:ext uri="{BB962C8B-B14F-4D97-AF65-F5344CB8AC3E}">
        <p14:creationId xmlns:p14="http://schemas.microsoft.com/office/powerpoint/2010/main" val="35832156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Multilevel Page Table</a:t>
            </a:r>
            <a:endParaRPr lang="en-US" dirty="0"/>
          </a:p>
        </p:txBody>
      </p:sp>
      <p:sp>
        <p:nvSpPr>
          <p:cNvPr id="3" name="Content Placeholder 2"/>
          <p:cNvSpPr>
            <a:spLocks noGrp="1"/>
          </p:cNvSpPr>
          <p:nvPr>
            <p:ph idx="1"/>
          </p:nvPr>
        </p:nvSpPr>
        <p:spPr/>
        <p:txBody>
          <a:bodyPr/>
          <a:lstStyle/>
          <a:p>
            <a:r>
              <a:rPr lang="en-US" dirty="0"/>
              <a:t>Another name for Hierarchical Paging is multilevel paging.</a:t>
            </a:r>
          </a:p>
          <a:p>
            <a:r>
              <a:rPr lang="en-US" dirty="0"/>
              <a:t>There might be a case where the page table is too big to fit in a contiguous space, so we may have a hierarchy with several levels.</a:t>
            </a:r>
          </a:p>
          <a:p>
            <a:r>
              <a:rPr lang="en-US" dirty="0"/>
              <a:t>In this type of Paging the logical address space is broke up into Multiple page tables.</a:t>
            </a:r>
          </a:p>
          <a:p>
            <a:r>
              <a:rPr lang="en-US" dirty="0"/>
              <a:t>Hierarchical Paging is one of the simplest techniques and for this purpose, a two-level page table and three-level page table can be used.</a:t>
            </a:r>
          </a:p>
          <a:p>
            <a:endParaRPr lang="en-US" dirty="0"/>
          </a:p>
        </p:txBody>
      </p:sp>
    </p:spTree>
    <p:extLst>
      <p:ext uri="{BB962C8B-B14F-4D97-AF65-F5344CB8AC3E}">
        <p14:creationId xmlns:p14="http://schemas.microsoft.com/office/powerpoint/2010/main" val="3103651390"/>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Multilevel Page Table</a:t>
            </a:r>
          </a:p>
        </p:txBody>
      </p:sp>
      <p:graphicFrame>
        <p:nvGraphicFramePr>
          <p:cNvPr id="4" name="Content Placeholder 12"/>
          <p:cNvGraphicFramePr/>
          <p:nvPr>
            <p:extLst/>
          </p:nvPr>
        </p:nvGraphicFramePr>
        <p:xfrm>
          <a:off x="4465381" y="5107624"/>
          <a:ext cx="1524000" cy="1107440"/>
        </p:xfrm>
        <a:graphic>
          <a:graphicData uri="http://schemas.openxmlformats.org/drawingml/2006/table">
            <a:tbl>
              <a:tblPr firstRow="1" bandRow="1">
                <a:tableStyleId>{93296810-A885-4BE3-A3E7-6D5BEEA58F35}</a:tableStyleId>
              </a:tblPr>
              <a:tblGrid>
                <a:gridCol w="685800">
                  <a:extLst>
                    <a:ext uri="{9D8B030D-6E8A-4147-A177-3AD203B41FA5}">
                      <a16:colId xmlns="" xmlns:a16="http://schemas.microsoft.com/office/drawing/2014/main" val="20000"/>
                    </a:ext>
                  </a:extLst>
                </a:gridCol>
                <a:gridCol w="838200">
                  <a:extLst>
                    <a:ext uri="{9D8B030D-6E8A-4147-A177-3AD203B41FA5}">
                      <a16:colId xmlns="" xmlns:a16="http://schemas.microsoft.com/office/drawing/2014/main" val="20001"/>
                    </a:ext>
                  </a:extLst>
                </a:gridCol>
              </a:tblGrid>
              <a:tr h="142240">
                <a:tc>
                  <a:txBody>
                    <a:bodyPr/>
                    <a:lstStyle/>
                    <a:p>
                      <a:r>
                        <a:rPr lang="en-US"/>
                        <a:t>Page</a:t>
                      </a:r>
                    </a:p>
                  </a:txBody>
                  <a:tcPr/>
                </a:tc>
                <a:tc>
                  <a:txBody>
                    <a:bodyPr/>
                    <a:lstStyle/>
                    <a:p>
                      <a:r>
                        <a:rPr lang="en-US"/>
                        <a:t>Frame</a:t>
                      </a:r>
                    </a:p>
                  </a:txBody>
                  <a:tcPr/>
                </a:tc>
                <a:extLst>
                  <a:ext uri="{0D108BD9-81ED-4DB2-BD59-A6C34878D82A}">
                    <a16:rowId xmlns="" xmlns:a16="http://schemas.microsoft.com/office/drawing/2014/main" val="10000"/>
                  </a:ext>
                </a:extLst>
              </a:tr>
              <a:tr h="370840">
                <a:tc>
                  <a:txBody>
                    <a:bodyPr/>
                    <a:lstStyle/>
                    <a:p>
                      <a:r>
                        <a:rPr lang="en-US"/>
                        <a:t>P1</a:t>
                      </a:r>
                    </a:p>
                  </a:txBody>
                  <a:tcPr/>
                </a:tc>
                <a:tc>
                  <a:txBody>
                    <a:bodyPr/>
                    <a:lstStyle/>
                    <a:p>
                      <a:r>
                        <a:rPr lang="en-US"/>
                        <a:t>F301</a:t>
                      </a:r>
                    </a:p>
                  </a:txBody>
                  <a:tcPr/>
                </a:tc>
                <a:extLst>
                  <a:ext uri="{0D108BD9-81ED-4DB2-BD59-A6C34878D82A}">
                    <a16:rowId xmlns="" xmlns:a16="http://schemas.microsoft.com/office/drawing/2014/main" val="10001"/>
                  </a:ext>
                </a:extLst>
              </a:tr>
              <a:tr h="370840">
                <a:tc>
                  <a:txBody>
                    <a:bodyPr/>
                    <a:lstStyle/>
                    <a:p>
                      <a:r>
                        <a:rPr lang="en-US"/>
                        <a:t>P2</a:t>
                      </a:r>
                    </a:p>
                  </a:txBody>
                  <a:tcPr/>
                </a:tc>
                <a:tc>
                  <a:txBody>
                    <a:bodyPr/>
                    <a:lstStyle/>
                    <a:p>
                      <a:r>
                        <a:rPr lang="en-US"/>
                        <a:t>F302</a:t>
                      </a:r>
                    </a:p>
                  </a:txBody>
                  <a:tcPr/>
                </a:tc>
                <a:extLst>
                  <a:ext uri="{0D108BD9-81ED-4DB2-BD59-A6C34878D82A}">
                    <a16:rowId xmlns="" xmlns:a16="http://schemas.microsoft.com/office/drawing/2014/main" val="10002"/>
                  </a:ext>
                </a:extLst>
              </a:tr>
            </a:tbl>
          </a:graphicData>
        </a:graphic>
      </p:graphicFrame>
      <p:sp>
        <p:nvSpPr>
          <p:cNvPr id="5" name="Rectangle 4"/>
          <p:cNvSpPr/>
          <p:nvPr/>
        </p:nvSpPr>
        <p:spPr>
          <a:xfrm>
            <a:off x="1047754" y="2900365"/>
            <a:ext cx="1143000" cy="533400"/>
          </a:xfrm>
          <a:prstGeom prst="rect">
            <a:avLst/>
          </a:prstGeom>
          <a:solidFill>
            <a:srgbClr val="2489CE"/>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CPU</a:t>
            </a:r>
          </a:p>
        </p:txBody>
      </p:sp>
      <p:cxnSp>
        <p:nvCxnSpPr>
          <p:cNvPr id="6" name="Elbow Connector 5"/>
          <p:cNvCxnSpPr>
            <a:stCxn id="5" idx="0"/>
            <a:endCxn id="24" idx="1"/>
          </p:cNvCxnSpPr>
          <p:nvPr/>
        </p:nvCxnSpPr>
        <p:spPr>
          <a:xfrm rot="5400000" flipH="1" flipV="1">
            <a:off x="1293907" y="2082710"/>
            <a:ext cx="1143003" cy="492308"/>
          </a:xfrm>
          <a:prstGeom prst="bentConnector2">
            <a:avLst/>
          </a:prstGeom>
          <a:ln w="38100">
            <a:solidFill>
              <a:schemeClr val="tx2"/>
            </a:solidFill>
            <a:tailEnd type="triangle"/>
          </a:ln>
        </p:spPr>
        <p:style>
          <a:lnRef idx="3">
            <a:schemeClr val="accent1"/>
          </a:lnRef>
          <a:fillRef idx="0">
            <a:schemeClr val="accent1"/>
          </a:fillRef>
          <a:effectRef idx="2">
            <a:schemeClr val="accent1"/>
          </a:effectRef>
          <a:fontRef idx="minor">
            <a:schemeClr val="tx1"/>
          </a:fontRef>
        </p:style>
      </p:cxnSp>
      <p:sp>
        <p:nvSpPr>
          <p:cNvPr id="7" name="Rectangle 6"/>
          <p:cNvSpPr/>
          <p:nvPr/>
        </p:nvSpPr>
        <p:spPr>
          <a:xfrm>
            <a:off x="2952755" y="1452564"/>
            <a:ext cx="838200" cy="609600"/>
          </a:xfrm>
          <a:prstGeom prst="rect">
            <a:avLst/>
          </a:prstGeom>
          <a:solidFill>
            <a:srgbClr val="2489CE"/>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PT2</a:t>
            </a:r>
          </a:p>
          <a:p>
            <a:pPr algn="ctr"/>
            <a:r>
              <a:rPr lang="en-US"/>
              <a:t>10 bit</a:t>
            </a:r>
          </a:p>
        </p:txBody>
      </p:sp>
      <p:sp>
        <p:nvSpPr>
          <p:cNvPr id="8" name="Rectangle 7"/>
          <p:cNvSpPr/>
          <p:nvPr/>
        </p:nvSpPr>
        <p:spPr>
          <a:xfrm>
            <a:off x="3790955" y="1452564"/>
            <a:ext cx="838200" cy="609600"/>
          </a:xfrm>
          <a:prstGeom prst="rect">
            <a:avLst/>
          </a:prstGeom>
          <a:solidFill>
            <a:srgbClr val="2489CE"/>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Offset</a:t>
            </a:r>
          </a:p>
          <a:p>
            <a:pPr algn="ctr"/>
            <a:r>
              <a:rPr lang="en-US"/>
              <a:t>12 bits</a:t>
            </a:r>
          </a:p>
        </p:txBody>
      </p:sp>
      <p:sp>
        <p:nvSpPr>
          <p:cNvPr id="9" name="TextBox 8"/>
          <p:cNvSpPr txBox="1"/>
          <p:nvPr/>
        </p:nvSpPr>
        <p:spPr>
          <a:xfrm>
            <a:off x="2495555" y="1072751"/>
            <a:ext cx="1714500" cy="369332"/>
          </a:xfrm>
          <a:prstGeom prst="rect">
            <a:avLst/>
          </a:prstGeom>
          <a:noFill/>
        </p:spPr>
        <p:txBody>
          <a:bodyPr wrap="square" rtlCol="0">
            <a:spAutoFit/>
          </a:bodyPr>
          <a:lstStyle/>
          <a:p>
            <a:pPr algn="r"/>
            <a:r>
              <a:rPr lang="en-US"/>
              <a:t>Logical Address</a:t>
            </a:r>
          </a:p>
        </p:txBody>
      </p:sp>
      <p:sp>
        <p:nvSpPr>
          <p:cNvPr id="10" name="Rectangle 9"/>
          <p:cNvSpPr/>
          <p:nvPr/>
        </p:nvSpPr>
        <p:spPr>
          <a:xfrm>
            <a:off x="8134355" y="2328864"/>
            <a:ext cx="1143000" cy="2590800"/>
          </a:xfrm>
          <a:prstGeom prst="rect">
            <a:avLst/>
          </a:prstGeom>
          <a:solidFill>
            <a:srgbClr val="2489CE"/>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Memory</a:t>
            </a:r>
          </a:p>
        </p:txBody>
      </p:sp>
      <p:sp>
        <p:nvSpPr>
          <p:cNvPr id="11" name="Rectangle 10"/>
          <p:cNvSpPr/>
          <p:nvPr/>
        </p:nvSpPr>
        <p:spPr>
          <a:xfrm>
            <a:off x="5924555" y="1453634"/>
            <a:ext cx="838200" cy="609600"/>
          </a:xfrm>
          <a:prstGeom prst="rect">
            <a:avLst/>
          </a:prstGeom>
          <a:solidFill>
            <a:srgbClr val="2489CE"/>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F202</a:t>
            </a:r>
          </a:p>
        </p:txBody>
      </p:sp>
      <p:sp>
        <p:nvSpPr>
          <p:cNvPr id="12" name="Rectangle 11"/>
          <p:cNvSpPr/>
          <p:nvPr/>
        </p:nvSpPr>
        <p:spPr>
          <a:xfrm>
            <a:off x="6762755" y="1453634"/>
            <a:ext cx="838200" cy="609600"/>
          </a:xfrm>
          <a:prstGeom prst="rect">
            <a:avLst/>
          </a:prstGeom>
          <a:solidFill>
            <a:srgbClr val="2489CE"/>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D</a:t>
            </a:r>
          </a:p>
        </p:txBody>
      </p:sp>
      <p:cxnSp>
        <p:nvCxnSpPr>
          <p:cNvPr id="13" name="Straight Connector 12"/>
          <p:cNvCxnSpPr/>
          <p:nvPr/>
        </p:nvCxnSpPr>
        <p:spPr>
          <a:xfrm flipH="1" flipV="1">
            <a:off x="4210055" y="1029774"/>
            <a:ext cx="0" cy="413266"/>
          </a:xfrm>
          <a:prstGeom prst="line">
            <a:avLst/>
          </a:prstGeom>
          <a:ln w="38100">
            <a:solidFill>
              <a:schemeClr val="tx2"/>
            </a:solidFill>
          </a:ln>
        </p:spPr>
        <p:style>
          <a:lnRef idx="3">
            <a:schemeClr val="accent1"/>
          </a:lnRef>
          <a:fillRef idx="0">
            <a:schemeClr val="accent1"/>
          </a:fillRef>
          <a:effectRef idx="2">
            <a:schemeClr val="accent1"/>
          </a:effectRef>
          <a:fontRef idx="minor">
            <a:schemeClr val="tx1"/>
          </a:fontRef>
        </p:style>
      </p:cxnSp>
      <p:cxnSp>
        <p:nvCxnSpPr>
          <p:cNvPr id="14" name="Elbow Connector 13"/>
          <p:cNvCxnSpPr/>
          <p:nvPr/>
        </p:nvCxnSpPr>
        <p:spPr>
          <a:xfrm>
            <a:off x="4210055" y="1039298"/>
            <a:ext cx="3086100" cy="413266"/>
          </a:xfrm>
          <a:prstGeom prst="bentConnector3">
            <a:avLst>
              <a:gd name="adj1" fmla="val 99621"/>
            </a:avLst>
          </a:prstGeom>
          <a:ln w="38100">
            <a:solidFill>
              <a:schemeClr val="tx2"/>
            </a:solidFill>
            <a:tailEnd type="triangle"/>
          </a:ln>
        </p:spPr>
        <p:style>
          <a:lnRef idx="3">
            <a:schemeClr val="accent1"/>
          </a:lnRef>
          <a:fillRef idx="0">
            <a:schemeClr val="accent1"/>
          </a:fillRef>
          <a:effectRef idx="2">
            <a:schemeClr val="accent1"/>
          </a:effectRef>
          <a:fontRef idx="minor">
            <a:schemeClr val="tx1"/>
          </a:fontRef>
        </p:style>
      </p:cxnSp>
      <p:sp>
        <p:nvSpPr>
          <p:cNvPr id="15" name="TextBox 14"/>
          <p:cNvSpPr txBox="1"/>
          <p:nvPr/>
        </p:nvSpPr>
        <p:spPr>
          <a:xfrm>
            <a:off x="7600955" y="1378068"/>
            <a:ext cx="1737360" cy="369332"/>
          </a:xfrm>
          <a:prstGeom prst="rect">
            <a:avLst/>
          </a:prstGeom>
          <a:noFill/>
        </p:spPr>
        <p:txBody>
          <a:bodyPr wrap="square" rtlCol="0">
            <a:spAutoFit/>
          </a:bodyPr>
          <a:lstStyle/>
          <a:p>
            <a:pPr algn="r"/>
            <a:r>
              <a:rPr lang="en-US"/>
              <a:t>Physical Address</a:t>
            </a:r>
          </a:p>
        </p:txBody>
      </p:sp>
      <p:cxnSp>
        <p:nvCxnSpPr>
          <p:cNvPr id="16" name="Elbow Connector 15"/>
          <p:cNvCxnSpPr>
            <a:stCxn id="12" idx="3"/>
            <a:endCxn id="10" idx="0"/>
          </p:cNvCxnSpPr>
          <p:nvPr/>
        </p:nvCxnSpPr>
        <p:spPr>
          <a:xfrm>
            <a:off x="7600955" y="1758434"/>
            <a:ext cx="1104900" cy="570430"/>
          </a:xfrm>
          <a:prstGeom prst="bentConnector2">
            <a:avLst/>
          </a:prstGeom>
          <a:ln w="38100">
            <a:solidFill>
              <a:schemeClr val="tx2"/>
            </a:solidFill>
            <a:tailEnd type="triangle"/>
          </a:ln>
        </p:spPr>
        <p:style>
          <a:lnRef idx="3">
            <a:schemeClr val="accent1"/>
          </a:lnRef>
          <a:fillRef idx="0">
            <a:schemeClr val="accent1"/>
          </a:fillRef>
          <a:effectRef idx="2">
            <a:schemeClr val="accent1"/>
          </a:effectRef>
          <a:fontRef idx="minor">
            <a:schemeClr val="tx1"/>
          </a:fontRef>
        </p:style>
      </p:cxnSp>
      <p:cxnSp>
        <p:nvCxnSpPr>
          <p:cNvPr id="17" name="Elbow Connector 16"/>
          <p:cNvCxnSpPr>
            <a:endCxn id="11" idx="2"/>
          </p:cNvCxnSpPr>
          <p:nvPr/>
        </p:nvCxnSpPr>
        <p:spPr>
          <a:xfrm rot="5400000" flipH="1" flipV="1">
            <a:off x="4896385" y="3167599"/>
            <a:ext cx="2551634" cy="342905"/>
          </a:xfrm>
          <a:prstGeom prst="bentConnector3">
            <a:avLst>
              <a:gd name="adj1" fmla="val -643"/>
            </a:avLst>
          </a:prstGeom>
          <a:ln w="38100">
            <a:solidFill>
              <a:schemeClr val="tx2"/>
            </a:solidFill>
            <a:tailEnd type="triangle"/>
          </a:ln>
        </p:spPr>
        <p:style>
          <a:lnRef idx="3">
            <a:schemeClr val="accent1"/>
          </a:lnRef>
          <a:fillRef idx="0">
            <a:schemeClr val="accent1"/>
          </a:fillRef>
          <a:effectRef idx="2">
            <a:schemeClr val="accent1"/>
          </a:effectRef>
          <a:fontRef idx="minor">
            <a:schemeClr val="tx1"/>
          </a:fontRef>
        </p:style>
      </p:cxnSp>
      <p:graphicFrame>
        <p:nvGraphicFramePr>
          <p:cNvPr id="18" name="Content Placeholder 12"/>
          <p:cNvGraphicFramePr/>
          <p:nvPr>
            <p:extLst/>
          </p:nvPr>
        </p:nvGraphicFramePr>
        <p:xfrm>
          <a:off x="2495555" y="2900364"/>
          <a:ext cx="1676400" cy="1478280"/>
        </p:xfrm>
        <a:graphic>
          <a:graphicData uri="http://schemas.openxmlformats.org/drawingml/2006/table">
            <a:tbl>
              <a:tblPr firstRow="1" bandRow="1">
                <a:tableStyleId>{93296810-A885-4BE3-A3E7-6D5BEEA58F35}</a:tableStyleId>
              </a:tblPr>
              <a:tblGrid>
                <a:gridCol w="754380">
                  <a:extLst>
                    <a:ext uri="{9D8B030D-6E8A-4147-A177-3AD203B41FA5}">
                      <a16:colId xmlns="" xmlns:a16="http://schemas.microsoft.com/office/drawing/2014/main" val="20000"/>
                    </a:ext>
                  </a:extLst>
                </a:gridCol>
                <a:gridCol w="922020">
                  <a:extLst>
                    <a:ext uri="{9D8B030D-6E8A-4147-A177-3AD203B41FA5}">
                      <a16:colId xmlns="" xmlns:a16="http://schemas.microsoft.com/office/drawing/2014/main" val="20001"/>
                    </a:ext>
                  </a:extLst>
                </a:gridCol>
              </a:tblGrid>
              <a:tr h="142240">
                <a:tc>
                  <a:txBody>
                    <a:bodyPr/>
                    <a:lstStyle/>
                    <a:p>
                      <a:r>
                        <a:rPr lang="en-US"/>
                        <a:t>Page</a:t>
                      </a:r>
                    </a:p>
                  </a:txBody>
                  <a:tcPr/>
                </a:tc>
                <a:tc>
                  <a:txBody>
                    <a:bodyPr/>
                    <a:lstStyle/>
                    <a:p>
                      <a:r>
                        <a:rPr lang="en-US"/>
                        <a:t>Pointer</a:t>
                      </a:r>
                    </a:p>
                  </a:txBody>
                  <a:tcPr/>
                </a:tc>
                <a:extLst>
                  <a:ext uri="{0D108BD9-81ED-4DB2-BD59-A6C34878D82A}">
                    <a16:rowId xmlns="" xmlns:a16="http://schemas.microsoft.com/office/drawing/2014/main" val="10000"/>
                  </a:ext>
                </a:extLst>
              </a:tr>
              <a:tr h="370840">
                <a:tc>
                  <a:txBody>
                    <a:bodyPr/>
                    <a:lstStyle/>
                    <a:p>
                      <a:r>
                        <a:rPr lang="en-US"/>
                        <a:t>1</a:t>
                      </a:r>
                    </a:p>
                  </a:txBody>
                  <a:tcPr/>
                </a:tc>
                <a:tc>
                  <a:txBody>
                    <a:bodyPr/>
                    <a:lstStyle/>
                    <a:p>
                      <a:endParaRPr lang="en-US"/>
                    </a:p>
                  </a:txBody>
                  <a:tcPr/>
                </a:tc>
                <a:extLst>
                  <a:ext uri="{0D108BD9-81ED-4DB2-BD59-A6C34878D82A}">
                    <a16:rowId xmlns="" xmlns:a16="http://schemas.microsoft.com/office/drawing/2014/main" val="10001"/>
                  </a:ext>
                </a:extLst>
              </a:tr>
              <a:tr h="370840">
                <a:tc>
                  <a:txBody>
                    <a:bodyPr/>
                    <a:lstStyle/>
                    <a:p>
                      <a:r>
                        <a:rPr lang="en-US"/>
                        <a:t>2</a:t>
                      </a:r>
                    </a:p>
                  </a:txBody>
                  <a:tcPr/>
                </a:tc>
                <a:tc>
                  <a:txBody>
                    <a:bodyPr/>
                    <a:lstStyle/>
                    <a:p>
                      <a:endParaRPr lang="en-US" sz="1800" kern="1200">
                        <a:solidFill>
                          <a:schemeClr val="dk1"/>
                        </a:solidFill>
                        <a:latin typeface="+mn-lt"/>
                        <a:ea typeface="+mn-ea"/>
                        <a:cs typeface="+mn-cs"/>
                      </a:endParaRPr>
                    </a:p>
                  </a:txBody>
                  <a:tcPr/>
                </a:tc>
                <a:extLst>
                  <a:ext uri="{0D108BD9-81ED-4DB2-BD59-A6C34878D82A}">
                    <a16:rowId xmlns="" xmlns:a16="http://schemas.microsoft.com/office/drawing/2014/main" val="10002"/>
                  </a:ext>
                </a:extLst>
              </a:tr>
              <a:tr h="370840">
                <a:tc>
                  <a:txBody>
                    <a:bodyPr/>
                    <a:lstStyle/>
                    <a:p>
                      <a:r>
                        <a:rPr lang="en-US"/>
                        <a:t>3</a:t>
                      </a:r>
                    </a:p>
                  </a:txBody>
                  <a:tcPr/>
                </a:tc>
                <a:tc>
                  <a:txBody>
                    <a:bodyPr/>
                    <a:lstStyle/>
                    <a:p>
                      <a:endParaRPr lang="en-US"/>
                    </a:p>
                  </a:txBody>
                  <a:tcPr/>
                </a:tc>
                <a:extLst>
                  <a:ext uri="{0D108BD9-81ED-4DB2-BD59-A6C34878D82A}">
                    <a16:rowId xmlns="" xmlns:a16="http://schemas.microsoft.com/office/drawing/2014/main" val="10003"/>
                  </a:ext>
                </a:extLst>
              </a:tr>
            </a:tbl>
          </a:graphicData>
        </a:graphic>
      </p:graphicFrame>
      <p:graphicFrame>
        <p:nvGraphicFramePr>
          <p:cNvPr id="19" name="Content Placeholder 12"/>
          <p:cNvGraphicFramePr/>
          <p:nvPr>
            <p:extLst/>
          </p:nvPr>
        </p:nvGraphicFramePr>
        <p:xfrm>
          <a:off x="4486664" y="3659824"/>
          <a:ext cx="1524000" cy="1107440"/>
        </p:xfrm>
        <a:graphic>
          <a:graphicData uri="http://schemas.openxmlformats.org/drawingml/2006/table">
            <a:tbl>
              <a:tblPr firstRow="1" bandRow="1">
                <a:tableStyleId>{93296810-A885-4BE3-A3E7-6D5BEEA58F35}</a:tableStyleId>
              </a:tblPr>
              <a:tblGrid>
                <a:gridCol w="685800">
                  <a:extLst>
                    <a:ext uri="{9D8B030D-6E8A-4147-A177-3AD203B41FA5}">
                      <a16:colId xmlns="" xmlns:a16="http://schemas.microsoft.com/office/drawing/2014/main" val="20000"/>
                    </a:ext>
                  </a:extLst>
                </a:gridCol>
                <a:gridCol w="838200">
                  <a:extLst>
                    <a:ext uri="{9D8B030D-6E8A-4147-A177-3AD203B41FA5}">
                      <a16:colId xmlns="" xmlns:a16="http://schemas.microsoft.com/office/drawing/2014/main" val="20001"/>
                    </a:ext>
                  </a:extLst>
                </a:gridCol>
              </a:tblGrid>
              <a:tr h="142240">
                <a:tc>
                  <a:txBody>
                    <a:bodyPr/>
                    <a:lstStyle/>
                    <a:p>
                      <a:r>
                        <a:rPr lang="en-US"/>
                        <a:t>Page</a:t>
                      </a:r>
                    </a:p>
                  </a:txBody>
                  <a:tcPr/>
                </a:tc>
                <a:tc>
                  <a:txBody>
                    <a:bodyPr/>
                    <a:lstStyle/>
                    <a:p>
                      <a:r>
                        <a:rPr lang="en-US"/>
                        <a:t>Frame</a:t>
                      </a:r>
                    </a:p>
                  </a:txBody>
                  <a:tcPr/>
                </a:tc>
                <a:extLst>
                  <a:ext uri="{0D108BD9-81ED-4DB2-BD59-A6C34878D82A}">
                    <a16:rowId xmlns="" xmlns:a16="http://schemas.microsoft.com/office/drawing/2014/main" val="10000"/>
                  </a:ext>
                </a:extLst>
              </a:tr>
              <a:tr h="370840">
                <a:tc>
                  <a:txBody>
                    <a:bodyPr/>
                    <a:lstStyle/>
                    <a:p>
                      <a:r>
                        <a:rPr lang="en-US"/>
                        <a:t>P1</a:t>
                      </a:r>
                    </a:p>
                  </a:txBody>
                  <a:tcPr/>
                </a:tc>
                <a:tc>
                  <a:txBody>
                    <a:bodyPr/>
                    <a:lstStyle/>
                    <a:p>
                      <a:r>
                        <a:rPr lang="en-US"/>
                        <a:t>F201</a:t>
                      </a:r>
                    </a:p>
                  </a:txBody>
                  <a:tcPr/>
                </a:tc>
                <a:extLst>
                  <a:ext uri="{0D108BD9-81ED-4DB2-BD59-A6C34878D82A}">
                    <a16:rowId xmlns="" xmlns:a16="http://schemas.microsoft.com/office/drawing/2014/main" val="10001"/>
                  </a:ext>
                </a:extLst>
              </a:tr>
              <a:tr h="370840">
                <a:tc>
                  <a:txBody>
                    <a:bodyPr/>
                    <a:lstStyle/>
                    <a:p>
                      <a:r>
                        <a:rPr lang="en-US"/>
                        <a:t>P2</a:t>
                      </a:r>
                    </a:p>
                  </a:txBody>
                  <a:tcPr/>
                </a:tc>
                <a:tc>
                  <a:txBody>
                    <a:bodyPr/>
                    <a:lstStyle/>
                    <a:p>
                      <a:r>
                        <a:rPr lang="en-US"/>
                        <a:t>F202</a:t>
                      </a:r>
                    </a:p>
                  </a:txBody>
                  <a:tcPr/>
                </a:tc>
                <a:extLst>
                  <a:ext uri="{0D108BD9-81ED-4DB2-BD59-A6C34878D82A}">
                    <a16:rowId xmlns="" xmlns:a16="http://schemas.microsoft.com/office/drawing/2014/main" val="10002"/>
                  </a:ext>
                </a:extLst>
              </a:tr>
            </a:tbl>
          </a:graphicData>
        </a:graphic>
      </p:graphicFrame>
      <p:graphicFrame>
        <p:nvGraphicFramePr>
          <p:cNvPr id="20" name="Content Placeholder 12"/>
          <p:cNvGraphicFramePr/>
          <p:nvPr>
            <p:extLst/>
          </p:nvPr>
        </p:nvGraphicFramePr>
        <p:xfrm>
          <a:off x="4444098" y="2212024"/>
          <a:ext cx="1524000" cy="1107440"/>
        </p:xfrm>
        <a:graphic>
          <a:graphicData uri="http://schemas.openxmlformats.org/drawingml/2006/table">
            <a:tbl>
              <a:tblPr firstRow="1" bandRow="1">
                <a:tableStyleId>{93296810-A885-4BE3-A3E7-6D5BEEA58F35}</a:tableStyleId>
              </a:tblPr>
              <a:tblGrid>
                <a:gridCol w="685800">
                  <a:extLst>
                    <a:ext uri="{9D8B030D-6E8A-4147-A177-3AD203B41FA5}">
                      <a16:colId xmlns="" xmlns:a16="http://schemas.microsoft.com/office/drawing/2014/main" val="20000"/>
                    </a:ext>
                  </a:extLst>
                </a:gridCol>
                <a:gridCol w="838200">
                  <a:extLst>
                    <a:ext uri="{9D8B030D-6E8A-4147-A177-3AD203B41FA5}">
                      <a16:colId xmlns="" xmlns:a16="http://schemas.microsoft.com/office/drawing/2014/main" val="20001"/>
                    </a:ext>
                  </a:extLst>
                </a:gridCol>
              </a:tblGrid>
              <a:tr h="142240">
                <a:tc>
                  <a:txBody>
                    <a:bodyPr/>
                    <a:lstStyle/>
                    <a:p>
                      <a:r>
                        <a:rPr lang="en-US"/>
                        <a:t>Page</a:t>
                      </a:r>
                    </a:p>
                  </a:txBody>
                  <a:tcPr/>
                </a:tc>
                <a:tc>
                  <a:txBody>
                    <a:bodyPr/>
                    <a:lstStyle/>
                    <a:p>
                      <a:r>
                        <a:rPr lang="en-US"/>
                        <a:t>Frame</a:t>
                      </a:r>
                    </a:p>
                  </a:txBody>
                  <a:tcPr/>
                </a:tc>
                <a:extLst>
                  <a:ext uri="{0D108BD9-81ED-4DB2-BD59-A6C34878D82A}">
                    <a16:rowId xmlns="" xmlns:a16="http://schemas.microsoft.com/office/drawing/2014/main" val="10000"/>
                  </a:ext>
                </a:extLst>
              </a:tr>
              <a:tr h="370840">
                <a:tc>
                  <a:txBody>
                    <a:bodyPr/>
                    <a:lstStyle/>
                    <a:p>
                      <a:r>
                        <a:rPr lang="en-US"/>
                        <a:t>P1</a:t>
                      </a:r>
                    </a:p>
                  </a:txBody>
                  <a:tcPr/>
                </a:tc>
                <a:tc>
                  <a:txBody>
                    <a:bodyPr/>
                    <a:lstStyle/>
                    <a:p>
                      <a:r>
                        <a:rPr lang="en-US"/>
                        <a:t>F101</a:t>
                      </a:r>
                    </a:p>
                  </a:txBody>
                  <a:tcPr/>
                </a:tc>
                <a:extLst>
                  <a:ext uri="{0D108BD9-81ED-4DB2-BD59-A6C34878D82A}">
                    <a16:rowId xmlns="" xmlns:a16="http://schemas.microsoft.com/office/drawing/2014/main" val="10001"/>
                  </a:ext>
                </a:extLst>
              </a:tr>
              <a:tr h="370840">
                <a:tc>
                  <a:txBody>
                    <a:bodyPr/>
                    <a:lstStyle/>
                    <a:p>
                      <a:r>
                        <a:rPr lang="en-US"/>
                        <a:t>P2</a:t>
                      </a:r>
                    </a:p>
                  </a:txBody>
                  <a:tcPr/>
                </a:tc>
                <a:tc>
                  <a:txBody>
                    <a:bodyPr/>
                    <a:lstStyle/>
                    <a:p>
                      <a:r>
                        <a:rPr lang="en-US"/>
                        <a:t>F102</a:t>
                      </a:r>
                    </a:p>
                  </a:txBody>
                  <a:tcPr/>
                </a:tc>
                <a:extLst>
                  <a:ext uri="{0D108BD9-81ED-4DB2-BD59-A6C34878D82A}">
                    <a16:rowId xmlns="" xmlns:a16="http://schemas.microsoft.com/office/drawing/2014/main" val="10002"/>
                  </a:ext>
                </a:extLst>
              </a:tr>
            </a:tbl>
          </a:graphicData>
        </a:graphic>
      </p:graphicFrame>
      <p:cxnSp>
        <p:nvCxnSpPr>
          <p:cNvPr id="21" name="Straight Arrow Connector 20"/>
          <p:cNvCxnSpPr/>
          <p:nvPr/>
        </p:nvCxnSpPr>
        <p:spPr>
          <a:xfrm flipV="1">
            <a:off x="3790955" y="2383631"/>
            <a:ext cx="661983" cy="1061092"/>
          </a:xfrm>
          <a:prstGeom prst="straightConnector1">
            <a:avLst/>
          </a:prstGeom>
          <a:ln w="38100">
            <a:solidFill>
              <a:schemeClr val="tx2"/>
            </a:solidFill>
            <a:tailEnd type="triangle"/>
          </a:ln>
        </p:spPr>
        <p:style>
          <a:lnRef idx="3">
            <a:schemeClr val="accent1"/>
          </a:lnRef>
          <a:fillRef idx="0">
            <a:schemeClr val="accent1"/>
          </a:fillRef>
          <a:effectRef idx="2">
            <a:schemeClr val="accent1"/>
          </a:effectRef>
          <a:fontRef idx="minor">
            <a:schemeClr val="tx1"/>
          </a:fontRef>
        </p:style>
      </p:cxnSp>
      <p:cxnSp>
        <p:nvCxnSpPr>
          <p:cNvPr id="22" name="Straight Arrow Connector 21"/>
          <p:cNvCxnSpPr/>
          <p:nvPr/>
        </p:nvCxnSpPr>
        <p:spPr>
          <a:xfrm>
            <a:off x="3790955" y="3840377"/>
            <a:ext cx="718457" cy="12487"/>
          </a:xfrm>
          <a:prstGeom prst="straightConnector1">
            <a:avLst/>
          </a:prstGeom>
          <a:ln w="38100">
            <a:solidFill>
              <a:schemeClr val="tx2"/>
            </a:solidFill>
            <a:tailEnd type="triangle"/>
          </a:ln>
        </p:spPr>
        <p:style>
          <a:lnRef idx="3">
            <a:schemeClr val="accent1"/>
          </a:lnRef>
          <a:fillRef idx="0">
            <a:schemeClr val="accent1"/>
          </a:fillRef>
          <a:effectRef idx="2">
            <a:schemeClr val="accent1"/>
          </a:effectRef>
          <a:fontRef idx="minor">
            <a:schemeClr val="tx1"/>
          </a:fontRef>
        </p:style>
      </p:cxnSp>
      <p:cxnSp>
        <p:nvCxnSpPr>
          <p:cNvPr id="23" name="Straight Arrow Connector 22"/>
          <p:cNvCxnSpPr/>
          <p:nvPr/>
        </p:nvCxnSpPr>
        <p:spPr>
          <a:xfrm>
            <a:off x="3752850" y="4174331"/>
            <a:ext cx="723900" cy="1157499"/>
          </a:xfrm>
          <a:prstGeom prst="straightConnector1">
            <a:avLst/>
          </a:prstGeom>
          <a:ln w="38100">
            <a:solidFill>
              <a:schemeClr val="tx2"/>
            </a:solidFill>
            <a:tailEnd type="triangle"/>
          </a:ln>
        </p:spPr>
        <p:style>
          <a:lnRef idx="3">
            <a:schemeClr val="accent1"/>
          </a:lnRef>
          <a:fillRef idx="0">
            <a:schemeClr val="accent1"/>
          </a:fillRef>
          <a:effectRef idx="2">
            <a:schemeClr val="accent1"/>
          </a:effectRef>
          <a:fontRef idx="minor">
            <a:schemeClr val="tx1"/>
          </a:fontRef>
        </p:style>
      </p:cxnSp>
      <p:sp>
        <p:nvSpPr>
          <p:cNvPr id="24" name="Rectangle 23"/>
          <p:cNvSpPr/>
          <p:nvPr/>
        </p:nvSpPr>
        <p:spPr>
          <a:xfrm>
            <a:off x="2111562" y="1452562"/>
            <a:ext cx="838200" cy="609600"/>
          </a:xfrm>
          <a:prstGeom prst="rect">
            <a:avLst/>
          </a:prstGeom>
          <a:solidFill>
            <a:srgbClr val="2489CE"/>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PT1</a:t>
            </a:r>
          </a:p>
          <a:p>
            <a:pPr algn="ctr"/>
            <a:r>
              <a:rPr lang="en-US"/>
              <a:t>10 bit</a:t>
            </a:r>
          </a:p>
        </p:txBody>
      </p:sp>
      <p:sp>
        <p:nvSpPr>
          <p:cNvPr id="25" name="TextBox 24"/>
          <p:cNvSpPr txBox="1"/>
          <p:nvPr/>
        </p:nvSpPr>
        <p:spPr>
          <a:xfrm>
            <a:off x="2519642" y="2072641"/>
            <a:ext cx="364942" cy="369332"/>
          </a:xfrm>
          <a:prstGeom prst="rect">
            <a:avLst/>
          </a:prstGeom>
          <a:noFill/>
        </p:spPr>
        <p:txBody>
          <a:bodyPr wrap="square" rtlCol="0">
            <a:spAutoFit/>
          </a:bodyPr>
          <a:lstStyle/>
          <a:p>
            <a:r>
              <a:rPr lang="en-US"/>
              <a:t>2</a:t>
            </a:r>
          </a:p>
        </p:txBody>
      </p:sp>
      <p:sp>
        <p:nvSpPr>
          <p:cNvPr id="26" name="TextBox 25"/>
          <p:cNvSpPr txBox="1"/>
          <p:nvPr/>
        </p:nvSpPr>
        <p:spPr>
          <a:xfrm>
            <a:off x="3402195" y="2060494"/>
            <a:ext cx="460192" cy="369332"/>
          </a:xfrm>
          <a:prstGeom prst="rect">
            <a:avLst/>
          </a:prstGeom>
          <a:noFill/>
        </p:spPr>
        <p:txBody>
          <a:bodyPr wrap="square" rtlCol="0">
            <a:spAutoFit/>
          </a:bodyPr>
          <a:lstStyle/>
          <a:p>
            <a:r>
              <a:rPr lang="en-US"/>
              <a:t>P2</a:t>
            </a:r>
          </a:p>
        </p:txBody>
      </p:sp>
      <p:cxnSp>
        <p:nvCxnSpPr>
          <p:cNvPr id="27" name="Elbow Connector 26"/>
          <p:cNvCxnSpPr/>
          <p:nvPr/>
        </p:nvCxnSpPr>
        <p:spPr>
          <a:xfrm rot="16200000" flipH="1">
            <a:off x="2859325" y="2598498"/>
            <a:ext cx="2575030" cy="1457710"/>
          </a:xfrm>
          <a:prstGeom prst="bentConnector3">
            <a:avLst>
              <a:gd name="adj1" fmla="val 50000"/>
            </a:avLst>
          </a:prstGeom>
          <a:ln w="38100">
            <a:solidFill>
              <a:schemeClr val="tx2"/>
            </a:solidFill>
            <a:tailEnd type="triangle"/>
          </a:ln>
        </p:spPr>
        <p:style>
          <a:lnRef idx="3">
            <a:schemeClr val="accent1"/>
          </a:lnRef>
          <a:fillRef idx="0">
            <a:schemeClr val="accent1"/>
          </a:fillRef>
          <a:effectRef idx="2">
            <a:schemeClr val="accent1"/>
          </a:effectRef>
          <a:fontRef idx="minor">
            <a:schemeClr val="tx1"/>
          </a:fontRef>
        </p:style>
      </p:cxnSp>
      <p:cxnSp>
        <p:nvCxnSpPr>
          <p:cNvPr id="28" name="Elbow Connector 27"/>
          <p:cNvCxnSpPr/>
          <p:nvPr/>
        </p:nvCxnSpPr>
        <p:spPr>
          <a:xfrm rot="16200000" flipH="1">
            <a:off x="1813809" y="2721586"/>
            <a:ext cx="1813025" cy="449530"/>
          </a:xfrm>
          <a:prstGeom prst="bentConnector3">
            <a:avLst>
              <a:gd name="adj1" fmla="val 31087"/>
            </a:avLst>
          </a:prstGeom>
          <a:ln w="38100">
            <a:solidFill>
              <a:schemeClr val="tx2"/>
            </a:solidFill>
            <a:tailEnd type="triangle"/>
          </a:ln>
        </p:spPr>
        <p:style>
          <a:lnRef idx="3">
            <a:schemeClr val="accent1"/>
          </a:lnRef>
          <a:fillRef idx="0">
            <a:schemeClr val="accent1"/>
          </a:fillRef>
          <a:effectRef idx="2">
            <a:schemeClr val="accent1"/>
          </a:effectRef>
          <a:fontRef idx="minor">
            <a:schemeClr val="tx1"/>
          </a:fontRef>
        </p:style>
      </p:cxnSp>
      <p:sp>
        <p:nvSpPr>
          <p:cNvPr id="29" name="Rounded Rectangle 28"/>
          <p:cNvSpPr/>
          <p:nvPr/>
        </p:nvSpPr>
        <p:spPr>
          <a:xfrm>
            <a:off x="4339304" y="3501393"/>
            <a:ext cx="1818721" cy="1434783"/>
          </a:xfrm>
          <a:prstGeom prst="roundRect">
            <a:avLst>
              <a:gd name="adj" fmla="val 9696"/>
            </a:avLst>
          </a:prstGeom>
          <a:noFill/>
          <a:ln w="38100">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1674773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childTnLst>
                          </p:cTn>
                        </p:par>
                      </p:childTnLst>
                    </p:cTn>
                  </p:par>
                  <p:par>
                    <p:cTn id="36" fill="hold" nodeType="clickPar">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par>
                                <p:cTn id="41" presetID="10" presetClass="entr" presetSubtype="0" fill="hold"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nodeType="with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childTnLst>
                                </p:cTn>
                              </p:par>
                            </p:childTnLst>
                          </p:cTn>
                        </p:par>
                      </p:childTnLst>
                    </p:cTn>
                  </p:par>
                  <p:par>
                    <p:cTn id="47" fill="hold" nodeType="clickPar">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500"/>
                                        <p:tgtEl>
                                          <p:spTgt spid="15"/>
                                        </p:tgtEl>
                                      </p:cBhvr>
                                    </p:animEffect>
                                  </p:childTnLst>
                                </p:cTn>
                              </p:par>
                              <p:par>
                                <p:cTn id="52" presetID="10" presetClass="entr" presetSubtype="0" fill="hold" nodeType="with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5" grpId="0"/>
      <p:bldP spid="25" grpId="0"/>
      <p:bldP spid="26" grpId="0"/>
      <p:bldP spid="2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Inverted Page Table</a:t>
            </a:r>
            <a:endParaRPr lang="en-US" dirty="0"/>
          </a:p>
        </p:txBody>
      </p:sp>
      <p:sp>
        <p:nvSpPr>
          <p:cNvPr id="3" name="Content Placeholder 2"/>
          <p:cNvSpPr>
            <a:spLocks noGrp="1"/>
          </p:cNvSpPr>
          <p:nvPr>
            <p:ph idx="1"/>
          </p:nvPr>
        </p:nvSpPr>
        <p:spPr/>
        <p:txBody>
          <a:bodyPr/>
          <a:lstStyle/>
          <a:p>
            <a:r>
              <a:rPr lang="en-US" dirty="0"/>
              <a:t>The Inverted Page table basically combines A page table and A frame table into a single data structure.</a:t>
            </a:r>
          </a:p>
          <a:p>
            <a:r>
              <a:rPr lang="en-US" dirty="0"/>
              <a:t>There is one entry for each virtual page number and a real page of memory</a:t>
            </a:r>
          </a:p>
          <a:p>
            <a:r>
              <a:rPr lang="en-US" dirty="0"/>
              <a:t>And the entry mainly consists of the virtual address of the page stored in that real memory location along with the information about the process that owns the page.</a:t>
            </a:r>
          </a:p>
          <a:p>
            <a:r>
              <a:rPr lang="en-US" dirty="0"/>
              <a:t>Though this technique decreases the memory that is needed to store each page table; but it also increases the time that is needed to search the table whenever a page reference occurs.</a:t>
            </a:r>
          </a:p>
          <a:p>
            <a:endParaRPr lang="en-US" dirty="0"/>
          </a:p>
        </p:txBody>
      </p:sp>
    </p:spTree>
    <p:extLst>
      <p:ext uri="{BB962C8B-B14F-4D97-AF65-F5344CB8AC3E}">
        <p14:creationId xmlns:p14="http://schemas.microsoft.com/office/powerpoint/2010/main" val="3986871125"/>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Inverted Page Table</a:t>
            </a:r>
          </a:p>
        </p:txBody>
      </p:sp>
      <p:graphicFrame>
        <p:nvGraphicFramePr>
          <p:cNvPr id="30" name="Content Placeholder 3"/>
          <p:cNvGraphicFramePr>
            <a:graphicFrameLocks noGrp="1"/>
          </p:cNvGraphicFramePr>
          <p:nvPr>
            <p:ph idx="1"/>
            <p:extLst/>
          </p:nvPr>
        </p:nvGraphicFramePr>
        <p:xfrm>
          <a:off x="1379950" y="1447800"/>
          <a:ext cx="2602230" cy="457200"/>
        </p:xfrm>
        <a:graphic>
          <a:graphicData uri="http://schemas.openxmlformats.org/drawingml/2006/table">
            <a:tbl>
              <a:tblPr firstRow="1" bandRow="1">
                <a:tableStyleId>{5C22544A-7EE6-4342-B048-85BDC9FD1C3A}</a:tableStyleId>
              </a:tblPr>
              <a:tblGrid>
                <a:gridCol w="1504950">
                  <a:extLst>
                    <a:ext uri="{9D8B030D-6E8A-4147-A177-3AD203B41FA5}">
                      <a16:colId xmlns="" xmlns:a16="http://schemas.microsoft.com/office/drawing/2014/main" val="20000"/>
                    </a:ext>
                  </a:extLst>
                </a:gridCol>
                <a:gridCol w="1097280">
                  <a:extLst>
                    <a:ext uri="{9D8B030D-6E8A-4147-A177-3AD203B41FA5}">
                      <a16:colId xmlns="" xmlns:a16="http://schemas.microsoft.com/office/drawing/2014/main" val="20001"/>
                    </a:ext>
                  </a:extLst>
                </a:gridCol>
              </a:tblGrid>
              <a:tr h="370840">
                <a:tc>
                  <a:txBody>
                    <a:bodyPr/>
                    <a:lstStyle/>
                    <a:p>
                      <a:r>
                        <a:rPr lang="en-US" sz="2400"/>
                        <a:t>Page No 2</a:t>
                      </a:r>
                      <a:endParaRPr lang="en-IN" sz="2400"/>
                    </a:p>
                  </a:txBody>
                  <a:tcPr>
                    <a:solidFill>
                      <a:srgbClr val="2489CE"/>
                    </a:solidFill>
                  </a:tcPr>
                </a:tc>
                <a:tc>
                  <a:txBody>
                    <a:bodyPr/>
                    <a:lstStyle/>
                    <a:p>
                      <a:r>
                        <a:rPr lang="en-US" sz="2400"/>
                        <a:t>Offset</a:t>
                      </a:r>
                      <a:endParaRPr lang="en-IN" sz="2400"/>
                    </a:p>
                  </a:txBody>
                  <a:tcPr>
                    <a:solidFill>
                      <a:srgbClr val="2489CE"/>
                    </a:solidFill>
                  </a:tcPr>
                </a:tc>
                <a:extLst>
                  <a:ext uri="{0D108BD9-81ED-4DB2-BD59-A6C34878D82A}">
                    <a16:rowId xmlns="" xmlns:a16="http://schemas.microsoft.com/office/drawing/2014/main" val="10000"/>
                  </a:ext>
                </a:extLst>
              </a:tr>
            </a:tbl>
          </a:graphicData>
        </a:graphic>
      </p:graphicFrame>
      <p:sp>
        <p:nvSpPr>
          <p:cNvPr id="31" name="TextBox 30"/>
          <p:cNvSpPr txBox="1"/>
          <p:nvPr/>
        </p:nvSpPr>
        <p:spPr>
          <a:xfrm>
            <a:off x="1182703" y="1021315"/>
            <a:ext cx="2926080" cy="430887"/>
          </a:xfrm>
          <a:prstGeom prst="rect">
            <a:avLst/>
          </a:prstGeom>
          <a:noFill/>
        </p:spPr>
        <p:txBody>
          <a:bodyPr wrap="square" rtlCol="0">
            <a:spAutoFit/>
          </a:bodyPr>
          <a:lstStyle/>
          <a:p>
            <a:pPr algn="ctr"/>
            <a:r>
              <a:rPr lang="en-US" sz="2200"/>
              <a:t>Current process ID - 245</a:t>
            </a:r>
            <a:endParaRPr lang="en-IN" sz="2200"/>
          </a:p>
        </p:txBody>
      </p:sp>
      <p:graphicFrame>
        <p:nvGraphicFramePr>
          <p:cNvPr id="32" name="Content Placeholder 3"/>
          <p:cNvGraphicFramePr/>
          <p:nvPr>
            <p:extLst/>
          </p:nvPr>
        </p:nvGraphicFramePr>
        <p:xfrm>
          <a:off x="1271603" y="5562600"/>
          <a:ext cx="2818924" cy="457200"/>
        </p:xfrm>
        <a:graphic>
          <a:graphicData uri="http://schemas.openxmlformats.org/drawingml/2006/table">
            <a:tbl>
              <a:tblPr firstRow="1" bandRow="1">
                <a:tableStyleId>{5C22544A-7EE6-4342-B048-85BDC9FD1C3A}</a:tableStyleId>
              </a:tblPr>
              <a:tblGrid>
                <a:gridCol w="1721644">
                  <a:extLst>
                    <a:ext uri="{9D8B030D-6E8A-4147-A177-3AD203B41FA5}">
                      <a16:colId xmlns="" xmlns:a16="http://schemas.microsoft.com/office/drawing/2014/main" val="20000"/>
                    </a:ext>
                  </a:extLst>
                </a:gridCol>
                <a:gridCol w="1097280">
                  <a:extLst>
                    <a:ext uri="{9D8B030D-6E8A-4147-A177-3AD203B41FA5}">
                      <a16:colId xmlns="" xmlns:a16="http://schemas.microsoft.com/office/drawing/2014/main" val="20001"/>
                    </a:ext>
                  </a:extLst>
                </a:gridCol>
              </a:tblGrid>
              <a:tr h="152400">
                <a:tc>
                  <a:txBody>
                    <a:bodyPr/>
                    <a:lstStyle/>
                    <a:p>
                      <a:r>
                        <a:rPr lang="en-US" sz="2400"/>
                        <a:t>Frame No 4</a:t>
                      </a:r>
                      <a:endParaRPr lang="en-IN" sz="2400"/>
                    </a:p>
                  </a:txBody>
                  <a:tcPr>
                    <a:solidFill>
                      <a:srgbClr val="2489CE"/>
                    </a:solidFill>
                  </a:tcPr>
                </a:tc>
                <a:tc>
                  <a:txBody>
                    <a:bodyPr/>
                    <a:lstStyle/>
                    <a:p>
                      <a:r>
                        <a:rPr lang="en-US" sz="2400"/>
                        <a:t>Offset</a:t>
                      </a:r>
                      <a:endParaRPr lang="en-IN" sz="2400"/>
                    </a:p>
                  </a:txBody>
                  <a:tcPr>
                    <a:solidFill>
                      <a:srgbClr val="2489CE"/>
                    </a:solidFill>
                  </a:tcPr>
                </a:tc>
                <a:extLst>
                  <a:ext uri="{0D108BD9-81ED-4DB2-BD59-A6C34878D82A}">
                    <a16:rowId xmlns="" xmlns:a16="http://schemas.microsoft.com/office/drawing/2014/main" val="10000"/>
                  </a:ext>
                </a:extLst>
              </a:tr>
            </a:tbl>
          </a:graphicData>
        </a:graphic>
      </p:graphicFrame>
      <p:sp>
        <p:nvSpPr>
          <p:cNvPr id="33" name="TextBox 32"/>
          <p:cNvSpPr txBox="1"/>
          <p:nvPr/>
        </p:nvSpPr>
        <p:spPr>
          <a:xfrm>
            <a:off x="1716897" y="6015398"/>
            <a:ext cx="2083594" cy="430887"/>
          </a:xfrm>
          <a:prstGeom prst="rect">
            <a:avLst/>
          </a:prstGeom>
          <a:noFill/>
        </p:spPr>
        <p:txBody>
          <a:bodyPr wrap="square" rtlCol="0">
            <a:spAutoFit/>
          </a:bodyPr>
          <a:lstStyle/>
          <a:p>
            <a:pPr algn="ctr"/>
            <a:r>
              <a:rPr lang="en-US" sz="2200"/>
              <a:t>Physical Address</a:t>
            </a:r>
            <a:endParaRPr lang="en-IN" sz="2200"/>
          </a:p>
        </p:txBody>
      </p:sp>
      <p:sp>
        <p:nvSpPr>
          <p:cNvPr id="34" name="TextBox 33"/>
          <p:cNvSpPr txBox="1"/>
          <p:nvPr/>
        </p:nvSpPr>
        <p:spPr>
          <a:xfrm>
            <a:off x="1402571" y="2514240"/>
            <a:ext cx="1397794" cy="830997"/>
          </a:xfrm>
          <a:prstGeom prst="rect">
            <a:avLst/>
          </a:prstGeom>
          <a:ln w="38100">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400"/>
              <a:t>Hash Function</a:t>
            </a:r>
            <a:endParaRPr lang="en-IN" sz="2400"/>
          </a:p>
        </p:txBody>
      </p:sp>
      <p:graphicFrame>
        <p:nvGraphicFramePr>
          <p:cNvPr id="35" name="Table 34"/>
          <p:cNvGraphicFramePr>
            <a:graphicFrameLocks noGrp="1"/>
          </p:cNvGraphicFramePr>
          <p:nvPr>
            <p:extLst/>
          </p:nvPr>
        </p:nvGraphicFramePr>
        <p:xfrm>
          <a:off x="3938603" y="2220099"/>
          <a:ext cx="5646738" cy="2738120"/>
        </p:xfrm>
        <a:graphic>
          <a:graphicData uri="http://schemas.openxmlformats.org/drawingml/2006/table">
            <a:tbl>
              <a:tblPr firstRow="1" bandRow="1">
                <a:tableStyleId>{93296810-A885-4BE3-A3E7-6D5BEEA58F35}</a:tableStyleId>
              </a:tblPr>
              <a:tblGrid>
                <a:gridCol w="1476375">
                  <a:extLst>
                    <a:ext uri="{9D8B030D-6E8A-4147-A177-3AD203B41FA5}">
                      <a16:colId xmlns="" xmlns:a16="http://schemas.microsoft.com/office/drawing/2014/main" val="20000"/>
                    </a:ext>
                  </a:extLst>
                </a:gridCol>
                <a:gridCol w="1284859">
                  <a:extLst>
                    <a:ext uri="{9D8B030D-6E8A-4147-A177-3AD203B41FA5}">
                      <a16:colId xmlns="" xmlns:a16="http://schemas.microsoft.com/office/drawing/2014/main" val="20001"/>
                    </a:ext>
                  </a:extLst>
                </a:gridCol>
                <a:gridCol w="1547559">
                  <a:extLst>
                    <a:ext uri="{9D8B030D-6E8A-4147-A177-3AD203B41FA5}">
                      <a16:colId xmlns="" xmlns:a16="http://schemas.microsoft.com/office/drawing/2014/main" val="20002"/>
                    </a:ext>
                  </a:extLst>
                </a:gridCol>
                <a:gridCol w="1337945">
                  <a:extLst>
                    <a:ext uri="{9D8B030D-6E8A-4147-A177-3AD203B41FA5}">
                      <a16:colId xmlns="" xmlns:a16="http://schemas.microsoft.com/office/drawing/2014/main" val="20003"/>
                    </a:ext>
                  </a:extLst>
                </a:gridCol>
              </a:tblGrid>
              <a:tr h="370840">
                <a:tc>
                  <a:txBody>
                    <a:bodyPr/>
                    <a:lstStyle/>
                    <a:p>
                      <a:r>
                        <a:rPr lang="en-US" sz="2400"/>
                        <a:t>Frame No</a:t>
                      </a:r>
                      <a:endParaRPr lang="en-IN" sz="2400"/>
                    </a:p>
                  </a:txBody>
                  <a:tcPr/>
                </a:tc>
                <a:tc>
                  <a:txBody>
                    <a:bodyPr/>
                    <a:lstStyle/>
                    <a:p>
                      <a:r>
                        <a:rPr lang="en-US" sz="2400"/>
                        <a:t>Page No</a:t>
                      </a:r>
                      <a:endParaRPr lang="en-IN" sz="2400"/>
                    </a:p>
                  </a:txBody>
                  <a:tcPr/>
                </a:tc>
                <a:tc>
                  <a:txBody>
                    <a:bodyPr/>
                    <a:lstStyle/>
                    <a:p>
                      <a:r>
                        <a:rPr lang="en-US" sz="2400"/>
                        <a:t>Process ID</a:t>
                      </a:r>
                      <a:endParaRPr lang="en-IN" sz="2400"/>
                    </a:p>
                  </a:txBody>
                  <a:tcPr/>
                </a:tc>
                <a:tc>
                  <a:txBody>
                    <a:bodyPr/>
                    <a:lstStyle/>
                    <a:p>
                      <a:r>
                        <a:rPr lang="en-US" sz="2800"/>
                        <a:t>Pointer</a:t>
                      </a:r>
                      <a:endParaRPr lang="en-IN" sz="2400"/>
                    </a:p>
                  </a:txBody>
                  <a:tcPr/>
                </a:tc>
                <a:extLst>
                  <a:ext uri="{0D108BD9-81ED-4DB2-BD59-A6C34878D82A}">
                    <a16:rowId xmlns="" xmlns:a16="http://schemas.microsoft.com/office/drawing/2014/main" val="10000"/>
                  </a:ext>
                </a:extLst>
              </a:tr>
              <a:tr h="370840">
                <a:tc>
                  <a:txBody>
                    <a:bodyPr/>
                    <a:lstStyle/>
                    <a:p>
                      <a:r>
                        <a:rPr lang="en-US"/>
                        <a:t>1</a:t>
                      </a:r>
                      <a:endParaRPr lang="en-IN"/>
                    </a:p>
                  </a:txBody>
                  <a:tcPr/>
                </a:tc>
                <a:tc>
                  <a:txBody>
                    <a:bodyPr/>
                    <a:lstStyle/>
                    <a:p>
                      <a:r>
                        <a:rPr lang="en-US"/>
                        <a:t>2</a:t>
                      </a:r>
                      <a:endParaRPr lang="en-IN"/>
                    </a:p>
                  </a:txBody>
                  <a:tcPr/>
                </a:tc>
                <a:tc>
                  <a:txBody>
                    <a:bodyPr/>
                    <a:lstStyle/>
                    <a:p>
                      <a:r>
                        <a:rPr lang="en-US"/>
                        <a:t>211</a:t>
                      </a:r>
                      <a:endParaRPr lang="en-IN"/>
                    </a:p>
                  </a:txBody>
                  <a:tcPr/>
                </a:tc>
                <a:tc>
                  <a:txBody>
                    <a:bodyPr/>
                    <a:lstStyle/>
                    <a:p>
                      <a:endParaRPr lang="en-IN"/>
                    </a:p>
                  </a:txBody>
                  <a:tcPr/>
                </a:tc>
                <a:extLst>
                  <a:ext uri="{0D108BD9-81ED-4DB2-BD59-A6C34878D82A}">
                    <a16:rowId xmlns="" xmlns:a16="http://schemas.microsoft.com/office/drawing/2014/main" val="10001"/>
                  </a:ext>
                </a:extLst>
              </a:tr>
              <a:tr h="370840">
                <a:tc>
                  <a:txBody>
                    <a:bodyPr/>
                    <a:lstStyle/>
                    <a:p>
                      <a:r>
                        <a:rPr lang="en-US"/>
                        <a:t>2</a:t>
                      </a:r>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 xmlns:a16="http://schemas.microsoft.com/office/drawing/2014/main" val="10002"/>
                  </a:ext>
                </a:extLst>
              </a:tr>
              <a:tr h="370840">
                <a:tc>
                  <a:txBody>
                    <a:bodyPr/>
                    <a:lstStyle/>
                    <a:p>
                      <a:r>
                        <a:rPr lang="en-US"/>
                        <a:t>3</a:t>
                      </a:r>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 xmlns:a16="http://schemas.microsoft.com/office/drawing/2014/main" val="10003"/>
                  </a:ext>
                </a:extLst>
              </a:tr>
              <a:tr h="340221">
                <a:tc>
                  <a:txBody>
                    <a:bodyPr/>
                    <a:lstStyle/>
                    <a:p>
                      <a:r>
                        <a:rPr lang="en-US"/>
                        <a:t>4</a:t>
                      </a:r>
                      <a:endParaRPr lang="en-IN"/>
                    </a:p>
                  </a:txBody>
                  <a:tcPr/>
                </a:tc>
                <a:tc>
                  <a:txBody>
                    <a:bodyPr/>
                    <a:lstStyle/>
                    <a:p>
                      <a:r>
                        <a:rPr lang="en-US"/>
                        <a:t>2</a:t>
                      </a:r>
                      <a:endParaRPr lang="en-IN"/>
                    </a:p>
                  </a:txBody>
                  <a:tcPr/>
                </a:tc>
                <a:tc>
                  <a:txBody>
                    <a:bodyPr/>
                    <a:lstStyle/>
                    <a:p>
                      <a:r>
                        <a:rPr lang="en-US"/>
                        <a:t>245</a:t>
                      </a:r>
                      <a:endParaRPr lang="en-IN"/>
                    </a:p>
                  </a:txBody>
                  <a:tcPr/>
                </a:tc>
                <a:tc>
                  <a:txBody>
                    <a:bodyPr/>
                    <a:lstStyle/>
                    <a:p>
                      <a:endParaRPr lang="en-IN"/>
                    </a:p>
                  </a:txBody>
                  <a:tcPr/>
                </a:tc>
                <a:extLst>
                  <a:ext uri="{0D108BD9-81ED-4DB2-BD59-A6C34878D82A}">
                    <a16:rowId xmlns="" xmlns:a16="http://schemas.microsoft.com/office/drawing/2014/main" val="10004"/>
                  </a:ext>
                </a:extLst>
              </a:tr>
              <a:tr h="370840">
                <a:tc>
                  <a:txBody>
                    <a:bodyPr/>
                    <a:lstStyle/>
                    <a:p>
                      <a:r>
                        <a:rPr lang="en-US"/>
                        <a:t>5</a:t>
                      </a:r>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 xmlns:a16="http://schemas.microsoft.com/office/drawing/2014/main" val="10005"/>
                  </a:ext>
                </a:extLst>
              </a:tr>
              <a:tr h="370840">
                <a:tc>
                  <a:txBody>
                    <a:bodyPr/>
                    <a:lstStyle/>
                    <a:p>
                      <a:r>
                        <a:rPr lang="en-US"/>
                        <a:t>6</a:t>
                      </a:r>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 xmlns:a16="http://schemas.microsoft.com/office/drawing/2014/main" val="10006"/>
                  </a:ext>
                </a:extLst>
              </a:tr>
            </a:tbl>
          </a:graphicData>
        </a:graphic>
      </p:graphicFrame>
      <p:cxnSp>
        <p:nvCxnSpPr>
          <p:cNvPr id="36" name="Straight Arrow Connector 35"/>
          <p:cNvCxnSpPr/>
          <p:nvPr/>
        </p:nvCxnSpPr>
        <p:spPr>
          <a:xfrm>
            <a:off x="2100263" y="1885950"/>
            <a:ext cx="1205" cy="615933"/>
          </a:xfrm>
          <a:prstGeom prst="straightConnector1">
            <a:avLst/>
          </a:prstGeom>
          <a:ln w="38100">
            <a:solidFill>
              <a:schemeClr val="tx2"/>
            </a:solidFill>
            <a:tailEnd type="triangle"/>
          </a:ln>
        </p:spPr>
        <p:style>
          <a:lnRef idx="3">
            <a:schemeClr val="accent1"/>
          </a:lnRef>
          <a:fillRef idx="0">
            <a:schemeClr val="accent1"/>
          </a:fillRef>
          <a:effectRef idx="2">
            <a:schemeClr val="accent1"/>
          </a:effectRef>
          <a:fontRef idx="minor">
            <a:schemeClr val="tx1"/>
          </a:fontRef>
        </p:style>
      </p:cxnSp>
      <p:cxnSp>
        <p:nvCxnSpPr>
          <p:cNvPr id="37" name="Straight Arrow Connector 36"/>
          <p:cNvCxnSpPr>
            <a:stCxn id="34" idx="3"/>
          </p:cNvCxnSpPr>
          <p:nvPr/>
        </p:nvCxnSpPr>
        <p:spPr>
          <a:xfrm flipV="1">
            <a:off x="2800365" y="2929738"/>
            <a:ext cx="1138238" cy="1"/>
          </a:xfrm>
          <a:prstGeom prst="straightConnector1">
            <a:avLst/>
          </a:prstGeom>
          <a:ln w="38100">
            <a:solidFill>
              <a:schemeClr val="tx2"/>
            </a:solidFill>
            <a:tailEnd type="triangle"/>
          </a:ln>
        </p:spPr>
        <p:style>
          <a:lnRef idx="3">
            <a:schemeClr val="accent1"/>
          </a:lnRef>
          <a:fillRef idx="0">
            <a:schemeClr val="accent1"/>
          </a:fillRef>
          <a:effectRef idx="2">
            <a:schemeClr val="accent1"/>
          </a:effectRef>
          <a:fontRef idx="minor">
            <a:schemeClr val="tx1"/>
          </a:fontRef>
        </p:style>
      </p:cxnSp>
      <p:sp>
        <p:nvSpPr>
          <p:cNvPr id="38" name="TextBox 37"/>
          <p:cNvSpPr txBox="1"/>
          <p:nvPr/>
        </p:nvSpPr>
        <p:spPr>
          <a:xfrm>
            <a:off x="6238888" y="1307371"/>
            <a:ext cx="3383280" cy="830997"/>
          </a:xfrm>
          <a:prstGeom prst="rect">
            <a:avLst/>
          </a:prstGeom>
          <a:noFill/>
        </p:spPr>
        <p:txBody>
          <a:bodyPr wrap="square" rtlCol="0">
            <a:spAutoFit/>
          </a:bodyPr>
          <a:lstStyle/>
          <a:p>
            <a:r>
              <a:rPr lang="en-US" sz="2400"/>
              <a:t>Process IDs do not match.</a:t>
            </a:r>
          </a:p>
          <a:p>
            <a:r>
              <a:rPr lang="en-US" sz="2400"/>
              <a:t>So follow chaining pointer</a:t>
            </a:r>
            <a:endParaRPr lang="en-IN" sz="2400"/>
          </a:p>
        </p:txBody>
      </p:sp>
      <p:cxnSp>
        <p:nvCxnSpPr>
          <p:cNvPr id="39" name="Straight Connector 38"/>
          <p:cNvCxnSpPr/>
          <p:nvPr/>
        </p:nvCxnSpPr>
        <p:spPr>
          <a:xfrm>
            <a:off x="8982091" y="2929738"/>
            <a:ext cx="914400" cy="0"/>
          </a:xfrm>
          <a:prstGeom prst="line">
            <a:avLst/>
          </a:prstGeom>
          <a:ln w="381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p:nvCxnSpPr>
        <p:spPr>
          <a:xfrm flipH="1">
            <a:off x="9896491" y="2929738"/>
            <a:ext cx="0" cy="1108862"/>
          </a:xfrm>
          <a:prstGeom prst="line">
            <a:avLst/>
          </a:prstGeom>
          <a:ln w="381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flipH="1">
            <a:off x="8982091" y="4038600"/>
            <a:ext cx="914400" cy="0"/>
          </a:xfrm>
          <a:prstGeom prst="straightConnector1">
            <a:avLst/>
          </a:prstGeom>
          <a:ln w="38100">
            <a:solidFill>
              <a:schemeClr val="tx2"/>
            </a:solidFill>
            <a:tailEnd type="triangle"/>
          </a:ln>
        </p:spPr>
        <p:style>
          <a:lnRef idx="3">
            <a:schemeClr val="accent1"/>
          </a:lnRef>
          <a:fillRef idx="0">
            <a:schemeClr val="accent1"/>
          </a:fillRef>
          <a:effectRef idx="2">
            <a:schemeClr val="accent1"/>
          </a:effectRef>
          <a:fontRef idx="minor">
            <a:schemeClr val="tx1"/>
          </a:fontRef>
        </p:style>
      </p:cxnSp>
      <p:sp>
        <p:nvSpPr>
          <p:cNvPr id="42" name="TextBox 41"/>
          <p:cNvSpPr txBox="1"/>
          <p:nvPr/>
        </p:nvSpPr>
        <p:spPr>
          <a:xfrm>
            <a:off x="6638945" y="5017907"/>
            <a:ext cx="2834640" cy="1200329"/>
          </a:xfrm>
          <a:prstGeom prst="rect">
            <a:avLst/>
          </a:prstGeom>
          <a:noFill/>
        </p:spPr>
        <p:txBody>
          <a:bodyPr wrap="square" rtlCol="0">
            <a:spAutoFit/>
          </a:bodyPr>
          <a:lstStyle/>
          <a:p>
            <a:r>
              <a:rPr lang="en-US" sz="2400"/>
              <a:t>Process IDs match.</a:t>
            </a:r>
          </a:p>
          <a:p>
            <a:r>
              <a:rPr lang="en-US" sz="2400"/>
              <a:t>So frame no added to physical address.</a:t>
            </a:r>
            <a:endParaRPr lang="en-IN" sz="2400"/>
          </a:p>
        </p:txBody>
      </p:sp>
      <p:cxnSp>
        <p:nvCxnSpPr>
          <p:cNvPr id="43" name="Straight Arrow Connector 42"/>
          <p:cNvCxnSpPr/>
          <p:nvPr/>
        </p:nvCxnSpPr>
        <p:spPr>
          <a:xfrm flipH="1">
            <a:off x="3419491" y="1885950"/>
            <a:ext cx="3159" cy="3676650"/>
          </a:xfrm>
          <a:prstGeom prst="straightConnector1">
            <a:avLst/>
          </a:prstGeom>
          <a:ln w="38100">
            <a:solidFill>
              <a:schemeClr val="tx2"/>
            </a:solidFill>
            <a:tailEnd type="triangle"/>
          </a:ln>
        </p:spPr>
        <p:style>
          <a:lnRef idx="3">
            <a:schemeClr val="accent1"/>
          </a:lnRef>
          <a:fillRef idx="0">
            <a:schemeClr val="accent1"/>
          </a:fillRef>
          <a:effectRef idx="2">
            <a:schemeClr val="accent1"/>
          </a:effectRef>
          <a:fontRef idx="minor">
            <a:schemeClr val="tx1"/>
          </a:fontRef>
        </p:style>
      </p:cxnSp>
      <p:cxnSp>
        <p:nvCxnSpPr>
          <p:cNvPr id="44" name="Straight Arrow Connector 43"/>
          <p:cNvCxnSpPr/>
          <p:nvPr/>
        </p:nvCxnSpPr>
        <p:spPr>
          <a:xfrm flipH="1">
            <a:off x="2800365" y="4038600"/>
            <a:ext cx="1138238" cy="1524000"/>
          </a:xfrm>
          <a:prstGeom prst="straightConnector1">
            <a:avLst/>
          </a:prstGeom>
          <a:ln w="38100">
            <a:solidFill>
              <a:schemeClr val="tx2"/>
            </a:solidFill>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6044466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par>
                                <p:cTn id="8" presetID="10" presetClass="entr" presetSubtype="0" fill="hold"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childTnLst>
                          </p:cTn>
                        </p:par>
                      </p:childTnLst>
                    </p:cTn>
                  </p:par>
                  <p:par>
                    <p:cTn id="11" fill="hold" nodeType="clickPar">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fade">
                                      <p:cBhvr>
                                        <p:cTn id="15" dur="500"/>
                                        <p:tgtEl>
                                          <p:spTgt spid="3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fade">
                                      <p:cBhvr>
                                        <p:cTn id="18" dur="500"/>
                                        <p:tgtEl>
                                          <p:spTgt spid="34"/>
                                        </p:tgtEl>
                                      </p:cBhvr>
                                    </p:animEffect>
                                  </p:childTnLst>
                                </p:cTn>
                              </p:par>
                            </p:childTnLst>
                          </p:cTn>
                        </p:par>
                      </p:childTnLst>
                    </p:cTn>
                  </p:par>
                  <p:par>
                    <p:cTn id="19" fill="hold" nodeType="clickPar">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500"/>
                                        <p:tgtEl>
                                          <p:spTgt spid="37"/>
                                        </p:tgtEl>
                                      </p:cBhvr>
                                    </p:animEffect>
                                  </p:childTnLst>
                                </p:cTn>
                              </p:par>
                              <p:par>
                                <p:cTn id="24" presetID="10" presetClass="entr" presetSubtype="0" fill="hold"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500"/>
                                        <p:tgtEl>
                                          <p:spTgt spid="35"/>
                                        </p:tgtEl>
                                      </p:cBhvr>
                                    </p:animEffect>
                                  </p:childTnLst>
                                </p:cTn>
                              </p:par>
                            </p:childTnLst>
                          </p:cTn>
                        </p:par>
                      </p:childTnLst>
                    </p:cTn>
                  </p:par>
                  <p:par>
                    <p:cTn id="27" fill="hold" nodeType="clickPar">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500"/>
                                        <p:tgtEl>
                                          <p:spTgt spid="38"/>
                                        </p:tgtEl>
                                      </p:cBhvr>
                                    </p:animEffect>
                                  </p:childTnLst>
                                </p:cTn>
                              </p:par>
                            </p:childTnLst>
                          </p:cTn>
                        </p:par>
                      </p:childTnLst>
                    </p:cTn>
                  </p:par>
                  <p:par>
                    <p:cTn id="32" fill="hold" nodeType="clickPar">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fade">
                                      <p:cBhvr>
                                        <p:cTn id="36" dur="500"/>
                                        <p:tgtEl>
                                          <p:spTgt spid="39"/>
                                        </p:tgtEl>
                                      </p:cBhvr>
                                    </p:animEffect>
                                  </p:childTnLst>
                                </p:cTn>
                              </p:par>
                              <p:par>
                                <p:cTn id="37" presetID="10" presetClass="entr" presetSubtype="0" fill="hold" nodeType="withEffect">
                                  <p:stCondLst>
                                    <p:cond delay="0"/>
                                  </p:stCondLst>
                                  <p:childTnLst>
                                    <p:set>
                                      <p:cBhvr>
                                        <p:cTn id="38" dur="1" fill="hold">
                                          <p:stCondLst>
                                            <p:cond delay="0"/>
                                          </p:stCondLst>
                                        </p:cTn>
                                        <p:tgtEl>
                                          <p:spTgt spid="40"/>
                                        </p:tgtEl>
                                        <p:attrNameLst>
                                          <p:attrName>style.visibility</p:attrName>
                                        </p:attrNameLst>
                                      </p:cBhvr>
                                      <p:to>
                                        <p:strVal val="visible"/>
                                      </p:to>
                                    </p:set>
                                    <p:animEffect transition="in" filter="fade">
                                      <p:cBhvr>
                                        <p:cTn id="39" dur="500"/>
                                        <p:tgtEl>
                                          <p:spTgt spid="40"/>
                                        </p:tgtEl>
                                      </p:cBhvr>
                                    </p:animEffect>
                                  </p:childTnLst>
                                </p:cTn>
                              </p:par>
                              <p:par>
                                <p:cTn id="40" presetID="10" presetClass="entr" presetSubtype="0" fill="hold" nodeType="with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fade">
                                      <p:cBhvr>
                                        <p:cTn id="42" dur="500"/>
                                        <p:tgtEl>
                                          <p:spTgt spid="41"/>
                                        </p:tgtEl>
                                      </p:cBhvr>
                                    </p:animEffect>
                                  </p:childTnLst>
                                </p:cTn>
                              </p:par>
                            </p:childTnLst>
                          </p:cTn>
                        </p:par>
                      </p:childTnLst>
                    </p:cTn>
                  </p:par>
                  <p:par>
                    <p:cTn id="43" fill="hold" nodeType="clickPar">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fade">
                                      <p:cBhvr>
                                        <p:cTn id="47" dur="500"/>
                                        <p:tgtEl>
                                          <p:spTgt spid="42"/>
                                        </p:tgtEl>
                                      </p:cBhvr>
                                    </p:animEffect>
                                  </p:childTnLst>
                                </p:cTn>
                              </p:par>
                            </p:childTnLst>
                          </p:cTn>
                        </p:par>
                      </p:childTnLst>
                    </p:cTn>
                  </p:par>
                  <p:par>
                    <p:cTn id="48" fill="hold" nodeType="clickPar">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4"/>
                                        </p:tgtEl>
                                        <p:attrNameLst>
                                          <p:attrName>style.visibility</p:attrName>
                                        </p:attrNameLst>
                                      </p:cBhvr>
                                      <p:to>
                                        <p:strVal val="visible"/>
                                      </p:to>
                                    </p:set>
                                    <p:animEffect transition="in" filter="fade">
                                      <p:cBhvr>
                                        <p:cTn id="52" dur="500"/>
                                        <p:tgtEl>
                                          <p:spTgt spid="44"/>
                                        </p:tgtEl>
                                      </p:cBhvr>
                                    </p:animEffect>
                                  </p:childTnLst>
                                </p:cTn>
                              </p:par>
                              <p:par>
                                <p:cTn id="53" presetID="10"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500"/>
                                        <p:tgtEl>
                                          <p:spTgt spid="32"/>
                                        </p:tgtEl>
                                      </p:cBhvr>
                                    </p:animEffect>
                                  </p:childTnLst>
                                </p:cTn>
                              </p:par>
                            </p:childTnLst>
                          </p:cTn>
                        </p:par>
                      </p:childTnLst>
                    </p:cTn>
                  </p:par>
                  <p:par>
                    <p:cTn id="56" fill="hold" nodeType="clickPar">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43"/>
                                        </p:tgtEl>
                                        <p:attrNameLst>
                                          <p:attrName>style.visibility</p:attrName>
                                        </p:attrNameLst>
                                      </p:cBhvr>
                                      <p:to>
                                        <p:strVal val="visible"/>
                                      </p:to>
                                    </p:set>
                                    <p:animEffect transition="in" filter="fade">
                                      <p:cBhvr>
                                        <p:cTn id="60" dur="500"/>
                                        <p:tgtEl>
                                          <p:spTgt spid="43"/>
                                        </p:tgtEl>
                                      </p:cBhvr>
                                    </p:animEffect>
                                  </p:childTnLst>
                                </p:cTn>
                              </p:par>
                            </p:childTnLst>
                          </p:cTn>
                        </p:par>
                      </p:childTnLst>
                    </p:cTn>
                  </p:par>
                  <p:par>
                    <p:cTn id="61" fill="hold" nodeType="clickPar">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p:bldP spid="34" grpId="0" animBg="1"/>
      <p:bldP spid="38" grpId="0"/>
      <p:bldP spid="4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a:t>Inverted Page Table</a:t>
            </a:r>
          </a:p>
        </p:txBody>
      </p:sp>
      <p:sp>
        <p:nvSpPr>
          <p:cNvPr id="3" name="Content Placeholder 2"/>
          <p:cNvSpPr>
            <a:spLocks noGrp="1"/>
          </p:cNvSpPr>
          <p:nvPr>
            <p:ph idx="1"/>
          </p:nvPr>
        </p:nvSpPr>
        <p:spPr/>
        <p:txBody>
          <a:bodyPr/>
          <a:lstStyle/>
          <a:p>
            <a:r>
              <a:rPr lang="en-US"/>
              <a:t>Each entry in the page table contains the following fields.</a:t>
            </a:r>
          </a:p>
          <a:p>
            <a:pPr lvl="1"/>
            <a:r>
              <a:rPr lang="en-US"/>
              <a:t>Page number – It specifies the page number range of the logical address.</a:t>
            </a:r>
          </a:p>
          <a:p>
            <a:pPr lvl="1"/>
            <a:r>
              <a:rPr lang="en-US"/>
              <a:t>Process id – An inverted page table contains the address space information of all the processes in execution. </a:t>
            </a:r>
          </a:p>
          <a:p>
            <a:pPr lvl="2"/>
            <a:r>
              <a:rPr lang="en-US"/>
              <a:t>Since two different processes can have similar set of virtual addresses, it becomes necessary in Inverted Page Table to store a </a:t>
            </a:r>
            <a:r>
              <a:rPr lang="en-US" err="1"/>
              <a:t>processID of each process to identify it’s address </a:t>
            </a:r>
            <a:r>
              <a:rPr lang="en-US"/>
              <a:t>space uniquely. </a:t>
            </a:r>
          </a:p>
          <a:p>
            <a:pPr lvl="2"/>
            <a:r>
              <a:rPr lang="en-US"/>
              <a:t>This is done by using the combination of PID and Page Number. So this Process Id acts as an address space identifier and ensures that a virtual page for a particular process is mapped correctly to the corresponding physical frame.</a:t>
            </a:r>
          </a:p>
          <a:p>
            <a:pPr lvl="1"/>
            <a:r>
              <a:rPr lang="en-US"/>
              <a:t>Control bits – These bits are used to store extra paging-related information. These include the valid bit, dirty bit, reference bits, protection and locking information bits.</a:t>
            </a:r>
          </a:p>
          <a:p>
            <a:pPr lvl="1"/>
            <a:r>
              <a:rPr lang="en-US"/>
              <a:t>Chained pointer – It may be possible sometime that two or more processes share a part of main memory. </a:t>
            </a:r>
          </a:p>
          <a:p>
            <a:pPr lvl="2"/>
            <a:r>
              <a:rPr lang="en-US"/>
              <a:t>In this case, two or more logical pages map to same Page Table Entry then a chaining pointer is used to map the details of these logical pages to the root page table.</a:t>
            </a:r>
          </a:p>
        </p:txBody>
      </p:sp>
    </p:spTree>
    <p:extLst>
      <p:ext uri="{BB962C8B-B14F-4D97-AF65-F5344CB8AC3E}">
        <p14:creationId xmlns:p14="http://schemas.microsoft.com/office/powerpoint/2010/main" val="186132519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Shared </a:t>
            </a:r>
            <a:r>
              <a:rPr lang="en-US" dirty="0"/>
              <a:t>P</a:t>
            </a:r>
            <a:r>
              <a:rPr lang="en-US" dirty="0" smtClean="0"/>
              <a:t>age Table</a:t>
            </a:r>
            <a:endParaRPr lang="en-US" dirty="0"/>
          </a:p>
        </p:txBody>
      </p:sp>
      <p:sp>
        <p:nvSpPr>
          <p:cNvPr id="3" name="Content Placeholder 2"/>
          <p:cNvSpPr>
            <a:spLocks noGrp="1"/>
          </p:cNvSpPr>
          <p:nvPr>
            <p:ph idx="1"/>
          </p:nvPr>
        </p:nvSpPr>
        <p:spPr/>
        <p:txBody>
          <a:bodyPr/>
          <a:lstStyle/>
          <a:p>
            <a:r>
              <a:rPr lang="en-US" dirty="0" smtClean="0"/>
              <a:t>The primary purpose of sharing page table is improve performances for large applications that share big memory areas between multiple processes.</a:t>
            </a:r>
          </a:p>
          <a:p>
            <a:r>
              <a:rPr lang="en-US" dirty="0" smtClean="0"/>
              <a:t>It eliminates the redundant page tables and significantly reduces the number of minor page fault.</a:t>
            </a:r>
          </a:p>
          <a:p>
            <a:r>
              <a:rPr lang="en-US" dirty="0" smtClean="0"/>
              <a:t>Here, pages may be shared by multiple processes.</a:t>
            </a:r>
            <a:endParaRPr lang="en-US" dirty="0"/>
          </a:p>
        </p:txBody>
      </p:sp>
    </p:spTree>
    <p:extLst>
      <p:ext uri="{BB962C8B-B14F-4D97-AF65-F5344CB8AC3E}">
        <p14:creationId xmlns:p14="http://schemas.microsoft.com/office/powerpoint/2010/main" val="153331150"/>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CDD67E4-78DC-CCC0-32B0-0AFF0275C142}"/>
              </a:ext>
            </a:extLst>
          </p:cNvPr>
          <p:cNvSpPr>
            <a:spLocks noGrp="1"/>
          </p:cNvSpPr>
          <p:nvPr>
            <p:ph type="title"/>
          </p:nvPr>
        </p:nvSpPr>
        <p:spPr/>
        <p:txBody>
          <a:bodyPr>
            <a:normAutofit/>
          </a:bodyPr>
          <a:lstStyle/>
          <a:p>
            <a:r>
              <a:rPr lang="en-US" dirty="0"/>
              <a:t>How Does Paging Works?</a:t>
            </a:r>
          </a:p>
        </p:txBody>
      </p:sp>
      <p:sp>
        <p:nvSpPr>
          <p:cNvPr id="3" name="Content Placeholder 2">
            <a:extLst>
              <a:ext uri="{FF2B5EF4-FFF2-40B4-BE49-F238E27FC236}">
                <a16:creationId xmlns:a16="http://schemas.microsoft.com/office/drawing/2014/main" xmlns="" id="{A53B3AF8-CA18-E608-DFA4-C44EC65102E0}"/>
              </a:ext>
            </a:extLst>
          </p:cNvPr>
          <p:cNvSpPr>
            <a:spLocks noGrp="1"/>
          </p:cNvSpPr>
          <p:nvPr>
            <p:ph idx="1"/>
          </p:nvPr>
        </p:nvSpPr>
        <p:spPr>
          <a:xfrm>
            <a:off x="87924" y="863445"/>
            <a:ext cx="6594230" cy="5616486"/>
          </a:xfrm>
        </p:spPr>
        <p:txBody>
          <a:bodyPr/>
          <a:lstStyle/>
          <a:p>
            <a:r>
              <a:rPr lang="en-US" dirty="0"/>
              <a:t>Paging divides the main memory into </a:t>
            </a:r>
            <a:r>
              <a:rPr lang="en-US" dirty="0">
                <a:solidFill>
                  <a:srgbClr val="C00000"/>
                </a:solidFill>
              </a:rPr>
              <a:t>fixed-size</a:t>
            </a:r>
            <a:r>
              <a:rPr lang="en-US" dirty="0"/>
              <a:t> </a:t>
            </a:r>
            <a:r>
              <a:rPr lang="en-US" dirty="0">
                <a:solidFill>
                  <a:srgbClr val="C00000"/>
                </a:solidFill>
              </a:rPr>
              <a:t>blocks</a:t>
            </a:r>
            <a:r>
              <a:rPr lang="en-US" dirty="0"/>
              <a:t> that we refer to as </a:t>
            </a:r>
            <a:r>
              <a:rPr lang="en-US" dirty="0">
                <a:solidFill>
                  <a:srgbClr val="C00000"/>
                </a:solidFill>
              </a:rPr>
              <a:t>frames</a:t>
            </a:r>
            <a:r>
              <a:rPr lang="en-US" dirty="0"/>
              <a:t>. And the program is divided into blocks of the same size as frames and we refer to them as pages.</a:t>
            </a:r>
          </a:p>
          <a:p>
            <a:r>
              <a:rPr lang="en-US" dirty="0"/>
              <a:t>When the </a:t>
            </a:r>
            <a:r>
              <a:rPr lang="en-US" dirty="0">
                <a:solidFill>
                  <a:srgbClr val="C00000"/>
                </a:solidFill>
              </a:rPr>
              <a:t>system</a:t>
            </a:r>
            <a:r>
              <a:rPr lang="en-US" dirty="0"/>
              <a:t> has to </a:t>
            </a:r>
            <a:r>
              <a:rPr lang="en-US" dirty="0">
                <a:solidFill>
                  <a:srgbClr val="C00000"/>
                </a:solidFill>
              </a:rPr>
              <a:t>execute a process</a:t>
            </a:r>
            <a:r>
              <a:rPr lang="en-US" dirty="0"/>
              <a:t>, it </a:t>
            </a:r>
            <a:r>
              <a:rPr lang="en-US" dirty="0">
                <a:solidFill>
                  <a:srgbClr val="C00000"/>
                </a:solidFill>
              </a:rPr>
              <a:t>loads the pages </a:t>
            </a:r>
            <a:r>
              <a:rPr lang="en-US" dirty="0"/>
              <a:t>of the program into available </a:t>
            </a:r>
            <a:r>
              <a:rPr lang="en-US" dirty="0">
                <a:solidFill>
                  <a:srgbClr val="C00000"/>
                </a:solidFill>
              </a:rPr>
              <a:t>frames of main memory</a:t>
            </a:r>
            <a:r>
              <a:rPr lang="en-US" dirty="0"/>
              <a:t>. Now to start the execution of a process </a:t>
            </a:r>
            <a:r>
              <a:rPr lang="en-US" dirty="0">
                <a:solidFill>
                  <a:srgbClr val="C00000"/>
                </a:solidFill>
              </a:rPr>
              <a:t>CPU generates a logical address</a:t>
            </a:r>
            <a:r>
              <a:rPr lang="en-US" dirty="0"/>
              <a:t>. The </a:t>
            </a:r>
            <a:r>
              <a:rPr lang="en-US" dirty="0">
                <a:solidFill>
                  <a:srgbClr val="C00000"/>
                </a:solidFill>
              </a:rPr>
              <a:t>logical address </a:t>
            </a:r>
            <a:r>
              <a:rPr lang="en-US" dirty="0"/>
              <a:t>includes </a:t>
            </a:r>
            <a:r>
              <a:rPr lang="en-US" dirty="0">
                <a:solidFill>
                  <a:srgbClr val="C00000"/>
                </a:solidFill>
              </a:rPr>
              <a:t>page number (p) and page offset (d).</a:t>
            </a:r>
          </a:p>
          <a:p>
            <a:r>
              <a:rPr lang="en-US" dirty="0"/>
              <a:t>The system uses the </a:t>
            </a:r>
            <a:r>
              <a:rPr lang="en-US" dirty="0">
                <a:solidFill>
                  <a:srgbClr val="C00000"/>
                </a:solidFill>
              </a:rPr>
              <a:t>page number </a:t>
            </a:r>
            <a:r>
              <a:rPr lang="en-US" dirty="0"/>
              <a:t>as an </a:t>
            </a:r>
            <a:r>
              <a:rPr lang="en-US" dirty="0">
                <a:solidFill>
                  <a:srgbClr val="C00000"/>
                </a:solidFill>
              </a:rPr>
              <a:t>index</a:t>
            </a:r>
            <a:r>
              <a:rPr lang="en-US" dirty="0"/>
              <a:t> to </a:t>
            </a:r>
            <a:r>
              <a:rPr lang="en-US" dirty="0">
                <a:solidFill>
                  <a:srgbClr val="C00000"/>
                </a:solidFill>
              </a:rPr>
              <a:t>trace the page table </a:t>
            </a:r>
            <a:r>
              <a:rPr lang="en-US" dirty="0"/>
              <a:t>which has the </a:t>
            </a:r>
            <a:r>
              <a:rPr lang="en-US" dirty="0">
                <a:solidFill>
                  <a:srgbClr val="C00000"/>
                </a:solidFill>
              </a:rPr>
              <a:t>base address </a:t>
            </a:r>
            <a:r>
              <a:rPr lang="en-US" dirty="0"/>
              <a:t>of each page in the main memory i.e., </a:t>
            </a:r>
            <a:r>
              <a:rPr lang="en-US" dirty="0">
                <a:solidFill>
                  <a:srgbClr val="C00000"/>
                </a:solidFill>
              </a:rPr>
              <a:t>frame (f)</a:t>
            </a:r>
            <a:r>
              <a:rPr lang="en-US" dirty="0"/>
              <a:t>. The </a:t>
            </a:r>
            <a:r>
              <a:rPr lang="en-US" dirty="0">
                <a:solidFill>
                  <a:srgbClr val="C00000"/>
                </a:solidFill>
              </a:rPr>
              <a:t>base address (f) </a:t>
            </a:r>
            <a:r>
              <a:rPr lang="en-US" dirty="0"/>
              <a:t>is then </a:t>
            </a:r>
            <a:r>
              <a:rPr lang="en-US" dirty="0">
                <a:solidFill>
                  <a:srgbClr val="C00000"/>
                </a:solidFill>
              </a:rPr>
              <a:t>combined</a:t>
            </a:r>
            <a:r>
              <a:rPr lang="en-US" dirty="0"/>
              <a:t> with the </a:t>
            </a:r>
            <a:r>
              <a:rPr lang="en-US" dirty="0">
                <a:solidFill>
                  <a:srgbClr val="C00000"/>
                </a:solidFill>
              </a:rPr>
              <a:t>page offset (d)</a:t>
            </a:r>
            <a:r>
              <a:rPr lang="en-US" dirty="0"/>
              <a:t> to </a:t>
            </a:r>
            <a:r>
              <a:rPr lang="en-US" dirty="0">
                <a:solidFill>
                  <a:srgbClr val="C00000"/>
                </a:solidFill>
              </a:rPr>
              <a:t>compute</a:t>
            </a:r>
            <a:r>
              <a:rPr lang="en-US" dirty="0"/>
              <a:t> the page’s </a:t>
            </a:r>
            <a:r>
              <a:rPr lang="en-US" dirty="0">
                <a:solidFill>
                  <a:srgbClr val="C00000"/>
                </a:solidFill>
              </a:rPr>
              <a:t>physical address </a:t>
            </a:r>
            <a:r>
              <a:rPr lang="en-US" dirty="0"/>
              <a:t>in the block of the main memory.</a:t>
            </a:r>
          </a:p>
        </p:txBody>
      </p:sp>
      <p:pic>
        <p:nvPicPr>
          <p:cNvPr id="5" name="Picture 4">
            <a:extLst>
              <a:ext uri="{FF2B5EF4-FFF2-40B4-BE49-F238E27FC236}">
                <a16:creationId xmlns:a16="http://schemas.microsoft.com/office/drawing/2014/main" xmlns="" id="{89497960-B7D3-171C-EEC4-409BB971CE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5522" y="1202761"/>
            <a:ext cx="5416478" cy="3158197"/>
          </a:xfrm>
          <a:prstGeom prst="rect">
            <a:avLst/>
          </a:prstGeom>
        </p:spPr>
      </p:pic>
      <p:sp>
        <p:nvSpPr>
          <p:cNvPr id="6" name="TextBox 5">
            <a:extLst>
              <a:ext uri="{FF2B5EF4-FFF2-40B4-BE49-F238E27FC236}">
                <a16:creationId xmlns:a16="http://schemas.microsoft.com/office/drawing/2014/main" xmlns="" id="{5A3FDFDE-9118-C48D-5484-14D40E82A929}"/>
              </a:ext>
            </a:extLst>
          </p:cNvPr>
          <p:cNvSpPr txBox="1"/>
          <p:nvPr/>
        </p:nvSpPr>
        <p:spPr>
          <a:xfrm>
            <a:off x="8202246" y="4852518"/>
            <a:ext cx="3647440" cy="369332"/>
          </a:xfrm>
          <a:prstGeom prst="rect">
            <a:avLst/>
          </a:prstGeom>
          <a:noFill/>
        </p:spPr>
        <p:txBody>
          <a:bodyPr wrap="square" rtlCol="0">
            <a:spAutoFit/>
          </a:bodyPr>
          <a:lstStyle/>
          <a:p>
            <a:r>
              <a:rPr lang="en-US" dirty="0"/>
              <a:t>Figure: Paging Hardware</a:t>
            </a:r>
          </a:p>
        </p:txBody>
      </p:sp>
    </p:spTree>
    <p:extLst>
      <p:ext uri="{BB962C8B-B14F-4D97-AF65-F5344CB8AC3E}">
        <p14:creationId xmlns:p14="http://schemas.microsoft.com/office/powerpoint/2010/main" val="3997007015"/>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9CF05E4-557F-AAA4-32EB-E8FAF7F55EFF}"/>
              </a:ext>
            </a:extLst>
          </p:cNvPr>
          <p:cNvSpPr>
            <a:spLocks noGrp="1"/>
          </p:cNvSpPr>
          <p:nvPr>
            <p:ph type="title"/>
          </p:nvPr>
        </p:nvSpPr>
        <p:spPr/>
        <p:txBody>
          <a:bodyPr/>
          <a:lstStyle/>
          <a:p>
            <a:r>
              <a:rPr lang="en-US" dirty="0"/>
              <a:t>Advantages and Disadvantages of Paging</a:t>
            </a:r>
          </a:p>
        </p:txBody>
      </p:sp>
      <p:sp>
        <p:nvSpPr>
          <p:cNvPr id="3" name="Content Placeholder 2">
            <a:extLst>
              <a:ext uri="{FF2B5EF4-FFF2-40B4-BE49-F238E27FC236}">
                <a16:creationId xmlns:a16="http://schemas.microsoft.com/office/drawing/2014/main" xmlns="" id="{F230A272-69BF-5B6A-F3AF-9B4467871A17}"/>
              </a:ext>
            </a:extLst>
          </p:cNvPr>
          <p:cNvSpPr>
            <a:spLocks noGrp="1"/>
          </p:cNvSpPr>
          <p:nvPr>
            <p:ph idx="1"/>
          </p:nvPr>
        </p:nvSpPr>
        <p:spPr/>
        <p:txBody>
          <a:bodyPr/>
          <a:lstStyle/>
          <a:p>
            <a:r>
              <a:rPr lang="en-US" dirty="0"/>
              <a:t>Advantages of Paging</a:t>
            </a:r>
          </a:p>
          <a:p>
            <a:pPr lvl="1"/>
            <a:r>
              <a:rPr lang="en-US" dirty="0"/>
              <a:t>Paging enables the system to allocate non-contiguous memory space to the process.</a:t>
            </a:r>
          </a:p>
          <a:p>
            <a:pPr lvl="1"/>
            <a:r>
              <a:rPr lang="en-US" dirty="0"/>
              <a:t>As pages and frames are of equal size swapping between them becomes very easy.</a:t>
            </a:r>
          </a:p>
          <a:p>
            <a:pPr lvl="1"/>
            <a:r>
              <a:rPr lang="en-US" dirty="0"/>
              <a:t>Paging supports the concept of virtual memory.</a:t>
            </a:r>
          </a:p>
          <a:p>
            <a:pPr lvl="1"/>
            <a:r>
              <a:rPr lang="en-US" dirty="0"/>
              <a:t>Paging is helpful when we have limited main memory.</a:t>
            </a:r>
          </a:p>
          <a:p>
            <a:pPr lvl="1"/>
            <a:r>
              <a:rPr lang="en-US" dirty="0"/>
              <a:t>With the concept of paging, we do not require external fragmentation.</a:t>
            </a:r>
          </a:p>
          <a:p>
            <a:r>
              <a:rPr lang="en-US" dirty="0"/>
              <a:t>Disadvantages of Paging</a:t>
            </a:r>
          </a:p>
          <a:p>
            <a:pPr lvl="1"/>
            <a:r>
              <a:rPr lang="en-US" dirty="0"/>
              <a:t>Paging leads to internal fragmentation.</a:t>
            </a:r>
          </a:p>
          <a:p>
            <a:pPr lvl="1"/>
            <a:r>
              <a:rPr lang="en-US" dirty="0"/>
              <a:t>The system has to maintain a page table that helps in translating the logical address provided by the CPU into the physical address where the page is stored. But the page tables consume additional space in the system.</a:t>
            </a:r>
          </a:p>
          <a:p>
            <a:pPr lvl="1"/>
            <a:r>
              <a:rPr lang="en-US" dirty="0"/>
              <a:t>To access the pages from the frames (main memory) the system has to first access the page table which ultimately increases the memory access time.</a:t>
            </a:r>
          </a:p>
          <a:p>
            <a:pPr lvl="1"/>
            <a:r>
              <a:rPr lang="en-US" dirty="0"/>
              <a:t>For each process, the system needs to maintain a separate page table.</a:t>
            </a:r>
          </a:p>
        </p:txBody>
      </p:sp>
    </p:spTree>
    <p:extLst>
      <p:ext uri="{BB962C8B-B14F-4D97-AF65-F5344CB8AC3E}">
        <p14:creationId xmlns:p14="http://schemas.microsoft.com/office/powerpoint/2010/main" val="885928447"/>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Translation look-aside buffer (TLB)</a:t>
            </a:r>
            <a:endParaRPr lang="en-US" dirty="0"/>
          </a:p>
        </p:txBody>
      </p:sp>
      <p:sp>
        <p:nvSpPr>
          <p:cNvPr id="3" name="Content Placeholder 2"/>
          <p:cNvSpPr>
            <a:spLocks noGrp="1"/>
          </p:cNvSpPr>
          <p:nvPr>
            <p:ph idx="1"/>
          </p:nvPr>
        </p:nvSpPr>
        <p:spPr/>
        <p:txBody>
          <a:bodyPr/>
          <a:lstStyle/>
          <a:p>
            <a:r>
              <a:rPr lang="en-US" dirty="0" smtClean="0"/>
              <a:t>A </a:t>
            </a:r>
            <a:r>
              <a:rPr lang="en-US" dirty="0"/>
              <a:t>translation look-aside buffer (TLB) is a memory cache that stores recent translations of virtual </a:t>
            </a:r>
            <a:r>
              <a:rPr lang="en-US" dirty="0" smtClean="0"/>
              <a:t>memory/logical </a:t>
            </a:r>
            <a:r>
              <a:rPr lang="en-US" dirty="0"/>
              <a:t>to physical addresses for faster retrieval</a:t>
            </a:r>
            <a:r>
              <a:rPr lang="en-US" dirty="0" smtClean="0"/>
              <a:t>.</a:t>
            </a:r>
          </a:p>
          <a:p>
            <a:r>
              <a:rPr lang="en-US" dirty="0"/>
              <a:t>TLB contains page table entries that have been most recently </a:t>
            </a:r>
            <a:r>
              <a:rPr lang="en-US" dirty="0" smtClean="0"/>
              <a:t>used</a:t>
            </a:r>
            <a:endParaRPr lang="en-US" dirty="0"/>
          </a:p>
          <a:p>
            <a:r>
              <a:rPr lang="en-US" dirty="0"/>
              <a:t>Given a virtual address, the processor examines the TLB if a page table entry is present </a:t>
            </a:r>
            <a:r>
              <a:rPr lang="en-US" dirty="0">
                <a:solidFill>
                  <a:srgbClr val="C00000"/>
                </a:solidFill>
              </a:rPr>
              <a:t>(TLB hit</a:t>
            </a:r>
            <a:r>
              <a:rPr lang="en-US" dirty="0"/>
              <a:t>), the frame number is retrieved and the real address is formed. </a:t>
            </a:r>
            <a:endParaRPr lang="en-US" dirty="0" smtClean="0"/>
          </a:p>
          <a:p>
            <a:r>
              <a:rPr lang="en-US" dirty="0" smtClean="0"/>
              <a:t>If </a:t>
            </a:r>
            <a:r>
              <a:rPr lang="en-US" dirty="0"/>
              <a:t>a page table entry is not found in the TLB (</a:t>
            </a:r>
            <a:r>
              <a:rPr lang="en-US" dirty="0">
                <a:solidFill>
                  <a:srgbClr val="C00000"/>
                </a:solidFill>
              </a:rPr>
              <a:t>TLB miss</a:t>
            </a:r>
            <a:r>
              <a:rPr lang="en-US" dirty="0"/>
              <a:t>), the page number is used as an index while processing the page table. TLB first checks if the page is already in main memory, if not in main memory a page fault is issued then the TLB is updated to include the new page entry. </a:t>
            </a:r>
            <a:endParaRPr lang="en-US" dirty="0" smtClean="0"/>
          </a:p>
          <a:p>
            <a:r>
              <a:rPr lang="en-US" dirty="0" smtClean="0"/>
              <a:t>When </a:t>
            </a:r>
            <a:r>
              <a:rPr lang="en-US" dirty="0"/>
              <a:t>an address is searched in the TLB and not found, the physical memory must be searched with a memory page crawl operation. As virtual memory addresses are translated, values referenced are added to TLB.</a:t>
            </a:r>
          </a:p>
          <a:p>
            <a:endParaRPr lang="en-US" dirty="0"/>
          </a:p>
          <a:p>
            <a:endParaRPr lang="en-US" dirty="0"/>
          </a:p>
        </p:txBody>
      </p:sp>
    </p:spTree>
    <p:extLst>
      <p:ext uri="{BB962C8B-B14F-4D97-AF65-F5344CB8AC3E}">
        <p14:creationId xmlns:p14="http://schemas.microsoft.com/office/powerpoint/2010/main" val="28005402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Translation look-aside buffer (TLB)</a:t>
            </a:r>
            <a:endParaRPr lang="en-US" dirty="0"/>
          </a:p>
        </p:txBody>
      </p:sp>
      <p:pic>
        <p:nvPicPr>
          <p:cNvPr id="4" name="image55.jpeg" descr="Image result for tlb in os">
            <a:extLst>
              <a:ext uri="{FF2B5EF4-FFF2-40B4-BE49-F238E27FC236}">
                <a16:creationId xmlns:a16="http://schemas.microsoft.com/office/drawing/2014/main" xmlns="" id="{0B5CEC6B-1AB2-1B1A-A676-7D52801EA2E1}"/>
              </a:ext>
            </a:extLst>
          </p:cNvPr>
          <p:cNvPicPr>
            <a:picLocks noGrp="1" noChangeAspect="1"/>
          </p:cNvPicPr>
          <p:nvPr>
            <p:ph idx="1"/>
          </p:nvPr>
        </p:nvPicPr>
        <p:blipFill>
          <a:blip r:embed="rId2" cstate="print"/>
          <a:stretch>
            <a:fillRect/>
          </a:stretch>
        </p:blipFill>
        <p:spPr>
          <a:xfrm>
            <a:off x="1002322" y="1098063"/>
            <a:ext cx="8651631" cy="5029200"/>
          </a:xfrm>
          <a:prstGeom prst="rect">
            <a:avLst/>
          </a:prstGeom>
        </p:spPr>
      </p:pic>
    </p:spTree>
    <p:extLst>
      <p:ext uri="{BB962C8B-B14F-4D97-AF65-F5344CB8AC3E}">
        <p14:creationId xmlns:p14="http://schemas.microsoft.com/office/powerpoint/2010/main" val="1396291726"/>
      </p:ext>
    </p:extLst>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Mapping from virtual address to physical address  using TLB</a:t>
            </a:r>
            <a:endParaRPr lang="en-US" dirty="0"/>
          </a:p>
        </p:txBody>
      </p:sp>
      <p:graphicFrame>
        <p:nvGraphicFramePr>
          <p:cNvPr id="4" name="Content Placeholder 12"/>
          <p:cNvGraphicFramePr/>
          <p:nvPr>
            <p:extLst>
              <p:ext uri="{D42A27DB-BD31-4B8C-83A1-F6EECF244321}">
                <p14:modId xmlns:p14="http://schemas.microsoft.com/office/powerpoint/2010/main" val="967231734"/>
              </p:ext>
            </p:extLst>
          </p:nvPr>
        </p:nvGraphicFramePr>
        <p:xfrm>
          <a:off x="4316410" y="4800600"/>
          <a:ext cx="1524000" cy="1478280"/>
        </p:xfrm>
        <a:graphic>
          <a:graphicData uri="http://schemas.openxmlformats.org/drawingml/2006/table">
            <a:tbl>
              <a:tblPr firstRow="1" bandRow="1">
                <a:tableStyleId>{93296810-A885-4BE3-A3E7-6D5BEEA58F35}</a:tableStyleId>
              </a:tblPr>
              <a:tblGrid>
                <a:gridCol w="685800">
                  <a:extLst>
                    <a:ext uri="{9D8B030D-6E8A-4147-A177-3AD203B41FA5}">
                      <a16:colId xmlns:a16="http://schemas.microsoft.com/office/drawing/2014/main" xmlns="" val="20000"/>
                    </a:ext>
                  </a:extLst>
                </a:gridCol>
                <a:gridCol w="838200">
                  <a:extLst>
                    <a:ext uri="{9D8B030D-6E8A-4147-A177-3AD203B41FA5}">
                      <a16:colId xmlns:a16="http://schemas.microsoft.com/office/drawing/2014/main" xmlns="" val="20001"/>
                    </a:ext>
                  </a:extLst>
                </a:gridCol>
              </a:tblGrid>
              <a:tr h="142240">
                <a:tc>
                  <a:txBody>
                    <a:bodyPr/>
                    <a:lstStyle/>
                    <a:p>
                      <a:r>
                        <a:rPr lang="en-US"/>
                        <a:t>Page</a:t>
                      </a:r>
                    </a:p>
                  </a:txBody>
                  <a:tcPr/>
                </a:tc>
                <a:tc>
                  <a:txBody>
                    <a:bodyPr/>
                    <a:lstStyle/>
                    <a:p>
                      <a:r>
                        <a:rPr lang="en-US"/>
                        <a:t>Frame</a:t>
                      </a:r>
                    </a:p>
                  </a:txBody>
                  <a:tcPr/>
                </a:tc>
                <a:extLst>
                  <a:ext uri="{0D108BD9-81ED-4DB2-BD59-A6C34878D82A}">
                    <a16:rowId xmlns:a16="http://schemas.microsoft.com/office/drawing/2014/main" xmlns="" val="10000"/>
                  </a:ext>
                </a:extLst>
              </a:tr>
              <a:tr h="370840">
                <a:tc>
                  <a:txBody>
                    <a:bodyPr/>
                    <a:lstStyle/>
                    <a:p>
                      <a:r>
                        <a:rPr lang="en-US"/>
                        <a:t>P1</a:t>
                      </a:r>
                    </a:p>
                  </a:txBody>
                  <a:tcPr/>
                </a:tc>
                <a:tc>
                  <a:txBody>
                    <a:bodyPr/>
                    <a:lstStyle/>
                    <a:p>
                      <a:r>
                        <a:rPr lang="en-US"/>
                        <a:t>F2</a:t>
                      </a:r>
                    </a:p>
                  </a:txBody>
                  <a:tcPr/>
                </a:tc>
                <a:extLst>
                  <a:ext uri="{0D108BD9-81ED-4DB2-BD59-A6C34878D82A}">
                    <a16:rowId xmlns:a16="http://schemas.microsoft.com/office/drawing/2014/main" xmlns="" val="10001"/>
                  </a:ext>
                </a:extLst>
              </a:tr>
              <a:tr h="370840">
                <a:tc>
                  <a:txBody>
                    <a:bodyPr/>
                    <a:lstStyle/>
                    <a:p>
                      <a:r>
                        <a:rPr lang="en-US"/>
                        <a:t>P2</a:t>
                      </a:r>
                    </a:p>
                  </a:txBody>
                  <a:tcPr/>
                </a:tc>
                <a:tc>
                  <a:txBody>
                    <a:bodyPr/>
                    <a:lstStyle/>
                    <a:p>
                      <a:r>
                        <a:rPr lang="en-US"/>
                        <a:t>F3</a:t>
                      </a:r>
                    </a:p>
                  </a:txBody>
                  <a:tcPr/>
                </a:tc>
                <a:extLst>
                  <a:ext uri="{0D108BD9-81ED-4DB2-BD59-A6C34878D82A}">
                    <a16:rowId xmlns:a16="http://schemas.microsoft.com/office/drawing/2014/main" xmlns="" val="10002"/>
                  </a:ext>
                </a:extLst>
              </a:tr>
              <a:tr h="370840">
                <a:tc>
                  <a:txBody>
                    <a:bodyPr/>
                    <a:lstStyle/>
                    <a:p>
                      <a:r>
                        <a:rPr lang="en-US"/>
                        <a:t>P3</a:t>
                      </a:r>
                    </a:p>
                  </a:txBody>
                  <a:tcPr/>
                </a:tc>
                <a:tc>
                  <a:txBody>
                    <a:bodyPr/>
                    <a:lstStyle/>
                    <a:p>
                      <a:r>
                        <a:rPr lang="en-US"/>
                        <a:t>F1</a:t>
                      </a:r>
                    </a:p>
                  </a:txBody>
                  <a:tcPr/>
                </a:tc>
                <a:extLst>
                  <a:ext uri="{0D108BD9-81ED-4DB2-BD59-A6C34878D82A}">
                    <a16:rowId xmlns:a16="http://schemas.microsoft.com/office/drawing/2014/main" xmlns="" val="10003"/>
                  </a:ext>
                </a:extLst>
              </a:tr>
            </a:tbl>
          </a:graphicData>
        </a:graphic>
      </p:graphicFrame>
      <p:sp>
        <p:nvSpPr>
          <p:cNvPr id="5" name="Rectangle 4"/>
          <p:cNvSpPr/>
          <p:nvPr/>
        </p:nvSpPr>
        <p:spPr>
          <a:xfrm>
            <a:off x="1357318" y="3004066"/>
            <a:ext cx="1143000" cy="533400"/>
          </a:xfrm>
          <a:prstGeom prst="rect">
            <a:avLst/>
          </a:prstGeom>
          <a:solidFill>
            <a:srgbClr val="2489CE"/>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CPU</a:t>
            </a:r>
          </a:p>
        </p:txBody>
      </p:sp>
      <p:cxnSp>
        <p:nvCxnSpPr>
          <p:cNvPr id="6" name="Elbow Connector 5"/>
          <p:cNvCxnSpPr>
            <a:stCxn id="5" idx="0"/>
          </p:cNvCxnSpPr>
          <p:nvPr/>
        </p:nvCxnSpPr>
        <p:spPr>
          <a:xfrm rot="5400000" flipH="1" flipV="1">
            <a:off x="1833568" y="1956316"/>
            <a:ext cx="1143000" cy="952500"/>
          </a:xfrm>
          <a:prstGeom prst="bentConnector3">
            <a:avLst>
              <a:gd name="adj1" fmla="val 100000"/>
            </a:avLst>
          </a:prstGeom>
          <a:ln w="38100">
            <a:solidFill>
              <a:schemeClr val="tx2"/>
            </a:solidFill>
            <a:tailEnd type="triangle"/>
          </a:ln>
        </p:spPr>
        <p:style>
          <a:lnRef idx="3">
            <a:schemeClr val="accent1"/>
          </a:lnRef>
          <a:fillRef idx="0">
            <a:schemeClr val="accent1"/>
          </a:fillRef>
          <a:effectRef idx="2">
            <a:schemeClr val="accent1"/>
          </a:effectRef>
          <a:fontRef idx="minor">
            <a:schemeClr val="tx1"/>
          </a:fontRef>
        </p:style>
      </p:cxnSp>
      <p:sp>
        <p:nvSpPr>
          <p:cNvPr id="7" name="Rectangle 6"/>
          <p:cNvSpPr/>
          <p:nvPr/>
        </p:nvSpPr>
        <p:spPr>
          <a:xfrm>
            <a:off x="2881318" y="1556801"/>
            <a:ext cx="838200" cy="609600"/>
          </a:xfrm>
          <a:prstGeom prst="rect">
            <a:avLst/>
          </a:prstGeom>
          <a:solidFill>
            <a:srgbClr val="2489CE"/>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a:t>
            </a:r>
          </a:p>
        </p:txBody>
      </p:sp>
      <p:sp>
        <p:nvSpPr>
          <p:cNvPr id="8" name="Rectangle 7"/>
          <p:cNvSpPr/>
          <p:nvPr/>
        </p:nvSpPr>
        <p:spPr>
          <a:xfrm>
            <a:off x="3719518" y="1556801"/>
            <a:ext cx="838200" cy="609600"/>
          </a:xfrm>
          <a:prstGeom prst="rect">
            <a:avLst/>
          </a:prstGeom>
          <a:solidFill>
            <a:srgbClr val="2489CE"/>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D</a:t>
            </a:r>
          </a:p>
        </p:txBody>
      </p:sp>
      <p:sp>
        <p:nvSpPr>
          <p:cNvPr id="9" name="TextBox 8"/>
          <p:cNvSpPr txBox="1"/>
          <p:nvPr/>
        </p:nvSpPr>
        <p:spPr>
          <a:xfrm>
            <a:off x="2424118" y="1176453"/>
            <a:ext cx="1714500" cy="369332"/>
          </a:xfrm>
          <a:prstGeom prst="rect">
            <a:avLst/>
          </a:prstGeom>
          <a:noFill/>
        </p:spPr>
        <p:txBody>
          <a:bodyPr wrap="square" rtlCol="0">
            <a:spAutoFit/>
          </a:bodyPr>
          <a:lstStyle/>
          <a:p>
            <a:pPr algn="r"/>
            <a:r>
              <a:rPr lang="en-US"/>
              <a:t>Logical Address</a:t>
            </a:r>
          </a:p>
        </p:txBody>
      </p:sp>
      <p:sp>
        <p:nvSpPr>
          <p:cNvPr id="10" name="Rectangle 9"/>
          <p:cNvSpPr/>
          <p:nvPr/>
        </p:nvSpPr>
        <p:spPr>
          <a:xfrm>
            <a:off x="8062918" y="2432566"/>
            <a:ext cx="1143000" cy="2590800"/>
          </a:xfrm>
          <a:prstGeom prst="rect">
            <a:avLst/>
          </a:prstGeom>
          <a:solidFill>
            <a:srgbClr val="2489CE"/>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Memory</a:t>
            </a:r>
          </a:p>
        </p:txBody>
      </p:sp>
      <p:sp>
        <p:nvSpPr>
          <p:cNvPr id="11" name="Rectangle 10"/>
          <p:cNvSpPr/>
          <p:nvPr/>
        </p:nvSpPr>
        <p:spPr>
          <a:xfrm>
            <a:off x="5853119" y="1559182"/>
            <a:ext cx="838200" cy="609600"/>
          </a:xfrm>
          <a:prstGeom prst="rect">
            <a:avLst/>
          </a:prstGeom>
          <a:solidFill>
            <a:srgbClr val="2489CE"/>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F3</a:t>
            </a:r>
          </a:p>
        </p:txBody>
      </p:sp>
      <p:sp>
        <p:nvSpPr>
          <p:cNvPr id="12" name="Rectangle 11"/>
          <p:cNvSpPr/>
          <p:nvPr/>
        </p:nvSpPr>
        <p:spPr>
          <a:xfrm>
            <a:off x="6691318" y="1559182"/>
            <a:ext cx="838200" cy="609600"/>
          </a:xfrm>
          <a:prstGeom prst="rect">
            <a:avLst/>
          </a:prstGeom>
          <a:solidFill>
            <a:srgbClr val="2489CE"/>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D</a:t>
            </a:r>
          </a:p>
        </p:txBody>
      </p:sp>
      <p:cxnSp>
        <p:nvCxnSpPr>
          <p:cNvPr id="13" name="Straight Connector 12"/>
          <p:cNvCxnSpPr/>
          <p:nvPr/>
        </p:nvCxnSpPr>
        <p:spPr>
          <a:xfrm flipH="1" flipV="1">
            <a:off x="4138618" y="1133476"/>
            <a:ext cx="0" cy="413266"/>
          </a:xfrm>
          <a:prstGeom prst="line">
            <a:avLst/>
          </a:prstGeom>
          <a:ln w="38100">
            <a:solidFill>
              <a:schemeClr val="tx2"/>
            </a:solidFill>
          </a:ln>
        </p:spPr>
        <p:style>
          <a:lnRef idx="3">
            <a:schemeClr val="accent1"/>
          </a:lnRef>
          <a:fillRef idx="0">
            <a:schemeClr val="accent1"/>
          </a:fillRef>
          <a:effectRef idx="2">
            <a:schemeClr val="accent1"/>
          </a:effectRef>
          <a:fontRef idx="minor">
            <a:schemeClr val="tx1"/>
          </a:fontRef>
        </p:style>
      </p:cxnSp>
      <p:cxnSp>
        <p:nvCxnSpPr>
          <p:cNvPr id="14" name="Elbow Connector 13"/>
          <p:cNvCxnSpPr/>
          <p:nvPr/>
        </p:nvCxnSpPr>
        <p:spPr>
          <a:xfrm>
            <a:off x="4138618" y="1143000"/>
            <a:ext cx="3086100" cy="413266"/>
          </a:xfrm>
          <a:prstGeom prst="bentConnector3">
            <a:avLst>
              <a:gd name="adj1" fmla="val 99621"/>
            </a:avLst>
          </a:prstGeom>
          <a:ln w="38100">
            <a:solidFill>
              <a:schemeClr val="tx2"/>
            </a:solidFill>
            <a:tailEnd type="triangle"/>
          </a:ln>
        </p:spPr>
        <p:style>
          <a:lnRef idx="3">
            <a:schemeClr val="accent1"/>
          </a:lnRef>
          <a:fillRef idx="0">
            <a:schemeClr val="accent1"/>
          </a:fillRef>
          <a:effectRef idx="2">
            <a:schemeClr val="accent1"/>
          </a:effectRef>
          <a:fontRef idx="minor">
            <a:schemeClr val="tx1"/>
          </a:fontRef>
        </p:style>
      </p:cxnSp>
      <p:cxnSp>
        <p:nvCxnSpPr>
          <p:cNvPr id="15" name="Elbow Connector 14"/>
          <p:cNvCxnSpPr/>
          <p:nvPr/>
        </p:nvCxnSpPr>
        <p:spPr>
          <a:xfrm rot="16200000" flipH="1">
            <a:off x="3048529" y="2532589"/>
            <a:ext cx="1627726" cy="895349"/>
          </a:xfrm>
          <a:prstGeom prst="bentConnector3">
            <a:avLst>
              <a:gd name="adj1" fmla="val 100179"/>
            </a:avLst>
          </a:prstGeom>
          <a:ln w="38100">
            <a:solidFill>
              <a:schemeClr val="tx2"/>
            </a:solidFill>
            <a:tailEnd type="triangle"/>
          </a:ln>
        </p:spPr>
        <p:style>
          <a:lnRef idx="3">
            <a:schemeClr val="accent1"/>
          </a:lnRef>
          <a:fillRef idx="0">
            <a:schemeClr val="accent1"/>
          </a:fillRef>
          <a:effectRef idx="2">
            <a:schemeClr val="accent1"/>
          </a:effectRef>
          <a:fontRef idx="minor">
            <a:schemeClr val="tx1"/>
          </a:fontRef>
        </p:style>
      </p:cxnSp>
      <p:sp>
        <p:nvSpPr>
          <p:cNvPr id="16" name="TextBox 15"/>
          <p:cNvSpPr txBox="1"/>
          <p:nvPr/>
        </p:nvSpPr>
        <p:spPr>
          <a:xfrm>
            <a:off x="7529518" y="1481770"/>
            <a:ext cx="1843082" cy="369332"/>
          </a:xfrm>
          <a:prstGeom prst="rect">
            <a:avLst/>
          </a:prstGeom>
          <a:noFill/>
        </p:spPr>
        <p:txBody>
          <a:bodyPr wrap="square" rtlCol="0">
            <a:spAutoFit/>
          </a:bodyPr>
          <a:lstStyle/>
          <a:p>
            <a:pPr algn="r"/>
            <a:r>
              <a:rPr lang="en-US"/>
              <a:t>Physical Address</a:t>
            </a:r>
          </a:p>
        </p:txBody>
      </p:sp>
      <p:cxnSp>
        <p:nvCxnSpPr>
          <p:cNvPr id="17" name="Elbow Connector 16"/>
          <p:cNvCxnSpPr>
            <a:stCxn id="12" idx="3"/>
            <a:endCxn id="10" idx="0"/>
          </p:cNvCxnSpPr>
          <p:nvPr/>
        </p:nvCxnSpPr>
        <p:spPr>
          <a:xfrm>
            <a:off x="7529518" y="1863982"/>
            <a:ext cx="1104900" cy="568584"/>
          </a:xfrm>
          <a:prstGeom prst="bentConnector2">
            <a:avLst/>
          </a:prstGeom>
          <a:ln w="38100">
            <a:solidFill>
              <a:schemeClr val="tx2"/>
            </a:solidFill>
            <a:tailEnd type="triangle"/>
          </a:ln>
        </p:spPr>
        <p:style>
          <a:lnRef idx="3">
            <a:schemeClr val="accent1"/>
          </a:lnRef>
          <a:fillRef idx="0">
            <a:schemeClr val="accent1"/>
          </a:fillRef>
          <a:effectRef idx="2">
            <a:schemeClr val="accent1"/>
          </a:effectRef>
          <a:fontRef idx="minor">
            <a:schemeClr val="tx1"/>
          </a:fontRef>
        </p:style>
      </p:cxnSp>
      <p:cxnSp>
        <p:nvCxnSpPr>
          <p:cNvPr id="18" name="Elbow Connector 17"/>
          <p:cNvCxnSpPr/>
          <p:nvPr/>
        </p:nvCxnSpPr>
        <p:spPr>
          <a:xfrm rot="5400000" flipH="1" flipV="1">
            <a:off x="4134061" y="3885460"/>
            <a:ext cx="3942303" cy="504185"/>
          </a:xfrm>
          <a:prstGeom prst="bentConnector3">
            <a:avLst>
              <a:gd name="adj1" fmla="val 132"/>
            </a:avLst>
          </a:prstGeom>
          <a:ln w="38100">
            <a:solidFill>
              <a:schemeClr val="tx2"/>
            </a:solidFill>
            <a:tailEnd type="triangle"/>
          </a:ln>
        </p:spPr>
        <p:style>
          <a:lnRef idx="3">
            <a:schemeClr val="accent1"/>
          </a:lnRef>
          <a:fillRef idx="0">
            <a:schemeClr val="accent1"/>
          </a:fillRef>
          <a:effectRef idx="2">
            <a:schemeClr val="accent1"/>
          </a:effectRef>
          <a:fontRef idx="minor">
            <a:schemeClr val="tx1"/>
          </a:fontRef>
        </p:style>
      </p:cxnSp>
      <p:sp>
        <p:nvSpPr>
          <p:cNvPr id="19" name="TextBox 18"/>
          <p:cNvSpPr txBox="1"/>
          <p:nvPr/>
        </p:nvSpPr>
        <p:spPr>
          <a:xfrm>
            <a:off x="3357568" y="2175390"/>
            <a:ext cx="457200" cy="369332"/>
          </a:xfrm>
          <a:prstGeom prst="rect">
            <a:avLst/>
          </a:prstGeom>
          <a:noFill/>
        </p:spPr>
        <p:txBody>
          <a:bodyPr wrap="square" rtlCol="0">
            <a:spAutoFit/>
          </a:bodyPr>
          <a:lstStyle/>
          <a:p>
            <a:r>
              <a:rPr lang="en-US"/>
              <a:t>P2</a:t>
            </a:r>
          </a:p>
        </p:txBody>
      </p:sp>
      <p:sp>
        <p:nvSpPr>
          <p:cNvPr id="20" name="TextBox 19"/>
          <p:cNvSpPr txBox="1"/>
          <p:nvPr/>
        </p:nvSpPr>
        <p:spPr>
          <a:xfrm>
            <a:off x="4438330" y="4431082"/>
            <a:ext cx="1280160" cy="369332"/>
          </a:xfrm>
          <a:prstGeom prst="rect">
            <a:avLst/>
          </a:prstGeom>
          <a:noFill/>
        </p:spPr>
        <p:txBody>
          <a:bodyPr wrap="square" rtlCol="0">
            <a:spAutoFit/>
          </a:bodyPr>
          <a:lstStyle/>
          <a:p>
            <a:pPr algn="ctr"/>
            <a:r>
              <a:rPr lang="en-US"/>
              <a:t>Page Table</a:t>
            </a:r>
          </a:p>
        </p:txBody>
      </p:sp>
      <p:graphicFrame>
        <p:nvGraphicFramePr>
          <p:cNvPr id="26" name="Content Placeholder 12"/>
          <p:cNvGraphicFramePr/>
          <p:nvPr>
            <p:extLst>
              <p:ext uri="{D42A27DB-BD31-4B8C-83A1-F6EECF244321}">
                <p14:modId xmlns:p14="http://schemas.microsoft.com/office/powerpoint/2010/main" val="1057690669"/>
              </p:ext>
            </p:extLst>
          </p:nvPr>
        </p:nvGraphicFramePr>
        <p:xfrm>
          <a:off x="4310069" y="2862088"/>
          <a:ext cx="1524000" cy="1478280"/>
        </p:xfrm>
        <a:graphic>
          <a:graphicData uri="http://schemas.openxmlformats.org/drawingml/2006/table">
            <a:tbl>
              <a:tblPr firstRow="1" bandRow="1">
                <a:tableStyleId>{93296810-A885-4BE3-A3E7-6D5BEEA58F35}</a:tableStyleId>
              </a:tblPr>
              <a:tblGrid>
                <a:gridCol w="685800">
                  <a:extLst>
                    <a:ext uri="{9D8B030D-6E8A-4147-A177-3AD203B41FA5}">
                      <a16:colId xmlns:a16="http://schemas.microsoft.com/office/drawing/2014/main" xmlns="" val="20000"/>
                    </a:ext>
                  </a:extLst>
                </a:gridCol>
                <a:gridCol w="838200">
                  <a:extLst>
                    <a:ext uri="{9D8B030D-6E8A-4147-A177-3AD203B41FA5}">
                      <a16:colId xmlns:a16="http://schemas.microsoft.com/office/drawing/2014/main" xmlns="" val="20001"/>
                    </a:ext>
                  </a:extLst>
                </a:gridCol>
              </a:tblGrid>
              <a:tr h="142240">
                <a:tc>
                  <a:txBody>
                    <a:bodyPr/>
                    <a:lstStyle/>
                    <a:p>
                      <a:r>
                        <a:rPr lang="en-US"/>
                        <a:t>Page</a:t>
                      </a:r>
                    </a:p>
                  </a:txBody>
                  <a:tcPr/>
                </a:tc>
                <a:tc>
                  <a:txBody>
                    <a:bodyPr/>
                    <a:lstStyle/>
                    <a:p>
                      <a:r>
                        <a:rPr lang="en-US"/>
                        <a:t>Frame</a:t>
                      </a:r>
                    </a:p>
                  </a:txBody>
                  <a:tcPr/>
                </a:tc>
                <a:extLst>
                  <a:ext uri="{0D108BD9-81ED-4DB2-BD59-A6C34878D82A}">
                    <a16:rowId xmlns:a16="http://schemas.microsoft.com/office/drawing/2014/main" xmlns="" val="10000"/>
                  </a:ext>
                </a:extLst>
              </a:tr>
              <a:tr h="370840">
                <a:tc>
                  <a:txBody>
                    <a:bodyPr/>
                    <a:lstStyle/>
                    <a:p>
                      <a:r>
                        <a:rPr lang="en-US"/>
                        <a:t>P1</a:t>
                      </a:r>
                    </a:p>
                  </a:txBody>
                  <a:tcPr/>
                </a:tc>
                <a:tc>
                  <a:txBody>
                    <a:bodyPr/>
                    <a:lstStyle/>
                    <a:p>
                      <a:r>
                        <a:rPr lang="en-US"/>
                        <a:t>F2</a:t>
                      </a:r>
                    </a:p>
                  </a:txBody>
                  <a:tcPr/>
                </a:tc>
                <a:extLst>
                  <a:ext uri="{0D108BD9-81ED-4DB2-BD59-A6C34878D82A}">
                    <a16:rowId xmlns:a16="http://schemas.microsoft.com/office/drawing/2014/main" xmlns="" val="10001"/>
                  </a:ext>
                </a:extLst>
              </a:tr>
              <a:tr h="370840">
                <a:tc>
                  <a:txBody>
                    <a:bodyPr/>
                    <a:lstStyle/>
                    <a:p>
                      <a:r>
                        <a:rPr lang="en-US"/>
                        <a:t>P2</a:t>
                      </a:r>
                    </a:p>
                  </a:txBody>
                  <a:tcPr/>
                </a:tc>
                <a:tc>
                  <a:txBody>
                    <a:bodyPr/>
                    <a:lstStyle/>
                    <a:p>
                      <a:r>
                        <a:rPr lang="en-US"/>
                        <a:t>F3</a:t>
                      </a:r>
                    </a:p>
                  </a:txBody>
                  <a:tcPr/>
                </a:tc>
                <a:extLst>
                  <a:ext uri="{0D108BD9-81ED-4DB2-BD59-A6C34878D82A}">
                    <a16:rowId xmlns:a16="http://schemas.microsoft.com/office/drawing/2014/main" xmlns="" val="10002"/>
                  </a:ext>
                </a:extLst>
              </a:tr>
              <a:tr h="370840">
                <a:tc>
                  <a:txBody>
                    <a:bodyPr/>
                    <a:lstStyle/>
                    <a:p>
                      <a:endParaRPr lang="en-US"/>
                    </a:p>
                  </a:txBody>
                  <a:tcPr/>
                </a:tc>
                <a:tc>
                  <a:txBody>
                    <a:bodyPr/>
                    <a:lstStyle/>
                    <a:p>
                      <a:endParaRPr lang="en-US"/>
                    </a:p>
                  </a:txBody>
                  <a:tcPr/>
                </a:tc>
                <a:extLst>
                  <a:ext uri="{0D108BD9-81ED-4DB2-BD59-A6C34878D82A}">
                    <a16:rowId xmlns:a16="http://schemas.microsoft.com/office/drawing/2014/main" xmlns="" val="10003"/>
                  </a:ext>
                </a:extLst>
              </a:tr>
            </a:tbl>
          </a:graphicData>
        </a:graphic>
      </p:graphicFrame>
      <p:sp>
        <p:nvSpPr>
          <p:cNvPr id="27" name="TextBox 26"/>
          <p:cNvSpPr txBox="1"/>
          <p:nvPr/>
        </p:nvSpPr>
        <p:spPr>
          <a:xfrm>
            <a:off x="4431989" y="2492570"/>
            <a:ext cx="1280160" cy="369332"/>
          </a:xfrm>
          <a:prstGeom prst="rect">
            <a:avLst/>
          </a:prstGeom>
          <a:noFill/>
        </p:spPr>
        <p:txBody>
          <a:bodyPr wrap="square" rtlCol="0">
            <a:spAutoFit/>
          </a:bodyPr>
          <a:lstStyle/>
          <a:p>
            <a:pPr algn="ctr"/>
            <a:r>
              <a:rPr lang="en-US"/>
              <a:t>TLB</a:t>
            </a:r>
          </a:p>
        </p:txBody>
      </p:sp>
      <p:cxnSp>
        <p:nvCxnSpPr>
          <p:cNvPr id="38" name="Elbow Connector 37"/>
          <p:cNvCxnSpPr/>
          <p:nvPr/>
        </p:nvCxnSpPr>
        <p:spPr>
          <a:xfrm rot="16200000" flipH="1">
            <a:off x="1824567" y="3623202"/>
            <a:ext cx="3942303" cy="1028698"/>
          </a:xfrm>
          <a:prstGeom prst="bentConnector3">
            <a:avLst>
              <a:gd name="adj1" fmla="val 99933"/>
            </a:avLst>
          </a:prstGeom>
          <a:ln w="38100">
            <a:solidFill>
              <a:schemeClr val="tx2"/>
            </a:solidFill>
            <a:tailEnd type="triangle"/>
          </a:ln>
        </p:spPr>
        <p:style>
          <a:lnRef idx="3">
            <a:schemeClr val="accent1"/>
          </a:lnRef>
          <a:fillRef idx="0">
            <a:schemeClr val="accent1"/>
          </a:fillRef>
          <a:effectRef idx="2">
            <a:schemeClr val="accent1"/>
          </a:effectRef>
          <a:fontRef idx="minor">
            <a:schemeClr val="tx1"/>
          </a:fontRef>
        </p:style>
      </p:cxnSp>
      <p:sp>
        <p:nvSpPr>
          <p:cNvPr id="39" name="TextBox 38"/>
          <p:cNvSpPr txBox="1"/>
          <p:nvPr/>
        </p:nvSpPr>
        <p:spPr>
          <a:xfrm>
            <a:off x="2906720" y="2175389"/>
            <a:ext cx="457200" cy="369332"/>
          </a:xfrm>
          <a:prstGeom prst="rect">
            <a:avLst/>
          </a:prstGeom>
          <a:noFill/>
        </p:spPr>
        <p:txBody>
          <a:bodyPr wrap="square" rtlCol="0">
            <a:spAutoFit/>
          </a:bodyPr>
          <a:lstStyle/>
          <a:p>
            <a:r>
              <a:rPr lang="en-US"/>
              <a:t>P3</a:t>
            </a:r>
          </a:p>
        </p:txBody>
      </p:sp>
      <p:cxnSp>
        <p:nvCxnSpPr>
          <p:cNvPr id="43" name="Elbow Connector 42"/>
          <p:cNvCxnSpPr/>
          <p:nvPr/>
        </p:nvCxnSpPr>
        <p:spPr>
          <a:xfrm rot="5400000" flipH="1" flipV="1">
            <a:off x="5213296" y="2796163"/>
            <a:ext cx="1618738" cy="377191"/>
          </a:xfrm>
          <a:prstGeom prst="bentConnector3">
            <a:avLst>
              <a:gd name="adj1" fmla="val 1043"/>
            </a:avLst>
          </a:prstGeom>
          <a:ln w="38100">
            <a:solidFill>
              <a:schemeClr val="tx2"/>
            </a:solidFill>
            <a:tailEnd type="triangle"/>
          </a:ln>
        </p:spPr>
        <p:style>
          <a:lnRef idx="3">
            <a:schemeClr val="accent1"/>
          </a:lnRef>
          <a:fillRef idx="0">
            <a:schemeClr val="accent1"/>
          </a:fillRef>
          <a:effectRef idx="2">
            <a:schemeClr val="accent1"/>
          </a:effectRef>
          <a:fontRef idx="minor">
            <a:schemeClr val="tx1"/>
          </a:fontRef>
        </p:style>
      </p:cxnSp>
      <p:sp>
        <p:nvSpPr>
          <p:cNvPr id="54" name="Rectangle 53"/>
          <p:cNvSpPr/>
          <p:nvPr/>
        </p:nvSpPr>
        <p:spPr>
          <a:xfrm>
            <a:off x="5853119" y="1559182"/>
            <a:ext cx="838200" cy="609600"/>
          </a:xfrm>
          <a:prstGeom prst="rect">
            <a:avLst/>
          </a:prstGeom>
          <a:solidFill>
            <a:srgbClr val="2489CE"/>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F1</a:t>
            </a:r>
          </a:p>
        </p:txBody>
      </p:sp>
      <p:sp>
        <p:nvSpPr>
          <p:cNvPr id="55" name="Rounded Rectangular Callout 54"/>
          <p:cNvSpPr/>
          <p:nvPr/>
        </p:nvSpPr>
        <p:spPr>
          <a:xfrm>
            <a:off x="6700659" y="3113408"/>
            <a:ext cx="1250769" cy="653534"/>
          </a:xfrm>
          <a:prstGeom prst="wedgeRoundRectCallout">
            <a:avLst>
              <a:gd name="adj1" fmla="val -116662"/>
              <a:gd name="adj2" fmla="val 82975"/>
              <a:gd name="adj3" fmla="val 16667"/>
            </a:avLst>
          </a:prstGeom>
          <a:solidFill>
            <a:schemeClr val="accent6">
              <a:lumMod val="20000"/>
              <a:lumOff val="80000"/>
            </a:schemeClr>
          </a:solidFill>
          <a:ln>
            <a:solidFill>
              <a:schemeClr val="accent6">
                <a:lumMod val="60000"/>
                <a:lumOff val="4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t>Hardware</a:t>
            </a:r>
          </a:p>
        </p:txBody>
      </p:sp>
      <p:sp>
        <p:nvSpPr>
          <p:cNvPr id="56" name="Rounded Rectangular Callout 55"/>
          <p:cNvSpPr/>
          <p:nvPr/>
        </p:nvSpPr>
        <p:spPr>
          <a:xfrm>
            <a:off x="6589168" y="5023366"/>
            <a:ext cx="1669870" cy="653534"/>
          </a:xfrm>
          <a:prstGeom prst="wedgeRoundRectCallout">
            <a:avLst>
              <a:gd name="adj1" fmla="val -93279"/>
              <a:gd name="adj2" fmla="val 82975"/>
              <a:gd name="adj3" fmla="val 16667"/>
            </a:avLst>
          </a:prstGeom>
          <a:solidFill>
            <a:schemeClr val="accent6">
              <a:lumMod val="20000"/>
              <a:lumOff val="80000"/>
            </a:schemeClr>
          </a:solidFill>
          <a:ln>
            <a:solidFill>
              <a:schemeClr val="accent6">
                <a:lumMod val="60000"/>
                <a:lumOff val="4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t>Data Structure</a:t>
            </a:r>
          </a:p>
          <a:p>
            <a:pPr algn="ctr"/>
            <a:r>
              <a:rPr lang="en-US"/>
              <a:t>Inside kernel</a:t>
            </a:r>
          </a:p>
        </p:txBody>
      </p:sp>
    </p:spTree>
    <p:extLst>
      <p:ext uri="{BB962C8B-B14F-4D97-AF65-F5344CB8AC3E}">
        <p14:creationId xmlns:p14="http://schemas.microsoft.com/office/powerpoint/2010/main" val="382921221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childTnLst>
                          </p:cTn>
                        </p:par>
                      </p:childTnLst>
                    </p:cTn>
                  </p:par>
                  <p:par>
                    <p:cTn id="11" fill="hold" nodeType="clickPar">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5"/>
                                        </p:tgtEl>
                                        <p:attrNameLst>
                                          <p:attrName>style.visibility</p:attrName>
                                        </p:attrNameLst>
                                      </p:cBhvr>
                                      <p:to>
                                        <p:strVal val="visible"/>
                                      </p:to>
                                    </p:set>
                                    <p:animEffect transition="in" filter="fade">
                                      <p:cBhvr>
                                        <p:cTn id="15" dur="500"/>
                                        <p:tgtEl>
                                          <p:spTgt spid="5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6"/>
                                        </p:tgtEl>
                                        <p:attrNameLst>
                                          <p:attrName>style.visibility</p:attrName>
                                        </p:attrNameLst>
                                      </p:cBhvr>
                                      <p:to>
                                        <p:strVal val="visible"/>
                                      </p:to>
                                    </p:set>
                                    <p:animEffect transition="in" filter="fade">
                                      <p:cBhvr>
                                        <p:cTn id="18" dur="500"/>
                                        <p:tgtEl>
                                          <p:spTgt spid="56"/>
                                        </p:tgtEl>
                                      </p:cBhvr>
                                    </p:animEffect>
                                  </p:childTnLst>
                                </p:cTn>
                              </p:par>
                            </p:childTnLst>
                          </p:cTn>
                        </p:par>
                      </p:childTnLst>
                    </p:cTn>
                  </p:par>
                  <p:par>
                    <p:cTn id="19" fill="hold" nodeType="clickPar">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childTnLst>
                          </p:cTn>
                        </p:par>
                      </p:childTnLst>
                    </p:cTn>
                  </p:par>
                  <p:par>
                    <p:cTn id="24" fill="hold" nodeType="clickPar">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childTnLst>
                          </p:cTn>
                        </p:par>
                      </p:childTnLst>
                    </p:cTn>
                  </p:par>
                  <p:par>
                    <p:cTn id="29" fill="hold" nodeType="clickPar">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43"/>
                                        </p:tgtEl>
                                        <p:attrNameLst>
                                          <p:attrName>style.visibility</p:attrName>
                                        </p:attrNameLst>
                                      </p:cBhvr>
                                      <p:to>
                                        <p:strVal val="visible"/>
                                      </p:to>
                                    </p:set>
                                    <p:animEffect transition="in" filter="fade">
                                      <p:cBhvr>
                                        <p:cTn id="33" dur="500"/>
                                        <p:tgtEl>
                                          <p:spTgt spid="43"/>
                                        </p:tgtEl>
                                      </p:cBhvr>
                                    </p:animEffect>
                                  </p:childTnLst>
                                </p:cTn>
                              </p:par>
                            </p:childTnLst>
                          </p:cTn>
                        </p:par>
                      </p:childTnLst>
                    </p:cTn>
                  </p:par>
                  <p:par>
                    <p:cTn id="34" fill="hold" nodeType="clickPar">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childTnLst>
                          </p:cTn>
                        </p:par>
                      </p:childTnLst>
                    </p:cTn>
                  </p:par>
                  <p:par>
                    <p:cTn id="39" fill="hold" nodeType="clickPar">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500"/>
                                        <p:tgtEl>
                                          <p:spTgt spid="39"/>
                                        </p:tgtEl>
                                      </p:cBhvr>
                                    </p:animEffect>
                                  </p:childTnLst>
                                </p:cTn>
                              </p:par>
                            </p:childTnLst>
                          </p:cTn>
                        </p:par>
                      </p:childTnLst>
                    </p:cTn>
                  </p:par>
                  <p:par>
                    <p:cTn id="44" fill="hold" nodeType="clickPar">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8"/>
                                        </p:tgtEl>
                                        <p:attrNameLst>
                                          <p:attrName>style.visibility</p:attrName>
                                        </p:attrNameLst>
                                      </p:cBhvr>
                                      <p:to>
                                        <p:strVal val="visible"/>
                                      </p:to>
                                    </p:set>
                                    <p:animEffect transition="in" filter="fade">
                                      <p:cBhvr>
                                        <p:cTn id="48" dur="500"/>
                                        <p:tgtEl>
                                          <p:spTgt spid="38"/>
                                        </p:tgtEl>
                                      </p:cBhvr>
                                    </p:animEffect>
                                  </p:childTnLst>
                                </p:cTn>
                              </p:par>
                            </p:childTnLst>
                          </p:cTn>
                        </p:par>
                      </p:childTnLst>
                    </p:cTn>
                  </p:par>
                  <p:par>
                    <p:cTn id="49" fill="hold" nodeType="clickPar">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childTnLst>
                          </p:cTn>
                        </p:par>
                      </p:childTnLst>
                    </p:cTn>
                  </p:par>
                  <p:par>
                    <p:cTn id="54" fill="hold" nodeType="clickPar">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54"/>
                                        </p:tgtEl>
                                        <p:attrNameLst>
                                          <p:attrName>style.visibility</p:attrName>
                                        </p:attrNameLst>
                                      </p:cBhvr>
                                      <p:to>
                                        <p:strVal val="visible"/>
                                      </p:to>
                                    </p:set>
                                    <p:animEffect transition="in" filter="fade">
                                      <p:cBhvr>
                                        <p:cTn id="58"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p:bldP spid="27" grpId="0"/>
      <p:bldP spid="39" grpId="0"/>
      <p:bldP spid="54" grpId="0" animBg="1"/>
      <p:bldP spid="55" grpId="0" animBg="1"/>
      <p:bldP spid="5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Mapping from virtual address to physical address  using TLB</a:t>
            </a:r>
            <a:endParaRPr lang="en-US" dirty="0"/>
          </a:p>
        </p:txBody>
      </p:sp>
      <p:sp>
        <p:nvSpPr>
          <p:cNvPr id="3" name="Content Placeholder 2"/>
          <p:cNvSpPr>
            <a:spLocks noGrp="1"/>
          </p:cNvSpPr>
          <p:nvPr>
            <p:ph idx="1"/>
          </p:nvPr>
        </p:nvSpPr>
        <p:spPr/>
        <p:txBody>
          <a:bodyPr/>
          <a:lstStyle/>
          <a:p>
            <a:r>
              <a:rPr lang="en-US"/>
              <a:t>Steps in TLB hit:</a:t>
            </a:r>
          </a:p>
          <a:p>
            <a:pPr lvl="1"/>
            <a:r>
              <a:rPr lang="en-US"/>
              <a:t>CPU generates virtual address.</a:t>
            </a:r>
          </a:p>
          <a:p>
            <a:pPr lvl="1"/>
            <a:r>
              <a:rPr lang="en-US"/>
              <a:t>It is checked in TLB (present).</a:t>
            </a:r>
          </a:p>
          <a:p>
            <a:pPr lvl="1"/>
            <a:r>
              <a:rPr lang="en-US"/>
              <a:t>Corresponding frame number is retrieved, which now tells where in the main memory page lies.</a:t>
            </a:r>
          </a:p>
          <a:p>
            <a:endParaRPr lang="en-US"/>
          </a:p>
          <a:p>
            <a:r>
              <a:rPr lang="en-US"/>
              <a:t>Steps in Page miss:</a:t>
            </a:r>
          </a:p>
          <a:p>
            <a:pPr lvl="1"/>
            <a:r>
              <a:rPr lang="en-US"/>
              <a:t>CPU generates virtual address.</a:t>
            </a:r>
          </a:p>
          <a:p>
            <a:pPr lvl="1"/>
            <a:r>
              <a:rPr lang="en-US"/>
              <a:t>It is checked in TLB (not present).</a:t>
            </a:r>
          </a:p>
          <a:p>
            <a:pPr lvl="1"/>
            <a:r>
              <a:rPr lang="en-US"/>
              <a:t>Now the page number is matched to page table residing in main memory.</a:t>
            </a:r>
          </a:p>
          <a:p>
            <a:pPr lvl="1"/>
            <a:r>
              <a:rPr lang="en-US"/>
              <a:t>Corresponding frame number is retrieved, which now tells where in the main memory page lies.</a:t>
            </a:r>
          </a:p>
          <a:p>
            <a:pPr lvl="1"/>
            <a:r>
              <a:rPr lang="en-US"/>
              <a:t>The TLB is updated with new Page Table Entry (if space is not there, one of the replacement technique comes into picture i.e either FIFO, LRU or MFU etc).</a:t>
            </a:r>
          </a:p>
        </p:txBody>
      </p:sp>
    </p:spTree>
    <p:extLst>
      <p:ext uri="{BB962C8B-B14F-4D97-AF65-F5344CB8AC3E}">
        <p14:creationId xmlns:p14="http://schemas.microsoft.com/office/powerpoint/2010/main" val="255773655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nodeType="clickPar">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par>
                    <p:cTn id="48" fill="hold" nodeType="clickPar">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6FCAB93-E277-09A7-ACBB-9119351E94C5}"/>
              </a:ext>
            </a:extLst>
          </p:cNvPr>
          <p:cNvSpPr>
            <a:spLocks noGrp="1"/>
          </p:cNvSpPr>
          <p:nvPr>
            <p:ph type="title"/>
          </p:nvPr>
        </p:nvSpPr>
        <p:spPr/>
        <p:txBody>
          <a:bodyPr/>
          <a:lstStyle/>
          <a:p>
            <a:r>
              <a:rPr lang="en-US" dirty="0"/>
              <a:t>Thrashing</a:t>
            </a:r>
          </a:p>
        </p:txBody>
      </p:sp>
      <p:sp>
        <p:nvSpPr>
          <p:cNvPr id="3" name="Content Placeholder 2">
            <a:extLst>
              <a:ext uri="{FF2B5EF4-FFF2-40B4-BE49-F238E27FC236}">
                <a16:creationId xmlns:a16="http://schemas.microsoft.com/office/drawing/2014/main" xmlns="" id="{0D462634-EDEB-5827-FA06-07402410A0A2}"/>
              </a:ext>
            </a:extLst>
          </p:cNvPr>
          <p:cNvSpPr>
            <a:spLocks noGrp="1"/>
          </p:cNvSpPr>
          <p:nvPr>
            <p:ph idx="1"/>
          </p:nvPr>
        </p:nvSpPr>
        <p:spPr/>
        <p:txBody>
          <a:bodyPr/>
          <a:lstStyle/>
          <a:p>
            <a:r>
              <a:rPr lang="en-US" dirty="0"/>
              <a:t>Thrashing is term referred to a high paging activity. A process is thrashing if it is spending more of its time paging than actually executing.</a:t>
            </a:r>
          </a:p>
          <a:p>
            <a:r>
              <a:rPr lang="en-US" dirty="0"/>
              <a:t>Consider a process that currently needs some more frames. Currently all the frames are occupied. So it will have to swap with certain pages; however, since all the pages are actively being used, there would be need for an immediate page replacement after this. Such a scenario is called thrashing. It results in serious performance problems.</a:t>
            </a:r>
          </a:p>
          <a:p>
            <a:endParaRPr lang="en-US" dirty="0"/>
          </a:p>
          <a:p>
            <a:endParaRPr lang="en-US" dirty="0"/>
          </a:p>
          <a:p>
            <a:endParaRPr lang="en-US" dirty="0"/>
          </a:p>
        </p:txBody>
      </p:sp>
      <p:pic>
        <p:nvPicPr>
          <p:cNvPr id="4" name="image56.png" descr="enter image description here">
            <a:extLst>
              <a:ext uri="{FF2B5EF4-FFF2-40B4-BE49-F238E27FC236}">
                <a16:creationId xmlns:a16="http://schemas.microsoft.com/office/drawing/2014/main" xmlns="" id="{23BFD215-16BD-5B7E-7D36-2F19579867A6}"/>
              </a:ext>
            </a:extLst>
          </p:cNvPr>
          <p:cNvPicPr>
            <a:picLocks noChangeAspect="1"/>
          </p:cNvPicPr>
          <p:nvPr/>
        </p:nvPicPr>
        <p:blipFill>
          <a:blip r:embed="rId2" cstate="print"/>
          <a:stretch>
            <a:fillRect/>
          </a:stretch>
        </p:blipFill>
        <p:spPr>
          <a:xfrm>
            <a:off x="2988529" y="3305832"/>
            <a:ext cx="5469671" cy="2688724"/>
          </a:xfrm>
          <a:prstGeom prst="rect">
            <a:avLst/>
          </a:prstGeom>
        </p:spPr>
      </p:pic>
    </p:spTree>
    <p:extLst>
      <p:ext uri="{BB962C8B-B14F-4D97-AF65-F5344CB8AC3E}">
        <p14:creationId xmlns:p14="http://schemas.microsoft.com/office/powerpoint/2010/main" val="2901681116"/>
      </p:ext>
    </p:extLst>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85D381-B392-13E7-4CD2-B68DD12A8FB8}"/>
              </a:ext>
            </a:extLst>
          </p:cNvPr>
          <p:cNvSpPr>
            <a:spLocks noGrp="1"/>
          </p:cNvSpPr>
          <p:nvPr>
            <p:ph type="title"/>
          </p:nvPr>
        </p:nvSpPr>
        <p:spPr/>
        <p:txBody>
          <a:bodyPr/>
          <a:lstStyle/>
          <a:p>
            <a:r>
              <a:rPr lang="en-US" dirty="0"/>
              <a:t>Virtual Memory</a:t>
            </a:r>
          </a:p>
        </p:txBody>
      </p:sp>
      <p:sp>
        <p:nvSpPr>
          <p:cNvPr id="3" name="Content Placeholder 2">
            <a:extLst>
              <a:ext uri="{FF2B5EF4-FFF2-40B4-BE49-F238E27FC236}">
                <a16:creationId xmlns:a16="http://schemas.microsoft.com/office/drawing/2014/main" xmlns="" id="{46B0C1B2-B4A1-D567-3754-68538FA879F6}"/>
              </a:ext>
            </a:extLst>
          </p:cNvPr>
          <p:cNvSpPr>
            <a:spLocks noGrp="1"/>
          </p:cNvSpPr>
          <p:nvPr>
            <p:ph idx="1"/>
          </p:nvPr>
        </p:nvSpPr>
        <p:spPr>
          <a:xfrm>
            <a:off x="131181" y="863444"/>
            <a:ext cx="6940180" cy="5590565"/>
          </a:xfrm>
        </p:spPr>
        <p:txBody>
          <a:bodyPr/>
          <a:lstStyle/>
          <a:p>
            <a:r>
              <a:rPr lang="en-US" dirty="0"/>
              <a:t>A memory management technique that allows programs larger than physical memory to be executed is </a:t>
            </a:r>
            <a:r>
              <a:rPr lang="en-US" b="1" dirty="0"/>
              <a:t>Virtual Memory</a:t>
            </a:r>
            <a:r>
              <a:rPr lang="en-US" dirty="0"/>
              <a:t>.</a:t>
            </a:r>
          </a:p>
          <a:p>
            <a:r>
              <a:rPr lang="en-US" dirty="0"/>
              <a:t>A computer can address more memory than the amount physically installed on the system. This extra memory is actually called virtual memory.</a:t>
            </a:r>
          </a:p>
          <a:p>
            <a:r>
              <a:rPr lang="en-US" dirty="0"/>
              <a:t>The run time mapping from virtual address to physical address is done by hardware device called memory management unit (MMU).</a:t>
            </a:r>
          </a:p>
          <a:p>
            <a:r>
              <a:rPr lang="en-US" dirty="0"/>
              <a:t>Virtual Memory is a space where large programs can store themselves in form of pages while their execution and only the required pages or portions of processes are loaded into the main memory</a:t>
            </a:r>
          </a:p>
          <a:p>
            <a:endParaRPr lang="en-US" dirty="0"/>
          </a:p>
          <a:p>
            <a:endParaRPr lang="en-US" dirty="0"/>
          </a:p>
        </p:txBody>
      </p:sp>
      <p:pic>
        <p:nvPicPr>
          <p:cNvPr id="4" name="image52.jpeg">
            <a:extLst>
              <a:ext uri="{FF2B5EF4-FFF2-40B4-BE49-F238E27FC236}">
                <a16:creationId xmlns:a16="http://schemas.microsoft.com/office/drawing/2014/main" xmlns="" id="{5CD0CEE8-817D-FDE4-7B39-FE78E368FD93}"/>
              </a:ext>
            </a:extLst>
          </p:cNvPr>
          <p:cNvPicPr>
            <a:picLocks noChangeAspect="1"/>
          </p:cNvPicPr>
          <p:nvPr/>
        </p:nvPicPr>
        <p:blipFill>
          <a:blip r:embed="rId2" cstate="print"/>
          <a:stretch>
            <a:fillRect/>
          </a:stretch>
        </p:blipFill>
        <p:spPr>
          <a:xfrm>
            <a:off x="7208587" y="1681510"/>
            <a:ext cx="4691389" cy="3225770"/>
          </a:xfrm>
          <a:prstGeom prst="rect">
            <a:avLst/>
          </a:prstGeom>
        </p:spPr>
      </p:pic>
    </p:spTree>
    <p:extLst>
      <p:ext uri="{BB962C8B-B14F-4D97-AF65-F5344CB8AC3E}">
        <p14:creationId xmlns:p14="http://schemas.microsoft.com/office/powerpoint/2010/main" val="1363012192"/>
      </p:ext>
    </p:extLst>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Virtual Memory</a:t>
            </a:r>
            <a:endParaRPr lang="en-US"/>
          </a:p>
        </p:txBody>
      </p:sp>
      <p:sp>
        <p:nvSpPr>
          <p:cNvPr id="3" name="Content Placeholder 2"/>
          <p:cNvSpPr>
            <a:spLocks noGrp="1"/>
          </p:cNvSpPr>
          <p:nvPr>
            <p:ph idx="1"/>
          </p:nvPr>
        </p:nvSpPr>
        <p:spPr>
          <a:xfrm>
            <a:off x="131181" y="863444"/>
            <a:ext cx="8833760" cy="5590565"/>
          </a:xfrm>
        </p:spPr>
        <p:txBody>
          <a:bodyPr/>
          <a:lstStyle/>
          <a:p>
            <a:r>
              <a:rPr lang="en-US" b="1">
                <a:solidFill>
                  <a:schemeClr val="accent6"/>
                </a:solidFill>
              </a:rPr>
              <a:t>Each program has its own address space</a:t>
            </a:r>
            <a:r>
              <a:rPr lang="en-US"/>
              <a:t>, which is </a:t>
            </a:r>
            <a:r>
              <a:rPr lang="en-US" b="1">
                <a:solidFill>
                  <a:schemeClr val="accent6"/>
                </a:solidFill>
              </a:rPr>
              <a:t>broken up into pages</a:t>
            </a:r>
            <a:r>
              <a:rPr lang="en-US"/>
              <a:t>.</a:t>
            </a:r>
          </a:p>
          <a:p>
            <a:r>
              <a:rPr lang="en-US"/>
              <a:t>Each </a:t>
            </a:r>
            <a:r>
              <a:rPr lang="en-US" b="1">
                <a:solidFill>
                  <a:schemeClr val="accent6"/>
                </a:solidFill>
              </a:rPr>
              <a:t>page is a contiguous range of addresses</a:t>
            </a:r>
            <a:r>
              <a:rPr lang="en-US"/>
              <a:t>.</a:t>
            </a:r>
          </a:p>
          <a:p>
            <a:r>
              <a:rPr lang="en-US"/>
              <a:t>These </a:t>
            </a:r>
            <a:r>
              <a:rPr lang="en-US" b="1">
                <a:solidFill>
                  <a:schemeClr val="accent6"/>
                </a:solidFill>
              </a:rPr>
              <a:t>pages are mapped onto the physical memory </a:t>
            </a:r>
            <a:r>
              <a:rPr lang="en-US"/>
              <a:t>but, </a:t>
            </a:r>
            <a:r>
              <a:rPr lang="en-US" b="1">
                <a:solidFill>
                  <a:schemeClr val="accent6"/>
                </a:solidFill>
              </a:rPr>
              <a:t>to run the program, all pages are not required </a:t>
            </a:r>
            <a:r>
              <a:rPr lang="en-US"/>
              <a:t>to be present in the physical memory.  </a:t>
            </a:r>
          </a:p>
          <a:p>
            <a:r>
              <a:rPr lang="en-US"/>
              <a:t>The operating system </a:t>
            </a:r>
            <a:r>
              <a:rPr lang="en-US" b="1">
                <a:solidFill>
                  <a:schemeClr val="accent6"/>
                </a:solidFill>
              </a:rPr>
              <a:t>keeps those parts of the program currently in use in main memory</a:t>
            </a:r>
            <a:r>
              <a:rPr lang="en-US"/>
              <a:t>, and the rest on the disk.</a:t>
            </a:r>
          </a:p>
          <a:p>
            <a:r>
              <a:rPr lang="en-US"/>
              <a:t>In a system using virtual memory, the </a:t>
            </a:r>
            <a:r>
              <a:rPr lang="en-US" b="1">
                <a:solidFill>
                  <a:schemeClr val="accent6"/>
                </a:solidFill>
              </a:rPr>
              <a:t>physical memory is divided into page frames</a:t>
            </a:r>
            <a:r>
              <a:rPr lang="en-US"/>
              <a:t> and the </a:t>
            </a:r>
            <a:r>
              <a:rPr lang="en-US" b="1">
                <a:solidFill>
                  <a:schemeClr val="accent6"/>
                </a:solidFill>
              </a:rPr>
              <a:t>virtual address space is divided in into equally-sized partitions called pages</a:t>
            </a:r>
            <a:r>
              <a:rPr lang="en-US"/>
              <a:t>.</a:t>
            </a:r>
          </a:p>
          <a:p>
            <a:r>
              <a:rPr lang="en-US"/>
              <a:t>Virtual memory </a:t>
            </a:r>
            <a:r>
              <a:rPr lang="en-US" b="1">
                <a:solidFill>
                  <a:schemeClr val="accent6"/>
                </a:solidFill>
              </a:rPr>
              <a:t>works fine in a multiprogramming system</a:t>
            </a:r>
            <a:r>
              <a:rPr lang="en-US"/>
              <a:t>, with bits and pieces of many programs in memory at once.</a:t>
            </a:r>
          </a:p>
        </p:txBody>
      </p:sp>
      <p:graphicFrame>
        <p:nvGraphicFramePr>
          <p:cNvPr id="4" name="Content Placeholder 6"/>
          <p:cNvGraphicFramePr/>
          <p:nvPr>
            <p:extLst/>
          </p:nvPr>
        </p:nvGraphicFramePr>
        <p:xfrm>
          <a:off x="9186863" y="981075"/>
          <a:ext cx="1066800" cy="4564336"/>
        </p:xfrm>
        <a:graphic>
          <a:graphicData uri="http://schemas.openxmlformats.org/drawingml/2006/table">
            <a:tbl>
              <a:tblPr firstRow="1" bandRow="1">
                <a:tableStyleId>{5940675A-B579-460E-94D1-54222C63F5DA}</a:tableStyleId>
              </a:tblPr>
              <a:tblGrid>
                <a:gridCol w="1066800">
                  <a:extLst>
                    <a:ext uri="{9D8B030D-6E8A-4147-A177-3AD203B41FA5}">
                      <a16:colId xmlns="" xmlns:a16="http://schemas.microsoft.com/office/drawing/2014/main" val="20000"/>
                    </a:ext>
                  </a:extLst>
                </a:gridCol>
              </a:tblGrid>
              <a:tr h="671772">
                <a:tc>
                  <a:txBody>
                    <a:bodyPr/>
                    <a:lstStyle/>
                    <a:p>
                      <a:pPr algn="ctr"/>
                      <a:r>
                        <a:rPr lang="en-US"/>
                        <a:t>RAM</a:t>
                      </a:r>
                    </a:p>
                  </a:txBody>
                  <a:tcPr anchor="ctr">
                    <a:solidFill>
                      <a:srgbClr val="D6B580"/>
                    </a:solidFill>
                  </a:tcPr>
                </a:tc>
                <a:extLst>
                  <a:ext uri="{0D108BD9-81ED-4DB2-BD59-A6C34878D82A}">
                    <a16:rowId xmlns="" xmlns:a16="http://schemas.microsoft.com/office/drawing/2014/main" val="10000"/>
                  </a:ext>
                </a:extLst>
              </a:tr>
              <a:tr h="340551">
                <a:tc>
                  <a:txBody>
                    <a:bodyPr/>
                    <a:lstStyle/>
                    <a:p>
                      <a:pPr marL="0" marR="0" indent="0" algn="ctr" defTabSz="914400" rtl="0" eaLnBrk="1" fontAlgn="auto" latinLnBrk="0" hangingPunct="1">
                        <a:lnSpc>
                          <a:spcPct val="100000"/>
                        </a:lnSpc>
                        <a:spcBef>
                          <a:spcPct val="0"/>
                        </a:spcBef>
                        <a:spcAft>
                          <a:spcPct val="0"/>
                        </a:spcAft>
                        <a:buClrTx/>
                        <a:buSzTx/>
                        <a:buFontTx/>
                        <a:buNone/>
                        <a:defRPr/>
                      </a:pPr>
                      <a:r>
                        <a:rPr lang="en-US"/>
                        <a:t>RAM</a:t>
                      </a:r>
                    </a:p>
                  </a:txBody>
                  <a:tcPr anchor="ctr">
                    <a:solidFill>
                      <a:srgbClr val="D6B580"/>
                    </a:solidFill>
                  </a:tcPr>
                </a:tc>
                <a:extLst>
                  <a:ext uri="{0D108BD9-81ED-4DB2-BD59-A6C34878D82A}">
                    <a16:rowId xmlns="" xmlns:a16="http://schemas.microsoft.com/office/drawing/2014/main" val="10001"/>
                  </a:ext>
                </a:extLst>
              </a:tr>
              <a:tr h="1175601">
                <a:tc>
                  <a:txBody>
                    <a:bodyPr/>
                    <a:lstStyle/>
                    <a:p>
                      <a:pPr algn="ctr"/>
                      <a:r>
                        <a:rPr lang="en-US"/>
                        <a:t>HDD</a:t>
                      </a:r>
                    </a:p>
                  </a:txBody>
                  <a:tcPr anchor="ctr">
                    <a:solidFill>
                      <a:srgbClr val="92D050"/>
                    </a:solidFill>
                  </a:tcPr>
                </a:tc>
                <a:extLst>
                  <a:ext uri="{0D108BD9-81ED-4DB2-BD59-A6C34878D82A}">
                    <a16:rowId xmlns="" xmlns:a16="http://schemas.microsoft.com/office/drawing/2014/main" val="10002"/>
                  </a:ext>
                </a:extLst>
              </a:tr>
              <a:tr h="839715">
                <a:tc>
                  <a:txBody>
                    <a:bodyPr/>
                    <a:lstStyle/>
                    <a:p>
                      <a:pPr marL="0" marR="0" indent="0" algn="ctr" defTabSz="914400" rtl="0" eaLnBrk="1" fontAlgn="auto" latinLnBrk="0" hangingPunct="1">
                        <a:lnSpc>
                          <a:spcPct val="100000"/>
                        </a:lnSpc>
                        <a:spcBef>
                          <a:spcPct val="0"/>
                        </a:spcBef>
                        <a:spcAft>
                          <a:spcPct val="0"/>
                        </a:spcAft>
                        <a:buClrTx/>
                        <a:buSzTx/>
                        <a:buFontTx/>
                        <a:buNone/>
                        <a:defRPr/>
                      </a:pPr>
                      <a:r>
                        <a:rPr lang="en-US"/>
                        <a:t>RAM</a:t>
                      </a:r>
                    </a:p>
                  </a:txBody>
                  <a:tcPr anchor="ctr">
                    <a:solidFill>
                      <a:srgbClr val="D6B580"/>
                    </a:solidFill>
                  </a:tcPr>
                </a:tc>
                <a:extLst>
                  <a:ext uri="{0D108BD9-81ED-4DB2-BD59-A6C34878D82A}">
                    <a16:rowId xmlns="" xmlns:a16="http://schemas.microsoft.com/office/drawing/2014/main" val="10003"/>
                  </a:ext>
                </a:extLst>
              </a:tr>
              <a:tr h="1511488">
                <a:tc>
                  <a:txBody>
                    <a:bodyPr/>
                    <a:lstStyle/>
                    <a:p>
                      <a:pPr algn="ctr"/>
                      <a:r>
                        <a:rPr lang="en-US"/>
                        <a:t>HDD</a:t>
                      </a:r>
                    </a:p>
                  </a:txBody>
                  <a:tcPr anchor="ctr">
                    <a:solidFill>
                      <a:srgbClr val="92D050"/>
                    </a:solidFill>
                  </a:tcPr>
                </a:tc>
                <a:extLst>
                  <a:ext uri="{0D108BD9-81ED-4DB2-BD59-A6C34878D82A}">
                    <a16:rowId xmlns="" xmlns:a16="http://schemas.microsoft.com/office/drawing/2014/main" val="10004"/>
                  </a:ext>
                </a:extLst>
              </a:tr>
            </a:tbl>
          </a:graphicData>
        </a:graphic>
      </p:graphicFrame>
      <p:graphicFrame>
        <p:nvGraphicFramePr>
          <p:cNvPr id="5" name="Content Placeholder 6"/>
          <p:cNvGraphicFramePr/>
          <p:nvPr>
            <p:extLst/>
          </p:nvPr>
        </p:nvGraphicFramePr>
        <p:xfrm>
          <a:off x="11015663" y="981075"/>
          <a:ext cx="1066800" cy="3749040"/>
        </p:xfrm>
        <a:graphic>
          <a:graphicData uri="http://schemas.openxmlformats.org/drawingml/2006/table">
            <a:tbl>
              <a:tblPr firstRow="1" bandRow="1">
                <a:tableStyleId>{5940675A-B579-460E-94D1-54222C63F5DA}</a:tableStyleId>
              </a:tblPr>
              <a:tblGrid>
                <a:gridCol w="1066800">
                  <a:extLst>
                    <a:ext uri="{9D8B030D-6E8A-4147-A177-3AD203B41FA5}">
                      <a16:colId xmlns="" xmlns:a16="http://schemas.microsoft.com/office/drawing/2014/main" val="20000"/>
                    </a:ext>
                  </a:extLst>
                </a:gridCol>
              </a:tblGrid>
              <a:tr h="457200">
                <a:tc>
                  <a:txBody>
                    <a:bodyPr/>
                    <a:lstStyle/>
                    <a:p>
                      <a:endParaRPr lang="en-US"/>
                    </a:p>
                  </a:txBody>
                  <a:tcPr/>
                </a:tc>
                <a:extLst>
                  <a:ext uri="{0D108BD9-81ED-4DB2-BD59-A6C34878D82A}">
                    <a16:rowId xmlns="" xmlns:a16="http://schemas.microsoft.com/office/drawing/2014/main" val="10000"/>
                  </a:ext>
                </a:extLst>
              </a:tr>
              <a:tr h="731520">
                <a:tc>
                  <a:txBody>
                    <a:bodyPr/>
                    <a:lstStyle/>
                    <a:p>
                      <a:endParaRPr lang="en-US"/>
                    </a:p>
                  </a:txBody>
                  <a:tcPr/>
                </a:tc>
                <a:extLst>
                  <a:ext uri="{0D108BD9-81ED-4DB2-BD59-A6C34878D82A}">
                    <a16:rowId xmlns="" xmlns:a16="http://schemas.microsoft.com/office/drawing/2014/main" val="10001"/>
                  </a:ext>
                </a:extLst>
              </a:tr>
              <a:tr h="1280160">
                <a:tc>
                  <a:txBody>
                    <a:bodyPr/>
                    <a:lstStyle/>
                    <a:p>
                      <a:pPr algn="ctr"/>
                      <a:r>
                        <a:rPr lang="en-US"/>
                        <a:t>Another</a:t>
                      </a:r>
                    </a:p>
                    <a:p>
                      <a:pPr algn="ctr"/>
                      <a:r>
                        <a:rPr lang="en-US"/>
                        <a:t>Process’s</a:t>
                      </a:r>
                    </a:p>
                    <a:p>
                      <a:pPr algn="ctr"/>
                      <a:r>
                        <a:rPr lang="en-US"/>
                        <a:t>Memory</a:t>
                      </a:r>
                    </a:p>
                  </a:txBody>
                  <a:tcPr anchor="ctr">
                    <a:solidFill>
                      <a:schemeClr val="accent2"/>
                    </a:solidFill>
                  </a:tcPr>
                </a:tc>
                <a:extLst>
                  <a:ext uri="{0D108BD9-81ED-4DB2-BD59-A6C34878D82A}">
                    <a16:rowId xmlns="" xmlns:a16="http://schemas.microsoft.com/office/drawing/2014/main" val="10002"/>
                  </a:ext>
                </a:extLst>
              </a:tr>
              <a:tr h="914400">
                <a:tc>
                  <a:txBody>
                    <a:bodyPr/>
                    <a:lstStyle/>
                    <a:p>
                      <a:endParaRPr lang="en-US"/>
                    </a:p>
                  </a:txBody>
                  <a:tcPr/>
                </a:tc>
                <a:extLst>
                  <a:ext uri="{0D108BD9-81ED-4DB2-BD59-A6C34878D82A}">
                    <a16:rowId xmlns="" xmlns:a16="http://schemas.microsoft.com/office/drawing/2014/main" val="10003"/>
                  </a:ext>
                </a:extLst>
              </a:tr>
              <a:tr h="182880">
                <a:tc>
                  <a:txBody>
                    <a:bodyPr/>
                    <a:lstStyle/>
                    <a:p>
                      <a:pPr marL="0" algn="ctr" defTabSz="914400" rtl="0" eaLnBrk="1" latinLnBrk="0" hangingPunct="1"/>
                      <a:endParaRPr lang="en-US" sz="1800" kern="1200">
                        <a:solidFill>
                          <a:schemeClr val="tx1"/>
                        </a:solidFill>
                        <a:latin typeface="+mn-lt"/>
                        <a:ea typeface="+mn-ea"/>
                        <a:cs typeface="+mn-cs"/>
                      </a:endParaRPr>
                    </a:p>
                  </a:txBody>
                  <a:tcPr>
                    <a:solidFill>
                      <a:srgbClr val="C00000"/>
                    </a:solidFill>
                  </a:tcPr>
                </a:tc>
                <a:extLst>
                  <a:ext uri="{0D108BD9-81ED-4DB2-BD59-A6C34878D82A}">
                    <a16:rowId xmlns="" xmlns:a16="http://schemas.microsoft.com/office/drawing/2014/main" val="10004"/>
                  </a:ext>
                </a:extLst>
              </a:tr>
            </a:tbl>
          </a:graphicData>
        </a:graphic>
      </p:graphicFrame>
      <p:pic>
        <p:nvPicPr>
          <p:cNvPr id="6" name="Picture 2" descr="Image result for hard disk"/>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flipV="1">
            <a:off x="11014729" y="5095875"/>
            <a:ext cx="1143934" cy="848656"/>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p:cNvCxnSpPr/>
          <p:nvPr/>
        </p:nvCxnSpPr>
        <p:spPr>
          <a:xfrm>
            <a:off x="10253663" y="1318260"/>
            <a:ext cx="761066" cy="577215"/>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V="1">
            <a:off x="10260806" y="1209675"/>
            <a:ext cx="753923" cy="619125"/>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0260806" y="2695575"/>
            <a:ext cx="907257" cy="2612464"/>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0253663" y="3604260"/>
            <a:ext cx="761066" cy="387169"/>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endCxn id="6" idx="1"/>
          </p:cNvCxnSpPr>
          <p:nvPr/>
        </p:nvCxnSpPr>
        <p:spPr>
          <a:xfrm>
            <a:off x="10260806" y="4726543"/>
            <a:ext cx="753923" cy="793660"/>
          </a:xfrm>
          <a:prstGeom prst="straightConnector1">
            <a:avLst/>
          </a:prstGeom>
          <a:ln w="2857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1224746" y="4726543"/>
            <a:ext cx="723900" cy="369332"/>
          </a:xfrm>
          <a:prstGeom prst="rect">
            <a:avLst/>
          </a:prstGeom>
          <a:noFill/>
        </p:spPr>
        <p:txBody>
          <a:bodyPr wrap="square" rtlCol="0">
            <a:spAutoFit/>
          </a:bodyPr>
          <a:lstStyle/>
          <a:p>
            <a:pPr algn="ctr"/>
            <a:r>
              <a:rPr lang="en-US"/>
              <a:t>RAM</a:t>
            </a:r>
          </a:p>
        </p:txBody>
      </p:sp>
      <p:sp>
        <p:nvSpPr>
          <p:cNvPr id="13" name="TextBox 12"/>
          <p:cNvSpPr txBox="1"/>
          <p:nvPr/>
        </p:nvSpPr>
        <p:spPr>
          <a:xfrm>
            <a:off x="11238566" y="5944531"/>
            <a:ext cx="723900" cy="369332"/>
          </a:xfrm>
          <a:prstGeom prst="rect">
            <a:avLst/>
          </a:prstGeom>
          <a:noFill/>
        </p:spPr>
        <p:txBody>
          <a:bodyPr wrap="square" rtlCol="0">
            <a:spAutoFit/>
          </a:bodyPr>
          <a:lstStyle/>
          <a:p>
            <a:pPr algn="ctr"/>
            <a:r>
              <a:rPr lang="en-US"/>
              <a:t>HDD</a:t>
            </a:r>
          </a:p>
        </p:txBody>
      </p:sp>
      <p:sp>
        <p:nvSpPr>
          <p:cNvPr id="14" name="TextBox 13"/>
          <p:cNvSpPr txBox="1"/>
          <p:nvPr/>
        </p:nvSpPr>
        <p:spPr>
          <a:xfrm>
            <a:off x="9118274" y="5594473"/>
            <a:ext cx="1523066" cy="646331"/>
          </a:xfrm>
          <a:prstGeom prst="rect">
            <a:avLst/>
          </a:prstGeom>
          <a:noFill/>
        </p:spPr>
        <p:txBody>
          <a:bodyPr wrap="square" rtlCol="0">
            <a:spAutoFit/>
          </a:bodyPr>
          <a:lstStyle/>
          <a:p>
            <a:r>
              <a:rPr lang="en-US"/>
              <a:t>Virtual Address space</a:t>
            </a:r>
          </a:p>
        </p:txBody>
      </p:sp>
    </p:spTree>
    <p:extLst>
      <p:ext uri="{BB962C8B-B14F-4D97-AF65-F5344CB8AC3E}">
        <p14:creationId xmlns:p14="http://schemas.microsoft.com/office/powerpoint/2010/main" val="96919501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animEffect transition="in" filter="fade">
                                      <p:cBhvr>
                                        <p:cTn id="31" dur="500"/>
                                        <p:tgtEl>
                                          <p:spTgt spid="3">
                                            <p:txEl>
                                              <p:pRg st="0" end="0"/>
                                            </p:txEl>
                                          </p:spTgt>
                                        </p:tgtEl>
                                      </p:cBhvr>
                                    </p:animEffect>
                                  </p:childTnLst>
                                </p:cTn>
                              </p:par>
                            </p:childTnLst>
                          </p:cTn>
                        </p:par>
                      </p:childTnLst>
                    </p:cTn>
                  </p:par>
                  <p:par>
                    <p:cTn id="32" fill="hold" nodeType="clickPar">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1" end="1"/>
                                            </p:txEl>
                                          </p:spTgt>
                                        </p:tgtEl>
                                        <p:attrNameLst>
                                          <p:attrName>style.visibility</p:attrName>
                                        </p:attrNameLst>
                                      </p:cBhvr>
                                      <p:to>
                                        <p:strVal val="visible"/>
                                      </p:to>
                                    </p:set>
                                    <p:animEffect transition="in" filter="fade">
                                      <p:cBhvr>
                                        <p:cTn id="36" dur="500"/>
                                        <p:tgtEl>
                                          <p:spTgt spid="3">
                                            <p:txEl>
                                              <p:pRg st="1" end="1"/>
                                            </p:txEl>
                                          </p:spTgt>
                                        </p:tgtEl>
                                      </p:cBhvr>
                                    </p:animEffect>
                                  </p:childTnLst>
                                </p:cTn>
                              </p:par>
                            </p:childTnLst>
                          </p:cTn>
                        </p:par>
                      </p:childTnLst>
                    </p:cTn>
                  </p:par>
                  <p:par>
                    <p:cTn id="37" fill="hold" nodeType="clickPar">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2" end="2"/>
                                            </p:txEl>
                                          </p:spTgt>
                                        </p:tgtEl>
                                        <p:attrNameLst>
                                          <p:attrName>style.visibility</p:attrName>
                                        </p:attrNameLst>
                                      </p:cBhvr>
                                      <p:to>
                                        <p:strVal val="visible"/>
                                      </p:to>
                                    </p:set>
                                    <p:animEffect transition="in" filter="fade">
                                      <p:cBhvr>
                                        <p:cTn id="41" dur="500"/>
                                        <p:tgtEl>
                                          <p:spTgt spid="3">
                                            <p:txEl>
                                              <p:pRg st="2" end="2"/>
                                            </p:txEl>
                                          </p:spTgt>
                                        </p:tgtEl>
                                      </p:cBhvr>
                                    </p:animEffect>
                                  </p:childTnLst>
                                </p:cTn>
                              </p:par>
                            </p:childTnLst>
                          </p:cTn>
                        </p:par>
                      </p:childTnLst>
                    </p:cTn>
                  </p:par>
                  <p:par>
                    <p:cTn id="42" fill="hold" nodeType="clickPar">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3" end="3"/>
                                            </p:txEl>
                                          </p:spTgt>
                                        </p:tgtEl>
                                        <p:attrNameLst>
                                          <p:attrName>style.visibility</p:attrName>
                                        </p:attrNameLst>
                                      </p:cBhvr>
                                      <p:to>
                                        <p:strVal val="visible"/>
                                      </p:to>
                                    </p:set>
                                    <p:animEffect transition="in" filter="fade">
                                      <p:cBhvr>
                                        <p:cTn id="46" dur="500"/>
                                        <p:tgtEl>
                                          <p:spTgt spid="3">
                                            <p:txEl>
                                              <p:pRg st="3" end="3"/>
                                            </p:txEl>
                                          </p:spTgt>
                                        </p:tgtEl>
                                      </p:cBhvr>
                                    </p:animEffect>
                                  </p:childTnLst>
                                </p:cTn>
                              </p:par>
                            </p:childTnLst>
                          </p:cTn>
                        </p:par>
                      </p:childTnLst>
                    </p:cTn>
                  </p:par>
                  <p:par>
                    <p:cTn id="47" fill="hold" nodeType="clickPar">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
                                            <p:txEl>
                                              <p:pRg st="4" end="4"/>
                                            </p:txEl>
                                          </p:spTgt>
                                        </p:tgtEl>
                                        <p:attrNameLst>
                                          <p:attrName>style.visibility</p:attrName>
                                        </p:attrNameLst>
                                      </p:cBhvr>
                                      <p:to>
                                        <p:strVal val="visible"/>
                                      </p:to>
                                    </p:set>
                                    <p:animEffect transition="in" filter="fade">
                                      <p:cBhvr>
                                        <p:cTn id="51" dur="500"/>
                                        <p:tgtEl>
                                          <p:spTgt spid="3">
                                            <p:txEl>
                                              <p:pRg st="4" end="4"/>
                                            </p:txEl>
                                          </p:spTgt>
                                        </p:tgtEl>
                                      </p:cBhvr>
                                    </p:animEffect>
                                  </p:childTnLst>
                                </p:cTn>
                              </p:par>
                            </p:childTnLst>
                          </p:cTn>
                        </p:par>
                      </p:childTnLst>
                    </p:cTn>
                  </p:par>
                  <p:par>
                    <p:cTn id="52" fill="hold" nodeType="clickPar">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
                                            <p:txEl>
                                              <p:pRg st="5" end="5"/>
                                            </p:txEl>
                                          </p:spTgt>
                                        </p:tgtEl>
                                        <p:attrNameLst>
                                          <p:attrName>style.visibility</p:attrName>
                                        </p:attrNameLst>
                                      </p:cBhvr>
                                      <p:to>
                                        <p:strVal val="visible"/>
                                      </p:to>
                                    </p:set>
                                    <p:animEffect transition="in" filter="fade">
                                      <p:cBhvr>
                                        <p:cTn id="5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rcRect l="22500" t="26655" r="23711" b="7062"/>
          <a:stretch>
            <a:fillRect/>
          </a:stretch>
        </p:blipFill>
        <p:spPr>
          <a:xfrm>
            <a:off x="5229237" y="1714500"/>
            <a:ext cx="6840990" cy="4739509"/>
          </a:xfrm>
          <a:prstGeom prst="rect">
            <a:avLst/>
          </a:prstGeom>
        </p:spPr>
      </p:pic>
      <p:sp>
        <p:nvSpPr>
          <p:cNvPr id="2" name="Title 1"/>
          <p:cNvSpPr>
            <a:spLocks noGrp="1"/>
          </p:cNvSpPr>
          <p:nvPr>
            <p:ph type="title"/>
          </p:nvPr>
        </p:nvSpPr>
        <p:spPr/>
        <p:txBody>
          <a:bodyPr/>
          <a:lstStyle/>
          <a:p>
            <a:r>
              <a:rPr lang="en-US" sz="3200"/>
              <a:t>Definitions (Demand paging)</a:t>
            </a:r>
            <a:endParaRPr lang="en-US"/>
          </a:p>
        </p:txBody>
      </p:sp>
      <p:sp>
        <p:nvSpPr>
          <p:cNvPr id="3" name="Content Placeholder 2"/>
          <p:cNvSpPr>
            <a:spLocks noGrp="1"/>
          </p:cNvSpPr>
          <p:nvPr>
            <p:ph idx="1"/>
          </p:nvPr>
        </p:nvSpPr>
        <p:spPr/>
        <p:txBody>
          <a:bodyPr/>
          <a:lstStyle/>
          <a:p>
            <a:r>
              <a:rPr lang="en-US" b="1">
                <a:solidFill>
                  <a:schemeClr val="tx2"/>
                </a:solidFill>
              </a:rPr>
              <a:t>Demand paging</a:t>
            </a:r>
            <a:r>
              <a:rPr lang="en-US"/>
              <a:t>: Demand paging is a </a:t>
            </a:r>
            <a:r>
              <a:rPr lang="en-US" b="1">
                <a:solidFill>
                  <a:schemeClr val="accent6"/>
                </a:solidFill>
              </a:rPr>
              <a:t>technique used in virtual memory</a:t>
            </a:r>
            <a:r>
              <a:rPr lang="en-US"/>
              <a:t> systems where the </a:t>
            </a:r>
            <a:r>
              <a:rPr lang="en-US" b="1">
                <a:solidFill>
                  <a:schemeClr val="accent6"/>
                </a:solidFill>
              </a:rPr>
              <a:t>pages are brought in the main memory only when required or demanded by the CPU</a:t>
            </a:r>
            <a:r>
              <a:rPr lang="en-US"/>
              <a:t>.</a:t>
            </a:r>
          </a:p>
        </p:txBody>
      </p:sp>
      <p:sp>
        <p:nvSpPr>
          <p:cNvPr id="5" name="TextBox 4"/>
          <p:cNvSpPr txBox="1"/>
          <p:nvPr/>
        </p:nvSpPr>
        <p:spPr>
          <a:xfrm>
            <a:off x="472791" y="1714500"/>
            <a:ext cx="6115306" cy="1200329"/>
          </a:xfrm>
          <a:prstGeom prst="rect">
            <a:avLst/>
          </a:prstGeom>
          <a:solidFill>
            <a:schemeClr val="accent6">
              <a:lumMod val="20000"/>
              <a:lumOff val="80000"/>
            </a:schemeClr>
          </a:solidFill>
          <a:ln>
            <a:solidFill>
              <a:schemeClr val="accent6">
                <a:lumMod val="60000"/>
                <a:lumOff val="40000"/>
              </a:schemeClr>
            </a:solidFill>
          </a:ln>
        </p:spPr>
        <p:txBody>
          <a:bodyPr wrap="square" rtlCol="0">
            <a:spAutoFit/>
          </a:bodyPr>
          <a:lstStyle/>
          <a:p>
            <a:pPr marL="285750" indent="-285750">
              <a:buFont typeface="Arial" panose="020B0604020202020204" pitchFamily="34" charset="0"/>
              <a:buChar char="•"/>
            </a:pPr>
            <a:r>
              <a:rPr lang="en-US" sz="2400"/>
              <a:t>Suppose we have to execute a process P having four pages as P0, P1, P2, and P3.</a:t>
            </a:r>
          </a:p>
          <a:p>
            <a:pPr marL="285750" indent="-285750">
              <a:buFont typeface="Arial" panose="020B0604020202020204" pitchFamily="34" charset="0"/>
              <a:buChar char="•"/>
            </a:pPr>
            <a:r>
              <a:rPr lang="en-US" sz="2400"/>
              <a:t>We have page P1 and P3 in the page table.</a:t>
            </a:r>
          </a:p>
        </p:txBody>
      </p:sp>
      <p:sp>
        <p:nvSpPr>
          <p:cNvPr id="6" name="TextBox 5"/>
          <p:cNvSpPr txBox="1"/>
          <p:nvPr/>
        </p:nvSpPr>
        <p:spPr>
          <a:xfrm>
            <a:off x="472791" y="2966228"/>
            <a:ext cx="4756446" cy="2492990"/>
          </a:xfrm>
          <a:prstGeom prst="rect">
            <a:avLst/>
          </a:prstGeom>
          <a:solidFill>
            <a:schemeClr val="accent6">
              <a:lumMod val="20000"/>
              <a:lumOff val="80000"/>
            </a:schemeClr>
          </a:solidFill>
          <a:ln>
            <a:solidFill>
              <a:schemeClr val="accent6">
                <a:lumMod val="60000"/>
                <a:lumOff val="40000"/>
              </a:schemeClr>
            </a:solidFill>
          </a:ln>
        </p:spPr>
        <p:txBody>
          <a:bodyPr wrap="square" rtlCol="0">
            <a:spAutoFit/>
          </a:bodyPr>
          <a:lstStyle/>
          <a:p>
            <a:pPr marL="285750" indent="-285750">
              <a:buFont typeface="Arial" panose="020B0604020202020204" pitchFamily="34" charset="0"/>
              <a:buChar char="•"/>
            </a:pPr>
            <a:r>
              <a:rPr lang="en-US" sz="2400"/>
              <a:t>Now, if the CPU wants to access page P2 of a process P</a:t>
            </a:r>
          </a:p>
          <a:p>
            <a:pPr marL="742950" lvl="1" indent="-285750">
              <a:buFont typeface="Arial" panose="020B0604020202020204" pitchFamily="34" charset="0"/>
              <a:buChar char="•"/>
            </a:pPr>
            <a:r>
              <a:rPr lang="en-US"/>
              <a:t>search the page in the page table</a:t>
            </a:r>
          </a:p>
          <a:p>
            <a:pPr marL="742950" lvl="1" indent="-285750">
              <a:buFont typeface="Arial" panose="020B0604020202020204" pitchFamily="34" charset="0"/>
              <a:buChar char="•"/>
            </a:pPr>
            <a:r>
              <a:rPr lang="en-US"/>
              <a:t>P2 is not available in page table so page fault</a:t>
            </a:r>
          </a:p>
          <a:p>
            <a:pPr marL="742950" lvl="1" indent="-285750">
              <a:buFont typeface="Arial" panose="020B0604020202020204" pitchFamily="34" charset="0"/>
              <a:buChar char="•"/>
            </a:pPr>
            <a:r>
              <a:rPr lang="en-US"/>
              <a:t>OS bring P2 from HDD to RAM</a:t>
            </a:r>
          </a:p>
          <a:p>
            <a:pPr marL="742950" lvl="1" indent="-285750">
              <a:buFont typeface="Arial" panose="020B0604020202020204" pitchFamily="34" charset="0"/>
              <a:buChar char="•"/>
            </a:pPr>
            <a:r>
              <a:rPr lang="en-US"/>
              <a:t>OS will update page table</a:t>
            </a:r>
          </a:p>
          <a:p>
            <a:pPr marL="742950" lvl="1" indent="-285750">
              <a:buFont typeface="Arial" panose="020B0604020202020204" pitchFamily="34" charset="0"/>
              <a:buChar char="•"/>
            </a:pPr>
            <a:r>
              <a:rPr lang="en-US"/>
              <a:t>Process P will be executed.</a:t>
            </a:r>
          </a:p>
        </p:txBody>
      </p:sp>
    </p:spTree>
    <p:extLst>
      <p:ext uri="{BB962C8B-B14F-4D97-AF65-F5344CB8AC3E}">
        <p14:creationId xmlns:p14="http://schemas.microsoft.com/office/powerpoint/2010/main" val="26053013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fade">
                                      <p:cBhvr>
                                        <p:cTn id="17" dur="500"/>
                                        <p:tgtEl>
                                          <p:spTgt spid="5">
                                            <p:txEl>
                                              <p:pRg st="0" end="0"/>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nodeType="clickPar">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xEl>
                                              <p:pRg st="1" end="1"/>
                                            </p:txEl>
                                          </p:spTgt>
                                        </p:tgtEl>
                                        <p:attrNameLst>
                                          <p:attrName>style.visibility</p:attrName>
                                        </p:attrNameLst>
                                      </p:cBhvr>
                                      <p:to>
                                        <p:strVal val="visible"/>
                                      </p:to>
                                    </p:set>
                                    <p:animEffect transition="in" filter="fade">
                                      <p:cBhvr>
                                        <p:cTn id="25" dur="500"/>
                                        <p:tgtEl>
                                          <p:spTgt spid="5">
                                            <p:txEl>
                                              <p:pRg st="1" end="1"/>
                                            </p:txEl>
                                          </p:spTgt>
                                        </p:tgtEl>
                                      </p:cBhvr>
                                    </p:animEffect>
                                  </p:childTnLst>
                                </p:cTn>
                              </p:par>
                            </p:childTnLst>
                          </p:cTn>
                        </p:par>
                      </p:childTnLst>
                    </p:cTn>
                  </p:par>
                  <p:par>
                    <p:cTn id="26" fill="hold" nodeType="clickPar">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6">
                                            <p:txEl>
                                              <p:pRg st="0" end="0"/>
                                            </p:txEl>
                                          </p:spTgt>
                                        </p:tgtEl>
                                        <p:attrNameLst>
                                          <p:attrName>style.visibility</p:attrName>
                                        </p:attrNameLst>
                                      </p:cBhvr>
                                      <p:to>
                                        <p:strVal val="visible"/>
                                      </p:to>
                                    </p:set>
                                    <p:animEffect transition="in" filter="fade">
                                      <p:cBhvr>
                                        <p:cTn id="30" dur="500"/>
                                        <p:tgtEl>
                                          <p:spTgt spid="6">
                                            <p:txEl>
                                              <p:pRg st="0" end="0"/>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childTnLst>
                          </p:cTn>
                        </p:par>
                      </p:childTnLst>
                    </p:cTn>
                  </p:par>
                  <p:par>
                    <p:cTn id="34" fill="hold" nodeType="clickPar">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6">
                                            <p:txEl>
                                              <p:pRg st="1" end="1"/>
                                            </p:txEl>
                                          </p:spTgt>
                                        </p:tgtEl>
                                        <p:attrNameLst>
                                          <p:attrName>style.visibility</p:attrName>
                                        </p:attrNameLst>
                                      </p:cBhvr>
                                      <p:to>
                                        <p:strVal val="visible"/>
                                      </p:to>
                                    </p:set>
                                    <p:animEffect transition="in" filter="fade">
                                      <p:cBhvr>
                                        <p:cTn id="38" dur="500"/>
                                        <p:tgtEl>
                                          <p:spTgt spid="6">
                                            <p:txEl>
                                              <p:pRg st="1" end="1"/>
                                            </p:txEl>
                                          </p:spTgt>
                                        </p:tgtEl>
                                      </p:cBhvr>
                                    </p:animEffect>
                                  </p:childTnLst>
                                </p:cTn>
                              </p:par>
                            </p:childTnLst>
                          </p:cTn>
                        </p:par>
                      </p:childTnLst>
                    </p:cTn>
                  </p:par>
                  <p:par>
                    <p:cTn id="39" fill="hold" nodeType="clickPar">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6">
                                            <p:txEl>
                                              <p:pRg st="2" end="2"/>
                                            </p:txEl>
                                          </p:spTgt>
                                        </p:tgtEl>
                                        <p:attrNameLst>
                                          <p:attrName>style.visibility</p:attrName>
                                        </p:attrNameLst>
                                      </p:cBhvr>
                                      <p:to>
                                        <p:strVal val="visible"/>
                                      </p:to>
                                    </p:set>
                                    <p:animEffect transition="in" filter="fade">
                                      <p:cBhvr>
                                        <p:cTn id="43" dur="500"/>
                                        <p:tgtEl>
                                          <p:spTgt spid="6">
                                            <p:txEl>
                                              <p:pRg st="2" end="2"/>
                                            </p:txEl>
                                          </p:spTgt>
                                        </p:tgtEl>
                                      </p:cBhvr>
                                    </p:animEffect>
                                  </p:childTnLst>
                                </p:cTn>
                              </p:par>
                            </p:childTnLst>
                          </p:cTn>
                        </p:par>
                      </p:childTnLst>
                    </p:cTn>
                  </p:par>
                  <p:par>
                    <p:cTn id="44" fill="hold" nodeType="clickPar">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6">
                                            <p:txEl>
                                              <p:pRg st="3" end="3"/>
                                            </p:txEl>
                                          </p:spTgt>
                                        </p:tgtEl>
                                        <p:attrNameLst>
                                          <p:attrName>style.visibility</p:attrName>
                                        </p:attrNameLst>
                                      </p:cBhvr>
                                      <p:to>
                                        <p:strVal val="visible"/>
                                      </p:to>
                                    </p:set>
                                    <p:animEffect transition="in" filter="fade">
                                      <p:cBhvr>
                                        <p:cTn id="48" dur="500"/>
                                        <p:tgtEl>
                                          <p:spTgt spid="6">
                                            <p:txEl>
                                              <p:pRg st="3" end="3"/>
                                            </p:txEl>
                                          </p:spTgt>
                                        </p:tgtEl>
                                      </p:cBhvr>
                                    </p:animEffect>
                                  </p:childTnLst>
                                </p:cTn>
                              </p:par>
                            </p:childTnLst>
                          </p:cTn>
                        </p:par>
                      </p:childTnLst>
                    </p:cTn>
                  </p:par>
                  <p:par>
                    <p:cTn id="49" fill="hold" nodeType="clickPar">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6">
                                            <p:txEl>
                                              <p:pRg st="4" end="4"/>
                                            </p:txEl>
                                          </p:spTgt>
                                        </p:tgtEl>
                                        <p:attrNameLst>
                                          <p:attrName>style.visibility</p:attrName>
                                        </p:attrNameLst>
                                      </p:cBhvr>
                                      <p:to>
                                        <p:strVal val="visible"/>
                                      </p:to>
                                    </p:set>
                                    <p:animEffect transition="in" filter="fade">
                                      <p:cBhvr>
                                        <p:cTn id="53" dur="500"/>
                                        <p:tgtEl>
                                          <p:spTgt spid="6">
                                            <p:txEl>
                                              <p:pRg st="4" end="4"/>
                                            </p:txEl>
                                          </p:spTgt>
                                        </p:tgtEl>
                                      </p:cBhvr>
                                    </p:animEffect>
                                  </p:childTnLst>
                                </p:cTn>
                              </p:par>
                            </p:childTnLst>
                          </p:cTn>
                        </p:par>
                      </p:childTnLst>
                    </p:cTn>
                  </p:par>
                  <p:par>
                    <p:cTn id="54" fill="hold" nodeType="clickPar">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6">
                                            <p:txEl>
                                              <p:pRg st="5" end="5"/>
                                            </p:txEl>
                                          </p:spTgt>
                                        </p:tgtEl>
                                        <p:attrNameLst>
                                          <p:attrName>style.visibility</p:attrName>
                                        </p:attrNameLst>
                                      </p:cBhvr>
                                      <p:to>
                                        <p:strVal val="visible"/>
                                      </p:to>
                                    </p:set>
                                    <p:animEffect transition="in" filter="fade">
                                      <p:cBhvr>
                                        <p:cTn id="58"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a:t>Demand paging</a:t>
            </a:r>
            <a:endParaRPr lang="en-US"/>
          </a:p>
        </p:txBody>
      </p:sp>
      <p:sp>
        <p:nvSpPr>
          <p:cNvPr id="3" name="Content Placeholder 2"/>
          <p:cNvSpPr>
            <a:spLocks noGrp="1"/>
          </p:cNvSpPr>
          <p:nvPr>
            <p:ph idx="1"/>
          </p:nvPr>
        </p:nvSpPr>
        <p:spPr/>
        <p:txBody>
          <a:bodyPr/>
          <a:lstStyle/>
          <a:p>
            <a:r>
              <a:rPr lang="en-US"/>
              <a:t>Now, if the CPU wants to access page P2 of a process P, first it will search the page in the page table.</a:t>
            </a:r>
          </a:p>
          <a:p>
            <a:r>
              <a:rPr lang="en-US"/>
              <a:t>As the page table does not contain this page so it will be a trap or page fault. As soon as the trap is generated and context switching happens and the control goes to the operating system.</a:t>
            </a:r>
          </a:p>
          <a:p>
            <a:r>
              <a:rPr lang="en-US"/>
              <a:t>The OS system will put the process in a waiting/ blocked state. The OS system will now search that page in the backing store or secondary memory.</a:t>
            </a:r>
          </a:p>
          <a:p>
            <a:r>
              <a:rPr lang="en-US"/>
              <a:t>The OS will then read the page from the backing store and load it to the main memory.</a:t>
            </a:r>
          </a:p>
          <a:p>
            <a:r>
              <a:rPr lang="en-US"/>
              <a:t>Next, the OS system will update the page table entry accordingly.</a:t>
            </a:r>
          </a:p>
          <a:p>
            <a:r>
              <a:rPr lang="en-US"/>
              <a:t>Finally, the control is taken back from the OS and the execution of the process is resumed.</a:t>
            </a:r>
          </a:p>
          <a:p>
            <a:r>
              <a:rPr lang="en-US"/>
              <a:t>Hence whenever a page fault occurs these steps are followed by the operating system and the required page is brought into memory.</a:t>
            </a:r>
          </a:p>
        </p:txBody>
      </p:sp>
    </p:spTree>
    <p:extLst>
      <p:ext uri="{BB962C8B-B14F-4D97-AF65-F5344CB8AC3E}">
        <p14:creationId xmlns:p14="http://schemas.microsoft.com/office/powerpoint/2010/main" val="1279374568"/>
      </p:ext>
    </p:extLst>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52BC93-5495-6DE5-9F62-5805853EF9A8}"/>
              </a:ext>
            </a:extLst>
          </p:cNvPr>
          <p:cNvSpPr>
            <a:spLocks noGrp="1"/>
          </p:cNvSpPr>
          <p:nvPr>
            <p:ph type="title"/>
          </p:nvPr>
        </p:nvSpPr>
        <p:spPr/>
        <p:txBody>
          <a:bodyPr>
            <a:normAutofit/>
          </a:bodyPr>
          <a:lstStyle/>
          <a:p>
            <a:r>
              <a:rPr lang="en-US" dirty="0"/>
              <a:t>Page Fault and Page Hit</a:t>
            </a:r>
          </a:p>
        </p:txBody>
      </p:sp>
      <p:sp>
        <p:nvSpPr>
          <p:cNvPr id="3" name="Content Placeholder 2">
            <a:extLst>
              <a:ext uri="{FF2B5EF4-FFF2-40B4-BE49-F238E27FC236}">
                <a16:creationId xmlns:a16="http://schemas.microsoft.com/office/drawing/2014/main" xmlns="" id="{0F5533E7-5C66-747A-507C-528ED7403586}"/>
              </a:ext>
            </a:extLst>
          </p:cNvPr>
          <p:cNvSpPr>
            <a:spLocks noGrp="1"/>
          </p:cNvSpPr>
          <p:nvPr>
            <p:ph idx="1"/>
          </p:nvPr>
        </p:nvSpPr>
        <p:spPr/>
        <p:txBody>
          <a:bodyPr/>
          <a:lstStyle/>
          <a:p>
            <a:pPr marL="0" indent="0">
              <a:buNone/>
            </a:pPr>
            <a:r>
              <a:rPr lang="en-US" b="1" dirty="0"/>
              <a:t>Page Fault: </a:t>
            </a:r>
          </a:p>
          <a:p>
            <a:pPr lvl="1"/>
            <a:r>
              <a:rPr lang="en-US" dirty="0">
                <a:solidFill>
                  <a:srgbClr val="C00000"/>
                </a:solidFill>
              </a:rPr>
              <a:t>When the page (data) requested by a program is not available in the memory, it is called as a page fault</a:t>
            </a:r>
            <a:r>
              <a:rPr lang="en-US" dirty="0"/>
              <a:t>. This usually results in the application being shut down.</a:t>
            </a:r>
          </a:p>
          <a:p>
            <a:pPr lvl="1"/>
            <a:r>
              <a:rPr lang="en-US" dirty="0"/>
              <a:t>A page is a fixed length memory block used as a transferring unit between physical memory and an external storage. A page fault occurs when a program accesses a page that has been mapped in address space, but has not been loaded in the physical memory.</a:t>
            </a:r>
          </a:p>
          <a:p>
            <a:pPr marL="0" indent="0">
              <a:buNone/>
            </a:pPr>
            <a:r>
              <a:rPr lang="en-US" b="1" dirty="0"/>
              <a:t>Page hit</a:t>
            </a:r>
          </a:p>
          <a:p>
            <a:r>
              <a:rPr lang="en-US" dirty="0"/>
              <a:t>Whenever a process refers to a page that is present in memory, such condition is known as page hit.</a:t>
            </a:r>
          </a:p>
          <a:p>
            <a:endParaRPr lang="en-US" dirty="0"/>
          </a:p>
        </p:txBody>
      </p:sp>
    </p:spTree>
    <p:extLst>
      <p:ext uri="{BB962C8B-B14F-4D97-AF65-F5344CB8AC3E}">
        <p14:creationId xmlns:p14="http://schemas.microsoft.com/office/powerpoint/2010/main" val="259454579"/>
      </p:ext>
    </p:extLst>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a:t>Page replacement algorithms</a:t>
            </a:r>
          </a:p>
        </p:txBody>
      </p:sp>
      <p:sp>
        <p:nvSpPr>
          <p:cNvPr id="3" name="Content Placeholder 2"/>
          <p:cNvSpPr>
            <a:spLocks noGrp="1"/>
          </p:cNvSpPr>
          <p:nvPr>
            <p:ph idx="1"/>
          </p:nvPr>
        </p:nvSpPr>
        <p:spPr/>
        <p:txBody>
          <a:bodyPr/>
          <a:lstStyle/>
          <a:p>
            <a:r>
              <a:rPr lang="en-US"/>
              <a:t>Following are different types of page replacement algorithms</a:t>
            </a:r>
          </a:p>
          <a:p>
            <a:pPr marL="914400" lvl="1" indent="-457200">
              <a:buFont typeface="+mj-lt"/>
              <a:buAutoNum type="arabicPeriod"/>
            </a:pPr>
            <a:r>
              <a:rPr lang="en-US"/>
              <a:t>Optimal Page Replacement Algorithm</a:t>
            </a:r>
          </a:p>
          <a:p>
            <a:pPr marL="914400" lvl="1" indent="-457200">
              <a:buFont typeface="+mj-lt"/>
              <a:buAutoNum type="arabicPeriod"/>
            </a:pPr>
            <a:r>
              <a:rPr lang="en-US"/>
              <a:t>FIFO Page Replacement Algorithm</a:t>
            </a:r>
          </a:p>
          <a:p>
            <a:pPr marL="914400" lvl="1" indent="-457200">
              <a:buFont typeface="+mj-lt"/>
              <a:buAutoNum type="arabicPeriod"/>
            </a:pPr>
            <a:r>
              <a:rPr lang="en-US"/>
              <a:t>The Second Chance Page Replacement Algorithm</a:t>
            </a:r>
          </a:p>
          <a:p>
            <a:pPr marL="914400" lvl="1" indent="-457200">
              <a:buFont typeface="+mj-lt"/>
              <a:buAutoNum type="arabicPeriod"/>
            </a:pPr>
            <a:r>
              <a:rPr lang="en-US"/>
              <a:t>The Clock Page Replacement Algorithm</a:t>
            </a:r>
          </a:p>
          <a:p>
            <a:pPr marL="914400" lvl="1" indent="-457200">
              <a:buFont typeface="+mj-lt"/>
              <a:buAutoNum type="arabicPeriod"/>
            </a:pPr>
            <a:r>
              <a:rPr lang="en-US"/>
              <a:t>LRU (Least Recently Used) Page Replacement Algorithm</a:t>
            </a:r>
          </a:p>
          <a:p>
            <a:pPr marL="914400" lvl="1" indent="-457200">
              <a:buFont typeface="+mj-lt"/>
              <a:buAutoNum type="arabicPeriod"/>
            </a:pPr>
            <a:r>
              <a:rPr lang="en-US"/>
              <a:t>NRU (Not Recently Used)</a:t>
            </a:r>
          </a:p>
        </p:txBody>
      </p:sp>
    </p:spTree>
    <p:extLst>
      <p:ext uri="{BB962C8B-B14F-4D97-AF65-F5344CB8AC3E}">
        <p14:creationId xmlns:p14="http://schemas.microsoft.com/office/powerpoint/2010/main" val="351871741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Optimal Page Replacement Algorithm</a:t>
            </a:r>
          </a:p>
        </p:txBody>
      </p:sp>
      <p:sp>
        <p:nvSpPr>
          <p:cNvPr id="3" name="Content Placeholder 2"/>
          <p:cNvSpPr>
            <a:spLocks noGrp="1"/>
          </p:cNvSpPr>
          <p:nvPr>
            <p:ph idx="1"/>
          </p:nvPr>
        </p:nvSpPr>
        <p:spPr/>
        <p:txBody>
          <a:bodyPr/>
          <a:lstStyle/>
          <a:p>
            <a:r>
              <a:rPr lang="en-US" dirty="0"/>
              <a:t>The moment a page fault occurs, some set of pages will be in the memory. </a:t>
            </a:r>
          </a:p>
          <a:p>
            <a:r>
              <a:rPr lang="en-US" dirty="0"/>
              <a:t>One of these pages will be referenced on the very next instruction. </a:t>
            </a:r>
          </a:p>
          <a:p>
            <a:r>
              <a:rPr lang="en-US" dirty="0"/>
              <a:t>Other pages may not be referenced until 10, 100, or perhaps 1000 instructions later.</a:t>
            </a:r>
          </a:p>
          <a:p>
            <a:r>
              <a:rPr lang="en-US" dirty="0"/>
              <a:t>Each </a:t>
            </a:r>
            <a:r>
              <a:rPr lang="en-US" b="1" dirty="0">
                <a:solidFill>
                  <a:schemeClr val="accent6"/>
                </a:solidFill>
              </a:rPr>
              <a:t>page can be labeled with the number of instructions that will be executed before that page is first referenced</a:t>
            </a:r>
            <a:r>
              <a:rPr lang="en-US" dirty="0"/>
              <a:t>.</a:t>
            </a:r>
          </a:p>
          <a:p>
            <a:r>
              <a:rPr lang="en-US" dirty="0"/>
              <a:t>The optimal page algorithm simply says that the </a:t>
            </a:r>
            <a:r>
              <a:rPr lang="en-US" b="1" dirty="0">
                <a:solidFill>
                  <a:schemeClr val="accent6"/>
                </a:solidFill>
              </a:rPr>
              <a:t>page with the highest label should be removed</a:t>
            </a:r>
            <a:r>
              <a:rPr lang="en-US" dirty="0"/>
              <a:t>. </a:t>
            </a:r>
          </a:p>
          <a:p>
            <a:r>
              <a:rPr lang="en-US" dirty="0"/>
              <a:t>The only problem with this algorithm is that it is </a:t>
            </a:r>
            <a:r>
              <a:rPr lang="en-US" b="1" dirty="0">
                <a:solidFill>
                  <a:schemeClr val="accent6"/>
                </a:solidFill>
              </a:rPr>
              <a:t>unrealizable</a:t>
            </a:r>
            <a:r>
              <a:rPr lang="en-US" dirty="0"/>
              <a:t>. </a:t>
            </a:r>
          </a:p>
          <a:p>
            <a:r>
              <a:rPr lang="en-US" dirty="0"/>
              <a:t>At the time of the page fault, the </a:t>
            </a:r>
            <a:r>
              <a:rPr lang="en-US" b="1" dirty="0">
                <a:solidFill>
                  <a:schemeClr val="accent6"/>
                </a:solidFill>
              </a:rPr>
              <a:t>operating system has no way of knowing when each of the pages will be referenced next</a:t>
            </a:r>
            <a:r>
              <a:rPr lang="en-US" dirty="0" smtClean="0"/>
              <a:t>.</a:t>
            </a:r>
          </a:p>
          <a:p>
            <a:r>
              <a:rPr lang="en-US" dirty="0" smtClean="0">
                <a:solidFill>
                  <a:srgbClr val="C00000"/>
                </a:solidFill>
              </a:rPr>
              <a:t>It simply replace the page which will not used in longest dimension of time in future</a:t>
            </a:r>
            <a:endParaRPr lang="en-US" dirty="0">
              <a:solidFill>
                <a:srgbClr val="C00000"/>
              </a:solidFill>
            </a:endParaRPr>
          </a:p>
        </p:txBody>
      </p:sp>
    </p:spTree>
    <p:extLst>
      <p:ext uri="{BB962C8B-B14F-4D97-AF65-F5344CB8AC3E}">
        <p14:creationId xmlns:p14="http://schemas.microsoft.com/office/powerpoint/2010/main" val="392401000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Optimal Page Replacement Algorithm</a:t>
            </a:r>
          </a:p>
        </p:txBody>
      </p:sp>
      <p:sp>
        <p:nvSpPr>
          <p:cNvPr id="3" name="Content Placeholder 2"/>
          <p:cNvSpPr>
            <a:spLocks noGrp="1"/>
          </p:cNvSpPr>
          <p:nvPr>
            <p:ph idx="1"/>
          </p:nvPr>
        </p:nvSpPr>
        <p:spPr/>
        <p:txBody>
          <a:bodyPr/>
          <a:lstStyle/>
          <a:p>
            <a:r>
              <a:rPr lang="en-US"/>
              <a:t>Page Reference String: </a:t>
            </a:r>
          </a:p>
          <a:p>
            <a:pPr lvl="1"/>
            <a:r>
              <a:rPr lang="en-US"/>
              <a:t>7, 0, 1, 2, 0, 3, 0, 4, 2, 3, 0, 3, 2, 0, 2, 0, 1, 7, 0, 1</a:t>
            </a:r>
          </a:p>
          <a:p>
            <a:pPr lvl="1"/>
            <a:r>
              <a:rPr lang="en-US"/>
              <a:t>Three frames</a:t>
            </a:r>
          </a:p>
        </p:txBody>
      </p:sp>
      <p:graphicFrame>
        <p:nvGraphicFramePr>
          <p:cNvPr id="4" name="Table 3"/>
          <p:cNvGraphicFramePr>
            <a:graphicFrameLocks noGrp="1"/>
          </p:cNvGraphicFramePr>
          <p:nvPr>
            <p:extLst>
              <p:ext uri="{D42A27DB-BD31-4B8C-83A1-F6EECF244321}">
                <p14:modId xmlns:p14="http://schemas.microsoft.com/office/powerpoint/2010/main" val="1865493639"/>
              </p:ext>
            </p:extLst>
          </p:nvPr>
        </p:nvGraphicFramePr>
        <p:xfrm>
          <a:off x="1019969" y="2248428"/>
          <a:ext cx="9528803" cy="426720"/>
        </p:xfrm>
        <a:graphic>
          <a:graphicData uri="http://schemas.openxmlformats.org/drawingml/2006/table">
            <a:tbl>
              <a:tblPr firstRow="1" bandRow="1">
                <a:tableStyleId>{93296810-A885-4BE3-A3E7-6D5BEEA58F35}</a:tableStyleId>
              </a:tblPr>
              <a:tblGrid>
                <a:gridCol w="1787843">
                  <a:extLst>
                    <a:ext uri="{9D8B030D-6E8A-4147-A177-3AD203B41FA5}">
                      <a16:colId xmlns:a16="http://schemas.microsoft.com/office/drawing/2014/main" xmlns="" val="20000"/>
                    </a:ext>
                  </a:extLst>
                </a:gridCol>
                <a:gridCol w="387048">
                  <a:extLst>
                    <a:ext uri="{9D8B030D-6E8A-4147-A177-3AD203B41FA5}">
                      <a16:colId xmlns:a16="http://schemas.microsoft.com/office/drawing/2014/main" xmlns="" val="20001"/>
                    </a:ext>
                  </a:extLst>
                </a:gridCol>
                <a:gridCol w="387048">
                  <a:extLst>
                    <a:ext uri="{9D8B030D-6E8A-4147-A177-3AD203B41FA5}">
                      <a16:colId xmlns:a16="http://schemas.microsoft.com/office/drawing/2014/main" xmlns="" val="20002"/>
                    </a:ext>
                  </a:extLst>
                </a:gridCol>
                <a:gridCol w="387048">
                  <a:extLst>
                    <a:ext uri="{9D8B030D-6E8A-4147-A177-3AD203B41FA5}">
                      <a16:colId xmlns:a16="http://schemas.microsoft.com/office/drawing/2014/main" xmlns="" val="20003"/>
                    </a:ext>
                  </a:extLst>
                </a:gridCol>
                <a:gridCol w="387048">
                  <a:extLst>
                    <a:ext uri="{9D8B030D-6E8A-4147-A177-3AD203B41FA5}">
                      <a16:colId xmlns:a16="http://schemas.microsoft.com/office/drawing/2014/main" xmlns="" val="20004"/>
                    </a:ext>
                  </a:extLst>
                </a:gridCol>
                <a:gridCol w="387048">
                  <a:extLst>
                    <a:ext uri="{9D8B030D-6E8A-4147-A177-3AD203B41FA5}">
                      <a16:colId xmlns:a16="http://schemas.microsoft.com/office/drawing/2014/main" xmlns="" val="20005"/>
                    </a:ext>
                  </a:extLst>
                </a:gridCol>
                <a:gridCol w="387048">
                  <a:extLst>
                    <a:ext uri="{9D8B030D-6E8A-4147-A177-3AD203B41FA5}">
                      <a16:colId xmlns:a16="http://schemas.microsoft.com/office/drawing/2014/main" xmlns="" val="20006"/>
                    </a:ext>
                  </a:extLst>
                </a:gridCol>
                <a:gridCol w="387048">
                  <a:extLst>
                    <a:ext uri="{9D8B030D-6E8A-4147-A177-3AD203B41FA5}">
                      <a16:colId xmlns:a16="http://schemas.microsoft.com/office/drawing/2014/main" xmlns="" val="20007"/>
                    </a:ext>
                  </a:extLst>
                </a:gridCol>
                <a:gridCol w="387048">
                  <a:extLst>
                    <a:ext uri="{9D8B030D-6E8A-4147-A177-3AD203B41FA5}">
                      <a16:colId xmlns:a16="http://schemas.microsoft.com/office/drawing/2014/main" xmlns="" val="20008"/>
                    </a:ext>
                  </a:extLst>
                </a:gridCol>
                <a:gridCol w="387048">
                  <a:extLst>
                    <a:ext uri="{9D8B030D-6E8A-4147-A177-3AD203B41FA5}">
                      <a16:colId xmlns:a16="http://schemas.microsoft.com/office/drawing/2014/main" xmlns="" val="20009"/>
                    </a:ext>
                  </a:extLst>
                </a:gridCol>
                <a:gridCol w="387048">
                  <a:extLst>
                    <a:ext uri="{9D8B030D-6E8A-4147-A177-3AD203B41FA5}">
                      <a16:colId xmlns:a16="http://schemas.microsoft.com/office/drawing/2014/main" xmlns="" val="20010"/>
                    </a:ext>
                  </a:extLst>
                </a:gridCol>
                <a:gridCol w="387048">
                  <a:extLst>
                    <a:ext uri="{9D8B030D-6E8A-4147-A177-3AD203B41FA5}">
                      <a16:colId xmlns:a16="http://schemas.microsoft.com/office/drawing/2014/main" xmlns="" val="20011"/>
                    </a:ext>
                  </a:extLst>
                </a:gridCol>
                <a:gridCol w="387048">
                  <a:extLst>
                    <a:ext uri="{9D8B030D-6E8A-4147-A177-3AD203B41FA5}">
                      <a16:colId xmlns:a16="http://schemas.microsoft.com/office/drawing/2014/main" xmlns="" val="20012"/>
                    </a:ext>
                  </a:extLst>
                </a:gridCol>
                <a:gridCol w="387048">
                  <a:extLst>
                    <a:ext uri="{9D8B030D-6E8A-4147-A177-3AD203B41FA5}">
                      <a16:colId xmlns:a16="http://schemas.microsoft.com/office/drawing/2014/main" xmlns="" val="20013"/>
                    </a:ext>
                  </a:extLst>
                </a:gridCol>
                <a:gridCol w="387048">
                  <a:extLst>
                    <a:ext uri="{9D8B030D-6E8A-4147-A177-3AD203B41FA5}">
                      <a16:colId xmlns:a16="http://schemas.microsoft.com/office/drawing/2014/main" xmlns="" val="20014"/>
                    </a:ext>
                  </a:extLst>
                </a:gridCol>
                <a:gridCol w="387048">
                  <a:extLst>
                    <a:ext uri="{9D8B030D-6E8A-4147-A177-3AD203B41FA5}">
                      <a16:colId xmlns:a16="http://schemas.microsoft.com/office/drawing/2014/main" xmlns="" val="20015"/>
                    </a:ext>
                  </a:extLst>
                </a:gridCol>
                <a:gridCol w="387048">
                  <a:extLst>
                    <a:ext uri="{9D8B030D-6E8A-4147-A177-3AD203B41FA5}">
                      <a16:colId xmlns:a16="http://schemas.microsoft.com/office/drawing/2014/main" xmlns="" val="20016"/>
                    </a:ext>
                  </a:extLst>
                </a:gridCol>
                <a:gridCol w="387048">
                  <a:extLst>
                    <a:ext uri="{9D8B030D-6E8A-4147-A177-3AD203B41FA5}">
                      <a16:colId xmlns:a16="http://schemas.microsoft.com/office/drawing/2014/main" xmlns="" val="20017"/>
                    </a:ext>
                  </a:extLst>
                </a:gridCol>
                <a:gridCol w="387048">
                  <a:extLst>
                    <a:ext uri="{9D8B030D-6E8A-4147-A177-3AD203B41FA5}">
                      <a16:colId xmlns:a16="http://schemas.microsoft.com/office/drawing/2014/main" xmlns="" val="20018"/>
                    </a:ext>
                  </a:extLst>
                </a:gridCol>
                <a:gridCol w="387048">
                  <a:extLst>
                    <a:ext uri="{9D8B030D-6E8A-4147-A177-3AD203B41FA5}">
                      <a16:colId xmlns:a16="http://schemas.microsoft.com/office/drawing/2014/main" xmlns="" val="20019"/>
                    </a:ext>
                  </a:extLst>
                </a:gridCol>
                <a:gridCol w="387048">
                  <a:extLst>
                    <a:ext uri="{9D8B030D-6E8A-4147-A177-3AD203B41FA5}">
                      <a16:colId xmlns:a16="http://schemas.microsoft.com/office/drawing/2014/main" xmlns="" val="20020"/>
                    </a:ext>
                  </a:extLst>
                </a:gridCol>
              </a:tblGrid>
              <a:tr h="370840">
                <a:tc>
                  <a:txBody>
                    <a:bodyPr/>
                    <a:lstStyle/>
                    <a:p>
                      <a:r>
                        <a:rPr lang="en-US" sz="2200"/>
                        <a:t>Page</a:t>
                      </a:r>
                      <a:r>
                        <a:rPr lang="en-US" sz="2200" baseline="0"/>
                        <a:t> Request</a:t>
                      </a:r>
                      <a:endParaRPr lang="en-US" sz="2200"/>
                    </a:p>
                  </a:txBody>
                  <a:tcPr/>
                </a:tc>
                <a:tc>
                  <a:txBody>
                    <a:bodyPr/>
                    <a:lstStyle/>
                    <a:p>
                      <a:pPr algn="ctr"/>
                      <a:r>
                        <a:rPr lang="en-US" sz="2200"/>
                        <a:t>7</a:t>
                      </a:r>
                    </a:p>
                  </a:txBody>
                  <a:tcPr/>
                </a:tc>
                <a:tc>
                  <a:txBody>
                    <a:bodyPr/>
                    <a:lstStyle/>
                    <a:p>
                      <a:pPr algn="ctr"/>
                      <a:r>
                        <a:rPr lang="en-US" sz="2200"/>
                        <a:t>0</a:t>
                      </a:r>
                    </a:p>
                  </a:txBody>
                  <a:tcPr/>
                </a:tc>
                <a:tc>
                  <a:txBody>
                    <a:bodyPr/>
                    <a:lstStyle/>
                    <a:p>
                      <a:pPr algn="ctr"/>
                      <a:r>
                        <a:rPr lang="en-US" sz="2200"/>
                        <a:t>1</a:t>
                      </a:r>
                    </a:p>
                  </a:txBody>
                  <a:tcPr/>
                </a:tc>
                <a:tc>
                  <a:txBody>
                    <a:bodyPr/>
                    <a:lstStyle/>
                    <a:p>
                      <a:pPr algn="ctr"/>
                      <a:r>
                        <a:rPr lang="en-US" sz="2200"/>
                        <a:t>2</a:t>
                      </a:r>
                    </a:p>
                  </a:txBody>
                  <a:tcPr/>
                </a:tc>
                <a:tc>
                  <a:txBody>
                    <a:bodyPr/>
                    <a:lstStyle/>
                    <a:p>
                      <a:pPr algn="ctr"/>
                      <a:r>
                        <a:rPr lang="en-US" sz="2200"/>
                        <a:t>0</a:t>
                      </a:r>
                    </a:p>
                  </a:txBody>
                  <a:tcPr/>
                </a:tc>
                <a:tc>
                  <a:txBody>
                    <a:bodyPr/>
                    <a:lstStyle/>
                    <a:p>
                      <a:pPr algn="ctr"/>
                      <a:r>
                        <a:rPr lang="en-US" sz="2200"/>
                        <a:t>3</a:t>
                      </a:r>
                    </a:p>
                  </a:txBody>
                  <a:tcPr/>
                </a:tc>
                <a:tc>
                  <a:txBody>
                    <a:bodyPr/>
                    <a:lstStyle/>
                    <a:p>
                      <a:pPr algn="ctr"/>
                      <a:r>
                        <a:rPr lang="en-US" sz="2200"/>
                        <a:t>0</a:t>
                      </a:r>
                    </a:p>
                  </a:txBody>
                  <a:tcPr/>
                </a:tc>
                <a:tc>
                  <a:txBody>
                    <a:bodyPr/>
                    <a:lstStyle/>
                    <a:p>
                      <a:pPr algn="ctr"/>
                      <a:r>
                        <a:rPr lang="en-US" sz="2200"/>
                        <a:t>4</a:t>
                      </a:r>
                    </a:p>
                  </a:txBody>
                  <a:tcPr/>
                </a:tc>
                <a:tc>
                  <a:txBody>
                    <a:bodyPr/>
                    <a:lstStyle/>
                    <a:p>
                      <a:pPr algn="ctr"/>
                      <a:r>
                        <a:rPr lang="en-US" sz="2200"/>
                        <a:t>2</a:t>
                      </a:r>
                    </a:p>
                  </a:txBody>
                  <a:tcPr/>
                </a:tc>
                <a:tc>
                  <a:txBody>
                    <a:bodyPr/>
                    <a:lstStyle/>
                    <a:p>
                      <a:pPr algn="ctr"/>
                      <a:r>
                        <a:rPr lang="en-US" sz="2200"/>
                        <a:t>3</a:t>
                      </a:r>
                    </a:p>
                  </a:txBody>
                  <a:tcPr/>
                </a:tc>
                <a:tc>
                  <a:txBody>
                    <a:bodyPr/>
                    <a:lstStyle/>
                    <a:p>
                      <a:pPr algn="ctr"/>
                      <a:r>
                        <a:rPr lang="en-US" sz="2200"/>
                        <a:t>0</a:t>
                      </a:r>
                    </a:p>
                  </a:txBody>
                  <a:tcPr/>
                </a:tc>
                <a:tc>
                  <a:txBody>
                    <a:bodyPr/>
                    <a:lstStyle/>
                    <a:p>
                      <a:pPr algn="ctr"/>
                      <a:r>
                        <a:rPr lang="en-US" sz="2200"/>
                        <a:t>3</a:t>
                      </a:r>
                    </a:p>
                  </a:txBody>
                  <a:tcPr/>
                </a:tc>
                <a:tc>
                  <a:txBody>
                    <a:bodyPr/>
                    <a:lstStyle/>
                    <a:p>
                      <a:pPr algn="ctr"/>
                      <a:r>
                        <a:rPr lang="en-US" sz="2200"/>
                        <a:t>2</a:t>
                      </a:r>
                    </a:p>
                  </a:txBody>
                  <a:tcPr/>
                </a:tc>
                <a:tc>
                  <a:txBody>
                    <a:bodyPr/>
                    <a:lstStyle/>
                    <a:p>
                      <a:pPr algn="ctr"/>
                      <a:r>
                        <a:rPr lang="en-US" sz="2200"/>
                        <a:t>0</a:t>
                      </a:r>
                    </a:p>
                  </a:txBody>
                  <a:tcPr/>
                </a:tc>
                <a:tc>
                  <a:txBody>
                    <a:bodyPr/>
                    <a:lstStyle/>
                    <a:p>
                      <a:pPr algn="ctr"/>
                      <a:r>
                        <a:rPr lang="en-US" sz="2200"/>
                        <a:t>2</a:t>
                      </a:r>
                    </a:p>
                  </a:txBody>
                  <a:tcPr/>
                </a:tc>
                <a:tc>
                  <a:txBody>
                    <a:bodyPr/>
                    <a:lstStyle/>
                    <a:p>
                      <a:pPr algn="ctr"/>
                      <a:r>
                        <a:rPr lang="en-US" sz="2200"/>
                        <a:t>0</a:t>
                      </a:r>
                    </a:p>
                  </a:txBody>
                  <a:tcPr/>
                </a:tc>
                <a:tc>
                  <a:txBody>
                    <a:bodyPr/>
                    <a:lstStyle/>
                    <a:p>
                      <a:pPr algn="ctr"/>
                      <a:r>
                        <a:rPr lang="en-US" sz="2200"/>
                        <a:t>1</a:t>
                      </a:r>
                    </a:p>
                  </a:txBody>
                  <a:tcPr/>
                </a:tc>
                <a:tc>
                  <a:txBody>
                    <a:bodyPr/>
                    <a:lstStyle/>
                    <a:p>
                      <a:pPr algn="ctr"/>
                      <a:r>
                        <a:rPr lang="en-US" sz="2200"/>
                        <a:t>7</a:t>
                      </a:r>
                    </a:p>
                  </a:txBody>
                  <a:tcPr/>
                </a:tc>
                <a:tc>
                  <a:txBody>
                    <a:bodyPr/>
                    <a:lstStyle/>
                    <a:p>
                      <a:pPr algn="ctr"/>
                      <a:r>
                        <a:rPr lang="en-US" sz="2200"/>
                        <a:t>0</a:t>
                      </a:r>
                    </a:p>
                  </a:txBody>
                  <a:tcPr/>
                </a:tc>
                <a:tc>
                  <a:txBody>
                    <a:bodyPr/>
                    <a:lstStyle/>
                    <a:p>
                      <a:pPr algn="ctr"/>
                      <a:r>
                        <a:rPr lang="en-US" sz="2200"/>
                        <a:t>1</a:t>
                      </a:r>
                    </a:p>
                  </a:txBody>
                  <a:tcPr/>
                </a:tc>
                <a:extLst>
                  <a:ext uri="{0D108BD9-81ED-4DB2-BD59-A6C34878D82A}">
                    <a16:rowId xmlns:a16="http://schemas.microsoft.com/office/drawing/2014/main" xmlns=""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424191125"/>
              </p:ext>
            </p:extLst>
          </p:nvPr>
        </p:nvGraphicFramePr>
        <p:xfrm>
          <a:off x="1019969" y="2705152"/>
          <a:ext cx="9528803" cy="1280160"/>
        </p:xfrm>
        <a:graphic>
          <a:graphicData uri="http://schemas.openxmlformats.org/drawingml/2006/table">
            <a:tbl>
              <a:tblPr firstRow="1" bandRow="1">
                <a:tableStyleId>{2D5ABB26-0587-4C30-8999-92F81FD0307C}</a:tableStyleId>
              </a:tblPr>
              <a:tblGrid>
                <a:gridCol w="1787843">
                  <a:extLst>
                    <a:ext uri="{9D8B030D-6E8A-4147-A177-3AD203B41FA5}">
                      <a16:colId xmlns:a16="http://schemas.microsoft.com/office/drawing/2014/main" xmlns="" val="20000"/>
                    </a:ext>
                  </a:extLst>
                </a:gridCol>
                <a:gridCol w="387048">
                  <a:extLst>
                    <a:ext uri="{9D8B030D-6E8A-4147-A177-3AD203B41FA5}">
                      <a16:colId xmlns:a16="http://schemas.microsoft.com/office/drawing/2014/main" xmlns="" val="20001"/>
                    </a:ext>
                  </a:extLst>
                </a:gridCol>
                <a:gridCol w="387048">
                  <a:extLst>
                    <a:ext uri="{9D8B030D-6E8A-4147-A177-3AD203B41FA5}">
                      <a16:colId xmlns:a16="http://schemas.microsoft.com/office/drawing/2014/main" xmlns="" val="20002"/>
                    </a:ext>
                  </a:extLst>
                </a:gridCol>
                <a:gridCol w="387048">
                  <a:extLst>
                    <a:ext uri="{9D8B030D-6E8A-4147-A177-3AD203B41FA5}">
                      <a16:colId xmlns:a16="http://schemas.microsoft.com/office/drawing/2014/main" xmlns="" val="20003"/>
                    </a:ext>
                  </a:extLst>
                </a:gridCol>
                <a:gridCol w="387048">
                  <a:extLst>
                    <a:ext uri="{9D8B030D-6E8A-4147-A177-3AD203B41FA5}">
                      <a16:colId xmlns:a16="http://schemas.microsoft.com/office/drawing/2014/main" xmlns="" val="20004"/>
                    </a:ext>
                  </a:extLst>
                </a:gridCol>
                <a:gridCol w="387048">
                  <a:extLst>
                    <a:ext uri="{9D8B030D-6E8A-4147-A177-3AD203B41FA5}">
                      <a16:colId xmlns:a16="http://schemas.microsoft.com/office/drawing/2014/main" xmlns="" val="20005"/>
                    </a:ext>
                  </a:extLst>
                </a:gridCol>
                <a:gridCol w="387048">
                  <a:extLst>
                    <a:ext uri="{9D8B030D-6E8A-4147-A177-3AD203B41FA5}">
                      <a16:colId xmlns:a16="http://schemas.microsoft.com/office/drawing/2014/main" xmlns="" val="20006"/>
                    </a:ext>
                  </a:extLst>
                </a:gridCol>
                <a:gridCol w="387048">
                  <a:extLst>
                    <a:ext uri="{9D8B030D-6E8A-4147-A177-3AD203B41FA5}">
                      <a16:colId xmlns:a16="http://schemas.microsoft.com/office/drawing/2014/main" xmlns="" val="20007"/>
                    </a:ext>
                  </a:extLst>
                </a:gridCol>
                <a:gridCol w="387048">
                  <a:extLst>
                    <a:ext uri="{9D8B030D-6E8A-4147-A177-3AD203B41FA5}">
                      <a16:colId xmlns:a16="http://schemas.microsoft.com/office/drawing/2014/main" xmlns="" val="20008"/>
                    </a:ext>
                  </a:extLst>
                </a:gridCol>
                <a:gridCol w="387048">
                  <a:extLst>
                    <a:ext uri="{9D8B030D-6E8A-4147-A177-3AD203B41FA5}">
                      <a16:colId xmlns:a16="http://schemas.microsoft.com/office/drawing/2014/main" xmlns="" val="20009"/>
                    </a:ext>
                  </a:extLst>
                </a:gridCol>
                <a:gridCol w="387048">
                  <a:extLst>
                    <a:ext uri="{9D8B030D-6E8A-4147-A177-3AD203B41FA5}">
                      <a16:colId xmlns:a16="http://schemas.microsoft.com/office/drawing/2014/main" xmlns="" val="20010"/>
                    </a:ext>
                  </a:extLst>
                </a:gridCol>
                <a:gridCol w="387048">
                  <a:extLst>
                    <a:ext uri="{9D8B030D-6E8A-4147-A177-3AD203B41FA5}">
                      <a16:colId xmlns:a16="http://schemas.microsoft.com/office/drawing/2014/main" xmlns="" val="20011"/>
                    </a:ext>
                  </a:extLst>
                </a:gridCol>
                <a:gridCol w="387048">
                  <a:extLst>
                    <a:ext uri="{9D8B030D-6E8A-4147-A177-3AD203B41FA5}">
                      <a16:colId xmlns:a16="http://schemas.microsoft.com/office/drawing/2014/main" xmlns="" val="20012"/>
                    </a:ext>
                  </a:extLst>
                </a:gridCol>
                <a:gridCol w="387048">
                  <a:extLst>
                    <a:ext uri="{9D8B030D-6E8A-4147-A177-3AD203B41FA5}">
                      <a16:colId xmlns:a16="http://schemas.microsoft.com/office/drawing/2014/main" xmlns="" val="20013"/>
                    </a:ext>
                  </a:extLst>
                </a:gridCol>
                <a:gridCol w="387048">
                  <a:extLst>
                    <a:ext uri="{9D8B030D-6E8A-4147-A177-3AD203B41FA5}">
                      <a16:colId xmlns:a16="http://schemas.microsoft.com/office/drawing/2014/main" xmlns="" val="20014"/>
                    </a:ext>
                  </a:extLst>
                </a:gridCol>
                <a:gridCol w="387048">
                  <a:extLst>
                    <a:ext uri="{9D8B030D-6E8A-4147-A177-3AD203B41FA5}">
                      <a16:colId xmlns:a16="http://schemas.microsoft.com/office/drawing/2014/main" xmlns="" val="20015"/>
                    </a:ext>
                  </a:extLst>
                </a:gridCol>
                <a:gridCol w="387048">
                  <a:extLst>
                    <a:ext uri="{9D8B030D-6E8A-4147-A177-3AD203B41FA5}">
                      <a16:colId xmlns:a16="http://schemas.microsoft.com/office/drawing/2014/main" xmlns="" val="20016"/>
                    </a:ext>
                  </a:extLst>
                </a:gridCol>
                <a:gridCol w="387048">
                  <a:extLst>
                    <a:ext uri="{9D8B030D-6E8A-4147-A177-3AD203B41FA5}">
                      <a16:colId xmlns:a16="http://schemas.microsoft.com/office/drawing/2014/main" xmlns="" val="20017"/>
                    </a:ext>
                  </a:extLst>
                </a:gridCol>
                <a:gridCol w="387048">
                  <a:extLst>
                    <a:ext uri="{9D8B030D-6E8A-4147-A177-3AD203B41FA5}">
                      <a16:colId xmlns:a16="http://schemas.microsoft.com/office/drawing/2014/main" xmlns="" val="20018"/>
                    </a:ext>
                  </a:extLst>
                </a:gridCol>
                <a:gridCol w="387048">
                  <a:extLst>
                    <a:ext uri="{9D8B030D-6E8A-4147-A177-3AD203B41FA5}">
                      <a16:colId xmlns:a16="http://schemas.microsoft.com/office/drawing/2014/main" xmlns="" val="20019"/>
                    </a:ext>
                  </a:extLst>
                </a:gridCol>
                <a:gridCol w="387048">
                  <a:extLst>
                    <a:ext uri="{9D8B030D-6E8A-4147-A177-3AD203B41FA5}">
                      <a16:colId xmlns:a16="http://schemas.microsoft.com/office/drawing/2014/main" xmlns="" val="20020"/>
                    </a:ext>
                  </a:extLst>
                </a:gridCol>
              </a:tblGrid>
              <a:tr h="370840">
                <a:tc>
                  <a:txBody>
                    <a:bodyPr/>
                    <a:lstStyle/>
                    <a:p>
                      <a:r>
                        <a:rPr lang="en-US" sz="2200"/>
                        <a:t>Frame – 1</a:t>
                      </a:r>
                      <a:endParaRPr lang="en-US" sz="2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xmlns="" val="10000"/>
                  </a:ext>
                </a:extLst>
              </a:tr>
              <a:tr h="370840">
                <a:tc>
                  <a:txBody>
                    <a:bodyPr/>
                    <a:lstStyle/>
                    <a:p>
                      <a:pPr marL="0" marR="0" indent="0" algn="l" defTabSz="914400" rtl="0" eaLnBrk="1" fontAlgn="auto" latinLnBrk="0" hangingPunct="1">
                        <a:lnSpc>
                          <a:spcPct val="100000"/>
                        </a:lnSpc>
                        <a:spcBef>
                          <a:spcPct val="0"/>
                        </a:spcBef>
                        <a:spcAft>
                          <a:spcPct val="0"/>
                        </a:spcAft>
                        <a:buClrTx/>
                        <a:buSzTx/>
                        <a:buFontTx/>
                        <a:buNone/>
                        <a:defRPr/>
                      </a:pPr>
                      <a:r>
                        <a:rPr lang="en-US" sz="2200"/>
                        <a:t>Frame – 2</a:t>
                      </a:r>
                      <a:endParaRPr lang="en-US" sz="22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xmlns="" val="10001"/>
                  </a:ext>
                </a:extLst>
              </a:tr>
              <a:tr h="403332">
                <a:tc>
                  <a:txBody>
                    <a:bodyPr/>
                    <a:lstStyle/>
                    <a:p>
                      <a:pPr marL="0" marR="0" indent="0" algn="l" defTabSz="914400" rtl="0" eaLnBrk="1" fontAlgn="auto" latinLnBrk="0" hangingPunct="1">
                        <a:lnSpc>
                          <a:spcPct val="100000"/>
                        </a:lnSpc>
                        <a:spcBef>
                          <a:spcPct val="0"/>
                        </a:spcBef>
                        <a:spcAft>
                          <a:spcPct val="0"/>
                        </a:spcAft>
                        <a:buClrTx/>
                        <a:buSzTx/>
                        <a:buFontTx/>
                        <a:buNone/>
                        <a:defRPr/>
                      </a:pPr>
                      <a:r>
                        <a:rPr lang="en-US" sz="2200"/>
                        <a:t>Frame – 3</a:t>
                      </a:r>
                      <a:endParaRPr lang="en-US" sz="22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xmlns="" val="10002"/>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614908740"/>
              </p:ext>
            </p:extLst>
          </p:nvPr>
        </p:nvGraphicFramePr>
        <p:xfrm>
          <a:off x="1019969" y="4015315"/>
          <a:ext cx="9528803" cy="731520"/>
        </p:xfrm>
        <a:graphic>
          <a:graphicData uri="http://schemas.openxmlformats.org/drawingml/2006/table">
            <a:tbl>
              <a:tblPr firstRow="1" bandRow="1">
                <a:tableStyleId>{93296810-A885-4BE3-A3E7-6D5BEEA58F35}</a:tableStyleId>
              </a:tblPr>
              <a:tblGrid>
                <a:gridCol w="1787843">
                  <a:extLst>
                    <a:ext uri="{9D8B030D-6E8A-4147-A177-3AD203B41FA5}">
                      <a16:colId xmlns:a16="http://schemas.microsoft.com/office/drawing/2014/main" xmlns="" val="20000"/>
                    </a:ext>
                  </a:extLst>
                </a:gridCol>
                <a:gridCol w="387048">
                  <a:extLst>
                    <a:ext uri="{9D8B030D-6E8A-4147-A177-3AD203B41FA5}">
                      <a16:colId xmlns:a16="http://schemas.microsoft.com/office/drawing/2014/main" xmlns="" val="20001"/>
                    </a:ext>
                  </a:extLst>
                </a:gridCol>
                <a:gridCol w="387048">
                  <a:extLst>
                    <a:ext uri="{9D8B030D-6E8A-4147-A177-3AD203B41FA5}">
                      <a16:colId xmlns:a16="http://schemas.microsoft.com/office/drawing/2014/main" xmlns="" val="20002"/>
                    </a:ext>
                  </a:extLst>
                </a:gridCol>
                <a:gridCol w="387048">
                  <a:extLst>
                    <a:ext uri="{9D8B030D-6E8A-4147-A177-3AD203B41FA5}">
                      <a16:colId xmlns:a16="http://schemas.microsoft.com/office/drawing/2014/main" xmlns="" val="20003"/>
                    </a:ext>
                  </a:extLst>
                </a:gridCol>
                <a:gridCol w="387048">
                  <a:extLst>
                    <a:ext uri="{9D8B030D-6E8A-4147-A177-3AD203B41FA5}">
                      <a16:colId xmlns:a16="http://schemas.microsoft.com/office/drawing/2014/main" xmlns="" val="20004"/>
                    </a:ext>
                  </a:extLst>
                </a:gridCol>
                <a:gridCol w="387048">
                  <a:extLst>
                    <a:ext uri="{9D8B030D-6E8A-4147-A177-3AD203B41FA5}">
                      <a16:colId xmlns:a16="http://schemas.microsoft.com/office/drawing/2014/main" xmlns="" val="20005"/>
                    </a:ext>
                  </a:extLst>
                </a:gridCol>
                <a:gridCol w="387048">
                  <a:extLst>
                    <a:ext uri="{9D8B030D-6E8A-4147-A177-3AD203B41FA5}">
                      <a16:colId xmlns:a16="http://schemas.microsoft.com/office/drawing/2014/main" xmlns="" val="20006"/>
                    </a:ext>
                  </a:extLst>
                </a:gridCol>
                <a:gridCol w="387048">
                  <a:extLst>
                    <a:ext uri="{9D8B030D-6E8A-4147-A177-3AD203B41FA5}">
                      <a16:colId xmlns:a16="http://schemas.microsoft.com/office/drawing/2014/main" xmlns="" val="20007"/>
                    </a:ext>
                  </a:extLst>
                </a:gridCol>
                <a:gridCol w="387048">
                  <a:extLst>
                    <a:ext uri="{9D8B030D-6E8A-4147-A177-3AD203B41FA5}">
                      <a16:colId xmlns:a16="http://schemas.microsoft.com/office/drawing/2014/main" xmlns="" val="20008"/>
                    </a:ext>
                  </a:extLst>
                </a:gridCol>
                <a:gridCol w="387048">
                  <a:extLst>
                    <a:ext uri="{9D8B030D-6E8A-4147-A177-3AD203B41FA5}">
                      <a16:colId xmlns:a16="http://schemas.microsoft.com/office/drawing/2014/main" xmlns="" val="20009"/>
                    </a:ext>
                  </a:extLst>
                </a:gridCol>
                <a:gridCol w="387048">
                  <a:extLst>
                    <a:ext uri="{9D8B030D-6E8A-4147-A177-3AD203B41FA5}">
                      <a16:colId xmlns:a16="http://schemas.microsoft.com/office/drawing/2014/main" xmlns="" val="20010"/>
                    </a:ext>
                  </a:extLst>
                </a:gridCol>
                <a:gridCol w="387048">
                  <a:extLst>
                    <a:ext uri="{9D8B030D-6E8A-4147-A177-3AD203B41FA5}">
                      <a16:colId xmlns:a16="http://schemas.microsoft.com/office/drawing/2014/main" xmlns="" val="20011"/>
                    </a:ext>
                  </a:extLst>
                </a:gridCol>
                <a:gridCol w="387048">
                  <a:extLst>
                    <a:ext uri="{9D8B030D-6E8A-4147-A177-3AD203B41FA5}">
                      <a16:colId xmlns:a16="http://schemas.microsoft.com/office/drawing/2014/main" xmlns="" val="20012"/>
                    </a:ext>
                  </a:extLst>
                </a:gridCol>
                <a:gridCol w="387048">
                  <a:extLst>
                    <a:ext uri="{9D8B030D-6E8A-4147-A177-3AD203B41FA5}">
                      <a16:colId xmlns:a16="http://schemas.microsoft.com/office/drawing/2014/main" xmlns="" val="20013"/>
                    </a:ext>
                  </a:extLst>
                </a:gridCol>
                <a:gridCol w="387048">
                  <a:extLst>
                    <a:ext uri="{9D8B030D-6E8A-4147-A177-3AD203B41FA5}">
                      <a16:colId xmlns:a16="http://schemas.microsoft.com/office/drawing/2014/main" xmlns="" val="20014"/>
                    </a:ext>
                  </a:extLst>
                </a:gridCol>
                <a:gridCol w="387048">
                  <a:extLst>
                    <a:ext uri="{9D8B030D-6E8A-4147-A177-3AD203B41FA5}">
                      <a16:colId xmlns:a16="http://schemas.microsoft.com/office/drawing/2014/main" xmlns="" val="20015"/>
                    </a:ext>
                  </a:extLst>
                </a:gridCol>
                <a:gridCol w="387048">
                  <a:extLst>
                    <a:ext uri="{9D8B030D-6E8A-4147-A177-3AD203B41FA5}">
                      <a16:colId xmlns:a16="http://schemas.microsoft.com/office/drawing/2014/main" xmlns="" val="20016"/>
                    </a:ext>
                  </a:extLst>
                </a:gridCol>
                <a:gridCol w="387048">
                  <a:extLst>
                    <a:ext uri="{9D8B030D-6E8A-4147-A177-3AD203B41FA5}">
                      <a16:colId xmlns:a16="http://schemas.microsoft.com/office/drawing/2014/main" xmlns="" val="20017"/>
                    </a:ext>
                  </a:extLst>
                </a:gridCol>
                <a:gridCol w="387048">
                  <a:extLst>
                    <a:ext uri="{9D8B030D-6E8A-4147-A177-3AD203B41FA5}">
                      <a16:colId xmlns:a16="http://schemas.microsoft.com/office/drawing/2014/main" xmlns="" val="20018"/>
                    </a:ext>
                  </a:extLst>
                </a:gridCol>
                <a:gridCol w="387048">
                  <a:extLst>
                    <a:ext uri="{9D8B030D-6E8A-4147-A177-3AD203B41FA5}">
                      <a16:colId xmlns:a16="http://schemas.microsoft.com/office/drawing/2014/main" xmlns="" val="20019"/>
                    </a:ext>
                  </a:extLst>
                </a:gridCol>
                <a:gridCol w="387048">
                  <a:extLst>
                    <a:ext uri="{9D8B030D-6E8A-4147-A177-3AD203B41FA5}">
                      <a16:colId xmlns:a16="http://schemas.microsoft.com/office/drawing/2014/main" xmlns="" val="20020"/>
                    </a:ext>
                  </a:extLst>
                </a:gridCol>
              </a:tblGrid>
              <a:tr h="370840">
                <a:tc>
                  <a:txBody>
                    <a:bodyPr/>
                    <a:lstStyle/>
                    <a:p>
                      <a:r>
                        <a:rPr lang="en-US" sz="2100" b="0">
                          <a:solidFill>
                            <a:schemeClr val="tx1"/>
                          </a:solidFill>
                        </a:rPr>
                        <a:t>Page</a:t>
                      </a:r>
                      <a:r>
                        <a:rPr lang="en-US" sz="2100" b="0" baseline="0">
                          <a:solidFill>
                            <a:schemeClr val="tx1"/>
                          </a:solidFill>
                        </a:rPr>
                        <a:t> Faults </a:t>
                      </a:r>
                      <a:r>
                        <a:rPr lang="en-US" sz="2100" b="1" baseline="0">
                          <a:solidFill>
                            <a:schemeClr val="accent6"/>
                          </a:solidFill>
                        </a:rPr>
                        <a:t>(9)</a:t>
                      </a:r>
                      <a:endParaRPr lang="en-US" sz="2100" b="1">
                        <a:solidFill>
                          <a:schemeClr val="accent6"/>
                        </a:solidFill>
                      </a:endParaRP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132096954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nodeType="clickPar">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childTnLst>
                          </p:cTn>
                        </p:par>
                      </p:childTnLst>
                    </p:cTn>
                  </p:par>
                  <p:par>
                    <p:cTn id="19" fill="hold" nodeType="clickPar">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par>
                    <p:cTn id="24" fill="hold" nodeType="clickPar">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FIFO Page Replacement Algorithm</a:t>
            </a:r>
          </a:p>
        </p:txBody>
      </p:sp>
      <p:sp>
        <p:nvSpPr>
          <p:cNvPr id="3" name="Content Placeholder 2"/>
          <p:cNvSpPr>
            <a:spLocks noGrp="1"/>
          </p:cNvSpPr>
          <p:nvPr>
            <p:ph idx="1"/>
          </p:nvPr>
        </p:nvSpPr>
        <p:spPr/>
        <p:txBody>
          <a:bodyPr/>
          <a:lstStyle/>
          <a:p>
            <a:r>
              <a:rPr lang="en-US"/>
              <a:t>The first in first out page replacement algorithm is the simplest page replacement algorithm.</a:t>
            </a:r>
          </a:p>
          <a:p>
            <a:r>
              <a:rPr lang="en-US"/>
              <a:t>The operating system </a:t>
            </a:r>
            <a:r>
              <a:rPr lang="en-US" b="1">
                <a:solidFill>
                  <a:schemeClr val="accent6"/>
                </a:solidFill>
              </a:rPr>
              <a:t>maintains a list of all pages currently in memory, with the most recently arrived page at the tail and least recent at the head</a:t>
            </a:r>
            <a:r>
              <a:rPr lang="en-US"/>
              <a:t>.</a:t>
            </a:r>
          </a:p>
          <a:p>
            <a:r>
              <a:rPr lang="en-US"/>
              <a:t>On a page fault, the </a:t>
            </a:r>
            <a:r>
              <a:rPr lang="en-US" b="1">
                <a:solidFill>
                  <a:schemeClr val="accent6"/>
                </a:solidFill>
              </a:rPr>
              <a:t>page at head is removed and the new page is added to the tail</a:t>
            </a:r>
            <a:r>
              <a:rPr lang="en-US"/>
              <a:t>.</a:t>
            </a:r>
          </a:p>
          <a:p>
            <a:r>
              <a:rPr lang="en-US"/>
              <a:t>When a page replacement is </a:t>
            </a:r>
            <a:r>
              <a:rPr lang="en-US" b="1">
                <a:solidFill>
                  <a:schemeClr val="accent6"/>
                </a:solidFill>
              </a:rPr>
              <a:t>required the oldest page in memory needs to be replaced</a:t>
            </a:r>
            <a:r>
              <a:rPr lang="en-US"/>
              <a:t>.</a:t>
            </a:r>
          </a:p>
          <a:p>
            <a:r>
              <a:rPr lang="en-US"/>
              <a:t>The performance of the FIFO algorithm is </a:t>
            </a:r>
            <a:r>
              <a:rPr lang="en-US" b="1">
                <a:solidFill>
                  <a:schemeClr val="accent6"/>
                </a:solidFill>
              </a:rPr>
              <a:t>not always good because it may happen that the page which is the oldest is frequently referred by OS</a:t>
            </a:r>
            <a:r>
              <a:rPr lang="en-US"/>
              <a:t>. </a:t>
            </a:r>
          </a:p>
          <a:p>
            <a:r>
              <a:rPr lang="en-US"/>
              <a:t>Hence removing the </a:t>
            </a:r>
            <a:r>
              <a:rPr lang="en-US" b="1">
                <a:solidFill>
                  <a:schemeClr val="accent6"/>
                </a:solidFill>
              </a:rPr>
              <a:t>oldest page may create page fault again</a:t>
            </a:r>
            <a:r>
              <a:rPr lang="en-US"/>
              <a:t>.</a:t>
            </a:r>
          </a:p>
        </p:txBody>
      </p:sp>
    </p:spTree>
    <p:extLst>
      <p:ext uri="{BB962C8B-B14F-4D97-AF65-F5344CB8AC3E}">
        <p14:creationId xmlns:p14="http://schemas.microsoft.com/office/powerpoint/2010/main" val="355630335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FIFO Page Replacement Algorithm</a:t>
            </a:r>
          </a:p>
        </p:txBody>
      </p:sp>
      <p:sp>
        <p:nvSpPr>
          <p:cNvPr id="3" name="Content Placeholder 2"/>
          <p:cNvSpPr>
            <a:spLocks noGrp="1"/>
          </p:cNvSpPr>
          <p:nvPr>
            <p:ph idx="1"/>
          </p:nvPr>
        </p:nvSpPr>
        <p:spPr/>
        <p:txBody>
          <a:bodyPr/>
          <a:lstStyle/>
          <a:p>
            <a:r>
              <a:rPr lang="en-US"/>
              <a:t>Page Reference String: </a:t>
            </a:r>
          </a:p>
          <a:p>
            <a:pPr lvl="1"/>
            <a:r>
              <a:rPr lang="en-US"/>
              <a:t>7, 0, 1, 2, 0, 3, 0, 4, 2, 3, 0, 3, 2, 1, 2, 0, 1, 7, 0, 1</a:t>
            </a:r>
          </a:p>
          <a:p>
            <a:pPr lvl="1"/>
            <a:r>
              <a:rPr lang="en-US"/>
              <a:t>Three frames</a:t>
            </a:r>
          </a:p>
        </p:txBody>
      </p:sp>
      <p:graphicFrame>
        <p:nvGraphicFramePr>
          <p:cNvPr id="4" name="Table 3"/>
          <p:cNvGraphicFramePr>
            <a:graphicFrameLocks noGrp="1"/>
          </p:cNvGraphicFramePr>
          <p:nvPr>
            <p:extLst>
              <p:ext uri="{D42A27DB-BD31-4B8C-83A1-F6EECF244321}">
                <p14:modId xmlns:p14="http://schemas.microsoft.com/office/powerpoint/2010/main" val="3725976851"/>
              </p:ext>
            </p:extLst>
          </p:nvPr>
        </p:nvGraphicFramePr>
        <p:xfrm>
          <a:off x="1019969" y="2248428"/>
          <a:ext cx="9528803" cy="426720"/>
        </p:xfrm>
        <a:graphic>
          <a:graphicData uri="http://schemas.openxmlformats.org/drawingml/2006/table">
            <a:tbl>
              <a:tblPr firstRow="1" bandRow="1">
                <a:tableStyleId>{93296810-A885-4BE3-A3E7-6D5BEEA58F35}</a:tableStyleId>
              </a:tblPr>
              <a:tblGrid>
                <a:gridCol w="1787843">
                  <a:extLst>
                    <a:ext uri="{9D8B030D-6E8A-4147-A177-3AD203B41FA5}">
                      <a16:colId xmlns:a16="http://schemas.microsoft.com/office/drawing/2014/main" xmlns="" val="20000"/>
                    </a:ext>
                  </a:extLst>
                </a:gridCol>
                <a:gridCol w="387048">
                  <a:extLst>
                    <a:ext uri="{9D8B030D-6E8A-4147-A177-3AD203B41FA5}">
                      <a16:colId xmlns:a16="http://schemas.microsoft.com/office/drawing/2014/main" xmlns="" val="20001"/>
                    </a:ext>
                  </a:extLst>
                </a:gridCol>
                <a:gridCol w="387048">
                  <a:extLst>
                    <a:ext uri="{9D8B030D-6E8A-4147-A177-3AD203B41FA5}">
                      <a16:colId xmlns:a16="http://schemas.microsoft.com/office/drawing/2014/main" xmlns="" val="20002"/>
                    </a:ext>
                  </a:extLst>
                </a:gridCol>
                <a:gridCol w="387048">
                  <a:extLst>
                    <a:ext uri="{9D8B030D-6E8A-4147-A177-3AD203B41FA5}">
                      <a16:colId xmlns:a16="http://schemas.microsoft.com/office/drawing/2014/main" xmlns="" val="20003"/>
                    </a:ext>
                  </a:extLst>
                </a:gridCol>
                <a:gridCol w="387048">
                  <a:extLst>
                    <a:ext uri="{9D8B030D-6E8A-4147-A177-3AD203B41FA5}">
                      <a16:colId xmlns:a16="http://schemas.microsoft.com/office/drawing/2014/main" xmlns="" val="20004"/>
                    </a:ext>
                  </a:extLst>
                </a:gridCol>
                <a:gridCol w="387048">
                  <a:extLst>
                    <a:ext uri="{9D8B030D-6E8A-4147-A177-3AD203B41FA5}">
                      <a16:colId xmlns:a16="http://schemas.microsoft.com/office/drawing/2014/main" xmlns="" val="20005"/>
                    </a:ext>
                  </a:extLst>
                </a:gridCol>
                <a:gridCol w="387048">
                  <a:extLst>
                    <a:ext uri="{9D8B030D-6E8A-4147-A177-3AD203B41FA5}">
                      <a16:colId xmlns:a16="http://schemas.microsoft.com/office/drawing/2014/main" xmlns="" val="20006"/>
                    </a:ext>
                  </a:extLst>
                </a:gridCol>
                <a:gridCol w="387048">
                  <a:extLst>
                    <a:ext uri="{9D8B030D-6E8A-4147-A177-3AD203B41FA5}">
                      <a16:colId xmlns:a16="http://schemas.microsoft.com/office/drawing/2014/main" xmlns="" val="20007"/>
                    </a:ext>
                  </a:extLst>
                </a:gridCol>
                <a:gridCol w="387048">
                  <a:extLst>
                    <a:ext uri="{9D8B030D-6E8A-4147-A177-3AD203B41FA5}">
                      <a16:colId xmlns:a16="http://schemas.microsoft.com/office/drawing/2014/main" xmlns="" val="20008"/>
                    </a:ext>
                  </a:extLst>
                </a:gridCol>
                <a:gridCol w="387048">
                  <a:extLst>
                    <a:ext uri="{9D8B030D-6E8A-4147-A177-3AD203B41FA5}">
                      <a16:colId xmlns:a16="http://schemas.microsoft.com/office/drawing/2014/main" xmlns="" val="20009"/>
                    </a:ext>
                  </a:extLst>
                </a:gridCol>
                <a:gridCol w="387048">
                  <a:extLst>
                    <a:ext uri="{9D8B030D-6E8A-4147-A177-3AD203B41FA5}">
                      <a16:colId xmlns:a16="http://schemas.microsoft.com/office/drawing/2014/main" xmlns="" val="20010"/>
                    </a:ext>
                  </a:extLst>
                </a:gridCol>
                <a:gridCol w="387048">
                  <a:extLst>
                    <a:ext uri="{9D8B030D-6E8A-4147-A177-3AD203B41FA5}">
                      <a16:colId xmlns:a16="http://schemas.microsoft.com/office/drawing/2014/main" xmlns="" val="20011"/>
                    </a:ext>
                  </a:extLst>
                </a:gridCol>
                <a:gridCol w="387048">
                  <a:extLst>
                    <a:ext uri="{9D8B030D-6E8A-4147-A177-3AD203B41FA5}">
                      <a16:colId xmlns:a16="http://schemas.microsoft.com/office/drawing/2014/main" xmlns="" val="20012"/>
                    </a:ext>
                  </a:extLst>
                </a:gridCol>
                <a:gridCol w="387048">
                  <a:extLst>
                    <a:ext uri="{9D8B030D-6E8A-4147-A177-3AD203B41FA5}">
                      <a16:colId xmlns:a16="http://schemas.microsoft.com/office/drawing/2014/main" xmlns="" val="20013"/>
                    </a:ext>
                  </a:extLst>
                </a:gridCol>
                <a:gridCol w="387048">
                  <a:extLst>
                    <a:ext uri="{9D8B030D-6E8A-4147-A177-3AD203B41FA5}">
                      <a16:colId xmlns:a16="http://schemas.microsoft.com/office/drawing/2014/main" xmlns="" val="20014"/>
                    </a:ext>
                  </a:extLst>
                </a:gridCol>
                <a:gridCol w="387048">
                  <a:extLst>
                    <a:ext uri="{9D8B030D-6E8A-4147-A177-3AD203B41FA5}">
                      <a16:colId xmlns:a16="http://schemas.microsoft.com/office/drawing/2014/main" xmlns="" val="20015"/>
                    </a:ext>
                  </a:extLst>
                </a:gridCol>
                <a:gridCol w="387048">
                  <a:extLst>
                    <a:ext uri="{9D8B030D-6E8A-4147-A177-3AD203B41FA5}">
                      <a16:colId xmlns:a16="http://schemas.microsoft.com/office/drawing/2014/main" xmlns="" val="20016"/>
                    </a:ext>
                  </a:extLst>
                </a:gridCol>
                <a:gridCol w="387048">
                  <a:extLst>
                    <a:ext uri="{9D8B030D-6E8A-4147-A177-3AD203B41FA5}">
                      <a16:colId xmlns:a16="http://schemas.microsoft.com/office/drawing/2014/main" xmlns="" val="20017"/>
                    </a:ext>
                  </a:extLst>
                </a:gridCol>
                <a:gridCol w="387048">
                  <a:extLst>
                    <a:ext uri="{9D8B030D-6E8A-4147-A177-3AD203B41FA5}">
                      <a16:colId xmlns:a16="http://schemas.microsoft.com/office/drawing/2014/main" xmlns="" val="20018"/>
                    </a:ext>
                  </a:extLst>
                </a:gridCol>
                <a:gridCol w="387048">
                  <a:extLst>
                    <a:ext uri="{9D8B030D-6E8A-4147-A177-3AD203B41FA5}">
                      <a16:colId xmlns:a16="http://schemas.microsoft.com/office/drawing/2014/main" xmlns="" val="20019"/>
                    </a:ext>
                  </a:extLst>
                </a:gridCol>
                <a:gridCol w="387048">
                  <a:extLst>
                    <a:ext uri="{9D8B030D-6E8A-4147-A177-3AD203B41FA5}">
                      <a16:colId xmlns:a16="http://schemas.microsoft.com/office/drawing/2014/main" xmlns="" val="20020"/>
                    </a:ext>
                  </a:extLst>
                </a:gridCol>
              </a:tblGrid>
              <a:tr h="370840">
                <a:tc>
                  <a:txBody>
                    <a:bodyPr/>
                    <a:lstStyle/>
                    <a:p>
                      <a:r>
                        <a:rPr lang="en-US" sz="2200"/>
                        <a:t>Page</a:t>
                      </a:r>
                      <a:r>
                        <a:rPr lang="en-US" sz="2200" baseline="0"/>
                        <a:t> Request</a:t>
                      </a:r>
                      <a:endParaRPr lang="en-US" sz="2200"/>
                    </a:p>
                  </a:txBody>
                  <a:tcPr/>
                </a:tc>
                <a:tc>
                  <a:txBody>
                    <a:bodyPr/>
                    <a:lstStyle/>
                    <a:p>
                      <a:pPr algn="ctr"/>
                      <a:r>
                        <a:rPr lang="en-US" sz="2200"/>
                        <a:t>7</a:t>
                      </a:r>
                    </a:p>
                  </a:txBody>
                  <a:tcPr/>
                </a:tc>
                <a:tc>
                  <a:txBody>
                    <a:bodyPr/>
                    <a:lstStyle/>
                    <a:p>
                      <a:pPr algn="ctr"/>
                      <a:r>
                        <a:rPr lang="en-US" sz="2200"/>
                        <a:t>0</a:t>
                      </a:r>
                    </a:p>
                  </a:txBody>
                  <a:tcPr/>
                </a:tc>
                <a:tc>
                  <a:txBody>
                    <a:bodyPr/>
                    <a:lstStyle/>
                    <a:p>
                      <a:pPr algn="ctr"/>
                      <a:r>
                        <a:rPr lang="en-US" sz="2200"/>
                        <a:t>1</a:t>
                      </a:r>
                    </a:p>
                  </a:txBody>
                  <a:tcPr/>
                </a:tc>
                <a:tc>
                  <a:txBody>
                    <a:bodyPr/>
                    <a:lstStyle/>
                    <a:p>
                      <a:pPr algn="ctr"/>
                      <a:r>
                        <a:rPr lang="en-US" sz="2200"/>
                        <a:t>2</a:t>
                      </a:r>
                    </a:p>
                  </a:txBody>
                  <a:tcPr/>
                </a:tc>
                <a:tc>
                  <a:txBody>
                    <a:bodyPr/>
                    <a:lstStyle/>
                    <a:p>
                      <a:pPr algn="ctr"/>
                      <a:r>
                        <a:rPr lang="en-US" sz="2200"/>
                        <a:t>0</a:t>
                      </a:r>
                    </a:p>
                  </a:txBody>
                  <a:tcPr/>
                </a:tc>
                <a:tc>
                  <a:txBody>
                    <a:bodyPr/>
                    <a:lstStyle/>
                    <a:p>
                      <a:pPr algn="ctr"/>
                      <a:r>
                        <a:rPr lang="en-US" sz="2200"/>
                        <a:t>3</a:t>
                      </a:r>
                    </a:p>
                  </a:txBody>
                  <a:tcPr/>
                </a:tc>
                <a:tc>
                  <a:txBody>
                    <a:bodyPr/>
                    <a:lstStyle/>
                    <a:p>
                      <a:pPr algn="ctr"/>
                      <a:r>
                        <a:rPr lang="en-US" sz="2200"/>
                        <a:t>0</a:t>
                      </a:r>
                    </a:p>
                  </a:txBody>
                  <a:tcPr/>
                </a:tc>
                <a:tc>
                  <a:txBody>
                    <a:bodyPr/>
                    <a:lstStyle/>
                    <a:p>
                      <a:pPr algn="ctr"/>
                      <a:r>
                        <a:rPr lang="en-US" sz="2200"/>
                        <a:t>4</a:t>
                      </a:r>
                    </a:p>
                  </a:txBody>
                  <a:tcPr/>
                </a:tc>
                <a:tc>
                  <a:txBody>
                    <a:bodyPr/>
                    <a:lstStyle/>
                    <a:p>
                      <a:pPr algn="ctr"/>
                      <a:r>
                        <a:rPr lang="en-US" sz="2200"/>
                        <a:t>2</a:t>
                      </a:r>
                    </a:p>
                  </a:txBody>
                  <a:tcPr/>
                </a:tc>
                <a:tc>
                  <a:txBody>
                    <a:bodyPr/>
                    <a:lstStyle/>
                    <a:p>
                      <a:pPr algn="ctr"/>
                      <a:r>
                        <a:rPr lang="en-US" sz="2200"/>
                        <a:t>3</a:t>
                      </a:r>
                    </a:p>
                  </a:txBody>
                  <a:tcPr/>
                </a:tc>
                <a:tc>
                  <a:txBody>
                    <a:bodyPr/>
                    <a:lstStyle/>
                    <a:p>
                      <a:pPr algn="ctr"/>
                      <a:r>
                        <a:rPr lang="en-US" sz="2200"/>
                        <a:t>0</a:t>
                      </a:r>
                    </a:p>
                  </a:txBody>
                  <a:tcPr/>
                </a:tc>
                <a:tc>
                  <a:txBody>
                    <a:bodyPr/>
                    <a:lstStyle/>
                    <a:p>
                      <a:pPr algn="ctr"/>
                      <a:r>
                        <a:rPr lang="en-US" sz="2200"/>
                        <a:t>3</a:t>
                      </a:r>
                    </a:p>
                  </a:txBody>
                  <a:tcPr/>
                </a:tc>
                <a:tc>
                  <a:txBody>
                    <a:bodyPr/>
                    <a:lstStyle/>
                    <a:p>
                      <a:pPr algn="ctr"/>
                      <a:r>
                        <a:rPr lang="en-US" sz="2200"/>
                        <a:t>2</a:t>
                      </a:r>
                    </a:p>
                  </a:txBody>
                  <a:tcPr/>
                </a:tc>
                <a:tc>
                  <a:txBody>
                    <a:bodyPr/>
                    <a:lstStyle/>
                    <a:p>
                      <a:pPr algn="ctr"/>
                      <a:r>
                        <a:rPr lang="en-US" sz="2200"/>
                        <a:t>1</a:t>
                      </a:r>
                    </a:p>
                  </a:txBody>
                  <a:tcPr/>
                </a:tc>
                <a:tc>
                  <a:txBody>
                    <a:bodyPr/>
                    <a:lstStyle/>
                    <a:p>
                      <a:pPr algn="ctr"/>
                      <a:r>
                        <a:rPr lang="en-US" sz="2200"/>
                        <a:t>2</a:t>
                      </a:r>
                    </a:p>
                  </a:txBody>
                  <a:tcPr/>
                </a:tc>
                <a:tc>
                  <a:txBody>
                    <a:bodyPr/>
                    <a:lstStyle/>
                    <a:p>
                      <a:pPr algn="ctr"/>
                      <a:r>
                        <a:rPr lang="en-US" sz="2200"/>
                        <a:t>0</a:t>
                      </a:r>
                    </a:p>
                  </a:txBody>
                  <a:tcPr/>
                </a:tc>
                <a:tc>
                  <a:txBody>
                    <a:bodyPr/>
                    <a:lstStyle/>
                    <a:p>
                      <a:pPr algn="ctr"/>
                      <a:r>
                        <a:rPr lang="en-US" sz="2200"/>
                        <a:t>1</a:t>
                      </a:r>
                    </a:p>
                  </a:txBody>
                  <a:tcPr/>
                </a:tc>
                <a:tc>
                  <a:txBody>
                    <a:bodyPr/>
                    <a:lstStyle/>
                    <a:p>
                      <a:pPr algn="ctr"/>
                      <a:r>
                        <a:rPr lang="en-US" sz="2200"/>
                        <a:t>7</a:t>
                      </a:r>
                    </a:p>
                  </a:txBody>
                  <a:tcPr/>
                </a:tc>
                <a:tc>
                  <a:txBody>
                    <a:bodyPr/>
                    <a:lstStyle/>
                    <a:p>
                      <a:pPr algn="ctr"/>
                      <a:r>
                        <a:rPr lang="en-US" sz="2200"/>
                        <a:t>0</a:t>
                      </a:r>
                    </a:p>
                  </a:txBody>
                  <a:tcPr/>
                </a:tc>
                <a:tc>
                  <a:txBody>
                    <a:bodyPr/>
                    <a:lstStyle/>
                    <a:p>
                      <a:pPr algn="ctr"/>
                      <a:r>
                        <a:rPr lang="en-US" sz="2200"/>
                        <a:t>1</a:t>
                      </a:r>
                    </a:p>
                  </a:txBody>
                  <a:tcPr/>
                </a:tc>
                <a:extLst>
                  <a:ext uri="{0D108BD9-81ED-4DB2-BD59-A6C34878D82A}">
                    <a16:rowId xmlns:a16="http://schemas.microsoft.com/office/drawing/2014/main" xmlns=""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643665413"/>
              </p:ext>
            </p:extLst>
          </p:nvPr>
        </p:nvGraphicFramePr>
        <p:xfrm>
          <a:off x="1019969" y="2705152"/>
          <a:ext cx="9528803" cy="1280160"/>
        </p:xfrm>
        <a:graphic>
          <a:graphicData uri="http://schemas.openxmlformats.org/drawingml/2006/table">
            <a:tbl>
              <a:tblPr firstRow="1" bandRow="1">
                <a:tableStyleId>{2D5ABB26-0587-4C30-8999-92F81FD0307C}</a:tableStyleId>
              </a:tblPr>
              <a:tblGrid>
                <a:gridCol w="1787843">
                  <a:extLst>
                    <a:ext uri="{9D8B030D-6E8A-4147-A177-3AD203B41FA5}">
                      <a16:colId xmlns:a16="http://schemas.microsoft.com/office/drawing/2014/main" xmlns="" val="20000"/>
                    </a:ext>
                  </a:extLst>
                </a:gridCol>
                <a:gridCol w="387048">
                  <a:extLst>
                    <a:ext uri="{9D8B030D-6E8A-4147-A177-3AD203B41FA5}">
                      <a16:colId xmlns:a16="http://schemas.microsoft.com/office/drawing/2014/main" xmlns="" val="20001"/>
                    </a:ext>
                  </a:extLst>
                </a:gridCol>
                <a:gridCol w="387048">
                  <a:extLst>
                    <a:ext uri="{9D8B030D-6E8A-4147-A177-3AD203B41FA5}">
                      <a16:colId xmlns:a16="http://schemas.microsoft.com/office/drawing/2014/main" xmlns="" val="20002"/>
                    </a:ext>
                  </a:extLst>
                </a:gridCol>
                <a:gridCol w="387048">
                  <a:extLst>
                    <a:ext uri="{9D8B030D-6E8A-4147-A177-3AD203B41FA5}">
                      <a16:colId xmlns:a16="http://schemas.microsoft.com/office/drawing/2014/main" xmlns="" val="20003"/>
                    </a:ext>
                  </a:extLst>
                </a:gridCol>
                <a:gridCol w="387048">
                  <a:extLst>
                    <a:ext uri="{9D8B030D-6E8A-4147-A177-3AD203B41FA5}">
                      <a16:colId xmlns:a16="http://schemas.microsoft.com/office/drawing/2014/main" xmlns="" val="20004"/>
                    </a:ext>
                  </a:extLst>
                </a:gridCol>
                <a:gridCol w="387048">
                  <a:extLst>
                    <a:ext uri="{9D8B030D-6E8A-4147-A177-3AD203B41FA5}">
                      <a16:colId xmlns:a16="http://schemas.microsoft.com/office/drawing/2014/main" xmlns="" val="20005"/>
                    </a:ext>
                  </a:extLst>
                </a:gridCol>
                <a:gridCol w="387048">
                  <a:extLst>
                    <a:ext uri="{9D8B030D-6E8A-4147-A177-3AD203B41FA5}">
                      <a16:colId xmlns:a16="http://schemas.microsoft.com/office/drawing/2014/main" xmlns="" val="20006"/>
                    </a:ext>
                  </a:extLst>
                </a:gridCol>
                <a:gridCol w="387048">
                  <a:extLst>
                    <a:ext uri="{9D8B030D-6E8A-4147-A177-3AD203B41FA5}">
                      <a16:colId xmlns:a16="http://schemas.microsoft.com/office/drawing/2014/main" xmlns="" val="20007"/>
                    </a:ext>
                  </a:extLst>
                </a:gridCol>
                <a:gridCol w="387048">
                  <a:extLst>
                    <a:ext uri="{9D8B030D-6E8A-4147-A177-3AD203B41FA5}">
                      <a16:colId xmlns:a16="http://schemas.microsoft.com/office/drawing/2014/main" xmlns="" val="20008"/>
                    </a:ext>
                  </a:extLst>
                </a:gridCol>
                <a:gridCol w="387048">
                  <a:extLst>
                    <a:ext uri="{9D8B030D-6E8A-4147-A177-3AD203B41FA5}">
                      <a16:colId xmlns:a16="http://schemas.microsoft.com/office/drawing/2014/main" xmlns="" val="20009"/>
                    </a:ext>
                  </a:extLst>
                </a:gridCol>
                <a:gridCol w="387048">
                  <a:extLst>
                    <a:ext uri="{9D8B030D-6E8A-4147-A177-3AD203B41FA5}">
                      <a16:colId xmlns:a16="http://schemas.microsoft.com/office/drawing/2014/main" xmlns="" val="20010"/>
                    </a:ext>
                  </a:extLst>
                </a:gridCol>
                <a:gridCol w="387048">
                  <a:extLst>
                    <a:ext uri="{9D8B030D-6E8A-4147-A177-3AD203B41FA5}">
                      <a16:colId xmlns:a16="http://schemas.microsoft.com/office/drawing/2014/main" xmlns="" val="20011"/>
                    </a:ext>
                  </a:extLst>
                </a:gridCol>
                <a:gridCol w="387048">
                  <a:extLst>
                    <a:ext uri="{9D8B030D-6E8A-4147-A177-3AD203B41FA5}">
                      <a16:colId xmlns:a16="http://schemas.microsoft.com/office/drawing/2014/main" xmlns="" val="20012"/>
                    </a:ext>
                  </a:extLst>
                </a:gridCol>
                <a:gridCol w="387048">
                  <a:extLst>
                    <a:ext uri="{9D8B030D-6E8A-4147-A177-3AD203B41FA5}">
                      <a16:colId xmlns:a16="http://schemas.microsoft.com/office/drawing/2014/main" xmlns="" val="20013"/>
                    </a:ext>
                  </a:extLst>
                </a:gridCol>
                <a:gridCol w="387048">
                  <a:extLst>
                    <a:ext uri="{9D8B030D-6E8A-4147-A177-3AD203B41FA5}">
                      <a16:colId xmlns:a16="http://schemas.microsoft.com/office/drawing/2014/main" xmlns="" val="20014"/>
                    </a:ext>
                  </a:extLst>
                </a:gridCol>
                <a:gridCol w="387048">
                  <a:extLst>
                    <a:ext uri="{9D8B030D-6E8A-4147-A177-3AD203B41FA5}">
                      <a16:colId xmlns:a16="http://schemas.microsoft.com/office/drawing/2014/main" xmlns="" val="20015"/>
                    </a:ext>
                  </a:extLst>
                </a:gridCol>
                <a:gridCol w="387048">
                  <a:extLst>
                    <a:ext uri="{9D8B030D-6E8A-4147-A177-3AD203B41FA5}">
                      <a16:colId xmlns:a16="http://schemas.microsoft.com/office/drawing/2014/main" xmlns="" val="20016"/>
                    </a:ext>
                  </a:extLst>
                </a:gridCol>
                <a:gridCol w="387048">
                  <a:extLst>
                    <a:ext uri="{9D8B030D-6E8A-4147-A177-3AD203B41FA5}">
                      <a16:colId xmlns:a16="http://schemas.microsoft.com/office/drawing/2014/main" xmlns="" val="20017"/>
                    </a:ext>
                  </a:extLst>
                </a:gridCol>
                <a:gridCol w="387048">
                  <a:extLst>
                    <a:ext uri="{9D8B030D-6E8A-4147-A177-3AD203B41FA5}">
                      <a16:colId xmlns:a16="http://schemas.microsoft.com/office/drawing/2014/main" xmlns="" val="20018"/>
                    </a:ext>
                  </a:extLst>
                </a:gridCol>
                <a:gridCol w="387048">
                  <a:extLst>
                    <a:ext uri="{9D8B030D-6E8A-4147-A177-3AD203B41FA5}">
                      <a16:colId xmlns:a16="http://schemas.microsoft.com/office/drawing/2014/main" xmlns="" val="20019"/>
                    </a:ext>
                  </a:extLst>
                </a:gridCol>
                <a:gridCol w="387048">
                  <a:extLst>
                    <a:ext uri="{9D8B030D-6E8A-4147-A177-3AD203B41FA5}">
                      <a16:colId xmlns:a16="http://schemas.microsoft.com/office/drawing/2014/main" xmlns="" val="20020"/>
                    </a:ext>
                  </a:extLst>
                </a:gridCol>
              </a:tblGrid>
              <a:tr h="370840">
                <a:tc>
                  <a:txBody>
                    <a:bodyPr/>
                    <a:lstStyle/>
                    <a:p>
                      <a:r>
                        <a:rPr lang="en-US" sz="2200" dirty="0"/>
                        <a:t>Frame – 1</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xmlns="" val="10000"/>
                  </a:ext>
                </a:extLst>
              </a:tr>
              <a:tr h="370840">
                <a:tc>
                  <a:txBody>
                    <a:bodyPr/>
                    <a:lstStyle/>
                    <a:p>
                      <a:pPr marL="0" marR="0" indent="0" algn="l" defTabSz="914400" rtl="0" eaLnBrk="1" fontAlgn="auto" latinLnBrk="0" hangingPunct="1">
                        <a:lnSpc>
                          <a:spcPct val="100000"/>
                        </a:lnSpc>
                        <a:spcBef>
                          <a:spcPct val="0"/>
                        </a:spcBef>
                        <a:spcAft>
                          <a:spcPct val="0"/>
                        </a:spcAft>
                        <a:buClrTx/>
                        <a:buSzTx/>
                        <a:buFontTx/>
                        <a:buNone/>
                        <a:defRPr/>
                      </a:pPr>
                      <a:r>
                        <a:rPr lang="en-US" sz="2200"/>
                        <a:t>Frame – 2</a:t>
                      </a:r>
                      <a:endParaRPr lang="en-US" sz="22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xmlns="" val="10001"/>
                  </a:ext>
                </a:extLst>
              </a:tr>
              <a:tr h="403332">
                <a:tc>
                  <a:txBody>
                    <a:bodyPr/>
                    <a:lstStyle/>
                    <a:p>
                      <a:pPr marL="0" marR="0" indent="0" algn="l" defTabSz="914400" rtl="0" eaLnBrk="1" fontAlgn="auto" latinLnBrk="0" hangingPunct="1">
                        <a:lnSpc>
                          <a:spcPct val="100000"/>
                        </a:lnSpc>
                        <a:spcBef>
                          <a:spcPct val="0"/>
                        </a:spcBef>
                        <a:spcAft>
                          <a:spcPct val="0"/>
                        </a:spcAft>
                        <a:buClrTx/>
                        <a:buSzTx/>
                        <a:buFontTx/>
                        <a:buNone/>
                        <a:defRPr/>
                      </a:pPr>
                      <a:r>
                        <a:rPr lang="en-US" sz="2200"/>
                        <a:t>Frame – 3</a:t>
                      </a:r>
                      <a:endParaRPr lang="en-US" sz="22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xmlns="" val="10002"/>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064541781"/>
              </p:ext>
            </p:extLst>
          </p:nvPr>
        </p:nvGraphicFramePr>
        <p:xfrm>
          <a:off x="1019969" y="4015315"/>
          <a:ext cx="9528803" cy="426720"/>
        </p:xfrm>
        <a:graphic>
          <a:graphicData uri="http://schemas.openxmlformats.org/drawingml/2006/table">
            <a:tbl>
              <a:tblPr firstRow="1" bandRow="1">
                <a:tableStyleId>{93296810-A885-4BE3-A3E7-6D5BEEA58F35}</a:tableStyleId>
              </a:tblPr>
              <a:tblGrid>
                <a:gridCol w="1787843">
                  <a:extLst>
                    <a:ext uri="{9D8B030D-6E8A-4147-A177-3AD203B41FA5}">
                      <a16:colId xmlns:a16="http://schemas.microsoft.com/office/drawing/2014/main" xmlns="" val="20000"/>
                    </a:ext>
                  </a:extLst>
                </a:gridCol>
                <a:gridCol w="387048">
                  <a:extLst>
                    <a:ext uri="{9D8B030D-6E8A-4147-A177-3AD203B41FA5}">
                      <a16:colId xmlns:a16="http://schemas.microsoft.com/office/drawing/2014/main" xmlns="" val="20001"/>
                    </a:ext>
                  </a:extLst>
                </a:gridCol>
                <a:gridCol w="387048">
                  <a:extLst>
                    <a:ext uri="{9D8B030D-6E8A-4147-A177-3AD203B41FA5}">
                      <a16:colId xmlns:a16="http://schemas.microsoft.com/office/drawing/2014/main" xmlns="" val="20002"/>
                    </a:ext>
                  </a:extLst>
                </a:gridCol>
                <a:gridCol w="387048">
                  <a:extLst>
                    <a:ext uri="{9D8B030D-6E8A-4147-A177-3AD203B41FA5}">
                      <a16:colId xmlns:a16="http://schemas.microsoft.com/office/drawing/2014/main" xmlns="" val="20003"/>
                    </a:ext>
                  </a:extLst>
                </a:gridCol>
                <a:gridCol w="387048">
                  <a:extLst>
                    <a:ext uri="{9D8B030D-6E8A-4147-A177-3AD203B41FA5}">
                      <a16:colId xmlns:a16="http://schemas.microsoft.com/office/drawing/2014/main" xmlns="" val="20004"/>
                    </a:ext>
                  </a:extLst>
                </a:gridCol>
                <a:gridCol w="387048">
                  <a:extLst>
                    <a:ext uri="{9D8B030D-6E8A-4147-A177-3AD203B41FA5}">
                      <a16:colId xmlns:a16="http://schemas.microsoft.com/office/drawing/2014/main" xmlns="" val="20005"/>
                    </a:ext>
                  </a:extLst>
                </a:gridCol>
                <a:gridCol w="387048">
                  <a:extLst>
                    <a:ext uri="{9D8B030D-6E8A-4147-A177-3AD203B41FA5}">
                      <a16:colId xmlns:a16="http://schemas.microsoft.com/office/drawing/2014/main" xmlns="" val="20006"/>
                    </a:ext>
                  </a:extLst>
                </a:gridCol>
                <a:gridCol w="387048">
                  <a:extLst>
                    <a:ext uri="{9D8B030D-6E8A-4147-A177-3AD203B41FA5}">
                      <a16:colId xmlns:a16="http://schemas.microsoft.com/office/drawing/2014/main" xmlns="" val="20007"/>
                    </a:ext>
                  </a:extLst>
                </a:gridCol>
                <a:gridCol w="387048">
                  <a:extLst>
                    <a:ext uri="{9D8B030D-6E8A-4147-A177-3AD203B41FA5}">
                      <a16:colId xmlns:a16="http://schemas.microsoft.com/office/drawing/2014/main" xmlns="" val="20008"/>
                    </a:ext>
                  </a:extLst>
                </a:gridCol>
                <a:gridCol w="387048">
                  <a:extLst>
                    <a:ext uri="{9D8B030D-6E8A-4147-A177-3AD203B41FA5}">
                      <a16:colId xmlns:a16="http://schemas.microsoft.com/office/drawing/2014/main" xmlns="" val="20009"/>
                    </a:ext>
                  </a:extLst>
                </a:gridCol>
                <a:gridCol w="387048">
                  <a:extLst>
                    <a:ext uri="{9D8B030D-6E8A-4147-A177-3AD203B41FA5}">
                      <a16:colId xmlns:a16="http://schemas.microsoft.com/office/drawing/2014/main" xmlns="" val="20010"/>
                    </a:ext>
                  </a:extLst>
                </a:gridCol>
                <a:gridCol w="387048">
                  <a:extLst>
                    <a:ext uri="{9D8B030D-6E8A-4147-A177-3AD203B41FA5}">
                      <a16:colId xmlns:a16="http://schemas.microsoft.com/office/drawing/2014/main" xmlns="" val="20011"/>
                    </a:ext>
                  </a:extLst>
                </a:gridCol>
                <a:gridCol w="387048">
                  <a:extLst>
                    <a:ext uri="{9D8B030D-6E8A-4147-A177-3AD203B41FA5}">
                      <a16:colId xmlns:a16="http://schemas.microsoft.com/office/drawing/2014/main" xmlns="" val="20012"/>
                    </a:ext>
                  </a:extLst>
                </a:gridCol>
                <a:gridCol w="387048">
                  <a:extLst>
                    <a:ext uri="{9D8B030D-6E8A-4147-A177-3AD203B41FA5}">
                      <a16:colId xmlns:a16="http://schemas.microsoft.com/office/drawing/2014/main" xmlns="" val="20013"/>
                    </a:ext>
                  </a:extLst>
                </a:gridCol>
                <a:gridCol w="387048">
                  <a:extLst>
                    <a:ext uri="{9D8B030D-6E8A-4147-A177-3AD203B41FA5}">
                      <a16:colId xmlns:a16="http://schemas.microsoft.com/office/drawing/2014/main" xmlns="" val="20014"/>
                    </a:ext>
                  </a:extLst>
                </a:gridCol>
                <a:gridCol w="387048">
                  <a:extLst>
                    <a:ext uri="{9D8B030D-6E8A-4147-A177-3AD203B41FA5}">
                      <a16:colId xmlns:a16="http://schemas.microsoft.com/office/drawing/2014/main" xmlns="" val="20015"/>
                    </a:ext>
                  </a:extLst>
                </a:gridCol>
                <a:gridCol w="387048">
                  <a:extLst>
                    <a:ext uri="{9D8B030D-6E8A-4147-A177-3AD203B41FA5}">
                      <a16:colId xmlns:a16="http://schemas.microsoft.com/office/drawing/2014/main" xmlns="" val="20016"/>
                    </a:ext>
                  </a:extLst>
                </a:gridCol>
                <a:gridCol w="387048">
                  <a:extLst>
                    <a:ext uri="{9D8B030D-6E8A-4147-A177-3AD203B41FA5}">
                      <a16:colId xmlns:a16="http://schemas.microsoft.com/office/drawing/2014/main" xmlns="" val="20017"/>
                    </a:ext>
                  </a:extLst>
                </a:gridCol>
                <a:gridCol w="387048">
                  <a:extLst>
                    <a:ext uri="{9D8B030D-6E8A-4147-A177-3AD203B41FA5}">
                      <a16:colId xmlns:a16="http://schemas.microsoft.com/office/drawing/2014/main" xmlns="" val="20018"/>
                    </a:ext>
                  </a:extLst>
                </a:gridCol>
                <a:gridCol w="387048">
                  <a:extLst>
                    <a:ext uri="{9D8B030D-6E8A-4147-A177-3AD203B41FA5}">
                      <a16:colId xmlns:a16="http://schemas.microsoft.com/office/drawing/2014/main" xmlns="" val="20019"/>
                    </a:ext>
                  </a:extLst>
                </a:gridCol>
                <a:gridCol w="387048">
                  <a:extLst>
                    <a:ext uri="{9D8B030D-6E8A-4147-A177-3AD203B41FA5}">
                      <a16:colId xmlns:a16="http://schemas.microsoft.com/office/drawing/2014/main" xmlns="" val="20020"/>
                    </a:ext>
                  </a:extLst>
                </a:gridCol>
              </a:tblGrid>
              <a:tr h="370840">
                <a:tc>
                  <a:txBody>
                    <a:bodyPr/>
                    <a:lstStyle/>
                    <a:p>
                      <a:r>
                        <a:rPr lang="en-US" sz="1900" b="0" dirty="0">
                          <a:solidFill>
                            <a:schemeClr val="tx1"/>
                          </a:solidFill>
                        </a:rPr>
                        <a:t>Page</a:t>
                      </a:r>
                      <a:r>
                        <a:rPr lang="en-US" sz="1900" b="0" baseline="0" dirty="0">
                          <a:solidFill>
                            <a:schemeClr val="tx1"/>
                          </a:solidFill>
                        </a:rPr>
                        <a:t> Faults </a:t>
                      </a:r>
                      <a:r>
                        <a:rPr lang="en-US" sz="1900" b="1" baseline="0" dirty="0">
                          <a:solidFill>
                            <a:schemeClr val="accent6"/>
                          </a:solidFill>
                        </a:rPr>
                        <a:t>(</a:t>
                      </a:r>
                      <a:r>
                        <a:rPr lang="en-US" sz="1900" b="1" baseline="0" dirty="0" smtClean="0">
                          <a:solidFill>
                            <a:schemeClr val="accent6"/>
                          </a:solidFill>
                        </a:rPr>
                        <a:t>15)</a:t>
                      </a:r>
                      <a:endParaRPr lang="en-US" sz="1900" b="1" dirty="0">
                        <a:solidFill>
                          <a:schemeClr val="accent6"/>
                        </a:solidFill>
                      </a:endParaRPr>
                    </a:p>
                  </a:txBody>
                  <a:tcPr anchor="ct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dirty="0" smtClean="0">
                          <a:solidFill>
                            <a:schemeClr val="tx1"/>
                          </a:solidFill>
                        </a:rPr>
                        <a:t>F</a:t>
                      </a:r>
                      <a:endParaRPr lang="en-US" sz="2200" b="0" dirty="0">
                        <a:solidFill>
                          <a:schemeClr val="tx1"/>
                        </a:solidFill>
                      </a:endParaRP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174727547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nodeType="clickPar">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childTnLst>
                          </p:cTn>
                        </p:par>
                      </p:childTnLst>
                    </p:cTn>
                  </p:par>
                  <p:par>
                    <p:cTn id="19" fill="hold" nodeType="clickPar">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par>
                    <p:cTn id="24" fill="hold" nodeType="clickPar">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Second Chance Page Replacement Algorithm</a:t>
            </a:r>
            <a:endParaRPr lang="en-US"/>
          </a:p>
        </p:txBody>
      </p:sp>
      <p:sp>
        <p:nvSpPr>
          <p:cNvPr id="3" name="Content Placeholder 2"/>
          <p:cNvSpPr>
            <a:spLocks noGrp="1"/>
          </p:cNvSpPr>
          <p:nvPr>
            <p:ph idx="1"/>
          </p:nvPr>
        </p:nvSpPr>
        <p:spPr/>
        <p:txBody>
          <a:bodyPr/>
          <a:lstStyle/>
          <a:p>
            <a:r>
              <a:rPr lang="en-US"/>
              <a:t>It is </a:t>
            </a:r>
            <a:r>
              <a:rPr lang="en-US" b="1">
                <a:solidFill>
                  <a:schemeClr val="accent6"/>
                </a:solidFill>
              </a:rPr>
              <a:t>modified form of the FIFO page replacement algorithm</a:t>
            </a:r>
            <a:r>
              <a:rPr lang="en-US"/>
              <a:t>.</a:t>
            </a:r>
          </a:p>
          <a:p>
            <a:r>
              <a:rPr lang="en-US"/>
              <a:t>It looks at the front of the queue as FIFO does, but instead of immediately paging out that page, it </a:t>
            </a:r>
            <a:r>
              <a:rPr lang="en-US" b="1">
                <a:solidFill>
                  <a:schemeClr val="accent6"/>
                </a:solidFill>
              </a:rPr>
              <a:t>checks to see if its referenced bit is set</a:t>
            </a:r>
            <a:r>
              <a:rPr lang="en-US"/>
              <a:t>. </a:t>
            </a:r>
          </a:p>
          <a:p>
            <a:pPr lvl="1"/>
            <a:r>
              <a:rPr lang="en-US" b="1">
                <a:solidFill>
                  <a:schemeClr val="accent6"/>
                </a:solidFill>
              </a:rPr>
              <a:t>If it is not set (zero), the page is swapped out</a:t>
            </a:r>
            <a:r>
              <a:rPr lang="en-US"/>
              <a:t>. </a:t>
            </a:r>
          </a:p>
          <a:p>
            <a:pPr lvl="1"/>
            <a:r>
              <a:rPr lang="en-US" b="1">
                <a:solidFill>
                  <a:schemeClr val="accent6"/>
                </a:solidFill>
              </a:rPr>
              <a:t>Otherwise, the referenced bit is cleared</a:t>
            </a:r>
            <a:r>
              <a:rPr lang="en-US"/>
              <a:t>, the </a:t>
            </a:r>
            <a:r>
              <a:rPr lang="en-US" b="1">
                <a:solidFill>
                  <a:schemeClr val="accent6"/>
                </a:solidFill>
              </a:rPr>
              <a:t>page is inserted at the back of the queue </a:t>
            </a:r>
            <a:r>
              <a:rPr lang="en-US"/>
              <a:t>(as if it were a new page) and this process is repeated. </a:t>
            </a:r>
          </a:p>
        </p:txBody>
      </p:sp>
      <p:sp>
        <p:nvSpPr>
          <p:cNvPr id="4" name="Rectangle 3"/>
          <p:cNvSpPr/>
          <p:nvPr/>
        </p:nvSpPr>
        <p:spPr>
          <a:xfrm>
            <a:off x="2338388" y="3632200"/>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A</a:t>
            </a:r>
          </a:p>
        </p:txBody>
      </p:sp>
      <p:sp>
        <p:nvSpPr>
          <p:cNvPr id="5" name="Rectangle 4"/>
          <p:cNvSpPr/>
          <p:nvPr/>
        </p:nvSpPr>
        <p:spPr>
          <a:xfrm>
            <a:off x="3557588" y="3632200"/>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B</a:t>
            </a:r>
          </a:p>
        </p:txBody>
      </p:sp>
      <p:sp>
        <p:nvSpPr>
          <p:cNvPr id="6" name="Rectangle 5"/>
          <p:cNvSpPr/>
          <p:nvPr/>
        </p:nvSpPr>
        <p:spPr>
          <a:xfrm>
            <a:off x="4776788" y="3632200"/>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C</a:t>
            </a:r>
          </a:p>
        </p:txBody>
      </p:sp>
      <p:cxnSp>
        <p:nvCxnSpPr>
          <p:cNvPr id="7" name="Straight Connector 6"/>
          <p:cNvCxnSpPr/>
          <p:nvPr/>
        </p:nvCxnSpPr>
        <p:spPr>
          <a:xfrm>
            <a:off x="2947988" y="3860800"/>
            <a:ext cx="6096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167188" y="3860800"/>
            <a:ext cx="6096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5995988" y="3632200"/>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D</a:t>
            </a:r>
          </a:p>
        </p:txBody>
      </p:sp>
      <p:sp>
        <p:nvSpPr>
          <p:cNvPr id="10" name="Rectangle 9"/>
          <p:cNvSpPr/>
          <p:nvPr/>
        </p:nvSpPr>
        <p:spPr>
          <a:xfrm>
            <a:off x="7215188" y="3632200"/>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E</a:t>
            </a:r>
          </a:p>
        </p:txBody>
      </p:sp>
      <p:cxnSp>
        <p:nvCxnSpPr>
          <p:cNvPr id="11" name="Straight Connector 10"/>
          <p:cNvCxnSpPr/>
          <p:nvPr/>
        </p:nvCxnSpPr>
        <p:spPr>
          <a:xfrm>
            <a:off x="6605588" y="3860800"/>
            <a:ext cx="6096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386388" y="3860800"/>
            <a:ext cx="6096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490788" y="3258105"/>
            <a:ext cx="304800" cy="369332"/>
          </a:xfrm>
          <a:prstGeom prst="rect">
            <a:avLst/>
          </a:prstGeom>
          <a:noFill/>
        </p:spPr>
        <p:txBody>
          <a:bodyPr wrap="square" rtlCol="0">
            <a:spAutoFit/>
          </a:bodyPr>
          <a:lstStyle/>
          <a:p>
            <a:pPr algn="ctr"/>
            <a:r>
              <a:rPr lang="en-US"/>
              <a:t>1</a:t>
            </a:r>
          </a:p>
        </p:txBody>
      </p:sp>
      <p:cxnSp>
        <p:nvCxnSpPr>
          <p:cNvPr id="14" name="Straight Connector 13"/>
          <p:cNvCxnSpPr/>
          <p:nvPr/>
        </p:nvCxnSpPr>
        <p:spPr>
          <a:xfrm>
            <a:off x="6681788" y="3860800"/>
            <a:ext cx="5334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709988" y="3258105"/>
            <a:ext cx="304800" cy="369332"/>
          </a:xfrm>
          <a:prstGeom prst="rect">
            <a:avLst/>
          </a:prstGeom>
          <a:noFill/>
        </p:spPr>
        <p:txBody>
          <a:bodyPr wrap="square" rtlCol="0">
            <a:spAutoFit/>
          </a:bodyPr>
          <a:lstStyle/>
          <a:p>
            <a:pPr algn="ctr"/>
            <a:r>
              <a:rPr lang="en-US"/>
              <a:t>0</a:t>
            </a:r>
          </a:p>
        </p:txBody>
      </p:sp>
      <p:sp>
        <p:nvSpPr>
          <p:cNvPr id="16" name="TextBox 15"/>
          <p:cNvSpPr txBox="1"/>
          <p:nvPr/>
        </p:nvSpPr>
        <p:spPr>
          <a:xfrm>
            <a:off x="4957763" y="3258105"/>
            <a:ext cx="304800" cy="369332"/>
          </a:xfrm>
          <a:prstGeom prst="rect">
            <a:avLst/>
          </a:prstGeom>
          <a:noFill/>
        </p:spPr>
        <p:txBody>
          <a:bodyPr wrap="square" rtlCol="0">
            <a:spAutoFit/>
          </a:bodyPr>
          <a:lstStyle/>
          <a:p>
            <a:pPr algn="ctr"/>
            <a:r>
              <a:rPr lang="en-US"/>
              <a:t>1</a:t>
            </a:r>
          </a:p>
        </p:txBody>
      </p:sp>
      <p:sp>
        <p:nvSpPr>
          <p:cNvPr id="17" name="TextBox 16"/>
          <p:cNvSpPr txBox="1"/>
          <p:nvPr/>
        </p:nvSpPr>
        <p:spPr>
          <a:xfrm>
            <a:off x="6176963" y="3258105"/>
            <a:ext cx="304800" cy="369332"/>
          </a:xfrm>
          <a:prstGeom prst="rect">
            <a:avLst/>
          </a:prstGeom>
          <a:noFill/>
        </p:spPr>
        <p:txBody>
          <a:bodyPr wrap="square" rtlCol="0">
            <a:spAutoFit/>
          </a:bodyPr>
          <a:lstStyle/>
          <a:p>
            <a:pPr algn="ctr"/>
            <a:r>
              <a:rPr lang="en-US"/>
              <a:t>0</a:t>
            </a:r>
          </a:p>
        </p:txBody>
      </p:sp>
      <p:sp>
        <p:nvSpPr>
          <p:cNvPr id="18" name="TextBox 17"/>
          <p:cNvSpPr txBox="1"/>
          <p:nvPr/>
        </p:nvSpPr>
        <p:spPr>
          <a:xfrm>
            <a:off x="7391400" y="3258105"/>
            <a:ext cx="304800" cy="369332"/>
          </a:xfrm>
          <a:prstGeom prst="rect">
            <a:avLst/>
          </a:prstGeom>
          <a:noFill/>
        </p:spPr>
        <p:txBody>
          <a:bodyPr wrap="square" rtlCol="0">
            <a:spAutoFit/>
          </a:bodyPr>
          <a:lstStyle/>
          <a:p>
            <a:pPr algn="ctr"/>
            <a:r>
              <a:rPr lang="en-US"/>
              <a:t>1</a:t>
            </a:r>
          </a:p>
        </p:txBody>
      </p:sp>
      <p:sp>
        <p:nvSpPr>
          <p:cNvPr id="19" name="TextBox 18"/>
          <p:cNvSpPr txBox="1"/>
          <p:nvPr/>
        </p:nvSpPr>
        <p:spPr>
          <a:xfrm>
            <a:off x="776288" y="3214469"/>
            <a:ext cx="1371600" cy="646331"/>
          </a:xfrm>
          <a:prstGeom prst="rect">
            <a:avLst/>
          </a:prstGeom>
          <a:noFill/>
        </p:spPr>
        <p:txBody>
          <a:bodyPr wrap="square" rtlCol="0">
            <a:spAutoFit/>
          </a:bodyPr>
          <a:lstStyle/>
          <a:p>
            <a:r>
              <a:rPr lang="en-US"/>
              <a:t>Page loaded </a:t>
            </a:r>
          </a:p>
          <a:p>
            <a:r>
              <a:rPr lang="en-US"/>
              <a:t>first</a:t>
            </a:r>
          </a:p>
        </p:txBody>
      </p:sp>
      <p:sp>
        <p:nvSpPr>
          <p:cNvPr id="20" name="TextBox 19"/>
          <p:cNvSpPr txBox="1"/>
          <p:nvPr/>
        </p:nvSpPr>
        <p:spPr>
          <a:xfrm>
            <a:off x="8072438" y="3214469"/>
            <a:ext cx="1463040" cy="646331"/>
          </a:xfrm>
          <a:prstGeom prst="rect">
            <a:avLst/>
          </a:prstGeom>
          <a:noFill/>
        </p:spPr>
        <p:txBody>
          <a:bodyPr wrap="square" rtlCol="0">
            <a:spAutoFit/>
          </a:bodyPr>
          <a:lstStyle/>
          <a:p>
            <a:r>
              <a:rPr lang="en-US"/>
              <a:t>Most recently loaded page</a:t>
            </a:r>
          </a:p>
        </p:txBody>
      </p:sp>
      <p:cxnSp>
        <p:nvCxnSpPr>
          <p:cNvPr id="21" name="Straight Arrow Connector 20"/>
          <p:cNvCxnSpPr>
            <a:endCxn id="4" idx="1"/>
          </p:cNvCxnSpPr>
          <p:nvPr/>
        </p:nvCxnSpPr>
        <p:spPr>
          <a:xfrm>
            <a:off x="1423988" y="3632200"/>
            <a:ext cx="914400" cy="228600"/>
          </a:xfrm>
          <a:prstGeom prst="straightConnector1">
            <a:avLst/>
          </a:prstGeom>
          <a:ln w="38100">
            <a:solidFill>
              <a:schemeClr val="accent6"/>
            </a:solidFill>
            <a:tailEnd type="triangle"/>
          </a:ln>
        </p:spPr>
        <p:style>
          <a:lnRef idx="2">
            <a:schemeClr val="accent2"/>
          </a:lnRef>
          <a:fillRef idx="0">
            <a:schemeClr val="accent2"/>
          </a:fillRef>
          <a:effectRef idx="1">
            <a:schemeClr val="accent2"/>
          </a:effectRef>
          <a:fontRef idx="minor">
            <a:schemeClr val="tx1"/>
          </a:fontRef>
        </p:style>
      </p:cxnSp>
      <p:cxnSp>
        <p:nvCxnSpPr>
          <p:cNvPr id="22" name="Straight Arrow Connector 21"/>
          <p:cNvCxnSpPr>
            <a:endCxn id="10" idx="3"/>
          </p:cNvCxnSpPr>
          <p:nvPr/>
        </p:nvCxnSpPr>
        <p:spPr>
          <a:xfrm flipH="1">
            <a:off x="7824788" y="3632200"/>
            <a:ext cx="300038" cy="228600"/>
          </a:xfrm>
          <a:prstGeom prst="straightConnector1">
            <a:avLst/>
          </a:prstGeom>
          <a:ln w="38100">
            <a:solidFill>
              <a:schemeClr val="accent6"/>
            </a:solidFill>
            <a:tailEnd type="triangle"/>
          </a:ln>
        </p:spPr>
        <p:style>
          <a:lnRef idx="2">
            <a:schemeClr val="accent2"/>
          </a:lnRef>
          <a:fillRef idx="0">
            <a:schemeClr val="accent2"/>
          </a:fillRef>
          <a:effectRef idx="1">
            <a:schemeClr val="accent2"/>
          </a:effectRef>
          <a:fontRef idx="minor">
            <a:schemeClr val="tx1"/>
          </a:fontRef>
        </p:style>
      </p:cxnSp>
      <p:sp>
        <p:nvSpPr>
          <p:cNvPr id="23" name="Rectangle 22"/>
          <p:cNvSpPr/>
          <p:nvPr/>
        </p:nvSpPr>
        <p:spPr>
          <a:xfrm>
            <a:off x="2338388" y="4660345"/>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B</a:t>
            </a:r>
          </a:p>
        </p:txBody>
      </p:sp>
      <p:sp>
        <p:nvSpPr>
          <p:cNvPr id="24" name="Rectangle 23"/>
          <p:cNvSpPr/>
          <p:nvPr/>
        </p:nvSpPr>
        <p:spPr>
          <a:xfrm>
            <a:off x="3557588" y="4660345"/>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C</a:t>
            </a:r>
          </a:p>
        </p:txBody>
      </p:sp>
      <p:sp>
        <p:nvSpPr>
          <p:cNvPr id="25" name="Rectangle 24"/>
          <p:cNvSpPr/>
          <p:nvPr/>
        </p:nvSpPr>
        <p:spPr>
          <a:xfrm>
            <a:off x="4776788" y="4660345"/>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D</a:t>
            </a:r>
          </a:p>
        </p:txBody>
      </p:sp>
      <p:cxnSp>
        <p:nvCxnSpPr>
          <p:cNvPr id="26" name="Straight Connector 25"/>
          <p:cNvCxnSpPr/>
          <p:nvPr/>
        </p:nvCxnSpPr>
        <p:spPr>
          <a:xfrm>
            <a:off x="2947988" y="4888945"/>
            <a:ext cx="6096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4167188" y="4888945"/>
            <a:ext cx="6096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5995988" y="4660345"/>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E</a:t>
            </a:r>
          </a:p>
        </p:txBody>
      </p:sp>
      <p:sp>
        <p:nvSpPr>
          <p:cNvPr id="29" name="Rectangle 28"/>
          <p:cNvSpPr/>
          <p:nvPr/>
        </p:nvSpPr>
        <p:spPr>
          <a:xfrm>
            <a:off x="7215188" y="4660345"/>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A</a:t>
            </a:r>
          </a:p>
        </p:txBody>
      </p:sp>
      <p:cxnSp>
        <p:nvCxnSpPr>
          <p:cNvPr id="30" name="Straight Connector 29"/>
          <p:cNvCxnSpPr/>
          <p:nvPr/>
        </p:nvCxnSpPr>
        <p:spPr>
          <a:xfrm>
            <a:off x="6605588" y="4888945"/>
            <a:ext cx="6096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5386388" y="4888945"/>
            <a:ext cx="6096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2490788" y="4298950"/>
            <a:ext cx="304800" cy="369332"/>
          </a:xfrm>
          <a:prstGeom prst="rect">
            <a:avLst/>
          </a:prstGeom>
          <a:noFill/>
        </p:spPr>
        <p:txBody>
          <a:bodyPr wrap="square" rtlCol="0">
            <a:spAutoFit/>
          </a:bodyPr>
          <a:lstStyle/>
          <a:p>
            <a:pPr algn="ctr"/>
            <a:r>
              <a:rPr lang="en-US"/>
              <a:t>0</a:t>
            </a:r>
          </a:p>
        </p:txBody>
      </p:sp>
      <p:cxnSp>
        <p:nvCxnSpPr>
          <p:cNvPr id="33" name="Straight Connector 32"/>
          <p:cNvCxnSpPr/>
          <p:nvPr/>
        </p:nvCxnSpPr>
        <p:spPr>
          <a:xfrm>
            <a:off x="6681788" y="4888945"/>
            <a:ext cx="5334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3709988" y="4298950"/>
            <a:ext cx="304800" cy="369332"/>
          </a:xfrm>
          <a:prstGeom prst="rect">
            <a:avLst/>
          </a:prstGeom>
          <a:noFill/>
        </p:spPr>
        <p:txBody>
          <a:bodyPr wrap="square" rtlCol="0">
            <a:spAutoFit/>
          </a:bodyPr>
          <a:lstStyle/>
          <a:p>
            <a:pPr algn="ctr"/>
            <a:r>
              <a:rPr lang="en-US"/>
              <a:t>1</a:t>
            </a:r>
          </a:p>
        </p:txBody>
      </p:sp>
      <p:sp>
        <p:nvSpPr>
          <p:cNvPr id="35" name="TextBox 34"/>
          <p:cNvSpPr txBox="1"/>
          <p:nvPr/>
        </p:nvSpPr>
        <p:spPr>
          <a:xfrm>
            <a:off x="4957763" y="4298950"/>
            <a:ext cx="304800" cy="369332"/>
          </a:xfrm>
          <a:prstGeom prst="rect">
            <a:avLst/>
          </a:prstGeom>
          <a:noFill/>
        </p:spPr>
        <p:txBody>
          <a:bodyPr wrap="square" rtlCol="0">
            <a:spAutoFit/>
          </a:bodyPr>
          <a:lstStyle/>
          <a:p>
            <a:pPr algn="ctr"/>
            <a:r>
              <a:rPr lang="en-US"/>
              <a:t>0</a:t>
            </a:r>
          </a:p>
        </p:txBody>
      </p:sp>
      <p:sp>
        <p:nvSpPr>
          <p:cNvPr id="36" name="TextBox 35"/>
          <p:cNvSpPr txBox="1"/>
          <p:nvPr/>
        </p:nvSpPr>
        <p:spPr>
          <a:xfrm>
            <a:off x="6176963" y="4298950"/>
            <a:ext cx="304800" cy="369332"/>
          </a:xfrm>
          <a:prstGeom prst="rect">
            <a:avLst/>
          </a:prstGeom>
          <a:noFill/>
        </p:spPr>
        <p:txBody>
          <a:bodyPr wrap="square" rtlCol="0">
            <a:spAutoFit/>
          </a:bodyPr>
          <a:lstStyle/>
          <a:p>
            <a:pPr algn="ctr"/>
            <a:r>
              <a:rPr lang="en-US"/>
              <a:t>1</a:t>
            </a:r>
          </a:p>
        </p:txBody>
      </p:sp>
      <p:sp>
        <p:nvSpPr>
          <p:cNvPr id="37" name="TextBox 36"/>
          <p:cNvSpPr txBox="1"/>
          <p:nvPr/>
        </p:nvSpPr>
        <p:spPr>
          <a:xfrm>
            <a:off x="7391400" y="4298950"/>
            <a:ext cx="304800" cy="369332"/>
          </a:xfrm>
          <a:prstGeom prst="rect">
            <a:avLst/>
          </a:prstGeom>
          <a:noFill/>
        </p:spPr>
        <p:txBody>
          <a:bodyPr wrap="square" rtlCol="0">
            <a:spAutoFit/>
          </a:bodyPr>
          <a:lstStyle/>
          <a:p>
            <a:pPr algn="ctr"/>
            <a:r>
              <a:rPr lang="en-US">
                <a:solidFill>
                  <a:schemeClr val="accent6"/>
                </a:solidFill>
              </a:rPr>
              <a:t>0</a:t>
            </a:r>
          </a:p>
        </p:txBody>
      </p:sp>
      <p:sp>
        <p:nvSpPr>
          <p:cNvPr id="38" name="Rectangle 37"/>
          <p:cNvSpPr/>
          <p:nvPr/>
        </p:nvSpPr>
        <p:spPr>
          <a:xfrm>
            <a:off x="2338388" y="5689600"/>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C</a:t>
            </a:r>
          </a:p>
        </p:txBody>
      </p:sp>
      <p:sp>
        <p:nvSpPr>
          <p:cNvPr id="39" name="Rectangle 38"/>
          <p:cNvSpPr/>
          <p:nvPr/>
        </p:nvSpPr>
        <p:spPr>
          <a:xfrm>
            <a:off x="3557588" y="5689600"/>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D</a:t>
            </a:r>
          </a:p>
        </p:txBody>
      </p:sp>
      <p:sp>
        <p:nvSpPr>
          <p:cNvPr id="40" name="Rectangle 39"/>
          <p:cNvSpPr/>
          <p:nvPr/>
        </p:nvSpPr>
        <p:spPr>
          <a:xfrm>
            <a:off x="4776788" y="5689600"/>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E</a:t>
            </a:r>
          </a:p>
        </p:txBody>
      </p:sp>
      <p:cxnSp>
        <p:nvCxnSpPr>
          <p:cNvPr id="41" name="Straight Connector 40"/>
          <p:cNvCxnSpPr/>
          <p:nvPr/>
        </p:nvCxnSpPr>
        <p:spPr>
          <a:xfrm>
            <a:off x="2947988" y="5918200"/>
            <a:ext cx="6096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4167188" y="5918200"/>
            <a:ext cx="6096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43" name="Rectangle 42"/>
          <p:cNvSpPr/>
          <p:nvPr/>
        </p:nvSpPr>
        <p:spPr>
          <a:xfrm>
            <a:off x="5995988" y="5689600"/>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A</a:t>
            </a:r>
          </a:p>
        </p:txBody>
      </p:sp>
      <p:sp>
        <p:nvSpPr>
          <p:cNvPr id="44" name="Rectangle 43"/>
          <p:cNvSpPr/>
          <p:nvPr/>
        </p:nvSpPr>
        <p:spPr>
          <a:xfrm>
            <a:off x="7215188" y="5689600"/>
            <a:ext cx="609600" cy="457200"/>
          </a:xfrm>
          <a:prstGeom prst="rect">
            <a:avLst/>
          </a:prstGeom>
          <a:ln w="38100">
            <a:solidFill>
              <a:schemeClr val="accent2"/>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a:t>F</a:t>
            </a:r>
          </a:p>
        </p:txBody>
      </p:sp>
      <p:cxnSp>
        <p:nvCxnSpPr>
          <p:cNvPr id="45" name="Straight Connector 44"/>
          <p:cNvCxnSpPr/>
          <p:nvPr/>
        </p:nvCxnSpPr>
        <p:spPr>
          <a:xfrm>
            <a:off x="6605588" y="5918200"/>
            <a:ext cx="6096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5386388" y="5918200"/>
            <a:ext cx="6096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2490788" y="5328205"/>
            <a:ext cx="304800" cy="369332"/>
          </a:xfrm>
          <a:prstGeom prst="rect">
            <a:avLst/>
          </a:prstGeom>
          <a:noFill/>
        </p:spPr>
        <p:txBody>
          <a:bodyPr wrap="square" rtlCol="0">
            <a:spAutoFit/>
          </a:bodyPr>
          <a:lstStyle/>
          <a:p>
            <a:pPr algn="ctr"/>
            <a:r>
              <a:rPr lang="en-US"/>
              <a:t>1</a:t>
            </a:r>
          </a:p>
        </p:txBody>
      </p:sp>
      <p:cxnSp>
        <p:nvCxnSpPr>
          <p:cNvPr id="48" name="Straight Connector 47"/>
          <p:cNvCxnSpPr/>
          <p:nvPr/>
        </p:nvCxnSpPr>
        <p:spPr>
          <a:xfrm>
            <a:off x="6681788" y="5918200"/>
            <a:ext cx="5334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3709988" y="5328205"/>
            <a:ext cx="304800" cy="369332"/>
          </a:xfrm>
          <a:prstGeom prst="rect">
            <a:avLst/>
          </a:prstGeom>
          <a:noFill/>
        </p:spPr>
        <p:txBody>
          <a:bodyPr wrap="square" rtlCol="0">
            <a:spAutoFit/>
          </a:bodyPr>
          <a:lstStyle/>
          <a:p>
            <a:pPr algn="ctr"/>
            <a:r>
              <a:rPr lang="en-US"/>
              <a:t>0</a:t>
            </a:r>
          </a:p>
        </p:txBody>
      </p:sp>
      <p:sp>
        <p:nvSpPr>
          <p:cNvPr id="50" name="TextBox 49"/>
          <p:cNvSpPr txBox="1"/>
          <p:nvPr/>
        </p:nvSpPr>
        <p:spPr>
          <a:xfrm>
            <a:off x="4957763" y="5328205"/>
            <a:ext cx="304800" cy="369332"/>
          </a:xfrm>
          <a:prstGeom prst="rect">
            <a:avLst/>
          </a:prstGeom>
          <a:noFill/>
        </p:spPr>
        <p:txBody>
          <a:bodyPr wrap="square" rtlCol="0">
            <a:spAutoFit/>
          </a:bodyPr>
          <a:lstStyle/>
          <a:p>
            <a:pPr algn="ctr"/>
            <a:r>
              <a:rPr lang="en-US"/>
              <a:t>1</a:t>
            </a:r>
          </a:p>
        </p:txBody>
      </p:sp>
      <p:sp>
        <p:nvSpPr>
          <p:cNvPr id="51" name="TextBox 50"/>
          <p:cNvSpPr txBox="1"/>
          <p:nvPr/>
        </p:nvSpPr>
        <p:spPr>
          <a:xfrm>
            <a:off x="6176963" y="5328205"/>
            <a:ext cx="304800" cy="369332"/>
          </a:xfrm>
          <a:prstGeom prst="rect">
            <a:avLst/>
          </a:prstGeom>
          <a:noFill/>
        </p:spPr>
        <p:txBody>
          <a:bodyPr wrap="square" rtlCol="0">
            <a:spAutoFit/>
          </a:bodyPr>
          <a:lstStyle/>
          <a:p>
            <a:pPr algn="ctr"/>
            <a:r>
              <a:rPr lang="en-US"/>
              <a:t>0</a:t>
            </a:r>
          </a:p>
        </p:txBody>
      </p:sp>
      <p:sp>
        <p:nvSpPr>
          <p:cNvPr id="52" name="TextBox 51"/>
          <p:cNvSpPr txBox="1"/>
          <p:nvPr/>
        </p:nvSpPr>
        <p:spPr>
          <a:xfrm>
            <a:off x="7391400" y="5328205"/>
            <a:ext cx="304800" cy="369332"/>
          </a:xfrm>
          <a:prstGeom prst="rect">
            <a:avLst/>
          </a:prstGeom>
          <a:noFill/>
        </p:spPr>
        <p:txBody>
          <a:bodyPr wrap="square" rtlCol="0">
            <a:spAutoFit/>
          </a:bodyPr>
          <a:lstStyle/>
          <a:p>
            <a:pPr algn="ctr"/>
            <a:r>
              <a:rPr lang="en-US">
                <a:solidFill>
                  <a:schemeClr val="accent2"/>
                </a:solidFill>
              </a:rPr>
              <a:t>1</a:t>
            </a:r>
          </a:p>
        </p:txBody>
      </p:sp>
      <p:cxnSp>
        <p:nvCxnSpPr>
          <p:cNvPr id="53" name="Straight Arrow Connector 52"/>
          <p:cNvCxnSpPr/>
          <p:nvPr/>
        </p:nvCxnSpPr>
        <p:spPr>
          <a:xfrm flipH="1">
            <a:off x="1881188" y="4888945"/>
            <a:ext cx="457200" cy="0"/>
          </a:xfrm>
          <a:prstGeom prst="straightConnector1">
            <a:avLst/>
          </a:prstGeom>
          <a:ln w="38100">
            <a:solidFill>
              <a:schemeClr val="accent6"/>
            </a:solidFill>
            <a:tailEnd type="triangle"/>
          </a:ln>
        </p:spPr>
        <p:style>
          <a:lnRef idx="2">
            <a:schemeClr val="accent2"/>
          </a:lnRef>
          <a:fillRef idx="0">
            <a:schemeClr val="accent2"/>
          </a:fillRef>
          <a:effectRef idx="1">
            <a:schemeClr val="accent2"/>
          </a:effectRef>
          <a:fontRef idx="minor">
            <a:schemeClr val="tx1"/>
          </a:fontRef>
        </p:style>
      </p:cxnSp>
      <p:cxnSp>
        <p:nvCxnSpPr>
          <p:cNvPr id="54" name="Straight Arrow Connector 53"/>
          <p:cNvCxnSpPr/>
          <p:nvPr/>
        </p:nvCxnSpPr>
        <p:spPr>
          <a:xfrm flipH="1" flipV="1">
            <a:off x="7821419" y="4884728"/>
            <a:ext cx="596483" cy="8434"/>
          </a:xfrm>
          <a:prstGeom prst="straightConnector1">
            <a:avLst/>
          </a:prstGeom>
          <a:ln w="38100">
            <a:solidFill>
              <a:schemeClr val="accent6"/>
            </a:solidFill>
            <a:tailEnd type="triangle"/>
          </a:ln>
        </p:spPr>
        <p:style>
          <a:lnRef idx="2">
            <a:schemeClr val="accent2"/>
          </a:lnRef>
          <a:fillRef idx="0">
            <a:schemeClr val="accent2"/>
          </a:fillRef>
          <a:effectRef idx="1">
            <a:schemeClr val="accent2"/>
          </a:effectRef>
          <a:fontRef idx="minor">
            <a:schemeClr val="tx1"/>
          </a:fontRef>
        </p:style>
      </p:cxnSp>
      <p:sp>
        <p:nvSpPr>
          <p:cNvPr id="55" name="TextBox 54"/>
          <p:cNvSpPr txBox="1"/>
          <p:nvPr/>
        </p:nvSpPr>
        <p:spPr>
          <a:xfrm>
            <a:off x="951621" y="4704279"/>
            <a:ext cx="914400" cy="369332"/>
          </a:xfrm>
          <a:prstGeom prst="rect">
            <a:avLst/>
          </a:prstGeom>
          <a:noFill/>
        </p:spPr>
        <p:txBody>
          <a:bodyPr wrap="square" rtlCol="0">
            <a:spAutoFit/>
          </a:bodyPr>
          <a:lstStyle/>
          <a:p>
            <a:r>
              <a:rPr lang="en-US"/>
              <a:t>Remove</a:t>
            </a:r>
          </a:p>
        </p:txBody>
      </p:sp>
      <p:sp>
        <p:nvSpPr>
          <p:cNvPr id="56" name="TextBox 55"/>
          <p:cNvSpPr txBox="1"/>
          <p:nvPr/>
        </p:nvSpPr>
        <p:spPr>
          <a:xfrm>
            <a:off x="8388448" y="4704279"/>
            <a:ext cx="1188720" cy="369332"/>
          </a:xfrm>
          <a:prstGeom prst="rect">
            <a:avLst/>
          </a:prstGeom>
          <a:noFill/>
        </p:spPr>
        <p:txBody>
          <a:bodyPr wrap="square" rtlCol="0">
            <a:spAutoFit/>
          </a:bodyPr>
          <a:lstStyle/>
          <a:p>
            <a:r>
              <a:rPr lang="en-US"/>
              <a:t>Add at end</a:t>
            </a:r>
          </a:p>
        </p:txBody>
      </p:sp>
      <p:sp>
        <p:nvSpPr>
          <p:cNvPr id="60" name="Oval 59"/>
          <p:cNvSpPr/>
          <p:nvPr/>
        </p:nvSpPr>
        <p:spPr>
          <a:xfrm>
            <a:off x="2490788" y="3236287"/>
            <a:ext cx="304800" cy="412968"/>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Curved Connector 61"/>
          <p:cNvCxnSpPr>
            <a:stCxn id="4" idx="2"/>
            <a:endCxn id="10" idx="3"/>
          </p:cNvCxnSpPr>
          <p:nvPr/>
        </p:nvCxnSpPr>
        <p:spPr>
          <a:xfrm rot="5400000" flipH="1" flipV="1">
            <a:off x="5119688" y="1384300"/>
            <a:ext cx="228600" cy="5181600"/>
          </a:xfrm>
          <a:prstGeom prst="curvedConnector4">
            <a:avLst>
              <a:gd name="adj1" fmla="val -95833"/>
              <a:gd name="adj2" fmla="val 103861"/>
            </a:avLst>
          </a:prstGeom>
          <a:ln w="28575">
            <a:solidFill>
              <a:schemeClr val="tx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95589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60"/>
                                        </p:tgtEl>
                                        <p:attrNameLst>
                                          <p:attrName>style.visibility</p:attrName>
                                        </p:attrNameLst>
                                      </p:cBhvr>
                                      <p:to>
                                        <p:strVal val="visible"/>
                                      </p:to>
                                    </p:set>
                                    <p:animEffect transition="in" filter="fade">
                                      <p:cBhvr>
                                        <p:cTn id="69" dur="500"/>
                                        <p:tgtEl>
                                          <p:spTgt spid="60"/>
                                        </p:tgtEl>
                                      </p:cBhvr>
                                    </p:animEffect>
                                  </p:childTnLst>
                                </p:cTn>
                              </p:par>
                            </p:childTnLst>
                          </p:cTn>
                        </p:par>
                      </p:childTnLst>
                    </p:cTn>
                  </p:par>
                  <p:par>
                    <p:cTn id="70" fill="hold" nodeType="clickPar">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62"/>
                                        </p:tgtEl>
                                        <p:attrNameLst>
                                          <p:attrName>style.visibility</p:attrName>
                                        </p:attrNameLst>
                                      </p:cBhvr>
                                      <p:to>
                                        <p:strVal val="visible"/>
                                      </p:to>
                                    </p:set>
                                    <p:animEffect transition="in" filter="wipe(left)">
                                      <p:cBhvr>
                                        <p:cTn id="74" dur="500"/>
                                        <p:tgtEl>
                                          <p:spTgt spid="62"/>
                                        </p:tgtEl>
                                      </p:cBhvr>
                                    </p:animEffect>
                                  </p:childTnLst>
                                </p:cTn>
                              </p:par>
                            </p:childTnLst>
                          </p:cTn>
                        </p:par>
                      </p:childTnLst>
                    </p:cTn>
                  </p:par>
                  <p:par>
                    <p:cTn id="75" fill="hold" nodeType="clickPar">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5"/>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26"/>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27"/>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30"/>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31"/>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32"/>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33"/>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3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35"/>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37"/>
                                        </p:tgtEl>
                                        <p:attrNameLst>
                                          <p:attrName>style.visibility</p:attrName>
                                        </p:attrNameLst>
                                      </p:cBhvr>
                                      <p:to>
                                        <p:strVal val="visible"/>
                                      </p:to>
                                    </p:set>
                                  </p:childTnLst>
                                </p:cTn>
                              </p:par>
                            </p:childTnLst>
                          </p:cTn>
                        </p:par>
                      </p:childTnLst>
                    </p:cTn>
                  </p:par>
                  <p:par>
                    <p:cTn id="107" fill="hold" nodeType="clickPar">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53"/>
                                        </p:tgtEl>
                                        <p:attrNameLst>
                                          <p:attrName>style.visibility</p:attrName>
                                        </p:attrNameLst>
                                      </p:cBhvr>
                                      <p:to>
                                        <p:strVal val="visible"/>
                                      </p:to>
                                    </p:set>
                                  </p:childTnLst>
                                </p:cTn>
                              </p:par>
                            </p:childTnLst>
                          </p:cTn>
                        </p:par>
                      </p:childTnLst>
                    </p:cTn>
                  </p:par>
                  <p:par>
                    <p:cTn id="111" fill="hold" nodeType="clickPar">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55"/>
                                        </p:tgtEl>
                                        <p:attrNameLst>
                                          <p:attrName>style.visibility</p:attrName>
                                        </p:attrNameLst>
                                      </p:cBhvr>
                                      <p:to>
                                        <p:strVal val="visible"/>
                                      </p:to>
                                    </p:set>
                                  </p:childTnLst>
                                </p:cTn>
                              </p:par>
                            </p:childTnLst>
                          </p:cTn>
                        </p:par>
                      </p:childTnLst>
                    </p:cTn>
                  </p:par>
                  <p:par>
                    <p:cTn id="115" fill="hold" nodeType="clickPar">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54"/>
                                        </p:tgtEl>
                                        <p:attrNameLst>
                                          <p:attrName>style.visibility</p:attrName>
                                        </p:attrNameLst>
                                      </p:cBhvr>
                                      <p:to>
                                        <p:strVal val="visible"/>
                                      </p:to>
                                    </p:set>
                                  </p:childTnLst>
                                </p:cTn>
                              </p:par>
                            </p:childTnLst>
                          </p:cTn>
                        </p:par>
                      </p:childTnLst>
                    </p:cTn>
                  </p:par>
                  <p:par>
                    <p:cTn id="119" fill="hold" nodeType="clickPar">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56"/>
                                        </p:tgtEl>
                                        <p:attrNameLst>
                                          <p:attrName>style.visibility</p:attrName>
                                        </p:attrNameLst>
                                      </p:cBhvr>
                                      <p:to>
                                        <p:strVal val="visible"/>
                                      </p:to>
                                    </p:set>
                                  </p:childTnLst>
                                </p:cTn>
                              </p:par>
                            </p:childTnLst>
                          </p:cTn>
                        </p:par>
                      </p:childTnLst>
                    </p:cTn>
                  </p:par>
                  <p:par>
                    <p:cTn id="123" fill="hold" nodeType="clickPar">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38"/>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39"/>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40"/>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41"/>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42"/>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43"/>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44"/>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45"/>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46"/>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47"/>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48"/>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49"/>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50"/>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51"/>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9" grpId="0" animBg="1"/>
      <p:bldP spid="10" grpId="0" animBg="1"/>
      <p:bldP spid="13" grpId="0"/>
      <p:bldP spid="15" grpId="0"/>
      <p:bldP spid="16" grpId="0"/>
      <p:bldP spid="17" grpId="0"/>
      <p:bldP spid="18" grpId="0"/>
      <p:bldP spid="19" grpId="0"/>
      <p:bldP spid="20" grpId="0"/>
      <p:bldP spid="23" grpId="0" animBg="1"/>
      <p:bldP spid="24" grpId="0" animBg="1"/>
      <p:bldP spid="25" grpId="0" animBg="1"/>
      <p:bldP spid="28" grpId="0" animBg="1"/>
      <p:bldP spid="29" grpId="0" animBg="1"/>
      <p:bldP spid="32" grpId="0"/>
      <p:bldP spid="34" grpId="0"/>
      <p:bldP spid="35" grpId="0"/>
      <p:bldP spid="36" grpId="0"/>
      <p:bldP spid="37" grpId="0"/>
      <p:bldP spid="38" grpId="0" animBg="1"/>
      <p:bldP spid="39" grpId="0" animBg="1"/>
      <p:bldP spid="40" grpId="0" animBg="1"/>
      <p:bldP spid="43" grpId="0" animBg="1"/>
      <p:bldP spid="44" grpId="0" animBg="1"/>
      <p:bldP spid="47" grpId="0"/>
      <p:bldP spid="49" grpId="0"/>
      <p:bldP spid="50" grpId="0"/>
      <p:bldP spid="51" grpId="0"/>
      <p:bldP spid="52" grpId="0"/>
      <p:bldP spid="55" grpId="0"/>
      <p:bldP spid="56" grpId="0"/>
      <p:bldP spid="60"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Second Chance Page Replacement Algorithm</a:t>
            </a:r>
            <a:endParaRPr lang="en-US"/>
          </a:p>
        </p:txBody>
      </p:sp>
      <p:sp>
        <p:nvSpPr>
          <p:cNvPr id="3" name="Content Placeholder 2"/>
          <p:cNvSpPr>
            <a:spLocks noGrp="1"/>
          </p:cNvSpPr>
          <p:nvPr>
            <p:ph idx="1"/>
          </p:nvPr>
        </p:nvSpPr>
        <p:spPr/>
        <p:txBody>
          <a:bodyPr/>
          <a:lstStyle/>
          <a:p>
            <a:r>
              <a:rPr lang="en-US"/>
              <a:t>If all the pages have their referenced bit set, on the second encounter of the first page in the list, that page will be swapped out, as it now has its referenced bit cleared. </a:t>
            </a:r>
          </a:p>
          <a:p>
            <a:r>
              <a:rPr lang="en-US"/>
              <a:t>If all the pages have their reference bit cleared, then second chance algorithm degenerates into pure FIFO.</a:t>
            </a:r>
          </a:p>
        </p:txBody>
      </p:sp>
      <p:sp>
        <p:nvSpPr>
          <p:cNvPr id="4" name="Rectangle 3"/>
          <p:cNvSpPr/>
          <p:nvPr/>
        </p:nvSpPr>
        <p:spPr>
          <a:xfrm>
            <a:off x="2338388" y="3240317"/>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A</a:t>
            </a:r>
          </a:p>
        </p:txBody>
      </p:sp>
      <p:sp>
        <p:nvSpPr>
          <p:cNvPr id="5" name="Rectangle 4"/>
          <p:cNvSpPr/>
          <p:nvPr/>
        </p:nvSpPr>
        <p:spPr>
          <a:xfrm>
            <a:off x="3557588" y="3240317"/>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B</a:t>
            </a:r>
          </a:p>
        </p:txBody>
      </p:sp>
      <p:sp>
        <p:nvSpPr>
          <p:cNvPr id="6" name="Rectangle 5"/>
          <p:cNvSpPr/>
          <p:nvPr/>
        </p:nvSpPr>
        <p:spPr>
          <a:xfrm>
            <a:off x="4776788" y="3240317"/>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C</a:t>
            </a:r>
          </a:p>
        </p:txBody>
      </p:sp>
      <p:cxnSp>
        <p:nvCxnSpPr>
          <p:cNvPr id="7" name="Straight Connector 6"/>
          <p:cNvCxnSpPr/>
          <p:nvPr/>
        </p:nvCxnSpPr>
        <p:spPr>
          <a:xfrm>
            <a:off x="2947988" y="3468917"/>
            <a:ext cx="6096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167188" y="3468917"/>
            <a:ext cx="6096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5995988" y="3240317"/>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D</a:t>
            </a:r>
          </a:p>
        </p:txBody>
      </p:sp>
      <p:sp>
        <p:nvSpPr>
          <p:cNvPr id="10" name="Rectangle 9"/>
          <p:cNvSpPr/>
          <p:nvPr/>
        </p:nvSpPr>
        <p:spPr>
          <a:xfrm>
            <a:off x="7215188" y="3240317"/>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E</a:t>
            </a:r>
          </a:p>
        </p:txBody>
      </p:sp>
      <p:cxnSp>
        <p:nvCxnSpPr>
          <p:cNvPr id="11" name="Straight Connector 10"/>
          <p:cNvCxnSpPr/>
          <p:nvPr/>
        </p:nvCxnSpPr>
        <p:spPr>
          <a:xfrm>
            <a:off x="6605588" y="3468917"/>
            <a:ext cx="6096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386388" y="3468917"/>
            <a:ext cx="6096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490788" y="2866222"/>
            <a:ext cx="304800" cy="369332"/>
          </a:xfrm>
          <a:prstGeom prst="rect">
            <a:avLst/>
          </a:prstGeom>
          <a:noFill/>
        </p:spPr>
        <p:txBody>
          <a:bodyPr wrap="square" rtlCol="0">
            <a:spAutoFit/>
          </a:bodyPr>
          <a:lstStyle/>
          <a:p>
            <a:pPr algn="ctr"/>
            <a:r>
              <a:rPr lang="en-US"/>
              <a:t>1</a:t>
            </a:r>
          </a:p>
        </p:txBody>
      </p:sp>
      <p:cxnSp>
        <p:nvCxnSpPr>
          <p:cNvPr id="14" name="Straight Connector 13"/>
          <p:cNvCxnSpPr/>
          <p:nvPr/>
        </p:nvCxnSpPr>
        <p:spPr>
          <a:xfrm>
            <a:off x="6681788" y="3468917"/>
            <a:ext cx="5334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709988" y="2866222"/>
            <a:ext cx="304800" cy="369332"/>
          </a:xfrm>
          <a:prstGeom prst="rect">
            <a:avLst/>
          </a:prstGeom>
          <a:noFill/>
        </p:spPr>
        <p:txBody>
          <a:bodyPr wrap="square" rtlCol="0">
            <a:spAutoFit/>
          </a:bodyPr>
          <a:lstStyle/>
          <a:p>
            <a:pPr algn="ctr"/>
            <a:r>
              <a:rPr lang="en-US"/>
              <a:t>1</a:t>
            </a:r>
          </a:p>
        </p:txBody>
      </p:sp>
      <p:sp>
        <p:nvSpPr>
          <p:cNvPr id="16" name="TextBox 15"/>
          <p:cNvSpPr txBox="1"/>
          <p:nvPr/>
        </p:nvSpPr>
        <p:spPr>
          <a:xfrm>
            <a:off x="4957763" y="2866222"/>
            <a:ext cx="304800" cy="369332"/>
          </a:xfrm>
          <a:prstGeom prst="rect">
            <a:avLst/>
          </a:prstGeom>
          <a:noFill/>
        </p:spPr>
        <p:txBody>
          <a:bodyPr wrap="square" rtlCol="0">
            <a:spAutoFit/>
          </a:bodyPr>
          <a:lstStyle/>
          <a:p>
            <a:pPr algn="ctr"/>
            <a:r>
              <a:rPr lang="en-US"/>
              <a:t>1</a:t>
            </a:r>
          </a:p>
        </p:txBody>
      </p:sp>
      <p:sp>
        <p:nvSpPr>
          <p:cNvPr id="17" name="TextBox 16"/>
          <p:cNvSpPr txBox="1"/>
          <p:nvPr/>
        </p:nvSpPr>
        <p:spPr>
          <a:xfrm>
            <a:off x="6176963" y="2866222"/>
            <a:ext cx="304800" cy="369332"/>
          </a:xfrm>
          <a:prstGeom prst="rect">
            <a:avLst/>
          </a:prstGeom>
          <a:noFill/>
        </p:spPr>
        <p:txBody>
          <a:bodyPr wrap="square" rtlCol="0">
            <a:spAutoFit/>
          </a:bodyPr>
          <a:lstStyle/>
          <a:p>
            <a:pPr algn="ctr"/>
            <a:r>
              <a:rPr lang="en-US"/>
              <a:t>1</a:t>
            </a:r>
          </a:p>
        </p:txBody>
      </p:sp>
      <p:sp>
        <p:nvSpPr>
          <p:cNvPr id="18" name="TextBox 17"/>
          <p:cNvSpPr txBox="1"/>
          <p:nvPr/>
        </p:nvSpPr>
        <p:spPr>
          <a:xfrm>
            <a:off x="7391400" y="2866222"/>
            <a:ext cx="304800" cy="369332"/>
          </a:xfrm>
          <a:prstGeom prst="rect">
            <a:avLst/>
          </a:prstGeom>
          <a:noFill/>
        </p:spPr>
        <p:txBody>
          <a:bodyPr wrap="square" rtlCol="0">
            <a:spAutoFit/>
          </a:bodyPr>
          <a:lstStyle/>
          <a:p>
            <a:pPr algn="ctr"/>
            <a:r>
              <a:rPr lang="en-US"/>
              <a:t>1</a:t>
            </a:r>
          </a:p>
        </p:txBody>
      </p:sp>
      <p:sp>
        <p:nvSpPr>
          <p:cNvPr id="23" name="Rectangle 22"/>
          <p:cNvSpPr/>
          <p:nvPr/>
        </p:nvSpPr>
        <p:spPr>
          <a:xfrm>
            <a:off x="2338388" y="4268462"/>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A</a:t>
            </a:r>
          </a:p>
        </p:txBody>
      </p:sp>
      <p:sp>
        <p:nvSpPr>
          <p:cNvPr id="24" name="Rectangle 23"/>
          <p:cNvSpPr/>
          <p:nvPr/>
        </p:nvSpPr>
        <p:spPr>
          <a:xfrm>
            <a:off x="3557588" y="4268462"/>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B</a:t>
            </a:r>
          </a:p>
        </p:txBody>
      </p:sp>
      <p:sp>
        <p:nvSpPr>
          <p:cNvPr id="25" name="Rectangle 24"/>
          <p:cNvSpPr/>
          <p:nvPr/>
        </p:nvSpPr>
        <p:spPr>
          <a:xfrm>
            <a:off x="4776788" y="4268462"/>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C</a:t>
            </a:r>
          </a:p>
        </p:txBody>
      </p:sp>
      <p:cxnSp>
        <p:nvCxnSpPr>
          <p:cNvPr id="26" name="Straight Connector 25"/>
          <p:cNvCxnSpPr/>
          <p:nvPr/>
        </p:nvCxnSpPr>
        <p:spPr>
          <a:xfrm>
            <a:off x="2947988" y="4497062"/>
            <a:ext cx="6096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4167188" y="4497062"/>
            <a:ext cx="6096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5995988" y="4268462"/>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D</a:t>
            </a:r>
          </a:p>
        </p:txBody>
      </p:sp>
      <p:sp>
        <p:nvSpPr>
          <p:cNvPr id="29" name="Rectangle 28"/>
          <p:cNvSpPr/>
          <p:nvPr/>
        </p:nvSpPr>
        <p:spPr>
          <a:xfrm>
            <a:off x="7215188" y="4268462"/>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E</a:t>
            </a:r>
          </a:p>
        </p:txBody>
      </p:sp>
      <p:cxnSp>
        <p:nvCxnSpPr>
          <p:cNvPr id="30" name="Straight Connector 29"/>
          <p:cNvCxnSpPr/>
          <p:nvPr/>
        </p:nvCxnSpPr>
        <p:spPr>
          <a:xfrm>
            <a:off x="6605588" y="4497062"/>
            <a:ext cx="6096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5386388" y="4497062"/>
            <a:ext cx="6096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2490788" y="3907067"/>
            <a:ext cx="304800" cy="369332"/>
          </a:xfrm>
          <a:prstGeom prst="rect">
            <a:avLst/>
          </a:prstGeom>
          <a:noFill/>
        </p:spPr>
        <p:txBody>
          <a:bodyPr wrap="square" rtlCol="0">
            <a:spAutoFit/>
          </a:bodyPr>
          <a:lstStyle/>
          <a:p>
            <a:pPr algn="ctr"/>
            <a:r>
              <a:rPr lang="en-US"/>
              <a:t>0</a:t>
            </a:r>
          </a:p>
        </p:txBody>
      </p:sp>
      <p:cxnSp>
        <p:nvCxnSpPr>
          <p:cNvPr id="33" name="Straight Connector 32"/>
          <p:cNvCxnSpPr/>
          <p:nvPr/>
        </p:nvCxnSpPr>
        <p:spPr>
          <a:xfrm>
            <a:off x="6681788" y="4497062"/>
            <a:ext cx="5334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3709988" y="3907067"/>
            <a:ext cx="304800" cy="369332"/>
          </a:xfrm>
          <a:prstGeom prst="rect">
            <a:avLst/>
          </a:prstGeom>
          <a:noFill/>
        </p:spPr>
        <p:txBody>
          <a:bodyPr wrap="square" rtlCol="0">
            <a:spAutoFit/>
          </a:bodyPr>
          <a:lstStyle/>
          <a:p>
            <a:pPr algn="ctr"/>
            <a:r>
              <a:rPr lang="en-US"/>
              <a:t>0</a:t>
            </a:r>
          </a:p>
        </p:txBody>
      </p:sp>
      <p:sp>
        <p:nvSpPr>
          <p:cNvPr id="35" name="TextBox 34"/>
          <p:cNvSpPr txBox="1"/>
          <p:nvPr/>
        </p:nvSpPr>
        <p:spPr>
          <a:xfrm>
            <a:off x="4957763" y="3907067"/>
            <a:ext cx="304800" cy="369332"/>
          </a:xfrm>
          <a:prstGeom prst="rect">
            <a:avLst/>
          </a:prstGeom>
          <a:noFill/>
        </p:spPr>
        <p:txBody>
          <a:bodyPr wrap="square" rtlCol="0">
            <a:spAutoFit/>
          </a:bodyPr>
          <a:lstStyle/>
          <a:p>
            <a:pPr algn="ctr"/>
            <a:r>
              <a:rPr lang="en-US"/>
              <a:t>0</a:t>
            </a:r>
          </a:p>
        </p:txBody>
      </p:sp>
      <p:sp>
        <p:nvSpPr>
          <p:cNvPr id="36" name="TextBox 35"/>
          <p:cNvSpPr txBox="1"/>
          <p:nvPr/>
        </p:nvSpPr>
        <p:spPr>
          <a:xfrm>
            <a:off x="6176963" y="3907067"/>
            <a:ext cx="304800" cy="369332"/>
          </a:xfrm>
          <a:prstGeom prst="rect">
            <a:avLst/>
          </a:prstGeom>
          <a:noFill/>
        </p:spPr>
        <p:txBody>
          <a:bodyPr wrap="square" rtlCol="0">
            <a:spAutoFit/>
          </a:bodyPr>
          <a:lstStyle/>
          <a:p>
            <a:pPr algn="ctr"/>
            <a:r>
              <a:rPr lang="en-US"/>
              <a:t>0</a:t>
            </a:r>
          </a:p>
        </p:txBody>
      </p:sp>
      <p:sp>
        <p:nvSpPr>
          <p:cNvPr id="37" name="TextBox 36"/>
          <p:cNvSpPr txBox="1"/>
          <p:nvPr/>
        </p:nvSpPr>
        <p:spPr>
          <a:xfrm>
            <a:off x="7391400" y="3907067"/>
            <a:ext cx="304800" cy="369332"/>
          </a:xfrm>
          <a:prstGeom prst="rect">
            <a:avLst/>
          </a:prstGeom>
          <a:noFill/>
        </p:spPr>
        <p:txBody>
          <a:bodyPr wrap="square" rtlCol="0">
            <a:spAutoFit/>
          </a:bodyPr>
          <a:lstStyle/>
          <a:p>
            <a:pPr algn="ctr"/>
            <a:r>
              <a:rPr lang="en-US"/>
              <a:t>0</a:t>
            </a:r>
          </a:p>
        </p:txBody>
      </p:sp>
      <p:sp>
        <p:nvSpPr>
          <p:cNvPr id="38" name="Rectangle 37"/>
          <p:cNvSpPr/>
          <p:nvPr/>
        </p:nvSpPr>
        <p:spPr>
          <a:xfrm>
            <a:off x="2338388" y="5297717"/>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B</a:t>
            </a:r>
          </a:p>
        </p:txBody>
      </p:sp>
      <p:sp>
        <p:nvSpPr>
          <p:cNvPr id="39" name="Rectangle 38"/>
          <p:cNvSpPr/>
          <p:nvPr/>
        </p:nvSpPr>
        <p:spPr>
          <a:xfrm>
            <a:off x="3557588" y="5297717"/>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C</a:t>
            </a:r>
          </a:p>
        </p:txBody>
      </p:sp>
      <p:sp>
        <p:nvSpPr>
          <p:cNvPr id="40" name="Rectangle 39"/>
          <p:cNvSpPr/>
          <p:nvPr/>
        </p:nvSpPr>
        <p:spPr>
          <a:xfrm>
            <a:off x="4776788" y="5297717"/>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D</a:t>
            </a:r>
          </a:p>
        </p:txBody>
      </p:sp>
      <p:cxnSp>
        <p:nvCxnSpPr>
          <p:cNvPr id="41" name="Straight Connector 40"/>
          <p:cNvCxnSpPr/>
          <p:nvPr/>
        </p:nvCxnSpPr>
        <p:spPr>
          <a:xfrm>
            <a:off x="2947988" y="5526317"/>
            <a:ext cx="6096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4167188" y="5526317"/>
            <a:ext cx="6096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43" name="Rectangle 42"/>
          <p:cNvSpPr/>
          <p:nvPr/>
        </p:nvSpPr>
        <p:spPr>
          <a:xfrm>
            <a:off x="5995988" y="5297717"/>
            <a:ext cx="6096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E</a:t>
            </a:r>
          </a:p>
        </p:txBody>
      </p:sp>
      <p:sp>
        <p:nvSpPr>
          <p:cNvPr id="44" name="Rectangle 43"/>
          <p:cNvSpPr/>
          <p:nvPr/>
        </p:nvSpPr>
        <p:spPr>
          <a:xfrm>
            <a:off x="7215188" y="5297717"/>
            <a:ext cx="609600" cy="457200"/>
          </a:xfrm>
          <a:prstGeom prst="rect">
            <a:avLst/>
          </a:prstGeom>
          <a:ln w="38100">
            <a:solidFill>
              <a:schemeClr val="accent2"/>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a:t>F</a:t>
            </a:r>
          </a:p>
        </p:txBody>
      </p:sp>
      <p:cxnSp>
        <p:nvCxnSpPr>
          <p:cNvPr id="45" name="Straight Connector 44"/>
          <p:cNvCxnSpPr/>
          <p:nvPr/>
        </p:nvCxnSpPr>
        <p:spPr>
          <a:xfrm>
            <a:off x="6605588" y="5526317"/>
            <a:ext cx="6096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5386388" y="5526317"/>
            <a:ext cx="6096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2490788" y="4936322"/>
            <a:ext cx="304800" cy="369332"/>
          </a:xfrm>
          <a:prstGeom prst="rect">
            <a:avLst/>
          </a:prstGeom>
          <a:noFill/>
        </p:spPr>
        <p:txBody>
          <a:bodyPr wrap="square" rtlCol="0">
            <a:spAutoFit/>
          </a:bodyPr>
          <a:lstStyle/>
          <a:p>
            <a:pPr algn="ctr"/>
            <a:r>
              <a:rPr lang="en-US"/>
              <a:t>0</a:t>
            </a:r>
          </a:p>
        </p:txBody>
      </p:sp>
      <p:cxnSp>
        <p:nvCxnSpPr>
          <p:cNvPr id="48" name="Straight Connector 47"/>
          <p:cNvCxnSpPr/>
          <p:nvPr/>
        </p:nvCxnSpPr>
        <p:spPr>
          <a:xfrm>
            <a:off x="6681788" y="5526317"/>
            <a:ext cx="5334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3709988" y="4936322"/>
            <a:ext cx="304800" cy="369332"/>
          </a:xfrm>
          <a:prstGeom prst="rect">
            <a:avLst/>
          </a:prstGeom>
          <a:noFill/>
        </p:spPr>
        <p:txBody>
          <a:bodyPr wrap="square" rtlCol="0">
            <a:spAutoFit/>
          </a:bodyPr>
          <a:lstStyle/>
          <a:p>
            <a:pPr algn="ctr"/>
            <a:r>
              <a:rPr lang="en-US"/>
              <a:t>0</a:t>
            </a:r>
          </a:p>
        </p:txBody>
      </p:sp>
      <p:sp>
        <p:nvSpPr>
          <p:cNvPr id="50" name="TextBox 49"/>
          <p:cNvSpPr txBox="1"/>
          <p:nvPr/>
        </p:nvSpPr>
        <p:spPr>
          <a:xfrm>
            <a:off x="4957763" y="4936322"/>
            <a:ext cx="304800" cy="369332"/>
          </a:xfrm>
          <a:prstGeom prst="rect">
            <a:avLst/>
          </a:prstGeom>
          <a:noFill/>
        </p:spPr>
        <p:txBody>
          <a:bodyPr wrap="square" rtlCol="0">
            <a:spAutoFit/>
          </a:bodyPr>
          <a:lstStyle/>
          <a:p>
            <a:pPr algn="ctr"/>
            <a:r>
              <a:rPr lang="en-US"/>
              <a:t>0</a:t>
            </a:r>
          </a:p>
        </p:txBody>
      </p:sp>
      <p:sp>
        <p:nvSpPr>
          <p:cNvPr id="51" name="TextBox 50"/>
          <p:cNvSpPr txBox="1"/>
          <p:nvPr/>
        </p:nvSpPr>
        <p:spPr>
          <a:xfrm>
            <a:off x="6176963" y="4936322"/>
            <a:ext cx="304800" cy="369332"/>
          </a:xfrm>
          <a:prstGeom prst="rect">
            <a:avLst/>
          </a:prstGeom>
          <a:noFill/>
        </p:spPr>
        <p:txBody>
          <a:bodyPr wrap="square" rtlCol="0">
            <a:spAutoFit/>
          </a:bodyPr>
          <a:lstStyle/>
          <a:p>
            <a:pPr algn="ctr"/>
            <a:r>
              <a:rPr lang="en-US"/>
              <a:t>0</a:t>
            </a:r>
          </a:p>
        </p:txBody>
      </p:sp>
      <p:sp>
        <p:nvSpPr>
          <p:cNvPr id="52" name="TextBox 51"/>
          <p:cNvSpPr txBox="1"/>
          <p:nvPr/>
        </p:nvSpPr>
        <p:spPr>
          <a:xfrm>
            <a:off x="7391400" y="4936322"/>
            <a:ext cx="304800" cy="369332"/>
          </a:xfrm>
          <a:prstGeom prst="rect">
            <a:avLst/>
          </a:prstGeom>
          <a:noFill/>
        </p:spPr>
        <p:txBody>
          <a:bodyPr wrap="square" rtlCol="0">
            <a:spAutoFit/>
          </a:bodyPr>
          <a:lstStyle/>
          <a:p>
            <a:pPr algn="ctr"/>
            <a:r>
              <a:rPr lang="en-US">
                <a:solidFill>
                  <a:schemeClr val="accent2"/>
                </a:solidFill>
              </a:rPr>
              <a:t>1</a:t>
            </a:r>
          </a:p>
        </p:txBody>
      </p:sp>
    </p:spTree>
    <p:extLst>
      <p:ext uri="{BB962C8B-B14F-4D97-AF65-F5344CB8AC3E}">
        <p14:creationId xmlns:p14="http://schemas.microsoft.com/office/powerpoint/2010/main" val="25330691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4"/>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26"/>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27"/>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29"/>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30"/>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31"/>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32"/>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33"/>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34"/>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35"/>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36"/>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3">
                                            <p:txEl>
                                              <p:pRg st="1" end="1"/>
                                            </p:txEl>
                                          </p:spTgt>
                                        </p:tgtEl>
                                        <p:attrNameLst>
                                          <p:attrName>style.visibility</p:attrName>
                                        </p:attrNameLst>
                                      </p:cBhvr>
                                      <p:to>
                                        <p:strVal val="visible"/>
                                      </p:to>
                                    </p:set>
                                    <p:animEffect transition="in" filter="fade">
                                      <p:cBhvr>
                                        <p:cTn id="76" dur="500"/>
                                        <p:tgtEl>
                                          <p:spTgt spid="3">
                                            <p:txEl>
                                              <p:pRg st="1" end="1"/>
                                            </p:txEl>
                                          </p:spTgt>
                                        </p:tgtEl>
                                      </p:cBhvr>
                                    </p:animEffect>
                                  </p:childTnLst>
                                </p:cTn>
                              </p:par>
                            </p:childTnLst>
                          </p:cTn>
                        </p:par>
                      </p:childTnLst>
                    </p:cTn>
                  </p:par>
                  <p:par>
                    <p:cTn id="77" fill="hold" nodeType="clickPar">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0"/>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41"/>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42"/>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3"/>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44"/>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45"/>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46"/>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47"/>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48"/>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49"/>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50"/>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51"/>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9" grpId="0" animBg="1"/>
      <p:bldP spid="10" grpId="0" animBg="1"/>
      <p:bldP spid="13" grpId="0"/>
      <p:bldP spid="15" grpId="0"/>
      <p:bldP spid="16" grpId="0"/>
      <p:bldP spid="17" grpId="0"/>
      <p:bldP spid="18" grpId="0"/>
      <p:bldP spid="23" grpId="0" animBg="1"/>
      <p:bldP spid="24" grpId="0" animBg="1"/>
      <p:bldP spid="25" grpId="0" animBg="1"/>
      <p:bldP spid="28" grpId="0" animBg="1"/>
      <p:bldP spid="29" grpId="0" animBg="1"/>
      <p:bldP spid="32" grpId="0"/>
      <p:bldP spid="34" grpId="0"/>
      <p:bldP spid="35" grpId="0"/>
      <p:bldP spid="36" grpId="0"/>
      <p:bldP spid="37" grpId="0"/>
      <p:bldP spid="38" grpId="0" animBg="1"/>
      <p:bldP spid="39" grpId="0" animBg="1"/>
      <p:bldP spid="40" grpId="0" animBg="1"/>
      <p:bldP spid="43" grpId="0" animBg="1"/>
      <p:bldP spid="44" grpId="0" animBg="1"/>
      <p:bldP spid="47" grpId="0"/>
      <p:bldP spid="49" grpId="0"/>
      <p:bldP spid="50" grpId="0"/>
      <p:bldP spid="51" grpId="0"/>
      <p:bldP spid="5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Clock Page Replacement Algorithm</a:t>
            </a:r>
            <a:endParaRPr lang="en-US"/>
          </a:p>
        </p:txBody>
      </p:sp>
      <p:sp>
        <p:nvSpPr>
          <p:cNvPr id="3" name="Content Placeholder 2"/>
          <p:cNvSpPr>
            <a:spLocks noGrp="1"/>
          </p:cNvSpPr>
          <p:nvPr>
            <p:ph idx="1"/>
          </p:nvPr>
        </p:nvSpPr>
        <p:spPr>
          <a:xfrm>
            <a:off x="131180" y="863444"/>
            <a:ext cx="7100563" cy="5590565"/>
          </a:xfrm>
        </p:spPr>
        <p:txBody>
          <a:bodyPr/>
          <a:lstStyle/>
          <a:p>
            <a:r>
              <a:rPr lang="en-US"/>
              <a:t>In second chance algorithm </a:t>
            </a:r>
            <a:r>
              <a:rPr lang="en-US" b="1">
                <a:solidFill>
                  <a:schemeClr val="accent6"/>
                </a:solidFill>
              </a:rPr>
              <a:t>pages are constantly moving around on its list</a:t>
            </a:r>
            <a:r>
              <a:rPr lang="en-US"/>
              <a:t>. So it is </a:t>
            </a:r>
            <a:r>
              <a:rPr lang="en-US" b="1">
                <a:solidFill>
                  <a:schemeClr val="accent6"/>
                </a:solidFill>
              </a:rPr>
              <a:t>not working efficiently</a:t>
            </a:r>
            <a:r>
              <a:rPr lang="en-US"/>
              <a:t>.</a:t>
            </a:r>
          </a:p>
          <a:p>
            <a:r>
              <a:rPr lang="en-US"/>
              <a:t>A better approach is to </a:t>
            </a:r>
            <a:r>
              <a:rPr lang="en-US" b="1">
                <a:solidFill>
                  <a:schemeClr val="accent6"/>
                </a:solidFill>
              </a:rPr>
              <a:t>keep all the page frames on a circular list in the form of a clock</a:t>
            </a:r>
            <a:r>
              <a:rPr lang="en-US"/>
              <a:t>.</a:t>
            </a:r>
          </a:p>
          <a:p>
            <a:r>
              <a:rPr lang="en-US"/>
              <a:t>When a page fault occurs, the </a:t>
            </a:r>
            <a:r>
              <a:rPr lang="en-US" b="1">
                <a:solidFill>
                  <a:schemeClr val="accent6"/>
                </a:solidFill>
              </a:rPr>
              <a:t>page being pointed to by the hand is inspected</a:t>
            </a:r>
            <a:r>
              <a:rPr lang="en-US"/>
              <a:t>.</a:t>
            </a:r>
          </a:p>
          <a:p>
            <a:pPr lvl="1"/>
            <a:r>
              <a:rPr lang="en-US"/>
              <a:t>If its </a:t>
            </a:r>
            <a:r>
              <a:rPr lang="en-US" b="1">
                <a:solidFill>
                  <a:schemeClr val="accent6"/>
                </a:solidFill>
              </a:rPr>
              <a:t>R bit is 0</a:t>
            </a:r>
            <a:r>
              <a:rPr lang="en-US"/>
              <a:t>, the page is evicted, the </a:t>
            </a:r>
            <a:r>
              <a:rPr lang="en-US" b="1">
                <a:solidFill>
                  <a:schemeClr val="accent6"/>
                </a:solidFill>
              </a:rPr>
              <a:t>new page is inserted into the clock in its place</a:t>
            </a:r>
            <a:r>
              <a:rPr lang="en-US"/>
              <a:t>, and the </a:t>
            </a:r>
            <a:r>
              <a:rPr lang="en-US" b="1">
                <a:solidFill>
                  <a:schemeClr val="accent6"/>
                </a:solidFill>
              </a:rPr>
              <a:t>hand is advanced one position</a:t>
            </a:r>
            <a:r>
              <a:rPr lang="en-US"/>
              <a:t>.</a:t>
            </a:r>
          </a:p>
          <a:p>
            <a:pPr lvl="1"/>
            <a:r>
              <a:rPr lang="en-US"/>
              <a:t>If </a:t>
            </a:r>
            <a:r>
              <a:rPr lang="en-US" b="1">
                <a:solidFill>
                  <a:schemeClr val="accent6"/>
                </a:solidFill>
              </a:rPr>
              <a:t>R is 1</a:t>
            </a:r>
            <a:r>
              <a:rPr lang="en-US"/>
              <a:t>, it is </a:t>
            </a:r>
            <a:r>
              <a:rPr lang="en-US" b="1">
                <a:solidFill>
                  <a:schemeClr val="accent6"/>
                </a:solidFill>
              </a:rPr>
              <a:t>cleared and the hand is advanced to the next page</a:t>
            </a:r>
            <a:r>
              <a:rPr lang="en-US"/>
              <a:t>.</a:t>
            </a:r>
          </a:p>
        </p:txBody>
      </p:sp>
      <p:sp>
        <p:nvSpPr>
          <p:cNvPr id="53" name="Rectangle 52"/>
          <p:cNvSpPr/>
          <p:nvPr/>
        </p:nvSpPr>
        <p:spPr>
          <a:xfrm>
            <a:off x="8984343" y="1596571"/>
            <a:ext cx="4572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A</a:t>
            </a:r>
          </a:p>
        </p:txBody>
      </p:sp>
      <p:sp>
        <p:nvSpPr>
          <p:cNvPr id="54" name="Rectangle 53"/>
          <p:cNvSpPr/>
          <p:nvPr/>
        </p:nvSpPr>
        <p:spPr>
          <a:xfrm>
            <a:off x="8984343" y="4339771"/>
            <a:ext cx="4572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D</a:t>
            </a:r>
          </a:p>
        </p:txBody>
      </p:sp>
      <p:sp>
        <p:nvSpPr>
          <p:cNvPr id="55" name="Rectangle 54"/>
          <p:cNvSpPr/>
          <p:nvPr/>
        </p:nvSpPr>
        <p:spPr>
          <a:xfrm>
            <a:off x="10355943" y="2277609"/>
            <a:ext cx="4572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B</a:t>
            </a:r>
          </a:p>
        </p:txBody>
      </p:sp>
      <p:sp>
        <p:nvSpPr>
          <p:cNvPr id="56" name="Rectangle 55"/>
          <p:cNvSpPr/>
          <p:nvPr/>
        </p:nvSpPr>
        <p:spPr>
          <a:xfrm>
            <a:off x="7612743" y="2282371"/>
            <a:ext cx="4572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F</a:t>
            </a:r>
          </a:p>
        </p:txBody>
      </p:sp>
      <p:sp>
        <p:nvSpPr>
          <p:cNvPr id="57" name="Rectangle 56"/>
          <p:cNvSpPr/>
          <p:nvPr/>
        </p:nvSpPr>
        <p:spPr>
          <a:xfrm>
            <a:off x="7612743" y="3653971"/>
            <a:ext cx="4572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E</a:t>
            </a:r>
          </a:p>
        </p:txBody>
      </p:sp>
      <p:sp>
        <p:nvSpPr>
          <p:cNvPr id="58" name="Rectangle 57"/>
          <p:cNvSpPr/>
          <p:nvPr/>
        </p:nvSpPr>
        <p:spPr>
          <a:xfrm>
            <a:off x="10355943" y="3653971"/>
            <a:ext cx="457200" cy="457200"/>
          </a:xfrm>
          <a:prstGeom prst="rect">
            <a:avLst/>
          </a:prstGeom>
          <a:ln w="38100">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t>C</a:t>
            </a:r>
          </a:p>
        </p:txBody>
      </p:sp>
      <p:cxnSp>
        <p:nvCxnSpPr>
          <p:cNvPr id="59" name="Straight Arrow Connector 58"/>
          <p:cNvCxnSpPr>
            <a:endCxn id="55" idx="1"/>
          </p:cNvCxnSpPr>
          <p:nvPr/>
        </p:nvCxnSpPr>
        <p:spPr>
          <a:xfrm flipV="1">
            <a:off x="9212943" y="2506209"/>
            <a:ext cx="1143000" cy="690562"/>
          </a:xfrm>
          <a:prstGeom prst="straightConnector1">
            <a:avLst/>
          </a:prstGeom>
          <a:ln w="38100">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8336643" y="3183713"/>
            <a:ext cx="1752600" cy="646331"/>
          </a:xfrm>
          <a:prstGeom prst="rect">
            <a:avLst/>
          </a:prstGeom>
          <a:noFill/>
        </p:spPr>
        <p:txBody>
          <a:bodyPr wrap="square" rtlCol="0">
            <a:spAutoFit/>
          </a:bodyPr>
          <a:lstStyle/>
          <a:p>
            <a:r>
              <a:rPr lang="en-US"/>
              <a:t>A hand points to the oldest page.</a:t>
            </a:r>
          </a:p>
        </p:txBody>
      </p:sp>
      <p:sp>
        <p:nvSpPr>
          <p:cNvPr id="61" name="TextBox 60"/>
          <p:cNvSpPr txBox="1"/>
          <p:nvPr/>
        </p:nvSpPr>
        <p:spPr>
          <a:xfrm>
            <a:off x="9060543" y="1237335"/>
            <a:ext cx="304800" cy="369332"/>
          </a:xfrm>
          <a:prstGeom prst="rect">
            <a:avLst/>
          </a:prstGeom>
          <a:noFill/>
        </p:spPr>
        <p:txBody>
          <a:bodyPr wrap="square" rtlCol="0">
            <a:spAutoFit/>
          </a:bodyPr>
          <a:lstStyle/>
          <a:p>
            <a:pPr algn="ctr"/>
            <a:r>
              <a:rPr lang="en-US"/>
              <a:t>1</a:t>
            </a:r>
          </a:p>
        </p:txBody>
      </p:sp>
      <p:sp>
        <p:nvSpPr>
          <p:cNvPr id="62" name="TextBox 61"/>
          <p:cNvSpPr txBox="1"/>
          <p:nvPr/>
        </p:nvSpPr>
        <p:spPr>
          <a:xfrm>
            <a:off x="10432143" y="1912587"/>
            <a:ext cx="304800" cy="369332"/>
          </a:xfrm>
          <a:prstGeom prst="rect">
            <a:avLst/>
          </a:prstGeom>
          <a:noFill/>
        </p:spPr>
        <p:txBody>
          <a:bodyPr wrap="square" rtlCol="0">
            <a:spAutoFit/>
          </a:bodyPr>
          <a:lstStyle/>
          <a:p>
            <a:pPr algn="ctr"/>
            <a:r>
              <a:rPr lang="en-US"/>
              <a:t>0</a:t>
            </a:r>
          </a:p>
        </p:txBody>
      </p:sp>
      <p:sp>
        <p:nvSpPr>
          <p:cNvPr id="63" name="TextBox 62"/>
          <p:cNvSpPr txBox="1"/>
          <p:nvPr/>
        </p:nvSpPr>
        <p:spPr>
          <a:xfrm>
            <a:off x="10432322" y="3301565"/>
            <a:ext cx="304800" cy="369332"/>
          </a:xfrm>
          <a:prstGeom prst="rect">
            <a:avLst/>
          </a:prstGeom>
          <a:noFill/>
        </p:spPr>
        <p:txBody>
          <a:bodyPr wrap="square" rtlCol="0">
            <a:spAutoFit/>
          </a:bodyPr>
          <a:lstStyle/>
          <a:p>
            <a:pPr algn="ctr"/>
            <a:r>
              <a:rPr lang="en-US"/>
              <a:t>1</a:t>
            </a:r>
          </a:p>
        </p:txBody>
      </p:sp>
      <p:sp>
        <p:nvSpPr>
          <p:cNvPr id="64" name="TextBox 63"/>
          <p:cNvSpPr txBox="1"/>
          <p:nvPr/>
        </p:nvSpPr>
        <p:spPr>
          <a:xfrm>
            <a:off x="9061736" y="3982519"/>
            <a:ext cx="304800" cy="369332"/>
          </a:xfrm>
          <a:prstGeom prst="rect">
            <a:avLst/>
          </a:prstGeom>
          <a:noFill/>
        </p:spPr>
        <p:txBody>
          <a:bodyPr wrap="square" rtlCol="0">
            <a:spAutoFit/>
          </a:bodyPr>
          <a:lstStyle/>
          <a:p>
            <a:pPr algn="ctr"/>
            <a:r>
              <a:rPr lang="en-US"/>
              <a:t>0</a:t>
            </a:r>
          </a:p>
        </p:txBody>
      </p:sp>
      <p:sp>
        <p:nvSpPr>
          <p:cNvPr id="65" name="TextBox 64"/>
          <p:cNvSpPr txBox="1"/>
          <p:nvPr/>
        </p:nvSpPr>
        <p:spPr>
          <a:xfrm>
            <a:off x="7688943" y="3291728"/>
            <a:ext cx="304800" cy="369332"/>
          </a:xfrm>
          <a:prstGeom prst="rect">
            <a:avLst/>
          </a:prstGeom>
          <a:noFill/>
        </p:spPr>
        <p:txBody>
          <a:bodyPr wrap="square" rtlCol="0">
            <a:spAutoFit/>
          </a:bodyPr>
          <a:lstStyle/>
          <a:p>
            <a:pPr algn="ctr"/>
            <a:r>
              <a:rPr lang="en-US"/>
              <a:t>1</a:t>
            </a:r>
          </a:p>
        </p:txBody>
      </p:sp>
      <p:sp>
        <p:nvSpPr>
          <p:cNvPr id="66" name="TextBox 65"/>
          <p:cNvSpPr txBox="1"/>
          <p:nvPr/>
        </p:nvSpPr>
        <p:spPr>
          <a:xfrm>
            <a:off x="7688943" y="1942001"/>
            <a:ext cx="304800" cy="369332"/>
          </a:xfrm>
          <a:prstGeom prst="rect">
            <a:avLst/>
          </a:prstGeom>
          <a:noFill/>
        </p:spPr>
        <p:txBody>
          <a:bodyPr wrap="square" rtlCol="0">
            <a:spAutoFit/>
          </a:bodyPr>
          <a:lstStyle/>
          <a:p>
            <a:pPr algn="ctr"/>
            <a:r>
              <a:rPr lang="en-US"/>
              <a:t>1</a:t>
            </a:r>
          </a:p>
        </p:txBody>
      </p:sp>
      <p:sp>
        <p:nvSpPr>
          <p:cNvPr id="69" name="Rectangle 68"/>
          <p:cNvSpPr/>
          <p:nvPr/>
        </p:nvSpPr>
        <p:spPr>
          <a:xfrm>
            <a:off x="10355939" y="2277599"/>
            <a:ext cx="457200" cy="457200"/>
          </a:xfrm>
          <a:prstGeom prst="rect">
            <a:avLst/>
          </a:prstGeom>
          <a:ln w="38100">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solidFill>
                  <a:schemeClr val="accent2"/>
                </a:solidFill>
              </a:rPr>
              <a:t>G</a:t>
            </a:r>
          </a:p>
        </p:txBody>
      </p:sp>
      <p:sp>
        <p:nvSpPr>
          <p:cNvPr id="70" name="TextBox 69"/>
          <p:cNvSpPr txBox="1"/>
          <p:nvPr/>
        </p:nvSpPr>
        <p:spPr>
          <a:xfrm>
            <a:off x="10432139" y="1912577"/>
            <a:ext cx="304800" cy="369332"/>
          </a:xfrm>
          <a:prstGeom prst="rect">
            <a:avLst/>
          </a:prstGeom>
          <a:noFill/>
        </p:spPr>
        <p:txBody>
          <a:bodyPr wrap="square" rtlCol="0">
            <a:spAutoFit/>
          </a:bodyPr>
          <a:lstStyle/>
          <a:p>
            <a:pPr algn="ctr"/>
            <a:r>
              <a:rPr lang="en-US">
                <a:solidFill>
                  <a:schemeClr val="accent2"/>
                </a:solidFill>
              </a:rPr>
              <a:t>1</a:t>
            </a:r>
          </a:p>
        </p:txBody>
      </p:sp>
      <p:cxnSp>
        <p:nvCxnSpPr>
          <p:cNvPr id="71" name="Straight Arrow Connector 70"/>
          <p:cNvCxnSpPr>
            <a:stCxn id="60" idx="0"/>
            <a:endCxn id="58" idx="1"/>
          </p:cNvCxnSpPr>
          <p:nvPr/>
        </p:nvCxnSpPr>
        <p:spPr>
          <a:xfrm>
            <a:off x="9212943" y="3183713"/>
            <a:ext cx="1143000" cy="698858"/>
          </a:xfrm>
          <a:prstGeom prst="straightConnector1">
            <a:avLst/>
          </a:prstGeom>
          <a:ln w="38100">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11498935" y="2277599"/>
            <a:ext cx="457200" cy="457200"/>
          </a:xfrm>
          <a:prstGeom prst="rect">
            <a:avLst/>
          </a:prstGeom>
          <a:ln w="38100">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solidFill>
                  <a:schemeClr val="accent2"/>
                </a:solidFill>
              </a:rPr>
              <a:t>G</a:t>
            </a:r>
          </a:p>
        </p:txBody>
      </p:sp>
      <p:sp>
        <p:nvSpPr>
          <p:cNvPr id="75" name="Rectangle 74"/>
          <p:cNvSpPr/>
          <p:nvPr/>
        </p:nvSpPr>
        <p:spPr>
          <a:xfrm>
            <a:off x="8984343" y="4336287"/>
            <a:ext cx="457200" cy="457200"/>
          </a:xfrm>
          <a:prstGeom prst="rect">
            <a:avLst/>
          </a:prstGeom>
          <a:ln w="38100">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solidFill>
                  <a:schemeClr val="accent2"/>
                </a:solidFill>
              </a:rPr>
              <a:t>H</a:t>
            </a:r>
          </a:p>
        </p:txBody>
      </p:sp>
      <p:sp>
        <p:nvSpPr>
          <p:cNvPr id="76" name="TextBox 75"/>
          <p:cNvSpPr txBox="1"/>
          <p:nvPr/>
        </p:nvSpPr>
        <p:spPr>
          <a:xfrm>
            <a:off x="10432322" y="3301565"/>
            <a:ext cx="304800" cy="369332"/>
          </a:xfrm>
          <a:prstGeom prst="rect">
            <a:avLst/>
          </a:prstGeom>
          <a:noFill/>
        </p:spPr>
        <p:txBody>
          <a:bodyPr wrap="square" rtlCol="0">
            <a:spAutoFit/>
          </a:bodyPr>
          <a:lstStyle/>
          <a:p>
            <a:pPr algn="ctr"/>
            <a:r>
              <a:rPr lang="en-US"/>
              <a:t>0</a:t>
            </a:r>
          </a:p>
        </p:txBody>
      </p:sp>
      <p:cxnSp>
        <p:nvCxnSpPr>
          <p:cNvPr id="78" name="Straight Arrow Connector 77"/>
          <p:cNvCxnSpPr>
            <a:stCxn id="60" idx="0"/>
            <a:endCxn id="54" idx="0"/>
          </p:cNvCxnSpPr>
          <p:nvPr/>
        </p:nvCxnSpPr>
        <p:spPr>
          <a:xfrm flipH="1">
            <a:off x="9212943" y="3183713"/>
            <a:ext cx="0" cy="1156058"/>
          </a:xfrm>
          <a:prstGeom prst="straightConnector1">
            <a:avLst/>
          </a:prstGeom>
          <a:ln w="38100">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9061736" y="3982519"/>
            <a:ext cx="304800" cy="369332"/>
          </a:xfrm>
          <a:prstGeom prst="rect">
            <a:avLst/>
          </a:prstGeom>
          <a:noFill/>
        </p:spPr>
        <p:txBody>
          <a:bodyPr wrap="square" rtlCol="0">
            <a:spAutoFit/>
          </a:bodyPr>
          <a:lstStyle/>
          <a:p>
            <a:pPr algn="ctr"/>
            <a:r>
              <a:rPr lang="en-US">
                <a:solidFill>
                  <a:schemeClr val="accent2"/>
                </a:solidFill>
              </a:rPr>
              <a:t>1</a:t>
            </a:r>
          </a:p>
        </p:txBody>
      </p:sp>
      <p:cxnSp>
        <p:nvCxnSpPr>
          <p:cNvPr id="82" name="Straight Arrow Connector 81"/>
          <p:cNvCxnSpPr>
            <a:stCxn id="60" idx="0"/>
            <a:endCxn id="57" idx="3"/>
          </p:cNvCxnSpPr>
          <p:nvPr/>
        </p:nvCxnSpPr>
        <p:spPr>
          <a:xfrm flipH="1">
            <a:off x="8069943" y="3183713"/>
            <a:ext cx="1143000" cy="698858"/>
          </a:xfrm>
          <a:prstGeom prst="straightConnector1">
            <a:avLst/>
          </a:prstGeom>
          <a:ln w="38100">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11498935" y="3653971"/>
            <a:ext cx="457200" cy="457200"/>
          </a:xfrm>
          <a:prstGeom prst="rect">
            <a:avLst/>
          </a:prstGeom>
          <a:ln w="38100">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a:solidFill>
                  <a:schemeClr val="accent2"/>
                </a:solidFill>
              </a:rPr>
              <a:t>H</a:t>
            </a:r>
          </a:p>
        </p:txBody>
      </p:sp>
    </p:spTree>
    <p:extLst>
      <p:ext uri="{BB962C8B-B14F-4D97-AF65-F5344CB8AC3E}">
        <p14:creationId xmlns:p14="http://schemas.microsoft.com/office/powerpoint/2010/main" val="303066114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6"/>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
                                            <p:txEl>
                                              <p:pRg st="2" end="2"/>
                                            </p:txEl>
                                          </p:spTgt>
                                        </p:tgtEl>
                                        <p:attrNameLst>
                                          <p:attrName>style.visibility</p:attrName>
                                        </p:attrNameLst>
                                      </p:cBhvr>
                                      <p:to>
                                        <p:strVal val="visible"/>
                                      </p:to>
                                    </p:set>
                                    <p:animEffect transition="in" filter="fade">
                                      <p:cBhvr>
                                        <p:cTn id="45" dur="500"/>
                                        <p:tgtEl>
                                          <p:spTgt spid="3">
                                            <p:txEl>
                                              <p:pRg st="2" end="2"/>
                                            </p:txEl>
                                          </p:spTgt>
                                        </p:tgtEl>
                                      </p:cBhvr>
                                    </p:animEffect>
                                  </p:childTnLst>
                                </p:cTn>
                              </p:par>
                            </p:childTnLst>
                          </p:cTn>
                        </p:par>
                      </p:childTnLst>
                    </p:cTn>
                  </p:par>
                  <p:par>
                    <p:cTn id="46" fill="hold" nodeType="clickPar">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
                                            <p:txEl>
                                              <p:pRg st="3" end="3"/>
                                            </p:txEl>
                                          </p:spTgt>
                                        </p:tgtEl>
                                        <p:attrNameLst>
                                          <p:attrName>style.visibility</p:attrName>
                                        </p:attrNameLst>
                                      </p:cBhvr>
                                      <p:to>
                                        <p:strVal val="visible"/>
                                      </p:to>
                                    </p:set>
                                    <p:animEffect transition="in" filter="fade">
                                      <p:cBhvr>
                                        <p:cTn id="50" dur="500"/>
                                        <p:tgtEl>
                                          <p:spTgt spid="3">
                                            <p:txEl>
                                              <p:pRg st="3" end="3"/>
                                            </p:txEl>
                                          </p:spTgt>
                                        </p:tgtEl>
                                      </p:cBhvr>
                                    </p:animEffect>
                                  </p:childTnLst>
                                </p:cTn>
                              </p:par>
                            </p:childTnLst>
                          </p:cTn>
                        </p:par>
                      </p:childTnLst>
                    </p:cTn>
                  </p:par>
                  <p:par>
                    <p:cTn id="51" fill="hold" nodeType="clickPar">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4"/>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p:stCondLst>
                              <p:cond delay="0"/>
                            </p:stCondLst>
                            <p:childTnLst>
                              <p:par>
                                <p:cTn id="57" presetID="10" presetClass="exit" presetSubtype="0" fill="hold" grpId="1" nodeType="clickEffect">
                                  <p:stCondLst>
                                    <p:cond delay="0"/>
                                  </p:stCondLst>
                                  <p:childTnLst>
                                    <p:animEffect transition="out" filter="fade">
                                      <p:cBhvr>
                                        <p:cTn id="58" dur="500"/>
                                        <p:tgtEl>
                                          <p:spTgt spid="74"/>
                                        </p:tgtEl>
                                      </p:cBhvr>
                                    </p:animEffect>
                                    <p:set>
                                      <p:cBhvr>
                                        <p:cTn id="59" dur="1" fill="hold">
                                          <p:stCondLst>
                                            <p:cond delay="499"/>
                                          </p:stCondLst>
                                        </p:cTn>
                                        <p:tgtEl>
                                          <p:spTgt spid="74"/>
                                        </p:tgtEl>
                                        <p:attrNameLst>
                                          <p:attrName>style.visibility</p:attrName>
                                        </p:attrNameLst>
                                      </p:cBhvr>
                                      <p:to>
                                        <p:strVal val="hidden"/>
                                      </p:to>
                                    </p:set>
                                  </p:childTnLst>
                                </p:cTn>
                              </p:par>
                              <p:par>
                                <p:cTn id="60" presetID="1" presetClass="entr" presetSubtype="0" fill="hold" grpId="0" nodeType="withEffect">
                                  <p:stCondLst>
                                    <p:cond delay="0"/>
                                  </p:stCondLst>
                                  <p:childTnLst>
                                    <p:set>
                                      <p:cBhvr>
                                        <p:cTn id="61" dur="1" fill="hold">
                                          <p:stCondLst>
                                            <p:cond delay="0"/>
                                          </p:stCondLst>
                                        </p:cTn>
                                        <p:tgtEl>
                                          <p:spTgt spid="69"/>
                                        </p:tgtEl>
                                        <p:attrNameLst>
                                          <p:attrName>style.visibility</p:attrName>
                                        </p:attrNameLst>
                                      </p:cBhvr>
                                      <p:to>
                                        <p:strVal val="visible"/>
                                      </p:to>
                                    </p:set>
                                  </p:childTnLst>
                                </p:cTn>
                              </p:par>
                              <p:par>
                                <p:cTn id="62" presetID="10" presetClass="exit" presetSubtype="0" fill="hold" grpId="1" nodeType="withEffect">
                                  <p:stCondLst>
                                    <p:cond delay="0"/>
                                  </p:stCondLst>
                                  <p:childTnLst>
                                    <p:animEffect transition="out" filter="fade">
                                      <p:cBhvr>
                                        <p:cTn id="63" dur="500"/>
                                        <p:tgtEl>
                                          <p:spTgt spid="55"/>
                                        </p:tgtEl>
                                      </p:cBhvr>
                                    </p:animEffect>
                                    <p:set>
                                      <p:cBhvr>
                                        <p:cTn id="64" dur="1" fill="hold">
                                          <p:stCondLst>
                                            <p:cond delay="499"/>
                                          </p:stCondLst>
                                        </p:cTn>
                                        <p:tgtEl>
                                          <p:spTgt spid="55"/>
                                        </p:tgtEl>
                                        <p:attrNameLst>
                                          <p:attrName>style.visibility</p:attrName>
                                        </p:attrNameLst>
                                      </p:cBhvr>
                                      <p:to>
                                        <p:strVal val="hidden"/>
                                      </p:to>
                                    </p:set>
                                  </p:childTnLst>
                                </p:cTn>
                              </p:par>
                              <p:par>
                                <p:cTn id="65" presetID="1" presetClass="entr" presetSubtype="0" fill="hold" grpId="0" nodeType="withEffect">
                                  <p:stCondLst>
                                    <p:cond delay="0"/>
                                  </p:stCondLst>
                                  <p:childTnLst>
                                    <p:set>
                                      <p:cBhvr>
                                        <p:cTn id="66" dur="1" fill="hold">
                                          <p:stCondLst>
                                            <p:cond delay="0"/>
                                          </p:stCondLst>
                                        </p:cTn>
                                        <p:tgtEl>
                                          <p:spTgt spid="70"/>
                                        </p:tgtEl>
                                        <p:attrNameLst>
                                          <p:attrName>style.visibility</p:attrName>
                                        </p:attrNameLst>
                                      </p:cBhvr>
                                      <p:to>
                                        <p:strVal val="visible"/>
                                      </p:to>
                                    </p:set>
                                  </p:childTnLst>
                                </p:cTn>
                              </p:par>
                              <p:par>
                                <p:cTn id="67" presetID="10" presetClass="exit" presetSubtype="0" fill="hold" grpId="1" nodeType="withEffect">
                                  <p:stCondLst>
                                    <p:cond delay="0"/>
                                  </p:stCondLst>
                                  <p:childTnLst>
                                    <p:animEffect transition="out" filter="fade">
                                      <p:cBhvr>
                                        <p:cTn id="68" dur="500"/>
                                        <p:tgtEl>
                                          <p:spTgt spid="62"/>
                                        </p:tgtEl>
                                      </p:cBhvr>
                                    </p:animEffect>
                                    <p:set>
                                      <p:cBhvr>
                                        <p:cTn id="69" dur="1" fill="hold">
                                          <p:stCondLst>
                                            <p:cond delay="499"/>
                                          </p:stCondLst>
                                        </p:cTn>
                                        <p:tgtEl>
                                          <p:spTgt spid="62"/>
                                        </p:tgtEl>
                                        <p:attrNameLst>
                                          <p:attrName>style.visibility</p:attrName>
                                        </p:attrNameLst>
                                      </p:cBhvr>
                                      <p:to>
                                        <p:strVal val="hidden"/>
                                      </p:to>
                                    </p:set>
                                  </p:childTnLst>
                                </p:cTn>
                              </p:par>
                            </p:childTnLst>
                          </p:cTn>
                        </p:par>
                      </p:childTnLst>
                    </p:cTn>
                  </p:par>
                  <p:par>
                    <p:cTn id="70" fill="hold" nodeType="clickPar">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71"/>
                                        </p:tgtEl>
                                        <p:attrNameLst>
                                          <p:attrName>style.visibility</p:attrName>
                                        </p:attrNameLst>
                                      </p:cBhvr>
                                      <p:to>
                                        <p:strVal val="visible"/>
                                      </p:to>
                                    </p:set>
                                  </p:childTnLst>
                                </p:cTn>
                              </p:par>
                              <p:par>
                                <p:cTn id="74" presetID="10" presetClass="exit" presetSubtype="0" fill="hold" nodeType="withEffect">
                                  <p:stCondLst>
                                    <p:cond delay="0"/>
                                  </p:stCondLst>
                                  <p:childTnLst>
                                    <p:animEffect transition="out" filter="fade">
                                      <p:cBhvr>
                                        <p:cTn id="75" dur="500"/>
                                        <p:tgtEl>
                                          <p:spTgt spid="59"/>
                                        </p:tgtEl>
                                      </p:cBhvr>
                                    </p:animEffect>
                                    <p:set>
                                      <p:cBhvr>
                                        <p:cTn id="76" dur="1" fill="hold">
                                          <p:stCondLst>
                                            <p:cond delay="499"/>
                                          </p:stCondLst>
                                        </p:cTn>
                                        <p:tgtEl>
                                          <p:spTgt spid="59"/>
                                        </p:tgtEl>
                                        <p:attrNameLst>
                                          <p:attrName>style.visibility</p:attrName>
                                        </p:attrNameLst>
                                      </p:cBhvr>
                                      <p:to>
                                        <p:strVal val="hidden"/>
                                      </p:to>
                                    </p:set>
                                  </p:childTnLst>
                                </p:cTn>
                              </p:par>
                            </p:childTnLst>
                          </p:cTn>
                        </p:par>
                      </p:childTnLst>
                    </p:cTn>
                  </p:par>
                  <p:par>
                    <p:cTn id="77" fill="hold" nodeType="clickPar">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3">
                                            <p:txEl>
                                              <p:pRg st="4" end="4"/>
                                            </p:txEl>
                                          </p:spTgt>
                                        </p:tgtEl>
                                        <p:attrNameLst>
                                          <p:attrName>style.visibility</p:attrName>
                                        </p:attrNameLst>
                                      </p:cBhvr>
                                      <p:to>
                                        <p:strVal val="visible"/>
                                      </p:to>
                                    </p:set>
                                    <p:animEffect transition="in" filter="fade">
                                      <p:cBhvr>
                                        <p:cTn id="81" dur="500"/>
                                        <p:tgtEl>
                                          <p:spTgt spid="3">
                                            <p:txEl>
                                              <p:pRg st="4" end="4"/>
                                            </p:txEl>
                                          </p:spTgt>
                                        </p:tgtEl>
                                      </p:cBhvr>
                                    </p:animEffect>
                                  </p:childTnLst>
                                </p:cTn>
                              </p:par>
                            </p:childTnLst>
                          </p:cTn>
                        </p:par>
                      </p:childTnLst>
                    </p:cTn>
                  </p:par>
                  <p:par>
                    <p:cTn id="82" fill="hold" nodeType="clickPar">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85"/>
                                        </p:tgtEl>
                                        <p:attrNameLst>
                                          <p:attrName>style.visibility</p:attrName>
                                        </p:attrNameLst>
                                      </p:cBhvr>
                                      <p:to>
                                        <p:strVal val="visible"/>
                                      </p:to>
                                    </p:set>
                                  </p:childTnLst>
                                </p:cTn>
                              </p:par>
                            </p:childTnLst>
                          </p:cTn>
                        </p:par>
                      </p:childTnLst>
                    </p:cTn>
                  </p:par>
                  <p:par>
                    <p:cTn id="86" fill="hold" nodeType="clickPar">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76"/>
                                        </p:tgtEl>
                                        <p:attrNameLst>
                                          <p:attrName>style.visibility</p:attrName>
                                        </p:attrNameLst>
                                      </p:cBhvr>
                                      <p:to>
                                        <p:strVal val="visible"/>
                                      </p:to>
                                    </p:set>
                                  </p:childTnLst>
                                </p:cTn>
                              </p:par>
                              <p:par>
                                <p:cTn id="90" presetID="10" presetClass="exit" presetSubtype="0" fill="hold" grpId="1" nodeType="withEffect">
                                  <p:stCondLst>
                                    <p:cond delay="0"/>
                                  </p:stCondLst>
                                  <p:childTnLst>
                                    <p:animEffect transition="out" filter="fade">
                                      <p:cBhvr>
                                        <p:cTn id="91" dur="500"/>
                                        <p:tgtEl>
                                          <p:spTgt spid="63"/>
                                        </p:tgtEl>
                                      </p:cBhvr>
                                    </p:animEffect>
                                    <p:set>
                                      <p:cBhvr>
                                        <p:cTn id="92" dur="1" fill="hold">
                                          <p:stCondLst>
                                            <p:cond delay="499"/>
                                          </p:stCondLst>
                                        </p:cTn>
                                        <p:tgtEl>
                                          <p:spTgt spid="63"/>
                                        </p:tgtEl>
                                        <p:attrNameLst>
                                          <p:attrName>style.visibility</p:attrName>
                                        </p:attrNameLst>
                                      </p:cBhvr>
                                      <p:to>
                                        <p:strVal val="hidden"/>
                                      </p:to>
                                    </p:set>
                                  </p:childTnLst>
                                </p:cTn>
                              </p:par>
                            </p:childTnLst>
                          </p:cTn>
                        </p:par>
                      </p:childTnLst>
                    </p:cTn>
                  </p:par>
                  <p:par>
                    <p:cTn id="93" fill="hold" nodeType="clickPar">
                      <p:stCondLst>
                        <p:cond delay="indefinite"/>
                      </p:stCondLst>
                      <p:childTnLst>
                        <p:par>
                          <p:cTn id="94" fill="hold">
                            <p:stCondLst>
                              <p:cond delay="0"/>
                            </p:stCondLst>
                            <p:childTnLst>
                              <p:par>
                                <p:cTn id="95" presetID="10" presetClass="exit" presetSubtype="0" fill="hold" nodeType="clickEffect">
                                  <p:stCondLst>
                                    <p:cond delay="0"/>
                                  </p:stCondLst>
                                  <p:childTnLst>
                                    <p:animEffect transition="out" filter="fade">
                                      <p:cBhvr>
                                        <p:cTn id="96" dur="500"/>
                                        <p:tgtEl>
                                          <p:spTgt spid="71"/>
                                        </p:tgtEl>
                                      </p:cBhvr>
                                    </p:animEffect>
                                    <p:set>
                                      <p:cBhvr>
                                        <p:cTn id="97" dur="1" fill="hold">
                                          <p:stCondLst>
                                            <p:cond delay="499"/>
                                          </p:stCondLst>
                                        </p:cTn>
                                        <p:tgtEl>
                                          <p:spTgt spid="71"/>
                                        </p:tgtEl>
                                        <p:attrNameLst>
                                          <p:attrName>style.visibility</p:attrName>
                                        </p:attrNameLst>
                                      </p:cBhvr>
                                      <p:to>
                                        <p:strVal val="hidden"/>
                                      </p:to>
                                    </p:set>
                                  </p:childTnLst>
                                </p:cTn>
                              </p:par>
                              <p:par>
                                <p:cTn id="98" presetID="1" presetClass="entr" presetSubtype="0" fill="hold" nodeType="withEffect">
                                  <p:stCondLst>
                                    <p:cond delay="0"/>
                                  </p:stCondLst>
                                  <p:childTnLst>
                                    <p:set>
                                      <p:cBhvr>
                                        <p:cTn id="99" dur="1" fill="hold">
                                          <p:stCondLst>
                                            <p:cond delay="0"/>
                                          </p:stCondLst>
                                        </p:cTn>
                                        <p:tgtEl>
                                          <p:spTgt spid="78"/>
                                        </p:tgtEl>
                                        <p:attrNameLst>
                                          <p:attrName>style.visibility</p:attrName>
                                        </p:attrNameLst>
                                      </p:cBhvr>
                                      <p:to>
                                        <p:strVal val="visible"/>
                                      </p:to>
                                    </p:set>
                                  </p:childTnLst>
                                </p:cTn>
                              </p:par>
                            </p:childTnLst>
                          </p:cTn>
                        </p:par>
                      </p:childTnLst>
                    </p:cTn>
                  </p:par>
                  <p:par>
                    <p:cTn id="100" fill="hold" nodeType="clickPar">
                      <p:stCondLst>
                        <p:cond delay="indefinite"/>
                      </p:stCondLst>
                      <p:childTnLst>
                        <p:par>
                          <p:cTn id="101" fill="hold">
                            <p:stCondLst>
                              <p:cond delay="0"/>
                            </p:stCondLst>
                            <p:childTnLst>
                              <p:par>
                                <p:cTn id="102" presetID="10" presetClass="exit" presetSubtype="0" fill="hold" grpId="1" nodeType="clickEffect">
                                  <p:stCondLst>
                                    <p:cond delay="0"/>
                                  </p:stCondLst>
                                  <p:childTnLst>
                                    <p:animEffect transition="out" filter="fade">
                                      <p:cBhvr>
                                        <p:cTn id="103" dur="500"/>
                                        <p:tgtEl>
                                          <p:spTgt spid="54"/>
                                        </p:tgtEl>
                                      </p:cBhvr>
                                    </p:animEffect>
                                    <p:set>
                                      <p:cBhvr>
                                        <p:cTn id="104" dur="1" fill="hold">
                                          <p:stCondLst>
                                            <p:cond delay="499"/>
                                          </p:stCondLst>
                                        </p:cTn>
                                        <p:tgtEl>
                                          <p:spTgt spid="54"/>
                                        </p:tgtEl>
                                        <p:attrNameLst>
                                          <p:attrName>style.visibility</p:attrName>
                                        </p:attrNameLst>
                                      </p:cBhvr>
                                      <p:to>
                                        <p:strVal val="hidden"/>
                                      </p:to>
                                    </p:set>
                                  </p:childTnLst>
                                </p:cTn>
                              </p:par>
                              <p:par>
                                <p:cTn id="105" presetID="1" presetClass="entr" presetSubtype="0" fill="hold" grpId="0" nodeType="withEffect">
                                  <p:stCondLst>
                                    <p:cond delay="0"/>
                                  </p:stCondLst>
                                  <p:childTnLst>
                                    <p:set>
                                      <p:cBhvr>
                                        <p:cTn id="106" dur="1" fill="hold">
                                          <p:stCondLst>
                                            <p:cond delay="0"/>
                                          </p:stCondLst>
                                        </p:cTn>
                                        <p:tgtEl>
                                          <p:spTgt spid="75"/>
                                        </p:tgtEl>
                                        <p:attrNameLst>
                                          <p:attrName>style.visibility</p:attrName>
                                        </p:attrNameLst>
                                      </p:cBhvr>
                                      <p:to>
                                        <p:strVal val="visible"/>
                                      </p:to>
                                    </p:set>
                                  </p:childTnLst>
                                </p:cTn>
                              </p:par>
                            </p:childTnLst>
                          </p:cTn>
                        </p:par>
                      </p:childTnLst>
                    </p:cTn>
                  </p:par>
                  <p:par>
                    <p:cTn id="107" fill="hold" nodeType="clickPar">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81"/>
                                        </p:tgtEl>
                                        <p:attrNameLst>
                                          <p:attrName>style.visibility</p:attrName>
                                        </p:attrNameLst>
                                      </p:cBhvr>
                                      <p:to>
                                        <p:strVal val="visible"/>
                                      </p:to>
                                    </p:set>
                                  </p:childTnLst>
                                </p:cTn>
                              </p:par>
                              <p:par>
                                <p:cTn id="111" presetID="10" presetClass="exit" presetSubtype="0" fill="hold" grpId="1" nodeType="withEffect">
                                  <p:stCondLst>
                                    <p:cond delay="0"/>
                                  </p:stCondLst>
                                  <p:childTnLst>
                                    <p:animEffect transition="out" filter="fade">
                                      <p:cBhvr>
                                        <p:cTn id="112" dur="500"/>
                                        <p:tgtEl>
                                          <p:spTgt spid="64"/>
                                        </p:tgtEl>
                                      </p:cBhvr>
                                    </p:animEffect>
                                    <p:set>
                                      <p:cBhvr>
                                        <p:cTn id="113" dur="1" fill="hold">
                                          <p:stCondLst>
                                            <p:cond delay="499"/>
                                          </p:stCondLst>
                                        </p:cTn>
                                        <p:tgtEl>
                                          <p:spTgt spid="64"/>
                                        </p:tgtEl>
                                        <p:attrNameLst>
                                          <p:attrName>style.visibility</p:attrName>
                                        </p:attrNameLst>
                                      </p:cBhvr>
                                      <p:to>
                                        <p:strVal val="hidden"/>
                                      </p:to>
                                    </p:set>
                                  </p:childTnLst>
                                </p:cTn>
                              </p:par>
                            </p:childTnLst>
                          </p:cTn>
                        </p:par>
                      </p:childTnLst>
                    </p:cTn>
                  </p:par>
                  <p:par>
                    <p:cTn id="114" fill="hold" nodeType="clickPar">
                      <p:stCondLst>
                        <p:cond delay="indefinite"/>
                      </p:stCondLst>
                      <p:childTnLst>
                        <p:par>
                          <p:cTn id="115" fill="hold">
                            <p:stCondLst>
                              <p:cond delay="0"/>
                            </p:stCondLst>
                            <p:childTnLst>
                              <p:par>
                                <p:cTn id="116" presetID="10" presetClass="exit" presetSubtype="0" fill="hold" nodeType="clickEffect">
                                  <p:stCondLst>
                                    <p:cond delay="0"/>
                                  </p:stCondLst>
                                  <p:childTnLst>
                                    <p:animEffect transition="out" filter="fade">
                                      <p:cBhvr>
                                        <p:cTn id="117" dur="500"/>
                                        <p:tgtEl>
                                          <p:spTgt spid="78"/>
                                        </p:tgtEl>
                                      </p:cBhvr>
                                    </p:animEffect>
                                    <p:set>
                                      <p:cBhvr>
                                        <p:cTn id="118" dur="1" fill="hold">
                                          <p:stCondLst>
                                            <p:cond delay="499"/>
                                          </p:stCondLst>
                                        </p:cTn>
                                        <p:tgtEl>
                                          <p:spTgt spid="78"/>
                                        </p:tgtEl>
                                        <p:attrNameLst>
                                          <p:attrName>style.visibility</p:attrName>
                                        </p:attrNameLst>
                                      </p:cBhvr>
                                      <p:to>
                                        <p:strVal val="hidden"/>
                                      </p:to>
                                    </p:set>
                                  </p:childTnLst>
                                </p:cTn>
                              </p:par>
                              <p:par>
                                <p:cTn id="119" presetID="1" presetClass="entr" presetSubtype="0" fill="hold" nodeType="withEffect">
                                  <p:stCondLst>
                                    <p:cond delay="0"/>
                                  </p:stCondLst>
                                  <p:childTnLst>
                                    <p:set>
                                      <p:cBhvr>
                                        <p:cTn id="120"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4" grpId="0" animBg="1"/>
      <p:bldP spid="54" grpId="1" animBg="1"/>
      <p:bldP spid="55" grpId="0" animBg="1"/>
      <p:bldP spid="55" grpId="1" animBg="1"/>
      <p:bldP spid="56" grpId="0" animBg="1"/>
      <p:bldP spid="57" grpId="0" animBg="1"/>
      <p:bldP spid="58" grpId="0" animBg="1"/>
      <p:bldP spid="60" grpId="0"/>
      <p:bldP spid="61" grpId="0"/>
      <p:bldP spid="62" grpId="0"/>
      <p:bldP spid="62" grpId="1"/>
      <p:bldP spid="63" grpId="0"/>
      <p:bldP spid="63" grpId="1"/>
      <p:bldP spid="64" grpId="0"/>
      <p:bldP spid="64" grpId="1"/>
      <p:bldP spid="65" grpId="0"/>
      <p:bldP spid="66" grpId="0"/>
      <p:bldP spid="69" grpId="0" animBg="1"/>
      <p:bldP spid="70" grpId="0"/>
      <p:bldP spid="74" grpId="0" animBg="1"/>
      <p:bldP spid="74" grpId="1" animBg="1"/>
      <p:bldP spid="75" grpId="0" animBg="1"/>
      <p:bldP spid="76" grpId="0"/>
      <p:bldP spid="81" grpId="0"/>
      <p:bldP spid="85"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LRU (Least Recently Used) Page Replacement Algorithm</a:t>
            </a:r>
          </a:p>
        </p:txBody>
      </p:sp>
      <p:sp>
        <p:nvSpPr>
          <p:cNvPr id="3" name="Content Placeholder 2"/>
          <p:cNvSpPr>
            <a:spLocks noGrp="1"/>
          </p:cNvSpPr>
          <p:nvPr>
            <p:ph idx="1"/>
          </p:nvPr>
        </p:nvSpPr>
        <p:spPr/>
        <p:txBody>
          <a:bodyPr/>
          <a:lstStyle/>
          <a:p>
            <a:r>
              <a:rPr lang="en-US"/>
              <a:t>A good approximation to the optimal algorithm is based on the observation that pages that have been heavily used in last few instructions will probably be heavily used again in next few instructions.</a:t>
            </a:r>
          </a:p>
          <a:p>
            <a:r>
              <a:rPr lang="en-US"/>
              <a:t>When page fault occurs, </a:t>
            </a:r>
            <a:r>
              <a:rPr lang="en-US" b="1">
                <a:solidFill>
                  <a:schemeClr val="accent6"/>
                </a:solidFill>
              </a:rPr>
              <a:t>throw out the page that has been used for the longest time</a:t>
            </a:r>
            <a:r>
              <a:rPr lang="en-US"/>
              <a:t>. This strategy is called LRU (Least Recently Used) paging.</a:t>
            </a:r>
          </a:p>
          <a:p>
            <a:r>
              <a:rPr lang="en-US"/>
              <a:t>To fully implement LRU, it is necessary to maintain a linked list of all pages in memory, with the </a:t>
            </a:r>
            <a:r>
              <a:rPr lang="en-US" b="1">
                <a:solidFill>
                  <a:schemeClr val="accent6"/>
                </a:solidFill>
              </a:rPr>
              <a:t>most recently used page at the front and the least recently used page at the rear</a:t>
            </a:r>
            <a:r>
              <a:rPr lang="en-US"/>
              <a:t>. </a:t>
            </a:r>
          </a:p>
          <a:p>
            <a:r>
              <a:rPr lang="en-US"/>
              <a:t>The list must be updated on every memory reference. </a:t>
            </a:r>
          </a:p>
          <a:p>
            <a:r>
              <a:rPr lang="en-US"/>
              <a:t>Finding a page in the list, deleting it, and then moving it to the front is a very time consuming operations.</a:t>
            </a:r>
          </a:p>
        </p:txBody>
      </p:sp>
    </p:spTree>
    <p:extLst>
      <p:ext uri="{BB962C8B-B14F-4D97-AF65-F5344CB8AC3E}">
        <p14:creationId xmlns:p14="http://schemas.microsoft.com/office/powerpoint/2010/main" val="396281226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LRU (Least Recently Used) Page Replacement Algorithm</a:t>
            </a:r>
          </a:p>
        </p:txBody>
      </p:sp>
      <p:sp>
        <p:nvSpPr>
          <p:cNvPr id="3" name="Content Placeholder 2"/>
          <p:cNvSpPr>
            <a:spLocks noGrp="1"/>
          </p:cNvSpPr>
          <p:nvPr>
            <p:ph idx="1"/>
          </p:nvPr>
        </p:nvSpPr>
        <p:spPr/>
        <p:txBody>
          <a:bodyPr/>
          <a:lstStyle/>
          <a:p>
            <a:r>
              <a:rPr lang="en-US"/>
              <a:t>Page Reference String: </a:t>
            </a:r>
          </a:p>
          <a:p>
            <a:pPr lvl="1"/>
            <a:r>
              <a:rPr lang="en-US"/>
              <a:t>7, 0, 1, 2, 0, 3, 0, 4, 2, 3, 0, 3, 2, 1, 2, 0, 1, 7, 0, 1</a:t>
            </a:r>
          </a:p>
          <a:p>
            <a:pPr lvl="1"/>
            <a:r>
              <a:rPr lang="en-US"/>
              <a:t>Three frames</a:t>
            </a:r>
          </a:p>
        </p:txBody>
      </p:sp>
      <p:graphicFrame>
        <p:nvGraphicFramePr>
          <p:cNvPr id="4" name="Table 3"/>
          <p:cNvGraphicFramePr>
            <a:graphicFrameLocks noGrp="1"/>
          </p:cNvGraphicFramePr>
          <p:nvPr>
            <p:extLst>
              <p:ext uri="{D42A27DB-BD31-4B8C-83A1-F6EECF244321}">
                <p14:modId xmlns:p14="http://schemas.microsoft.com/office/powerpoint/2010/main" val="3725976851"/>
              </p:ext>
            </p:extLst>
          </p:nvPr>
        </p:nvGraphicFramePr>
        <p:xfrm>
          <a:off x="1019969" y="2248428"/>
          <a:ext cx="9528803" cy="426720"/>
        </p:xfrm>
        <a:graphic>
          <a:graphicData uri="http://schemas.openxmlformats.org/drawingml/2006/table">
            <a:tbl>
              <a:tblPr firstRow="1" bandRow="1">
                <a:tableStyleId>{93296810-A885-4BE3-A3E7-6D5BEEA58F35}</a:tableStyleId>
              </a:tblPr>
              <a:tblGrid>
                <a:gridCol w="1787843">
                  <a:extLst>
                    <a:ext uri="{9D8B030D-6E8A-4147-A177-3AD203B41FA5}">
                      <a16:colId xmlns:a16="http://schemas.microsoft.com/office/drawing/2014/main" xmlns="" val="20000"/>
                    </a:ext>
                  </a:extLst>
                </a:gridCol>
                <a:gridCol w="387048">
                  <a:extLst>
                    <a:ext uri="{9D8B030D-6E8A-4147-A177-3AD203B41FA5}">
                      <a16:colId xmlns:a16="http://schemas.microsoft.com/office/drawing/2014/main" xmlns="" val="20001"/>
                    </a:ext>
                  </a:extLst>
                </a:gridCol>
                <a:gridCol w="387048">
                  <a:extLst>
                    <a:ext uri="{9D8B030D-6E8A-4147-A177-3AD203B41FA5}">
                      <a16:colId xmlns:a16="http://schemas.microsoft.com/office/drawing/2014/main" xmlns="" val="20002"/>
                    </a:ext>
                  </a:extLst>
                </a:gridCol>
                <a:gridCol w="387048">
                  <a:extLst>
                    <a:ext uri="{9D8B030D-6E8A-4147-A177-3AD203B41FA5}">
                      <a16:colId xmlns:a16="http://schemas.microsoft.com/office/drawing/2014/main" xmlns="" val="20003"/>
                    </a:ext>
                  </a:extLst>
                </a:gridCol>
                <a:gridCol w="387048">
                  <a:extLst>
                    <a:ext uri="{9D8B030D-6E8A-4147-A177-3AD203B41FA5}">
                      <a16:colId xmlns:a16="http://schemas.microsoft.com/office/drawing/2014/main" xmlns="" val="20004"/>
                    </a:ext>
                  </a:extLst>
                </a:gridCol>
                <a:gridCol w="387048">
                  <a:extLst>
                    <a:ext uri="{9D8B030D-6E8A-4147-A177-3AD203B41FA5}">
                      <a16:colId xmlns:a16="http://schemas.microsoft.com/office/drawing/2014/main" xmlns="" val="20005"/>
                    </a:ext>
                  </a:extLst>
                </a:gridCol>
                <a:gridCol w="387048">
                  <a:extLst>
                    <a:ext uri="{9D8B030D-6E8A-4147-A177-3AD203B41FA5}">
                      <a16:colId xmlns:a16="http://schemas.microsoft.com/office/drawing/2014/main" xmlns="" val="20006"/>
                    </a:ext>
                  </a:extLst>
                </a:gridCol>
                <a:gridCol w="387048">
                  <a:extLst>
                    <a:ext uri="{9D8B030D-6E8A-4147-A177-3AD203B41FA5}">
                      <a16:colId xmlns:a16="http://schemas.microsoft.com/office/drawing/2014/main" xmlns="" val="20007"/>
                    </a:ext>
                  </a:extLst>
                </a:gridCol>
                <a:gridCol w="387048">
                  <a:extLst>
                    <a:ext uri="{9D8B030D-6E8A-4147-A177-3AD203B41FA5}">
                      <a16:colId xmlns:a16="http://schemas.microsoft.com/office/drawing/2014/main" xmlns="" val="20008"/>
                    </a:ext>
                  </a:extLst>
                </a:gridCol>
                <a:gridCol w="387048">
                  <a:extLst>
                    <a:ext uri="{9D8B030D-6E8A-4147-A177-3AD203B41FA5}">
                      <a16:colId xmlns:a16="http://schemas.microsoft.com/office/drawing/2014/main" xmlns="" val="20009"/>
                    </a:ext>
                  </a:extLst>
                </a:gridCol>
                <a:gridCol w="387048">
                  <a:extLst>
                    <a:ext uri="{9D8B030D-6E8A-4147-A177-3AD203B41FA5}">
                      <a16:colId xmlns:a16="http://schemas.microsoft.com/office/drawing/2014/main" xmlns="" val="20010"/>
                    </a:ext>
                  </a:extLst>
                </a:gridCol>
                <a:gridCol w="387048">
                  <a:extLst>
                    <a:ext uri="{9D8B030D-6E8A-4147-A177-3AD203B41FA5}">
                      <a16:colId xmlns:a16="http://schemas.microsoft.com/office/drawing/2014/main" xmlns="" val="20011"/>
                    </a:ext>
                  </a:extLst>
                </a:gridCol>
                <a:gridCol w="387048">
                  <a:extLst>
                    <a:ext uri="{9D8B030D-6E8A-4147-A177-3AD203B41FA5}">
                      <a16:colId xmlns:a16="http://schemas.microsoft.com/office/drawing/2014/main" xmlns="" val="20012"/>
                    </a:ext>
                  </a:extLst>
                </a:gridCol>
                <a:gridCol w="387048">
                  <a:extLst>
                    <a:ext uri="{9D8B030D-6E8A-4147-A177-3AD203B41FA5}">
                      <a16:colId xmlns:a16="http://schemas.microsoft.com/office/drawing/2014/main" xmlns="" val="20013"/>
                    </a:ext>
                  </a:extLst>
                </a:gridCol>
                <a:gridCol w="387048">
                  <a:extLst>
                    <a:ext uri="{9D8B030D-6E8A-4147-A177-3AD203B41FA5}">
                      <a16:colId xmlns:a16="http://schemas.microsoft.com/office/drawing/2014/main" xmlns="" val="20014"/>
                    </a:ext>
                  </a:extLst>
                </a:gridCol>
                <a:gridCol w="387048">
                  <a:extLst>
                    <a:ext uri="{9D8B030D-6E8A-4147-A177-3AD203B41FA5}">
                      <a16:colId xmlns:a16="http://schemas.microsoft.com/office/drawing/2014/main" xmlns="" val="20015"/>
                    </a:ext>
                  </a:extLst>
                </a:gridCol>
                <a:gridCol w="387048">
                  <a:extLst>
                    <a:ext uri="{9D8B030D-6E8A-4147-A177-3AD203B41FA5}">
                      <a16:colId xmlns:a16="http://schemas.microsoft.com/office/drawing/2014/main" xmlns="" val="20016"/>
                    </a:ext>
                  </a:extLst>
                </a:gridCol>
                <a:gridCol w="387048">
                  <a:extLst>
                    <a:ext uri="{9D8B030D-6E8A-4147-A177-3AD203B41FA5}">
                      <a16:colId xmlns:a16="http://schemas.microsoft.com/office/drawing/2014/main" xmlns="" val="20017"/>
                    </a:ext>
                  </a:extLst>
                </a:gridCol>
                <a:gridCol w="387048">
                  <a:extLst>
                    <a:ext uri="{9D8B030D-6E8A-4147-A177-3AD203B41FA5}">
                      <a16:colId xmlns:a16="http://schemas.microsoft.com/office/drawing/2014/main" xmlns="" val="20018"/>
                    </a:ext>
                  </a:extLst>
                </a:gridCol>
                <a:gridCol w="387048">
                  <a:extLst>
                    <a:ext uri="{9D8B030D-6E8A-4147-A177-3AD203B41FA5}">
                      <a16:colId xmlns:a16="http://schemas.microsoft.com/office/drawing/2014/main" xmlns="" val="20019"/>
                    </a:ext>
                  </a:extLst>
                </a:gridCol>
                <a:gridCol w="387048">
                  <a:extLst>
                    <a:ext uri="{9D8B030D-6E8A-4147-A177-3AD203B41FA5}">
                      <a16:colId xmlns:a16="http://schemas.microsoft.com/office/drawing/2014/main" xmlns="" val="20020"/>
                    </a:ext>
                  </a:extLst>
                </a:gridCol>
              </a:tblGrid>
              <a:tr h="370840">
                <a:tc>
                  <a:txBody>
                    <a:bodyPr/>
                    <a:lstStyle/>
                    <a:p>
                      <a:r>
                        <a:rPr lang="en-US" sz="2200"/>
                        <a:t>Page</a:t>
                      </a:r>
                      <a:r>
                        <a:rPr lang="en-US" sz="2200" baseline="0"/>
                        <a:t> Request</a:t>
                      </a:r>
                      <a:endParaRPr lang="en-US" sz="2200"/>
                    </a:p>
                  </a:txBody>
                  <a:tcPr/>
                </a:tc>
                <a:tc>
                  <a:txBody>
                    <a:bodyPr/>
                    <a:lstStyle/>
                    <a:p>
                      <a:pPr algn="ctr"/>
                      <a:r>
                        <a:rPr lang="en-US" sz="2200"/>
                        <a:t>7</a:t>
                      </a:r>
                    </a:p>
                  </a:txBody>
                  <a:tcPr/>
                </a:tc>
                <a:tc>
                  <a:txBody>
                    <a:bodyPr/>
                    <a:lstStyle/>
                    <a:p>
                      <a:pPr algn="ctr"/>
                      <a:r>
                        <a:rPr lang="en-US" sz="2200"/>
                        <a:t>0</a:t>
                      </a:r>
                    </a:p>
                  </a:txBody>
                  <a:tcPr/>
                </a:tc>
                <a:tc>
                  <a:txBody>
                    <a:bodyPr/>
                    <a:lstStyle/>
                    <a:p>
                      <a:pPr algn="ctr"/>
                      <a:r>
                        <a:rPr lang="en-US" sz="2200"/>
                        <a:t>1</a:t>
                      </a:r>
                    </a:p>
                  </a:txBody>
                  <a:tcPr/>
                </a:tc>
                <a:tc>
                  <a:txBody>
                    <a:bodyPr/>
                    <a:lstStyle/>
                    <a:p>
                      <a:pPr algn="ctr"/>
                      <a:r>
                        <a:rPr lang="en-US" sz="2200"/>
                        <a:t>2</a:t>
                      </a:r>
                    </a:p>
                  </a:txBody>
                  <a:tcPr/>
                </a:tc>
                <a:tc>
                  <a:txBody>
                    <a:bodyPr/>
                    <a:lstStyle/>
                    <a:p>
                      <a:pPr algn="ctr"/>
                      <a:r>
                        <a:rPr lang="en-US" sz="2200"/>
                        <a:t>0</a:t>
                      </a:r>
                    </a:p>
                  </a:txBody>
                  <a:tcPr/>
                </a:tc>
                <a:tc>
                  <a:txBody>
                    <a:bodyPr/>
                    <a:lstStyle/>
                    <a:p>
                      <a:pPr algn="ctr"/>
                      <a:r>
                        <a:rPr lang="en-US" sz="2200"/>
                        <a:t>3</a:t>
                      </a:r>
                    </a:p>
                  </a:txBody>
                  <a:tcPr/>
                </a:tc>
                <a:tc>
                  <a:txBody>
                    <a:bodyPr/>
                    <a:lstStyle/>
                    <a:p>
                      <a:pPr algn="ctr"/>
                      <a:r>
                        <a:rPr lang="en-US" sz="2200"/>
                        <a:t>0</a:t>
                      </a:r>
                    </a:p>
                  </a:txBody>
                  <a:tcPr/>
                </a:tc>
                <a:tc>
                  <a:txBody>
                    <a:bodyPr/>
                    <a:lstStyle/>
                    <a:p>
                      <a:pPr algn="ctr"/>
                      <a:r>
                        <a:rPr lang="en-US" sz="2200"/>
                        <a:t>4</a:t>
                      </a:r>
                    </a:p>
                  </a:txBody>
                  <a:tcPr/>
                </a:tc>
                <a:tc>
                  <a:txBody>
                    <a:bodyPr/>
                    <a:lstStyle/>
                    <a:p>
                      <a:pPr algn="ctr"/>
                      <a:r>
                        <a:rPr lang="en-US" sz="2200"/>
                        <a:t>2</a:t>
                      </a:r>
                    </a:p>
                  </a:txBody>
                  <a:tcPr/>
                </a:tc>
                <a:tc>
                  <a:txBody>
                    <a:bodyPr/>
                    <a:lstStyle/>
                    <a:p>
                      <a:pPr algn="ctr"/>
                      <a:r>
                        <a:rPr lang="en-US" sz="2200"/>
                        <a:t>3</a:t>
                      </a:r>
                    </a:p>
                  </a:txBody>
                  <a:tcPr/>
                </a:tc>
                <a:tc>
                  <a:txBody>
                    <a:bodyPr/>
                    <a:lstStyle/>
                    <a:p>
                      <a:pPr algn="ctr"/>
                      <a:r>
                        <a:rPr lang="en-US" sz="2200"/>
                        <a:t>0</a:t>
                      </a:r>
                    </a:p>
                  </a:txBody>
                  <a:tcPr/>
                </a:tc>
                <a:tc>
                  <a:txBody>
                    <a:bodyPr/>
                    <a:lstStyle/>
                    <a:p>
                      <a:pPr algn="ctr"/>
                      <a:r>
                        <a:rPr lang="en-US" sz="2200"/>
                        <a:t>3</a:t>
                      </a:r>
                    </a:p>
                  </a:txBody>
                  <a:tcPr/>
                </a:tc>
                <a:tc>
                  <a:txBody>
                    <a:bodyPr/>
                    <a:lstStyle/>
                    <a:p>
                      <a:pPr algn="ctr"/>
                      <a:r>
                        <a:rPr lang="en-US" sz="2200"/>
                        <a:t>2</a:t>
                      </a:r>
                    </a:p>
                  </a:txBody>
                  <a:tcPr/>
                </a:tc>
                <a:tc>
                  <a:txBody>
                    <a:bodyPr/>
                    <a:lstStyle/>
                    <a:p>
                      <a:pPr algn="ctr"/>
                      <a:r>
                        <a:rPr lang="en-US" sz="2200"/>
                        <a:t>1</a:t>
                      </a:r>
                    </a:p>
                  </a:txBody>
                  <a:tcPr/>
                </a:tc>
                <a:tc>
                  <a:txBody>
                    <a:bodyPr/>
                    <a:lstStyle/>
                    <a:p>
                      <a:pPr algn="ctr"/>
                      <a:r>
                        <a:rPr lang="en-US" sz="2200"/>
                        <a:t>2</a:t>
                      </a:r>
                    </a:p>
                  </a:txBody>
                  <a:tcPr/>
                </a:tc>
                <a:tc>
                  <a:txBody>
                    <a:bodyPr/>
                    <a:lstStyle/>
                    <a:p>
                      <a:pPr algn="ctr"/>
                      <a:r>
                        <a:rPr lang="en-US" sz="2200"/>
                        <a:t>0</a:t>
                      </a:r>
                    </a:p>
                  </a:txBody>
                  <a:tcPr/>
                </a:tc>
                <a:tc>
                  <a:txBody>
                    <a:bodyPr/>
                    <a:lstStyle/>
                    <a:p>
                      <a:pPr algn="ctr"/>
                      <a:r>
                        <a:rPr lang="en-US" sz="2200"/>
                        <a:t>1</a:t>
                      </a:r>
                    </a:p>
                  </a:txBody>
                  <a:tcPr/>
                </a:tc>
                <a:tc>
                  <a:txBody>
                    <a:bodyPr/>
                    <a:lstStyle/>
                    <a:p>
                      <a:pPr algn="ctr"/>
                      <a:r>
                        <a:rPr lang="en-US" sz="2200"/>
                        <a:t>7</a:t>
                      </a:r>
                    </a:p>
                  </a:txBody>
                  <a:tcPr/>
                </a:tc>
                <a:tc>
                  <a:txBody>
                    <a:bodyPr/>
                    <a:lstStyle/>
                    <a:p>
                      <a:pPr algn="ctr"/>
                      <a:r>
                        <a:rPr lang="en-US" sz="2200"/>
                        <a:t>0</a:t>
                      </a:r>
                    </a:p>
                  </a:txBody>
                  <a:tcPr/>
                </a:tc>
                <a:tc>
                  <a:txBody>
                    <a:bodyPr/>
                    <a:lstStyle/>
                    <a:p>
                      <a:pPr algn="ctr"/>
                      <a:r>
                        <a:rPr lang="en-US" sz="2200"/>
                        <a:t>1</a:t>
                      </a:r>
                    </a:p>
                  </a:txBody>
                  <a:tcPr/>
                </a:tc>
                <a:extLst>
                  <a:ext uri="{0D108BD9-81ED-4DB2-BD59-A6C34878D82A}">
                    <a16:rowId xmlns:a16="http://schemas.microsoft.com/office/drawing/2014/main" xmlns=""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268163508"/>
              </p:ext>
            </p:extLst>
          </p:nvPr>
        </p:nvGraphicFramePr>
        <p:xfrm>
          <a:off x="1019969" y="2705152"/>
          <a:ext cx="9528803" cy="1280160"/>
        </p:xfrm>
        <a:graphic>
          <a:graphicData uri="http://schemas.openxmlformats.org/drawingml/2006/table">
            <a:tbl>
              <a:tblPr firstRow="1" bandRow="1">
                <a:tableStyleId>{2D5ABB26-0587-4C30-8999-92F81FD0307C}</a:tableStyleId>
              </a:tblPr>
              <a:tblGrid>
                <a:gridCol w="1787843">
                  <a:extLst>
                    <a:ext uri="{9D8B030D-6E8A-4147-A177-3AD203B41FA5}">
                      <a16:colId xmlns:a16="http://schemas.microsoft.com/office/drawing/2014/main" xmlns="" val="20000"/>
                    </a:ext>
                  </a:extLst>
                </a:gridCol>
                <a:gridCol w="387048">
                  <a:extLst>
                    <a:ext uri="{9D8B030D-6E8A-4147-A177-3AD203B41FA5}">
                      <a16:colId xmlns:a16="http://schemas.microsoft.com/office/drawing/2014/main" xmlns="" val="20001"/>
                    </a:ext>
                  </a:extLst>
                </a:gridCol>
                <a:gridCol w="387048">
                  <a:extLst>
                    <a:ext uri="{9D8B030D-6E8A-4147-A177-3AD203B41FA5}">
                      <a16:colId xmlns:a16="http://schemas.microsoft.com/office/drawing/2014/main" xmlns="" val="20002"/>
                    </a:ext>
                  </a:extLst>
                </a:gridCol>
                <a:gridCol w="387048">
                  <a:extLst>
                    <a:ext uri="{9D8B030D-6E8A-4147-A177-3AD203B41FA5}">
                      <a16:colId xmlns:a16="http://schemas.microsoft.com/office/drawing/2014/main" xmlns="" val="20003"/>
                    </a:ext>
                  </a:extLst>
                </a:gridCol>
                <a:gridCol w="387048">
                  <a:extLst>
                    <a:ext uri="{9D8B030D-6E8A-4147-A177-3AD203B41FA5}">
                      <a16:colId xmlns:a16="http://schemas.microsoft.com/office/drawing/2014/main" xmlns="" val="20004"/>
                    </a:ext>
                  </a:extLst>
                </a:gridCol>
                <a:gridCol w="387048">
                  <a:extLst>
                    <a:ext uri="{9D8B030D-6E8A-4147-A177-3AD203B41FA5}">
                      <a16:colId xmlns:a16="http://schemas.microsoft.com/office/drawing/2014/main" xmlns="" val="20005"/>
                    </a:ext>
                  </a:extLst>
                </a:gridCol>
                <a:gridCol w="387048">
                  <a:extLst>
                    <a:ext uri="{9D8B030D-6E8A-4147-A177-3AD203B41FA5}">
                      <a16:colId xmlns:a16="http://schemas.microsoft.com/office/drawing/2014/main" xmlns="" val="20006"/>
                    </a:ext>
                  </a:extLst>
                </a:gridCol>
                <a:gridCol w="387048">
                  <a:extLst>
                    <a:ext uri="{9D8B030D-6E8A-4147-A177-3AD203B41FA5}">
                      <a16:colId xmlns:a16="http://schemas.microsoft.com/office/drawing/2014/main" xmlns="" val="20007"/>
                    </a:ext>
                  </a:extLst>
                </a:gridCol>
                <a:gridCol w="387048">
                  <a:extLst>
                    <a:ext uri="{9D8B030D-6E8A-4147-A177-3AD203B41FA5}">
                      <a16:colId xmlns:a16="http://schemas.microsoft.com/office/drawing/2014/main" xmlns="" val="20008"/>
                    </a:ext>
                  </a:extLst>
                </a:gridCol>
                <a:gridCol w="387048">
                  <a:extLst>
                    <a:ext uri="{9D8B030D-6E8A-4147-A177-3AD203B41FA5}">
                      <a16:colId xmlns:a16="http://schemas.microsoft.com/office/drawing/2014/main" xmlns="" val="20009"/>
                    </a:ext>
                  </a:extLst>
                </a:gridCol>
                <a:gridCol w="387048">
                  <a:extLst>
                    <a:ext uri="{9D8B030D-6E8A-4147-A177-3AD203B41FA5}">
                      <a16:colId xmlns:a16="http://schemas.microsoft.com/office/drawing/2014/main" xmlns="" val="20010"/>
                    </a:ext>
                  </a:extLst>
                </a:gridCol>
                <a:gridCol w="387048">
                  <a:extLst>
                    <a:ext uri="{9D8B030D-6E8A-4147-A177-3AD203B41FA5}">
                      <a16:colId xmlns:a16="http://schemas.microsoft.com/office/drawing/2014/main" xmlns="" val="20011"/>
                    </a:ext>
                  </a:extLst>
                </a:gridCol>
                <a:gridCol w="387048">
                  <a:extLst>
                    <a:ext uri="{9D8B030D-6E8A-4147-A177-3AD203B41FA5}">
                      <a16:colId xmlns:a16="http://schemas.microsoft.com/office/drawing/2014/main" xmlns="" val="20012"/>
                    </a:ext>
                  </a:extLst>
                </a:gridCol>
                <a:gridCol w="387048">
                  <a:extLst>
                    <a:ext uri="{9D8B030D-6E8A-4147-A177-3AD203B41FA5}">
                      <a16:colId xmlns:a16="http://schemas.microsoft.com/office/drawing/2014/main" xmlns="" val="20013"/>
                    </a:ext>
                  </a:extLst>
                </a:gridCol>
                <a:gridCol w="387048">
                  <a:extLst>
                    <a:ext uri="{9D8B030D-6E8A-4147-A177-3AD203B41FA5}">
                      <a16:colId xmlns:a16="http://schemas.microsoft.com/office/drawing/2014/main" xmlns="" val="20014"/>
                    </a:ext>
                  </a:extLst>
                </a:gridCol>
                <a:gridCol w="387048">
                  <a:extLst>
                    <a:ext uri="{9D8B030D-6E8A-4147-A177-3AD203B41FA5}">
                      <a16:colId xmlns:a16="http://schemas.microsoft.com/office/drawing/2014/main" xmlns="" val="20015"/>
                    </a:ext>
                  </a:extLst>
                </a:gridCol>
                <a:gridCol w="387048">
                  <a:extLst>
                    <a:ext uri="{9D8B030D-6E8A-4147-A177-3AD203B41FA5}">
                      <a16:colId xmlns:a16="http://schemas.microsoft.com/office/drawing/2014/main" xmlns="" val="20016"/>
                    </a:ext>
                  </a:extLst>
                </a:gridCol>
                <a:gridCol w="387048">
                  <a:extLst>
                    <a:ext uri="{9D8B030D-6E8A-4147-A177-3AD203B41FA5}">
                      <a16:colId xmlns:a16="http://schemas.microsoft.com/office/drawing/2014/main" xmlns="" val="20017"/>
                    </a:ext>
                  </a:extLst>
                </a:gridCol>
                <a:gridCol w="387048">
                  <a:extLst>
                    <a:ext uri="{9D8B030D-6E8A-4147-A177-3AD203B41FA5}">
                      <a16:colId xmlns:a16="http://schemas.microsoft.com/office/drawing/2014/main" xmlns="" val="20018"/>
                    </a:ext>
                  </a:extLst>
                </a:gridCol>
                <a:gridCol w="387048">
                  <a:extLst>
                    <a:ext uri="{9D8B030D-6E8A-4147-A177-3AD203B41FA5}">
                      <a16:colId xmlns:a16="http://schemas.microsoft.com/office/drawing/2014/main" xmlns="" val="20019"/>
                    </a:ext>
                  </a:extLst>
                </a:gridCol>
                <a:gridCol w="387048">
                  <a:extLst>
                    <a:ext uri="{9D8B030D-6E8A-4147-A177-3AD203B41FA5}">
                      <a16:colId xmlns:a16="http://schemas.microsoft.com/office/drawing/2014/main" xmlns="" val="20020"/>
                    </a:ext>
                  </a:extLst>
                </a:gridCol>
              </a:tblGrid>
              <a:tr h="370840">
                <a:tc>
                  <a:txBody>
                    <a:bodyPr/>
                    <a:lstStyle/>
                    <a:p>
                      <a:r>
                        <a:rPr lang="en-US" sz="2200"/>
                        <a:t>Frame – 1</a:t>
                      </a:r>
                      <a:endParaRPr lang="en-US" sz="2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xmlns="" val="10000"/>
                  </a:ext>
                </a:extLst>
              </a:tr>
              <a:tr h="370840">
                <a:tc>
                  <a:txBody>
                    <a:bodyPr/>
                    <a:lstStyle/>
                    <a:p>
                      <a:pPr marL="0" marR="0" indent="0" algn="l" defTabSz="914400" rtl="0" eaLnBrk="1" fontAlgn="auto" latinLnBrk="0" hangingPunct="1">
                        <a:lnSpc>
                          <a:spcPct val="100000"/>
                        </a:lnSpc>
                        <a:spcBef>
                          <a:spcPct val="0"/>
                        </a:spcBef>
                        <a:spcAft>
                          <a:spcPct val="0"/>
                        </a:spcAft>
                        <a:buClrTx/>
                        <a:buSzTx/>
                        <a:buFontTx/>
                        <a:buNone/>
                        <a:defRPr/>
                      </a:pPr>
                      <a:r>
                        <a:rPr lang="en-US" sz="2200"/>
                        <a:t>Frame – 2</a:t>
                      </a:r>
                      <a:endParaRPr lang="en-US" sz="22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xmlns="" val="10001"/>
                  </a:ext>
                </a:extLst>
              </a:tr>
              <a:tr h="403332">
                <a:tc>
                  <a:txBody>
                    <a:bodyPr/>
                    <a:lstStyle/>
                    <a:p>
                      <a:pPr marL="0" marR="0" indent="0" algn="l" defTabSz="914400" rtl="0" eaLnBrk="1" fontAlgn="auto" latinLnBrk="0" hangingPunct="1">
                        <a:lnSpc>
                          <a:spcPct val="100000"/>
                        </a:lnSpc>
                        <a:spcBef>
                          <a:spcPct val="0"/>
                        </a:spcBef>
                        <a:spcAft>
                          <a:spcPct val="0"/>
                        </a:spcAft>
                        <a:buClrTx/>
                        <a:buSzTx/>
                        <a:buFontTx/>
                        <a:buNone/>
                        <a:defRPr/>
                      </a:pPr>
                      <a:r>
                        <a:rPr lang="en-US" sz="2200"/>
                        <a:t>Frame – 3</a:t>
                      </a:r>
                      <a:endParaRPr lang="en-US" sz="22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xmlns="" val="10002"/>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908262876"/>
              </p:ext>
            </p:extLst>
          </p:nvPr>
        </p:nvGraphicFramePr>
        <p:xfrm>
          <a:off x="1019969" y="4015315"/>
          <a:ext cx="9528803" cy="426720"/>
        </p:xfrm>
        <a:graphic>
          <a:graphicData uri="http://schemas.openxmlformats.org/drawingml/2006/table">
            <a:tbl>
              <a:tblPr firstRow="1" bandRow="1">
                <a:tableStyleId>{93296810-A885-4BE3-A3E7-6D5BEEA58F35}</a:tableStyleId>
              </a:tblPr>
              <a:tblGrid>
                <a:gridCol w="1787843">
                  <a:extLst>
                    <a:ext uri="{9D8B030D-6E8A-4147-A177-3AD203B41FA5}">
                      <a16:colId xmlns:a16="http://schemas.microsoft.com/office/drawing/2014/main" xmlns="" val="20000"/>
                    </a:ext>
                  </a:extLst>
                </a:gridCol>
                <a:gridCol w="387048">
                  <a:extLst>
                    <a:ext uri="{9D8B030D-6E8A-4147-A177-3AD203B41FA5}">
                      <a16:colId xmlns:a16="http://schemas.microsoft.com/office/drawing/2014/main" xmlns="" val="20001"/>
                    </a:ext>
                  </a:extLst>
                </a:gridCol>
                <a:gridCol w="387048">
                  <a:extLst>
                    <a:ext uri="{9D8B030D-6E8A-4147-A177-3AD203B41FA5}">
                      <a16:colId xmlns:a16="http://schemas.microsoft.com/office/drawing/2014/main" xmlns="" val="20002"/>
                    </a:ext>
                  </a:extLst>
                </a:gridCol>
                <a:gridCol w="387048">
                  <a:extLst>
                    <a:ext uri="{9D8B030D-6E8A-4147-A177-3AD203B41FA5}">
                      <a16:colId xmlns:a16="http://schemas.microsoft.com/office/drawing/2014/main" xmlns="" val="20003"/>
                    </a:ext>
                  </a:extLst>
                </a:gridCol>
                <a:gridCol w="387048">
                  <a:extLst>
                    <a:ext uri="{9D8B030D-6E8A-4147-A177-3AD203B41FA5}">
                      <a16:colId xmlns:a16="http://schemas.microsoft.com/office/drawing/2014/main" xmlns="" val="20004"/>
                    </a:ext>
                  </a:extLst>
                </a:gridCol>
                <a:gridCol w="387048">
                  <a:extLst>
                    <a:ext uri="{9D8B030D-6E8A-4147-A177-3AD203B41FA5}">
                      <a16:colId xmlns:a16="http://schemas.microsoft.com/office/drawing/2014/main" xmlns="" val="20005"/>
                    </a:ext>
                  </a:extLst>
                </a:gridCol>
                <a:gridCol w="387048">
                  <a:extLst>
                    <a:ext uri="{9D8B030D-6E8A-4147-A177-3AD203B41FA5}">
                      <a16:colId xmlns:a16="http://schemas.microsoft.com/office/drawing/2014/main" xmlns="" val="20006"/>
                    </a:ext>
                  </a:extLst>
                </a:gridCol>
                <a:gridCol w="387048">
                  <a:extLst>
                    <a:ext uri="{9D8B030D-6E8A-4147-A177-3AD203B41FA5}">
                      <a16:colId xmlns:a16="http://schemas.microsoft.com/office/drawing/2014/main" xmlns="" val="20007"/>
                    </a:ext>
                  </a:extLst>
                </a:gridCol>
                <a:gridCol w="387048">
                  <a:extLst>
                    <a:ext uri="{9D8B030D-6E8A-4147-A177-3AD203B41FA5}">
                      <a16:colId xmlns:a16="http://schemas.microsoft.com/office/drawing/2014/main" xmlns="" val="20008"/>
                    </a:ext>
                  </a:extLst>
                </a:gridCol>
                <a:gridCol w="387048">
                  <a:extLst>
                    <a:ext uri="{9D8B030D-6E8A-4147-A177-3AD203B41FA5}">
                      <a16:colId xmlns:a16="http://schemas.microsoft.com/office/drawing/2014/main" xmlns="" val="20009"/>
                    </a:ext>
                  </a:extLst>
                </a:gridCol>
                <a:gridCol w="387048">
                  <a:extLst>
                    <a:ext uri="{9D8B030D-6E8A-4147-A177-3AD203B41FA5}">
                      <a16:colId xmlns:a16="http://schemas.microsoft.com/office/drawing/2014/main" xmlns="" val="20010"/>
                    </a:ext>
                  </a:extLst>
                </a:gridCol>
                <a:gridCol w="387048">
                  <a:extLst>
                    <a:ext uri="{9D8B030D-6E8A-4147-A177-3AD203B41FA5}">
                      <a16:colId xmlns:a16="http://schemas.microsoft.com/office/drawing/2014/main" xmlns="" val="20011"/>
                    </a:ext>
                  </a:extLst>
                </a:gridCol>
                <a:gridCol w="387048">
                  <a:extLst>
                    <a:ext uri="{9D8B030D-6E8A-4147-A177-3AD203B41FA5}">
                      <a16:colId xmlns:a16="http://schemas.microsoft.com/office/drawing/2014/main" xmlns="" val="20012"/>
                    </a:ext>
                  </a:extLst>
                </a:gridCol>
                <a:gridCol w="387048">
                  <a:extLst>
                    <a:ext uri="{9D8B030D-6E8A-4147-A177-3AD203B41FA5}">
                      <a16:colId xmlns:a16="http://schemas.microsoft.com/office/drawing/2014/main" xmlns="" val="20013"/>
                    </a:ext>
                  </a:extLst>
                </a:gridCol>
                <a:gridCol w="387048">
                  <a:extLst>
                    <a:ext uri="{9D8B030D-6E8A-4147-A177-3AD203B41FA5}">
                      <a16:colId xmlns:a16="http://schemas.microsoft.com/office/drawing/2014/main" xmlns="" val="20014"/>
                    </a:ext>
                  </a:extLst>
                </a:gridCol>
                <a:gridCol w="387048">
                  <a:extLst>
                    <a:ext uri="{9D8B030D-6E8A-4147-A177-3AD203B41FA5}">
                      <a16:colId xmlns:a16="http://schemas.microsoft.com/office/drawing/2014/main" xmlns="" val="20015"/>
                    </a:ext>
                  </a:extLst>
                </a:gridCol>
                <a:gridCol w="387048">
                  <a:extLst>
                    <a:ext uri="{9D8B030D-6E8A-4147-A177-3AD203B41FA5}">
                      <a16:colId xmlns:a16="http://schemas.microsoft.com/office/drawing/2014/main" xmlns="" val="20016"/>
                    </a:ext>
                  </a:extLst>
                </a:gridCol>
                <a:gridCol w="387048">
                  <a:extLst>
                    <a:ext uri="{9D8B030D-6E8A-4147-A177-3AD203B41FA5}">
                      <a16:colId xmlns:a16="http://schemas.microsoft.com/office/drawing/2014/main" xmlns="" val="20017"/>
                    </a:ext>
                  </a:extLst>
                </a:gridCol>
                <a:gridCol w="387048">
                  <a:extLst>
                    <a:ext uri="{9D8B030D-6E8A-4147-A177-3AD203B41FA5}">
                      <a16:colId xmlns:a16="http://schemas.microsoft.com/office/drawing/2014/main" xmlns="" val="20018"/>
                    </a:ext>
                  </a:extLst>
                </a:gridCol>
                <a:gridCol w="387048">
                  <a:extLst>
                    <a:ext uri="{9D8B030D-6E8A-4147-A177-3AD203B41FA5}">
                      <a16:colId xmlns:a16="http://schemas.microsoft.com/office/drawing/2014/main" xmlns="" val="20019"/>
                    </a:ext>
                  </a:extLst>
                </a:gridCol>
                <a:gridCol w="387048">
                  <a:extLst>
                    <a:ext uri="{9D8B030D-6E8A-4147-A177-3AD203B41FA5}">
                      <a16:colId xmlns:a16="http://schemas.microsoft.com/office/drawing/2014/main" xmlns="" val="20020"/>
                    </a:ext>
                  </a:extLst>
                </a:gridCol>
              </a:tblGrid>
              <a:tr h="370840">
                <a:tc>
                  <a:txBody>
                    <a:bodyPr/>
                    <a:lstStyle/>
                    <a:p>
                      <a:r>
                        <a:rPr lang="en-US" sz="1900" b="0">
                          <a:solidFill>
                            <a:schemeClr val="tx1"/>
                          </a:solidFill>
                        </a:rPr>
                        <a:t>Page</a:t>
                      </a:r>
                      <a:r>
                        <a:rPr lang="en-US" sz="1900" b="0" baseline="0">
                          <a:solidFill>
                            <a:schemeClr val="tx1"/>
                          </a:solidFill>
                        </a:rPr>
                        <a:t> Faults </a:t>
                      </a:r>
                      <a:r>
                        <a:rPr lang="en-US" sz="1900" b="1" baseline="0">
                          <a:solidFill>
                            <a:schemeClr val="accent6"/>
                          </a:solidFill>
                        </a:rPr>
                        <a:t>(12)</a:t>
                      </a:r>
                      <a:endParaRPr lang="en-US" sz="1900" b="1">
                        <a:solidFill>
                          <a:schemeClr val="accent6"/>
                        </a:solidFill>
                      </a:endParaRPr>
                    </a:p>
                  </a:txBody>
                  <a:tcPr anchor="ct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207305010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nodeType="clickPar">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childTnLst>
                          </p:cTn>
                        </p:par>
                      </p:childTnLst>
                    </p:cTn>
                  </p:par>
                  <p:par>
                    <p:cTn id="19" fill="hold" nodeType="clickPar">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par>
                    <p:cTn id="24" fill="hold" nodeType="clickPar">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NRU (Not Recently Used) Page Replacement Algorithm</a:t>
            </a:r>
          </a:p>
        </p:txBody>
      </p:sp>
      <p:sp>
        <p:nvSpPr>
          <p:cNvPr id="3" name="Content Placeholder 2"/>
          <p:cNvSpPr>
            <a:spLocks noGrp="1"/>
          </p:cNvSpPr>
          <p:nvPr>
            <p:ph idx="1"/>
          </p:nvPr>
        </p:nvSpPr>
        <p:spPr/>
        <p:txBody>
          <a:bodyPr/>
          <a:lstStyle/>
          <a:p>
            <a:r>
              <a:rPr lang="en-US"/>
              <a:t>NRU makes approximation to replace the page based </a:t>
            </a:r>
            <a:r>
              <a:rPr lang="en-US" b="1">
                <a:solidFill>
                  <a:schemeClr val="accent6"/>
                </a:solidFill>
              </a:rPr>
              <a:t>on R (referenced) and M (modified) bits</a:t>
            </a:r>
            <a:r>
              <a:rPr lang="en-US"/>
              <a:t>.</a:t>
            </a:r>
          </a:p>
          <a:p>
            <a:r>
              <a:rPr lang="en-US"/>
              <a:t>When a process is started up, </a:t>
            </a:r>
            <a:r>
              <a:rPr lang="en-US" b="1">
                <a:solidFill>
                  <a:schemeClr val="accent6"/>
                </a:solidFill>
              </a:rPr>
              <a:t>both page bits for all pages are set to 0 by operating system</a:t>
            </a:r>
            <a:r>
              <a:rPr lang="en-US"/>
              <a:t>.</a:t>
            </a:r>
          </a:p>
          <a:p>
            <a:r>
              <a:rPr lang="en-US"/>
              <a:t>Periodically, the </a:t>
            </a:r>
            <a:r>
              <a:rPr lang="en-US" b="1">
                <a:solidFill>
                  <a:schemeClr val="accent6"/>
                </a:solidFill>
              </a:rPr>
              <a:t>R bit is cleared</a:t>
            </a:r>
            <a:r>
              <a:rPr lang="en-US"/>
              <a:t>, to distinguish pages that have not been referenced recently from those that have been.</a:t>
            </a:r>
          </a:p>
          <a:p>
            <a:r>
              <a:rPr lang="en-US"/>
              <a:t>When page fault occurs, the operating system inspects all the pages and </a:t>
            </a:r>
            <a:r>
              <a:rPr lang="en-US" b="1">
                <a:solidFill>
                  <a:schemeClr val="accent6"/>
                </a:solidFill>
              </a:rPr>
              <a:t>divide them into 4 categories based on current values of their R and M bits</a:t>
            </a:r>
          </a:p>
          <a:p>
            <a:pPr lvl="1"/>
            <a:r>
              <a:rPr lang="en-US"/>
              <a:t>Case 0 : not referenced, not modified</a:t>
            </a:r>
          </a:p>
          <a:p>
            <a:pPr lvl="1"/>
            <a:r>
              <a:rPr lang="en-US"/>
              <a:t>Case 1 : not referenced, modified</a:t>
            </a:r>
          </a:p>
          <a:p>
            <a:pPr lvl="1"/>
            <a:r>
              <a:rPr lang="en-US"/>
              <a:t>Case 2 : referenced, not modified</a:t>
            </a:r>
          </a:p>
          <a:p>
            <a:pPr lvl="1"/>
            <a:r>
              <a:rPr lang="en-US"/>
              <a:t>Case 3 : referenced, modified</a:t>
            </a:r>
          </a:p>
          <a:p>
            <a:r>
              <a:rPr lang="en-US"/>
              <a:t>The NRU (Not Recently Used) algorithm removes a page at random from the lowest numbered nonempty class.</a:t>
            </a:r>
          </a:p>
        </p:txBody>
      </p:sp>
    </p:spTree>
    <p:extLst>
      <p:ext uri="{BB962C8B-B14F-4D97-AF65-F5344CB8AC3E}">
        <p14:creationId xmlns:p14="http://schemas.microsoft.com/office/powerpoint/2010/main" val="183849819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childTnLst>
                          </p:cTn>
                        </p:par>
                      </p:childTnLst>
                    </p:cTn>
                  </p:par>
                  <p:par>
                    <p:cTn id="37" fill="hold" nodeType="clickPar">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NRU (Not Recently Used) Page Replacement Algorithm</a:t>
            </a:r>
          </a:p>
        </p:txBody>
      </p:sp>
      <p:sp>
        <p:nvSpPr>
          <p:cNvPr id="3" name="Content Placeholder 2"/>
          <p:cNvSpPr>
            <a:spLocks noGrp="1"/>
          </p:cNvSpPr>
          <p:nvPr>
            <p:ph idx="1"/>
          </p:nvPr>
        </p:nvSpPr>
        <p:spPr/>
        <p:txBody>
          <a:bodyPr/>
          <a:lstStyle/>
          <a:p>
            <a:r>
              <a:rPr lang="en-US"/>
              <a:t>For example if,</a:t>
            </a:r>
          </a:p>
          <a:p>
            <a:pPr lvl="1"/>
            <a:r>
              <a:rPr lang="en-US"/>
              <a:t>Page-0 is of class-2 (referenced, not modified)</a:t>
            </a:r>
          </a:p>
          <a:p>
            <a:pPr lvl="1"/>
            <a:r>
              <a:rPr lang="en-US"/>
              <a:t>Page-1 is of class-1 (not referenced, modified)</a:t>
            </a:r>
          </a:p>
          <a:p>
            <a:pPr lvl="1"/>
            <a:r>
              <a:rPr lang="en-US"/>
              <a:t>Page-2 is of class-0 (not referenced, not modified)</a:t>
            </a:r>
          </a:p>
          <a:p>
            <a:pPr lvl="1"/>
            <a:r>
              <a:rPr lang="en-US"/>
              <a:t>Page-3 is of class-3 (referenced, modified)</a:t>
            </a:r>
          </a:p>
          <a:p>
            <a:r>
              <a:rPr lang="en-US"/>
              <a:t>So lowest class </a:t>
            </a:r>
            <a:r>
              <a:rPr lang="en-US" b="1">
                <a:solidFill>
                  <a:schemeClr val="accent6"/>
                </a:solidFill>
              </a:rPr>
              <a:t>page-2 needs to be replaced by NRU</a:t>
            </a:r>
            <a:r>
              <a:rPr lang="en-US"/>
              <a:t>.</a:t>
            </a:r>
          </a:p>
        </p:txBody>
      </p:sp>
    </p:spTree>
    <p:extLst>
      <p:ext uri="{BB962C8B-B14F-4D97-AF65-F5344CB8AC3E}">
        <p14:creationId xmlns:p14="http://schemas.microsoft.com/office/powerpoint/2010/main" val="10463323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Belady’s Anomaly </a:t>
            </a:r>
            <a:r>
              <a:rPr lang="en-US"/>
              <a:t>(in FIFO Page Replacement Algorithm)</a:t>
            </a:r>
          </a:p>
        </p:txBody>
      </p:sp>
      <p:sp>
        <p:nvSpPr>
          <p:cNvPr id="3" name="Content Placeholder 2"/>
          <p:cNvSpPr>
            <a:spLocks noGrp="1"/>
          </p:cNvSpPr>
          <p:nvPr>
            <p:ph idx="1"/>
          </p:nvPr>
        </p:nvSpPr>
        <p:spPr/>
        <p:txBody>
          <a:bodyPr/>
          <a:lstStyle/>
          <a:p>
            <a:r>
              <a:rPr lang="en-US"/>
              <a:t>Page Reference String: 1, 2, 3, 4, 1, 2, 5, 1, 2, 3, 4, 5</a:t>
            </a:r>
          </a:p>
        </p:txBody>
      </p:sp>
      <p:graphicFrame>
        <p:nvGraphicFramePr>
          <p:cNvPr id="4" name="Table 3"/>
          <p:cNvGraphicFramePr>
            <a:graphicFrameLocks noGrp="1"/>
          </p:cNvGraphicFramePr>
          <p:nvPr>
            <p:extLst>
              <p:ext uri="{D42A27DB-BD31-4B8C-83A1-F6EECF244321}">
                <p14:modId xmlns:p14="http://schemas.microsoft.com/office/powerpoint/2010/main" val="3695597624"/>
              </p:ext>
            </p:extLst>
          </p:nvPr>
        </p:nvGraphicFramePr>
        <p:xfrm>
          <a:off x="1078028" y="1377571"/>
          <a:ext cx="6432419" cy="426720"/>
        </p:xfrm>
        <a:graphic>
          <a:graphicData uri="http://schemas.openxmlformats.org/drawingml/2006/table">
            <a:tbl>
              <a:tblPr firstRow="1" bandRow="1">
                <a:tableStyleId>{93296810-A885-4BE3-A3E7-6D5BEEA58F35}</a:tableStyleId>
              </a:tblPr>
              <a:tblGrid>
                <a:gridCol w="1787843">
                  <a:extLst>
                    <a:ext uri="{9D8B030D-6E8A-4147-A177-3AD203B41FA5}">
                      <a16:colId xmlns:a16="http://schemas.microsoft.com/office/drawing/2014/main" xmlns="" val="20000"/>
                    </a:ext>
                  </a:extLst>
                </a:gridCol>
                <a:gridCol w="387048">
                  <a:extLst>
                    <a:ext uri="{9D8B030D-6E8A-4147-A177-3AD203B41FA5}">
                      <a16:colId xmlns:a16="http://schemas.microsoft.com/office/drawing/2014/main" xmlns="" val="20001"/>
                    </a:ext>
                  </a:extLst>
                </a:gridCol>
                <a:gridCol w="387048">
                  <a:extLst>
                    <a:ext uri="{9D8B030D-6E8A-4147-A177-3AD203B41FA5}">
                      <a16:colId xmlns:a16="http://schemas.microsoft.com/office/drawing/2014/main" xmlns="" val="20002"/>
                    </a:ext>
                  </a:extLst>
                </a:gridCol>
                <a:gridCol w="387048">
                  <a:extLst>
                    <a:ext uri="{9D8B030D-6E8A-4147-A177-3AD203B41FA5}">
                      <a16:colId xmlns:a16="http://schemas.microsoft.com/office/drawing/2014/main" xmlns="" val="20003"/>
                    </a:ext>
                  </a:extLst>
                </a:gridCol>
                <a:gridCol w="387048">
                  <a:extLst>
                    <a:ext uri="{9D8B030D-6E8A-4147-A177-3AD203B41FA5}">
                      <a16:colId xmlns:a16="http://schemas.microsoft.com/office/drawing/2014/main" xmlns="" val="20004"/>
                    </a:ext>
                  </a:extLst>
                </a:gridCol>
                <a:gridCol w="387048">
                  <a:extLst>
                    <a:ext uri="{9D8B030D-6E8A-4147-A177-3AD203B41FA5}">
                      <a16:colId xmlns:a16="http://schemas.microsoft.com/office/drawing/2014/main" xmlns="" val="20005"/>
                    </a:ext>
                  </a:extLst>
                </a:gridCol>
                <a:gridCol w="387048">
                  <a:extLst>
                    <a:ext uri="{9D8B030D-6E8A-4147-A177-3AD203B41FA5}">
                      <a16:colId xmlns:a16="http://schemas.microsoft.com/office/drawing/2014/main" xmlns="" val="20006"/>
                    </a:ext>
                  </a:extLst>
                </a:gridCol>
                <a:gridCol w="387048">
                  <a:extLst>
                    <a:ext uri="{9D8B030D-6E8A-4147-A177-3AD203B41FA5}">
                      <a16:colId xmlns:a16="http://schemas.microsoft.com/office/drawing/2014/main" xmlns="" val="20007"/>
                    </a:ext>
                  </a:extLst>
                </a:gridCol>
                <a:gridCol w="387048">
                  <a:extLst>
                    <a:ext uri="{9D8B030D-6E8A-4147-A177-3AD203B41FA5}">
                      <a16:colId xmlns:a16="http://schemas.microsoft.com/office/drawing/2014/main" xmlns="" val="20008"/>
                    </a:ext>
                  </a:extLst>
                </a:gridCol>
                <a:gridCol w="387048">
                  <a:extLst>
                    <a:ext uri="{9D8B030D-6E8A-4147-A177-3AD203B41FA5}">
                      <a16:colId xmlns:a16="http://schemas.microsoft.com/office/drawing/2014/main" xmlns="" val="20009"/>
                    </a:ext>
                  </a:extLst>
                </a:gridCol>
                <a:gridCol w="387048">
                  <a:extLst>
                    <a:ext uri="{9D8B030D-6E8A-4147-A177-3AD203B41FA5}">
                      <a16:colId xmlns:a16="http://schemas.microsoft.com/office/drawing/2014/main" xmlns="" val="20010"/>
                    </a:ext>
                  </a:extLst>
                </a:gridCol>
                <a:gridCol w="387048">
                  <a:extLst>
                    <a:ext uri="{9D8B030D-6E8A-4147-A177-3AD203B41FA5}">
                      <a16:colId xmlns:a16="http://schemas.microsoft.com/office/drawing/2014/main" xmlns="" val="20011"/>
                    </a:ext>
                  </a:extLst>
                </a:gridCol>
                <a:gridCol w="387048">
                  <a:extLst>
                    <a:ext uri="{9D8B030D-6E8A-4147-A177-3AD203B41FA5}">
                      <a16:colId xmlns:a16="http://schemas.microsoft.com/office/drawing/2014/main" xmlns="" val="20012"/>
                    </a:ext>
                  </a:extLst>
                </a:gridCol>
              </a:tblGrid>
              <a:tr h="370840">
                <a:tc>
                  <a:txBody>
                    <a:bodyPr/>
                    <a:lstStyle/>
                    <a:p>
                      <a:r>
                        <a:rPr lang="en-US" sz="2200"/>
                        <a:t>Page</a:t>
                      </a:r>
                      <a:r>
                        <a:rPr lang="en-US" sz="2200" baseline="0"/>
                        <a:t> Request</a:t>
                      </a:r>
                      <a:endParaRPr lang="en-US" sz="2200"/>
                    </a:p>
                  </a:txBody>
                  <a:tcPr/>
                </a:tc>
                <a:tc>
                  <a:txBody>
                    <a:bodyPr/>
                    <a:lstStyle/>
                    <a:p>
                      <a:pPr algn="ctr"/>
                      <a:r>
                        <a:rPr lang="en-US" sz="2200"/>
                        <a:t>1</a:t>
                      </a:r>
                    </a:p>
                  </a:txBody>
                  <a:tcPr/>
                </a:tc>
                <a:tc>
                  <a:txBody>
                    <a:bodyPr/>
                    <a:lstStyle/>
                    <a:p>
                      <a:pPr algn="ctr"/>
                      <a:r>
                        <a:rPr lang="en-US" sz="2200"/>
                        <a:t>2</a:t>
                      </a:r>
                    </a:p>
                  </a:txBody>
                  <a:tcPr/>
                </a:tc>
                <a:tc>
                  <a:txBody>
                    <a:bodyPr/>
                    <a:lstStyle/>
                    <a:p>
                      <a:pPr algn="ctr"/>
                      <a:r>
                        <a:rPr lang="en-US" sz="2200"/>
                        <a:t>3</a:t>
                      </a:r>
                    </a:p>
                  </a:txBody>
                  <a:tcPr/>
                </a:tc>
                <a:tc>
                  <a:txBody>
                    <a:bodyPr/>
                    <a:lstStyle/>
                    <a:p>
                      <a:pPr algn="ctr"/>
                      <a:r>
                        <a:rPr lang="en-US" sz="2200"/>
                        <a:t>4</a:t>
                      </a:r>
                    </a:p>
                  </a:txBody>
                  <a:tcPr/>
                </a:tc>
                <a:tc>
                  <a:txBody>
                    <a:bodyPr/>
                    <a:lstStyle/>
                    <a:p>
                      <a:pPr algn="ctr"/>
                      <a:r>
                        <a:rPr lang="en-US" sz="2200"/>
                        <a:t>1</a:t>
                      </a:r>
                    </a:p>
                  </a:txBody>
                  <a:tcPr/>
                </a:tc>
                <a:tc>
                  <a:txBody>
                    <a:bodyPr/>
                    <a:lstStyle/>
                    <a:p>
                      <a:pPr algn="ctr"/>
                      <a:r>
                        <a:rPr lang="en-US" sz="2200"/>
                        <a:t>2</a:t>
                      </a:r>
                    </a:p>
                  </a:txBody>
                  <a:tcPr/>
                </a:tc>
                <a:tc>
                  <a:txBody>
                    <a:bodyPr/>
                    <a:lstStyle/>
                    <a:p>
                      <a:pPr algn="ctr"/>
                      <a:r>
                        <a:rPr lang="en-US" sz="2200"/>
                        <a:t>5</a:t>
                      </a:r>
                    </a:p>
                  </a:txBody>
                  <a:tcPr/>
                </a:tc>
                <a:tc>
                  <a:txBody>
                    <a:bodyPr/>
                    <a:lstStyle/>
                    <a:p>
                      <a:pPr algn="ctr"/>
                      <a:r>
                        <a:rPr lang="en-US" sz="2200"/>
                        <a:t>1</a:t>
                      </a:r>
                    </a:p>
                  </a:txBody>
                  <a:tcPr/>
                </a:tc>
                <a:tc>
                  <a:txBody>
                    <a:bodyPr/>
                    <a:lstStyle/>
                    <a:p>
                      <a:pPr algn="ctr"/>
                      <a:r>
                        <a:rPr lang="en-US" sz="2200"/>
                        <a:t>2</a:t>
                      </a:r>
                    </a:p>
                  </a:txBody>
                  <a:tcPr/>
                </a:tc>
                <a:tc>
                  <a:txBody>
                    <a:bodyPr/>
                    <a:lstStyle/>
                    <a:p>
                      <a:pPr algn="ctr"/>
                      <a:r>
                        <a:rPr lang="en-US" sz="2200"/>
                        <a:t>3</a:t>
                      </a:r>
                    </a:p>
                  </a:txBody>
                  <a:tcPr/>
                </a:tc>
                <a:tc>
                  <a:txBody>
                    <a:bodyPr/>
                    <a:lstStyle/>
                    <a:p>
                      <a:pPr algn="ctr"/>
                      <a:r>
                        <a:rPr lang="en-US" sz="2200"/>
                        <a:t>4</a:t>
                      </a:r>
                    </a:p>
                  </a:txBody>
                  <a:tcPr/>
                </a:tc>
                <a:tc>
                  <a:txBody>
                    <a:bodyPr/>
                    <a:lstStyle/>
                    <a:p>
                      <a:pPr algn="ctr"/>
                      <a:r>
                        <a:rPr lang="en-US" sz="2200"/>
                        <a:t>5</a:t>
                      </a:r>
                    </a:p>
                  </a:txBody>
                  <a:tcPr/>
                </a:tc>
                <a:extLst>
                  <a:ext uri="{0D108BD9-81ED-4DB2-BD59-A6C34878D82A}">
                    <a16:rowId xmlns:a16="http://schemas.microsoft.com/office/drawing/2014/main" xmlns=""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802461561"/>
              </p:ext>
            </p:extLst>
          </p:nvPr>
        </p:nvGraphicFramePr>
        <p:xfrm>
          <a:off x="1078028" y="1834295"/>
          <a:ext cx="6432419" cy="1280160"/>
        </p:xfrm>
        <a:graphic>
          <a:graphicData uri="http://schemas.openxmlformats.org/drawingml/2006/table">
            <a:tbl>
              <a:tblPr firstRow="1" bandRow="1">
                <a:tableStyleId>{2D5ABB26-0587-4C30-8999-92F81FD0307C}</a:tableStyleId>
              </a:tblPr>
              <a:tblGrid>
                <a:gridCol w="1787843">
                  <a:extLst>
                    <a:ext uri="{9D8B030D-6E8A-4147-A177-3AD203B41FA5}">
                      <a16:colId xmlns:a16="http://schemas.microsoft.com/office/drawing/2014/main" xmlns="" val="20000"/>
                    </a:ext>
                  </a:extLst>
                </a:gridCol>
                <a:gridCol w="387048">
                  <a:extLst>
                    <a:ext uri="{9D8B030D-6E8A-4147-A177-3AD203B41FA5}">
                      <a16:colId xmlns:a16="http://schemas.microsoft.com/office/drawing/2014/main" xmlns="" val="20001"/>
                    </a:ext>
                  </a:extLst>
                </a:gridCol>
                <a:gridCol w="387048">
                  <a:extLst>
                    <a:ext uri="{9D8B030D-6E8A-4147-A177-3AD203B41FA5}">
                      <a16:colId xmlns:a16="http://schemas.microsoft.com/office/drawing/2014/main" xmlns="" val="20002"/>
                    </a:ext>
                  </a:extLst>
                </a:gridCol>
                <a:gridCol w="387048">
                  <a:extLst>
                    <a:ext uri="{9D8B030D-6E8A-4147-A177-3AD203B41FA5}">
                      <a16:colId xmlns:a16="http://schemas.microsoft.com/office/drawing/2014/main" xmlns="" val="20003"/>
                    </a:ext>
                  </a:extLst>
                </a:gridCol>
                <a:gridCol w="387048">
                  <a:extLst>
                    <a:ext uri="{9D8B030D-6E8A-4147-A177-3AD203B41FA5}">
                      <a16:colId xmlns:a16="http://schemas.microsoft.com/office/drawing/2014/main" xmlns="" val="20004"/>
                    </a:ext>
                  </a:extLst>
                </a:gridCol>
                <a:gridCol w="387048">
                  <a:extLst>
                    <a:ext uri="{9D8B030D-6E8A-4147-A177-3AD203B41FA5}">
                      <a16:colId xmlns:a16="http://schemas.microsoft.com/office/drawing/2014/main" xmlns="" val="20005"/>
                    </a:ext>
                  </a:extLst>
                </a:gridCol>
                <a:gridCol w="387048">
                  <a:extLst>
                    <a:ext uri="{9D8B030D-6E8A-4147-A177-3AD203B41FA5}">
                      <a16:colId xmlns:a16="http://schemas.microsoft.com/office/drawing/2014/main" xmlns="" val="20006"/>
                    </a:ext>
                  </a:extLst>
                </a:gridCol>
                <a:gridCol w="387048">
                  <a:extLst>
                    <a:ext uri="{9D8B030D-6E8A-4147-A177-3AD203B41FA5}">
                      <a16:colId xmlns:a16="http://schemas.microsoft.com/office/drawing/2014/main" xmlns="" val="20007"/>
                    </a:ext>
                  </a:extLst>
                </a:gridCol>
                <a:gridCol w="387048">
                  <a:extLst>
                    <a:ext uri="{9D8B030D-6E8A-4147-A177-3AD203B41FA5}">
                      <a16:colId xmlns:a16="http://schemas.microsoft.com/office/drawing/2014/main" xmlns="" val="20008"/>
                    </a:ext>
                  </a:extLst>
                </a:gridCol>
                <a:gridCol w="387048">
                  <a:extLst>
                    <a:ext uri="{9D8B030D-6E8A-4147-A177-3AD203B41FA5}">
                      <a16:colId xmlns:a16="http://schemas.microsoft.com/office/drawing/2014/main" xmlns="" val="20009"/>
                    </a:ext>
                  </a:extLst>
                </a:gridCol>
                <a:gridCol w="387048">
                  <a:extLst>
                    <a:ext uri="{9D8B030D-6E8A-4147-A177-3AD203B41FA5}">
                      <a16:colId xmlns:a16="http://schemas.microsoft.com/office/drawing/2014/main" xmlns="" val="20010"/>
                    </a:ext>
                  </a:extLst>
                </a:gridCol>
                <a:gridCol w="387048">
                  <a:extLst>
                    <a:ext uri="{9D8B030D-6E8A-4147-A177-3AD203B41FA5}">
                      <a16:colId xmlns:a16="http://schemas.microsoft.com/office/drawing/2014/main" xmlns="" val="20011"/>
                    </a:ext>
                  </a:extLst>
                </a:gridCol>
                <a:gridCol w="387048">
                  <a:extLst>
                    <a:ext uri="{9D8B030D-6E8A-4147-A177-3AD203B41FA5}">
                      <a16:colId xmlns:a16="http://schemas.microsoft.com/office/drawing/2014/main" xmlns="" val="20012"/>
                    </a:ext>
                  </a:extLst>
                </a:gridCol>
              </a:tblGrid>
              <a:tr h="370840">
                <a:tc>
                  <a:txBody>
                    <a:bodyPr/>
                    <a:lstStyle/>
                    <a:p>
                      <a:r>
                        <a:rPr lang="en-US" sz="2200"/>
                        <a:t>Frame – 1</a:t>
                      </a:r>
                      <a:endParaRPr lang="en-US" sz="2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xmlns="" val="10000"/>
                  </a:ext>
                </a:extLst>
              </a:tr>
              <a:tr h="370840">
                <a:tc>
                  <a:txBody>
                    <a:bodyPr/>
                    <a:lstStyle/>
                    <a:p>
                      <a:pPr marL="0" marR="0" indent="0" algn="l" defTabSz="914400" rtl="0" eaLnBrk="1" fontAlgn="auto" latinLnBrk="0" hangingPunct="1">
                        <a:lnSpc>
                          <a:spcPct val="100000"/>
                        </a:lnSpc>
                        <a:spcBef>
                          <a:spcPct val="0"/>
                        </a:spcBef>
                        <a:spcAft>
                          <a:spcPct val="0"/>
                        </a:spcAft>
                        <a:buClrTx/>
                        <a:buSzTx/>
                        <a:buFontTx/>
                        <a:buNone/>
                        <a:defRPr/>
                      </a:pPr>
                      <a:r>
                        <a:rPr lang="en-US" sz="2200"/>
                        <a:t>Frame – 2</a:t>
                      </a:r>
                      <a:endParaRPr lang="en-US" sz="22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xmlns="" val="10001"/>
                  </a:ext>
                </a:extLst>
              </a:tr>
              <a:tr h="403332">
                <a:tc>
                  <a:txBody>
                    <a:bodyPr/>
                    <a:lstStyle/>
                    <a:p>
                      <a:pPr marL="0" marR="0" indent="0" algn="l" defTabSz="914400" rtl="0" eaLnBrk="1" fontAlgn="auto" latinLnBrk="0" hangingPunct="1">
                        <a:lnSpc>
                          <a:spcPct val="100000"/>
                        </a:lnSpc>
                        <a:spcBef>
                          <a:spcPct val="0"/>
                        </a:spcBef>
                        <a:spcAft>
                          <a:spcPct val="0"/>
                        </a:spcAft>
                        <a:buClrTx/>
                        <a:buSzTx/>
                        <a:buFontTx/>
                        <a:buNone/>
                        <a:defRPr/>
                      </a:pPr>
                      <a:r>
                        <a:rPr lang="en-US" sz="2200"/>
                        <a:t>Frame – 3</a:t>
                      </a:r>
                      <a:endParaRPr lang="en-US" sz="22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xmlns="" val="10002"/>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229683"/>
              </p:ext>
            </p:extLst>
          </p:nvPr>
        </p:nvGraphicFramePr>
        <p:xfrm>
          <a:off x="1078028" y="3134933"/>
          <a:ext cx="6432419" cy="426720"/>
        </p:xfrm>
        <a:graphic>
          <a:graphicData uri="http://schemas.openxmlformats.org/drawingml/2006/table">
            <a:tbl>
              <a:tblPr firstRow="1" bandRow="1">
                <a:tableStyleId>{93296810-A885-4BE3-A3E7-6D5BEEA58F35}</a:tableStyleId>
              </a:tblPr>
              <a:tblGrid>
                <a:gridCol w="1787843">
                  <a:extLst>
                    <a:ext uri="{9D8B030D-6E8A-4147-A177-3AD203B41FA5}">
                      <a16:colId xmlns:a16="http://schemas.microsoft.com/office/drawing/2014/main" xmlns="" val="20000"/>
                    </a:ext>
                  </a:extLst>
                </a:gridCol>
                <a:gridCol w="387048">
                  <a:extLst>
                    <a:ext uri="{9D8B030D-6E8A-4147-A177-3AD203B41FA5}">
                      <a16:colId xmlns:a16="http://schemas.microsoft.com/office/drawing/2014/main" xmlns="" val="20001"/>
                    </a:ext>
                  </a:extLst>
                </a:gridCol>
                <a:gridCol w="387048">
                  <a:extLst>
                    <a:ext uri="{9D8B030D-6E8A-4147-A177-3AD203B41FA5}">
                      <a16:colId xmlns:a16="http://schemas.microsoft.com/office/drawing/2014/main" xmlns="" val="20002"/>
                    </a:ext>
                  </a:extLst>
                </a:gridCol>
                <a:gridCol w="387048">
                  <a:extLst>
                    <a:ext uri="{9D8B030D-6E8A-4147-A177-3AD203B41FA5}">
                      <a16:colId xmlns:a16="http://schemas.microsoft.com/office/drawing/2014/main" xmlns="" val="20003"/>
                    </a:ext>
                  </a:extLst>
                </a:gridCol>
                <a:gridCol w="387048">
                  <a:extLst>
                    <a:ext uri="{9D8B030D-6E8A-4147-A177-3AD203B41FA5}">
                      <a16:colId xmlns:a16="http://schemas.microsoft.com/office/drawing/2014/main" xmlns="" val="20004"/>
                    </a:ext>
                  </a:extLst>
                </a:gridCol>
                <a:gridCol w="387048">
                  <a:extLst>
                    <a:ext uri="{9D8B030D-6E8A-4147-A177-3AD203B41FA5}">
                      <a16:colId xmlns:a16="http://schemas.microsoft.com/office/drawing/2014/main" xmlns="" val="20005"/>
                    </a:ext>
                  </a:extLst>
                </a:gridCol>
                <a:gridCol w="387048">
                  <a:extLst>
                    <a:ext uri="{9D8B030D-6E8A-4147-A177-3AD203B41FA5}">
                      <a16:colId xmlns:a16="http://schemas.microsoft.com/office/drawing/2014/main" xmlns="" val="20006"/>
                    </a:ext>
                  </a:extLst>
                </a:gridCol>
                <a:gridCol w="387048">
                  <a:extLst>
                    <a:ext uri="{9D8B030D-6E8A-4147-A177-3AD203B41FA5}">
                      <a16:colId xmlns:a16="http://schemas.microsoft.com/office/drawing/2014/main" xmlns="" val="20007"/>
                    </a:ext>
                  </a:extLst>
                </a:gridCol>
                <a:gridCol w="387048">
                  <a:extLst>
                    <a:ext uri="{9D8B030D-6E8A-4147-A177-3AD203B41FA5}">
                      <a16:colId xmlns:a16="http://schemas.microsoft.com/office/drawing/2014/main" xmlns="" val="20008"/>
                    </a:ext>
                  </a:extLst>
                </a:gridCol>
                <a:gridCol w="387048">
                  <a:extLst>
                    <a:ext uri="{9D8B030D-6E8A-4147-A177-3AD203B41FA5}">
                      <a16:colId xmlns:a16="http://schemas.microsoft.com/office/drawing/2014/main" xmlns="" val="20009"/>
                    </a:ext>
                  </a:extLst>
                </a:gridCol>
                <a:gridCol w="387048">
                  <a:extLst>
                    <a:ext uri="{9D8B030D-6E8A-4147-A177-3AD203B41FA5}">
                      <a16:colId xmlns:a16="http://schemas.microsoft.com/office/drawing/2014/main" xmlns="" val="20010"/>
                    </a:ext>
                  </a:extLst>
                </a:gridCol>
                <a:gridCol w="387048">
                  <a:extLst>
                    <a:ext uri="{9D8B030D-6E8A-4147-A177-3AD203B41FA5}">
                      <a16:colId xmlns:a16="http://schemas.microsoft.com/office/drawing/2014/main" xmlns="" val="20011"/>
                    </a:ext>
                  </a:extLst>
                </a:gridCol>
                <a:gridCol w="387048">
                  <a:extLst>
                    <a:ext uri="{9D8B030D-6E8A-4147-A177-3AD203B41FA5}">
                      <a16:colId xmlns:a16="http://schemas.microsoft.com/office/drawing/2014/main" xmlns="" val="20012"/>
                    </a:ext>
                  </a:extLst>
                </a:gridCol>
              </a:tblGrid>
              <a:tr h="370840">
                <a:tc>
                  <a:txBody>
                    <a:bodyPr/>
                    <a:lstStyle/>
                    <a:p>
                      <a:r>
                        <a:rPr lang="en-US" sz="1900" b="0">
                          <a:solidFill>
                            <a:schemeClr val="tx1"/>
                          </a:solidFill>
                        </a:rPr>
                        <a:t>Page</a:t>
                      </a:r>
                      <a:r>
                        <a:rPr lang="en-US" sz="1900" b="0" baseline="0">
                          <a:solidFill>
                            <a:schemeClr val="tx1"/>
                          </a:solidFill>
                        </a:rPr>
                        <a:t> Faults </a:t>
                      </a:r>
                      <a:r>
                        <a:rPr lang="en-US" sz="1900" b="1" baseline="0">
                          <a:solidFill>
                            <a:schemeClr val="accent6"/>
                          </a:solidFill>
                        </a:rPr>
                        <a:t>(9)</a:t>
                      </a:r>
                      <a:endParaRPr lang="en-US" sz="1900" b="1">
                        <a:solidFill>
                          <a:schemeClr val="accent6"/>
                        </a:solidFill>
                      </a:endParaRPr>
                    </a:p>
                  </a:txBody>
                  <a:tcPr anchor="ct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extLst>
                  <a:ext uri="{0D108BD9-81ED-4DB2-BD59-A6C34878D82A}">
                    <a16:rowId xmlns:a16="http://schemas.microsoft.com/office/drawing/2014/main" xmlns="" val="10000"/>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765856730"/>
              </p:ext>
            </p:extLst>
          </p:nvPr>
        </p:nvGraphicFramePr>
        <p:xfrm>
          <a:off x="1070770" y="3810460"/>
          <a:ext cx="6432419" cy="426720"/>
        </p:xfrm>
        <a:graphic>
          <a:graphicData uri="http://schemas.openxmlformats.org/drawingml/2006/table">
            <a:tbl>
              <a:tblPr firstRow="1" bandRow="1">
                <a:tableStyleId>{93296810-A885-4BE3-A3E7-6D5BEEA58F35}</a:tableStyleId>
              </a:tblPr>
              <a:tblGrid>
                <a:gridCol w="1787843">
                  <a:extLst>
                    <a:ext uri="{9D8B030D-6E8A-4147-A177-3AD203B41FA5}">
                      <a16:colId xmlns:a16="http://schemas.microsoft.com/office/drawing/2014/main" xmlns="" val="20000"/>
                    </a:ext>
                  </a:extLst>
                </a:gridCol>
                <a:gridCol w="387048">
                  <a:extLst>
                    <a:ext uri="{9D8B030D-6E8A-4147-A177-3AD203B41FA5}">
                      <a16:colId xmlns:a16="http://schemas.microsoft.com/office/drawing/2014/main" xmlns="" val="20001"/>
                    </a:ext>
                  </a:extLst>
                </a:gridCol>
                <a:gridCol w="387048">
                  <a:extLst>
                    <a:ext uri="{9D8B030D-6E8A-4147-A177-3AD203B41FA5}">
                      <a16:colId xmlns:a16="http://schemas.microsoft.com/office/drawing/2014/main" xmlns="" val="20002"/>
                    </a:ext>
                  </a:extLst>
                </a:gridCol>
                <a:gridCol w="387048">
                  <a:extLst>
                    <a:ext uri="{9D8B030D-6E8A-4147-A177-3AD203B41FA5}">
                      <a16:colId xmlns:a16="http://schemas.microsoft.com/office/drawing/2014/main" xmlns="" val="20003"/>
                    </a:ext>
                  </a:extLst>
                </a:gridCol>
                <a:gridCol w="387048">
                  <a:extLst>
                    <a:ext uri="{9D8B030D-6E8A-4147-A177-3AD203B41FA5}">
                      <a16:colId xmlns:a16="http://schemas.microsoft.com/office/drawing/2014/main" xmlns="" val="20004"/>
                    </a:ext>
                  </a:extLst>
                </a:gridCol>
                <a:gridCol w="387048">
                  <a:extLst>
                    <a:ext uri="{9D8B030D-6E8A-4147-A177-3AD203B41FA5}">
                      <a16:colId xmlns:a16="http://schemas.microsoft.com/office/drawing/2014/main" xmlns="" val="20005"/>
                    </a:ext>
                  </a:extLst>
                </a:gridCol>
                <a:gridCol w="387048">
                  <a:extLst>
                    <a:ext uri="{9D8B030D-6E8A-4147-A177-3AD203B41FA5}">
                      <a16:colId xmlns:a16="http://schemas.microsoft.com/office/drawing/2014/main" xmlns="" val="20006"/>
                    </a:ext>
                  </a:extLst>
                </a:gridCol>
                <a:gridCol w="387048">
                  <a:extLst>
                    <a:ext uri="{9D8B030D-6E8A-4147-A177-3AD203B41FA5}">
                      <a16:colId xmlns:a16="http://schemas.microsoft.com/office/drawing/2014/main" xmlns="" val="20007"/>
                    </a:ext>
                  </a:extLst>
                </a:gridCol>
                <a:gridCol w="387048">
                  <a:extLst>
                    <a:ext uri="{9D8B030D-6E8A-4147-A177-3AD203B41FA5}">
                      <a16:colId xmlns:a16="http://schemas.microsoft.com/office/drawing/2014/main" xmlns="" val="20008"/>
                    </a:ext>
                  </a:extLst>
                </a:gridCol>
                <a:gridCol w="387048">
                  <a:extLst>
                    <a:ext uri="{9D8B030D-6E8A-4147-A177-3AD203B41FA5}">
                      <a16:colId xmlns:a16="http://schemas.microsoft.com/office/drawing/2014/main" xmlns="" val="20009"/>
                    </a:ext>
                  </a:extLst>
                </a:gridCol>
                <a:gridCol w="387048">
                  <a:extLst>
                    <a:ext uri="{9D8B030D-6E8A-4147-A177-3AD203B41FA5}">
                      <a16:colId xmlns:a16="http://schemas.microsoft.com/office/drawing/2014/main" xmlns="" val="20010"/>
                    </a:ext>
                  </a:extLst>
                </a:gridCol>
                <a:gridCol w="387048">
                  <a:extLst>
                    <a:ext uri="{9D8B030D-6E8A-4147-A177-3AD203B41FA5}">
                      <a16:colId xmlns:a16="http://schemas.microsoft.com/office/drawing/2014/main" xmlns="" val="20011"/>
                    </a:ext>
                  </a:extLst>
                </a:gridCol>
                <a:gridCol w="387048">
                  <a:extLst>
                    <a:ext uri="{9D8B030D-6E8A-4147-A177-3AD203B41FA5}">
                      <a16:colId xmlns:a16="http://schemas.microsoft.com/office/drawing/2014/main" xmlns="" val="20012"/>
                    </a:ext>
                  </a:extLst>
                </a:gridCol>
              </a:tblGrid>
              <a:tr h="370840">
                <a:tc>
                  <a:txBody>
                    <a:bodyPr/>
                    <a:lstStyle/>
                    <a:p>
                      <a:r>
                        <a:rPr lang="en-US" sz="2200"/>
                        <a:t>Page</a:t>
                      </a:r>
                      <a:r>
                        <a:rPr lang="en-US" sz="2200" baseline="0"/>
                        <a:t> Request</a:t>
                      </a:r>
                      <a:endParaRPr lang="en-US" sz="2200"/>
                    </a:p>
                  </a:txBody>
                  <a:tcPr/>
                </a:tc>
                <a:tc>
                  <a:txBody>
                    <a:bodyPr/>
                    <a:lstStyle/>
                    <a:p>
                      <a:pPr algn="ctr"/>
                      <a:r>
                        <a:rPr lang="en-US" sz="2200"/>
                        <a:t>1</a:t>
                      </a:r>
                    </a:p>
                  </a:txBody>
                  <a:tcPr/>
                </a:tc>
                <a:tc>
                  <a:txBody>
                    <a:bodyPr/>
                    <a:lstStyle/>
                    <a:p>
                      <a:pPr algn="ctr"/>
                      <a:r>
                        <a:rPr lang="en-US" sz="2200"/>
                        <a:t>2</a:t>
                      </a:r>
                    </a:p>
                  </a:txBody>
                  <a:tcPr/>
                </a:tc>
                <a:tc>
                  <a:txBody>
                    <a:bodyPr/>
                    <a:lstStyle/>
                    <a:p>
                      <a:pPr algn="ctr"/>
                      <a:r>
                        <a:rPr lang="en-US" sz="2200"/>
                        <a:t>3</a:t>
                      </a:r>
                    </a:p>
                  </a:txBody>
                  <a:tcPr/>
                </a:tc>
                <a:tc>
                  <a:txBody>
                    <a:bodyPr/>
                    <a:lstStyle/>
                    <a:p>
                      <a:pPr algn="ctr"/>
                      <a:r>
                        <a:rPr lang="en-US" sz="2200"/>
                        <a:t>4</a:t>
                      </a:r>
                    </a:p>
                  </a:txBody>
                  <a:tcPr/>
                </a:tc>
                <a:tc>
                  <a:txBody>
                    <a:bodyPr/>
                    <a:lstStyle/>
                    <a:p>
                      <a:pPr algn="ctr"/>
                      <a:r>
                        <a:rPr lang="en-US" sz="2200"/>
                        <a:t>1</a:t>
                      </a:r>
                    </a:p>
                  </a:txBody>
                  <a:tcPr/>
                </a:tc>
                <a:tc>
                  <a:txBody>
                    <a:bodyPr/>
                    <a:lstStyle/>
                    <a:p>
                      <a:pPr algn="ctr"/>
                      <a:r>
                        <a:rPr lang="en-US" sz="2200"/>
                        <a:t>2</a:t>
                      </a:r>
                    </a:p>
                  </a:txBody>
                  <a:tcPr/>
                </a:tc>
                <a:tc>
                  <a:txBody>
                    <a:bodyPr/>
                    <a:lstStyle/>
                    <a:p>
                      <a:pPr algn="ctr"/>
                      <a:r>
                        <a:rPr lang="en-US" sz="2200"/>
                        <a:t>5</a:t>
                      </a:r>
                    </a:p>
                  </a:txBody>
                  <a:tcPr/>
                </a:tc>
                <a:tc>
                  <a:txBody>
                    <a:bodyPr/>
                    <a:lstStyle/>
                    <a:p>
                      <a:pPr algn="ctr"/>
                      <a:r>
                        <a:rPr lang="en-US" sz="2200"/>
                        <a:t>1</a:t>
                      </a:r>
                    </a:p>
                  </a:txBody>
                  <a:tcPr/>
                </a:tc>
                <a:tc>
                  <a:txBody>
                    <a:bodyPr/>
                    <a:lstStyle/>
                    <a:p>
                      <a:pPr algn="ctr"/>
                      <a:r>
                        <a:rPr lang="en-US" sz="2200"/>
                        <a:t>2</a:t>
                      </a:r>
                    </a:p>
                  </a:txBody>
                  <a:tcPr/>
                </a:tc>
                <a:tc>
                  <a:txBody>
                    <a:bodyPr/>
                    <a:lstStyle/>
                    <a:p>
                      <a:pPr algn="ctr"/>
                      <a:r>
                        <a:rPr lang="en-US" sz="2200"/>
                        <a:t>3</a:t>
                      </a:r>
                    </a:p>
                  </a:txBody>
                  <a:tcPr/>
                </a:tc>
                <a:tc>
                  <a:txBody>
                    <a:bodyPr/>
                    <a:lstStyle/>
                    <a:p>
                      <a:pPr algn="ctr"/>
                      <a:r>
                        <a:rPr lang="en-US" sz="2200"/>
                        <a:t>4</a:t>
                      </a:r>
                    </a:p>
                  </a:txBody>
                  <a:tcPr/>
                </a:tc>
                <a:tc>
                  <a:txBody>
                    <a:bodyPr/>
                    <a:lstStyle/>
                    <a:p>
                      <a:pPr algn="ctr"/>
                      <a:r>
                        <a:rPr lang="en-US" sz="2200"/>
                        <a:t>5</a:t>
                      </a:r>
                    </a:p>
                  </a:txBody>
                  <a:tcPr/>
                </a:tc>
                <a:extLst>
                  <a:ext uri="{0D108BD9-81ED-4DB2-BD59-A6C34878D82A}">
                    <a16:rowId xmlns:a16="http://schemas.microsoft.com/office/drawing/2014/main" xmlns="" val="10000"/>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240416187"/>
              </p:ext>
            </p:extLst>
          </p:nvPr>
        </p:nvGraphicFramePr>
        <p:xfrm>
          <a:off x="1070770" y="4267184"/>
          <a:ext cx="6432419" cy="1706880"/>
        </p:xfrm>
        <a:graphic>
          <a:graphicData uri="http://schemas.openxmlformats.org/drawingml/2006/table">
            <a:tbl>
              <a:tblPr firstRow="1" bandRow="1">
                <a:tableStyleId>{2D5ABB26-0587-4C30-8999-92F81FD0307C}</a:tableStyleId>
              </a:tblPr>
              <a:tblGrid>
                <a:gridCol w="1787843">
                  <a:extLst>
                    <a:ext uri="{9D8B030D-6E8A-4147-A177-3AD203B41FA5}">
                      <a16:colId xmlns:a16="http://schemas.microsoft.com/office/drawing/2014/main" xmlns="" val="20000"/>
                    </a:ext>
                  </a:extLst>
                </a:gridCol>
                <a:gridCol w="387048">
                  <a:extLst>
                    <a:ext uri="{9D8B030D-6E8A-4147-A177-3AD203B41FA5}">
                      <a16:colId xmlns:a16="http://schemas.microsoft.com/office/drawing/2014/main" xmlns="" val="20001"/>
                    </a:ext>
                  </a:extLst>
                </a:gridCol>
                <a:gridCol w="387048">
                  <a:extLst>
                    <a:ext uri="{9D8B030D-6E8A-4147-A177-3AD203B41FA5}">
                      <a16:colId xmlns:a16="http://schemas.microsoft.com/office/drawing/2014/main" xmlns="" val="20002"/>
                    </a:ext>
                  </a:extLst>
                </a:gridCol>
                <a:gridCol w="387048">
                  <a:extLst>
                    <a:ext uri="{9D8B030D-6E8A-4147-A177-3AD203B41FA5}">
                      <a16:colId xmlns:a16="http://schemas.microsoft.com/office/drawing/2014/main" xmlns="" val="20003"/>
                    </a:ext>
                  </a:extLst>
                </a:gridCol>
                <a:gridCol w="387048">
                  <a:extLst>
                    <a:ext uri="{9D8B030D-6E8A-4147-A177-3AD203B41FA5}">
                      <a16:colId xmlns:a16="http://schemas.microsoft.com/office/drawing/2014/main" xmlns="" val="20004"/>
                    </a:ext>
                  </a:extLst>
                </a:gridCol>
                <a:gridCol w="387048">
                  <a:extLst>
                    <a:ext uri="{9D8B030D-6E8A-4147-A177-3AD203B41FA5}">
                      <a16:colId xmlns:a16="http://schemas.microsoft.com/office/drawing/2014/main" xmlns="" val="20005"/>
                    </a:ext>
                  </a:extLst>
                </a:gridCol>
                <a:gridCol w="387048">
                  <a:extLst>
                    <a:ext uri="{9D8B030D-6E8A-4147-A177-3AD203B41FA5}">
                      <a16:colId xmlns:a16="http://schemas.microsoft.com/office/drawing/2014/main" xmlns="" val="20006"/>
                    </a:ext>
                  </a:extLst>
                </a:gridCol>
                <a:gridCol w="387048">
                  <a:extLst>
                    <a:ext uri="{9D8B030D-6E8A-4147-A177-3AD203B41FA5}">
                      <a16:colId xmlns:a16="http://schemas.microsoft.com/office/drawing/2014/main" xmlns="" val="20007"/>
                    </a:ext>
                  </a:extLst>
                </a:gridCol>
                <a:gridCol w="387048">
                  <a:extLst>
                    <a:ext uri="{9D8B030D-6E8A-4147-A177-3AD203B41FA5}">
                      <a16:colId xmlns:a16="http://schemas.microsoft.com/office/drawing/2014/main" xmlns="" val="20008"/>
                    </a:ext>
                  </a:extLst>
                </a:gridCol>
                <a:gridCol w="387048">
                  <a:extLst>
                    <a:ext uri="{9D8B030D-6E8A-4147-A177-3AD203B41FA5}">
                      <a16:colId xmlns:a16="http://schemas.microsoft.com/office/drawing/2014/main" xmlns="" val="20009"/>
                    </a:ext>
                  </a:extLst>
                </a:gridCol>
                <a:gridCol w="387048">
                  <a:extLst>
                    <a:ext uri="{9D8B030D-6E8A-4147-A177-3AD203B41FA5}">
                      <a16:colId xmlns:a16="http://schemas.microsoft.com/office/drawing/2014/main" xmlns="" val="20010"/>
                    </a:ext>
                  </a:extLst>
                </a:gridCol>
                <a:gridCol w="387048">
                  <a:extLst>
                    <a:ext uri="{9D8B030D-6E8A-4147-A177-3AD203B41FA5}">
                      <a16:colId xmlns:a16="http://schemas.microsoft.com/office/drawing/2014/main" xmlns="" val="20011"/>
                    </a:ext>
                  </a:extLst>
                </a:gridCol>
                <a:gridCol w="387048">
                  <a:extLst>
                    <a:ext uri="{9D8B030D-6E8A-4147-A177-3AD203B41FA5}">
                      <a16:colId xmlns:a16="http://schemas.microsoft.com/office/drawing/2014/main" xmlns="" val="20012"/>
                    </a:ext>
                  </a:extLst>
                </a:gridCol>
              </a:tblGrid>
              <a:tr h="370840">
                <a:tc>
                  <a:txBody>
                    <a:bodyPr/>
                    <a:lstStyle/>
                    <a:p>
                      <a:r>
                        <a:rPr lang="en-US" sz="2200"/>
                        <a:t>Frame – 1</a:t>
                      </a:r>
                      <a:endParaRPr lang="en-US" sz="22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xmlns="" val="10000"/>
                  </a:ext>
                </a:extLst>
              </a:tr>
              <a:tr h="370840">
                <a:tc>
                  <a:txBody>
                    <a:bodyPr/>
                    <a:lstStyle/>
                    <a:p>
                      <a:pPr marL="0" marR="0" indent="0" algn="l" defTabSz="914400" rtl="0" eaLnBrk="1" fontAlgn="auto" latinLnBrk="0" hangingPunct="1">
                        <a:lnSpc>
                          <a:spcPct val="100000"/>
                        </a:lnSpc>
                        <a:spcBef>
                          <a:spcPct val="0"/>
                        </a:spcBef>
                        <a:spcAft>
                          <a:spcPct val="0"/>
                        </a:spcAft>
                        <a:buClrTx/>
                        <a:buSzTx/>
                        <a:buFontTx/>
                        <a:buNone/>
                        <a:defRPr/>
                      </a:pPr>
                      <a:r>
                        <a:rPr lang="en-US" sz="2200"/>
                        <a:t>Frame – 2</a:t>
                      </a:r>
                      <a:endParaRPr lang="en-US" sz="22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xmlns="" val="10001"/>
                  </a:ext>
                </a:extLst>
              </a:tr>
              <a:tr h="403332">
                <a:tc>
                  <a:txBody>
                    <a:bodyPr/>
                    <a:lstStyle/>
                    <a:p>
                      <a:pPr marL="0" marR="0" indent="0" algn="l" defTabSz="914400" rtl="0" eaLnBrk="1" fontAlgn="auto" latinLnBrk="0" hangingPunct="1">
                        <a:lnSpc>
                          <a:spcPct val="100000"/>
                        </a:lnSpc>
                        <a:spcBef>
                          <a:spcPct val="0"/>
                        </a:spcBef>
                        <a:spcAft>
                          <a:spcPct val="0"/>
                        </a:spcAft>
                        <a:buClrTx/>
                        <a:buSzTx/>
                        <a:buFontTx/>
                        <a:buNone/>
                        <a:defRPr/>
                      </a:pPr>
                      <a:r>
                        <a:rPr lang="en-US" sz="2200"/>
                        <a:t>Frame – 3</a:t>
                      </a:r>
                      <a:endParaRPr lang="en-US" sz="22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xmlns="" val="10002"/>
                  </a:ext>
                </a:extLst>
              </a:tr>
              <a:tr h="403332">
                <a:tc>
                  <a:txBody>
                    <a:bodyPr/>
                    <a:lstStyle/>
                    <a:p>
                      <a:pPr marL="0" marR="0" indent="0" algn="l" defTabSz="914400" rtl="0" eaLnBrk="1" fontAlgn="auto" latinLnBrk="0" hangingPunct="1">
                        <a:lnSpc>
                          <a:spcPct val="100000"/>
                        </a:lnSpc>
                        <a:spcBef>
                          <a:spcPct val="0"/>
                        </a:spcBef>
                        <a:spcAft>
                          <a:spcPct val="0"/>
                        </a:spcAft>
                        <a:buClrTx/>
                        <a:buSzTx/>
                        <a:buFontTx/>
                        <a:buNone/>
                        <a:defRPr/>
                      </a:pPr>
                      <a:r>
                        <a:rPr lang="en-US" sz="2200"/>
                        <a:t>Frame – 4</a:t>
                      </a:r>
                      <a:endParaRPr lang="en-US" sz="22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endParaRPr lang="en-US" sz="22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220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xmlns="" val="10003"/>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822894013"/>
              </p:ext>
            </p:extLst>
          </p:nvPr>
        </p:nvGraphicFramePr>
        <p:xfrm>
          <a:off x="1070770" y="6003251"/>
          <a:ext cx="6432419" cy="426720"/>
        </p:xfrm>
        <a:graphic>
          <a:graphicData uri="http://schemas.openxmlformats.org/drawingml/2006/table">
            <a:tbl>
              <a:tblPr firstRow="1" bandRow="1">
                <a:tableStyleId>{93296810-A885-4BE3-A3E7-6D5BEEA58F35}</a:tableStyleId>
              </a:tblPr>
              <a:tblGrid>
                <a:gridCol w="1787843">
                  <a:extLst>
                    <a:ext uri="{9D8B030D-6E8A-4147-A177-3AD203B41FA5}">
                      <a16:colId xmlns:a16="http://schemas.microsoft.com/office/drawing/2014/main" xmlns="" val="20000"/>
                    </a:ext>
                  </a:extLst>
                </a:gridCol>
                <a:gridCol w="387048">
                  <a:extLst>
                    <a:ext uri="{9D8B030D-6E8A-4147-A177-3AD203B41FA5}">
                      <a16:colId xmlns:a16="http://schemas.microsoft.com/office/drawing/2014/main" xmlns="" val="20001"/>
                    </a:ext>
                  </a:extLst>
                </a:gridCol>
                <a:gridCol w="387048">
                  <a:extLst>
                    <a:ext uri="{9D8B030D-6E8A-4147-A177-3AD203B41FA5}">
                      <a16:colId xmlns:a16="http://schemas.microsoft.com/office/drawing/2014/main" xmlns="" val="20002"/>
                    </a:ext>
                  </a:extLst>
                </a:gridCol>
                <a:gridCol w="387048">
                  <a:extLst>
                    <a:ext uri="{9D8B030D-6E8A-4147-A177-3AD203B41FA5}">
                      <a16:colId xmlns:a16="http://schemas.microsoft.com/office/drawing/2014/main" xmlns="" val="20003"/>
                    </a:ext>
                  </a:extLst>
                </a:gridCol>
                <a:gridCol w="387048">
                  <a:extLst>
                    <a:ext uri="{9D8B030D-6E8A-4147-A177-3AD203B41FA5}">
                      <a16:colId xmlns:a16="http://schemas.microsoft.com/office/drawing/2014/main" xmlns="" val="20004"/>
                    </a:ext>
                  </a:extLst>
                </a:gridCol>
                <a:gridCol w="387048">
                  <a:extLst>
                    <a:ext uri="{9D8B030D-6E8A-4147-A177-3AD203B41FA5}">
                      <a16:colId xmlns:a16="http://schemas.microsoft.com/office/drawing/2014/main" xmlns="" val="20005"/>
                    </a:ext>
                  </a:extLst>
                </a:gridCol>
                <a:gridCol w="387048">
                  <a:extLst>
                    <a:ext uri="{9D8B030D-6E8A-4147-A177-3AD203B41FA5}">
                      <a16:colId xmlns:a16="http://schemas.microsoft.com/office/drawing/2014/main" xmlns="" val="20006"/>
                    </a:ext>
                  </a:extLst>
                </a:gridCol>
                <a:gridCol w="387048">
                  <a:extLst>
                    <a:ext uri="{9D8B030D-6E8A-4147-A177-3AD203B41FA5}">
                      <a16:colId xmlns:a16="http://schemas.microsoft.com/office/drawing/2014/main" xmlns="" val="20007"/>
                    </a:ext>
                  </a:extLst>
                </a:gridCol>
                <a:gridCol w="387048">
                  <a:extLst>
                    <a:ext uri="{9D8B030D-6E8A-4147-A177-3AD203B41FA5}">
                      <a16:colId xmlns:a16="http://schemas.microsoft.com/office/drawing/2014/main" xmlns="" val="20008"/>
                    </a:ext>
                  </a:extLst>
                </a:gridCol>
                <a:gridCol w="387048">
                  <a:extLst>
                    <a:ext uri="{9D8B030D-6E8A-4147-A177-3AD203B41FA5}">
                      <a16:colId xmlns:a16="http://schemas.microsoft.com/office/drawing/2014/main" xmlns="" val="20009"/>
                    </a:ext>
                  </a:extLst>
                </a:gridCol>
                <a:gridCol w="387048">
                  <a:extLst>
                    <a:ext uri="{9D8B030D-6E8A-4147-A177-3AD203B41FA5}">
                      <a16:colId xmlns:a16="http://schemas.microsoft.com/office/drawing/2014/main" xmlns="" val="20010"/>
                    </a:ext>
                  </a:extLst>
                </a:gridCol>
                <a:gridCol w="387048">
                  <a:extLst>
                    <a:ext uri="{9D8B030D-6E8A-4147-A177-3AD203B41FA5}">
                      <a16:colId xmlns:a16="http://schemas.microsoft.com/office/drawing/2014/main" xmlns="" val="20011"/>
                    </a:ext>
                  </a:extLst>
                </a:gridCol>
                <a:gridCol w="387048">
                  <a:extLst>
                    <a:ext uri="{9D8B030D-6E8A-4147-A177-3AD203B41FA5}">
                      <a16:colId xmlns:a16="http://schemas.microsoft.com/office/drawing/2014/main" xmlns="" val="20012"/>
                    </a:ext>
                  </a:extLst>
                </a:gridCol>
              </a:tblGrid>
              <a:tr h="370840">
                <a:tc>
                  <a:txBody>
                    <a:bodyPr/>
                    <a:lstStyle/>
                    <a:p>
                      <a:r>
                        <a:rPr lang="en-US" sz="1900" b="0">
                          <a:solidFill>
                            <a:schemeClr val="tx1"/>
                          </a:solidFill>
                        </a:rPr>
                        <a:t>Page</a:t>
                      </a:r>
                      <a:r>
                        <a:rPr lang="en-US" sz="1900" b="0" baseline="0">
                          <a:solidFill>
                            <a:schemeClr val="tx1"/>
                          </a:solidFill>
                        </a:rPr>
                        <a:t> Faults </a:t>
                      </a:r>
                      <a:r>
                        <a:rPr lang="en-US" sz="1900" b="1" baseline="0">
                          <a:solidFill>
                            <a:schemeClr val="accent6"/>
                          </a:solidFill>
                        </a:rPr>
                        <a:t>(10)</a:t>
                      </a:r>
                      <a:endParaRPr lang="en-US" sz="1900" b="1">
                        <a:solidFill>
                          <a:schemeClr val="accent6"/>
                        </a:solidFill>
                      </a:endParaRPr>
                    </a:p>
                  </a:txBody>
                  <a:tcPr anchor="ct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tc>
                  <a:txBody>
                    <a:bodyPr/>
                    <a:lstStyle/>
                    <a:p>
                      <a:pPr algn="ctr"/>
                      <a:endParaRPr lang="en-US" sz="2200" b="0">
                        <a:solidFill>
                          <a:schemeClr val="tx1"/>
                        </a:solidFill>
                      </a:endParaRP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tc>
                  <a:txBody>
                    <a:bodyPr/>
                    <a:lstStyle/>
                    <a:p>
                      <a:pPr algn="ctr"/>
                      <a:r>
                        <a:rPr lang="en-US" sz="2200" b="0">
                          <a:solidFill>
                            <a:schemeClr val="tx1"/>
                          </a:solidFill>
                        </a:rPr>
                        <a:t>F</a:t>
                      </a:r>
                    </a:p>
                  </a:txBody>
                  <a:tcPr>
                    <a:solidFill>
                      <a:schemeClr val="accent6">
                        <a:lumMod val="20000"/>
                        <a:lumOff val="80000"/>
                      </a:schemeClr>
                    </a:solidFill>
                  </a:tcPr>
                </a:tc>
                <a:extLst>
                  <a:ext uri="{0D108BD9-81ED-4DB2-BD59-A6C34878D82A}">
                    <a16:rowId xmlns:a16="http://schemas.microsoft.com/office/drawing/2014/main" xmlns="" val="10000"/>
                  </a:ext>
                </a:extLst>
              </a:tr>
            </a:tbl>
          </a:graphicData>
        </a:graphic>
      </p:graphicFrame>
      <p:sp>
        <p:nvSpPr>
          <p:cNvPr id="11" name="TextBox 10"/>
          <p:cNvSpPr txBox="1"/>
          <p:nvPr/>
        </p:nvSpPr>
        <p:spPr>
          <a:xfrm>
            <a:off x="535632" y="1792287"/>
            <a:ext cx="461665" cy="1371600"/>
          </a:xfrm>
          <a:prstGeom prst="rect">
            <a:avLst/>
          </a:prstGeom>
          <a:solidFill>
            <a:schemeClr val="tx2"/>
          </a:solidFill>
          <a:ln>
            <a:noFill/>
          </a:ln>
        </p:spPr>
        <p:txBody>
          <a:bodyPr vert="vert270" wrap="square" rtlCol="0">
            <a:spAutoFit/>
          </a:bodyPr>
          <a:lstStyle/>
          <a:p>
            <a:r>
              <a:rPr lang="en-US">
                <a:solidFill>
                  <a:schemeClr val="bg1"/>
                </a:solidFill>
              </a:rPr>
              <a:t>Three Frames</a:t>
            </a:r>
          </a:p>
        </p:txBody>
      </p:sp>
      <p:sp>
        <p:nvSpPr>
          <p:cNvPr id="12" name="TextBox 11"/>
          <p:cNvSpPr txBox="1"/>
          <p:nvPr/>
        </p:nvSpPr>
        <p:spPr>
          <a:xfrm>
            <a:off x="535632" y="4410075"/>
            <a:ext cx="461665" cy="1371600"/>
          </a:xfrm>
          <a:prstGeom prst="rect">
            <a:avLst/>
          </a:prstGeom>
          <a:solidFill>
            <a:schemeClr val="tx2"/>
          </a:solidFill>
          <a:ln>
            <a:noFill/>
          </a:ln>
        </p:spPr>
        <p:txBody>
          <a:bodyPr vert="vert270" wrap="square" rtlCol="0">
            <a:spAutoFit/>
          </a:bodyPr>
          <a:lstStyle/>
          <a:p>
            <a:r>
              <a:rPr lang="en-US">
                <a:solidFill>
                  <a:schemeClr val="bg1"/>
                </a:solidFill>
              </a:rPr>
              <a:t>Four Frames</a:t>
            </a:r>
          </a:p>
        </p:txBody>
      </p:sp>
      <p:sp>
        <p:nvSpPr>
          <p:cNvPr id="13" name="TextBox 12"/>
          <p:cNvSpPr txBox="1"/>
          <p:nvPr/>
        </p:nvSpPr>
        <p:spPr>
          <a:xfrm>
            <a:off x="6940181" y="863772"/>
            <a:ext cx="5120640" cy="400110"/>
          </a:xfrm>
          <a:prstGeom prst="rect">
            <a:avLst/>
          </a:prstGeom>
          <a:solidFill>
            <a:schemeClr val="accent6">
              <a:lumMod val="75000"/>
            </a:schemeClr>
          </a:solidFill>
          <a:ln>
            <a:solidFill>
              <a:schemeClr val="bg1">
                <a:lumMod val="65000"/>
              </a:schemeClr>
            </a:solidFill>
          </a:ln>
        </p:spPr>
        <p:txBody>
          <a:bodyPr vert="horz" wrap="square" rtlCol="0" anchor="ctr">
            <a:spAutoFit/>
          </a:bodyPr>
          <a:lstStyle/>
          <a:p>
            <a:r>
              <a:rPr lang="en-US" sz="2000" b="1">
                <a:solidFill>
                  <a:schemeClr val="bg1"/>
                </a:solidFill>
              </a:rPr>
              <a:t>Page Faults of 4 Frame &gt; Page Faults of 3 Frame </a:t>
            </a:r>
          </a:p>
        </p:txBody>
      </p:sp>
    </p:spTree>
    <p:extLst>
      <p:ext uri="{BB962C8B-B14F-4D97-AF65-F5344CB8AC3E}">
        <p14:creationId xmlns:p14="http://schemas.microsoft.com/office/powerpoint/2010/main" val="77245926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childTnLst>
                    </p:cTn>
                  </p:par>
                  <p:par>
                    <p:cTn id="22" fill="hold" nodeType="clickPar">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left)">
                                      <p:cBhvr>
                                        <p:cTn id="26" dur="500"/>
                                        <p:tgtEl>
                                          <p:spTgt spid="8"/>
                                        </p:tgtEl>
                                      </p:cBhvr>
                                    </p:animEffect>
                                  </p:childTnLst>
                                </p:cTn>
                              </p:par>
                            </p:childTnLst>
                          </p:cTn>
                        </p:par>
                      </p:childTnLst>
                    </p:cTn>
                  </p:par>
                  <p:par>
                    <p:cTn id="27" fill="hold" nodeType="clickPar">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left)">
                                      <p:cBhvr>
                                        <p:cTn id="31" dur="500"/>
                                        <p:tgtEl>
                                          <p:spTgt spid="7"/>
                                        </p:tgtEl>
                                      </p:cBhvr>
                                    </p:animEffect>
                                  </p:childTnLst>
                                </p:cTn>
                              </p:par>
                            </p:childTnLst>
                          </p:cTn>
                        </p:par>
                      </p:childTnLst>
                    </p:cTn>
                  </p:par>
                  <p:par>
                    <p:cTn id="32" fill="hold" nodeType="clickPar">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wipe(left)">
                                      <p:cBhvr>
                                        <p:cTn id="40" dur="500"/>
                                        <p:tgtEl>
                                          <p:spTgt spid="9"/>
                                        </p:tgtEl>
                                      </p:cBhvr>
                                    </p:animEffect>
                                  </p:childTnLst>
                                </p:cTn>
                              </p:par>
                            </p:childTnLst>
                          </p:cTn>
                        </p:par>
                      </p:childTnLst>
                    </p:cTn>
                  </p:par>
                  <p:par>
                    <p:cTn id="41" fill="hold" nodeType="clickPar">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wipe(left)">
                                      <p:cBhvr>
                                        <p:cTn id="45" dur="500"/>
                                        <p:tgtEl>
                                          <p:spTgt spid="10"/>
                                        </p:tgtEl>
                                      </p:cBhvr>
                                    </p:animEffect>
                                  </p:childTnLst>
                                </p:cTn>
                              </p:par>
                            </p:childTnLst>
                          </p:cTn>
                        </p:par>
                      </p:childTnLst>
                    </p:cTn>
                  </p:par>
                  <p:par>
                    <p:cTn id="46" fill="hold" nodeType="clickPar">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Belady’s Anomaly (in FIFO Page Replacement Algorithm)</a:t>
            </a:r>
          </a:p>
        </p:txBody>
      </p:sp>
      <p:sp>
        <p:nvSpPr>
          <p:cNvPr id="3" name="Content Placeholder 2"/>
          <p:cNvSpPr>
            <a:spLocks noGrp="1"/>
          </p:cNvSpPr>
          <p:nvPr>
            <p:ph idx="1"/>
          </p:nvPr>
        </p:nvSpPr>
        <p:spPr/>
        <p:txBody>
          <a:bodyPr/>
          <a:lstStyle/>
          <a:p>
            <a:r>
              <a:rPr lang="en-US" err="1"/>
              <a:t>Belady’s anomaly is the </a:t>
            </a:r>
            <a:r>
              <a:rPr lang="en-US" b="1">
                <a:solidFill>
                  <a:schemeClr val="accent6"/>
                </a:solidFill>
              </a:rPr>
              <a:t>phenomenon in which increasing the number of page frames results in an increase in the number of page faults for certain memory access patterns</a:t>
            </a:r>
            <a:r>
              <a:rPr lang="en-US"/>
              <a:t>. </a:t>
            </a:r>
          </a:p>
          <a:p>
            <a:r>
              <a:rPr lang="en-US"/>
              <a:t>This phenomenon is commonly </a:t>
            </a:r>
            <a:r>
              <a:rPr lang="en-US" b="1">
                <a:solidFill>
                  <a:schemeClr val="accent6"/>
                </a:solidFill>
              </a:rPr>
              <a:t>experienced when using the First-In First-Out (FIFO) page replacement algorithm</a:t>
            </a:r>
            <a:r>
              <a:rPr lang="en-US"/>
              <a:t>. </a:t>
            </a:r>
          </a:p>
          <a:p>
            <a:r>
              <a:rPr lang="en-US"/>
              <a:t>In FIFO, the page fault may or may not increase as the page frames increase, but in Optimal and stack-based algorithms like LRU, as the page frames increase the page fault decreases.</a:t>
            </a:r>
          </a:p>
        </p:txBody>
      </p:sp>
    </p:spTree>
    <p:extLst>
      <p:ext uri="{BB962C8B-B14F-4D97-AF65-F5344CB8AC3E}">
        <p14:creationId xmlns:p14="http://schemas.microsoft.com/office/powerpoint/2010/main" val="219838761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Sum</a:t>
            </a:r>
          </a:p>
        </p:txBody>
      </p:sp>
      <p:sp>
        <p:nvSpPr>
          <p:cNvPr id="3" name="Content Placeholder 2"/>
          <p:cNvSpPr>
            <a:spLocks noGrp="1"/>
          </p:cNvSpPr>
          <p:nvPr>
            <p:ph idx="1"/>
          </p:nvPr>
        </p:nvSpPr>
        <p:spPr>
          <a:xfrm>
            <a:off x="131181" y="863445"/>
            <a:ext cx="7474306" cy="1313700"/>
          </a:xfrm>
        </p:spPr>
        <p:txBody>
          <a:bodyPr/>
          <a:lstStyle/>
          <a:p>
            <a:r>
              <a:rPr lang="en-US"/>
              <a:t>A computer has four page frames. The time of loading, time of last access and the R and M bit for each page given below.  Which page FIFO, LRU and NRU will replace.</a:t>
            </a:r>
          </a:p>
          <a:p>
            <a:endParaRPr lang="en-US"/>
          </a:p>
        </p:txBody>
      </p:sp>
      <p:graphicFrame>
        <p:nvGraphicFramePr>
          <p:cNvPr id="4" name="Table 3"/>
          <p:cNvGraphicFramePr>
            <a:graphicFrameLocks noGrp="1"/>
          </p:cNvGraphicFramePr>
          <p:nvPr>
            <p:extLst>
              <p:ext uri="{D42A27DB-BD31-4B8C-83A1-F6EECF244321}">
                <p14:modId xmlns:p14="http://schemas.microsoft.com/office/powerpoint/2010/main" val="4039317168"/>
              </p:ext>
            </p:extLst>
          </p:nvPr>
        </p:nvGraphicFramePr>
        <p:xfrm>
          <a:off x="7764590" y="863444"/>
          <a:ext cx="4344988" cy="2286000"/>
        </p:xfrm>
        <a:graphic>
          <a:graphicData uri="http://schemas.openxmlformats.org/drawingml/2006/table">
            <a:tbl>
              <a:tblPr firstRow="1" bandRow="1">
                <a:tableStyleId>{93296810-A885-4BE3-A3E7-6D5BEEA58F35}</a:tableStyleId>
              </a:tblPr>
              <a:tblGrid>
                <a:gridCol w="868680">
                  <a:extLst>
                    <a:ext uri="{9D8B030D-6E8A-4147-A177-3AD203B41FA5}">
                      <a16:colId xmlns:a16="http://schemas.microsoft.com/office/drawing/2014/main" xmlns="" val="20000"/>
                    </a:ext>
                  </a:extLst>
                </a:gridCol>
                <a:gridCol w="1141730">
                  <a:extLst>
                    <a:ext uri="{9D8B030D-6E8A-4147-A177-3AD203B41FA5}">
                      <a16:colId xmlns:a16="http://schemas.microsoft.com/office/drawing/2014/main" xmlns="" val="20001"/>
                    </a:ext>
                  </a:extLst>
                </a:gridCol>
                <a:gridCol w="1429068">
                  <a:extLst>
                    <a:ext uri="{9D8B030D-6E8A-4147-A177-3AD203B41FA5}">
                      <a16:colId xmlns:a16="http://schemas.microsoft.com/office/drawing/2014/main" xmlns="" val="20002"/>
                    </a:ext>
                  </a:extLst>
                </a:gridCol>
                <a:gridCol w="421005">
                  <a:extLst>
                    <a:ext uri="{9D8B030D-6E8A-4147-A177-3AD203B41FA5}">
                      <a16:colId xmlns:a16="http://schemas.microsoft.com/office/drawing/2014/main" xmlns="" val="20003"/>
                    </a:ext>
                  </a:extLst>
                </a:gridCol>
                <a:gridCol w="484505">
                  <a:extLst>
                    <a:ext uri="{9D8B030D-6E8A-4147-A177-3AD203B41FA5}">
                      <a16:colId xmlns:a16="http://schemas.microsoft.com/office/drawing/2014/main" xmlns="" val="20004"/>
                    </a:ext>
                  </a:extLst>
                </a:gridCol>
              </a:tblGrid>
              <a:tr h="370840">
                <a:tc>
                  <a:txBody>
                    <a:bodyPr/>
                    <a:lstStyle/>
                    <a:p>
                      <a:r>
                        <a:rPr lang="en-US" sz="2400"/>
                        <a:t>Page</a:t>
                      </a:r>
                    </a:p>
                  </a:txBody>
                  <a:tcPr/>
                </a:tc>
                <a:tc>
                  <a:txBody>
                    <a:bodyPr/>
                    <a:lstStyle/>
                    <a:p>
                      <a:r>
                        <a:rPr lang="en-US" sz="2400"/>
                        <a:t>Loaded</a:t>
                      </a:r>
                    </a:p>
                  </a:txBody>
                  <a:tcPr/>
                </a:tc>
                <a:tc>
                  <a:txBody>
                    <a:bodyPr/>
                    <a:lstStyle/>
                    <a:p>
                      <a:r>
                        <a:rPr lang="en-US" sz="2400"/>
                        <a:t>Last used</a:t>
                      </a:r>
                    </a:p>
                  </a:txBody>
                  <a:tcPr/>
                </a:tc>
                <a:tc>
                  <a:txBody>
                    <a:bodyPr/>
                    <a:lstStyle/>
                    <a:p>
                      <a:r>
                        <a:rPr lang="en-US" sz="2400"/>
                        <a:t>R</a:t>
                      </a:r>
                    </a:p>
                  </a:txBody>
                  <a:tcPr/>
                </a:tc>
                <a:tc>
                  <a:txBody>
                    <a:bodyPr/>
                    <a:lstStyle/>
                    <a:p>
                      <a:r>
                        <a:rPr lang="en-US" sz="2400"/>
                        <a:t>M</a:t>
                      </a:r>
                    </a:p>
                  </a:txBody>
                  <a:tcPr/>
                </a:tc>
                <a:extLst>
                  <a:ext uri="{0D108BD9-81ED-4DB2-BD59-A6C34878D82A}">
                    <a16:rowId xmlns:a16="http://schemas.microsoft.com/office/drawing/2014/main" xmlns="" val="10000"/>
                  </a:ext>
                </a:extLst>
              </a:tr>
              <a:tr h="370840">
                <a:tc>
                  <a:txBody>
                    <a:bodyPr/>
                    <a:lstStyle/>
                    <a:p>
                      <a:r>
                        <a:rPr lang="en-US" sz="2400"/>
                        <a:t>0</a:t>
                      </a:r>
                    </a:p>
                  </a:txBody>
                  <a:tcPr/>
                </a:tc>
                <a:tc>
                  <a:txBody>
                    <a:bodyPr/>
                    <a:lstStyle/>
                    <a:p>
                      <a:r>
                        <a:rPr lang="en-US" sz="2400"/>
                        <a:t>126</a:t>
                      </a:r>
                    </a:p>
                  </a:txBody>
                  <a:tcPr/>
                </a:tc>
                <a:tc>
                  <a:txBody>
                    <a:bodyPr/>
                    <a:lstStyle/>
                    <a:p>
                      <a:r>
                        <a:rPr lang="en-US" sz="2400"/>
                        <a:t>280</a:t>
                      </a:r>
                    </a:p>
                  </a:txBody>
                  <a:tcPr/>
                </a:tc>
                <a:tc>
                  <a:txBody>
                    <a:bodyPr/>
                    <a:lstStyle/>
                    <a:p>
                      <a:r>
                        <a:rPr lang="en-US" sz="2400"/>
                        <a:t>1</a:t>
                      </a:r>
                    </a:p>
                  </a:txBody>
                  <a:tcPr/>
                </a:tc>
                <a:tc>
                  <a:txBody>
                    <a:bodyPr/>
                    <a:lstStyle/>
                    <a:p>
                      <a:r>
                        <a:rPr lang="en-US" sz="2400"/>
                        <a:t>0</a:t>
                      </a:r>
                    </a:p>
                  </a:txBody>
                  <a:tcPr/>
                </a:tc>
                <a:extLst>
                  <a:ext uri="{0D108BD9-81ED-4DB2-BD59-A6C34878D82A}">
                    <a16:rowId xmlns:a16="http://schemas.microsoft.com/office/drawing/2014/main" xmlns="" val="10001"/>
                  </a:ext>
                </a:extLst>
              </a:tr>
              <a:tr h="370840">
                <a:tc>
                  <a:txBody>
                    <a:bodyPr/>
                    <a:lstStyle/>
                    <a:p>
                      <a:r>
                        <a:rPr lang="en-US" sz="2400"/>
                        <a:t>1</a:t>
                      </a:r>
                    </a:p>
                  </a:txBody>
                  <a:tcPr/>
                </a:tc>
                <a:tc>
                  <a:txBody>
                    <a:bodyPr/>
                    <a:lstStyle/>
                    <a:p>
                      <a:r>
                        <a:rPr lang="en-US" sz="2400"/>
                        <a:t>230</a:t>
                      </a:r>
                    </a:p>
                  </a:txBody>
                  <a:tcPr/>
                </a:tc>
                <a:tc>
                  <a:txBody>
                    <a:bodyPr/>
                    <a:lstStyle/>
                    <a:p>
                      <a:r>
                        <a:rPr lang="en-US" sz="2400"/>
                        <a:t>265</a:t>
                      </a:r>
                    </a:p>
                  </a:txBody>
                  <a:tcPr/>
                </a:tc>
                <a:tc>
                  <a:txBody>
                    <a:bodyPr/>
                    <a:lstStyle/>
                    <a:p>
                      <a:r>
                        <a:rPr lang="en-US" sz="2400"/>
                        <a:t>0</a:t>
                      </a:r>
                    </a:p>
                  </a:txBody>
                  <a:tcPr/>
                </a:tc>
                <a:tc>
                  <a:txBody>
                    <a:bodyPr/>
                    <a:lstStyle/>
                    <a:p>
                      <a:r>
                        <a:rPr lang="en-US" sz="2400"/>
                        <a:t>1</a:t>
                      </a:r>
                    </a:p>
                  </a:txBody>
                  <a:tcPr/>
                </a:tc>
                <a:extLst>
                  <a:ext uri="{0D108BD9-81ED-4DB2-BD59-A6C34878D82A}">
                    <a16:rowId xmlns:a16="http://schemas.microsoft.com/office/drawing/2014/main" xmlns="" val="10002"/>
                  </a:ext>
                </a:extLst>
              </a:tr>
              <a:tr h="370840">
                <a:tc>
                  <a:txBody>
                    <a:bodyPr/>
                    <a:lstStyle/>
                    <a:p>
                      <a:r>
                        <a:rPr lang="en-US" sz="2400"/>
                        <a:t>2</a:t>
                      </a:r>
                    </a:p>
                  </a:txBody>
                  <a:tcPr/>
                </a:tc>
                <a:tc>
                  <a:txBody>
                    <a:bodyPr/>
                    <a:lstStyle/>
                    <a:p>
                      <a:r>
                        <a:rPr lang="en-US" sz="2400"/>
                        <a:t>140</a:t>
                      </a:r>
                    </a:p>
                  </a:txBody>
                  <a:tcPr/>
                </a:tc>
                <a:tc>
                  <a:txBody>
                    <a:bodyPr/>
                    <a:lstStyle/>
                    <a:p>
                      <a:r>
                        <a:rPr lang="en-US" sz="2400"/>
                        <a:t>270</a:t>
                      </a:r>
                    </a:p>
                  </a:txBody>
                  <a:tcPr/>
                </a:tc>
                <a:tc>
                  <a:txBody>
                    <a:bodyPr/>
                    <a:lstStyle/>
                    <a:p>
                      <a:r>
                        <a:rPr lang="en-US" sz="2400"/>
                        <a:t>0</a:t>
                      </a:r>
                    </a:p>
                  </a:txBody>
                  <a:tcPr/>
                </a:tc>
                <a:tc>
                  <a:txBody>
                    <a:bodyPr/>
                    <a:lstStyle/>
                    <a:p>
                      <a:r>
                        <a:rPr lang="en-US" sz="2400"/>
                        <a:t>0</a:t>
                      </a:r>
                    </a:p>
                  </a:txBody>
                  <a:tcPr/>
                </a:tc>
                <a:extLst>
                  <a:ext uri="{0D108BD9-81ED-4DB2-BD59-A6C34878D82A}">
                    <a16:rowId xmlns:a16="http://schemas.microsoft.com/office/drawing/2014/main" xmlns="" val="10003"/>
                  </a:ext>
                </a:extLst>
              </a:tr>
              <a:tr h="370840">
                <a:tc>
                  <a:txBody>
                    <a:bodyPr/>
                    <a:lstStyle/>
                    <a:p>
                      <a:r>
                        <a:rPr lang="en-US" sz="2400"/>
                        <a:t>3</a:t>
                      </a:r>
                    </a:p>
                  </a:txBody>
                  <a:tcPr/>
                </a:tc>
                <a:tc>
                  <a:txBody>
                    <a:bodyPr/>
                    <a:lstStyle/>
                    <a:p>
                      <a:r>
                        <a:rPr lang="en-US" sz="2400"/>
                        <a:t>110</a:t>
                      </a:r>
                    </a:p>
                  </a:txBody>
                  <a:tcPr/>
                </a:tc>
                <a:tc>
                  <a:txBody>
                    <a:bodyPr/>
                    <a:lstStyle/>
                    <a:p>
                      <a:r>
                        <a:rPr lang="en-US" sz="2400"/>
                        <a:t>285</a:t>
                      </a:r>
                    </a:p>
                  </a:txBody>
                  <a:tcPr/>
                </a:tc>
                <a:tc>
                  <a:txBody>
                    <a:bodyPr/>
                    <a:lstStyle/>
                    <a:p>
                      <a:r>
                        <a:rPr lang="en-US" sz="2400"/>
                        <a:t>1</a:t>
                      </a:r>
                    </a:p>
                  </a:txBody>
                  <a:tcPr/>
                </a:tc>
                <a:tc>
                  <a:txBody>
                    <a:bodyPr/>
                    <a:lstStyle/>
                    <a:p>
                      <a:r>
                        <a:rPr lang="en-US" sz="2400"/>
                        <a:t>1</a:t>
                      </a:r>
                    </a:p>
                  </a:txBody>
                  <a:tcPr/>
                </a:tc>
                <a:extLst>
                  <a:ext uri="{0D108BD9-81ED-4DB2-BD59-A6C34878D82A}">
                    <a16:rowId xmlns:a16="http://schemas.microsoft.com/office/drawing/2014/main" xmlns="" val="10004"/>
                  </a:ext>
                </a:extLst>
              </a:tr>
            </a:tbl>
          </a:graphicData>
        </a:graphic>
      </p:graphicFrame>
      <p:sp>
        <p:nvSpPr>
          <p:cNvPr id="5" name="Rounded Rectangle 4"/>
          <p:cNvSpPr/>
          <p:nvPr/>
        </p:nvSpPr>
        <p:spPr>
          <a:xfrm>
            <a:off x="7778750" y="2692244"/>
            <a:ext cx="4297680" cy="457200"/>
          </a:xfrm>
          <a:prstGeom prst="roundRect">
            <a:avLst/>
          </a:prstGeom>
          <a:noFill/>
          <a:ln w="38100">
            <a:solidFill>
              <a:schemeClr val="tx2"/>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Content Placeholder 2"/>
          <p:cNvSpPr txBox="1"/>
          <p:nvPr/>
        </p:nvSpPr>
        <p:spPr>
          <a:xfrm>
            <a:off x="131181" y="2177145"/>
            <a:ext cx="7498080" cy="914400"/>
          </a:xfrm>
          <a:prstGeom prst="rect">
            <a:avLst/>
          </a:prstGeom>
          <a:ln w="28575">
            <a:solidFill>
              <a:schemeClr val="accent6"/>
            </a:solidFill>
          </a:ln>
        </p:spPr>
        <p:txBody>
          <a:bodyPr vert="horz" lIns="91440" tIns="45720" rIns="91440" bIns="45720" rtlCol="0" anchor="ctr">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solidFill>
                  <a:schemeClr val="tx2"/>
                </a:solidFill>
              </a:rPr>
              <a:t>FIFO</a:t>
            </a:r>
            <a:r>
              <a:rPr lang="en-US"/>
              <a:t>:- Page which is </a:t>
            </a:r>
            <a:r>
              <a:rPr lang="en-US" b="1">
                <a:solidFill>
                  <a:schemeClr val="tx2"/>
                </a:solidFill>
              </a:rPr>
              <a:t>arrived first needs to be removed first</a:t>
            </a:r>
            <a:r>
              <a:rPr lang="en-US"/>
              <a:t>, so </a:t>
            </a:r>
            <a:r>
              <a:rPr lang="en-US" b="1">
                <a:solidFill>
                  <a:schemeClr val="accent6"/>
                </a:solidFill>
              </a:rPr>
              <a:t>page-3</a:t>
            </a:r>
            <a:r>
              <a:rPr lang="en-US"/>
              <a:t> needs to replace.</a:t>
            </a:r>
          </a:p>
        </p:txBody>
      </p:sp>
      <p:sp>
        <p:nvSpPr>
          <p:cNvPr id="7" name="Content Placeholder 2"/>
          <p:cNvSpPr txBox="1"/>
          <p:nvPr/>
        </p:nvSpPr>
        <p:spPr>
          <a:xfrm>
            <a:off x="131181" y="3216277"/>
            <a:ext cx="11929641" cy="914400"/>
          </a:xfrm>
          <a:prstGeom prst="rect">
            <a:avLst/>
          </a:prstGeom>
          <a:ln w="28575">
            <a:solidFill>
              <a:schemeClr val="accent6"/>
            </a:solidFill>
          </a:ln>
        </p:spPr>
        <p:txBody>
          <a:bodyPr vert="horz" lIns="91440" tIns="45720" rIns="91440" bIns="45720" rtlCol="0" anchor="ctr">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solidFill>
                  <a:schemeClr val="tx2"/>
                </a:solidFill>
              </a:rPr>
              <a:t>LRU</a:t>
            </a:r>
            <a:r>
              <a:rPr lang="en-US"/>
              <a:t>:- When page fault occurs, throw out the </a:t>
            </a:r>
            <a:r>
              <a:rPr lang="en-US" b="1">
                <a:solidFill>
                  <a:schemeClr val="tx2"/>
                </a:solidFill>
              </a:rPr>
              <a:t>page that has been used for the longest time</a:t>
            </a:r>
            <a:r>
              <a:rPr lang="en-US"/>
              <a:t>. </a:t>
            </a:r>
          </a:p>
          <a:p>
            <a:r>
              <a:rPr lang="en-US" b="1">
                <a:solidFill>
                  <a:schemeClr val="accent6"/>
                </a:solidFill>
              </a:rPr>
              <a:t>Page-1</a:t>
            </a:r>
            <a:r>
              <a:rPr lang="en-US"/>
              <a:t> is not used for the long time from all four, so LRU suggest replacing page-1.</a:t>
            </a:r>
          </a:p>
        </p:txBody>
      </p:sp>
      <p:sp>
        <p:nvSpPr>
          <p:cNvPr id="8" name="Rounded Rectangle 7"/>
          <p:cNvSpPr/>
          <p:nvPr/>
        </p:nvSpPr>
        <p:spPr>
          <a:xfrm>
            <a:off x="7778750" y="1789796"/>
            <a:ext cx="4297680" cy="457200"/>
          </a:xfrm>
          <a:prstGeom prst="roundRect">
            <a:avLst/>
          </a:prstGeom>
          <a:noFill/>
          <a:ln w="38100">
            <a:solidFill>
              <a:schemeClr val="tx2"/>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 name="Content Placeholder 2"/>
          <p:cNvSpPr txBox="1"/>
          <p:nvPr/>
        </p:nvSpPr>
        <p:spPr>
          <a:xfrm>
            <a:off x="131181" y="4255409"/>
            <a:ext cx="9099907" cy="2286000"/>
          </a:xfrm>
          <a:prstGeom prst="rect">
            <a:avLst/>
          </a:prstGeom>
          <a:ln w="28575">
            <a:solidFill>
              <a:schemeClr val="accent6"/>
            </a:solidFill>
          </a:ln>
        </p:spPr>
        <p:txBody>
          <a:bodyPr vert="horz" lIns="91440" tIns="45720" rIns="91440" bIns="45720" rtlCol="0" anchor="ctr">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solidFill>
                  <a:schemeClr val="tx2"/>
                </a:solidFill>
              </a:rPr>
              <a:t>NRU</a:t>
            </a:r>
            <a:r>
              <a:rPr lang="en-US"/>
              <a:t>:-</a:t>
            </a:r>
          </a:p>
          <a:p>
            <a:pPr lvl="1"/>
            <a:r>
              <a:rPr lang="en-US"/>
              <a:t>Page-0 is of class-2 (referenced, not modified)</a:t>
            </a:r>
          </a:p>
          <a:p>
            <a:pPr lvl="1"/>
            <a:r>
              <a:rPr lang="en-US"/>
              <a:t>Page-1 is of class-1 (not referenced, modified)</a:t>
            </a:r>
          </a:p>
          <a:p>
            <a:pPr lvl="1"/>
            <a:r>
              <a:rPr lang="en-US"/>
              <a:t>Page-2 is of class-0 ( not referenced, not modified)</a:t>
            </a:r>
          </a:p>
          <a:p>
            <a:pPr lvl="1"/>
            <a:r>
              <a:rPr lang="en-US"/>
              <a:t>Page-3 is of class-3 (referenced, modified)</a:t>
            </a:r>
          </a:p>
          <a:p>
            <a:pPr lvl="1"/>
            <a:r>
              <a:rPr lang="en-US"/>
              <a:t>So lowest class </a:t>
            </a:r>
            <a:r>
              <a:rPr lang="en-US" b="1">
                <a:solidFill>
                  <a:schemeClr val="accent6"/>
                </a:solidFill>
              </a:rPr>
              <a:t>page-2</a:t>
            </a:r>
            <a:r>
              <a:rPr lang="en-US"/>
              <a:t> needs to be replaced by NRU</a:t>
            </a:r>
          </a:p>
        </p:txBody>
      </p:sp>
      <p:sp>
        <p:nvSpPr>
          <p:cNvPr id="10" name="Rounded Rectangle 9"/>
          <p:cNvSpPr/>
          <p:nvPr/>
        </p:nvSpPr>
        <p:spPr>
          <a:xfrm>
            <a:off x="7778750" y="2241020"/>
            <a:ext cx="4297680" cy="457200"/>
          </a:xfrm>
          <a:prstGeom prst="roundRect">
            <a:avLst/>
          </a:prstGeom>
          <a:noFill/>
          <a:ln w="38100">
            <a:solidFill>
              <a:schemeClr val="tx2"/>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27167898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par>
                    <p:cTn id="24" fill="hold" nodeType="clickPar">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Segmentation</a:t>
            </a:r>
          </a:p>
        </p:txBody>
      </p:sp>
      <p:sp>
        <p:nvSpPr>
          <p:cNvPr id="3" name="Content Placeholder 2"/>
          <p:cNvSpPr>
            <a:spLocks noGrp="1"/>
          </p:cNvSpPr>
          <p:nvPr>
            <p:ph idx="1"/>
          </p:nvPr>
        </p:nvSpPr>
        <p:spPr>
          <a:xfrm>
            <a:off x="131180" y="863444"/>
            <a:ext cx="5398083" cy="5590565"/>
          </a:xfrm>
        </p:spPr>
        <p:txBody>
          <a:bodyPr/>
          <a:lstStyle/>
          <a:p>
            <a:r>
              <a:rPr lang="en-US"/>
              <a:t>Segmentation is a </a:t>
            </a:r>
            <a:r>
              <a:rPr lang="en-US" b="1">
                <a:solidFill>
                  <a:schemeClr val="accent6"/>
                </a:solidFill>
              </a:rPr>
              <a:t>memory management technique in which each job is divided into several segments of different sizes</a:t>
            </a:r>
            <a:r>
              <a:rPr lang="en-US"/>
              <a:t>, one for each module that contains pieces that perform related functions. </a:t>
            </a:r>
          </a:p>
          <a:p>
            <a:r>
              <a:rPr lang="en-US" b="1">
                <a:solidFill>
                  <a:schemeClr val="accent6"/>
                </a:solidFill>
              </a:rPr>
              <a:t>Each segment is actually a different logical address space </a:t>
            </a:r>
            <a:r>
              <a:rPr lang="en-US"/>
              <a:t>of the program.</a:t>
            </a:r>
          </a:p>
          <a:p>
            <a:r>
              <a:rPr lang="en-US" b="1">
                <a:solidFill>
                  <a:schemeClr val="accent6"/>
                </a:solidFill>
              </a:rPr>
              <a:t>When a process is to be executed</a:t>
            </a:r>
            <a:r>
              <a:rPr lang="en-US"/>
              <a:t>, its </a:t>
            </a:r>
            <a:r>
              <a:rPr lang="en-US" b="1">
                <a:solidFill>
                  <a:schemeClr val="accent6"/>
                </a:solidFill>
              </a:rPr>
              <a:t>corresponding segmentation are loaded into non-contiguous memory</a:t>
            </a:r>
            <a:r>
              <a:rPr lang="en-US"/>
              <a:t> though every segment is loaded into a contiguous block of available memory.</a:t>
            </a:r>
          </a:p>
          <a:p>
            <a:r>
              <a:rPr lang="en-US"/>
              <a:t>Segmentation memory management works very similar to paging but here </a:t>
            </a:r>
            <a:r>
              <a:rPr lang="en-US" b="1">
                <a:solidFill>
                  <a:schemeClr val="accent6"/>
                </a:solidFill>
              </a:rPr>
              <a:t>segments are of variable-length where as in paging pages are of fixed size</a:t>
            </a:r>
            <a:r>
              <a:rPr lang="en-US"/>
              <a:t>.</a:t>
            </a:r>
          </a:p>
        </p:txBody>
      </p:sp>
      <p:graphicFrame>
        <p:nvGraphicFramePr>
          <p:cNvPr id="4" name="Content Placeholder 8"/>
          <p:cNvGraphicFramePr/>
          <p:nvPr>
            <p:extLst>
              <p:ext uri="{D42A27DB-BD31-4B8C-83A1-F6EECF244321}">
                <p14:modId xmlns:p14="http://schemas.microsoft.com/office/powerpoint/2010/main" val="1731176491"/>
              </p:ext>
            </p:extLst>
          </p:nvPr>
        </p:nvGraphicFramePr>
        <p:xfrm>
          <a:off x="7137093" y="1090057"/>
          <a:ext cx="2070989" cy="2123440"/>
        </p:xfrm>
        <a:graphic>
          <a:graphicData uri="http://schemas.openxmlformats.org/drawingml/2006/table">
            <a:tbl>
              <a:tblPr firstRow="1" bandRow="1">
                <a:tableStyleId>{5C22544A-7EE6-4342-B048-85BDC9FD1C3A}</a:tableStyleId>
              </a:tblPr>
              <a:tblGrid>
                <a:gridCol w="424180">
                  <a:extLst>
                    <a:ext uri="{9D8B030D-6E8A-4147-A177-3AD203B41FA5}">
                      <a16:colId xmlns:a16="http://schemas.microsoft.com/office/drawing/2014/main" xmlns="" val="20000"/>
                    </a:ext>
                  </a:extLst>
                </a:gridCol>
                <a:gridCol w="599313">
                  <a:extLst>
                    <a:ext uri="{9D8B030D-6E8A-4147-A177-3AD203B41FA5}">
                      <a16:colId xmlns:a16="http://schemas.microsoft.com/office/drawing/2014/main" xmlns="" val="20001"/>
                    </a:ext>
                  </a:extLst>
                </a:gridCol>
                <a:gridCol w="1047496">
                  <a:extLst>
                    <a:ext uri="{9D8B030D-6E8A-4147-A177-3AD203B41FA5}">
                      <a16:colId xmlns:a16="http://schemas.microsoft.com/office/drawing/2014/main" xmlns="" val="20002"/>
                    </a:ext>
                  </a:extLst>
                </a:gridCol>
              </a:tblGrid>
              <a:tr h="370840">
                <a:tc>
                  <a:txBody>
                    <a:bodyPr/>
                    <a:lstStyle/>
                    <a:p>
                      <a:r>
                        <a:rPr lang="en-US" err="1"/>
                        <a:t>Sr</a:t>
                      </a:r>
                      <a:endParaRPr lang="en-IN"/>
                    </a:p>
                  </a:txBody>
                  <a:tcPr/>
                </a:tc>
                <a:tc>
                  <a:txBody>
                    <a:bodyPr/>
                    <a:lstStyle/>
                    <a:p>
                      <a:r>
                        <a:rPr lang="en-US"/>
                        <a:t>Size</a:t>
                      </a:r>
                      <a:endParaRPr lang="en-IN"/>
                    </a:p>
                  </a:txBody>
                  <a:tcPr/>
                </a:tc>
                <a:tc>
                  <a:txBody>
                    <a:bodyPr/>
                    <a:lstStyle/>
                    <a:p>
                      <a:r>
                        <a:rPr lang="en-US"/>
                        <a:t>Memory</a:t>
                      </a:r>
                    </a:p>
                    <a:p>
                      <a:r>
                        <a:rPr lang="en-US"/>
                        <a:t>Address</a:t>
                      </a:r>
                      <a:endParaRPr lang="en-IN"/>
                    </a:p>
                  </a:txBody>
                  <a:tcPr/>
                </a:tc>
                <a:extLst>
                  <a:ext uri="{0D108BD9-81ED-4DB2-BD59-A6C34878D82A}">
                    <a16:rowId xmlns:a16="http://schemas.microsoft.com/office/drawing/2014/main" xmlns="" val="10000"/>
                  </a:ext>
                </a:extLst>
              </a:tr>
              <a:tr h="370840">
                <a:tc>
                  <a:txBody>
                    <a:bodyPr/>
                    <a:lstStyle/>
                    <a:p>
                      <a:r>
                        <a:rPr lang="en-US"/>
                        <a:t>1</a:t>
                      </a:r>
                      <a:endParaRPr lang="en-IN"/>
                    </a:p>
                  </a:txBody>
                  <a:tcPr>
                    <a:solidFill>
                      <a:schemeClr val="accent3"/>
                    </a:solidFill>
                  </a:tcPr>
                </a:tc>
                <a:tc>
                  <a:txBody>
                    <a:bodyPr/>
                    <a:lstStyle/>
                    <a:p>
                      <a:r>
                        <a:rPr lang="en-US"/>
                        <a:t>300</a:t>
                      </a:r>
                      <a:endParaRPr lang="en-IN"/>
                    </a:p>
                  </a:txBody>
                  <a:tcPr>
                    <a:solidFill>
                      <a:schemeClr val="accent3"/>
                    </a:solidFill>
                  </a:tcPr>
                </a:tc>
                <a:tc>
                  <a:txBody>
                    <a:bodyPr/>
                    <a:lstStyle/>
                    <a:p>
                      <a:r>
                        <a:rPr lang="en-US"/>
                        <a:t>100</a:t>
                      </a:r>
                      <a:endParaRPr lang="en-IN"/>
                    </a:p>
                  </a:txBody>
                  <a:tcPr>
                    <a:solidFill>
                      <a:schemeClr val="accent3"/>
                    </a:solidFill>
                  </a:tcPr>
                </a:tc>
                <a:extLst>
                  <a:ext uri="{0D108BD9-81ED-4DB2-BD59-A6C34878D82A}">
                    <a16:rowId xmlns:a16="http://schemas.microsoft.com/office/drawing/2014/main" xmlns="" val="10001"/>
                  </a:ext>
                </a:extLst>
              </a:tr>
              <a:tr h="370840">
                <a:tc>
                  <a:txBody>
                    <a:bodyPr/>
                    <a:lstStyle/>
                    <a:p>
                      <a:r>
                        <a:rPr lang="en-US"/>
                        <a:t>2</a:t>
                      </a:r>
                      <a:endParaRPr lang="en-IN"/>
                    </a:p>
                  </a:txBody>
                  <a:tcPr>
                    <a:solidFill>
                      <a:schemeClr val="accent6">
                        <a:lumMod val="60000"/>
                        <a:lumOff val="40000"/>
                      </a:schemeClr>
                    </a:solidFill>
                  </a:tcPr>
                </a:tc>
                <a:tc>
                  <a:txBody>
                    <a:bodyPr/>
                    <a:lstStyle/>
                    <a:p>
                      <a:r>
                        <a:rPr lang="en-US"/>
                        <a:t>500</a:t>
                      </a:r>
                      <a:endParaRPr lang="en-IN"/>
                    </a:p>
                  </a:txBody>
                  <a:tcPr>
                    <a:solidFill>
                      <a:schemeClr val="accent6">
                        <a:lumMod val="60000"/>
                        <a:lumOff val="40000"/>
                      </a:schemeClr>
                    </a:solidFill>
                  </a:tcPr>
                </a:tc>
                <a:tc>
                  <a:txBody>
                    <a:bodyPr/>
                    <a:lstStyle/>
                    <a:p>
                      <a:r>
                        <a:rPr lang="en-US"/>
                        <a:t>400</a:t>
                      </a:r>
                      <a:endParaRPr lang="en-IN"/>
                    </a:p>
                  </a:txBody>
                  <a:tcPr>
                    <a:solidFill>
                      <a:schemeClr val="accent6">
                        <a:lumMod val="60000"/>
                        <a:lumOff val="40000"/>
                      </a:schemeClr>
                    </a:solidFill>
                  </a:tcPr>
                </a:tc>
                <a:extLst>
                  <a:ext uri="{0D108BD9-81ED-4DB2-BD59-A6C34878D82A}">
                    <a16:rowId xmlns:a16="http://schemas.microsoft.com/office/drawing/2014/main" xmlns="" val="10002"/>
                  </a:ext>
                </a:extLst>
              </a:tr>
              <a:tr h="370840">
                <a:tc>
                  <a:txBody>
                    <a:bodyPr/>
                    <a:lstStyle/>
                    <a:p>
                      <a:r>
                        <a:rPr lang="en-US"/>
                        <a:t>3</a:t>
                      </a:r>
                      <a:endParaRPr lang="en-IN"/>
                    </a:p>
                  </a:txBody>
                  <a:tcPr>
                    <a:solidFill>
                      <a:schemeClr val="accent1">
                        <a:lumMod val="40000"/>
                        <a:lumOff val="60000"/>
                      </a:schemeClr>
                    </a:solidFill>
                  </a:tcPr>
                </a:tc>
                <a:tc>
                  <a:txBody>
                    <a:bodyPr/>
                    <a:lstStyle/>
                    <a:p>
                      <a:r>
                        <a:rPr lang="en-US"/>
                        <a:t>100</a:t>
                      </a:r>
                      <a:endParaRPr lang="en-IN"/>
                    </a:p>
                  </a:txBody>
                  <a:tcPr>
                    <a:solidFill>
                      <a:schemeClr val="accent1">
                        <a:lumMod val="40000"/>
                        <a:lumOff val="60000"/>
                      </a:schemeClr>
                    </a:solidFill>
                  </a:tcPr>
                </a:tc>
                <a:tc>
                  <a:txBody>
                    <a:bodyPr/>
                    <a:lstStyle/>
                    <a:p>
                      <a:r>
                        <a:rPr lang="en-US"/>
                        <a:t>900</a:t>
                      </a:r>
                      <a:endParaRPr lang="en-IN"/>
                    </a:p>
                  </a:txBody>
                  <a:tcPr>
                    <a:solidFill>
                      <a:schemeClr val="accent1">
                        <a:lumMod val="40000"/>
                        <a:lumOff val="60000"/>
                      </a:schemeClr>
                    </a:solidFill>
                  </a:tcPr>
                </a:tc>
                <a:extLst>
                  <a:ext uri="{0D108BD9-81ED-4DB2-BD59-A6C34878D82A}">
                    <a16:rowId xmlns:a16="http://schemas.microsoft.com/office/drawing/2014/main" xmlns="" val="10003"/>
                  </a:ext>
                </a:extLst>
              </a:tr>
              <a:tr h="370840">
                <a:tc>
                  <a:txBody>
                    <a:bodyPr/>
                    <a:lstStyle/>
                    <a:p>
                      <a:r>
                        <a:rPr lang="en-US"/>
                        <a:t>N</a:t>
                      </a:r>
                      <a:endParaRPr lang="en-IN"/>
                    </a:p>
                  </a:txBody>
                  <a:tcPr>
                    <a:solidFill>
                      <a:schemeClr val="bg1">
                        <a:lumMod val="95000"/>
                      </a:schemeClr>
                    </a:solidFill>
                  </a:tcPr>
                </a:tc>
                <a:tc>
                  <a:txBody>
                    <a:bodyPr/>
                    <a:lstStyle/>
                    <a:p>
                      <a:r>
                        <a:rPr lang="en-US"/>
                        <a:t>X</a:t>
                      </a:r>
                      <a:endParaRPr lang="en-IN"/>
                    </a:p>
                  </a:txBody>
                  <a:tcPr>
                    <a:solidFill>
                      <a:schemeClr val="bg1">
                        <a:lumMod val="95000"/>
                      </a:schemeClr>
                    </a:solidFill>
                  </a:tcPr>
                </a:tc>
                <a:tc>
                  <a:txBody>
                    <a:bodyPr/>
                    <a:lstStyle/>
                    <a:p>
                      <a:r>
                        <a:rPr lang="en-US"/>
                        <a:t>NM</a:t>
                      </a:r>
                      <a:endParaRPr lang="en-IN"/>
                    </a:p>
                  </a:txBody>
                  <a:tcPr>
                    <a:solidFill>
                      <a:schemeClr val="bg1">
                        <a:lumMod val="95000"/>
                      </a:schemeClr>
                    </a:solidFill>
                  </a:tcPr>
                </a:tc>
                <a:extLst>
                  <a:ext uri="{0D108BD9-81ED-4DB2-BD59-A6C34878D82A}">
                    <a16:rowId xmlns:a16="http://schemas.microsoft.com/office/drawing/2014/main" xmlns="" val="10004"/>
                  </a:ext>
                </a:extLst>
              </a:tr>
            </a:tbl>
          </a:graphicData>
        </a:graphic>
      </p:graphicFrame>
      <p:sp>
        <p:nvSpPr>
          <p:cNvPr id="5" name="Rectangle 4"/>
          <p:cNvSpPr/>
          <p:nvPr/>
        </p:nvSpPr>
        <p:spPr>
          <a:xfrm>
            <a:off x="5622150" y="1090057"/>
            <a:ext cx="1280160" cy="8382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Segment 1</a:t>
            </a:r>
            <a:endParaRPr lang="en-IN">
              <a:solidFill>
                <a:schemeClr val="tx1"/>
              </a:solidFill>
            </a:endParaRPr>
          </a:p>
        </p:txBody>
      </p:sp>
      <p:sp>
        <p:nvSpPr>
          <p:cNvPr id="6" name="Rectangle 5"/>
          <p:cNvSpPr/>
          <p:nvPr/>
        </p:nvSpPr>
        <p:spPr>
          <a:xfrm>
            <a:off x="5622150" y="2234644"/>
            <a:ext cx="1280160" cy="1676400"/>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Segment 2</a:t>
            </a:r>
            <a:endParaRPr lang="en-IN">
              <a:solidFill>
                <a:schemeClr val="tx1"/>
              </a:solidFill>
            </a:endParaRPr>
          </a:p>
        </p:txBody>
      </p:sp>
      <p:sp>
        <p:nvSpPr>
          <p:cNvPr id="7" name="Rectangle 6"/>
          <p:cNvSpPr/>
          <p:nvPr/>
        </p:nvSpPr>
        <p:spPr>
          <a:xfrm>
            <a:off x="5622150" y="4217431"/>
            <a:ext cx="1280160" cy="7620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Segment 3</a:t>
            </a:r>
            <a:endParaRPr lang="en-IN">
              <a:solidFill>
                <a:schemeClr val="tx1"/>
              </a:solidFill>
            </a:endParaRPr>
          </a:p>
        </p:txBody>
      </p:sp>
      <p:sp>
        <p:nvSpPr>
          <p:cNvPr id="8" name="Rectangle 7"/>
          <p:cNvSpPr/>
          <p:nvPr/>
        </p:nvSpPr>
        <p:spPr>
          <a:xfrm>
            <a:off x="5622150" y="5285819"/>
            <a:ext cx="1280160" cy="452438"/>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Segment N</a:t>
            </a:r>
            <a:endParaRPr lang="en-IN">
              <a:solidFill>
                <a:schemeClr val="tx1"/>
              </a:solidFill>
            </a:endParaRPr>
          </a:p>
        </p:txBody>
      </p:sp>
      <p:sp>
        <p:nvSpPr>
          <p:cNvPr id="9" name="TextBox 8"/>
          <p:cNvSpPr txBox="1"/>
          <p:nvPr/>
        </p:nvSpPr>
        <p:spPr>
          <a:xfrm>
            <a:off x="5652630" y="682625"/>
            <a:ext cx="1219200" cy="369332"/>
          </a:xfrm>
          <a:prstGeom prst="rect">
            <a:avLst/>
          </a:prstGeom>
          <a:noFill/>
        </p:spPr>
        <p:txBody>
          <a:bodyPr wrap="square" rtlCol="0">
            <a:spAutoFit/>
          </a:bodyPr>
          <a:lstStyle/>
          <a:p>
            <a:pPr algn="ctr"/>
            <a:r>
              <a:rPr lang="en-US"/>
              <a:t>Process P</a:t>
            </a:r>
            <a:endParaRPr lang="en-IN"/>
          </a:p>
        </p:txBody>
      </p:sp>
      <p:sp>
        <p:nvSpPr>
          <p:cNvPr id="10" name="TextBox 9"/>
          <p:cNvSpPr txBox="1"/>
          <p:nvPr/>
        </p:nvSpPr>
        <p:spPr>
          <a:xfrm>
            <a:off x="7137092" y="720725"/>
            <a:ext cx="2070989" cy="369332"/>
          </a:xfrm>
          <a:prstGeom prst="rect">
            <a:avLst/>
          </a:prstGeom>
          <a:noFill/>
        </p:spPr>
        <p:txBody>
          <a:bodyPr wrap="square" rtlCol="0">
            <a:spAutoFit/>
          </a:bodyPr>
          <a:lstStyle/>
          <a:p>
            <a:pPr algn="ctr"/>
            <a:r>
              <a:rPr lang="en-US"/>
              <a:t>Segment Map Table</a:t>
            </a:r>
            <a:endParaRPr lang="en-IN"/>
          </a:p>
        </p:txBody>
      </p:sp>
      <p:graphicFrame>
        <p:nvGraphicFramePr>
          <p:cNvPr id="11" name="Table 10"/>
          <p:cNvGraphicFramePr>
            <a:graphicFrameLocks noGrp="1"/>
          </p:cNvGraphicFramePr>
          <p:nvPr>
            <p:extLst>
              <p:ext uri="{D42A27DB-BD31-4B8C-83A1-F6EECF244321}">
                <p14:modId xmlns:p14="http://schemas.microsoft.com/office/powerpoint/2010/main" val="1701227743"/>
              </p:ext>
            </p:extLst>
          </p:nvPr>
        </p:nvGraphicFramePr>
        <p:xfrm>
          <a:off x="10025072" y="1010801"/>
          <a:ext cx="2011680" cy="48209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xmlns="" val="20000"/>
                    </a:ext>
                  </a:extLst>
                </a:gridCol>
              </a:tblGrid>
              <a:tr h="370840">
                <a:tc>
                  <a:txBody>
                    <a:bodyPr/>
                    <a:lstStyle/>
                    <a:p>
                      <a:pPr algn="ctr"/>
                      <a:r>
                        <a:rPr lang="en-US"/>
                        <a:t>Physical Memory</a:t>
                      </a:r>
                      <a:endParaRPr lang="en-IN"/>
                    </a:p>
                  </a:txBody>
                  <a:tcPr/>
                </a:tc>
                <a:extLst>
                  <a:ext uri="{0D108BD9-81ED-4DB2-BD59-A6C34878D82A}">
                    <a16:rowId xmlns:a16="http://schemas.microsoft.com/office/drawing/2014/main" xmlns="" val="10000"/>
                  </a:ext>
                </a:extLst>
              </a:tr>
              <a:tr h="370840">
                <a:tc>
                  <a:txBody>
                    <a:bodyPr/>
                    <a:lstStyle/>
                    <a:p>
                      <a:pPr algn="ctr"/>
                      <a:endParaRPr lang="en-IN"/>
                    </a:p>
                  </a:txBody>
                  <a:tcPr/>
                </a:tc>
                <a:extLst>
                  <a:ext uri="{0D108BD9-81ED-4DB2-BD59-A6C34878D82A}">
                    <a16:rowId xmlns:a16="http://schemas.microsoft.com/office/drawing/2014/main" xmlns="" val="10001"/>
                  </a:ext>
                </a:extLst>
              </a:tr>
              <a:tr h="370840">
                <a:tc>
                  <a:txBody>
                    <a:bodyPr/>
                    <a:lstStyle/>
                    <a:p>
                      <a:pPr algn="ctr"/>
                      <a:r>
                        <a:rPr lang="en-US"/>
                        <a:t>100</a:t>
                      </a:r>
                      <a:endParaRPr lang="en-IN"/>
                    </a:p>
                  </a:txBody>
                  <a:tcPr>
                    <a:solidFill>
                      <a:schemeClr val="accent3"/>
                    </a:solidFill>
                  </a:tcPr>
                </a:tc>
                <a:extLst>
                  <a:ext uri="{0D108BD9-81ED-4DB2-BD59-A6C34878D82A}">
                    <a16:rowId xmlns:a16="http://schemas.microsoft.com/office/drawing/2014/main" xmlns="" val="10002"/>
                  </a:ext>
                </a:extLst>
              </a:tr>
              <a:tr h="370840">
                <a:tc>
                  <a:txBody>
                    <a:bodyPr/>
                    <a:lstStyle/>
                    <a:p>
                      <a:pPr algn="ctr"/>
                      <a:r>
                        <a:rPr lang="en-US"/>
                        <a:t>200</a:t>
                      </a:r>
                      <a:endParaRPr lang="en-IN"/>
                    </a:p>
                  </a:txBody>
                  <a:tcPr>
                    <a:solidFill>
                      <a:schemeClr val="accent3"/>
                    </a:solidFill>
                  </a:tcPr>
                </a:tc>
                <a:extLst>
                  <a:ext uri="{0D108BD9-81ED-4DB2-BD59-A6C34878D82A}">
                    <a16:rowId xmlns:a16="http://schemas.microsoft.com/office/drawing/2014/main" xmlns="" val="10003"/>
                  </a:ext>
                </a:extLst>
              </a:tr>
              <a:tr h="370840">
                <a:tc>
                  <a:txBody>
                    <a:bodyPr/>
                    <a:lstStyle/>
                    <a:p>
                      <a:pPr algn="ctr"/>
                      <a:r>
                        <a:rPr lang="en-US"/>
                        <a:t>300</a:t>
                      </a:r>
                      <a:endParaRPr lang="en-IN"/>
                    </a:p>
                  </a:txBody>
                  <a:tcPr>
                    <a:solidFill>
                      <a:schemeClr val="accent3"/>
                    </a:solidFill>
                  </a:tcPr>
                </a:tc>
                <a:extLst>
                  <a:ext uri="{0D108BD9-81ED-4DB2-BD59-A6C34878D82A}">
                    <a16:rowId xmlns:a16="http://schemas.microsoft.com/office/drawing/2014/main" xmlns="" val="10004"/>
                  </a:ext>
                </a:extLst>
              </a:tr>
              <a:tr h="370840">
                <a:tc>
                  <a:txBody>
                    <a:bodyPr/>
                    <a:lstStyle/>
                    <a:p>
                      <a:pPr algn="ctr"/>
                      <a:r>
                        <a:rPr lang="en-US"/>
                        <a:t>400</a:t>
                      </a:r>
                      <a:endParaRPr lang="en-IN"/>
                    </a:p>
                  </a:txBody>
                  <a:tcPr>
                    <a:solidFill>
                      <a:schemeClr val="accent6">
                        <a:lumMod val="60000"/>
                        <a:lumOff val="40000"/>
                      </a:schemeClr>
                    </a:solidFill>
                  </a:tcPr>
                </a:tc>
                <a:extLst>
                  <a:ext uri="{0D108BD9-81ED-4DB2-BD59-A6C34878D82A}">
                    <a16:rowId xmlns:a16="http://schemas.microsoft.com/office/drawing/2014/main" xmlns="" val="10005"/>
                  </a:ext>
                </a:extLst>
              </a:tr>
              <a:tr h="370840">
                <a:tc>
                  <a:txBody>
                    <a:bodyPr/>
                    <a:lstStyle/>
                    <a:p>
                      <a:pPr algn="ctr"/>
                      <a:r>
                        <a:rPr lang="en-US"/>
                        <a:t>500</a:t>
                      </a:r>
                      <a:endParaRPr lang="en-IN"/>
                    </a:p>
                  </a:txBody>
                  <a:tcPr>
                    <a:solidFill>
                      <a:schemeClr val="accent6">
                        <a:lumMod val="60000"/>
                        <a:lumOff val="40000"/>
                      </a:schemeClr>
                    </a:solidFill>
                  </a:tcPr>
                </a:tc>
                <a:extLst>
                  <a:ext uri="{0D108BD9-81ED-4DB2-BD59-A6C34878D82A}">
                    <a16:rowId xmlns:a16="http://schemas.microsoft.com/office/drawing/2014/main" xmlns="" val="10006"/>
                  </a:ext>
                </a:extLst>
              </a:tr>
              <a:tr h="370840">
                <a:tc>
                  <a:txBody>
                    <a:bodyPr/>
                    <a:lstStyle/>
                    <a:p>
                      <a:pPr algn="ctr"/>
                      <a:r>
                        <a:rPr lang="en-US"/>
                        <a:t>600</a:t>
                      </a:r>
                      <a:endParaRPr lang="en-IN"/>
                    </a:p>
                  </a:txBody>
                  <a:tcPr>
                    <a:solidFill>
                      <a:schemeClr val="accent6">
                        <a:lumMod val="60000"/>
                        <a:lumOff val="40000"/>
                      </a:schemeClr>
                    </a:solidFill>
                  </a:tcPr>
                </a:tc>
                <a:extLst>
                  <a:ext uri="{0D108BD9-81ED-4DB2-BD59-A6C34878D82A}">
                    <a16:rowId xmlns:a16="http://schemas.microsoft.com/office/drawing/2014/main" xmlns="" val="10007"/>
                  </a:ext>
                </a:extLst>
              </a:tr>
              <a:tr h="370840">
                <a:tc>
                  <a:txBody>
                    <a:bodyPr/>
                    <a:lstStyle/>
                    <a:p>
                      <a:pPr algn="ctr"/>
                      <a:r>
                        <a:rPr lang="en-US"/>
                        <a:t>700</a:t>
                      </a:r>
                      <a:endParaRPr lang="en-IN"/>
                    </a:p>
                  </a:txBody>
                  <a:tcPr>
                    <a:solidFill>
                      <a:schemeClr val="accent6">
                        <a:lumMod val="60000"/>
                        <a:lumOff val="40000"/>
                      </a:schemeClr>
                    </a:solidFill>
                  </a:tcPr>
                </a:tc>
                <a:extLst>
                  <a:ext uri="{0D108BD9-81ED-4DB2-BD59-A6C34878D82A}">
                    <a16:rowId xmlns:a16="http://schemas.microsoft.com/office/drawing/2014/main" xmlns="" val="10008"/>
                  </a:ext>
                </a:extLst>
              </a:tr>
              <a:tr h="370840">
                <a:tc>
                  <a:txBody>
                    <a:bodyPr/>
                    <a:lstStyle/>
                    <a:p>
                      <a:pPr algn="ctr"/>
                      <a:r>
                        <a:rPr lang="en-US"/>
                        <a:t>800</a:t>
                      </a:r>
                      <a:endParaRPr lang="en-IN"/>
                    </a:p>
                  </a:txBody>
                  <a:tcPr>
                    <a:solidFill>
                      <a:schemeClr val="accent6">
                        <a:lumMod val="60000"/>
                        <a:lumOff val="40000"/>
                      </a:schemeClr>
                    </a:solidFill>
                  </a:tcPr>
                </a:tc>
                <a:extLst>
                  <a:ext uri="{0D108BD9-81ED-4DB2-BD59-A6C34878D82A}">
                    <a16:rowId xmlns:a16="http://schemas.microsoft.com/office/drawing/2014/main" xmlns="" val="10009"/>
                  </a:ext>
                </a:extLst>
              </a:tr>
              <a:tr h="370840">
                <a:tc>
                  <a:txBody>
                    <a:bodyPr/>
                    <a:lstStyle/>
                    <a:p>
                      <a:pPr algn="ctr"/>
                      <a:r>
                        <a:rPr lang="en-US"/>
                        <a:t>900</a:t>
                      </a:r>
                      <a:endParaRPr lang="en-IN"/>
                    </a:p>
                  </a:txBody>
                  <a:tcPr>
                    <a:solidFill>
                      <a:schemeClr val="accent1">
                        <a:lumMod val="40000"/>
                        <a:lumOff val="60000"/>
                      </a:schemeClr>
                    </a:solidFill>
                  </a:tcPr>
                </a:tc>
                <a:extLst>
                  <a:ext uri="{0D108BD9-81ED-4DB2-BD59-A6C34878D82A}">
                    <a16:rowId xmlns:a16="http://schemas.microsoft.com/office/drawing/2014/main" xmlns="" val="10010"/>
                  </a:ext>
                </a:extLst>
              </a:tr>
              <a:tr h="370840">
                <a:tc>
                  <a:txBody>
                    <a:bodyPr/>
                    <a:lstStyle/>
                    <a:p>
                      <a:pPr algn="ctr"/>
                      <a:r>
                        <a:rPr lang="en-US"/>
                        <a:t>1000</a:t>
                      </a:r>
                      <a:endParaRPr lang="en-IN"/>
                    </a:p>
                  </a:txBody>
                  <a:tcPr>
                    <a:solidFill>
                      <a:schemeClr val="bg1">
                        <a:lumMod val="95000"/>
                      </a:schemeClr>
                    </a:solidFill>
                  </a:tcPr>
                </a:tc>
                <a:extLst>
                  <a:ext uri="{0D108BD9-81ED-4DB2-BD59-A6C34878D82A}">
                    <a16:rowId xmlns:a16="http://schemas.microsoft.com/office/drawing/2014/main" xmlns="" val="10011"/>
                  </a:ext>
                </a:extLst>
              </a:tr>
              <a:tr h="370840">
                <a:tc>
                  <a:txBody>
                    <a:bodyPr/>
                    <a:lstStyle/>
                    <a:p>
                      <a:pPr algn="ctr"/>
                      <a:r>
                        <a:rPr lang="en-US"/>
                        <a:t>1100</a:t>
                      </a:r>
                      <a:endParaRPr lang="en-IN"/>
                    </a:p>
                  </a:txBody>
                  <a:tcPr>
                    <a:solidFill>
                      <a:schemeClr val="bg1">
                        <a:lumMod val="95000"/>
                      </a:schemeClr>
                    </a:solidFill>
                  </a:tcPr>
                </a:tc>
                <a:extLst>
                  <a:ext uri="{0D108BD9-81ED-4DB2-BD59-A6C34878D82A}">
                    <a16:rowId xmlns:a16="http://schemas.microsoft.com/office/drawing/2014/main" xmlns="" val="10012"/>
                  </a:ext>
                </a:extLst>
              </a:tr>
            </a:tbl>
          </a:graphicData>
        </a:graphic>
      </p:graphicFrame>
      <p:cxnSp>
        <p:nvCxnSpPr>
          <p:cNvPr id="12" name="Elbow Connector 11"/>
          <p:cNvCxnSpPr/>
          <p:nvPr/>
        </p:nvCxnSpPr>
        <p:spPr>
          <a:xfrm>
            <a:off x="9200461" y="2297271"/>
            <a:ext cx="824611" cy="773986"/>
          </a:xfrm>
          <a:prstGeom prst="bentConnector3">
            <a:avLst>
              <a:gd name="adj1" fmla="val 50000"/>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p:cNvCxnSpPr/>
          <p:nvPr/>
        </p:nvCxnSpPr>
        <p:spPr>
          <a:xfrm rot="16200000" flipH="1">
            <a:off x="8419434" y="3299301"/>
            <a:ext cx="2220675" cy="990599"/>
          </a:xfrm>
          <a:prstGeom prst="bentConnector3">
            <a:avLst>
              <a:gd name="adj1" fmla="val 9954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9200461" y="1928257"/>
            <a:ext cx="824610" cy="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315734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500"/>
                                        <p:tgtEl>
                                          <p:spTgt spid="3">
                                            <p:txEl>
                                              <p:pRg st="2" end="2"/>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animEffect transition="in" filter="fade">
                                      <p:cBhvr>
                                        <p:cTn id="36" dur="500"/>
                                        <p:tgtEl>
                                          <p:spTgt spid="3">
                                            <p:txEl>
                                              <p:pRg st="3" end="3"/>
                                            </p:txEl>
                                          </p:spTgt>
                                        </p:tgtEl>
                                      </p:cBhvr>
                                    </p:animEffect>
                                  </p:childTnLst>
                                </p:cTn>
                              </p:par>
                              <p:par>
                                <p:cTn id="37" presetID="1"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gtEl>
                                        <p:attrNameLst>
                                          <p:attrName>style.visibility</p:attrName>
                                        </p:attrNameLst>
                                      </p:cBhvr>
                                      <p:to>
                                        <p:strVal val="visible"/>
                                      </p:to>
                                    </p:set>
                                  </p:childTnLst>
                                </p:cTn>
                              </p:par>
                              <p:par>
                                <p:cTn id="41" presetID="22" presetClass="entr" presetSubtype="8" fill="hold"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par>
                                <p:cTn id="44" presetID="22" presetClass="entr" presetSubtype="1" fill="hold"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wipe(up)">
                                      <p:cBhvr>
                                        <p:cTn id="46" dur="500"/>
                                        <p:tgtEl>
                                          <p:spTgt spid="12"/>
                                        </p:tgtEl>
                                      </p:cBhvr>
                                    </p:animEffect>
                                  </p:childTnLst>
                                </p:cTn>
                              </p:par>
                              <p:par>
                                <p:cTn id="47" presetID="22" presetClass="entr" presetSubtype="1" fill="hold"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wipe(up)">
                                      <p:cBhvr>
                                        <p:cTn id="4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p:bldP spid="10"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Segmentation</a:t>
            </a:r>
          </a:p>
        </p:txBody>
      </p:sp>
      <p:sp>
        <p:nvSpPr>
          <p:cNvPr id="3" name="Content Placeholder 2"/>
          <p:cNvSpPr>
            <a:spLocks noGrp="1"/>
          </p:cNvSpPr>
          <p:nvPr>
            <p:ph idx="1"/>
          </p:nvPr>
        </p:nvSpPr>
        <p:spPr>
          <a:xfrm>
            <a:off x="131180" y="863444"/>
            <a:ext cx="5398083" cy="5590565"/>
          </a:xfrm>
        </p:spPr>
        <p:txBody>
          <a:bodyPr/>
          <a:lstStyle/>
          <a:p>
            <a:r>
              <a:rPr lang="en-US"/>
              <a:t>A program segment contains the program's main function, utility functions, data structures, and so on. </a:t>
            </a:r>
          </a:p>
          <a:p>
            <a:r>
              <a:rPr lang="en-US"/>
              <a:t>The </a:t>
            </a:r>
            <a:r>
              <a:rPr lang="en-US" b="1">
                <a:solidFill>
                  <a:schemeClr val="accent6"/>
                </a:solidFill>
              </a:rPr>
              <a:t>operating system maintains a segment map table for every process</a:t>
            </a:r>
            <a:r>
              <a:rPr lang="en-US"/>
              <a:t>. </a:t>
            </a:r>
          </a:p>
          <a:p>
            <a:r>
              <a:rPr lang="en-US" b="1">
                <a:solidFill>
                  <a:schemeClr val="accent6"/>
                </a:solidFill>
              </a:rPr>
              <a:t>Segment map table contains list of free memory blocks along with segment numbers, their size and corresponding memory locations</a:t>
            </a:r>
            <a:r>
              <a:rPr lang="en-US"/>
              <a:t> in main memory. </a:t>
            </a:r>
          </a:p>
          <a:p>
            <a:r>
              <a:rPr lang="en-US"/>
              <a:t>For each segment, the </a:t>
            </a:r>
            <a:r>
              <a:rPr lang="en-US" b="1">
                <a:solidFill>
                  <a:schemeClr val="accent6"/>
                </a:solidFill>
              </a:rPr>
              <a:t>table stores the starting address of the segment and the length of the segment</a:t>
            </a:r>
            <a:r>
              <a:rPr lang="en-US"/>
              <a:t>. </a:t>
            </a:r>
          </a:p>
          <a:p>
            <a:r>
              <a:rPr lang="en-US"/>
              <a:t>A reference to a memory location includes a value that identifies a segment and an offset.</a:t>
            </a:r>
          </a:p>
        </p:txBody>
      </p:sp>
      <p:graphicFrame>
        <p:nvGraphicFramePr>
          <p:cNvPr id="4" name="Content Placeholder 8"/>
          <p:cNvGraphicFramePr/>
          <p:nvPr>
            <p:extLst>
              <p:ext uri="{D42A27DB-BD31-4B8C-83A1-F6EECF244321}">
                <p14:modId xmlns:p14="http://schemas.microsoft.com/office/powerpoint/2010/main" val="1731176491"/>
              </p:ext>
            </p:extLst>
          </p:nvPr>
        </p:nvGraphicFramePr>
        <p:xfrm>
          <a:off x="7137093" y="1090057"/>
          <a:ext cx="2070989" cy="2123440"/>
        </p:xfrm>
        <a:graphic>
          <a:graphicData uri="http://schemas.openxmlformats.org/drawingml/2006/table">
            <a:tbl>
              <a:tblPr firstRow="1" bandRow="1">
                <a:tableStyleId>{5C22544A-7EE6-4342-B048-85BDC9FD1C3A}</a:tableStyleId>
              </a:tblPr>
              <a:tblGrid>
                <a:gridCol w="424180">
                  <a:extLst>
                    <a:ext uri="{9D8B030D-6E8A-4147-A177-3AD203B41FA5}">
                      <a16:colId xmlns:a16="http://schemas.microsoft.com/office/drawing/2014/main" xmlns="" val="20000"/>
                    </a:ext>
                  </a:extLst>
                </a:gridCol>
                <a:gridCol w="599313">
                  <a:extLst>
                    <a:ext uri="{9D8B030D-6E8A-4147-A177-3AD203B41FA5}">
                      <a16:colId xmlns:a16="http://schemas.microsoft.com/office/drawing/2014/main" xmlns="" val="20001"/>
                    </a:ext>
                  </a:extLst>
                </a:gridCol>
                <a:gridCol w="1047496">
                  <a:extLst>
                    <a:ext uri="{9D8B030D-6E8A-4147-A177-3AD203B41FA5}">
                      <a16:colId xmlns:a16="http://schemas.microsoft.com/office/drawing/2014/main" xmlns="" val="20002"/>
                    </a:ext>
                  </a:extLst>
                </a:gridCol>
              </a:tblGrid>
              <a:tr h="370840">
                <a:tc>
                  <a:txBody>
                    <a:bodyPr/>
                    <a:lstStyle/>
                    <a:p>
                      <a:r>
                        <a:rPr lang="en-US" err="1"/>
                        <a:t>Sr</a:t>
                      </a:r>
                      <a:endParaRPr lang="en-IN"/>
                    </a:p>
                  </a:txBody>
                  <a:tcPr/>
                </a:tc>
                <a:tc>
                  <a:txBody>
                    <a:bodyPr/>
                    <a:lstStyle/>
                    <a:p>
                      <a:r>
                        <a:rPr lang="en-US"/>
                        <a:t>Size</a:t>
                      </a:r>
                      <a:endParaRPr lang="en-IN"/>
                    </a:p>
                  </a:txBody>
                  <a:tcPr/>
                </a:tc>
                <a:tc>
                  <a:txBody>
                    <a:bodyPr/>
                    <a:lstStyle/>
                    <a:p>
                      <a:r>
                        <a:rPr lang="en-US"/>
                        <a:t>Memory</a:t>
                      </a:r>
                    </a:p>
                    <a:p>
                      <a:r>
                        <a:rPr lang="en-US"/>
                        <a:t>Address</a:t>
                      </a:r>
                      <a:endParaRPr lang="en-IN"/>
                    </a:p>
                  </a:txBody>
                  <a:tcPr/>
                </a:tc>
                <a:extLst>
                  <a:ext uri="{0D108BD9-81ED-4DB2-BD59-A6C34878D82A}">
                    <a16:rowId xmlns:a16="http://schemas.microsoft.com/office/drawing/2014/main" xmlns="" val="10000"/>
                  </a:ext>
                </a:extLst>
              </a:tr>
              <a:tr h="370840">
                <a:tc>
                  <a:txBody>
                    <a:bodyPr/>
                    <a:lstStyle/>
                    <a:p>
                      <a:r>
                        <a:rPr lang="en-US"/>
                        <a:t>1</a:t>
                      </a:r>
                      <a:endParaRPr lang="en-IN"/>
                    </a:p>
                  </a:txBody>
                  <a:tcPr>
                    <a:solidFill>
                      <a:schemeClr val="accent3"/>
                    </a:solidFill>
                  </a:tcPr>
                </a:tc>
                <a:tc>
                  <a:txBody>
                    <a:bodyPr/>
                    <a:lstStyle/>
                    <a:p>
                      <a:r>
                        <a:rPr lang="en-US"/>
                        <a:t>300</a:t>
                      </a:r>
                      <a:endParaRPr lang="en-IN"/>
                    </a:p>
                  </a:txBody>
                  <a:tcPr>
                    <a:solidFill>
                      <a:schemeClr val="accent3"/>
                    </a:solidFill>
                  </a:tcPr>
                </a:tc>
                <a:tc>
                  <a:txBody>
                    <a:bodyPr/>
                    <a:lstStyle/>
                    <a:p>
                      <a:r>
                        <a:rPr lang="en-US"/>
                        <a:t>100</a:t>
                      </a:r>
                      <a:endParaRPr lang="en-IN"/>
                    </a:p>
                  </a:txBody>
                  <a:tcPr>
                    <a:solidFill>
                      <a:schemeClr val="accent3"/>
                    </a:solidFill>
                  </a:tcPr>
                </a:tc>
                <a:extLst>
                  <a:ext uri="{0D108BD9-81ED-4DB2-BD59-A6C34878D82A}">
                    <a16:rowId xmlns:a16="http://schemas.microsoft.com/office/drawing/2014/main" xmlns="" val="10001"/>
                  </a:ext>
                </a:extLst>
              </a:tr>
              <a:tr h="370840">
                <a:tc>
                  <a:txBody>
                    <a:bodyPr/>
                    <a:lstStyle/>
                    <a:p>
                      <a:r>
                        <a:rPr lang="en-US"/>
                        <a:t>2</a:t>
                      </a:r>
                      <a:endParaRPr lang="en-IN"/>
                    </a:p>
                  </a:txBody>
                  <a:tcPr>
                    <a:solidFill>
                      <a:schemeClr val="accent6">
                        <a:lumMod val="60000"/>
                        <a:lumOff val="40000"/>
                      </a:schemeClr>
                    </a:solidFill>
                  </a:tcPr>
                </a:tc>
                <a:tc>
                  <a:txBody>
                    <a:bodyPr/>
                    <a:lstStyle/>
                    <a:p>
                      <a:r>
                        <a:rPr lang="en-US"/>
                        <a:t>500</a:t>
                      </a:r>
                      <a:endParaRPr lang="en-IN"/>
                    </a:p>
                  </a:txBody>
                  <a:tcPr>
                    <a:solidFill>
                      <a:schemeClr val="accent6">
                        <a:lumMod val="60000"/>
                        <a:lumOff val="40000"/>
                      </a:schemeClr>
                    </a:solidFill>
                  </a:tcPr>
                </a:tc>
                <a:tc>
                  <a:txBody>
                    <a:bodyPr/>
                    <a:lstStyle/>
                    <a:p>
                      <a:r>
                        <a:rPr lang="en-US"/>
                        <a:t>400</a:t>
                      </a:r>
                      <a:endParaRPr lang="en-IN"/>
                    </a:p>
                  </a:txBody>
                  <a:tcPr>
                    <a:solidFill>
                      <a:schemeClr val="accent6">
                        <a:lumMod val="60000"/>
                        <a:lumOff val="40000"/>
                      </a:schemeClr>
                    </a:solidFill>
                  </a:tcPr>
                </a:tc>
                <a:extLst>
                  <a:ext uri="{0D108BD9-81ED-4DB2-BD59-A6C34878D82A}">
                    <a16:rowId xmlns:a16="http://schemas.microsoft.com/office/drawing/2014/main" xmlns="" val="10002"/>
                  </a:ext>
                </a:extLst>
              </a:tr>
              <a:tr h="370840">
                <a:tc>
                  <a:txBody>
                    <a:bodyPr/>
                    <a:lstStyle/>
                    <a:p>
                      <a:r>
                        <a:rPr lang="en-US"/>
                        <a:t>3</a:t>
                      </a:r>
                      <a:endParaRPr lang="en-IN"/>
                    </a:p>
                  </a:txBody>
                  <a:tcPr>
                    <a:solidFill>
                      <a:schemeClr val="accent1">
                        <a:lumMod val="40000"/>
                        <a:lumOff val="60000"/>
                      </a:schemeClr>
                    </a:solidFill>
                  </a:tcPr>
                </a:tc>
                <a:tc>
                  <a:txBody>
                    <a:bodyPr/>
                    <a:lstStyle/>
                    <a:p>
                      <a:r>
                        <a:rPr lang="en-US"/>
                        <a:t>100</a:t>
                      </a:r>
                      <a:endParaRPr lang="en-IN"/>
                    </a:p>
                  </a:txBody>
                  <a:tcPr>
                    <a:solidFill>
                      <a:schemeClr val="accent1">
                        <a:lumMod val="40000"/>
                        <a:lumOff val="60000"/>
                      </a:schemeClr>
                    </a:solidFill>
                  </a:tcPr>
                </a:tc>
                <a:tc>
                  <a:txBody>
                    <a:bodyPr/>
                    <a:lstStyle/>
                    <a:p>
                      <a:r>
                        <a:rPr lang="en-US"/>
                        <a:t>900</a:t>
                      </a:r>
                      <a:endParaRPr lang="en-IN"/>
                    </a:p>
                  </a:txBody>
                  <a:tcPr>
                    <a:solidFill>
                      <a:schemeClr val="accent1">
                        <a:lumMod val="40000"/>
                        <a:lumOff val="60000"/>
                      </a:schemeClr>
                    </a:solidFill>
                  </a:tcPr>
                </a:tc>
                <a:extLst>
                  <a:ext uri="{0D108BD9-81ED-4DB2-BD59-A6C34878D82A}">
                    <a16:rowId xmlns:a16="http://schemas.microsoft.com/office/drawing/2014/main" xmlns="" val="10003"/>
                  </a:ext>
                </a:extLst>
              </a:tr>
              <a:tr h="370840">
                <a:tc>
                  <a:txBody>
                    <a:bodyPr/>
                    <a:lstStyle/>
                    <a:p>
                      <a:r>
                        <a:rPr lang="en-US"/>
                        <a:t>N</a:t>
                      </a:r>
                      <a:endParaRPr lang="en-IN"/>
                    </a:p>
                  </a:txBody>
                  <a:tcPr>
                    <a:solidFill>
                      <a:schemeClr val="bg1">
                        <a:lumMod val="95000"/>
                      </a:schemeClr>
                    </a:solidFill>
                  </a:tcPr>
                </a:tc>
                <a:tc>
                  <a:txBody>
                    <a:bodyPr/>
                    <a:lstStyle/>
                    <a:p>
                      <a:r>
                        <a:rPr lang="en-US"/>
                        <a:t>X</a:t>
                      </a:r>
                      <a:endParaRPr lang="en-IN"/>
                    </a:p>
                  </a:txBody>
                  <a:tcPr>
                    <a:solidFill>
                      <a:schemeClr val="bg1">
                        <a:lumMod val="95000"/>
                      </a:schemeClr>
                    </a:solidFill>
                  </a:tcPr>
                </a:tc>
                <a:tc>
                  <a:txBody>
                    <a:bodyPr/>
                    <a:lstStyle/>
                    <a:p>
                      <a:r>
                        <a:rPr lang="en-US"/>
                        <a:t>NM</a:t>
                      </a:r>
                      <a:endParaRPr lang="en-IN"/>
                    </a:p>
                  </a:txBody>
                  <a:tcPr>
                    <a:solidFill>
                      <a:schemeClr val="bg1">
                        <a:lumMod val="95000"/>
                      </a:schemeClr>
                    </a:solidFill>
                  </a:tcPr>
                </a:tc>
                <a:extLst>
                  <a:ext uri="{0D108BD9-81ED-4DB2-BD59-A6C34878D82A}">
                    <a16:rowId xmlns:a16="http://schemas.microsoft.com/office/drawing/2014/main" xmlns="" val="10004"/>
                  </a:ext>
                </a:extLst>
              </a:tr>
            </a:tbl>
          </a:graphicData>
        </a:graphic>
      </p:graphicFrame>
      <p:sp>
        <p:nvSpPr>
          <p:cNvPr id="5" name="Rectangle 4"/>
          <p:cNvSpPr/>
          <p:nvPr/>
        </p:nvSpPr>
        <p:spPr>
          <a:xfrm>
            <a:off x="5622150" y="1090057"/>
            <a:ext cx="1280160" cy="8382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Segment 1</a:t>
            </a:r>
            <a:endParaRPr lang="en-IN">
              <a:solidFill>
                <a:schemeClr val="tx1"/>
              </a:solidFill>
            </a:endParaRPr>
          </a:p>
        </p:txBody>
      </p:sp>
      <p:sp>
        <p:nvSpPr>
          <p:cNvPr id="6" name="Rectangle 5"/>
          <p:cNvSpPr/>
          <p:nvPr/>
        </p:nvSpPr>
        <p:spPr>
          <a:xfrm>
            <a:off x="5622150" y="2234644"/>
            <a:ext cx="1280160" cy="1676400"/>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Segment 2</a:t>
            </a:r>
            <a:endParaRPr lang="en-IN">
              <a:solidFill>
                <a:schemeClr val="tx1"/>
              </a:solidFill>
            </a:endParaRPr>
          </a:p>
        </p:txBody>
      </p:sp>
      <p:sp>
        <p:nvSpPr>
          <p:cNvPr id="7" name="Rectangle 6"/>
          <p:cNvSpPr/>
          <p:nvPr/>
        </p:nvSpPr>
        <p:spPr>
          <a:xfrm>
            <a:off x="5622150" y="4217431"/>
            <a:ext cx="1280160" cy="7620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Segment 3</a:t>
            </a:r>
            <a:endParaRPr lang="en-IN">
              <a:solidFill>
                <a:schemeClr val="tx1"/>
              </a:solidFill>
            </a:endParaRPr>
          </a:p>
        </p:txBody>
      </p:sp>
      <p:sp>
        <p:nvSpPr>
          <p:cNvPr id="8" name="Rectangle 7"/>
          <p:cNvSpPr/>
          <p:nvPr/>
        </p:nvSpPr>
        <p:spPr>
          <a:xfrm>
            <a:off x="5622150" y="5285819"/>
            <a:ext cx="1280160" cy="452438"/>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Segment N</a:t>
            </a:r>
            <a:endParaRPr lang="en-IN">
              <a:solidFill>
                <a:schemeClr val="tx1"/>
              </a:solidFill>
            </a:endParaRPr>
          </a:p>
        </p:txBody>
      </p:sp>
      <p:sp>
        <p:nvSpPr>
          <p:cNvPr id="9" name="TextBox 8"/>
          <p:cNvSpPr txBox="1"/>
          <p:nvPr/>
        </p:nvSpPr>
        <p:spPr>
          <a:xfrm>
            <a:off x="5652630" y="682625"/>
            <a:ext cx="1219200" cy="369332"/>
          </a:xfrm>
          <a:prstGeom prst="rect">
            <a:avLst/>
          </a:prstGeom>
          <a:noFill/>
        </p:spPr>
        <p:txBody>
          <a:bodyPr wrap="square" rtlCol="0">
            <a:spAutoFit/>
          </a:bodyPr>
          <a:lstStyle/>
          <a:p>
            <a:pPr algn="ctr"/>
            <a:r>
              <a:rPr lang="en-US"/>
              <a:t>Process P</a:t>
            </a:r>
            <a:endParaRPr lang="en-IN"/>
          </a:p>
        </p:txBody>
      </p:sp>
      <p:sp>
        <p:nvSpPr>
          <p:cNvPr id="10" name="TextBox 9"/>
          <p:cNvSpPr txBox="1"/>
          <p:nvPr/>
        </p:nvSpPr>
        <p:spPr>
          <a:xfrm>
            <a:off x="7137092" y="720725"/>
            <a:ext cx="2070989" cy="369332"/>
          </a:xfrm>
          <a:prstGeom prst="rect">
            <a:avLst/>
          </a:prstGeom>
          <a:noFill/>
        </p:spPr>
        <p:txBody>
          <a:bodyPr wrap="square" rtlCol="0">
            <a:spAutoFit/>
          </a:bodyPr>
          <a:lstStyle/>
          <a:p>
            <a:pPr algn="ctr"/>
            <a:r>
              <a:rPr lang="en-US"/>
              <a:t>Segment Map Table</a:t>
            </a:r>
            <a:endParaRPr lang="en-IN"/>
          </a:p>
        </p:txBody>
      </p:sp>
      <p:graphicFrame>
        <p:nvGraphicFramePr>
          <p:cNvPr id="11" name="Table 10"/>
          <p:cNvGraphicFramePr>
            <a:graphicFrameLocks noGrp="1"/>
          </p:cNvGraphicFramePr>
          <p:nvPr>
            <p:extLst>
              <p:ext uri="{D42A27DB-BD31-4B8C-83A1-F6EECF244321}">
                <p14:modId xmlns:p14="http://schemas.microsoft.com/office/powerpoint/2010/main" val="1701227743"/>
              </p:ext>
            </p:extLst>
          </p:nvPr>
        </p:nvGraphicFramePr>
        <p:xfrm>
          <a:off x="10025072" y="1010801"/>
          <a:ext cx="2011680" cy="48209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xmlns="" val="20000"/>
                    </a:ext>
                  </a:extLst>
                </a:gridCol>
              </a:tblGrid>
              <a:tr h="370840">
                <a:tc>
                  <a:txBody>
                    <a:bodyPr/>
                    <a:lstStyle/>
                    <a:p>
                      <a:pPr algn="ctr"/>
                      <a:r>
                        <a:rPr lang="en-US"/>
                        <a:t>Physical Memory</a:t>
                      </a:r>
                      <a:endParaRPr lang="en-IN"/>
                    </a:p>
                  </a:txBody>
                  <a:tcPr/>
                </a:tc>
                <a:extLst>
                  <a:ext uri="{0D108BD9-81ED-4DB2-BD59-A6C34878D82A}">
                    <a16:rowId xmlns:a16="http://schemas.microsoft.com/office/drawing/2014/main" xmlns="" val="10000"/>
                  </a:ext>
                </a:extLst>
              </a:tr>
              <a:tr h="370840">
                <a:tc>
                  <a:txBody>
                    <a:bodyPr/>
                    <a:lstStyle/>
                    <a:p>
                      <a:pPr algn="ctr"/>
                      <a:endParaRPr lang="en-IN"/>
                    </a:p>
                  </a:txBody>
                  <a:tcPr/>
                </a:tc>
                <a:extLst>
                  <a:ext uri="{0D108BD9-81ED-4DB2-BD59-A6C34878D82A}">
                    <a16:rowId xmlns:a16="http://schemas.microsoft.com/office/drawing/2014/main" xmlns="" val="10001"/>
                  </a:ext>
                </a:extLst>
              </a:tr>
              <a:tr h="370840">
                <a:tc>
                  <a:txBody>
                    <a:bodyPr/>
                    <a:lstStyle/>
                    <a:p>
                      <a:pPr algn="ctr"/>
                      <a:r>
                        <a:rPr lang="en-US"/>
                        <a:t>100</a:t>
                      </a:r>
                      <a:endParaRPr lang="en-IN"/>
                    </a:p>
                  </a:txBody>
                  <a:tcPr>
                    <a:solidFill>
                      <a:schemeClr val="accent3"/>
                    </a:solidFill>
                  </a:tcPr>
                </a:tc>
                <a:extLst>
                  <a:ext uri="{0D108BD9-81ED-4DB2-BD59-A6C34878D82A}">
                    <a16:rowId xmlns:a16="http://schemas.microsoft.com/office/drawing/2014/main" xmlns="" val="10002"/>
                  </a:ext>
                </a:extLst>
              </a:tr>
              <a:tr h="370840">
                <a:tc>
                  <a:txBody>
                    <a:bodyPr/>
                    <a:lstStyle/>
                    <a:p>
                      <a:pPr algn="ctr"/>
                      <a:r>
                        <a:rPr lang="en-US"/>
                        <a:t>200</a:t>
                      </a:r>
                      <a:endParaRPr lang="en-IN"/>
                    </a:p>
                  </a:txBody>
                  <a:tcPr>
                    <a:solidFill>
                      <a:schemeClr val="accent3"/>
                    </a:solidFill>
                  </a:tcPr>
                </a:tc>
                <a:extLst>
                  <a:ext uri="{0D108BD9-81ED-4DB2-BD59-A6C34878D82A}">
                    <a16:rowId xmlns:a16="http://schemas.microsoft.com/office/drawing/2014/main" xmlns="" val="10003"/>
                  </a:ext>
                </a:extLst>
              </a:tr>
              <a:tr h="370840">
                <a:tc>
                  <a:txBody>
                    <a:bodyPr/>
                    <a:lstStyle/>
                    <a:p>
                      <a:pPr algn="ctr"/>
                      <a:r>
                        <a:rPr lang="en-US"/>
                        <a:t>300</a:t>
                      </a:r>
                      <a:endParaRPr lang="en-IN"/>
                    </a:p>
                  </a:txBody>
                  <a:tcPr>
                    <a:solidFill>
                      <a:schemeClr val="accent3"/>
                    </a:solidFill>
                  </a:tcPr>
                </a:tc>
                <a:extLst>
                  <a:ext uri="{0D108BD9-81ED-4DB2-BD59-A6C34878D82A}">
                    <a16:rowId xmlns:a16="http://schemas.microsoft.com/office/drawing/2014/main" xmlns="" val="10004"/>
                  </a:ext>
                </a:extLst>
              </a:tr>
              <a:tr h="370840">
                <a:tc>
                  <a:txBody>
                    <a:bodyPr/>
                    <a:lstStyle/>
                    <a:p>
                      <a:pPr algn="ctr"/>
                      <a:r>
                        <a:rPr lang="en-US"/>
                        <a:t>400</a:t>
                      </a:r>
                      <a:endParaRPr lang="en-IN"/>
                    </a:p>
                  </a:txBody>
                  <a:tcPr>
                    <a:solidFill>
                      <a:schemeClr val="accent6">
                        <a:lumMod val="60000"/>
                        <a:lumOff val="40000"/>
                      </a:schemeClr>
                    </a:solidFill>
                  </a:tcPr>
                </a:tc>
                <a:extLst>
                  <a:ext uri="{0D108BD9-81ED-4DB2-BD59-A6C34878D82A}">
                    <a16:rowId xmlns:a16="http://schemas.microsoft.com/office/drawing/2014/main" xmlns="" val="10005"/>
                  </a:ext>
                </a:extLst>
              </a:tr>
              <a:tr h="370840">
                <a:tc>
                  <a:txBody>
                    <a:bodyPr/>
                    <a:lstStyle/>
                    <a:p>
                      <a:pPr algn="ctr"/>
                      <a:r>
                        <a:rPr lang="en-US"/>
                        <a:t>500</a:t>
                      </a:r>
                      <a:endParaRPr lang="en-IN"/>
                    </a:p>
                  </a:txBody>
                  <a:tcPr>
                    <a:solidFill>
                      <a:schemeClr val="accent6">
                        <a:lumMod val="60000"/>
                        <a:lumOff val="40000"/>
                      </a:schemeClr>
                    </a:solidFill>
                  </a:tcPr>
                </a:tc>
                <a:extLst>
                  <a:ext uri="{0D108BD9-81ED-4DB2-BD59-A6C34878D82A}">
                    <a16:rowId xmlns:a16="http://schemas.microsoft.com/office/drawing/2014/main" xmlns="" val="10006"/>
                  </a:ext>
                </a:extLst>
              </a:tr>
              <a:tr h="370840">
                <a:tc>
                  <a:txBody>
                    <a:bodyPr/>
                    <a:lstStyle/>
                    <a:p>
                      <a:pPr algn="ctr"/>
                      <a:r>
                        <a:rPr lang="en-US"/>
                        <a:t>600</a:t>
                      </a:r>
                      <a:endParaRPr lang="en-IN"/>
                    </a:p>
                  </a:txBody>
                  <a:tcPr>
                    <a:solidFill>
                      <a:schemeClr val="accent6">
                        <a:lumMod val="60000"/>
                        <a:lumOff val="40000"/>
                      </a:schemeClr>
                    </a:solidFill>
                  </a:tcPr>
                </a:tc>
                <a:extLst>
                  <a:ext uri="{0D108BD9-81ED-4DB2-BD59-A6C34878D82A}">
                    <a16:rowId xmlns:a16="http://schemas.microsoft.com/office/drawing/2014/main" xmlns="" val="10007"/>
                  </a:ext>
                </a:extLst>
              </a:tr>
              <a:tr h="370840">
                <a:tc>
                  <a:txBody>
                    <a:bodyPr/>
                    <a:lstStyle/>
                    <a:p>
                      <a:pPr algn="ctr"/>
                      <a:r>
                        <a:rPr lang="en-US"/>
                        <a:t>700</a:t>
                      </a:r>
                      <a:endParaRPr lang="en-IN"/>
                    </a:p>
                  </a:txBody>
                  <a:tcPr>
                    <a:solidFill>
                      <a:schemeClr val="accent6">
                        <a:lumMod val="60000"/>
                        <a:lumOff val="40000"/>
                      </a:schemeClr>
                    </a:solidFill>
                  </a:tcPr>
                </a:tc>
                <a:extLst>
                  <a:ext uri="{0D108BD9-81ED-4DB2-BD59-A6C34878D82A}">
                    <a16:rowId xmlns:a16="http://schemas.microsoft.com/office/drawing/2014/main" xmlns="" val="10008"/>
                  </a:ext>
                </a:extLst>
              </a:tr>
              <a:tr h="370840">
                <a:tc>
                  <a:txBody>
                    <a:bodyPr/>
                    <a:lstStyle/>
                    <a:p>
                      <a:pPr algn="ctr"/>
                      <a:r>
                        <a:rPr lang="en-US"/>
                        <a:t>800</a:t>
                      </a:r>
                      <a:endParaRPr lang="en-IN"/>
                    </a:p>
                  </a:txBody>
                  <a:tcPr>
                    <a:solidFill>
                      <a:schemeClr val="accent6">
                        <a:lumMod val="60000"/>
                        <a:lumOff val="40000"/>
                      </a:schemeClr>
                    </a:solidFill>
                  </a:tcPr>
                </a:tc>
                <a:extLst>
                  <a:ext uri="{0D108BD9-81ED-4DB2-BD59-A6C34878D82A}">
                    <a16:rowId xmlns:a16="http://schemas.microsoft.com/office/drawing/2014/main" xmlns="" val="10009"/>
                  </a:ext>
                </a:extLst>
              </a:tr>
              <a:tr h="370840">
                <a:tc>
                  <a:txBody>
                    <a:bodyPr/>
                    <a:lstStyle/>
                    <a:p>
                      <a:pPr algn="ctr"/>
                      <a:r>
                        <a:rPr lang="en-US"/>
                        <a:t>900</a:t>
                      </a:r>
                      <a:endParaRPr lang="en-IN"/>
                    </a:p>
                  </a:txBody>
                  <a:tcPr>
                    <a:solidFill>
                      <a:schemeClr val="accent1">
                        <a:lumMod val="40000"/>
                        <a:lumOff val="60000"/>
                      </a:schemeClr>
                    </a:solidFill>
                  </a:tcPr>
                </a:tc>
                <a:extLst>
                  <a:ext uri="{0D108BD9-81ED-4DB2-BD59-A6C34878D82A}">
                    <a16:rowId xmlns:a16="http://schemas.microsoft.com/office/drawing/2014/main" xmlns="" val="10010"/>
                  </a:ext>
                </a:extLst>
              </a:tr>
              <a:tr h="370840">
                <a:tc>
                  <a:txBody>
                    <a:bodyPr/>
                    <a:lstStyle/>
                    <a:p>
                      <a:pPr algn="ctr"/>
                      <a:r>
                        <a:rPr lang="en-US"/>
                        <a:t>1000</a:t>
                      </a:r>
                      <a:endParaRPr lang="en-IN"/>
                    </a:p>
                  </a:txBody>
                  <a:tcPr>
                    <a:solidFill>
                      <a:schemeClr val="bg1">
                        <a:lumMod val="95000"/>
                      </a:schemeClr>
                    </a:solidFill>
                  </a:tcPr>
                </a:tc>
                <a:extLst>
                  <a:ext uri="{0D108BD9-81ED-4DB2-BD59-A6C34878D82A}">
                    <a16:rowId xmlns:a16="http://schemas.microsoft.com/office/drawing/2014/main" xmlns="" val="10011"/>
                  </a:ext>
                </a:extLst>
              </a:tr>
              <a:tr h="370840">
                <a:tc>
                  <a:txBody>
                    <a:bodyPr/>
                    <a:lstStyle/>
                    <a:p>
                      <a:pPr algn="ctr"/>
                      <a:r>
                        <a:rPr lang="en-US"/>
                        <a:t>1100</a:t>
                      </a:r>
                      <a:endParaRPr lang="en-IN"/>
                    </a:p>
                  </a:txBody>
                  <a:tcPr>
                    <a:solidFill>
                      <a:schemeClr val="bg1">
                        <a:lumMod val="95000"/>
                      </a:schemeClr>
                    </a:solidFill>
                  </a:tcPr>
                </a:tc>
                <a:extLst>
                  <a:ext uri="{0D108BD9-81ED-4DB2-BD59-A6C34878D82A}">
                    <a16:rowId xmlns:a16="http://schemas.microsoft.com/office/drawing/2014/main" xmlns="" val="10012"/>
                  </a:ext>
                </a:extLst>
              </a:tr>
            </a:tbl>
          </a:graphicData>
        </a:graphic>
      </p:graphicFrame>
      <p:cxnSp>
        <p:nvCxnSpPr>
          <p:cNvPr id="12" name="Elbow Connector 11"/>
          <p:cNvCxnSpPr/>
          <p:nvPr/>
        </p:nvCxnSpPr>
        <p:spPr>
          <a:xfrm>
            <a:off x="9200461" y="2297271"/>
            <a:ext cx="824611" cy="773986"/>
          </a:xfrm>
          <a:prstGeom prst="bentConnector3">
            <a:avLst>
              <a:gd name="adj1" fmla="val 50000"/>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12"/>
          <p:cNvCxnSpPr/>
          <p:nvPr/>
        </p:nvCxnSpPr>
        <p:spPr>
          <a:xfrm rot="16200000" flipH="1">
            <a:off x="8419434" y="3299301"/>
            <a:ext cx="2220675" cy="990599"/>
          </a:xfrm>
          <a:prstGeom prst="bentConnector3">
            <a:avLst>
              <a:gd name="adj1" fmla="val 9954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9200461" y="1928257"/>
            <a:ext cx="824610" cy="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059793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up)">
                                      <p:cBhvr>
                                        <p:cTn id="32" dur="500"/>
                                        <p:tgtEl>
                                          <p:spTgt spid="12"/>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up)">
                                      <p:cBhvr>
                                        <p:cTn id="37" dur="500"/>
                                        <p:tgtEl>
                                          <p:spTgt spid="13"/>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Paging VS Segmentation</a:t>
            </a:r>
          </a:p>
        </p:txBody>
      </p:sp>
      <p:sp>
        <p:nvSpPr>
          <p:cNvPr id="3" name="Content Placeholder 2"/>
          <p:cNvSpPr>
            <a:spLocks noGrp="1"/>
          </p:cNvSpPr>
          <p:nvPr>
            <p:ph idx="1"/>
          </p:nvPr>
        </p:nvSpPr>
        <p:spPr>
          <a:xfrm>
            <a:off x="131180" y="863444"/>
            <a:ext cx="11929641" cy="5590565"/>
          </a:xfrm>
        </p:spPr>
        <p:txBody>
          <a:bodyPr/>
          <a:lstStyle/>
          <a:p>
            <a:endParaRPr lang="en-US"/>
          </a:p>
        </p:txBody>
      </p:sp>
      <p:graphicFrame>
        <p:nvGraphicFramePr>
          <p:cNvPr id="4" name="Content Placeholder 4">
            <a:extLst>
              <a:ext uri="{FF2B5EF4-FFF2-40B4-BE49-F238E27FC236}">
                <a16:creationId xmlns:a16="http://schemas.microsoft.com/office/drawing/2014/main" xmlns="" id="{26B864CA-85CD-4666-B9D1-870ED08B272C}"/>
              </a:ext>
            </a:extLst>
          </p:cNvPr>
          <p:cNvGraphicFramePr/>
          <p:nvPr>
            <p:extLst>
              <p:ext uri="{D42A27DB-BD31-4B8C-83A1-F6EECF244321}">
                <p14:modId xmlns:p14="http://schemas.microsoft.com/office/powerpoint/2010/main" val="881096092"/>
              </p:ext>
            </p:extLst>
          </p:nvPr>
        </p:nvGraphicFramePr>
        <p:xfrm>
          <a:off x="226012" y="871110"/>
          <a:ext cx="11795760" cy="630000"/>
        </p:xfrm>
        <a:graphic>
          <a:graphicData uri="http://schemas.openxmlformats.org/drawingml/2006/table">
            <a:tbl>
              <a:tblPr firstRow="1" bandRow="1">
                <a:tableStyleId>{8EC20E35-A176-4012-BC5E-935CFFF8708E}</a:tableStyleId>
              </a:tblPr>
              <a:tblGrid>
                <a:gridCol w="5897880">
                  <a:extLst>
                    <a:ext uri="{9D8B030D-6E8A-4147-A177-3AD203B41FA5}">
                      <a16:colId xmlns:a16="http://schemas.microsoft.com/office/drawing/2014/main" xmlns="" val="20000"/>
                    </a:ext>
                  </a:extLst>
                </a:gridCol>
                <a:gridCol w="5897880">
                  <a:extLst>
                    <a:ext uri="{9D8B030D-6E8A-4147-A177-3AD203B41FA5}">
                      <a16:colId xmlns:a16="http://schemas.microsoft.com/office/drawing/2014/main" xmlns="" val="20001"/>
                    </a:ext>
                  </a:extLst>
                </a:gridCol>
              </a:tblGrid>
              <a:tr h="630000">
                <a:tc>
                  <a:txBody>
                    <a:bodyPr/>
                    <a:lstStyle/>
                    <a:p>
                      <a:pPr algn="l"/>
                      <a:r>
                        <a:rPr lang="en-US" sz="2400" b="1">
                          <a:solidFill>
                            <a:schemeClr val="tx1"/>
                          </a:solidFill>
                        </a:rPr>
                        <a:t>Paging</a:t>
                      </a:r>
                      <a:endParaRPr lang="en-US" b="1">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2400" b="1">
                          <a:solidFill>
                            <a:schemeClr val="tx1"/>
                          </a:solidFill>
                        </a:rPr>
                        <a:t>Segmentation</a:t>
                      </a:r>
                      <a:endParaRPr lang="en-US" sz="1800" b="1" kern="120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val="10001"/>
                  </a:ext>
                </a:extLst>
              </a:tr>
            </a:tbl>
          </a:graphicData>
        </a:graphic>
      </p:graphicFrame>
      <p:graphicFrame>
        <p:nvGraphicFramePr>
          <p:cNvPr id="5" name="Content Placeholder 4">
            <a:extLst>
              <a:ext uri="{FF2B5EF4-FFF2-40B4-BE49-F238E27FC236}">
                <a16:creationId xmlns:a16="http://schemas.microsoft.com/office/drawing/2014/main" xmlns="" id="{26B864CA-85CD-4666-B9D1-870ED08B272C}"/>
              </a:ext>
            </a:extLst>
          </p:cNvPr>
          <p:cNvGraphicFramePr/>
          <p:nvPr>
            <p:extLst>
              <p:ext uri="{D42A27DB-BD31-4B8C-83A1-F6EECF244321}">
                <p14:modId xmlns:p14="http://schemas.microsoft.com/office/powerpoint/2010/main" val="1865891167"/>
              </p:ext>
            </p:extLst>
          </p:nvPr>
        </p:nvGraphicFramePr>
        <p:xfrm>
          <a:off x="226012" y="1499583"/>
          <a:ext cx="11795760" cy="1554480"/>
        </p:xfrm>
        <a:graphic>
          <a:graphicData uri="http://schemas.openxmlformats.org/drawingml/2006/table">
            <a:tbl>
              <a:tblPr firstRow="1" bandRow="1">
                <a:tableStyleId>{8EC20E35-A176-4012-BC5E-935CFFF8708E}</a:tableStyleId>
              </a:tblPr>
              <a:tblGrid>
                <a:gridCol w="5897880">
                  <a:extLst>
                    <a:ext uri="{9D8B030D-6E8A-4147-A177-3AD203B41FA5}">
                      <a16:colId xmlns:a16="http://schemas.microsoft.com/office/drawing/2014/main" xmlns="" val="20000"/>
                    </a:ext>
                  </a:extLst>
                </a:gridCol>
                <a:gridCol w="5897880">
                  <a:extLst>
                    <a:ext uri="{9D8B030D-6E8A-4147-A177-3AD203B41FA5}">
                      <a16:colId xmlns:a16="http://schemas.microsoft.com/office/drawing/2014/main" xmlns="" val="20001"/>
                    </a:ext>
                  </a:extLst>
                </a:gridCol>
              </a:tblGrid>
              <a:tr h="540000">
                <a:tc>
                  <a:txBody>
                    <a:bodyPr/>
                    <a:lstStyle/>
                    <a:p>
                      <a:r>
                        <a:rPr lang="en-US" sz="2400" b="0" kern="1200">
                          <a:solidFill>
                            <a:schemeClr val="dk1"/>
                          </a:solidFill>
                          <a:latin typeface="+mn-lt"/>
                          <a:ea typeface="+mn-ea"/>
                          <a:cs typeface="+mn-cs"/>
                        </a:rPr>
                        <a:t>Paging was invented to </a:t>
                      </a:r>
                      <a:r>
                        <a:rPr lang="en-US" sz="2400" b="0" kern="1200">
                          <a:solidFill>
                            <a:schemeClr val="accent6"/>
                          </a:solidFill>
                          <a:latin typeface="+mn-lt"/>
                          <a:ea typeface="+mn-ea"/>
                          <a:cs typeface="+mn-cs"/>
                        </a:rPr>
                        <a:t>get large address space without having to buy more physical memory</a:t>
                      </a:r>
                      <a:r>
                        <a:rPr lang="en-US" sz="2400" b="0" kern="1200">
                          <a:solidFill>
                            <a:schemeClr val="dk1"/>
                          </a:solidFill>
                          <a:latin typeface="+mn-lt"/>
                          <a:ea typeface="+mn-ea"/>
                          <a:cs typeface="+mn-cs"/>
                        </a:rPr>
                        <a: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400" b="0" kern="1200">
                          <a:solidFill>
                            <a:schemeClr val="dk1"/>
                          </a:solidFill>
                          <a:latin typeface="+mn-lt"/>
                          <a:ea typeface="+mn-ea"/>
                          <a:cs typeface="+mn-cs"/>
                        </a:rPr>
                        <a:t>Segmentation was invented to </a:t>
                      </a:r>
                      <a:r>
                        <a:rPr lang="en-US" sz="2400" b="0" kern="1200">
                          <a:solidFill>
                            <a:schemeClr val="accent6"/>
                          </a:solidFill>
                          <a:latin typeface="+mn-lt"/>
                          <a:ea typeface="+mn-ea"/>
                          <a:cs typeface="+mn-cs"/>
                        </a:rPr>
                        <a:t>allow programs and data to be broken up into logically independent address space and to add sharing and protection</a:t>
                      </a:r>
                      <a:r>
                        <a:rPr lang="en-US" sz="2400" b="0" kern="1200">
                          <a:solidFill>
                            <a:schemeClr val="dk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bl>
          </a:graphicData>
        </a:graphic>
      </p:graphicFrame>
      <p:graphicFrame>
        <p:nvGraphicFramePr>
          <p:cNvPr id="6" name="Content Placeholder 4">
            <a:extLst>
              <a:ext uri="{FF2B5EF4-FFF2-40B4-BE49-F238E27FC236}">
                <a16:creationId xmlns:a16="http://schemas.microsoft.com/office/drawing/2014/main" xmlns="" id="{26B864CA-85CD-4666-B9D1-870ED08B272C}"/>
              </a:ext>
            </a:extLst>
          </p:cNvPr>
          <p:cNvGraphicFramePr/>
          <p:nvPr>
            <p:extLst>
              <p:ext uri="{D42A27DB-BD31-4B8C-83A1-F6EECF244321}">
                <p14:modId xmlns:p14="http://schemas.microsoft.com/office/powerpoint/2010/main" val="4005670964"/>
              </p:ext>
            </p:extLst>
          </p:nvPr>
        </p:nvGraphicFramePr>
        <p:xfrm>
          <a:off x="226012" y="3055711"/>
          <a:ext cx="11795760" cy="822960"/>
        </p:xfrm>
        <a:graphic>
          <a:graphicData uri="http://schemas.openxmlformats.org/drawingml/2006/table">
            <a:tbl>
              <a:tblPr firstRow="1" bandRow="1">
                <a:tableStyleId>{8EC20E35-A176-4012-BC5E-935CFFF8708E}</a:tableStyleId>
              </a:tblPr>
              <a:tblGrid>
                <a:gridCol w="5897880">
                  <a:extLst>
                    <a:ext uri="{9D8B030D-6E8A-4147-A177-3AD203B41FA5}">
                      <a16:colId xmlns:a16="http://schemas.microsoft.com/office/drawing/2014/main" xmlns="" val="20000"/>
                    </a:ext>
                  </a:extLst>
                </a:gridCol>
                <a:gridCol w="5897880">
                  <a:extLst>
                    <a:ext uri="{9D8B030D-6E8A-4147-A177-3AD203B41FA5}">
                      <a16:colId xmlns:a16="http://schemas.microsoft.com/office/drawing/2014/main" xmlns="" val="20001"/>
                    </a:ext>
                  </a:extLst>
                </a:gridCol>
              </a:tblGrid>
              <a:tr h="540000">
                <a:tc>
                  <a:txBody>
                    <a:bodyPr/>
                    <a:lstStyle/>
                    <a:p>
                      <a:r>
                        <a:rPr lang="en-US" sz="2400" b="0" kern="1200">
                          <a:solidFill>
                            <a:schemeClr val="dk1"/>
                          </a:solidFill>
                          <a:latin typeface="+mn-lt"/>
                          <a:ea typeface="+mn-ea"/>
                          <a:cs typeface="+mn-cs"/>
                        </a:rPr>
                        <a:t>The </a:t>
                      </a:r>
                      <a:r>
                        <a:rPr lang="en-US" sz="2400" b="0" kern="1200">
                          <a:solidFill>
                            <a:schemeClr val="accent6"/>
                          </a:solidFill>
                          <a:latin typeface="+mn-lt"/>
                          <a:ea typeface="+mn-ea"/>
                          <a:cs typeface="+mn-cs"/>
                        </a:rPr>
                        <a:t>programmer does not aware </a:t>
                      </a:r>
                      <a:r>
                        <a:rPr lang="en-US" sz="2400" b="0" kern="1200">
                          <a:solidFill>
                            <a:schemeClr val="dk1"/>
                          </a:solidFill>
                          <a:latin typeface="+mn-lt"/>
                          <a:ea typeface="+mn-ea"/>
                          <a:cs typeface="+mn-cs"/>
                        </a:rPr>
                        <a:t>that paging is used.</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400" b="0" kern="1200">
                          <a:solidFill>
                            <a:schemeClr val="dk1"/>
                          </a:solidFill>
                          <a:latin typeface="+mn-lt"/>
                          <a:ea typeface="+mn-ea"/>
                          <a:cs typeface="+mn-cs"/>
                        </a:rPr>
                        <a:t>The </a:t>
                      </a:r>
                      <a:r>
                        <a:rPr lang="en-US" sz="2400" b="0" kern="1200">
                          <a:solidFill>
                            <a:schemeClr val="accent6"/>
                          </a:solidFill>
                          <a:latin typeface="+mn-lt"/>
                          <a:ea typeface="+mn-ea"/>
                          <a:cs typeface="+mn-cs"/>
                        </a:rPr>
                        <a:t>programmer is aware</a:t>
                      </a:r>
                      <a:r>
                        <a:rPr lang="en-US" sz="2400" b="0" kern="1200">
                          <a:solidFill>
                            <a:schemeClr val="dk1"/>
                          </a:solidFill>
                          <a:latin typeface="+mn-lt"/>
                          <a:ea typeface="+mn-ea"/>
                          <a:cs typeface="+mn-cs"/>
                        </a:rPr>
                        <a:t> that segmentation is used.</a:t>
                      </a:r>
                      <a:endParaRPr lang="en-GB" sz="2400" b="0" kern="1200">
                        <a:solidFill>
                          <a:schemeClr val="dk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bl>
          </a:graphicData>
        </a:graphic>
      </p:graphicFrame>
      <p:graphicFrame>
        <p:nvGraphicFramePr>
          <p:cNvPr id="7" name="Content Placeholder 4">
            <a:extLst>
              <a:ext uri="{FF2B5EF4-FFF2-40B4-BE49-F238E27FC236}">
                <a16:creationId xmlns:a16="http://schemas.microsoft.com/office/drawing/2014/main" xmlns="" id="{26B864CA-85CD-4666-B9D1-870ED08B272C}"/>
              </a:ext>
            </a:extLst>
          </p:cNvPr>
          <p:cNvGraphicFramePr/>
          <p:nvPr>
            <p:extLst>
              <p:ext uri="{D42A27DB-BD31-4B8C-83A1-F6EECF244321}">
                <p14:modId xmlns:p14="http://schemas.microsoft.com/office/powerpoint/2010/main" val="3328033262"/>
              </p:ext>
            </p:extLst>
          </p:nvPr>
        </p:nvGraphicFramePr>
        <p:xfrm>
          <a:off x="226012" y="3883494"/>
          <a:ext cx="11795760" cy="822960"/>
        </p:xfrm>
        <a:graphic>
          <a:graphicData uri="http://schemas.openxmlformats.org/drawingml/2006/table">
            <a:tbl>
              <a:tblPr firstRow="1" bandRow="1">
                <a:tableStyleId>{8EC20E35-A176-4012-BC5E-935CFFF8708E}</a:tableStyleId>
              </a:tblPr>
              <a:tblGrid>
                <a:gridCol w="5897880">
                  <a:extLst>
                    <a:ext uri="{9D8B030D-6E8A-4147-A177-3AD203B41FA5}">
                      <a16:colId xmlns:a16="http://schemas.microsoft.com/office/drawing/2014/main" xmlns="" val="20000"/>
                    </a:ext>
                  </a:extLst>
                </a:gridCol>
                <a:gridCol w="5897880">
                  <a:extLst>
                    <a:ext uri="{9D8B030D-6E8A-4147-A177-3AD203B41FA5}">
                      <a16:colId xmlns:a16="http://schemas.microsoft.com/office/drawing/2014/main" xmlns="" val="20001"/>
                    </a:ext>
                  </a:extLst>
                </a:gridCol>
              </a:tblGrid>
              <a:tr h="540000">
                <a:tc>
                  <a:txBody>
                    <a:bodyPr/>
                    <a:lstStyle/>
                    <a:p>
                      <a:r>
                        <a:rPr lang="en-US" sz="2400" b="0" kern="1200">
                          <a:solidFill>
                            <a:schemeClr val="accent6"/>
                          </a:solidFill>
                          <a:latin typeface="+mn-lt"/>
                          <a:ea typeface="+mn-ea"/>
                          <a:cs typeface="+mn-cs"/>
                        </a:rPr>
                        <a:t>Procedure and data cannot be distinguished and protected separately</a:t>
                      </a:r>
                      <a:r>
                        <a:rPr lang="en-US" sz="2400" b="0" kern="1200">
                          <a:solidFill>
                            <a:schemeClr val="dk1"/>
                          </a:solidFill>
                          <a:latin typeface="+mn-lt"/>
                          <a:ea typeface="+mn-ea"/>
                          <a:cs typeface="+mn-cs"/>
                        </a:rPr>
                        <a:t>.</a:t>
                      </a:r>
                      <a:endParaRPr lang="en-GB" sz="2400" b="0" kern="1200">
                        <a:solidFill>
                          <a:schemeClr val="dk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400" b="0" kern="1200">
                          <a:solidFill>
                            <a:schemeClr val="accent6"/>
                          </a:solidFill>
                          <a:latin typeface="+mn-lt"/>
                          <a:ea typeface="+mn-ea"/>
                          <a:cs typeface="+mn-cs"/>
                        </a:rPr>
                        <a:t>Procedure and data can be distinguished and protected separately</a:t>
                      </a:r>
                      <a:r>
                        <a:rPr lang="en-US" sz="2400" b="0" kern="1200">
                          <a:solidFill>
                            <a:schemeClr val="dk1"/>
                          </a:solidFill>
                          <a:latin typeface="+mn-lt"/>
                          <a:ea typeface="+mn-ea"/>
                          <a:cs typeface="+mn-cs"/>
                        </a:rPr>
                        <a:t>.</a:t>
                      </a:r>
                      <a:endParaRPr lang="en-GB" sz="2400" b="0" kern="1200">
                        <a:solidFill>
                          <a:schemeClr val="dk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bl>
          </a:graphicData>
        </a:graphic>
      </p:graphicFrame>
      <p:graphicFrame>
        <p:nvGraphicFramePr>
          <p:cNvPr id="8" name="Content Placeholder 4">
            <a:extLst>
              <a:ext uri="{FF2B5EF4-FFF2-40B4-BE49-F238E27FC236}">
                <a16:creationId xmlns:a16="http://schemas.microsoft.com/office/drawing/2014/main" xmlns="" id="{26B864CA-85CD-4666-B9D1-870ED08B272C}"/>
              </a:ext>
            </a:extLst>
          </p:cNvPr>
          <p:cNvGraphicFramePr/>
          <p:nvPr>
            <p:extLst>
              <p:ext uri="{D42A27DB-BD31-4B8C-83A1-F6EECF244321}">
                <p14:modId xmlns:p14="http://schemas.microsoft.com/office/powerpoint/2010/main" val="3994289322"/>
              </p:ext>
            </p:extLst>
          </p:nvPr>
        </p:nvGraphicFramePr>
        <p:xfrm>
          <a:off x="226012" y="4711277"/>
          <a:ext cx="11795760" cy="822960"/>
        </p:xfrm>
        <a:graphic>
          <a:graphicData uri="http://schemas.openxmlformats.org/drawingml/2006/table">
            <a:tbl>
              <a:tblPr firstRow="1" bandRow="1">
                <a:tableStyleId>{8EC20E35-A176-4012-BC5E-935CFFF8708E}</a:tableStyleId>
              </a:tblPr>
              <a:tblGrid>
                <a:gridCol w="5897880">
                  <a:extLst>
                    <a:ext uri="{9D8B030D-6E8A-4147-A177-3AD203B41FA5}">
                      <a16:colId xmlns:a16="http://schemas.microsoft.com/office/drawing/2014/main" xmlns="" val="20000"/>
                    </a:ext>
                  </a:extLst>
                </a:gridCol>
                <a:gridCol w="5897880">
                  <a:extLst>
                    <a:ext uri="{9D8B030D-6E8A-4147-A177-3AD203B41FA5}">
                      <a16:colId xmlns:a16="http://schemas.microsoft.com/office/drawing/2014/main" xmlns="" val="20001"/>
                    </a:ext>
                  </a:extLst>
                </a:gridCol>
              </a:tblGrid>
              <a:tr h="540000">
                <a:tc>
                  <a:txBody>
                    <a:bodyPr/>
                    <a:lstStyle/>
                    <a:p>
                      <a:r>
                        <a:rPr lang="en-US" sz="2400" b="0" kern="1200">
                          <a:solidFill>
                            <a:schemeClr val="accent6"/>
                          </a:solidFill>
                          <a:latin typeface="+mn-lt"/>
                          <a:ea typeface="+mn-ea"/>
                          <a:cs typeface="+mn-cs"/>
                        </a:rPr>
                        <a:t>Change in data or procedure requires compiling entire program</a:t>
                      </a:r>
                      <a:r>
                        <a:rPr lang="en-US" sz="2400" b="0" kern="1200">
                          <a:solidFill>
                            <a:schemeClr val="tx1"/>
                          </a:solidFill>
                          <a:latin typeface="+mn-lt"/>
                          <a:ea typeface="+mn-ea"/>
                          <a:cs typeface="+mn-cs"/>
                        </a:rPr>
                        <a: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400" b="0" kern="1200">
                          <a:solidFill>
                            <a:schemeClr val="accent6"/>
                          </a:solidFill>
                          <a:latin typeface="+mn-lt"/>
                          <a:ea typeface="+mn-ea"/>
                          <a:cs typeface="+mn-cs"/>
                        </a:rPr>
                        <a:t>Change in data or procedure requires compiling only affected segment not entire program</a:t>
                      </a:r>
                      <a:r>
                        <a:rPr lang="en-US" sz="2400" b="0" kern="1200">
                          <a:solidFill>
                            <a:schemeClr val="tx1"/>
                          </a:solidFill>
                          <a:latin typeface="+mn-lt"/>
                          <a:ea typeface="+mn-ea"/>
                          <a:cs typeface="+mn-cs"/>
                        </a:rPr>
                        <a:t>.</a:t>
                      </a:r>
                      <a:endParaRPr lang="en-GB" sz="2400" b="0" kern="120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bl>
          </a:graphicData>
        </a:graphic>
      </p:graphicFrame>
      <p:graphicFrame>
        <p:nvGraphicFramePr>
          <p:cNvPr id="9" name="Content Placeholder 4">
            <a:extLst>
              <a:ext uri="{FF2B5EF4-FFF2-40B4-BE49-F238E27FC236}">
                <a16:creationId xmlns:a16="http://schemas.microsoft.com/office/drawing/2014/main" xmlns="" id="{26B864CA-85CD-4666-B9D1-870ED08B272C}"/>
              </a:ext>
            </a:extLst>
          </p:cNvPr>
          <p:cNvGraphicFramePr/>
          <p:nvPr>
            <p:extLst>
              <p:ext uri="{D42A27DB-BD31-4B8C-83A1-F6EECF244321}">
                <p14:modId xmlns:p14="http://schemas.microsoft.com/office/powerpoint/2010/main" val="762364975"/>
              </p:ext>
            </p:extLst>
          </p:nvPr>
        </p:nvGraphicFramePr>
        <p:xfrm>
          <a:off x="226012" y="5535885"/>
          <a:ext cx="11795760" cy="540000"/>
        </p:xfrm>
        <a:graphic>
          <a:graphicData uri="http://schemas.openxmlformats.org/drawingml/2006/table">
            <a:tbl>
              <a:tblPr firstRow="1" bandRow="1">
                <a:tableStyleId>{8EC20E35-A176-4012-BC5E-935CFFF8708E}</a:tableStyleId>
              </a:tblPr>
              <a:tblGrid>
                <a:gridCol w="5897880">
                  <a:extLst>
                    <a:ext uri="{9D8B030D-6E8A-4147-A177-3AD203B41FA5}">
                      <a16:colId xmlns:a16="http://schemas.microsoft.com/office/drawing/2014/main" xmlns="" val="20000"/>
                    </a:ext>
                  </a:extLst>
                </a:gridCol>
                <a:gridCol w="5897880">
                  <a:extLst>
                    <a:ext uri="{9D8B030D-6E8A-4147-A177-3AD203B41FA5}">
                      <a16:colId xmlns:a16="http://schemas.microsoft.com/office/drawing/2014/main" xmlns="" val="20001"/>
                    </a:ext>
                  </a:extLst>
                </a:gridCol>
              </a:tblGrid>
              <a:tr h="540000">
                <a:tc>
                  <a:txBody>
                    <a:bodyPr/>
                    <a:lstStyle/>
                    <a:p>
                      <a:r>
                        <a:rPr lang="en-US" sz="2400" b="0" kern="1200">
                          <a:solidFill>
                            <a:schemeClr val="accent6"/>
                          </a:solidFill>
                          <a:latin typeface="+mn-lt"/>
                          <a:ea typeface="+mn-ea"/>
                          <a:cs typeface="+mn-cs"/>
                        </a:rPr>
                        <a:t>Sharing of different procedures not available</a:t>
                      </a:r>
                      <a:r>
                        <a:rPr lang="en-US" sz="2400" b="0" kern="1200">
                          <a:solidFill>
                            <a:schemeClr val="dk1"/>
                          </a:solidFill>
                          <a:latin typeface="+mn-lt"/>
                          <a:ea typeface="+mn-ea"/>
                          <a:cs typeface="+mn-cs"/>
                        </a:rPr>
                        <a: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400" b="0" kern="1200">
                          <a:solidFill>
                            <a:schemeClr val="accent6"/>
                          </a:solidFill>
                          <a:latin typeface="+mn-lt"/>
                          <a:ea typeface="+mn-ea"/>
                          <a:cs typeface="+mn-cs"/>
                        </a:rPr>
                        <a:t>Sharing of different procedures available</a:t>
                      </a:r>
                      <a:r>
                        <a:rPr lang="en-US" sz="2400" b="0" kern="1200">
                          <a:solidFill>
                            <a:schemeClr val="dk1"/>
                          </a:solidFill>
                          <a:latin typeface="+mn-lt"/>
                          <a:ea typeface="+mn-ea"/>
                          <a:cs typeface="+mn-cs"/>
                        </a:rPr>
                        <a:t>.</a:t>
                      </a:r>
                      <a:endParaRPr lang="en-GB" sz="2400" b="0" kern="1200">
                        <a:solidFill>
                          <a:schemeClr val="dk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54433479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Assignment</a:t>
            </a:r>
          </a:p>
        </p:txBody>
      </p:sp>
      <p:sp>
        <p:nvSpPr>
          <p:cNvPr id="3" name="Content Placeholder 2"/>
          <p:cNvSpPr>
            <a:spLocks noGrp="1"/>
          </p:cNvSpPr>
          <p:nvPr>
            <p:ph idx="1"/>
          </p:nvPr>
        </p:nvSpPr>
        <p:spPr/>
        <p:txBody>
          <a:bodyPr/>
          <a:lstStyle/>
          <a:p>
            <a:pPr marL="457200" indent="-457200">
              <a:buFont typeface="+mj-lt"/>
              <a:buAutoNum type="arabicPeriod"/>
            </a:pPr>
            <a:r>
              <a:rPr lang="en-US" dirty="0"/>
              <a:t>Explain multiprogramming with fixed partition.</a:t>
            </a:r>
          </a:p>
          <a:p>
            <a:pPr marL="457200" indent="-457200">
              <a:buFont typeface="+mj-lt"/>
              <a:buAutoNum type="arabicPeriod"/>
            </a:pPr>
            <a:r>
              <a:rPr lang="en-US" dirty="0" smtClean="0"/>
              <a:t>How </a:t>
            </a:r>
            <a:r>
              <a:rPr lang="en-US" dirty="0"/>
              <a:t>free space can be managed by OS.</a:t>
            </a:r>
          </a:p>
          <a:p>
            <a:pPr marL="457200" indent="-457200">
              <a:buFont typeface="+mj-lt"/>
              <a:buAutoNum type="arabicPeriod"/>
            </a:pPr>
            <a:r>
              <a:rPr lang="en-US" dirty="0"/>
              <a:t>Explain Swapping and Fragmentation in detail.</a:t>
            </a:r>
          </a:p>
          <a:p>
            <a:pPr marL="457200" indent="-457200">
              <a:buFont typeface="+mj-lt"/>
              <a:buAutoNum type="arabicPeriod"/>
            </a:pPr>
            <a:r>
              <a:rPr lang="en-US" dirty="0"/>
              <a:t>What is Paging? Explain paging mechanism in MMU with example.</a:t>
            </a:r>
          </a:p>
          <a:p>
            <a:pPr marL="457200" indent="-457200">
              <a:buFont typeface="+mj-lt"/>
              <a:buAutoNum type="arabicPeriod"/>
            </a:pPr>
            <a:r>
              <a:rPr lang="en-US" dirty="0"/>
              <a:t>Explain TLB and Virtual Memory.</a:t>
            </a:r>
          </a:p>
          <a:p>
            <a:pPr marL="457200" indent="-457200">
              <a:buFont typeface="+mj-lt"/>
              <a:buAutoNum type="arabicPeriod"/>
            </a:pPr>
            <a:r>
              <a:rPr lang="en-US" dirty="0"/>
              <a:t>Discuss demand paging.</a:t>
            </a:r>
          </a:p>
          <a:p>
            <a:pPr marL="457200" indent="-457200">
              <a:buFont typeface="+mj-lt"/>
              <a:buAutoNum type="arabicPeriod"/>
            </a:pPr>
            <a:r>
              <a:rPr lang="en-US" dirty="0"/>
              <a:t>Define following Terms: Thrashing</a:t>
            </a:r>
          </a:p>
          <a:p>
            <a:pPr marL="457200" indent="-457200">
              <a:buFont typeface="+mj-lt"/>
              <a:buAutoNum type="arabicPeriod"/>
            </a:pPr>
            <a:r>
              <a:rPr lang="en-US" dirty="0"/>
              <a:t>List different Page Replacement Algorithms? Discuss it in terms of page faults.</a:t>
            </a:r>
          </a:p>
          <a:p>
            <a:pPr marL="457200" indent="-457200">
              <a:buFont typeface="+mj-lt"/>
              <a:buAutoNum type="arabicPeriod"/>
            </a:pPr>
            <a:r>
              <a:rPr lang="en-US" dirty="0"/>
              <a:t>What is </a:t>
            </a:r>
            <a:r>
              <a:rPr lang="en-US" dirty="0" err="1"/>
              <a:t>Belady’s</a:t>
            </a:r>
            <a:r>
              <a:rPr lang="en-US" dirty="0"/>
              <a:t> anomaly? Explain with suitable example.</a:t>
            </a:r>
          </a:p>
          <a:p>
            <a:pPr marL="457200" indent="-457200">
              <a:buFont typeface="+mj-lt"/>
              <a:buAutoNum type="arabicPeriod"/>
            </a:pPr>
            <a:r>
              <a:rPr lang="en-US" dirty="0"/>
              <a:t>Consider (70120304230321201701) page reference string: How many page fault would occur for following page replacement algorithm. Consider 3 frames and 4 frames. </a:t>
            </a:r>
          </a:p>
          <a:p>
            <a:pPr marL="544512" lvl="1" indent="0">
              <a:buNone/>
            </a:pPr>
            <a:r>
              <a:rPr lang="en-US" dirty="0"/>
              <a:t>1. FIFO    2. LRU      3. Optimal</a:t>
            </a:r>
          </a:p>
        </p:txBody>
      </p:sp>
    </p:spTree>
    <p:extLst>
      <p:ext uri="{BB962C8B-B14F-4D97-AF65-F5344CB8AC3E}">
        <p14:creationId xmlns:p14="http://schemas.microsoft.com/office/powerpoint/2010/main" val="161084049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nodeType="clickPar">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nodeType="clickPar">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nodeType="clickPar">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Assignment</a:t>
            </a:r>
          </a:p>
        </p:txBody>
      </p:sp>
      <p:sp>
        <p:nvSpPr>
          <p:cNvPr id="3" name="Content Placeholder 2"/>
          <p:cNvSpPr>
            <a:spLocks noGrp="1"/>
          </p:cNvSpPr>
          <p:nvPr>
            <p:ph idx="1"/>
          </p:nvPr>
        </p:nvSpPr>
        <p:spPr>
          <a:xfrm>
            <a:off x="178805" y="863444"/>
            <a:ext cx="11929641" cy="5590565"/>
          </a:xfrm>
        </p:spPr>
        <p:txBody>
          <a:bodyPr/>
          <a:lstStyle/>
          <a:p>
            <a:pPr marL="457200" indent="-457200">
              <a:buFont typeface="+mj-lt"/>
              <a:buAutoNum type="arabicPeriod" startAt="12"/>
            </a:pPr>
            <a:r>
              <a:rPr lang="en-US" dirty="0"/>
              <a:t>Given six Partition of 300KB, 600KB, 350KB, 200KB, 750KB and 125KB(in order), how would the first-fit, best-fit and worst-fit algorithms places  processes of size 115 KB, 500KB, 358KB, 200KB and 375KB(in order)? Which algorithm is efficient for the use of memory? </a:t>
            </a:r>
          </a:p>
          <a:p>
            <a:pPr marL="457200" indent="-457200">
              <a:buFont typeface="+mj-lt"/>
              <a:buAutoNum type="arabicPeriod" startAt="12"/>
            </a:pPr>
            <a:r>
              <a:rPr lang="en-US" dirty="0"/>
              <a:t>Calculate the page fault rates for below reference string in case of FIFO and Optimal page replacement algorithm. Assume the memory size is 4 page frames and all frames are initially empty. 0,2,1,6,4,0,1,0,3,1,2,1</a:t>
            </a:r>
          </a:p>
          <a:p>
            <a:pPr marL="457200" indent="-457200">
              <a:buFont typeface="+mj-lt"/>
              <a:buAutoNum type="arabicPeriod" startAt="12"/>
            </a:pPr>
            <a:r>
              <a:rPr lang="en-US" dirty="0"/>
              <a:t>Consider the following reference string. Calculate the page fault rates for FIFO and OPTIMAL page replacement algorithm. Assume the memory size is 4 page frame.</a:t>
            </a:r>
          </a:p>
          <a:p>
            <a:pPr marL="0" indent="0">
              <a:buNone/>
            </a:pPr>
            <a:r>
              <a:rPr lang="en-US" dirty="0"/>
              <a:t>	1,2,3,4,5,3,4,1,6,7,8,7,8,9,7,8,9,5,4,5,4,2</a:t>
            </a:r>
          </a:p>
          <a:p>
            <a:pPr marL="457200" indent="-457200">
              <a:buFont typeface="+mj-lt"/>
              <a:buAutoNum type="arabicPeriod" startAt="15"/>
            </a:pPr>
            <a:r>
              <a:rPr lang="en-US" dirty="0"/>
              <a:t>Consider the page reference string: 1,2,3,4,5,3,4,1,6,7,8,7,8,9,7,8,9,5,4,5,4,2 With four Frames How many page faults would occur for the FIFO, Optimal page replacement algorithms? which algorithm is efficient? (assume all frames are initially empty)</a:t>
            </a:r>
            <a:endParaRPr lang="en-GB" dirty="0"/>
          </a:p>
        </p:txBody>
      </p:sp>
    </p:spTree>
    <p:extLst>
      <p:ext uri="{BB962C8B-B14F-4D97-AF65-F5344CB8AC3E}">
        <p14:creationId xmlns:p14="http://schemas.microsoft.com/office/powerpoint/2010/main" val="295874077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S_NET" val="6.0.25"/>
  <p:tag name="AS_OS" val="Unix 5.4.0.1103"/>
  <p:tag name="AS_RELEASE_DATE" val="2023.09.14"/>
  <p:tag name="AS_TITLE" val="Aspose.Slides for .NET6"/>
  <p:tag name="AS_VERSION" val="23.9"/>
</p:tagLst>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Roboto Condensed"/>
        <a:cs typeface="Arial"/>
      </a:majorFont>
      <a:minorFont>
        <a:latin typeface="Roboto Condensed"/>
        <a:ea typeface="Roboto Condensed"/>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15218</TotalTime>
  <Words>8115</Words>
  <Application>Microsoft Office PowerPoint</Application>
  <PresentationFormat>Widescreen</PresentationFormat>
  <Paragraphs>1445</Paragraphs>
  <Slides>77</Slides>
  <Notes>8</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77</vt:i4>
      </vt:variant>
    </vt:vector>
  </HeadingPairs>
  <TitlesOfParts>
    <vt:vector size="86" baseType="lpstr">
      <vt:lpstr>Roboto Condensed Light</vt:lpstr>
      <vt:lpstr>Wingdings 3</vt:lpstr>
      <vt:lpstr>Roboto Condensed</vt:lpstr>
      <vt:lpstr>Calibri</vt:lpstr>
      <vt:lpstr>Segoe UI Black</vt:lpstr>
      <vt:lpstr>Times New Roman</vt:lpstr>
      <vt:lpstr>Arial</vt:lpstr>
      <vt:lpstr>Wingdings</vt:lpstr>
      <vt:lpstr>Office Theme</vt:lpstr>
      <vt:lpstr>Chapter 3: Memory Management</vt:lpstr>
      <vt:lpstr>Memory Management and Organization</vt:lpstr>
      <vt:lpstr>What is Memory Hierarchy?</vt:lpstr>
      <vt:lpstr>Memory Hierarchy</vt:lpstr>
      <vt:lpstr>Storage Organization and Management</vt:lpstr>
      <vt:lpstr>Memory Management Techniques</vt:lpstr>
      <vt:lpstr>Storage Allocation</vt:lpstr>
      <vt:lpstr>Difference between Contiguous and Non-contiguous Memory Allocation</vt:lpstr>
      <vt:lpstr>Partitioning</vt:lpstr>
      <vt:lpstr>Fixed/Static Partition Allocation</vt:lpstr>
      <vt:lpstr>Variable/Dynamic Partition Allocation</vt:lpstr>
      <vt:lpstr>Variable/Dynamic Partition Allocation</vt:lpstr>
      <vt:lpstr>Fragmentation and Types of Fragmentation</vt:lpstr>
      <vt:lpstr>Swapping</vt:lpstr>
      <vt:lpstr>Swapping</vt:lpstr>
      <vt:lpstr>Swapping</vt:lpstr>
      <vt:lpstr>Relocation and Protection</vt:lpstr>
      <vt:lpstr>Logical and Physical Memory</vt:lpstr>
      <vt:lpstr>Coalescing</vt:lpstr>
      <vt:lpstr>Compaction</vt:lpstr>
      <vt:lpstr>Managing free memory</vt:lpstr>
      <vt:lpstr>Memory management with Bitmaps</vt:lpstr>
      <vt:lpstr>Memory management with Linked List</vt:lpstr>
      <vt:lpstr>Memory management with Linked List</vt:lpstr>
      <vt:lpstr>Memory Allocation Policies</vt:lpstr>
      <vt:lpstr>First fit</vt:lpstr>
      <vt:lpstr>Next fit</vt:lpstr>
      <vt:lpstr>Best fit</vt:lpstr>
      <vt:lpstr>Worst fit</vt:lpstr>
      <vt:lpstr>Paging</vt:lpstr>
      <vt:lpstr>Paging </vt:lpstr>
      <vt:lpstr>Paging</vt:lpstr>
      <vt:lpstr>Paging</vt:lpstr>
      <vt:lpstr>Paging</vt:lpstr>
      <vt:lpstr>Logical Address and Physical Address</vt:lpstr>
      <vt:lpstr>Paging</vt:lpstr>
      <vt:lpstr>Page table</vt:lpstr>
      <vt:lpstr>Page Tables</vt:lpstr>
      <vt:lpstr>Virtual address space is large, the page table will be large</vt:lpstr>
      <vt:lpstr>Multilevel Page Table</vt:lpstr>
      <vt:lpstr>Multilevel Page Table</vt:lpstr>
      <vt:lpstr>Inverted Page Table</vt:lpstr>
      <vt:lpstr>Inverted Page Table</vt:lpstr>
      <vt:lpstr>Inverted Page Table</vt:lpstr>
      <vt:lpstr>Shared Page Table</vt:lpstr>
      <vt:lpstr>How Does Paging Works?</vt:lpstr>
      <vt:lpstr>Advantages and Disadvantages of Paging</vt:lpstr>
      <vt:lpstr>Translation look-aside buffer (TLB)</vt:lpstr>
      <vt:lpstr>Translation look-aside buffer (TLB)</vt:lpstr>
      <vt:lpstr>Mapping from virtual address to physical address  using TLB</vt:lpstr>
      <vt:lpstr>Mapping from virtual address to physical address  using TLB</vt:lpstr>
      <vt:lpstr>Thrashing</vt:lpstr>
      <vt:lpstr>Virtual Memory</vt:lpstr>
      <vt:lpstr>Virtual Memory</vt:lpstr>
      <vt:lpstr>Definitions (Demand paging)</vt:lpstr>
      <vt:lpstr>Demand paging</vt:lpstr>
      <vt:lpstr>Page Fault and Page Hit</vt:lpstr>
      <vt:lpstr>Page replacement algorithms</vt:lpstr>
      <vt:lpstr>Optimal Page Replacement Algorithm</vt:lpstr>
      <vt:lpstr>Optimal Page Replacement Algorithm</vt:lpstr>
      <vt:lpstr>FIFO Page Replacement Algorithm</vt:lpstr>
      <vt:lpstr>FIFO Page Replacement Algorithm</vt:lpstr>
      <vt:lpstr>Second Chance Page Replacement Algorithm</vt:lpstr>
      <vt:lpstr>Second Chance Page Replacement Algorithm</vt:lpstr>
      <vt:lpstr>Clock Page Replacement Algorithm</vt:lpstr>
      <vt:lpstr>LRU (Least Recently Used) Page Replacement Algorithm</vt:lpstr>
      <vt:lpstr>LRU (Least Recently Used) Page Replacement Algorithm</vt:lpstr>
      <vt:lpstr>NRU (Not Recently Used) Page Replacement Algorithm</vt:lpstr>
      <vt:lpstr>NRU (Not Recently Used) Page Replacement Algorithm</vt:lpstr>
      <vt:lpstr>Belady’s Anomaly (in FIFO Page Replacement Algorithm)</vt:lpstr>
      <vt:lpstr>Belady’s Anomaly (in FIFO Page Replacement Algorithm)</vt:lpstr>
      <vt:lpstr>Sum</vt:lpstr>
      <vt:lpstr>Segmentation</vt:lpstr>
      <vt:lpstr>Segmentation</vt:lpstr>
      <vt:lpstr>Paging VS Segmentation</vt:lpstr>
      <vt:lpstr>Assignment</vt:lpstr>
      <vt:lpstr>Assignment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1514</cp:revision>
  <cp:lastPrinted>2021-03-25T03:24:31Z</cp:lastPrinted>
  <dcterms:created xsi:type="dcterms:W3CDTF">2020-05-01T05:09:15Z</dcterms:created>
  <dcterms:modified xsi:type="dcterms:W3CDTF">2024-01-22T06:00:35Z</dcterms:modified>
</cp:coreProperties>
</file>