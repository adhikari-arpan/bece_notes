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66" r:id="rId13"/>
    <p:sldId id="267" r:id="rId14"/>
    <p:sldId id="270" r:id="rId15"/>
    <p:sldId id="268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819" autoAdjust="0"/>
  </p:normalViewPr>
  <p:slideViewPr>
    <p:cSldViewPr snapToGrid="0">
      <p:cViewPr varScale="1">
        <p:scale>
          <a:sx n="68" d="100"/>
          <a:sy n="68" d="100"/>
        </p:scale>
        <p:origin x="-798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06320-BFC9-43B1-B8F3-9B26A3E818DA}" type="datetimeFigureOut">
              <a:rPr lang="en-US" smtClean="0"/>
              <a:t>7/23/2023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C75C6-832E-4756-A7A6-93D08E459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170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06320-BFC9-43B1-B8F3-9B26A3E818DA}" type="datetimeFigureOut">
              <a:rPr lang="en-US" smtClean="0"/>
              <a:t>7/23/2023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C75C6-832E-4756-A7A6-93D08E459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281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06320-BFC9-43B1-B8F3-9B26A3E818DA}" type="datetimeFigureOut">
              <a:rPr lang="en-US" smtClean="0"/>
              <a:t>7/23/2023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C75C6-832E-4756-A7A6-93D08E459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661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06320-BFC9-43B1-B8F3-9B26A3E818DA}" type="datetimeFigureOut">
              <a:rPr lang="en-US" smtClean="0"/>
              <a:t>7/23/2023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C75C6-832E-4756-A7A6-93D08E459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076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06320-BFC9-43B1-B8F3-9B26A3E818DA}" type="datetimeFigureOut">
              <a:rPr lang="en-US" smtClean="0"/>
              <a:t>7/23/2023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C75C6-832E-4756-A7A6-93D08E459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170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06320-BFC9-43B1-B8F3-9B26A3E818DA}" type="datetimeFigureOut">
              <a:rPr lang="en-US" smtClean="0"/>
              <a:t>7/23/2023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C75C6-832E-4756-A7A6-93D08E459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379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06320-BFC9-43B1-B8F3-9B26A3E818DA}" type="datetimeFigureOut">
              <a:rPr lang="en-US" smtClean="0"/>
              <a:t>7/23/2023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C75C6-832E-4756-A7A6-93D08E459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878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06320-BFC9-43B1-B8F3-9B26A3E818DA}" type="datetimeFigureOut">
              <a:rPr lang="en-US" smtClean="0"/>
              <a:t>7/23/2023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C75C6-832E-4756-A7A6-93D08E459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403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06320-BFC9-43B1-B8F3-9B26A3E818DA}" type="datetimeFigureOut">
              <a:rPr lang="en-US" smtClean="0"/>
              <a:t>7/23/2023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C75C6-832E-4756-A7A6-93D08E459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088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06320-BFC9-43B1-B8F3-9B26A3E818DA}" type="datetimeFigureOut">
              <a:rPr lang="en-US" smtClean="0"/>
              <a:t>7/23/2023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C75C6-832E-4756-A7A6-93D08E459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587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06320-BFC9-43B1-B8F3-9B26A3E818DA}" type="datetimeFigureOut">
              <a:rPr lang="en-US" smtClean="0"/>
              <a:t>7/23/2023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C75C6-832E-4756-A7A6-93D08E459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860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906320-BFC9-43B1-B8F3-9B26A3E818DA}" type="datetimeFigureOut">
              <a:rPr lang="en-US" smtClean="0"/>
              <a:t>7/23/2023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C75C6-832E-4756-A7A6-93D08E459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421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Chapter 9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Arithmetic and Logic Unit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904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Arithmetic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Logic Unit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Deals with the calculation and processing.</a:t>
            </a:r>
          </a:p>
          <a:p>
            <a:r>
              <a:rPr lang="en-US" dirty="0" smtClean="0"/>
              <a:t>Consists of 2 parts.</a:t>
            </a:r>
          </a:p>
          <a:p>
            <a:pPr marL="514350" indent="-514350">
              <a:buAutoNum type="arabicPeriod"/>
            </a:pPr>
            <a:r>
              <a:rPr lang="en-US" dirty="0" smtClean="0"/>
              <a:t>Arithmetic Unit: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-deals with the arithmetic 	operations of </a:t>
            </a:r>
            <a:r>
              <a:rPr lang="en-US" dirty="0" err="1" smtClean="0"/>
              <a:t>i</a:t>
            </a:r>
            <a:r>
              <a:rPr lang="en-US" dirty="0" smtClean="0"/>
              <a:t>/ps.</a:t>
            </a:r>
          </a:p>
          <a:p>
            <a:pPr marL="514350" indent="-514350">
              <a:buAutoNum type="arabicPeriod" startAt="2"/>
            </a:pPr>
            <a:r>
              <a:rPr lang="en-US" dirty="0" smtClean="0"/>
              <a:t>Logic Unit: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-deals with the logical 	 	operations of </a:t>
            </a:r>
            <a:r>
              <a:rPr lang="en-US" dirty="0" err="1" smtClean="0"/>
              <a:t>i</a:t>
            </a:r>
            <a:r>
              <a:rPr lang="en-US" dirty="0" smtClean="0"/>
              <a:t>/ps.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690688"/>
            <a:ext cx="5181600" cy="4115002"/>
          </a:xfrm>
        </p:spPr>
      </p:pic>
    </p:spTree>
    <p:extLst>
      <p:ext uri="{BB962C8B-B14F-4D97-AF65-F5344CB8AC3E}">
        <p14:creationId xmlns:p14="http://schemas.microsoft.com/office/powerpoint/2010/main" val="4022519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Eight different arithmetic operations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different operations are:</a:t>
            </a: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F=A+B	F=A+B+1</a:t>
            </a: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F=A+B‘	F=A+B‘+1</a:t>
            </a: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F=A+0’s	F=A+0’s+1</a:t>
            </a: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F=A+1’s	F=A+1’s+1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=A-1	  =A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172200" y="2058194"/>
            <a:ext cx="5181600" cy="3886200"/>
          </a:xfrm>
        </p:spPr>
      </p:pic>
    </p:spTree>
    <p:extLst>
      <p:ext uri="{BB962C8B-B14F-4D97-AF65-F5344CB8AC3E}">
        <p14:creationId xmlns:p14="http://schemas.microsoft.com/office/powerpoint/2010/main" val="2925358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 of Arithmetic Circuit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The block diagram of arithmetic circuit is as shown in figure along side.</a:t>
            </a:r>
          </a:p>
          <a:p>
            <a:r>
              <a:rPr lang="en-US" dirty="0" smtClean="0"/>
              <a:t>Its design include the design of combinational circuit before the parallel adder.</a:t>
            </a:r>
          </a:p>
          <a:p>
            <a:r>
              <a:rPr lang="en-US" dirty="0" smtClean="0"/>
              <a:t>The design starts with the specification or function table given.</a:t>
            </a:r>
            <a:endParaRPr lang="en-US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058194"/>
            <a:ext cx="5181600" cy="3886200"/>
          </a:xfrm>
        </p:spPr>
      </p:pic>
    </p:spTree>
    <p:extLst>
      <p:ext uri="{BB962C8B-B14F-4D97-AF65-F5344CB8AC3E}">
        <p14:creationId xmlns:p14="http://schemas.microsoft.com/office/powerpoint/2010/main" val="2529104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table;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8291" y="1302326"/>
            <a:ext cx="7093527" cy="5818909"/>
          </a:xfrm>
        </p:spPr>
      </p:pic>
    </p:spTree>
    <p:extLst>
      <p:ext uri="{BB962C8B-B14F-4D97-AF65-F5344CB8AC3E}">
        <p14:creationId xmlns:p14="http://schemas.microsoft.com/office/powerpoint/2010/main" val="2992051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Truthtable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of the combinational logic: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735" y="1382280"/>
            <a:ext cx="3720822" cy="4351338"/>
          </a:xfrm>
        </p:spPr>
      </p:pic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0919" y="1536484"/>
            <a:ext cx="3455797" cy="4351338"/>
          </a:xfrm>
        </p:spPr>
      </p:pic>
    </p:spTree>
    <p:extLst>
      <p:ext uri="{BB962C8B-B14F-4D97-AF65-F5344CB8AC3E}">
        <p14:creationId xmlns:p14="http://schemas.microsoft.com/office/powerpoint/2010/main" val="600569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Circuit diagram of the 4 bit arithmetic circuit: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8278" y="1544274"/>
            <a:ext cx="4740812" cy="50694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69135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387818" cy="999441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 of Logic Unit: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Select variables: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S2 -&gt; mode select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S1,S0 -&gt; function select</a:t>
            </a:r>
          </a:p>
          <a:p>
            <a:r>
              <a:rPr lang="en-US" dirty="0" smtClean="0"/>
              <a:t>Let the logical operations be: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OR,XOR,AND,NOT</a:t>
            </a:r>
          </a:p>
          <a:p>
            <a:r>
              <a:rPr lang="en-US" dirty="0" smtClean="0"/>
              <a:t>For design, lets take a 4×1 MUX.</a:t>
            </a:r>
            <a:endParaRPr lang="en-US" dirty="0"/>
          </a:p>
        </p:txBody>
      </p:sp>
      <p:pic>
        <p:nvPicPr>
          <p:cNvPr id="6" name="Content Placeholder 5"/>
          <p:cNvPicPr>
            <a:picLocks noGrp="1"/>
          </p:cNvPicPr>
          <p:nvPr>
            <p:ph sz="half" idx="2"/>
          </p:nvPr>
        </p:nvPicPr>
        <p:blipFill rotWithShape="1">
          <a:blip r:embed="rId2"/>
          <a:srcRect l="29487" t="23090" r="20193" b="21322"/>
          <a:stretch/>
        </p:blipFill>
        <p:spPr bwMode="auto">
          <a:xfrm>
            <a:off x="5683349" y="1209821"/>
            <a:ext cx="6330460" cy="495182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634556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Single stage ALU: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ontent Placeholder 1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Now combining both arithmetic and logic units we can draw or design ALU.</a:t>
            </a:r>
          </a:p>
          <a:p>
            <a:r>
              <a:rPr lang="en-US" dirty="0" smtClean="0"/>
              <a:t>The single stage ALU is as shown along side.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4027" y="1322363"/>
            <a:ext cx="6246054" cy="4684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22473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 of Shifter: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Transfers the o/p of ALU to the bus.</a:t>
            </a:r>
          </a:p>
          <a:p>
            <a:r>
              <a:rPr lang="en-US" dirty="0" smtClean="0"/>
              <a:t>It is a shift register with parallel load.</a:t>
            </a:r>
          </a:p>
          <a:p>
            <a:r>
              <a:rPr lang="en-US" dirty="0" smtClean="0"/>
              <a:t>The circuit diagram and the function table is as shown in the figure.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799" y="1482227"/>
            <a:ext cx="5936673" cy="3893337"/>
          </a:xfrm>
        </p:spPr>
      </p:pic>
    </p:spTree>
    <p:extLst>
      <p:ext uri="{BB962C8B-B14F-4D97-AF65-F5344CB8AC3E}">
        <p14:creationId xmlns:p14="http://schemas.microsoft.com/office/powerpoint/2010/main" val="2515409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function table of the 4 bit shifter is as: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162" y="1479262"/>
            <a:ext cx="9134003" cy="4351338"/>
          </a:xfrm>
        </p:spPr>
      </p:pic>
    </p:spTree>
    <p:extLst>
      <p:ext uri="{BB962C8B-B14F-4D97-AF65-F5344CB8AC3E}">
        <p14:creationId xmlns:p14="http://schemas.microsoft.com/office/powerpoint/2010/main" val="2733822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Status register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cs typeface="Times New Roman" panose="02020603050405020304" pitchFamily="18" charset="0"/>
              </a:rPr>
              <a:t>Bit C (carry) is set if </a:t>
            </a:r>
            <a:r>
              <a:rPr lang="en-US" sz="2400" dirty="0" err="1" smtClean="0">
                <a:cs typeface="Times New Roman" panose="02020603050405020304" pitchFamily="18" charset="0"/>
              </a:rPr>
              <a:t>o/t</a:t>
            </a:r>
            <a:r>
              <a:rPr lang="en-US" sz="2400" dirty="0" smtClean="0">
                <a:cs typeface="Times New Roman" panose="02020603050405020304" pitchFamily="18" charset="0"/>
              </a:rPr>
              <a:t> carry of ALU is 1. It is cleared if the o/p is 0.</a:t>
            </a:r>
          </a:p>
          <a:p>
            <a:r>
              <a:rPr lang="en-US" sz="2400" dirty="0" smtClean="0">
                <a:cs typeface="Times New Roman" panose="02020603050405020304" pitchFamily="18" charset="0"/>
              </a:rPr>
              <a:t>Bit S (sign) is set if the highest order bit of the ALU o/p(the sign bit) is 1. It is cleared if the highest order bit is 0.</a:t>
            </a:r>
          </a:p>
          <a:p>
            <a:r>
              <a:rPr lang="en-US" sz="2400" dirty="0" smtClean="0">
                <a:cs typeface="Times New Roman" panose="02020603050405020304" pitchFamily="18" charset="0"/>
              </a:rPr>
              <a:t>Bit Z(zero) is set if o/p of ALU contains all 0’s and cleared otherwise.</a:t>
            </a:r>
          </a:p>
          <a:p>
            <a:r>
              <a:rPr lang="en-US" sz="2400" dirty="0" smtClean="0">
                <a:cs typeface="Times New Roman" panose="02020603050405020304" pitchFamily="18" charset="0"/>
              </a:rPr>
              <a:t>Bit V (overflow) is set if the XOR of C8 and C9 is 1. This is the condition of overflow when the numbers are in sign 2’s complement form.</a:t>
            </a:r>
            <a:endParaRPr lang="en-US" sz="2400" dirty="0">
              <a:cs typeface="Times New Roman" panose="02020603050405020304" pitchFamily="18" charset="0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352548"/>
            <a:ext cx="5562600" cy="4286252"/>
          </a:xfrm>
        </p:spPr>
      </p:pic>
    </p:spTree>
    <p:extLst>
      <p:ext uri="{BB962C8B-B14F-4D97-AF65-F5344CB8AC3E}">
        <p14:creationId xmlns:p14="http://schemas.microsoft.com/office/powerpoint/2010/main" val="3728069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 of Accumulator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Some processor units distinguish one register from all others and call it an accumulator register.</a:t>
            </a:r>
          </a:p>
          <a:p>
            <a:r>
              <a:rPr lang="en-US" dirty="0" smtClean="0"/>
              <a:t>Bidirectional register with parallel load connected to ALU.</a:t>
            </a:r>
          </a:p>
          <a:p>
            <a:r>
              <a:rPr lang="en-US" dirty="0" smtClean="0"/>
              <a:t>The accumulator an its associated logic constitute a sequential circuit.</a:t>
            </a:r>
          </a:p>
          <a:p>
            <a:r>
              <a:rPr lang="en-US" dirty="0" smtClean="0"/>
              <a:t>It consists n-stages and n-flip flops.</a:t>
            </a:r>
          </a:p>
          <a:p>
            <a:r>
              <a:rPr lang="en-US" dirty="0" smtClean="0"/>
              <a:t>Register A is referred to as accumulator and sometime denoted by AC.</a:t>
            </a:r>
          </a:p>
          <a:p>
            <a:r>
              <a:rPr lang="en-US" dirty="0" smtClean="0"/>
              <a:t>It is a multifunction register that can perform all the </a:t>
            </a:r>
            <a:r>
              <a:rPr lang="en-US" dirty="0" err="1" smtClean="0"/>
              <a:t>microoperations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Microoperations</a:t>
            </a:r>
            <a:r>
              <a:rPr lang="en-US" dirty="0" smtClean="0"/>
              <a:t> of an AC depends on the particular processor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3309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block diagram and the different micro operations of an accumulator is as shown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530" y="1551709"/>
            <a:ext cx="4896939" cy="4625254"/>
          </a:xfrm>
        </p:spPr>
      </p:pic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798" y="1246909"/>
            <a:ext cx="5476331" cy="4930053"/>
          </a:xfrm>
        </p:spPr>
      </p:pic>
    </p:spTree>
    <p:extLst>
      <p:ext uri="{BB962C8B-B14F-4D97-AF65-F5344CB8AC3E}">
        <p14:creationId xmlns:p14="http://schemas.microsoft.com/office/powerpoint/2010/main" val="1026887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 unit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Selection variables in a processor unit control the micro-operations executed within the processor during a CP.</a:t>
            </a:r>
          </a:p>
          <a:p>
            <a:r>
              <a:rPr lang="en-US" dirty="0" smtClean="0"/>
              <a:t>Selection variables control the buses, ALU, shifter and the destination register.</a:t>
            </a:r>
          </a:p>
          <a:p>
            <a:r>
              <a:rPr lang="en-US" dirty="0" smtClean="0"/>
              <a:t>Processor unit consists of registers and status register. The o/p of register go thru 2 MUX to select the </a:t>
            </a:r>
            <a:r>
              <a:rPr lang="en-US" dirty="0" err="1" smtClean="0"/>
              <a:t>i</a:t>
            </a:r>
            <a:r>
              <a:rPr lang="en-US" dirty="0" smtClean="0"/>
              <a:t>/p of ALU. </a:t>
            </a:r>
          </a:p>
          <a:p>
            <a:r>
              <a:rPr lang="en-US" dirty="0" smtClean="0"/>
              <a:t>I/p data from external source are also selected by the same MUX.</a:t>
            </a:r>
          </a:p>
          <a:p>
            <a:r>
              <a:rPr lang="en-US" dirty="0" smtClean="0"/>
              <a:t>O/p of ALU goes to the registers or external destination thru shifter.</a:t>
            </a:r>
          </a:p>
          <a:p>
            <a:r>
              <a:rPr lang="en-US" dirty="0" smtClean="0"/>
              <a:t>There are 16 selection variables in the unit and their operations are controlled by a control word.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9064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Processor unit continue…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16 bit control word, when applied, specifies a micro operation.</a:t>
            </a:r>
          </a:p>
          <a:p>
            <a:r>
              <a:rPr lang="en-US" dirty="0" smtClean="0"/>
              <a:t>Bit of A selects source register for the </a:t>
            </a:r>
            <a:r>
              <a:rPr lang="en-US" dirty="0" err="1" smtClean="0"/>
              <a:t>i</a:t>
            </a:r>
            <a:r>
              <a:rPr lang="en-US" dirty="0" smtClean="0"/>
              <a:t>/p to left side of ALU and Bits of B selects the source register for </a:t>
            </a:r>
            <a:r>
              <a:rPr lang="en-US" dirty="0" err="1" smtClean="0"/>
              <a:t>i</a:t>
            </a:r>
            <a:r>
              <a:rPr lang="en-US" dirty="0" smtClean="0"/>
              <a:t>/p to right side of ALU.</a:t>
            </a:r>
          </a:p>
          <a:p>
            <a:r>
              <a:rPr lang="en-US" dirty="0" smtClean="0"/>
              <a:t>D field selects the destination register.</a:t>
            </a:r>
          </a:p>
          <a:p>
            <a:r>
              <a:rPr lang="en-US" dirty="0" smtClean="0"/>
              <a:t>F field together with </a:t>
            </a:r>
            <a:r>
              <a:rPr lang="en-US" dirty="0" err="1" smtClean="0"/>
              <a:t>Cin</a:t>
            </a:r>
            <a:r>
              <a:rPr lang="en-US" dirty="0" smtClean="0"/>
              <a:t> select a function for ALU.</a:t>
            </a:r>
          </a:p>
          <a:p>
            <a:r>
              <a:rPr lang="en-US" dirty="0" smtClean="0"/>
              <a:t>H field selects the type of shift in the shifter.</a:t>
            </a:r>
          </a:p>
          <a:p>
            <a:r>
              <a:rPr lang="en-US" dirty="0" smtClean="0"/>
              <a:t>All 16 bit control words are stored in control memory and each word specify a micro operation.</a:t>
            </a:r>
          </a:p>
          <a:p>
            <a:r>
              <a:rPr lang="en-US" dirty="0" smtClean="0"/>
              <a:t>The sequence of control word is read from the memory, one at a time, to initiate a desired micro operation. This type of control operation is called micro programming.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4148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diagram of a processor unit is shown below: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7055" y="1482436"/>
            <a:ext cx="5763490" cy="5140037"/>
          </a:xfrm>
        </p:spPr>
      </p:pic>
    </p:spTree>
    <p:extLst>
      <p:ext uri="{BB962C8B-B14F-4D97-AF65-F5344CB8AC3E}">
        <p14:creationId xmlns:p14="http://schemas.microsoft.com/office/powerpoint/2010/main" val="2836140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618</Words>
  <Application>Microsoft Office PowerPoint</Application>
  <PresentationFormat>Custom</PresentationFormat>
  <Paragraphs>68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Chapter 9</vt:lpstr>
      <vt:lpstr>Arithmetic and Logic Unit</vt:lpstr>
      <vt:lpstr>Eight different arithmetic operations</vt:lpstr>
      <vt:lpstr>Design of Arithmetic Circuit</vt:lpstr>
      <vt:lpstr>Function table;</vt:lpstr>
      <vt:lpstr>Truthtable of the combinational logic:</vt:lpstr>
      <vt:lpstr>Circuit diagram of the 4 bit arithmetic circuit:</vt:lpstr>
      <vt:lpstr>Design of Logic Unit:</vt:lpstr>
      <vt:lpstr>Single stage ALU:</vt:lpstr>
      <vt:lpstr>Design of Shifter:</vt:lpstr>
      <vt:lpstr>The function table of the 4 bit shifter is as:</vt:lpstr>
      <vt:lpstr>Status register</vt:lpstr>
      <vt:lpstr>Design of Accumulator</vt:lpstr>
      <vt:lpstr>The block diagram and the different micro operations of an accumulator is as shown</vt:lpstr>
      <vt:lpstr>Processor unit</vt:lpstr>
      <vt:lpstr>Processor unit continue…</vt:lpstr>
      <vt:lpstr>The diagram of a processor unit is shown below: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9</dc:title>
  <dc:creator>Windows User</dc:creator>
  <cp:lastModifiedBy>elx</cp:lastModifiedBy>
  <cp:revision>44</cp:revision>
  <dcterms:created xsi:type="dcterms:W3CDTF">2020-05-19T08:11:52Z</dcterms:created>
  <dcterms:modified xsi:type="dcterms:W3CDTF">2023-07-23T16:01:30Z</dcterms:modified>
</cp:coreProperties>
</file>