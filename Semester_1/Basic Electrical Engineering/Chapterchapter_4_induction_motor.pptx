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60" r:id="rId5"/>
    <p:sldId id="263" r:id="rId6"/>
    <p:sldId id="265" r:id="rId7"/>
    <p:sldId id="262" r:id="rId8"/>
    <p:sldId id="271" r:id="rId9"/>
    <p:sldId id="272" r:id="rId10"/>
    <p:sldId id="273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73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E4C2E-03BC-42F8-86BF-102001D1791E}" type="datetimeFigureOut">
              <a:rPr lang="en-US" smtClean="0"/>
              <a:t>2/28/2024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0883A03F-224E-411A-8696-0F291EB096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7634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E4C2E-03BC-42F8-86BF-102001D1791E}" type="datetimeFigureOut">
              <a:rPr lang="en-US" smtClean="0"/>
              <a:t>2/28/2024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3A03F-224E-411A-8696-0F291EB096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0288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E4C2E-03BC-42F8-86BF-102001D1791E}" type="datetimeFigureOut">
              <a:rPr lang="en-US" smtClean="0"/>
              <a:t>2/28/2024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883A03F-224E-411A-8696-0F291EB096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784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E4C2E-03BC-42F8-86BF-102001D1791E}" type="datetimeFigureOut">
              <a:rPr lang="en-US" smtClean="0"/>
              <a:t>2/28/2024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0883A03F-224E-411A-8696-0F291EB096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1319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E4C2E-03BC-42F8-86BF-102001D1791E}" type="datetimeFigureOut">
              <a:rPr lang="en-US" smtClean="0"/>
              <a:t>2/28/2024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0883A03F-224E-411A-8696-0F291EB096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9492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E4C2E-03BC-42F8-86BF-102001D1791E}" type="datetimeFigureOut">
              <a:rPr lang="en-US" smtClean="0"/>
              <a:t>2/28/2024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3A03F-224E-411A-8696-0F291EB096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303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E4C2E-03BC-42F8-86BF-102001D1791E}" type="datetimeFigureOut">
              <a:rPr lang="en-US" smtClean="0"/>
              <a:t>2/28/2024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3A03F-224E-411A-8696-0F291EB096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031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E4C2E-03BC-42F8-86BF-102001D1791E}" type="datetimeFigureOut">
              <a:rPr lang="en-US" smtClean="0"/>
              <a:t>2/28/2024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3A03F-224E-411A-8696-0F291EB096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6949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E4C2E-03BC-42F8-86BF-102001D1791E}" type="datetimeFigureOut">
              <a:rPr lang="en-US" smtClean="0"/>
              <a:t>2/28/2024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883A03F-224E-411A-8696-0F291EB096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6068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E4C2E-03BC-42F8-86BF-102001D1791E}" type="datetimeFigureOut">
              <a:rPr lang="en-US" smtClean="0"/>
              <a:t>2/28/2024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883A03F-224E-411A-8696-0F291EB096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9119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E4C2E-03BC-42F8-86BF-102001D1791E}" type="datetimeFigureOut">
              <a:rPr lang="en-US" smtClean="0"/>
              <a:t>2/28/2024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883A03F-224E-411A-8696-0F291EB096A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132014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E4C2E-03BC-42F8-86BF-102001D1791E}" type="datetimeFigureOut">
              <a:rPr lang="en-US" smtClean="0"/>
              <a:t>2/28/2024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883A03F-224E-411A-8696-0F291EB096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9521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E4C2E-03BC-42F8-86BF-102001D1791E}" type="datetimeFigureOut">
              <a:rPr lang="en-US" smtClean="0"/>
              <a:t>2/28/2024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883A03F-224E-411A-8696-0F291EB096AF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482343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E4C2E-03BC-42F8-86BF-102001D1791E}" type="datetimeFigureOut">
              <a:rPr lang="en-US" smtClean="0"/>
              <a:t>2/28/2024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883A03F-224E-411A-8696-0F291EB096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5773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E4C2E-03BC-42F8-86BF-102001D1791E}" type="datetimeFigureOut">
              <a:rPr lang="en-US" smtClean="0"/>
              <a:t>2/28/2024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3A03F-224E-411A-8696-0F291EB096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3872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E4C2E-03BC-42F8-86BF-102001D1791E}" type="datetimeFigureOut">
              <a:rPr lang="en-US" smtClean="0"/>
              <a:t>2/28/2024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3A03F-224E-411A-8696-0F291EB096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5507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4E4C2E-03BC-42F8-86BF-102001D1791E}" type="datetimeFigureOut">
              <a:rPr lang="en-US" smtClean="0"/>
              <a:t>2/28/2024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0883A03F-224E-411A-8696-0F291EB096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5756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84264" y="1077686"/>
            <a:ext cx="8915399" cy="2262781"/>
          </a:xfrm>
        </p:spPr>
        <p:txBody>
          <a:bodyPr/>
          <a:lstStyle/>
          <a:p>
            <a:r>
              <a:rPr lang="en-US" dirty="0"/>
              <a:t>Chapter:4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79316" y="3235961"/>
            <a:ext cx="8915399" cy="1126283"/>
          </a:xfrm>
        </p:spPr>
        <p:txBody>
          <a:bodyPr>
            <a:normAutofit/>
          </a:bodyPr>
          <a:lstStyle/>
          <a:p>
            <a:r>
              <a:rPr lang="en-US" sz="4800" dirty="0"/>
              <a:t>Three Phase Induction motor</a:t>
            </a:r>
          </a:p>
        </p:txBody>
      </p:sp>
    </p:spTree>
    <p:extLst>
      <p:ext uri="{BB962C8B-B14F-4D97-AF65-F5344CB8AC3E}">
        <p14:creationId xmlns:p14="http://schemas.microsoft.com/office/powerpoint/2010/main" val="32568889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8617" y="418012"/>
            <a:ext cx="9405257" cy="692332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90057" y="1254034"/>
            <a:ext cx="9414555" cy="5120640"/>
          </a:xfrm>
        </p:spPr>
        <p:txBody>
          <a:bodyPr>
            <a:normAutofit/>
          </a:bodyPr>
          <a:lstStyle/>
          <a:p>
            <a:r>
              <a:rPr lang="en-US" dirty="0"/>
              <a:t>The </a:t>
            </a:r>
            <a:r>
              <a:rPr lang="en-US" b="1" dirty="0"/>
              <a:t>three phase induction motors</a:t>
            </a:r>
            <a:r>
              <a:rPr lang="en-US" dirty="0"/>
              <a:t> are the most widely used electric motors in the industry.</a:t>
            </a:r>
          </a:p>
          <a:p>
            <a:r>
              <a:rPr lang="en-US" dirty="0"/>
              <a:t>They run at </a:t>
            </a:r>
            <a:r>
              <a:rPr lang="en-US" b="1" dirty="0"/>
              <a:t>essentially constant speed </a:t>
            </a:r>
            <a:r>
              <a:rPr lang="en-US" dirty="0"/>
              <a:t>from no-load to full-load.</a:t>
            </a:r>
          </a:p>
          <a:p>
            <a:r>
              <a:rPr lang="en-US" dirty="0"/>
              <a:t>Induction motor runs at a speed other than the synchronous speed, so it is called asynchronous motor. </a:t>
            </a:r>
          </a:p>
          <a:p>
            <a:r>
              <a:rPr lang="en-US" dirty="0"/>
              <a:t>Nevertheless, these, </a:t>
            </a:r>
            <a:r>
              <a:rPr lang="en-US" b="1" dirty="0"/>
              <a:t>motors</a:t>
            </a:r>
            <a:r>
              <a:rPr lang="en-US" dirty="0"/>
              <a:t> are simple, rugged, low-priced, easy to maintain and can be manufactured with characteristics to suit most industrial requirements</a:t>
            </a:r>
          </a:p>
          <a:p>
            <a:r>
              <a:rPr lang="en-US" dirty="0"/>
              <a:t>It works on the principle of electromagnetic induction.</a:t>
            </a:r>
          </a:p>
          <a:p>
            <a:r>
              <a:rPr lang="en-US" dirty="0"/>
              <a:t>It  has a </a:t>
            </a:r>
            <a:r>
              <a:rPr lang="en-US" b="1" dirty="0"/>
              <a:t>stator and a rotor</a:t>
            </a:r>
            <a:r>
              <a:rPr lang="en-US" dirty="0"/>
              <a:t>. </a:t>
            </a:r>
          </a:p>
          <a:p>
            <a:r>
              <a:rPr lang="en-US" dirty="0"/>
              <a:t> The </a:t>
            </a:r>
            <a:r>
              <a:rPr lang="en-US" b="1" i="1" dirty="0"/>
              <a:t>induction motor</a:t>
            </a:r>
            <a:r>
              <a:rPr lang="en-US" b="1" dirty="0"/>
              <a:t> may be considered as a transformer </a:t>
            </a:r>
            <a:r>
              <a:rPr lang="en-US" dirty="0"/>
              <a:t>with a rotating secondary and it can, therefore, be described as a “transformer type” ac machine in which electrical energy is converted into mechanical energy.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14039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828801" y="407773"/>
            <a:ext cx="9675812" cy="963827"/>
          </a:xfrm>
        </p:spPr>
        <p:txBody>
          <a:bodyPr>
            <a:normAutofit fontScale="90000"/>
          </a:bodyPr>
          <a:lstStyle/>
          <a:p>
            <a:r>
              <a:rPr lang="en-US" dirty="0"/>
              <a:t>Construction of three phase induction motor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8801" y="1198605"/>
            <a:ext cx="9675812" cy="53628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 three-phase induction motor consists of two main parts namely,</a:t>
            </a:r>
          </a:p>
          <a:p>
            <a:r>
              <a:rPr lang="en-US" dirty="0"/>
              <a:t>Stator</a:t>
            </a:r>
          </a:p>
          <a:p>
            <a:r>
              <a:rPr lang="en-US" dirty="0"/>
              <a:t>Rotor</a:t>
            </a:r>
          </a:p>
          <a:p>
            <a:pPr marL="0" indent="0">
              <a:buNone/>
            </a:pPr>
            <a:r>
              <a:rPr lang="en-US" dirty="0"/>
              <a:t>There is </a:t>
            </a:r>
            <a:r>
              <a:rPr lang="en-US" b="1" dirty="0"/>
              <a:t>a small air gap</a:t>
            </a:r>
            <a:r>
              <a:rPr lang="en-US" dirty="0"/>
              <a:t> between the stator and rotor which ranges </a:t>
            </a:r>
            <a:r>
              <a:rPr lang="en-US" b="1" dirty="0"/>
              <a:t>from 0.4 mm to 4 </a:t>
            </a:r>
            <a:r>
              <a:rPr lang="en-US" dirty="0"/>
              <a:t>mm depending on the power rating of the motor.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5200" y="3090333"/>
            <a:ext cx="5743575" cy="3295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2430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06378" y="741405"/>
            <a:ext cx="9898234" cy="51698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Stator</a:t>
            </a:r>
          </a:p>
          <a:p>
            <a:pPr marL="0" indent="0">
              <a:buNone/>
            </a:pPr>
            <a:r>
              <a:rPr lang="en-US" dirty="0"/>
              <a:t>The stator of a three-phase induction motor is a stationary part.</a:t>
            </a:r>
          </a:p>
          <a:p>
            <a:pPr marL="0" indent="0">
              <a:buNone/>
            </a:pPr>
            <a:r>
              <a:rPr lang="en-US" dirty="0"/>
              <a:t>It consists of following parts,</a:t>
            </a:r>
          </a:p>
          <a:p>
            <a:pPr>
              <a:buFont typeface="+mj-lt"/>
              <a:buAutoNum type="arabicPeriod"/>
            </a:pPr>
            <a:r>
              <a:rPr lang="en-US" dirty="0"/>
              <a:t>Stator frame: It is made up of </a:t>
            </a:r>
            <a:r>
              <a:rPr lang="en-US" b="1" dirty="0"/>
              <a:t>cast-iron and holds the stator core</a:t>
            </a:r>
            <a:r>
              <a:rPr lang="en-US" dirty="0"/>
              <a:t>.</a:t>
            </a:r>
          </a:p>
          <a:p>
            <a:pPr>
              <a:buFont typeface="+mj-lt"/>
              <a:buAutoNum type="arabicPeriod"/>
            </a:pPr>
            <a:r>
              <a:rPr lang="en-US" dirty="0"/>
              <a:t>Stator core: It is made up of </a:t>
            </a:r>
            <a:r>
              <a:rPr lang="en-US" b="1" dirty="0"/>
              <a:t>thin sheets of steel lamination </a:t>
            </a:r>
            <a:r>
              <a:rPr lang="en-US" dirty="0"/>
              <a:t>stacked together. Stator core has </a:t>
            </a:r>
            <a:r>
              <a:rPr lang="en-US" b="1" dirty="0"/>
              <a:t>slots</a:t>
            </a:r>
            <a:r>
              <a:rPr lang="en-US" dirty="0"/>
              <a:t> for providing three-phase ac windings in it.</a:t>
            </a:r>
          </a:p>
          <a:p>
            <a:pPr>
              <a:buFont typeface="+mj-lt"/>
              <a:buAutoNum type="arabicPeriod"/>
            </a:pPr>
            <a:r>
              <a:rPr lang="en-US" dirty="0"/>
              <a:t>Stator winding( three phase winding): These windings consists of </a:t>
            </a:r>
            <a:r>
              <a:rPr lang="en-US" b="1" dirty="0"/>
              <a:t>insulated copper wire</a:t>
            </a:r>
            <a:r>
              <a:rPr lang="en-US" dirty="0"/>
              <a:t>. The </a:t>
            </a:r>
            <a:r>
              <a:rPr lang="en-US" b="1" dirty="0"/>
              <a:t>three phase </a:t>
            </a:r>
            <a:r>
              <a:rPr lang="en-US" dirty="0"/>
              <a:t>are connected in either star or delta fashion. Stator winding are done for specific </a:t>
            </a:r>
            <a:r>
              <a:rPr lang="en-US" b="1" dirty="0"/>
              <a:t>number of poles, as per requirement. </a:t>
            </a:r>
          </a:p>
          <a:p>
            <a:pPr marL="0" indent="0">
              <a:buNone/>
            </a:pPr>
            <a:r>
              <a:rPr lang="en-US" b="1" dirty="0"/>
              <a:t>								Ns= 120f/p</a:t>
            </a:r>
          </a:p>
          <a:p>
            <a:r>
              <a:rPr lang="en-US" dirty="0"/>
              <a:t>When a 3 phase ac supply is given to the stator winding a r</a:t>
            </a:r>
            <a:r>
              <a:rPr lang="en-US" b="1" dirty="0"/>
              <a:t>otating magnetic field </a:t>
            </a:r>
            <a:r>
              <a:rPr lang="en-US" dirty="0"/>
              <a:t>is set up in space</a:t>
            </a:r>
          </a:p>
          <a:p>
            <a:r>
              <a:rPr lang="en-US" dirty="0"/>
              <a:t>Thus the rotating magnetic field </a:t>
            </a:r>
            <a:r>
              <a:rPr lang="en-US" b="1" dirty="0"/>
              <a:t>induces </a:t>
            </a:r>
            <a:r>
              <a:rPr lang="en-US" b="1" dirty="0" err="1"/>
              <a:t>emf</a:t>
            </a:r>
            <a:r>
              <a:rPr lang="en-US" b="1" dirty="0"/>
              <a:t> </a:t>
            </a:r>
            <a:r>
              <a:rPr lang="en-US" dirty="0"/>
              <a:t>in the rotor by electromagnetic induction, that </a:t>
            </a:r>
            <a:r>
              <a:rPr lang="en-US" b="1" dirty="0"/>
              <a:t>produces torque </a:t>
            </a:r>
            <a:r>
              <a:rPr lang="en-US" dirty="0"/>
              <a:t>, resulting in rotation of motor.</a:t>
            </a:r>
          </a:p>
        </p:txBody>
      </p:sp>
    </p:spTree>
    <p:extLst>
      <p:ext uri="{BB962C8B-B14F-4D97-AF65-F5344CB8AC3E}">
        <p14:creationId xmlns:p14="http://schemas.microsoft.com/office/powerpoint/2010/main" val="13056901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8000" y="355600"/>
            <a:ext cx="9726612" cy="5555622"/>
          </a:xfrm>
        </p:spPr>
        <p:txBody>
          <a:bodyPr/>
          <a:lstStyle/>
          <a:p>
            <a:r>
              <a:rPr lang="en-US" dirty="0"/>
              <a:t>The air gap between the stator and rotor needs to be  small as practically possible.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It reduces the leakage flux between stator and rotor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It improves the operating power factor of induction motor.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Rotor</a:t>
            </a:r>
          </a:p>
          <a:p>
            <a:r>
              <a:rPr lang="en-US" dirty="0"/>
              <a:t>The rotor is a </a:t>
            </a:r>
            <a:r>
              <a:rPr lang="en-US" b="1" dirty="0"/>
              <a:t>rotating or moving part </a:t>
            </a:r>
            <a:r>
              <a:rPr lang="en-US" dirty="0"/>
              <a:t>of the three-phase induction motor. </a:t>
            </a:r>
          </a:p>
          <a:p>
            <a:r>
              <a:rPr lang="en-US" dirty="0"/>
              <a:t>It consists of a rotor core made up of thin </a:t>
            </a:r>
            <a:r>
              <a:rPr lang="en-US" b="1" dirty="0"/>
              <a:t>laminations of high grade silicon steel </a:t>
            </a:r>
            <a:r>
              <a:rPr lang="en-US" dirty="0"/>
              <a:t>to reduce the hysteresis and eddy-current losses. The rotor core is a hollow cylinder, mounted on a shaft. On outer periphery of the rotor core, </a:t>
            </a:r>
            <a:r>
              <a:rPr lang="en-US" b="1" dirty="0"/>
              <a:t>slots </a:t>
            </a:r>
            <a:r>
              <a:rPr lang="en-US" dirty="0"/>
              <a:t>are provided to place the rotor winding.</a:t>
            </a:r>
          </a:p>
          <a:p>
            <a:pPr marL="0" indent="0">
              <a:buNone/>
            </a:pPr>
            <a:r>
              <a:rPr lang="en-US" dirty="0"/>
              <a:t>Based on the construction, the rotor of a three-phase induction motor can be of the following two types −</a:t>
            </a:r>
          </a:p>
          <a:p>
            <a:pPr>
              <a:buFont typeface="+mj-lt"/>
              <a:buAutoNum type="arabicPeriod"/>
            </a:pPr>
            <a:r>
              <a:rPr lang="en-US" dirty="0"/>
              <a:t>Squirrel-cage rotor</a:t>
            </a:r>
          </a:p>
          <a:p>
            <a:pPr>
              <a:buFont typeface="+mj-lt"/>
              <a:buAutoNum type="arabicPeriod"/>
            </a:pPr>
            <a:r>
              <a:rPr lang="en-US" dirty="0"/>
              <a:t>Wound rotor</a:t>
            </a:r>
          </a:p>
          <a:p>
            <a:pPr marL="0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0977873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625600" y="118535"/>
            <a:ext cx="9862079" cy="965198"/>
          </a:xfrm>
        </p:spPr>
        <p:txBody>
          <a:bodyPr>
            <a:normAutofit fontScale="90000"/>
          </a:bodyPr>
          <a:lstStyle/>
          <a:p>
            <a:r>
              <a:rPr lang="en-US" dirty="0"/>
              <a:t>Difference between Squirrel cage and Wound rotor</a:t>
            </a:r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85067" y="1083733"/>
            <a:ext cx="5757436" cy="5557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5052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46400" y="439738"/>
            <a:ext cx="6566201" cy="6129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96358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7333" y="624110"/>
            <a:ext cx="9557279" cy="662823"/>
          </a:xfrm>
        </p:spPr>
        <p:txBody>
          <a:bodyPr>
            <a:normAutofit/>
          </a:bodyPr>
          <a:lstStyle/>
          <a:p>
            <a:r>
              <a:rPr lang="en-US" dirty="0"/>
              <a:t>Principle of operation of induction motor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6400" y="1286933"/>
            <a:ext cx="9828212" cy="4624289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Induction motor works on principle of </a:t>
            </a:r>
            <a:r>
              <a:rPr lang="en-US" b="1" dirty="0"/>
              <a:t>electromagnetic induction.</a:t>
            </a:r>
          </a:p>
          <a:p>
            <a:r>
              <a:rPr lang="en-US" dirty="0"/>
              <a:t>When 3 phase supply is given to 3 phase stator winding, a </a:t>
            </a:r>
            <a:r>
              <a:rPr lang="en-US" b="1" dirty="0"/>
              <a:t>rotating magnetic field is created, along with stator flux  </a:t>
            </a:r>
          </a:p>
          <a:p>
            <a:r>
              <a:rPr lang="en-US" dirty="0"/>
              <a:t>The rotating magnetic field cuts the</a:t>
            </a:r>
            <a:r>
              <a:rPr lang="en-US" b="1" dirty="0"/>
              <a:t> rotor </a:t>
            </a:r>
            <a:r>
              <a:rPr lang="en-US" dirty="0"/>
              <a:t>conductor, </a:t>
            </a:r>
            <a:r>
              <a:rPr lang="en-US" b="1" dirty="0"/>
              <a:t>inducing an EMF </a:t>
            </a:r>
            <a:r>
              <a:rPr lang="en-US" dirty="0"/>
              <a:t>in it as per </a:t>
            </a:r>
            <a:r>
              <a:rPr lang="en-US" b="1" dirty="0" err="1"/>
              <a:t>Faradys</a:t>
            </a:r>
            <a:r>
              <a:rPr lang="en-US" b="1" dirty="0"/>
              <a:t> law of electromagnetic induction.</a:t>
            </a:r>
          </a:p>
          <a:p>
            <a:r>
              <a:rPr lang="en-US" dirty="0"/>
              <a:t>The induced EMF causes a </a:t>
            </a:r>
            <a:r>
              <a:rPr lang="en-US" b="1" dirty="0"/>
              <a:t>current to flow in the rotor </a:t>
            </a:r>
            <a:r>
              <a:rPr lang="en-US" dirty="0"/>
              <a:t>as rotor circuit is short circuited.</a:t>
            </a:r>
          </a:p>
          <a:p>
            <a:r>
              <a:rPr lang="en-US" dirty="0"/>
              <a:t>The </a:t>
            </a:r>
            <a:r>
              <a:rPr lang="en-US" b="1" dirty="0"/>
              <a:t>induced current in rotor </a:t>
            </a:r>
            <a:r>
              <a:rPr lang="en-US" dirty="0"/>
              <a:t>will also produce </a:t>
            </a:r>
            <a:r>
              <a:rPr lang="en-US" b="1" dirty="0"/>
              <a:t>alternating flux </a:t>
            </a:r>
            <a:r>
              <a:rPr lang="en-US" dirty="0"/>
              <a:t>around it. Besides,  </a:t>
            </a:r>
            <a:r>
              <a:rPr lang="en-US" b="1" dirty="0"/>
              <a:t>rotor flux lags behind the stator flux as dictated by Lenz law</a:t>
            </a:r>
            <a:r>
              <a:rPr lang="en-US" dirty="0"/>
              <a:t>(rotor flux will tend to oppose the cause of producing it i.e. stator flux.)</a:t>
            </a:r>
          </a:p>
          <a:p>
            <a:r>
              <a:rPr lang="en-US" dirty="0"/>
              <a:t>Here, the cause of </a:t>
            </a:r>
            <a:r>
              <a:rPr lang="en-US" b="1" dirty="0"/>
              <a:t>production</a:t>
            </a:r>
            <a:r>
              <a:rPr lang="en-US" dirty="0"/>
              <a:t> of </a:t>
            </a:r>
            <a:r>
              <a:rPr lang="en-US" b="1" dirty="0"/>
              <a:t>rotor current </a:t>
            </a:r>
            <a:r>
              <a:rPr lang="en-US" dirty="0"/>
              <a:t>is the </a:t>
            </a:r>
            <a:r>
              <a:rPr lang="en-US" b="1" dirty="0"/>
              <a:t>relative velocity between rotating stator flux and the rotor,</a:t>
            </a:r>
          </a:p>
          <a:p>
            <a:r>
              <a:rPr lang="en-US" dirty="0"/>
              <a:t>The rotor will try to </a:t>
            </a:r>
            <a:r>
              <a:rPr lang="en-US" b="1" dirty="0"/>
              <a:t>catch up </a:t>
            </a:r>
            <a:r>
              <a:rPr lang="en-US" dirty="0"/>
              <a:t>with the </a:t>
            </a:r>
            <a:r>
              <a:rPr lang="en-US" b="1" dirty="0"/>
              <a:t>stator rotating magnetic field. </a:t>
            </a:r>
            <a:r>
              <a:rPr lang="en-US" dirty="0"/>
              <a:t>Thus the </a:t>
            </a:r>
            <a:r>
              <a:rPr lang="en-US" b="1" dirty="0"/>
              <a:t>rotor rotates in the same direction </a:t>
            </a:r>
            <a:r>
              <a:rPr lang="en-US" dirty="0"/>
              <a:t>as that of stator flux to </a:t>
            </a:r>
            <a:r>
              <a:rPr lang="en-US" b="1" dirty="0"/>
              <a:t>minimize the relative velocity</a:t>
            </a:r>
            <a:r>
              <a:rPr lang="en-US" dirty="0"/>
              <a:t>. </a:t>
            </a:r>
          </a:p>
          <a:p>
            <a:r>
              <a:rPr lang="en-US" dirty="0"/>
              <a:t>However, the rotor </a:t>
            </a:r>
            <a:r>
              <a:rPr lang="en-US" b="1" dirty="0"/>
              <a:t>never succeeds </a:t>
            </a:r>
            <a:r>
              <a:rPr lang="en-US" dirty="0"/>
              <a:t>in catching up the </a:t>
            </a:r>
            <a:r>
              <a:rPr lang="en-US" b="1" dirty="0"/>
              <a:t>synchronous speed</a:t>
            </a:r>
            <a:r>
              <a:rPr lang="en-US" dirty="0"/>
              <a:t>. This is the </a:t>
            </a:r>
            <a:r>
              <a:rPr lang="en-US" b="1" dirty="0"/>
              <a:t>basic working principle of induction motor</a:t>
            </a:r>
            <a:r>
              <a:rPr lang="en-US" dirty="0"/>
              <a:t> of either type, single phase of 3 phase. </a:t>
            </a:r>
          </a:p>
        </p:txBody>
      </p:sp>
    </p:spTree>
    <p:extLst>
      <p:ext uri="{BB962C8B-B14F-4D97-AF65-F5344CB8AC3E}">
        <p14:creationId xmlns:p14="http://schemas.microsoft.com/office/powerpoint/2010/main" val="14210407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59467" y="321733"/>
            <a:ext cx="10007600" cy="6214534"/>
          </a:xfrm>
        </p:spPr>
        <p:txBody>
          <a:bodyPr>
            <a:normAutofit/>
          </a:bodyPr>
          <a:lstStyle/>
          <a:p>
            <a:r>
              <a:rPr lang="en-US" dirty="0"/>
              <a:t>The rotational speed of the </a:t>
            </a:r>
            <a:r>
              <a:rPr lang="en-US" b="1" dirty="0"/>
              <a:t>rotating magnetic field</a:t>
            </a:r>
            <a:r>
              <a:rPr lang="en-US" dirty="0"/>
              <a:t> is called as </a:t>
            </a:r>
            <a:r>
              <a:rPr lang="en-US" b="1" dirty="0"/>
              <a:t>synchronous speed.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	where, f = frequency of the supply</a:t>
            </a:r>
          </a:p>
          <a:p>
            <a:pPr marL="0" indent="0">
              <a:buNone/>
            </a:pPr>
            <a:r>
              <a:rPr lang="en-US" dirty="0"/>
              <a:t>		     P = number of poles</a:t>
            </a:r>
          </a:p>
          <a:p>
            <a:pPr marL="0" indent="0">
              <a:buNone/>
            </a:pPr>
            <a:r>
              <a:rPr lang="en-US" b="1" dirty="0"/>
              <a:t>Slip:</a:t>
            </a:r>
          </a:p>
          <a:p>
            <a:r>
              <a:rPr lang="en-US" b="1" dirty="0"/>
              <a:t>Roto</a:t>
            </a:r>
            <a:r>
              <a:rPr lang="en-US" dirty="0"/>
              <a:t>r tries to catch up the </a:t>
            </a:r>
            <a:r>
              <a:rPr lang="en-US" b="1" dirty="0"/>
              <a:t>synchronous speed </a:t>
            </a:r>
            <a:r>
              <a:rPr lang="en-US" dirty="0"/>
              <a:t>of the stator field, and hence it </a:t>
            </a:r>
            <a:r>
              <a:rPr lang="en-US" b="1" dirty="0"/>
              <a:t>rotates</a:t>
            </a:r>
            <a:r>
              <a:rPr lang="en-US" dirty="0"/>
              <a:t>. </a:t>
            </a:r>
          </a:p>
          <a:p>
            <a:r>
              <a:rPr lang="en-US" dirty="0"/>
              <a:t>But in practice, </a:t>
            </a:r>
            <a:r>
              <a:rPr lang="en-US" b="1" dirty="0"/>
              <a:t>rotor never succeeds </a:t>
            </a:r>
            <a:r>
              <a:rPr lang="en-US" dirty="0"/>
              <a:t>in catching up.</a:t>
            </a:r>
          </a:p>
          <a:p>
            <a:r>
              <a:rPr lang="en-US" dirty="0"/>
              <a:t> If </a:t>
            </a:r>
            <a:r>
              <a:rPr lang="en-US" b="1" dirty="0"/>
              <a:t>rotor catches up the stator speed</a:t>
            </a:r>
            <a:r>
              <a:rPr lang="en-US" dirty="0"/>
              <a:t>, there </a:t>
            </a:r>
            <a:r>
              <a:rPr lang="en-US" b="1" dirty="0"/>
              <a:t>wont be any relative speed </a:t>
            </a:r>
            <a:r>
              <a:rPr lang="en-US" dirty="0"/>
              <a:t>between the stator flux and the rotor, hence </a:t>
            </a:r>
            <a:r>
              <a:rPr lang="en-US" b="1" dirty="0"/>
              <a:t>no induced rotor current </a:t>
            </a:r>
            <a:r>
              <a:rPr lang="en-US" dirty="0"/>
              <a:t>and </a:t>
            </a:r>
            <a:r>
              <a:rPr lang="en-US" b="1" dirty="0"/>
              <a:t>no torque </a:t>
            </a:r>
            <a:r>
              <a:rPr lang="en-US" dirty="0"/>
              <a:t>production to maintain the rotation.</a:t>
            </a:r>
          </a:p>
          <a:p>
            <a:r>
              <a:rPr lang="en-US" dirty="0"/>
              <a:t>That is why the </a:t>
            </a:r>
            <a:r>
              <a:rPr lang="en-US" b="1" dirty="0"/>
              <a:t>rotor rotates </a:t>
            </a:r>
            <a:r>
              <a:rPr lang="en-US" dirty="0"/>
              <a:t>at speed which is always </a:t>
            </a:r>
            <a:r>
              <a:rPr lang="en-US" b="1" dirty="0"/>
              <a:t>less the synchronous speed.</a:t>
            </a:r>
          </a:p>
          <a:p>
            <a:r>
              <a:rPr lang="en-US" dirty="0"/>
              <a:t>The difference between the synchronous speed (N</a:t>
            </a:r>
            <a:r>
              <a:rPr lang="en-US" baseline="-25000" dirty="0"/>
              <a:t>s</a:t>
            </a:r>
            <a:r>
              <a:rPr lang="en-US" dirty="0"/>
              <a:t>) and actual speed  (N) of the rotor is called as slip.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grpSp>
        <p:nvGrpSpPr>
          <p:cNvPr id="6" name="Group 5"/>
          <p:cNvGrpSpPr/>
          <p:nvPr/>
        </p:nvGrpSpPr>
        <p:grpSpPr>
          <a:xfrm>
            <a:off x="3845453" y="720725"/>
            <a:ext cx="2524125" cy="5282142"/>
            <a:chOff x="3845453" y="720725"/>
            <a:chExt cx="2524125" cy="5282142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45453" y="720725"/>
              <a:ext cx="1724025" cy="438150"/>
            </a:xfrm>
            <a:prstGeom prst="rect">
              <a:avLst/>
            </a:prstGeom>
          </p:spPr>
        </p:pic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45453" y="5393267"/>
              <a:ext cx="2524125" cy="6096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484337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2533" y="423334"/>
            <a:ext cx="9862079" cy="829734"/>
          </a:xfrm>
        </p:spPr>
        <p:txBody>
          <a:bodyPr/>
          <a:lstStyle/>
          <a:p>
            <a:r>
              <a:rPr lang="en-US" dirty="0"/>
              <a:t>Applications of 3-Phase Induction Motor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6267" y="1253068"/>
            <a:ext cx="10048345" cy="4658154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 three-phase induction motor might be used to power a centrifugal pump that moves crude oil from wells to pipelines or storage tanks.</a:t>
            </a:r>
          </a:p>
          <a:p>
            <a:r>
              <a:rPr lang="en-US" dirty="0"/>
              <a:t>It is used to drive a compressor that pressurizes natural gas for transportation or storage.</a:t>
            </a:r>
          </a:p>
          <a:p>
            <a:r>
              <a:rPr lang="en-US" dirty="0"/>
              <a:t>It is used to run a turbine that generates electricity for offshore platforms or remote locations.</a:t>
            </a:r>
          </a:p>
          <a:p>
            <a:r>
              <a:rPr lang="en-US" dirty="0"/>
              <a:t>It is used to power a pump that moves liquids through distillation columns or catalytic crackers.</a:t>
            </a:r>
          </a:p>
          <a:p>
            <a:r>
              <a:rPr lang="en-US" dirty="0"/>
              <a:t>It is used to drive a compressor that increases the pressure of gases for further processing or separation.</a:t>
            </a:r>
          </a:p>
          <a:p>
            <a:r>
              <a:rPr lang="en-US" dirty="0"/>
              <a:t>It is used to drive a transformer that converts high voltage from power plants to lower voltage for transmission lines or vice versa.</a:t>
            </a:r>
          </a:p>
          <a:p>
            <a:r>
              <a:rPr lang="en-US" dirty="0"/>
              <a:t>It is also used to operate a switchgear that connects or disconnects circuits for protection or control purposes.</a:t>
            </a:r>
          </a:p>
          <a:p>
            <a:r>
              <a:rPr lang="en-US" dirty="0"/>
              <a:t>Induction motors are versatile and widely used AC electric motors that operate on the principle of electromagnetic induction.</a:t>
            </a:r>
          </a:p>
          <a:p>
            <a:r>
              <a:rPr lang="en-US" dirty="0"/>
              <a:t> They have different types, such as squirrel cages or slip rings, and different applications, such as pumps, fans, compressors, conveyors, cranes, elevators, and more. 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6268554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296</TotalTime>
  <Words>1023</Words>
  <Application>Microsoft Office PowerPoint</Application>
  <PresentationFormat>Widescreen</PresentationFormat>
  <Paragraphs>66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Century Gothic</vt:lpstr>
      <vt:lpstr>Wingdings 3</vt:lpstr>
      <vt:lpstr>Wisp</vt:lpstr>
      <vt:lpstr>Chapter:4</vt:lpstr>
      <vt:lpstr>Introduction</vt:lpstr>
      <vt:lpstr>Construction of three phase induction motor</vt:lpstr>
      <vt:lpstr>PowerPoint Presentation</vt:lpstr>
      <vt:lpstr>PowerPoint Presentation</vt:lpstr>
      <vt:lpstr>Difference between Squirrel cage and Wound rotor</vt:lpstr>
      <vt:lpstr>PowerPoint Presentation</vt:lpstr>
      <vt:lpstr>Principle of operation of induction motor</vt:lpstr>
      <vt:lpstr>PowerPoint Presentation</vt:lpstr>
      <vt:lpstr>Applications of 3-Phase Induction Motor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Chapter:4</dc:title>
  <dc:creator>Aryasupurna Timalsina</dc:creator>
  <cp:lastModifiedBy>ARYA</cp:lastModifiedBy>
  <cp:revision>21</cp:revision>
  <dcterms:created xsi:type="dcterms:W3CDTF">2023-06-29T11:13:47Z</dcterms:created>
  <dcterms:modified xsi:type="dcterms:W3CDTF">2024-02-28T01:48:57Z</dcterms:modified>
</cp:coreProperties>
</file>